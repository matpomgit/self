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aby 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przesuną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ć slajd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B5ECED-68E0-4888-A589-1F602554AA7C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6C4807-263D-497D-B288-3C65023A9D87}" type="slidenum">
              <a:rPr lang="pl-P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aby 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edytować 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tekstu </a:t>
            </a: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tytułu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tekstu konspektu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Drugi poziom konspektu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Trzeci poziom konspektu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Czwarty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Piąty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Szósty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Siódmy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materialy.kia.prz.edu.pl/materialy.php?przedmiot=87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s://matpomgit.github.io/kia/materialy" TargetMode="External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materialy.kia.prz.edu.pl/materialy.php?przedmiot=87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s://matpomgit.github.io/kia/materialy" TargetMode="External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hyperlink" Target="https://mpomianek.v.prz.edu.pl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0" y="0"/>
            <a:ext cx="5141880" cy="6856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" name=""/>
          <p:cNvGrpSpPr/>
          <p:nvPr/>
        </p:nvGrpSpPr>
        <p:grpSpPr>
          <a:xfrm>
            <a:off x="5482800" y="994680"/>
            <a:ext cx="6513120" cy="4871160"/>
            <a:chOff x="5482800" y="994680"/>
            <a:chExt cx="6513120" cy="4871160"/>
          </a:xfrm>
        </p:grpSpPr>
        <p:pic>
          <p:nvPicPr>
            <p:cNvPr id="12" name=""/>
            <p:cNvPicPr/>
            <p:nvPr/>
          </p:nvPicPr>
          <p:blipFill>
            <a:blip r:embed="rId2"/>
            <a:srcRect l="3108" t="0" r="16737" b="0"/>
            <a:stretch/>
          </p:blipFill>
          <p:spPr>
            <a:xfrm>
              <a:off x="5483880" y="1077480"/>
              <a:ext cx="6512040" cy="3676320"/>
            </a:xfrm>
            <a:prstGeom prst="rect">
              <a:avLst/>
            </a:prstGeom>
            <a:noFill/>
            <a:ln w="108000">
              <a:noFill/>
            </a:ln>
          </p:spPr>
        </p:pic>
        <p:sp>
          <p:nvSpPr>
            <p:cNvPr id="13" name=""/>
            <p:cNvSpPr/>
            <p:nvPr/>
          </p:nvSpPr>
          <p:spPr>
            <a:xfrm>
              <a:off x="5482800" y="1981440"/>
              <a:ext cx="3305520" cy="1186920"/>
            </a:xfrm>
            <a:prstGeom prst="rect">
              <a:avLst/>
            </a:prstGeom>
            <a:noFill/>
            <a:ln w="10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pl-PL" sz="3600" b="0" u="none" strike="noStrike">
                  <a:solidFill>
                    <a:srgbClr val="ff1d00"/>
                  </a:solidFill>
                  <a:effectLst/>
                  <a:uFillTx/>
                  <a:latin typeface="Arial"/>
                </a:rPr>
                <a:t>Login: </a:t>
              </a:r>
              <a:r>
                <a:rPr lang="pl-PL" sz="3600" b="1" u="none" strike="noStrike">
                  <a:solidFill>
                    <a:srgbClr val="ff1d00"/>
                  </a:solidFill>
                  <a:effectLst/>
                  <a:uFillTx/>
                  <a:latin typeface="Arial"/>
                </a:rPr>
                <a:t>student</a:t>
              </a:r>
              <a:endParaRPr lang="pl-PL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pl-PL" sz="3600" b="0" u="none" strike="noStrike">
                  <a:solidFill>
                    <a:srgbClr val="ff1d00"/>
                  </a:solidFill>
                  <a:effectLst/>
                  <a:uFillTx/>
                  <a:latin typeface="Arial"/>
                </a:rPr>
                <a:t>Hasło: </a:t>
              </a:r>
              <a:r>
                <a:rPr lang="pl-PL" sz="3600" b="1" u="none" strike="noStrike">
                  <a:solidFill>
                    <a:srgbClr val="ff1d00"/>
                  </a:solidFill>
                  <a:effectLst/>
                  <a:uFillTx/>
                  <a:latin typeface="Arial"/>
                </a:rPr>
                <a:t>kaiwww</a:t>
              </a:r>
              <a:endParaRPr lang="pl-PL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6955920" y="994680"/>
              <a:ext cx="1935360" cy="491400"/>
            </a:xfrm>
            <a:prstGeom prst="rect">
              <a:avLst/>
            </a:prstGeom>
            <a:noFill/>
            <a:ln w="108000">
              <a:solidFill>
                <a:srgbClr val="dc143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5483880" y="3299040"/>
              <a:ext cx="3552120" cy="642600"/>
            </a:xfrm>
            <a:prstGeom prst="rect">
              <a:avLst/>
            </a:prstGeom>
            <a:solidFill>
              <a:srgbClr val="e4f4fe"/>
            </a:solidFill>
            <a:ln w="10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6024600" y="4816440"/>
              <a:ext cx="5523840" cy="104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spAutoFit/>
            </a:bodyPr>
            <a:p>
              <a:pPr algn="ctr">
                <a:lnSpc>
                  <a:spcPct val="100000"/>
                </a:lnSpc>
              </a:pPr>
              <a:r>
                <a:rPr lang="pl-PL" sz="2100" b="0" u="none" strike="noStrike">
                  <a:solidFill>
                    <a:srgbClr val="0000cd"/>
                  </a:solidFill>
                  <a:effectLst/>
                  <a:uFillTx/>
                  <a:latin typeface="Arial"/>
                </a:rPr>
                <a:t>materiały.kia.prz.edu.pl</a:t>
              </a:r>
              <a:endParaRPr lang="pl-PL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pl-PL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pl-PL" sz="2100" b="0" u="none" strike="noStrike">
                  <a:solidFill>
                    <a:srgbClr val="0000cd"/>
                  </a:solidFill>
                  <a:effectLst/>
                  <a:uFillTx/>
                  <a:latin typeface="Arial"/>
                </a:rPr>
                <a:t>matpomgit.github.io/kia/materialy</a:t>
              </a:r>
              <a:endParaRPr lang="pl-PL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rcRect l="0" t="0" r="29045" b="0"/>
          <a:stretch/>
        </p:blipFill>
        <p:spPr>
          <a:xfrm>
            <a:off x="7404120" y="135360"/>
            <a:ext cx="4580640" cy="297324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8" name=""/>
          <p:cNvSpPr/>
          <p:nvPr/>
        </p:nvSpPr>
        <p:spPr>
          <a:xfrm>
            <a:off x="216000" y="198000"/>
            <a:ext cx="6137280" cy="3639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563c1"/>
                </a:solidFill>
                <a:effectLst/>
                <a:uFillTx/>
                <a:latin typeface="Arial"/>
                <a:hlinkClick r:id="rId2"/>
              </a:rPr>
              <a:t>https://materialy.kia.prz.edu.pl/materialy.php?przedmiot=87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3"/>
          <a:stretch/>
        </p:blipFill>
        <p:spPr>
          <a:xfrm>
            <a:off x="207000" y="666720"/>
            <a:ext cx="6957360" cy="470808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20" name=""/>
          <p:cNvSpPr/>
          <p:nvPr/>
        </p:nvSpPr>
        <p:spPr>
          <a:xfrm>
            <a:off x="7693920" y="3270240"/>
            <a:ext cx="4207680" cy="3639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563c1"/>
                </a:solidFill>
                <a:effectLst/>
                <a:uFillTx/>
                <a:latin typeface="Arial"/>
                <a:hlinkClick r:id="rId4"/>
              </a:rPr>
              <a:t>https://matpomgit.github.io/kia/materialy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V="1">
            <a:off x="2654640" y="3235320"/>
            <a:ext cx="4580280" cy="2059200"/>
          </a:xfrm>
          <a:prstGeom prst="line">
            <a:avLst/>
          </a:prstGeom>
          <a:ln w="36000">
            <a:solidFill>
              <a:srgbClr val="dc143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61280" y="3683520"/>
            <a:ext cx="3767040" cy="1862280"/>
          </a:xfrm>
          <a:prstGeom prst="rect">
            <a:avLst/>
          </a:prstGeom>
          <a:noFill/>
          <a:ln w="36000">
            <a:solidFill>
              <a:srgbClr val="dc14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683120" y="4111200"/>
            <a:ext cx="432792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 laborek -&gt; 6 instrukcji x 10 pytań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0,1 pkt za pytanie, max 1pkt/wejściówkę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Dodatkowe punkty za zadania na końcu instrukcji, prace w kołach naukowych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Zaliczenie końcowe - &gt;dr inż. Kalandyk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335480" y="4728240"/>
            <a:ext cx="3571920" cy="188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normAutofit/>
          </a:bodyPr>
          <a:p>
            <a:r>
              <a:rPr lang="pl-PL" sz="1800" b="0" u="sng" strike="noStrike">
                <a:solidFill>
                  <a:schemeClr val="accent6">
                    <a:lumOff val="0"/>
                  </a:schemeClr>
                </a:solidFill>
                <a:effectLst/>
                <a:uFillTx/>
                <a:latin typeface="Arial"/>
              </a:rPr>
              <a:t>Niestacjonarne</a:t>
            </a:r>
            <a:endParaRPr lang="pl-PL" sz="1800" b="0" u="none" strike="noStrike">
              <a:solidFill>
                <a:schemeClr val="accent6">
                  <a:lumOff val="0"/>
                </a:schemeClr>
              </a:solidFill>
              <a:effectLst/>
              <a:uFillTx/>
              <a:latin typeface="Arial"/>
            </a:endParaRPr>
          </a:p>
          <a:p>
            <a:r>
              <a:rPr lang="pl-PL" sz="1800" b="0" u="none" strike="noStrike">
                <a:solidFill>
                  <a:schemeClr val="accent6">
                    <a:lumOff val="0"/>
                  </a:schemeClr>
                </a:solidFill>
                <a:effectLst/>
                <a:uFillTx/>
                <a:latin typeface="Arial"/>
              </a:rPr>
              <a:t>1. Mac&amp;Bash</a:t>
            </a:r>
            <a:endParaRPr lang="pl-PL" sz="1800" b="0" u="none" strike="noStrike">
              <a:solidFill>
                <a:schemeClr val="accent6">
                  <a:lumOff val="0"/>
                </a:schemeClr>
              </a:solidFill>
              <a:effectLst/>
              <a:uFillTx/>
              <a:latin typeface="Arial"/>
            </a:endParaRPr>
          </a:p>
          <a:p>
            <a:r>
              <a:rPr lang="pl-PL" sz="1800" b="0" u="none" strike="noStrike">
                <a:solidFill>
                  <a:schemeClr val="accent6">
                    <a:lumOff val="0"/>
                  </a:schemeClr>
                </a:solidFill>
                <a:effectLst/>
                <a:uFillTx/>
                <a:latin typeface="Arial"/>
              </a:rPr>
              <a:t>2. Skrypty Bash</a:t>
            </a:r>
            <a:endParaRPr lang="pl-PL" sz="1800" b="0" u="none" strike="noStrike">
              <a:solidFill>
                <a:schemeClr val="accent6">
                  <a:lumOff val="0"/>
                </a:schemeClr>
              </a:solidFill>
              <a:effectLst/>
              <a:uFillTx/>
              <a:latin typeface="Arial"/>
            </a:endParaRPr>
          </a:p>
          <a:p>
            <a:r>
              <a:rPr lang="pl-PL" sz="1800" b="0" u="none" strike="noStrike">
                <a:solidFill>
                  <a:schemeClr val="accent6">
                    <a:lumOff val="0"/>
                  </a:schemeClr>
                </a:solidFill>
                <a:effectLst/>
                <a:uFillTx/>
                <a:latin typeface="Arial"/>
              </a:rPr>
              <a:t>3. Dokumenty LaTeX</a:t>
            </a:r>
            <a:endParaRPr lang="pl-PL" sz="1800" b="0" u="none" strike="noStrike">
              <a:solidFill>
                <a:schemeClr val="accent6">
                  <a:lumOff val="0"/>
                </a:schemeClr>
              </a:solidFill>
              <a:effectLst/>
              <a:uFillTx/>
              <a:latin typeface="Arial"/>
            </a:endParaRPr>
          </a:p>
          <a:p>
            <a:r>
              <a:rPr lang="pl-PL" sz="1800" b="0" u="none" strike="noStrike">
                <a:solidFill>
                  <a:schemeClr val="accent6">
                    <a:lumOff val="0"/>
                  </a:schemeClr>
                </a:solidFill>
                <a:effectLst/>
                <a:uFillTx/>
                <a:latin typeface="Arial"/>
              </a:rPr>
              <a:t>4. Git</a:t>
            </a:r>
            <a:endParaRPr lang="pl-PL" sz="1800" b="0" u="none" strike="noStrike">
              <a:solidFill>
                <a:schemeClr val="accent6">
                  <a:lumOff val="0"/>
                </a:schemeClr>
              </a:solidFill>
              <a:effectLst/>
              <a:uFillTx/>
              <a:latin typeface="Arial"/>
            </a:endParaRPr>
          </a:p>
          <a:p>
            <a:r>
              <a:rPr lang="pl-PL" sz="1800" b="0" u="none" strike="noStrike">
                <a:solidFill>
                  <a:schemeClr val="accent6">
                    <a:lumOff val="0"/>
                  </a:schemeClr>
                </a:solidFill>
                <a:effectLst/>
                <a:uFillTx/>
                <a:latin typeface="Arial"/>
              </a:rPr>
              <a:t>5. Makra LaTeX &amp; </a:t>
            </a:r>
            <a:r>
              <a:rPr lang="pl-PL" sz="1800" b="1" u="none" strike="noStrike">
                <a:solidFill>
                  <a:schemeClr val="accent6">
                    <a:lumOff val="0"/>
                  </a:schemeClr>
                </a:solidFill>
                <a:effectLst/>
                <a:uFillTx/>
                <a:latin typeface="Arial"/>
              </a:rPr>
              <a:t>Zaliczenie</a:t>
            </a:r>
            <a:endParaRPr lang="pl-PL" sz="1800" b="0" u="none" strike="noStrike">
              <a:solidFill>
                <a:schemeClr val="accent6">
                  <a:lumOff val="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/>
          <p:cNvPicPr/>
          <p:nvPr/>
        </p:nvPicPr>
        <p:blipFill>
          <a:blip r:embed="rId1"/>
          <a:srcRect l="0" t="0" r="29045" b="0"/>
          <a:stretch/>
        </p:blipFill>
        <p:spPr>
          <a:xfrm>
            <a:off x="7377840" y="709560"/>
            <a:ext cx="4580640" cy="297324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26" name=""/>
          <p:cNvSpPr/>
          <p:nvPr/>
        </p:nvSpPr>
        <p:spPr>
          <a:xfrm>
            <a:off x="189720" y="772200"/>
            <a:ext cx="6137280" cy="3639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563c1"/>
                </a:solidFill>
                <a:effectLst/>
                <a:uFillTx/>
                <a:latin typeface="Arial"/>
                <a:hlinkClick r:id="rId2"/>
              </a:rPr>
              <a:t>https://materialy.kia.prz.edu.pl/materialy.php?przedmiot=87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/>
          <p:cNvPicPr/>
          <p:nvPr/>
        </p:nvPicPr>
        <p:blipFill>
          <a:blip r:embed="rId3"/>
          <a:stretch/>
        </p:blipFill>
        <p:spPr>
          <a:xfrm>
            <a:off x="180720" y="1240920"/>
            <a:ext cx="6957360" cy="470808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28" name=""/>
          <p:cNvSpPr/>
          <p:nvPr/>
        </p:nvSpPr>
        <p:spPr>
          <a:xfrm>
            <a:off x="7667640" y="3844440"/>
            <a:ext cx="4207680" cy="3639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l-PL" sz="1800" b="0" u="none" strike="noStrike">
                <a:solidFill>
                  <a:srgbClr val="0563c1"/>
                </a:solidFill>
                <a:effectLst/>
                <a:uFillTx/>
                <a:latin typeface="Arial"/>
                <a:hlinkClick r:id="rId4"/>
              </a:rPr>
              <a:t>https://matpomgit.github.io/kia/materialy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 flipV="1">
            <a:off x="2628360" y="3809520"/>
            <a:ext cx="4580280" cy="2059200"/>
          </a:xfrm>
          <a:prstGeom prst="line">
            <a:avLst/>
          </a:prstGeom>
          <a:ln w="36000">
            <a:solidFill>
              <a:srgbClr val="dc143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35000" y="4257720"/>
            <a:ext cx="3767040" cy="1862280"/>
          </a:xfrm>
          <a:prstGeom prst="rect">
            <a:avLst/>
          </a:prstGeom>
          <a:noFill/>
          <a:ln w="36000">
            <a:solidFill>
              <a:srgbClr val="dc14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656840" y="4261320"/>
            <a:ext cx="4327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5 laborek -&gt; 6 instrukcji x 10 pytań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LM Sans 17"/>
            </a:endParaRPr>
          </a:p>
          <a:p>
            <a:pPr algn="ctr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0,1 pkt za pytanie, max 1pkt/test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LM Sans 17"/>
            </a:endParaRPr>
          </a:p>
          <a:p>
            <a:pPr algn="ctr">
              <a:lnSpc>
                <a:spcPct val="100000"/>
              </a:lnSpc>
            </a:pPr>
            <a:br>
              <a:rPr sz="1800"/>
            </a:b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Dodatkowe punkty za zadania na końcu instrukcji (1zad=0.15pkt, 2zad=0.25pkt), prace w kołach naukowych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LM Sans 17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084920" y="4292280"/>
            <a:ext cx="3571920" cy="2103480"/>
          </a:xfrm>
          <a:prstGeom prst="rect">
            <a:avLst/>
          </a:prstGeom>
          <a:solidFill>
            <a:schemeClr val="lt1">
              <a:lumMod val="95000"/>
              <a:lumOff val="0"/>
            </a:schemeClr>
          </a:solidFill>
          <a:ln w="0">
            <a:noFill/>
          </a:ln>
        </p:spPr>
        <p:txBody>
          <a:bodyPr lIns="90000" rIns="90000" tIns="45000" bIns="45000" anchor="t" anchorCtr="1">
            <a:normAutofit/>
          </a:bodyPr>
          <a:p>
            <a:r>
              <a:rPr lang="pl-PL" sz="1800" b="0" u="sng" strike="noStrike">
                <a:solidFill>
                  <a:schemeClr val="dk1">
                    <a:lumOff val="0"/>
                  </a:schemeClr>
                </a:solidFill>
                <a:effectLst/>
                <a:uFillTx/>
                <a:latin typeface="LM Sans 17"/>
              </a:rPr>
              <a:t>Niestacjonarne</a:t>
            </a:r>
            <a:endParaRPr lang="pl-PL" sz="1800" b="0" u="none" strike="noStrike">
              <a:solidFill>
                <a:schemeClr val="dk1">
                  <a:lumOff val="0"/>
                </a:schemeClr>
              </a:solidFill>
              <a:effectLst/>
              <a:uFillTx/>
              <a:latin typeface="LM Sans 17"/>
            </a:endParaRPr>
          </a:p>
          <a:p>
            <a:r>
              <a:rPr lang="pl-PL" sz="1800" b="0" u="none" strike="noStrike">
                <a:solidFill>
                  <a:schemeClr val="dk1">
                    <a:lumOff val="0"/>
                  </a:schemeClr>
                </a:solidFill>
                <a:effectLst/>
                <a:uFillTx/>
                <a:latin typeface="LM Sans 17"/>
              </a:rPr>
              <a:t>1. Mac&amp;Bash</a:t>
            </a:r>
            <a:endParaRPr lang="pl-PL" sz="1800" b="0" u="none" strike="noStrike">
              <a:solidFill>
                <a:schemeClr val="dk1">
                  <a:lumOff val="0"/>
                </a:schemeClr>
              </a:solidFill>
              <a:effectLst/>
              <a:uFillTx/>
              <a:latin typeface="LM Sans 17"/>
            </a:endParaRPr>
          </a:p>
          <a:p>
            <a:r>
              <a:rPr lang="pl-PL" sz="1800" b="0" u="none" strike="noStrike">
                <a:solidFill>
                  <a:schemeClr val="dk1">
                    <a:lumOff val="0"/>
                  </a:schemeClr>
                </a:solidFill>
                <a:effectLst/>
                <a:uFillTx/>
                <a:latin typeface="LM Sans 17"/>
              </a:rPr>
              <a:t>2. Skrypty Bash</a:t>
            </a:r>
            <a:endParaRPr lang="pl-PL" sz="1800" b="0" u="none" strike="noStrike">
              <a:solidFill>
                <a:schemeClr val="dk1">
                  <a:lumOff val="0"/>
                </a:schemeClr>
              </a:solidFill>
              <a:effectLst/>
              <a:uFillTx/>
              <a:latin typeface="LM Sans 17"/>
            </a:endParaRPr>
          </a:p>
          <a:p>
            <a:r>
              <a:rPr lang="pl-PL" sz="1800" b="0" u="none" strike="noStrike">
                <a:solidFill>
                  <a:schemeClr val="dk1">
                    <a:lumOff val="0"/>
                  </a:schemeClr>
                </a:solidFill>
                <a:effectLst/>
                <a:uFillTx/>
                <a:latin typeface="LM Sans 17"/>
              </a:rPr>
              <a:t>3. Dokumenty LaTeX</a:t>
            </a:r>
            <a:endParaRPr lang="pl-PL" sz="1800" b="0" u="none" strike="noStrike">
              <a:solidFill>
                <a:schemeClr val="dk1">
                  <a:lumOff val="0"/>
                </a:schemeClr>
              </a:solidFill>
              <a:effectLst/>
              <a:uFillTx/>
              <a:latin typeface="LM Sans 17"/>
            </a:endParaRPr>
          </a:p>
          <a:p>
            <a:r>
              <a:rPr lang="pl-PL" sz="1800" b="0" u="none" strike="noStrike">
                <a:solidFill>
                  <a:schemeClr val="dk1">
                    <a:lumOff val="0"/>
                  </a:schemeClr>
                </a:solidFill>
                <a:effectLst/>
                <a:uFillTx/>
                <a:latin typeface="LM Sans 17"/>
              </a:rPr>
              <a:t>4. Git</a:t>
            </a:r>
            <a:endParaRPr lang="pl-PL" sz="1800" b="0" u="none" strike="noStrike">
              <a:solidFill>
                <a:schemeClr val="dk1">
                  <a:lumOff val="0"/>
                </a:schemeClr>
              </a:solidFill>
              <a:effectLst/>
              <a:uFillTx/>
              <a:latin typeface="LM Sans 17"/>
            </a:endParaRPr>
          </a:p>
          <a:p>
            <a:r>
              <a:rPr lang="pl-PL" sz="1800" b="0" u="none" strike="noStrike">
                <a:solidFill>
                  <a:schemeClr val="dk1">
                    <a:lumOff val="0"/>
                  </a:schemeClr>
                </a:solidFill>
                <a:effectLst/>
                <a:uFillTx/>
                <a:latin typeface="LM Sans 17"/>
              </a:rPr>
              <a:t>5. Makra LaTeX &amp; </a:t>
            </a:r>
            <a:r>
              <a:rPr lang="pl-PL" sz="1800" b="1" u="none" strike="noStrike">
                <a:solidFill>
                  <a:schemeClr val="dk1">
                    <a:lumOff val="0"/>
                  </a:schemeClr>
                </a:solidFill>
                <a:effectLst/>
                <a:uFillTx/>
                <a:latin typeface="LM Sans 17"/>
              </a:rPr>
              <a:t>Zaliczenie</a:t>
            </a:r>
            <a:endParaRPr lang="pl-PL" sz="1800" b="0" u="none" strike="noStrike">
              <a:solidFill>
                <a:schemeClr val="dk1">
                  <a:lumOff val="0"/>
                </a:schemeClr>
              </a:solidFill>
              <a:effectLst/>
              <a:uFillTx/>
              <a:latin typeface="LM Sans 17"/>
            </a:endParaRPr>
          </a:p>
        </p:txBody>
      </p:sp>
      <p:sp>
        <p:nvSpPr>
          <p:cNvPr id="33" name=""/>
          <p:cNvSpPr/>
          <p:nvPr/>
        </p:nvSpPr>
        <p:spPr>
          <a:xfrm>
            <a:off x="204840" y="195840"/>
            <a:ext cx="4327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l-PL" sz="2200" b="1" u="sng" strike="noStrike">
                <a:solidFill>
                  <a:srgbClr val="000000"/>
                </a:solidFill>
                <a:effectLst/>
                <a:uFillTx/>
                <a:latin typeface="LM Sans 17"/>
              </a:rPr>
              <a:t>Studia niestacjonarne</a:t>
            </a:r>
            <a:endParaRPr lang="pl-PL" sz="2200" b="1" u="sng" strike="noStrike">
              <a:solidFill>
                <a:srgbClr val="000000"/>
              </a:solidFill>
              <a:effectLst/>
              <a:uFillTx/>
              <a:latin typeface="LM Sans 17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122960" y="6131160"/>
            <a:ext cx="4916520" cy="63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normAutofit lnSpcReduction="9999"/>
          </a:bodyPr>
          <a:p>
            <a:pPr algn="ctr"/>
            <a:r>
              <a:rPr lang="pl-PL" sz="1600" b="1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Zaliczenie końcowe</a:t>
            </a: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 ze </a:t>
            </a: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wszystkiego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LM Sans 17"/>
            </a:endParaRPr>
          </a:p>
          <a:p>
            <a:pPr algn="ctr"/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max(40) pkt z </a:t>
            </a: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wejściówek + max(40) </a:t>
            </a: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LM Sans 17"/>
              </a:rPr>
              <a:t>pkt za zaliczenie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LM Sans 17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46520" y="6212160"/>
            <a:ext cx="2577960" cy="546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 anchorCtr="1">
            <a:normAutofit fontScale="92500" lnSpcReduction="9999"/>
          </a:bodyPr>
          <a:p>
            <a:r>
              <a:rPr lang="pl-PL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08:00 — 09:45</a:t>
            </a:r>
            <a:endParaRPr lang="pl-PL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l-PL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10:00 — 11:45</a:t>
            </a:r>
            <a:endParaRPr lang="pl-PL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/mnt/data/mateusz_portrait.png"/>
          <p:cNvPicPr/>
          <p:nvPr/>
        </p:nvPicPr>
        <p:blipFill>
          <a:blip r:embed="rId1"/>
          <a:stretch/>
        </p:blipFill>
        <p:spPr>
          <a:xfrm>
            <a:off x="658440" y="685800"/>
            <a:ext cx="2868120" cy="286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"/>
          <p:cNvSpPr/>
          <p:nvPr/>
        </p:nvSpPr>
        <p:spPr>
          <a:xfrm>
            <a:off x="594360" y="3840480"/>
            <a:ext cx="306000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24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dr inż.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24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Mateusz Pomianek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603360" y="4727520"/>
            <a:ext cx="31971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08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Adiunkt · Katedra Informatyki i Automatyki</a:t>
            </a:r>
            <a:endParaRPr lang="pl-PL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08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Politechnika Rzeszowska</a:t>
            </a:r>
            <a:endParaRPr lang="pl-PL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1" descr="/mnt/data/self_qr.png"/>
          <p:cNvPicPr/>
          <p:nvPr/>
        </p:nvPicPr>
        <p:blipFill>
          <a:blip r:embed="rId2"/>
          <a:stretch/>
        </p:blipFill>
        <p:spPr>
          <a:xfrm>
            <a:off x="594360" y="5715000"/>
            <a:ext cx="563760" cy="56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3"/>
          <p:cNvSpPr/>
          <p:nvPr/>
        </p:nvSpPr>
        <p:spPr>
          <a:xfrm>
            <a:off x="1261800" y="5870520"/>
            <a:ext cx="191700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75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matpomgit.github.io/self</a:t>
            </a:r>
            <a:endParaRPr lang="pl-PL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4709160" y="731520"/>
            <a:ext cx="6837480" cy="80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pl-PL" sz="36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Łączę neuroinformatykę, ucieleśnione (emboded) AI, inżynierię poznawczą i interakcję człowiek-maszyna</a:t>
            </a:r>
            <a:endParaRPr lang="pl-P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4736520" y="1700640"/>
            <a:ext cx="62604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Projektuję inteligentne systemy, które interpretują sygnały człowieka i reagują kontekstowo.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6"/>
          <p:cNvSpPr/>
          <p:nvPr/>
        </p:nvSpPr>
        <p:spPr>
          <a:xfrm>
            <a:off x="4671000" y="2287800"/>
            <a:ext cx="1551240" cy="592200"/>
          </a:xfrm>
          <a:prstGeom prst="roundRect">
            <a:avLst>
              <a:gd name="adj" fmla="val 23529"/>
            </a:avLst>
          </a:prstGeom>
          <a:solidFill>
            <a:srgbClr val="e8f3f7"/>
          </a:solidFill>
          <a:ln w="12700">
            <a:solidFill>
              <a:srgbClr val="e8f3f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informatyka afektywna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6310440" y="2287800"/>
            <a:ext cx="882720" cy="592200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XR</a:t>
            </a:r>
            <a:r>
              <a:rPr lang="pl-PL" sz="1300" b="0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/</a:t>
            </a:r>
            <a:r>
              <a:rPr lang="pl-PL" sz="13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XAI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7304760" y="2287800"/>
            <a:ext cx="1470240" cy="592200"/>
          </a:xfrm>
          <a:prstGeom prst="roundRect">
            <a:avLst>
              <a:gd name="adj" fmla="val 23529"/>
            </a:avLst>
          </a:prstGeom>
          <a:solidFill>
            <a:srgbClr val="e8f3f7"/>
          </a:solidFill>
          <a:ln w="12700">
            <a:solidFill>
              <a:srgbClr val="e8f3f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wizja komputerowa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8942760" y="2287800"/>
            <a:ext cx="1231200" cy="592200"/>
          </a:xfrm>
          <a:prstGeom prst="roundRect">
            <a:avLst>
              <a:gd name="adj" fmla="val 23529"/>
            </a:avLst>
          </a:prstGeom>
          <a:solidFill>
            <a:srgbClr val="e8f3f7"/>
          </a:solidFill>
          <a:ln w="12700">
            <a:solidFill>
              <a:srgbClr val="e8f3f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HCI </a:t>
            </a:r>
            <a:r>
              <a:rPr lang="pl-PL" sz="1300" b="0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/</a:t>
            </a:r>
            <a:r>
              <a:rPr lang="pl-PL" sz="13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 HRI </a:t>
            </a:r>
            <a:br>
              <a:rPr sz="1300"/>
            </a:br>
            <a:r>
              <a:rPr lang="pl-PL" sz="1300" b="0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/</a:t>
            </a:r>
            <a:r>
              <a:rPr lang="pl-PL" sz="13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 NUI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10314360" y="2287800"/>
            <a:ext cx="1368000" cy="592200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technologie obronne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Data 26"/>
          <p:cNvSpPr/>
          <p:nvPr/>
        </p:nvSpPr>
        <p:spPr>
          <a:xfrm>
            <a:off x="0" y="0"/>
            <a:ext cx="4557240" cy="381240"/>
          </a:xfrm>
          <a:prstGeom prst="flowChartInputOutput">
            <a:avLst/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KTO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27"/>
          <p:cNvSpPr/>
          <p:nvPr/>
        </p:nvSpPr>
        <p:spPr>
          <a:xfrm>
            <a:off x="1463040" y="384120"/>
            <a:ext cx="1643040" cy="51840"/>
          </a:xfrm>
          <a:prstGeom prst="rect">
            <a:avLst/>
          </a:prstGeom>
          <a:solidFill>
            <a:srgbClr val="132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Data 28"/>
          <p:cNvSpPr/>
          <p:nvPr/>
        </p:nvSpPr>
        <p:spPr>
          <a:xfrm>
            <a:off x="3815640" y="0"/>
            <a:ext cx="4557240" cy="381240"/>
          </a:xfrm>
          <a:prstGeom prst="flowChartInputOutput">
            <a:avLst/>
          </a:prstGeom>
          <a:solidFill>
            <a:srgbClr val="4472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Data 29"/>
          <p:cNvSpPr/>
          <p:nvPr/>
        </p:nvSpPr>
        <p:spPr>
          <a:xfrm>
            <a:off x="7631640" y="0"/>
            <a:ext cx="4557240" cy="381240"/>
          </a:xfrm>
          <a:prstGeom prst="flowChartInputOutput">
            <a:avLst/>
          </a:prstGeom>
          <a:solidFill>
            <a:srgbClr val="ed7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JAK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30"/>
          <p:cNvSpPr/>
          <p:nvPr/>
        </p:nvSpPr>
        <p:spPr>
          <a:xfrm>
            <a:off x="4397760" y="4152240"/>
            <a:ext cx="7404840" cy="14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6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Adiunkt w grupie pracowników badawczo-dydaktycznych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6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Dziedzina: nauk inżynieryjno-technicznych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6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Dyscyplina: Automatyka, Elektronika, Elektrotechnika i Technologie Kosmiczne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6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D.103 · </a:t>
            </a:r>
            <a:r>
              <a:rPr lang="pl-PL" sz="1600" b="0" u="sng" strike="noStrike">
                <a:solidFill>
                  <a:srgbClr val="0563c1"/>
                </a:solidFill>
                <a:effectLst/>
                <a:uFillTx/>
                <a:latin typeface="Aptos"/>
              </a:rPr>
              <a:t>m.pomianek@prz.edu.pl</a:t>
            </a:r>
            <a:r>
              <a:rPr lang="pl-PL" sz="16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 · </a:t>
            </a:r>
            <a:r>
              <a:rPr lang="pl-PL" sz="1600" b="0" u="sng" strike="noStrike">
                <a:solidFill>
                  <a:srgbClr val="0563c1"/>
                </a:solidFill>
                <a:effectLst/>
                <a:uFillTx/>
                <a:latin typeface="Aptos"/>
                <a:hlinkClick r:id="rId3"/>
              </a:rPr>
              <a:t>mpomianek.v.prz.edu.pl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600" b="0" u="sng" strike="noStrike">
                <a:solidFill>
                  <a:srgbClr val="0563c1"/>
                </a:solidFill>
                <a:effectLst/>
                <a:uFillTx/>
                <a:latin typeface="Aptos"/>
              </a:rPr>
              <a:t>https://github.com/KIA-students/wirr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a 1"/>
          <p:cNvSpPr/>
          <p:nvPr/>
        </p:nvSpPr>
        <p:spPr>
          <a:xfrm>
            <a:off x="0" y="0"/>
            <a:ext cx="4557240" cy="381240"/>
          </a:xfrm>
          <a:prstGeom prst="flowChartInputOutput">
            <a:avLst/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KTO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Data 2"/>
          <p:cNvSpPr/>
          <p:nvPr/>
        </p:nvSpPr>
        <p:spPr>
          <a:xfrm>
            <a:off x="3815640" y="0"/>
            <a:ext cx="4557240" cy="381240"/>
          </a:xfrm>
          <a:prstGeom prst="flowChartInputOutput">
            <a:avLst/>
          </a:prstGeom>
          <a:solidFill>
            <a:srgbClr val="4472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3"/>
          <p:cNvSpPr/>
          <p:nvPr/>
        </p:nvSpPr>
        <p:spPr>
          <a:xfrm>
            <a:off x="5278680" y="384120"/>
            <a:ext cx="1643040" cy="51840"/>
          </a:xfrm>
          <a:prstGeom prst="rect">
            <a:avLst/>
          </a:prstGeom>
          <a:solidFill>
            <a:srgbClr val="132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Data 4"/>
          <p:cNvSpPr/>
          <p:nvPr/>
        </p:nvSpPr>
        <p:spPr>
          <a:xfrm>
            <a:off x="7631640" y="0"/>
            <a:ext cx="4557240" cy="381240"/>
          </a:xfrm>
          <a:prstGeom prst="flowChartInputOutput">
            <a:avLst/>
          </a:prstGeom>
          <a:solidFill>
            <a:srgbClr val="ed7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JAK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5"/>
          <p:cNvSpPr/>
          <p:nvPr/>
        </p:nvSpPr>
        <p:spPr>
          <a:xfrm>
            <a:off x="1441440" y="581400"/>
            <a:ext cx="93841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2800" b="1" u="none" strike="noStrike">
                <a:solidFill>
                  <a:srgbClr val="13233a"/>
                </a:solidFill>
                <a:effectLst/>
                <a:uFillTx/>
                <a:latin typeface="Aptos Display"/>
              </a:rPr>
              <a:t>od optoelektroniki do inżynierii informacji obrazowej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7"/>
          <p:cNvSpPr/>
          <p:nvPr/>
        </p:nvSpPr>
        <p:spPr>
          <a:xfrm>
            <a:off x="475560" y="6556320"/>
            <a:ext cx="39114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7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dr inż. Mateusz Pomianek · Katedra Informatyki i Automatyki · Politechnika Rzeszowska</a:t>
            </a:r>
            <a:endParaRPr lang="pl-PL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8"/>
          <p:cNvSpPr/>
          <p:nvPr/>
        </p:nvSpPr>
        <p:spPr>
          <a:xfrm>
            <a:off x="11648160" y="6428160"/>
            <a:ext cx="144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>
              <a:lnSpc>
                <a:spcPct val="100000"/>
              </a:lnSpc>
            </a:pPr>
            <a:r>
              <a:rPr lang="pl-PL" sz="1000" b="1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02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9"/>
          <p:cNvSpPr/>
          <p:nvPr/>
        </p:nvSpPr>
        <p:spPr>
          <a:xfrm>
            <a:off x="502920" y="1417320"/>
            <a:ext cx="11180160" cy="774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10" descr="image3.jpeg"/>
          <p:cNvPicPr/>
          <p:nvPr/>
        </p:nvPicPr>
        <p:blipFill>
          <a:blip r:embed="rId1"/>
          <a:stretch/>
        </p:blipFill>
        <p:spPr>
          <a:xfrm>
            <a:off x="640080" y="1427040"/>
            <a:ext cx="1351440" cy="73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11"/>
          <p:cNvSpPr/>
          <p:nvPr/>
        </p:nvSpPr>
        <p:spPr>
          <a:xfrm>
            <a:off x="2240280" y="1579680"/>
            <a:ext cx="922500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Punkt wyjścia: optoelektronika i inżynieria informacji obrazowej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Wojskowa Akademia Techniczna, Instytut Optoelektroniki, Laboratorium Inżynierii Informacji Obrazowej (LBIIO)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12"/>
          <p:cNvSpPr/>
          <p:nvPr/>
        </p:nvSpPr>
        <p:spPr>
          <a:xfrm>
            <a:off x="502920" y="2511720"/>
            <a:ext cx="2694600" cy="191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3"/>
          <p:cNvSpPr/>
          <p:nvPr/>
        </p:nvSpPr>
        <p:spPr>
          <a:xfrm>
            <a:off x="685800" y="2603160"/>
            <a:ext cx="1586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Symulatory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i trenażery VR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4"/>
          <p:cNvSpPr/>
          <p:nvPr/>
        </p:nvSpPr>
        <p:spPr>
          <a:xfrm>
            <a:off x="685800" y="3224880"/>
            <a:ext cx="229428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wirtualne stanowisko do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ćwiczenia zadań bez ryzyka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 kosztu sprzętu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15"/>
          <p:cNvSpPr/>
          <p:nvPr/>
        </p:nvSpPr>
        <p:spPr>
          <a:xfrm>
            <a:off x="3319200" y="2511720"/>
            <a:ext cx="2694600" cy="191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6"/>
          <p:cNvSpPr/>
          <p:nvPr/>
        </p:nvSpPr>
        <p:spPr>
          <a:xfrm>
            <a:off x="3502080" y="2603160"/>
            <a:ext cx="197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1e5a8a"/>
                </a:solidFill>
                <a:effectLst/>
                <a:uFillTx/>
                <a:latin typeface="Aptos"/>
              </a:rPr>
              <a:t>Systemy czasu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1e5a8a"/>
                </a:solidFill>
                <a:effectLst/>
                <a:uFillTx/>
                <a:latin typeface="Aptos"/>
              </a:rPr>
              <a:t>rzeczywistego XR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7"/>
          <p:cNvSpPr/>
          <p:nvPr/>
        </p:nvSpPr>
        <p:spPr>
          <a:xfrm>
            <a:off x="3502080" y="3224880"/>
            <a:ext cx="232272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obraz i reakcja systemu bez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zauważalnego opóźnienia.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18"/>
          <p:cNvSpPr/>
          <p:nvPr/>
        </p:nvSpPr>
        <p:spPr>
          <a:xfrm>
            <a:off x="6135480" y="2511720"/>
            <a:ext cx="2694600" cy="191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9"/>
          <p:cNvSpPr/>
          <p:nvPr/>
        </p:nvSpPr>
        <p:spPr>
          <a:xfrm>
            <a:off x="6246360" y="2603160"/>
            <a:ext cx="25261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6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Namierzanie, kierowanie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6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ogniem HUD, lasery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0"/>
          <p:cNvSpPr/>
          <p:nvPr/>
        </p:nvSpPr>
        <p:spPr>
          <a:xfrm>
            <a:off x="6318360" y="3224880"/>
            <a:ext cx="233460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systemy celowania z optyką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 algorytmami, wspierające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decyzję operatora.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21"/>
          <p:cNvSpPr/>
          <p:nvPr/>
        </p:nvSpPr>
        <p:spPr>
          <a:xfrm>
            <a:off x="8952120" y="2511720"/>
            <a:ext cx="2694600" cy="191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2"/>
          <p:cNvSpPr/>
          <p:nvPr/>
        </p:nvSpPr>
        <p:spPr>
          <a:xfrm>
            <a:off x="9135000" y="2603160"/>
            <a:ext cx="1599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35a36a"/>
                </a:solidFill>
                <a:effectLst/>
                <a:uFillTx/>
                <a:latin typeface="Aptos"/>
              </a:rPr>
              <a:t>Świadomość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35a36a"/>
                </a:solidFill>
                <a:effectLst/>
                <a:uFillTx/>
                <a:latin typeface="Aptos"/>
              </a:rPr>
              <a:t>sytuacyjna AR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3"/>
          <p:cNvSpPr/>
          <p:nvPr/>
        </p:nvSpPr>
        <p:spPr>
          <a:xfrm>
            <a:off x="9135000" y="3224880"/>
            <a:ext cx="25081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informacje nałożone na obraz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rzeczywisty, percepcja,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rozumienie, przewidywanie;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pokazuj tylko to, co potrzebne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24"/>
          <p:cNvSpPr/>
          <p:nvPr/>
        </p:nvSpPr>
        <p:spPr>
          <a:xfrm>
            <a:off x="502920" y="4550760"/>
            <a:ext cx="3645720" cy="1323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5"/>
          <p:cNvSpPr/>
          <p:nvPr/>
        </p:nvSpPr>
        <p:spPr>
          <a:xfrm>
            <a:off x="685800" y="4642200"/>
            <a:ext cx="230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25a6b8"/>
                </a:solidFill>
                <a:effectLst/>
                <a:uFillTx/>
                <a:latin typeface="Aptos"/>
              </a:rPr>
              <a:t>Drony, roboty, SLAM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6"/>
          <p:cNvSpPr/>
          <p:nvPr/>
        </p:nvSpPr>
        <p:spPr>
          <a:xfrm>
            <a:off x="685800" y="5007960"/>
            <a:ext cx="345384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Co to: </a:t>
            </a: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obraz z kamery drona i sterowanie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na odległość, opóźnienie łącza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 czytelność obrazu dla operatora.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27"/>
          <p:cNvSpPr/>
          <p:nvPr/>
        </p:nvSpPr>
        <p:spPr>
          <a:xfrm>
            <a:off x="4270320" y="4550760"/>
            <a:ext cx="3645720" cy="1323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8"/>
          <p:cNvSpPr/>
          <p:nvPr/>
        </p:nvSpPr>
        <p:spPr>
          <a:xfrm>
            <a:off x="4345200" y="4642200"/>
            <a:ext cx="24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1e5a8a"/>
                </a:solidFill>
                <a:effectLst/>
                <a:uFillTx/>
                <a:latin typeface="Aptos"/>
              </a:rPr>
              <a:t>Satelity, obrazowanie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9"/>
          <p:cNvSpPr/>
          <p:nvPr/>
        </p:nvSpPr>
        <p:spPr>
          <a:xfrm>
            <a:off x="4453200" y="5007960"/>
            <a:ext cx="267624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3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Co to: </a:t>
            </a:r>
            <a:r>
              <a:rPr lang="pl-PL" sz="13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obrazowanie i dane z orbity.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3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jak zamienić ogrom danych 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3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w obraz czytelny dla człowieka.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30"/>
          <p:cNvSpPr/>
          <p:nvPr/>
        </p:nvSpPr>
        <p:spPr>
          <a:xfrm>
            <a:off x="8037720" y="4550760"/>
            <a:ext cx="3645720" cy="1323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1"/>
          <p:cNvSpPr/>
          <p:nvPr/>
        </p:nvSpPr>
        <p:spPr>
          <a:xfrm>
            <a:off x="8220600" y="4642200"/>
            <a:ext cx="33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Podczerwień, termowizja,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teraherce, śledzenie, tracking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2"/>
          <p:cNvSpPr/>
          <p:nvPr/>
        </p:nvSpPr>
        <p:spPr>
          <a:xfrm>
            <a:off x="8220600" y="5259960"/>
            <a:ext cx="294120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3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w zakresie niewidzialnym dla oka, 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3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rozkłady ciepła, komunikacja laserowa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Data 1"/>
          <p:cNvSpPr/>
          <p:nvPr/>
        </p:nvSpPr>
        <p:spPr>
          <a:xfrm>
            <a:off x="0" y="0"/>
            <a:ext cx="4557240" cy="381240"/>
          </a:xfrm>
          <a:prstGeom prst="flowChartInputOutput">
            <a:avLst/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KTO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Data 2"/>
          <p:cNvSpPr/>
          <p:nvPr/>
        </p:nvSpPr>
        <p:spPr>
          <a:xfrm>
            <a:off x="3815640" y="0"/>
            <a:ext cx="4557240" cy="381240"/>
          </a:xfrm>
          <a:prstGeom prst="flowChartInputOutput">
            <a:avLst/>
          </a:prstGeom>
          <a:solidFill>
            <a:srgbClr val="4472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5278680" y="384120"/>
            <a:ext cx="1643040" cy="51840"/>
          </a:xfrm>
          <a:prstGeom prst="rect">
            <a:avLst/>
          </a:prstGeom>
          <a:solidFill>
            <a:srgbClr val="132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Data 4"/>
          <p:cNvSpPr/>
          <p:nvPr/>
        </p:nvSpPr>
        <p:spPr>
          <a:xfrm>
            <a:off x="7631640" y="0"/>
            <a:ext cx="4557240" cy="381240"/>
          </a:xfrm>
          <a:prstGeom prst="flowChartInputOutput">
            <a:avLst/>
          </a:prstGeom>
          <a:solidFill>
            <a:srgbClr val="ed7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JAK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502920" y="581400"/>
            <a:ext cx="4964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2800" b="1" u="none" strike="noStrike">
                <a:solidFill>
                  <a:srgbClr val="13233a"/>
                </a:solidFill>
                <a:effectLst/>
                <a:uFillTx/>
                <a:latin typeface="Aptos Display"/>
              </a:rPr>
              <a:t>Obecnie: badania wokół HCI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521280" y="1042560"/>
            <a:ext cx="619128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15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Pętla: człowiek → sygnały → interpretacja → reakcja systemu. Niżej trzy wątki i miary oceny.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11648160" y="6428160"/>
            <a:ext cx="144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>
              <a:lnSpc>
                <a:spcPct val="100000"/>
              </a:lnSpc>
            </a:pPr>
            <a:r>
              <a:rPr lang="pl-PL" sz="1000" b="1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03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9"/>
          <p:cNvSpPr/>
          <p:nvPr/>
        </p:nvSpPr>
        <p:spPr>
          <a:xfrm>
            <a:off x="502920" y="1417320"/>
            <a:ext cx="2603160" cy="114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67440" y="1508760"/>
            <a:ext cx="2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25a6b8"/>
                </a:solidFill>
                <a:effectLst/>
                <a:uFillTx/>
                <a:latin typeface="Aptos"/>
              </a:rPr>
              <a:t>Sygnały człowieka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667440" y="1874520"/>
            <a:ext cx="19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eye-tracking, mimika,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gesty, EEG / BCI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3107880" y="1782720"/>
            <a:ext cx="255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pl-PL" sz="24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→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3"/>
          <p:cNvSpPr/>
          <p:nvPr/>
        </p:nvSpPr>
        <p:spPr>
          <a:xfrm>
            <a:off x="3364920" y="1417320"/>
            <a:ext cx="2603160" cy="114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3529440" y="1508760"/>
            <a:ext cx="151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1e5a8a"/>
                </a:solidFill>
                <a:effectLst/>
                <a:uFillTx/>
                <a:latin typeface="Aptos"/>
              </a:rPr>
              <a:t>Interpretacja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3529440" y="1874520"/>
            <a:ext cx="2527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wizja komputerowa, fuzja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danych, uczenie maszynowe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5969880" y="1782720"/>
            <a:ext cx="255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pl-PL" sz="24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→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7"/>
          <p:cNvSpPr/>
          <p:nvPr/>
        </p:nvSpPr>
        <p:spPr>
          <a:xfrm>
            <a:off x="6226920" y="1417320"/>
            <a:ext cx="2603160" cy="114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8"/>
          <p:cNvSpPr/>
          <p:nvPr/>
        </p:nvSpPr>
        <p:spPr>
          <a:xfrm>
            <a:off x="6391800" y="1508760"/>
            <a:ext cx="1415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Model stanu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9"/>
          <p:cNvSpPr/>
          <p:nvPr/>
        </p:nvSpPr>
        <p:spPr>
          <a:xfrm>
            <a:off x="6391800" y="1874520"/>
            <a:ext cx="186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emocje, uwaga,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intencje użytkownika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0"/>
          <p:cNvSpPr/>
          <p:nvPr/>
        </p:nvSpPr>
        <p:spPr>
          <a:xfrm>
            <a:off x="8831880" y="1782720"/>
            <a:ext cx="255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pl-PL" sz="2400" b="1" u="none" strike="noStrike">
                <a:solidFill>
                  <a:srgbClr val="13233a"/>
                </a:solidFill>
                <a:effectLst/>
                <a:uFillTx/>
                <a:latin typeface="Aptos"/>
              </a:rPr>
              <a:t>→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21"/>
          <p:cNvSpPr/>
          <p:nvPr/>
        </p:nvSpPr>
        <p:spPr>
          <a:xfrm>
            <a:off x="9089280" y="1417320"/>
            <a:ext cx="2603160" cy="114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2"/>
          <p:cNvSpPr/>
          <p:nvPr/>
        </p:nvSpPr>
        <p:spPr>
          <a:xfrm>
            <a:off x="9253800" y="1508760"/>
            <a:ext cx="19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35a36a"/>
                </a:solidFill>
                <a:effectLst/>
                <a:uFillTx/>
                <a:latin typeface="Aptos"/>
              </a:rPr>
              <a:t>Reakcja systemu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3"/>
          <p:cNvSpPr/>
          <p:nvPr/>
        </p:nvSpPr>
        <p:spPr>
          <a:xfrm>
            <a:off x="9253800" y="1874520"/>
            <a:ext cx="2162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adaptacyjny interfejs,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XR, robot humanoidalny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24"/>
          <p:cNvSpPr/>
          <p:nvPr/>
        </p:nvSpPr>
        <p:spPr>
          <a:xfrm>
            <a:off x="502920" y="2743200"/>
            <a:ext cx="3609000" cy="16887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5"/>
          <p:cNvSpPr/>
          <p:nvPr/>
        </p:nvSpPr>
        <p:spPr>
          <a:xfrm>
            <a:off x="685800" y="2834640"/>
            <a:ext cx="271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25a6b8"/>
                </a:solidFill>
                <a:effectLst/>
                <a:uFillTx/>
                <a:latin typeface="Aptos"/>
              </a:rPr>
              <a:t>Informatyka afektywna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6"/>
          <p:cNvSpPr/>
          <p:nvPr/>
        </p:nvSpPr>
        <p:spPr>
          <a:xfrm>
            <a:off x="685800" y="3200400"/>
            <a:ext cx="35712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Szacowanie stanu człowieka z sygnałów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behawioralnych i neurofizjologicznych.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27"/>
          <p:cNvSpPr/>
          <p:nvPr/>
        </p:nvSpPr>
        <p:spPr>
          <a:xfrm>
            <a:off x="4288680" y="2743200"/>
            <a:ext cx="3609000" cy="16887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8"/>
          <p:cNvSpPr/>
          <p:nvPr/>
        </p:nvSpPr>
        <p:spPr>
          <a:xfrm>
            <a:off x="4471560" y="2834640"/>
            <a:ext cx="890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XR i XAI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9"/>
          <p:cNvSpPr/>
          <p:nvPr/>
        </p:nvSpPr>
        <p:spPr>
          <a:xfrm>
            <a:off x="4471560" y="3200400"/>
            <a:ext cx="341100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VR · AR · MR, trening i poczucie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Obecności; kalibracja wyświetlaczy XR.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XAI: system pokazuje, dlaczego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podjął decyzję.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30"/>
          <p:cNvSpPr/>
          <p:nvPr/>
        </p:nvSpPr>
        <p:spPr>
          <a:xfrm>
            <a:off x="8074080" y="2743200"/>
            <a:ext cx="3609000" cy="16887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1"/>
          <p:cNvSpPr/>
          <p:nvPr/>
        </p:nvSpPr>
        <p:spPr>
          <a:xfrm>
            <a:off x="8256960" y="2834640"/>
            <a:ext cx="214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35a36a"/>
                </a:solidFill>
                <a:effectLst/>
                <a:uFillTx/>
                <a:latin typeface="Aptos"/>
              </a:rPr>
              <a:t>HRI, NUI, robotyka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2"/>
          <p:cNvSpPr/>
          <p:nvPr/>
        </p:nvSpPr>
        <p:spPr>
          <a:xfrm>
            <a:off x="8256960" y="3200400"/>
            <a:ext cx="299088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Humanoidy i percepcja–działanie.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Interakcja zależy od autonomii 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l-PL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robota i roli człowieka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Data 1"/>
          <p:cNvSpPr/>
          <p:nvPr/>
        </p:nvSpPr>
        <p:spPr>
          <a:xfrm>
            <a:off x="0" y="0"/>
            <a:ext cx="4557240" cy="381240"/>
          </a:xfrm>
          <a:prstGeom prst="flowChartInputOutput">
            <a:avLst/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KTO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Data 2"/>
          <p:cNvSpPr/>
          <p:nvPr/>
        </p:nvSpPr>
        <p:spPr>
          <a:xfrm>
            <a:off x="3815640" y="0"/>
            <a:ext cx="4557240" cy="381240"/>
          </a:xfrm>
          <a:prstGeom prst="flowChartInputOutput">
            <a:avLst/>
          </a:prstGeom>
          <a:solidFill>
            <a:srgbClr val="4472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Data 3"/>
          <p:cNvSpPr/>
          <p:nvPr/>
        </p:nvSpPr>
        <p:spPr>
          <a:xfrm>
            <a:off x="7631640" y="0"/>
            <a:ext cx="4557240" cy="381240"/>
          </a:xfrm>
          <a:prstGeom prst="flowChartInputOutput">
            <a:avLst/>
          </a:prstGeom>
          <a:solidFill>
            <a:srgbClr val="ed7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JAK</a:t>
            </a: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9094680" y="384120"/>
            <a:ext cx="1643040" cy="51840"/>
          </a:xfrm>
          <a:prstGeom prst="rect">
            <a:avLst/>
          </a:prstGeom>
          <a:solidFill>
            <a:srgbClr val="132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502920" y="581400"/>
            <a:ext cx="53341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2800" b="1" u="none" strike="noStrike">
                <a:solidFill>
                  <a:srgbClr val="13233a"/>
                </a:solidFill>
                <a:effectLst/>
                <a:uFillTx/>
                <a:latin typeface="Aptos Display"/>
              </a:rPr>
              <a:t>Jak oceniam: łatwe 3, trudne 5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521280" y="1042560"/>
            <a:ext cx="59216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15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Wynik procentowy trafia do dokładnie jednego przedziału; poniżej 51% brak zaliczenia.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475560" y="6556320"/>
            <a:ext cx="39114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7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dr inż. Mateusz Pomianek · Katedra Informatyki i Automatyki · Politechnika Rzeszowska</a:t>
            </a:r>
            <a:endParaRPr lang="pl-PL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11648160" y="6428160"/>
            <a:ext cx="144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>
              <a:lnSpc>
                <a:spcPct val="100000"/>
              </a:lnSpc>
            </a:pPr>
            <a:r>
              <a:rPr lang="pl-PL" sz="1000" b="1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04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9" descr="image4.png"/>
          <p:cNvPicPr/>
          <p:nvPr/>
        </p:nvPicPr>
        <p:blipFill>
          <a:blip r:embed="rId1"/>
          <a:stretch/>
        </p:blipFill>
        <p:spPr>
          <a:xfrm>
            <a:off x="502920" y="1463040"/>
            <a:ext cx="4752000" cy="206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10" descr="image5.png"/>
          <p:cNvPicPr/>
          <p:nvPr/>
        </p:nvPicPr>
        <p:blipFill>
          <a:blip r:embed="rId2"/>
          <a:stretch/>
        </p:blipFill>
        <p:spPr>
          <a:xfrm>
            <a:off x="502920" y="3657600"/>
            <a:ext cx="4752000" cy="191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ounded Rectangle 11"/>
          <p:cNvSpPr/>
          <p:nvPr/>
        </p:nvSpPr>
        <p:spPr>
          <a:xfrm>
            <a:off x="5486400" y="1463040"/>
            <a:ext cx="6496920" cy="4249080"/>
          </a:xfrm>
          <a:prstGeom prst="roundRect">
            <a:avLst>
              <a:gd name="adj" fmla="val 3000"/>
            </a:avLst>
          </a:prstGeom>
          <a:solidFill>
            <a:srgbClr val="132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5760720" y="1600200"/>
            <a:ext cx="2260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Przedziały i kryteria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5760720" y="2148120"/>
            <a:ext cx="325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2.0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6355080" y="2186280"/>
            <a:ext cx="5133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0–50%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7498080" y="2199960"/>
            <a:ext cx="40010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</a:rPr>
              <a:t>Nie wykazano opanowania minimalnej  wiedzy i umiejętności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5760720" y="2660040"/>
            <a:ext cx="325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9be7ef"/>
                </a:solidFill>
                <a:effectLst/>
                <a:uFillTx/>
                <a:latin typeface="Aptos"/>
              </a:rPr>
              <a:t>3.0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6355080" y="2698200"/>
            <a:ext cx="6073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51–64%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7498080" y="2712240"/>
            <a:ext cx="4169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</a:rPr>
              <a:t>Dostateczny: podstawowe pojęcia i typowe zadania inżynierskie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5760720" y="3172320"/>
            <a:ext cx="325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9be7ef"/>
                </a:solidFill>
                <a:effectLst/>
                <a:uFillTx/>
                <a:latin typeface="Aptos"/>
              </a:rPr>
              <a:t>3.5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6355080" y="3210480"/>
            <a:ext cx="6073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65–77%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1"/>
          <p:cNvSpPr/>
          <p:nvPr/>
        </p:nvSpPr>
        <p:spPr>
          <a:xfrm>
            <a:off x="7498080" y="3224520"/>
            <a:ext cx="4106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</a:rPr>
              <a:t>Utrwalona wiedza podstawowa, samodzielność w  problemach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5760720" y="3684240"/>
            <a:ext cx="325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9be7ef"/>
                </a:solidFill>
                <a:effectLst/>
                <a:uFillTx/>
                <a:latin typeface="Aptos"/>
              </a:rPr>
              <a:t>4.0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3"/>
          <p:cNvSpPr/>
          <p:nvPr/>
        </p:nvSpPr>
        <p:spPr>
          <a:xfrm>
            <a:off x="6355080" y="3722400"/>
            <a:ext cx="6073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78–87%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4"/>
          <p:cNvSpPr/>
          <p:nvPr/>
        </p:nvSpPr>
        <p:spPr>
          <a:xfrm>
            <a:off x="7498080" y="3652920"/>
            <a:ext cx="42926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</a:rPr>
              <a:t>Pełne rozumienie struktury materiału, samodzielny dobór metod 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</a:rPr>
              <a:t>w zadaniach złożonych.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5"/>
          <p:cNvSpPr/>
          <p:nvPr/>
        </p:nvSpPr>
        <p:spPr>
          <a:xfrm>
            <a:off x="5760720" y="4196520"/>
            <a:ext cx="325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9be7ef"/>
                </a:solidFill>
                <a:effectLst/>
                <a:uFillTx/>
                <a:latin typeface="Aptos"/>
              </a:rPr>
              <a:t>4.5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6355080" y="4234680"/>
            <a:ext cx="6073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88–94%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7498080" y="4248720"/>
            <a:ext cx="4283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</a:rPr>
              <a:t>Wysoka sprawność analityczna, krytyczna ocena, niewiele błędów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8"/>
          <p:cNvSpPr/>
          <p:nvPr/>
        </p:nvSpPr>
        <p:spPr>
          <a:xfrm>
            <a:off x="5760720" y="4708440"/>
            <a:ext cx="325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5.0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9"/>
          <p:cNvSpPr/>
          <p:nvPr/>
        </p:nvSpPr>
        <p:spPr>
          <a:xfrm>
            <a:off x="6355080" y="4746600"/>
            <a:ext cx="7016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95–100%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0"/>
          <p:cNvSpPr/>
          <p:nvPr/>
        </p:nvSpPr>
        <p:spPr>
          <a:xfrm>
            <a:off x="7498080" y="4760640"/>
            <a:ext cx="41648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  <a:ea typeface="Noto Sans CJK SC"/>
              </a:rPr>
              <a:t>Biegłość w dziedzinie, nietypowe</a:t>
            </a:r>
            <a:r>
              <a:rPr lang="pl-PL" sz="1100" b="0" u="none" strike="noStrike">
                <a:solidFill>
                  <a:srgbClr val="e5e7eb"/>
                </a:solidFill>
                <a:effectLst/>
                <a:uFillTx/>
                <a:latin typeface="Aptos"/>
              </a:rPr>
              <a:t> i złożone problemy techniczne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" name="Connector 31"/>
          <p:cNvCxnSpPr/>
          <p:nvPr/>
        </p:nvCxnSpPr>
        <p:spPr>
          <a:xfrm>
            <a:off x="5760720" y="5193720"/>
            <a:ext cx="5672160" cy="2880"/>
          </a:xfrm>
          <a:prstGeom prst="straightConnector1">
            <a:avLst/>
          </a:prstGeom>
          <a:ln w="0">
            <a:solidFill>
              <a:srgbClr val="334155"/>
            </a:solidFill>
          </a:ln>
        </p:spPr>
      </p:cxnSp>
      <p:sp>
        <p:nvSpPr>
          <p:cNvPr id="146" name="TextBox 32"/>
          <p:cNvSpPr/>
          <p:nvPr/>
        </p:nvSpPr>
        <p:spPr>
          <a:xfrm>
            <a:off x="5970240" y="5330160"/>
            <a:ext cx="5705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Oceniam wiedzę i kompetencje. Nie wszyscy są specjalistami we wszystkim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"/>
          <p:cNvPicPr/>
          <p:nvPr/>
        </p:nvPicPr>
        <p:blipFill>
          <a:blip r:embed="rId1"/>
          <a:stretch/>
        </p:blipFill>
        <p:spPr>
          <a:xfrm>
            <a:off x="932400" y="23040"/>
            <a:ext cx="10252440" cy="683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"/>
          <p:cNvGrpSpPr/>
          <p:nvPr/>
        </p:nvGrpSpPr>
        <p:grpSpPr>
          <a:xfrm>
            <a:off x="0" y="555480"/>
            <a:ext cx="12235680" cy="6464880"/>
            <a:chOff x="0" y="555480"/>
            <a:chExt cx="12235680" cy="6464880"/>
          </a:xfrm>
        </p:grpSpPr>
        <p:pic>
          <p:nvPicPr>
            <p:cNvPr id="149" name=""/>
            <p:cNvPicPr/>
            <p:nvPr/>
          </p:nvPicPr>
          <p:blipFill>
            <a:blip r:embed="rId1"/>
            <a:stretch/>
          </p:blipFill>
          <p:spPr>
            <a:xfrm>
              <a:off x="46440" y="679680"/>
              <a:ext cx="12189240" cy="5515560"/>
            </a:xfrm>
            <a:prstGeom prst="rect">
              <a:avLst/>
            </a:prstGeom>
            <a:noFill/>
            <a:ln w="108000">
              <a:noFill/>
            </a:ln>
          </p:spPr>
        </p:pic>
        <p:sp>
          <p:nvSpPr>
            <p:cNvPr id="150" name=""/>
            <p:cNvSpPr/>
            <p:nvPr/>
          </p:nvSpPr>
          <p:spPr>
            <a:xfrm>
              <a:off x="1071720" y="1981800"/>
              <a:ext cx="2449800" cy="1552680"/>
            </a:xfrm>
            <a:prstGeom prst="rect">
              <a:avLst/>
            </a:prstGeom>
            <a:noFill/>
            <a:ln w="10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pl-PL" sz="4800" b="1" u="none" strike="noStrike">
                  <a:solidFill>
                    <a:srgbClr val="ff1d00"/>
                  </a:solidFill>
                  <a:effectLst/>
                  <a:uFillTx/>
                  <a:latin typeface="Arial"/>
                </a:rPr>
                <a:t>student</a:t>
              </a:r>
              <a:endParaRPr lang="pl-PL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pl-PL" sz="4800" b="1" u="none" strike="noStrike">
                  <a:solidFill>
                    <a:srgbClr val="ff1d00"/>
                  </a:solidFill>
                  <a:effectLst/>
                  <a:uFillTx/>
                  <a:latin typeface="Arial"/>
                </a:rPr>
                <a:t>kaiwww</a:t>
              </a:r>
              <a:endParaRPr lang="pl-PL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2633760" y="555480"/>
              <a:ext cx="2903760" cy="737640"/>
            </a:xfrm>
            <a:prstGeom prst="rect">
              <a:avLst/>
            </a:prstGeom>
            <a:noFill/>
            <a:ln w="108000">
              <a:solidFill>
                <a:srgbClr val="dc143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0" y="4012560"/>
              <a:ext cx="5754600" cy="964440"/>
            </a:xfrm>
            <a:prstGeom prst="rect">
              <a:avLst/>
            </a:prstGeom>
            <a:solidFill>
              <a:srgbClr val="e4f4fe"/>
            </a:solidFill>
            <a:ln w="10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1068120" y="6382080"/>
              <a:ext cx="95868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https://matpomgit.github.io/kia/materialy/ndp_laboratoria.html?lab=01&amp;mode=fullTime#lab-01</a:t>
              </a:r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Application>LibreOffice/25.8.7.3$Linux_X86_64 LibreOffice_project/580$Build-3</Application>
  <AppVersion>15.0000</AppVersion>
  <Words>0</Words>
  <Paragraphs>0</Paragraphs>
  <Company>Politechnika Rzeszowska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2026-08-01T09:20:39Z</dcterms:created>
  <dc:creator>dr inż. Mateusz Pomianek</dc:creator>
  <dc:description/>
  <dc:language>pl-PL</dc:language>
  <cp:lastModifiedBy>Mateusz Pomianek</cp:lastModifiedBy>
  <dcterms:modified xsi:type="dcterms:W3CDTF">2026-10-24T08:47:04Z</dcterms:modified>
  <cp:revision>44</cp:revision>
  <dc:subject>Prezentacja prowadzącego dla studentów</dc:subject>
  <dc:title>Kim jestem i jak pracujemy na zajęciach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