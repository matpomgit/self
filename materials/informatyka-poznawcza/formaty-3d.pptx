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3" autoAdjust="0"/>
    <p:restoredTop sz="85005" autoAdjust="0"/>
  </p:normalViewPr>
  <p:slideViewPr>
    <p:cSldViewPr snapToGrid="0">
      <p:cViewPr>
        <p:scale>
          <a:sx n="101" d="100"/>
          <a:sy n="101" d="100"/>
        </p:scale>
        <p:origin x="702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/>
          <p:nvPr/>
        </p:nvSpPr>
        <p:spPr>
          <a:xfrm>
            <a:off x="8778240" y="-1463040"/>
            <a:ext cx="4755000" cy="475500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-1645920" y="4206240"/>
            <a:ext cx="3291900" cy="329190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005840" y="4480560"/>
            <a:ext cx="128100" cy="128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737360" y="4937760"/>
            <a:ext cx="128100" cy="128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1280160" y="5394960"/>
            <a:ext cx="128100" cy="128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" name="Google Shape;35;p1"/>
          <p:cNvCxnSpPr/>
          <p:nvPr/>
        </p:nvCxnSpPr>
        <p:spPr>
          <a:xfrm>
            <a:off x="1069848" y="4544568"/>
            <a:ext cx="731400" cy="457200"/>
          </a:xfrm>
          <a:prstGeom prst="straightConnector1">
            <a:avLst/>
          </a:prstGeom>
          <a:noFill/>
          <a:ln w="15875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"/>
          <p:cNvCxnSpPr/>
          <p:nvPr/>
        </p:nvCxnSpPr>
        <p:spPr>
          <a:xfrm flipH="1">
            <a:off x="1344168" y="5001768"/>
            <a:ext cx="457200" cy="457200"/>
          </a:xfrm>
          <a:prstGeom prst="straightConnector1">
            <a:avLst/>
          </a:prstGeom>
          <a:noFill/>
          <a:ln w="15875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"/>
          <p:cNvCxnSpPr/>
          <p:nvPr/>
        </p:nvCxnSpPr>
        <p:spPr>
          <a:xfrm rot="10800000">
            <a:off x="1069968" y="4544568"/>
            <a:ext cx="274200" cy="914400"/>
          </a:xfrm>
          <a:prstGeom prst="straightConnector1">
            <a:avLst/>
          </a:prstGeom>
          <a:noFill/>
          <a:ln w="15875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1"/>
          <p:cNvSpPr txBox="1"/>
          <p:nvPr/>
        </p:nvSpPr>
        <p:spPr>
          <a:xfrm>
            <a:off x="548640" y="18745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FORMATY DANYCH </a:t>
            </a:r>
            <a:r>
              <a:rPr lang="en-US" b="1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 </a:t>
            </a:r>
            <a:r>
              <a:rPr lang="en-US" sz="14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GRAFI</a:t>
            </a:r>
            <a:r>
              <a:rPr lang="en-US" b="1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CE 3</a:t>
            </a:r>
            <a:r>
              <a:rPr lang="en-US" sz="14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48640" y="228600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mbria"/>
              <a:buNone/>
            </a:pPr>
            <a:r>
              <a:rPr lang="en-US" sz="4800" b="1" i="0" u="none" strike="noStrike" cap="none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Formaty</a:t>
            </a:r>
            <a:r>
              <a:rPr lang="en-US" sz="4800" b="1" i="0" u="none" strike="noStrike" cap="none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4800" b="1" i="0" u="none" strike="noStrike" cap="none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plików</a:t>
            </a:r>
            <a:r>
              <a:rPr lang="en-US" sz="4800" b="1" i="0" u="none" strike="noStrike" cap="none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4800" b="1" i="0" u="none" strike="noStrike" cap="none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obiektów</a:t>
            </a:r>
            <a:r>
              <a:rPr lang="en-US" sz="4800" b="1" i="0" u="none" strike="noStrike" cap="none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3D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548640" y="3520440"/>
            <a:ext cx="8686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Reprezentacja geometrii, sposób zapisu danych i zastosowania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548640" y="61264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dr inż. Mateusz Pomianek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KSZTAŁCENIA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zajęciach student samodzielnie analizuje i dobiera format pliku 3D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Definiuje pojęcie formatu pliku 3D i wskazuje jego podstawowe elementy składowe.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Klasyfikuje formaty 3D ze względu na sposób reprezentacji geometrii (siatka, scena, CAD).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Porównuje sposób zapisu danych geometrycznych w formatach OBJ, STL, PLY, glTF, FBX, COLLADA i STEP.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Dobiera format pliku odpowiedni do zastosowania: druk 3D, grafika czasu rzeczywistego, projektowanie inżynierskie.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pliku 3D określa sposób zapisu geometrii i jej atrybutów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95478" y="1874520"/>
            <a:ext cx="6437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Podstawowym elementem geometrii jest siatka wielokątów (najczęściej trójkątów), zbudowana z wierzchołków (ang. vertices), krawędzi i ścian (ang. faces).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może dodatkowo przechowywać: normalne (kierunek powierzchni), współrzędne tekstury (UV), kolory, materiały, hierarchię obiektów oraz animacje.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zapisuje się w postaci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tekstowej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czytelnej dla człowieka, lub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binarnej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bardziej kompaktowej i szybszej do odczytu.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704088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Wierzchołki, krawędzie i ściana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0" y="2286000"/>
            <a:ext cx="4572000" cy="3108960"/>
          </a:xfrm>
          <a:prstGeom prst="roundRect">
            <a:avLst>
              <a:gd name="adj" fmla="val 1765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2743200"/>
            <a:ext cx="0" cy="19202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4663440"/>
            <a:ext cx="2560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4663440"/>
            <a:ext cx="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ściana (f)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44584" y="26609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7964424" y="458114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9720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krawędź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Ściana = 3 wierzchołki połączone krawędziami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3D dzieli się na siatkowe, sceniczne oraz CAD (B-rep)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siatkowe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Zapisują wyłącznie geometrię: wierzchołki i ściany.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OBJ, STL, PLY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sceny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Geometria + hierarchia obiektów, materiały, animacje, kamery.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glTF, FBX, COLLADA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228600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CAD (B-rep)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611880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Reprezentacja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brzegowa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dokładne powierzchnie i krzywe, bez aproksymacji trójkątami.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STEP, IGES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SIATKOWY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 zapisuje geometrię jako czytelną listę wierzchołków i ścian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34364" y="1810512"/>
            <a:ext cx="5610987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tekstowy (ASCII) opracowany przez firmę </a:t>
            </a:r>
            <a:r>
              <a:rPr lang="pl-PL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Technologies.</a:t>
            </a:r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Współrzędne wierzchołków (v), tekstury (</a:t>
            </a:r>
            <a:r>
              <a:rPr lang="pl-PL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b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normalnych (</a:t>
            </a:r>
            <a:r>
              <a:rPr lang="pl-PL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zapisywane są jako osobne listy liczb.</a:t>
            </a:r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Ściany (f) odwołują się do numerów wierzchołków </a:t>
            </a:r>
            <a:b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tych list - indeksowanie zaczyna się od 1.</a:t>
            </a:r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przechowuje animacji ani hierarchii </a:t>
            </a:r>
            <a:r>
              <a:rPr lang="pl-PL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sceny, ale 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wyłącznie statyczną geometrię i materiały </a:t>
            </a:r>
            <a:r>
              <a:rPr lang="pl-PL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(jako osobny 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.</a:t>
            </a:r>
            <a:r>
              <a:rPr lang="pl-PL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 0.0 0.0 0.0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 1.0 0.0 0.0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 0.0 1.0 0.0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vt 0.0 0.0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vn 0.0 0.0 1.0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 1/1/1 2/1/1 3/1/1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SIATKOWY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19" y="713232"/>
            <a:ext cx="107080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 opisuje bryłę jako zbiór niezależnych trójkątów z wektorem normalnym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5577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powstały na potrzeby druku 3D (stereolitografii), opracowany przez firmę 3D Systems.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trójkąt zapisany jest niezależnie, bez wspólnej listy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wierzchołków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powoduje to redundancję danych.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 ASCII jest czytelna tekstowo; wersja binarna zapisuje te same dane jako liczby zmiennoprzecinkowe 32-bitowe i jest znacznie bardziej kompaktowa.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Podstawowa specyfikacja nie przechowuje kolorów, tekstur ani materiałów.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 przyklad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facet normal 0 0 1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outer loop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vertex 0 0 0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vertex 1 0 0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vertex 0 1 0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endloop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endfacet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endsolid przyklad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SIATKOWY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PLY oddziela nagłówek opisujący strukturę danych od samych wartości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opracowany na Uniwersytecie Stanforda do zapisu danych ze skanowania 3D.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Nagłówek (header) definiuje listę elementów (np. vertex, face) i ich właściwości (property), zanim pojawią się dane liczbowe.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struktura pozwala zapisać dowolne dodatkowe atrybuty punktu, np. kolor albo pewność pomiaru.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Występuje w wersji tekstowej (ascii) oraz binarnej (binary_little_endian / binary_big_endian).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365629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ply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ascii 1.0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vertex 3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x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y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z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face 1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list uchar int vertex_indices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end_header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3 0 1 2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 </a:t>
            </a:r>
            <a:r>
              <a:rPr lang="en-US" sz="1200" b="1" kern="0" spc="100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BRYŁY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Sześcian 1×1×1 wyśrodkowany w (0, 0, 0): </a:t>
            </a:r>
            <a:r>
              <a:rPr lang="pl-PL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br>
              <a:rPr lang="pl-PL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4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osiem</a:t>
            </a:r>
            <a:r>
              <a:rPr lang="en-US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wierzchołków i sześć ścian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631790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Krawędź sześcianu ma długość 1, więc współrzędne wierzchołków przyjmują wartości ±0,5 w każdej osi.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Środek bryły znajduje się w (0, 0, 0) </a:t>
            </a:r>
            <a:r>
              <a:rPr lang="en-US" sz="16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wierzchołek jest przesunięty o połowę krawędzi od środka.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list (property list uchar int vertex_indices) pozwala zapisać ścianę o dowolnej liczbie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wierzchołków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każda ściana ma po 4.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194560"/>
            <a:ext cx="5212080" cy="4297680"/>
          </a:xfrm>
          <a:prstGeom prst="roundRect">
            <a:avLst>
              <a:gd name="adj" fmla="val 12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2766" y="2212848"/>
            <a:ext cx="4809744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ascii 1.0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vertex 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face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list uchar int vertex_indices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end_header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-0.5 -0.5 -0.5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0.5 -0.5 -0.5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 0.5 -0.5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  0.5 -0.5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-0.5 -0.5 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0.5 -0.5 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0.5  0.5  0.5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-0.5  0.5  0.5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4 0 1 2 3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4 7 6 5 4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4 0 4 5 1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4 1 5 6 2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4 2 6 7 3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4 3 7 4 0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721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 bryły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7210" y="42976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868930" y="5783580"/>
            <a:ext cx="1188720" cy="914"/>
          </a:xfrm>
          <a:prstGeom prst="line">
            <a:avLst/>
          </a:prstGeom>
          <a:noFill/>
          <a:ln w="15875">
            <a:solidFill>
              <a:srgbClr val="B9B9B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4057650" y="4594860"/>
            <a:ext cx="914" cy="1188720"/>
          </a:xfrm>
          <a:prstGeom prst="line">
            <a:avLst/>
          </a:prstGeom>
          <a:noFill/>
          <a:ln w="15875">
            <a:solidFill>
              <a:srgbClr val="B9B9B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2868930" y="4594860"/>
            <a:ext cx="1188720" cy="914"/>
          </a:xfrm>
          <a:prstGeom prst="line">
            <a:avLst/>
          </a:prstGeom>
          <a:noFill/>
          <a:ln w="15875">
            <a:solidFill>
              <a:srgbClr val="B9B9B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2868930" y="4594860"/>
            <a:ext cx="914" cy="1188720"/>
          </a:xfrm>
          <a:prstGeom prst="line">
            <a:avLst/>
          </a:prstGeom>
          <a:noFill/>
          <a:ln w="15875">
            <a:solidFill>
              <a:srgbClr val="B9B9B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2366010" y="5783580"/>
            <a:ext cx="502920" cy="36576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554730" y="5783580"/>
            <a:ext cx="502920" cy="36576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554730" y="4594860"/>
            <a:ext cx="502920" cy="36576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366010" y="4594860"/>
            <a:ext cx="502920" cy="36576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366010" y="6149340"/>
            <a:ext cx="1188720" cy="914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554730" y="4960620"/>
            <a:ext cx="914" cy="118872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366010" y="4960620"/>
            <a:ext cx="1188720" cy="914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366010" y="4960620"/>
            <a:ext cx="914" cy="118872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6110" y="53263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84982" y="50794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(0, 0, 0)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366010" y="62590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SCENY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glTF przechowuje scenę jako JSON, a dane liczbowe w osobnym buforze binarnym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Otwarty standard opracowany przez konsorcjum Khronos Group, nazywany „JPEG-iem grafiki 3D”.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.gltf (JSON) opisuje sceny, węzły i materiały oraz odwołania do danych (accessors); same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liczby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współrzędne i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indeksy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leżą w pliku binarnym .bin.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.glb łączy część opisową i binarną w jednym pliku.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Obsługuje hierarchię obiektów, animacje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szkieletowe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 err="1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 fizyczne (PBR).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"meshes": [{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"primitives": [{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"attributes": {"POSITION": 1},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"indices": 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"accessors": [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{"bufferView":0,"componentType":5123,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"count":3,"type":"SCALAR"},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{"bufferView":1,"componentType":5126,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"count":3,"type":"VEC3"}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FBX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SCENY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FBX to </a:t>
            </a:r>
            <a:r>
              <a:rPr lang="en-US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Autodesk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przechowujący scenę jako drzewo węzłów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Występuje w wersji binarnej (domyślna, kompaktowa) oraz tekstowej (ASCII)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 mają identyczną strukturę węzłów.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geometrii (Vertices, PolygonVertexIndex) są zagnieżdżone w węzłach opisujących obiekty typu Model, Mesh, Material, AnimationCurve.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Szeroko stosowany w grafice gier i filmu ze względu na obsługę animacji szkieletowej i złożonych scen.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specyfikacja formatu binarnego nie jest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publiczna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i zapis wymagają FBX SDK udostępnianego przez Autodesk.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"Model::Cube", "Mesh" {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Vertices: *12 {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a: 0,0,0, 1,0,0, 1,1,0, 0,1,0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PolygonVertexIndex: *4 {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a: 0,1,2,-4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SCENY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COLLADA zapisuje scenę 3D w ustrukturyzowanym pliku XML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z rozszerzeniem .dae (Digital Asset Exchange); format ustandaryzowany jako ISO/PAS 17506.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liczbowe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współrzędne i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indeksy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zapisane są jako tekstowe tablice wewnątrz znaczników &lt;float_array&gt; i &lt;source&gt;.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XML pozwala jednoznacznie opisać hierarchię, materiały, oświetlenie i animacje, kosztem większego rozmiaru pliku.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Stosowany jako format pośredni przy wymianie danych między programami do grafiki 3D.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&lt;mesh&gt;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id="pozycje"&gt;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&lt;float_array count="9"&gt;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0 0 0 1 0 0 0 1 0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&lt;/float_array&gt;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&lt;/source&gt;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&lt;triangles count="1"&gt;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&lt;p&gt;0 1 2&lt;/p&gt;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&lt;/triangles&gt;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&lt;/mesh&gt;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CAD (B-REP)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opisuje </a:t>
            </a:r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bryłę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matematycznie</a:t>
            </a:r>
            <a:r>
              <a:rPr lang="pl-PL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jako powierzchnie i krawędzie, nie jako siatkę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ISO 10303; zapis tekstowy w postaci zdefiniowanej przez część ISO 10303-21 (clear text encoding).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Geometria opisana jest reprezentacją brzegową (B-rep)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dokładnymi powierzchniami i krzywymi, bez aproksymacji trójkątami.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element (punkt, krzywa, powierzchnia) ma unikalny numer odniesienia (np. #10), do którego odwołują się inne elementy pliku.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wymiany danych między systemami CAD/CAM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pełną dokładność geometryczną modelu.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ISO-10303-21;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FILE_DESCRIPTION((''),'2;1');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ENDSEC;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#10=CARTESIAN_POINT('',(0.,0.,0.));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#11=CARTESIAN_POINT('',(10.,0.,0.));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#12=LINE('',#10,#13);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ENDSEC;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END-ISO-10303-21;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sz="1200" b="1" kern="0" spc="100" dirty="0" smtClean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BRYŁY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Kula o promieniu 0,5 wyśrodkowana w (0, 0, 0) jako powierzchnia SPHERICAL_SURFACE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39" y="1828800"/>
            <a:ext cx="56140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pl-PL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Środek kuli pokrywa się z początkiem układu współrzędnych - punkt #1 CARTESIAN_POINT ma wartość (0., 0., 0.).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pl-PL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Encja SPHERICAL_SURFACE odwołuje się do lokalnego układu AXIS2_PLACEMENT_3D (#4) oraz do wartości promienia - tu 0,5.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pl-PL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odróżnieniu od formatów siatkowych (PLY, OBJ, STL) powierzchnia jest zapisana jako dokładna funkcja matematyczna, a nie zbiór trójkątów.</a:t>
            </a:r>
            <a:endParaRPr lang="pl-PL" sz="1600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19456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340864"/>
            <a:ext cx="499262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ISO-10303-21;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FILE_DESCRIPTION((''),'2;1');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ENDSEC;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#1=CARTESIAN_POINT('Center',(0.,0.,0.));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#2=DIRECTION('axis',(0.,0.,1.));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#3=DIRECTION('refdir',(1.,0.,0.));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#4=AXIS2_PLACEMENT_3D('',#1,#2,#3);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#5=SPHERICAL_SURFACE('Sphere',#4,0.5);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ENDSEC;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END-ISO-10303-21;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39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 bryły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39" y="457200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3139" y="4640580"/>
            <a:ext cx="1920240" cy="1920240"/>
          </a:xfrm>
          <a:prstGeom prst="ellipse">
            <a:avLst/>
          </a:prstGeom>
          <a:solidFill>
            <a:srgbClr val="FBEFEC">
              <a:alpha val="90000"/>
            </a:srgbClr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3139" y="5293462"/>
            <a:ext cx="1920240" cy="614477"/>
          </a:xfrm>
          <a:prstGeom prst="ellipse">
            <a:avLst/>
          </a:prstGeom>
          <a:ln w="15875">
            <a:solidFill>
              <a:srgbClr val="B8504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177539" y="55549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28899" y="601766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(0, 0, 0)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3223259" y="4967021"/>
            <a:ext cx="633679" cy="633679"/>
          </a:xfrm>
          <a:prstGeom prst="line">
            <a:avLst/>
          </a:prstGeom>
          <a:noFill/>
          <a:ln w="19050">
            <a:solidFill>
              <a:srgbClr val="B8504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3863340" y="4608119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różnią się kategorią, kodowaniem i przeznaczeniem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739349"/>
              </p:ext>
            </p:extLst>
          </p:nvPr>
        </p:nvGraphicFramePr>
        <p:xfrm>
          <a:off x="548640" y="1920240"/>
          <a:ext cx="10515600" cy="4282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Kodowanie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Zapis geometrii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Typowe zastosowanie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Tekstowe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Wierzchołki + ściany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Wymiana modeli statycznych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Tekstowe / binarne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Niezależne trójkąty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Druk 3D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Tekstowe / binarne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 + dowolne atrybuty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Skanowanie 3D, chmury punktów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glTF / GLB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+ binarne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 + hierarchia + animacje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Aplikacje czasu rzeczywistego, AR/VR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Binarne / tekstowe (zastrzeżone)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 + hierarchia + animacje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Gry, film, animacja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COLLADA (.dae)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 + hierarchia + animacje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Wymiana między programami DCC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(B-rep)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Tekstowe (EXPRESS)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Powierzchnie i krawędzie parametryczne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Projektowanie inżynierskie CAD/CAM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Wybór formatu zależy od tego, czy priorytetem jest dokładność, rozmiar pliku czy animacja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Formaty siatkowe (OBJ, STL, PLY) przechowują wyłącznie geometrię - są proste, ale ograniczone do statycznych modeli.</a:t>
            </a:r>
            <a:endParaRPr lang="pl-PL" sz="2000" dirty="0" smtClean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Formaty sceny (</a:t>
            </a:r>
            <a:r>
              <a:rPr lang="pl-PL" sz="2000" dirty="0" err="1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</a:t>
            </a: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FBX, COLLADA) dodają hierarchię obiektów, materiały i animacje kosztem większej złożoności pliku.</a:t>
            </a:r>
            <a:endParaRPr lang="pl-PL" sz="2000" dirty="0" smtClean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Formaty CAD (STEP, IGES) zachowują pełną precyzję matematyczną powierzchni, niedostępną w reprezentacji siatkowej.</a:t>
            </a:r>
            <a:endParaRPr lang="pl-PL" sz="2000" dirty="0" smtClean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binarne zmniejsza rozmiar pliku; kodowanie tekstowe ułatwia podgląd, debugowanie i edycję ręczną.</a:t>
            </a:r>
            <a:endParaRPr lang="pl-P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SPRAWDZAJĄCE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Sprawdź, czy potrafisz wyjaśnić różnice między formatami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plik STL jest zwykle większy niż plik OBJ opisujący ten sam model?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 problem rozwiązuje podział pliku glTF na część JSON i część binarną?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format STEP nie przechowuje siatki trójkątów, mimo że większość programów graficznych ostatecznie renderuje bryłę jako siatkę?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 format wybrałbyś do zapisu modelu z animacją postaci? Uzasadnij wybór.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Źródła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Wavefront Technologies, "Object Files (.obj) File Format Specification," 1995.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3D Systems, Inc., "StereoLithography Interface Specification," 1989.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Stanford University, Computer Graphics Laboratory, "The PLY Polygon File Format," 1994.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Khronos Group, "glTF 2.0 Specification," 2017.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Autodesk, Inc., "FBX SDK Documentation."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Khronos Group, "COLLADA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Schema Release 1.5.0," ISO/PAS 17506:2012.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International Organization for Standardization, "ISO 10303-21: Industrial automation systems and integration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 representation and exchange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21: Implementation methods: Clear text encoding of the exchange structure," 2016.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F40A22102435644A9AC13772F5A288F" ma:contentTypeVersion="12" ma:contentTypeDescription="Utwórz nowy dokument." ma:contentTypeScope="" ma:versionID="b63cca81a07487a0beeaa5494f66d05e">
  <xsd:schema xmlns:xsd="http://www.w3.org/2001/XMLSchema" xmlns:xs="http://www.w3.org/2001/XMLSchema" xmlns:p="http://schemas.microsoft.com/office/2006/metadata/properties" xmlns:ns3="d3bbb6c1-804c-41f0-8e4c-83d4933748df" targetNamespace="http://schemas.microsoft.com/office/2006/metadata/properties" ma:root="true" ma:fieldsID="9b1cc1f1b2acd333346206515e746ff8" ns3:_="">
    <xsd:import namespace="d3bbb6c1-804c-41f0-8e4c-83d4933748d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bbb6c1-804c-41f0-8e4c-83d4933748d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bbb6c1-804c-41f0-8e4c-83d4933748df" xsi:nil="true"/>
  </documentManagement>
</p:properties>
</file>

<file path=customXml/itemProps1.xml><?xml version="1.0" encoding="utf-8"?>
<ds:datastoreItem xmlns:ds="http://schemas.openxmlformats.org/officeDocument/2006/customXml" ds:itemID="{2D96F990-8AF4-455C-965D-2DE3BB45FC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bbb6c1-804c-41f0-8e4c-83d493374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B32842-0464-47E1-8199-EC4B13C7B1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E81CDB-C948-4225-9CD8-BD2A6355683F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3bbb6c1-804c-41f0-8e4c-83d4933748df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2038</Words>
  <Application>Microsoft Office PowerPoint</Application>
  <PresentationFormat>Panoramiczny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Andromeda</dc:creator>
  <cp:lastModifiedBy>Mateusz Pomianek</cp:lastModifiedBy>
  <cp:revision>8</cp:revision>
  <dcterms:modified xsi:type="dcterms:W3CDTF">2026-09-30T07:19:13Z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0x0101005F40A22102435644A9AC13772F5A288F</vt:lpwstr>
  </property>
</Properties>
</file>