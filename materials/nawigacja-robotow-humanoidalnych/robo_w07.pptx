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E0718-625B-2EBB-5663-2F6A2B7529F1}" v="259" dt="2026-07-20T09:57:56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usz Pomianek" userId="S::mpomianek@o365.prz.edu.pl::3d638ea4-2586-4d1a-a8fd-db8a3798db81" providerId="AD" clId="Web-{FA7E0718-625B-2EBB-5663-2F6A2B7529F1}"/>
    <pc:docChg chg="modSld">
      <pc:chgData name="Mateusz Pomianek" userId="S::mpomianek@o365.prz.edu.pl::3d638ea4-2586-4d1a-a8fd-db8a3798db81" providerId="AD" clId="Web-{FA7E0718-625B-2EBB-5663-2F6A2B7529F1}" dt="2026-07-20T09:57:56.176" v="187" actId="20577"/>
      <pc:docMkLst>
        <pc:docMk/>
      </pc:docMkLst>
      <pc:sldChg chg="modSp">
        <pc:chgData name="Mateusz Pomianek" userId="S::mpomianek@o365.prz.edu.pl::3d638ea4-2586-4d1a-a8fd-db8a3798db81" providerId="AD" clId="Web-{FA7E0718-625B-2EBB-5663-2F6A2B7529F1}" dt="2026-07-20T09:57:42.191" v="186" actId="20577"/>
        <pc:sldMkLst>
          <pc:docMk/>
          <pc:sldMk cId="0" sldId="256"/>
        </pc:sldMkLst>
        <pc:spChg chg="mod">
          <ac:chgData name="Mateusz Pomianek" userId="S::mpomianek@o365.prz.edu.pl::3d638ea4-2586-4d1a-a8fd-db8a3798db81" providerId="AD" clId="Web-{FA7E0718-625B-2EBB-5663-2F6A2B7529F1}" dt="2026-07-20T09:57:42.191" v="186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Sp">
        <pc:chgData name="Mateusz Pomianek" userId="S::mpomianek@o365.prz.edu.pl::3d638ea4-2586-4d1a-a8fd-db8a3798db81" providerId="AD" clId="Web-{FA7E0718-625B-2EBB-5663-2F6A2B7529F1}" dt="2026-07-20T09:56:54.346" v="180"/>
        <pc:sldMkLst>
          <pc:docMk/>
          <pc:sldMk cId="0" sldId="260"/>
        </pc:sldMkLst>
        <pc:spChg chg="mod">
          <ac:chgData name="Mateusz Pomianek" userId="S::mpomianek@o365.prz.edu.pl::3d638ea4-2586-4d1a-a8fd-db8a3798db81" providerId="AD" clId="Web-{FA7E0718-625B-2EBB-5663-2F6A2B7529F1}" dt="2026-07-20T09:56:16.439" v="179" actId="20577"/>
          <ac:spMkLst>
            <pc:docMk/>
            <pc:sldMk cId="0" sldId="260"/>
            <ac:spMk id="7" creationId="{00000000-0000-0000-0000-000000000000}"/>
          </ac:spMkLst>
        </pc:spChg>
        <pc:spChg chg="add del mod">
          <ac:chgData name="Mateusz Pomianek" userId="S::mpomianek@o365.prz.edu.pl::3d638ea4-2586-4d1a-a8fd-db8a3798db81" providerId="AD" clId="Web-{FA7E0718-625B-2EBB-5663-2F6A2B7529F1}" dt="2026-07-20T09:56:54.346" v="180"/>
          <ac:spMkLst>
            <pc:docMk/>
            <pc:sldMk cId="0" sldId="260"/>
            <ac:spMk id="8" creationId="{C0EA6328-3A26-1959-06C7-ADC80535AA15}"/>
          </ac:spMkLst>
        </pc:spChg>
      </pc:sldChg>
      <pc:sldChg chg="modSp">
        <pc:chgData name="Mateusz Pomianek" userId="S::mpomianek@o365.prz.edu.pl::3d638ea4-2586-4d1a-a8fd-db8a3798db81" providerId="AD" clId="Web-{FA7E0718-625B-2EBB-5663-2F6A2B7529F1}" dt="2026-07-20T09:39:37.255" v="23" actId="20577"/>
        <pc:sldMkLst>
          <pc:docMk/>
          <pc:sldMk cId="0" sldId="261"/>
        </pc:sldMkLst>
        <pc:spChg chg="mod">
          <ac:chgData name="Mateusz Pomianek" userId="S::mpomianek@o365.prz.edu.pl::3d638ea4-2586-4d1a-a8fd-db8a3798db81" providerId="AD" clId="Web-{FA7E0718-625B-2EBB-5663-2F6A2B7529F1}" dt="2026-07-20T09:39:37.255" v="23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FA7E0718-625B-2EBB-5663-2F6A2B7529F1}" dt="2026-07-20T09:51:48.213" v="156" actId="20577"/>
        <pc:sldMkLst>
          <pc:docMk/>
          <pc:sldMk cId="0" sldId="262"/>
        </pc:sldMkLst>
        <pc:spChg chg="mod">
          <ac:chgData name="Mateusz Pomianek" userId="S::mpomianek@o365.prz.edu.pl::3d638ea4-2586-4d1a-a8fd-db8a3798db81" providerId="AD" clId="Web-{FA7E0718-625B-2EBB-5663-2F6A2B7529F1}" dt="2026-07-20T09:51:33.962" v="151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51:48.213" v="156" actId="20577"/>
          <ac:spMkLst>
            <pc:docMk/>
            <pc:sldMk cId="0" sldId="262"/>
            <ac:spMk id="13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FA7E0718-625B-2EBB-5663-2F6A2B7529F1}" dt="2026-07-20T09:43:03.651" v="60" actId="20577"/>
        <pc:sldMkLst>
          <pc:docMk/>
          <pc:sldMk cId="0" sldId="263"/>
        </pc:sldMkLst>
        <pc:spChg chg="mod">
          <ac:chgData name="Mateusz Pomianek" userId="S::mpomianek@o365.prz.edu.pl::3d638ea4-2586-4d1a-a8fd-db8a3798db81" providerId="AD" clId="Web-{FA7E0718-625B-2EBB-5663-2F6A2B7529F1}" dt="2026-07-20T09:41:57.430" v="50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1:57.446" v="51" actId="14100"/>
          <ac:spMkLst>
            <pc:docMk/>
            <pc:sldMk cId="0" sldId="263"/>
            <ac:spMk id="7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3:03.651" v="60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1:50.102" v="46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1:50.118" v="47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1:50.133" v="48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1:50.164" v="49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0:52.835" v="35" actId="20577"/>
          <ac:spMkLst>
            <pc:docMk/>
            <pc:sldMk cId="0" sldId="263"/>
            <ac:spMk id="17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FA7E0718-625B-2EBB-5663-2F6A2B7529F1}" dt="2026-07-20T09:42:45.307" v="55" actId="20577"/>
        <pc:sldMkLst>
          <pc:docMk/>
          <pc:sldMk cId="0" sldId="264"/>
        </pc:sldMkLst>
        <pc:spChg chg="mod">
          <ac:chgData name="Mateusz Pomianek" userId="S::mpomianek@o365.prz.edu.pl::3d638ea4-2586-4d1a-a8fd-db8a3798db81" providerId="AD" clId="Web-{FA7E0718-625B-2EBB-5663-2F6A2B7529F1}" dt="2026-07-20T09:42:09.962" v="53" actId="14100"/>
          <ac:spMkLst>
            <pc:docMk/>
            <pc:sldMk cId="0" sldId="264"/>
            <ac:spMk id="6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2:45.307" v="55" actId="20577"/>
          <ac:spMkLst>
            <pc:docMk/>
            <pc:sldMk cId="0" sldId="264"/>
            <ac:spMk id="7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FA7E0718-625B-2EBB-5663-2F6A2B7529F1}" dt="2026-07-20T09:51:12.509" v="148" actId="14100"/>
        <pc:sldMkLst>
          <pc:docMk/>
          <pc:sldMk cId="0" sldId="267"/>
        </pc:sldMkLst>
        <pc:spChg chg="mod">
          <ac:chgData name="Mateusz Pomianek" userId="S::mpomianek@o365.prz.edu.pl::3d638ea4-2586-4d1a-a8fd-db8a3798db81" providerId="AD" clId="Web-{FA7E0718-625B-2EBB-5663-2F6A2B7529F1}" dt="2026-07-20T09:51:12.509" v="148" actId="14100"/>
          <ac:spMkLst>
            <pc:docMk/>
            <pc:sldMk cId="0" sldId="267"/>
            <ac:spMk id="16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51:07.946" v="147" actId="20577"/>
          <ac:spMkLst>
            <pc:docMk/>
            <pc:sldMk cId="0" sldId="267"/>
            <ac:spMk id="19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FA7E0718-625B-2EBB-5663-2F6A2B7529F1}" dt="2026-07-20T09:50:44.758" v="145" actId="20577"/>
        <pc:sldMkLst>
          <pc:docMk/>
          <pc:sldMk cId="0" sldId="268"/>
        </pc:sldMkLst>
        <pc:spChg chg="mod">
          <ac:chgData name="Mateusz Pomianek" userId="S::mpomianek@o365.prz.edu.pl::3d638ea4-2586-4d1a-a8fd-db8a3798db81" providerId="AD" clId="Web-{FA7E0718-625B-2EBB-5663-2F6A2B7529F1}" dt="2026-07-20T09:50:44.758" v="145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FA7E0718-625B-2EBB-5663-2F6A2B7529F1}" dt="2026-07-20T09:50:27.523" v="140" actId="20577"/>
        <pc:sldMkLst>
          <pc:docMk/>
          <pc:sldMk cId="0" sldId="269"/>
        </pc:sldMkLst>
        <pc:spChg chg="mod">
          <ac:chgData name="Mateusz Pomianek" userId="S::mpomianek@o365.prz.edu.pl::3d638ea4-2586-4d1a-a8fd-db8a3798db81" providerId="AD" clId="Web-{FA7E0718-625B-2EBB-5663-2F6A2B7529F1}" dt="2026-07-20T09:43:28.011" v="61" actId="14100"/>
          <ac:spMkLst>
            <pc:docMk/>
            <pc:sldMk cId="0" sldId="269"/>
            <ac:spMk id="6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3:28.058" v="62" actId="14100"/>
          <ac:spMkLst>
            <pc:docMk/>
            <pc:sldMk cId="0" sldId="269"/>
            <ac:spMk id="7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50:22.976" v="138" actId="20577"/>
          <ac:spMkLst>
            <pc:docMk/>
            <pc:sldMk cId="0" sldId="269"/>
            <ac:spMk id="9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50:27.523" v="140" actId="2057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9:48.084" v="127" actId="2057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9:58.850" v="130" actId="20577"/>
          <ac:spMkLst>
            <pc:docMk/>
            <pc:sldMk cId="0" sldId="269"/>
            <ac:spMk id="13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FA7E0718-625B-2EBB-5663-2F6A2B7529F1}" dt="2026-07-20T09:48:21.160" v="122" actId="20577"/>
        <pc:sldMkLst>
          <pc:docMk/>
          <pc:sldMk cId="0" sldId="273"/>
        </pc:sldMkLst>
        <pc:spChg chg="mod">
          <ac:chgData name="Mateusz Pomianek" userId="S::mpomianek@o365.prz.edu.pl::3d638ea4-2586-4d1a-a8fd-db8a3798db81" providerId="AD" clId="Web-{FA7E0718-625B-2EBB-5663-2F6A2B7529F1}" dt="2026-07-20T09:48:11.753" v="119" actId="20577"/>
          <ac:spMkLst>
            <pc:docMk/>
            <pc:sldMk cId="0" sldId="273"/>
            <ac:spMk id="7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8:18.363" v="120" actId="20577"/>
          <ac:spMkLst>
            <pc:docMk/>
            <pc:sldMk cId="0" sldId="273"/>
            <ac:spMk id="8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8:21.160" v="122" actId="20577"/>
          <ac:spMkLst>
            <pc:docMk/>
            <pc:sldMk cId="0" sldId="273"/>
            <ac:spMk id="9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FA7E0718-625B-2EBB-5663-2F6A2B7529F1}" dt="2026-07-20T09:44:39.966" v="83" actId="20577"/>
        <pc:sldMkLst>
          <pc:docMk/>
          <pc:sldMk cId="0" sldId="276"/>
        </pc:sldMkLst>
        <pc:spChg chg="mod">
          <ac:chgData name="Mateusz Pomianek" userId="S::mpomianek@o365.prz.edu.pl::3d638ea4-2586-4d1a-a8fd-db8a3798db81" providerId="AD" clId="Web-{FA7E0718-625B-2EBB-5663-2F6A2B7529F1}" dt="2026-07-20T09:44:33.154" v="73" actId="20577"/>
          <ac:spMkLst>
            <pc:docMk/>
            <pc:sldMk cId="0" sldId="276"/>
            <ac:spMk id="5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4:39.966" v="83" actId="20577"/>
          <ac:spMkLst>
            <pc:docMk/>
            <pc:sldMk cId="0" sldId="276"/>
            <ac:spMk id="10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4:27.872" v="70" actId="20577"/>
          <ac:spMkLst>
            <pc:docMk/>
            <pc:sldMk cId="0" sldId="276"/>
            <ac:spMk id="12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FA7E0718-625B-2EBB-5663-2F6A2B7529F1}" dt="2026-07-20T09:45:08.123" v="86" actId="20577"/>
        <pc:sldMkLst>
          <pc:docMk/>
          <pc:sldMk cId="0" sldId="280"/>
        </pc:sldMkLst>
        <pc:spChg chg="mod">
          <ac:chgData name="Mateusz Pomianek" userId="S::mpomianek@o365.prz.edu.pl::3d638ea4-2586-4d1a-a8fd-db8a3798db81" providerId="AD" clId="Web-{FA7E0718-625B-2EBB-5663-2F6A2B7529F1}" dt="2026-07-20T09:45:08.123" v="86" actId="20577"/>
          <ac:spMkLst>
            <pc:docMk/>
            <pc:sldMk cId="0" sldId="280"/>
            <ac:spMk id="12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FA7E0718-625B-2EBB-5663-2F6A2B7529F1}" dt="2026-07-20T09:47:12.892" v="107" actId="20577"/>
        <pc:sldMkLst>
          <pc:docMk/>
          <pc:sldMk cId="0" sldId="282"/>
        </pc:sldMkLst>
        <pc:spChg chg="mod">
          <ac:chgData name="Mateusz Pomianek" userId="S::mpomianek@o365.prz.edu.pl::3d638ea4-2586-4d1a-a8fd-db8a3798db81" providerId="AD" clId="Web-{FA7E0718-625B-2EBB-5663-2F6A2B7529F1}" dt="2026-07-20T09:47:06.142" v="103" actId="14100"/>
          <ac:spMkLst>
            <pc:docMk/>
            <pc:sldMk cId="0" sldId="282"/>
            <ac:spMk id="6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7:06.205" v="104" actId="14100"/>
          <ac:spMkLst>
            <pc:docMk/>
            <pc:sldMk cId="0" sldId="282"/>
            <ac:spMk id="7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6:47.439" v="99" actId="20577"/>
          <ac:spMkLst>
            <pc:docMk/>
            <pc:sldMk cId="0" sldId="282"/>
            <ac:spMk id="11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7:02.126" v="102" actId="20577"/>
          <ac:spMkLst>
            <pc:docMk/>
            <pc:sldMk cId="0" sldId="282"/>
            <ac:spMk id="12" creationId="{00000000-0000-0000-0000-000000000000}"/>
          </ac:spMkLst>
        </pc:spChg>
        <pc:spChg chg="mod">
          <ac:chgData name="Mateusz Pomianek" userId="S::mpomianek@o365.prz.edu.pl::3d638ea4-2586-4d1a-a8fd-db8a3798db81" providerId="AD" clId="Web-{FA7E0718-625B-2EBB-5663-2F6A2B7529F1}" dt="2026-07-20T09:47:12.892" v="107" actId="20577"/>
          <ac:spMkLst>
            <pc:docMk/>
            <pc:sldMk cId="0" sldId="282"/>
            <ac:spMk id="13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FA7E0718-625B-2EBB-5663-2F6A2B7529F1}" dt="2026-07-20T09:57:56.176" v="187" actId="20577"/>
        <pc:sldMkLst>
          <pc:docMk/>
          <pc:sldMk cId="0" sldId="283"/>
        </pc:sldMkLst>
        <pc:spChg chg="mod">
          <ac:chgData name="Mateusz Pomianek" userId="S::mpomianek@o365.prz.edu.pl::3d638ea4-2586-4d1a-a8fd-db8a3798db81" providerId="AD" clId="Web-{FA7E0718-625B-2EBB-5663-2F6A2B7529F1}" dt="2026-07-20T09:57:56.176" v="187" actId="20577"/>
          <ac:spMkLst>
            <pc:docMk/>
            <pc:sldMk cId="0" sldId="283"/>
            <ac:spMk id="14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FA7E0718-625B-2EBB-5663-2F6A2B7529F1}" dt="2026-07-20T09:46:26.297" v="96" actId="20577"/>
        <pc:sldMkLst>
          <pc:docMk/>
          <pc:sldMk cId="0" sldId="284"/>
        </pc:sldMkLst>
        <pc:spChg chg="mod">
          <ac:chgData name="Mateusz Pomianek" userId="S::mpomianek@o365.prz.edu.pl::3d638ea4-2586-4d1a-a8fd-db8a3798db81" providerId="AD" clId="Web-{FA7E0718-625B-2EBB-5663-2F6A2B7529F1}" dt="2026-07-20T09:46:26.297" v="96" actId="20577"/>
          <ac:spMkLst>
            <pc:docMk/>
            <pc:sldMk cId="0" sldId="284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376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822960"/>
            <a:ext cx="2286000" cy="2286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E05C4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0" y="1210310"/>
            <a:ext cx="1511300" cy="1511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22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ROBOTOW HUMANOIDALNYCH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12344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</a:t>
            </a:r>
            <a:r>
              <a:rPr lang="pl-PL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Ł</a:t>
            </a: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 7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20040" y="1920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800" b="1" dirty="0" err="1">
                <a:solidFill>
                  <a:srgbClr val="F9A99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Nawigacja</a:t>
            </a:r>
            <a:r>
              <a:rPr lang="en-US" sz="1800" b="1" dirty="0">
                <a:solidFill>
                  <a:srgbClr val="F9A99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800" b="1" dirty="0" err="1">
                <a:solidFill>
                  <a:srgbClr val="F9A99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spoleczna</a:t>
            </a:r>
            <a:r>
              <a:rPr lang="en-US" sz="1800" b="1" dirty="0">
                <a:solidFill>
                  <a:srgbClr val="F9A99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:</a:t>
            </a:r>
            <a:endParaRPr lang="en-US" dirty="0">
              <a:solidFill>
                <a:srgbClr val="000000"/>
              </a:solidFill>
              <a:latin typeface="Trebuchet MS"/>
              <a:ea typeface="Calibri" panose="020F0502020204030204"/>
              <a:cs typeface="Calibri" panose="020F0502020204030204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 err="1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tlumy</a:t>
            </a:r>
            <a:r>
              <a:rPr lang="en-US" sz="1400" dirty="0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1400" dirty="0" err="1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normy</a:t>
            </a:r>
            <a:r>
              <a:rPr lang="en-US" sz="1400" dirty="0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dirty="0" err="1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kulturowe</a:t>
            </a:r>
            <a:r>
              <a:rPr lang="en-US" sz="1400" dirty="0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1400" dirty="0" err="1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interakcja</a:t>
            </a:r>
            <a:r>
              <a:rPr lang="en-US" sz="1400" dirty="0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z </a:t>
            </a:r>
            <a:r>
              <a:rPr lang="en-US" sz="1400" dirty="0" err="1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czlowiekiem</a:t>
            </a:r>
            <a:endParaRPr lang="en-US" dirty="0">
              <a:latin typeface="Trebuchet M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0040" y="2907792"/>
            <a:ext cx="5760720" cy="27432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997708"/>
            <a:ext cx="576072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inż. Mateusz Pomianek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E05C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Modele tlumu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46888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B33D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Proksemika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1772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0077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1772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Normy kulturowe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76656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HRI / personalizacja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WPROWADZENIE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wykladu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34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54864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3784" y="1234440"/>
            <a:ext cx="2644995" cy="427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" y="1815389"/>
            <a:ext cx="3941064" cy="56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ruchu tłumu: </a:t>
            </a:r>
            <a:r>
              <a:rPr lang="pl-PL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r>
              <a:rPr lang="pl-PL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 Model, ORCA, modele oparte na danych, predykcja trajektorii</a:t>
            </a:r>
            <a:endParaRPr lang="pl-PL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34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160520" cy="54864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8624" y="1234440"/>
            <a:ext cx="2644995" cy="427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18888" y="1815389"/>
            <a:ext cx="3941064" cy="56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Proksemika</a:t>
            </a:r>
            <a:r>
              <a:rPr lang="pl-PL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normy kulturowe: strefy Halla, różnice kultur, kontekst sytuacyjny, sygnały społeczne</a:t>
            </a:r>
            <a:endParaRPr lang="pl-PL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667000"/>
            <a:ext cx="4160520" cy="134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67000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3784" y="2758440"/>
            <a:ext cx="2644995" cy="427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4048" y="3339389"/>
            <a:ext cx="3941064" cy="56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Personalizacja interakcji człowiek-robot: profil użytkownika, uczenie preferencji, komunikacja, ewaluacja</a:t>
            </a:r>
            <a:endParaRPr lang="pl-PL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2667000"/>
            <a:ext cx="4160520" cy="134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667000"/>
            <a:ext cx="4160520" cy="548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8624" y="2758440"/>
            <a:ext cx="2644995" cy="427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Kody Python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18888" y="3339389"/>
            <a:ext cx="3941064" cy="56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r>
              <a:rPr lang="pl-PL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 Model, ORCA, predykcja Transformer, klasyfikator profilu, mapa społecznych kosztów</a:t>
            </a:r>
            <a:endParaRPr lang="pl-PL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E05C4B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E05C4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Modele ruchu tlumu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Force Model, ORCA, modele predykcji trajektorii, detekcja grup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MOTYWACJA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Dlaczego nawigacja społeczna jest potrzebna?</a:t>
            </a:r>
            <a:endParaRPr lang="pl-PL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2830"/>
            <a:ext cx="8595360" cy="2655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9870" y="1106170"/>
            <a:ext cx="7974330" cy="2516073"/>
          </a:xfrm>
          <a:prstGeom prst="rect">
            <a:avLst/>
          </a:prstGeom>
          <a:noFill/>
          <a:ln/>
        </p:spPr>
        <p:txBody>
          <a:bodyPr wrap="square" lIns="127000" tIns="0" rIns="127000" bIns="0" rtlCol="0" anchor="t">
            <a:spAutoFit/>
          </a:bodyPr>
          <a:lstStyle/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Robot poruszający się tylko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wedlug geometrii (A* + DWA) jest postrzegany jako nieprzewidywalny i nieprzyjemny</a:t>
            </a:r>
            <a:endParaRPr lang="en-US" sz="1400" spc="-5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en-US" sz="1400" b="1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Badania 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(Kruse et al., 2013): 70% </a:t>
            </a:r>
            <a:r>
              <a:rPr lang="pl-PL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użytkowników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odczuwa dyskomfort, gdy robot nie respektuje nienawigacyjnych norm społecznych</a:t>
            </a:r>
            <a:endParaRPr lang="pl-PL" sz="1400" spc="-5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400" b="1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Normy społeczne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nie wchodzić miedzy rozmawiające osoby, nie ścigać pieszych, utrzymywać właściwy dystans</a:t>
            </a:r>
            <a:endParaRPr lang="pl-PL" sz="1400" spc="-5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400" b="1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Nawigacja społeczna rozszerza klasyczne planowanie o model agentów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40" dirty="0"/>
              <a:t>każdy</a:t>
            </a:r>
            <a:r>
              <a:rPr lang="en-US" sz="1400" spc="-40" dirty="0"/>
              <a:t> </a:t>
            </a:r>
            <a:r>
              <a:rPr lang="pl-PL" sz="1400" spc="-40" dirty="0"/>
              <a:t>człowiek ma intencje</a:t>
            </a:r>
            <a:r>
              <a:rPr lang="en-US" sz="1400" spc="-40" dirty="0"/>
              <a:t>, </a:t>
            </a:r>
            <a:r>
              <a:rPr lang="pl-PL" sz="1400" spc="-40" dirty="0"/>
              <a:t>prędkość</a:t>
            </a:r>
            <a:r>
              <a:rPr lang="en-US" sz="1400" spc="-40" dirty="0"/>
              <a:t> </a:t>
            </a:r>
            <a:br>
              <a:rPr lang="pl-PL" sz="1400" spc="-40" dirty="0"/>
            </a:br>
            <a:r>
              <a:rPr lang="pl-PL" sz="1400" spc="-40" dirty="0"/>
              <a:t>i strefę</a:t>
            </a:r>
            <a:r>
              <a:rPr lang="en-US" sz="1400" spc="-40" dirty="0"/>
              <a:t> </a:t>
            </a:r>
            <a:r>
              <a:rPr lang="pl-PL" sz="1400" spc="-40" dirty="0"/>
              <a:t>prywatności</a:t>
            </a:r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en-US" sz="1400" b="1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Standard ISO 13482:2014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roboty opiekuncze musza spelniac minimalne wymagania dotyczace bezpiecznej interakcji z </a:t>
            </a:r>
            <a:r>
              <a:rPr lang="pl-PL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człowiekiem</a:t>
            </a:r>
            <a:endParaRPr lang="pl-PL" sz="1400" spc="-5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400" b="1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Cel</a:t>
            </a:r>
            <a:r>
              <a:rPr lang="pl-PL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robot </a:t>
            </a:r>
            <a:r>
              <a:rPr lang="pl-PL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postrzegany jako naturalny uczestnik przestrzeni społecznej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1400" spc="-5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nie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przeszkoda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czy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zagrożenie</a:t>
            </a:r>
            <a:endParaRPr lang="pl-PL" sz="1400"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SOCIAL FORCE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Force Model (SFM)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;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Helbing i Molnar (1995)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57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0520" y="1109980"/>
            <a:ext cx="8496300" cy="2467786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Idea</a:t>
            </a:r>
            <a:r>
              <a:rPr lang="pl-PL" sz="14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ruch pieszego modelowany jako suma sił: prędkość docelowa + odpychanie od przeszkód + odpychanie od innych ludzi</a:t>
            </a:r>
            <a:endParaRPr lang="pl-PL" sz="14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Siła własna</a:t>
            </a:r>
            <a:r>
              <a:rPr lang="pl-PL" sz="14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pl-PL" sz="1400" b="1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F</a:t>
            </a:r>
            <a:r>
              <a:rPr lang="pl-PL" sz="1400" b="1" spc="-60" baseline="-25000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i</a:t>
            </a:r>
            <a:r>
              <a:rPr lang="pl-PL" sz="1400" b="1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^self = (v</a:t>
            </a:r>
            <a:r>
              <a:rPr lang="pl-PL" sz="1400" b="1" spc="-60" baseline="-25000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 i </a:t>
            </a:r>
            <a:r>
              <a:rPr lang="pl-PL" sz="1400" b="1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^0 * e</a:t>
            </a:r>
            <a:r>
              <a:rPr lang="pl-PL" sz="1400" b="1" spc="-60" baseline="-25000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 i </a:t>
            </a:r>
            <a:r>
              <a:rPr lang="pl-PL" sz="1400" b="1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^0 - v</a:t>
            </a:r>
            <a:r>
              <a:rPr lang="pl-PL" sz="1400" b="1" spc="-60" baseline="-25000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 i</a:t>
            </a:r>
            <a:r>
              <a:rPr lang="pl-PL" sz="1400" b="1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) / tau</a:t>
            </a:r>
            <a:r>
              <a:rPr lang="pl-PL" sz="1400" b="1" spc="-60" baseline="-25000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 i</a:t>
            </a:r>
            <a:r>
              <a:rPr lang="pl-PL" sz="1400" dirty="0">
                <a:solidFill>
                  <a:srgbClr val="FF0000"/>
                </a:solidFill>
                <a:latin typeface="Graduate"/>
                <a:ea typeface="Calibri"/>
                <a:cs typeface="Calibri"/>
              </a:rPr>
              <a:t>   </a:t>
            </a:r>
            <a:r>
              <a:rPr lang="pl-PL" sz="14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(powrót do pozadanej prędkosci i kierunku)</a:t>
            </a:r>
            <a:endParaRPr lang="pl-PL" sz="140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Siła społeczna </a:t>
            </a:r>
            <a:r>
              <a:rPr lang="pl-PL" sz="14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(odpychanie): </a:t>
            </a:r>
            <a:r>
              <a:rPr lang="pl-PL" sz="1400" b="1" spc="-60">
                <a:solidFill>
                  <a:schemeClr val="accent2"/>
                </a:solidFill>
                <a:latin typeface="Consolas"/>
                <a:ea typeface="Calibri"/>
                <a:cs typeface="Calibri"/>
              </a:rPr>
              <a:t>F</a:t>
            </a:r>
            <a:r>
              <a:rPr lang="pl-PL" sz="1400" b="1" spc="-60" baseline="-25000">
                <a:solidFill>
                  <a:schemeClr val="accent2"/>
                </a:solidFill>
                <a:latin typeface="Consolas"/>
                <a:ea typeface="Calibri"/>
                <a:cs typeface="Calibri"/>
              </a:rPr>
              <a:t>ij</a:t>
            </a:r>
            <a:r>
              <a:rPr lang="pl-PL" sz="1400" b="1">
                <a:solidFill>
                  <a:schemeClr val="accent2"/>
                </a:solidFill>
                <a:latin typeface="Consolas"/>
                <a:ea typeface="Calibri"/>
                <a:cs typeface="Calibri"/>
              </a:rPr>
              <a:t> = A * exp((r</a:t>
            </a:r>
            <a:r>
              <a:rPr lang="pl-PL" sz="1400" b="1" spc="-60" baseline="-25000">
                <a:solidFill>
                  <a:schemeClr val="accent2"/>
                </a:solidFill>
                <a:latin typeface="Consolas"/>
                <a:ea typeface="Calibri"/>
                <a:cs typeface="Calibri"/>
              </a:rPr>
              <a:t>ij</a:t>
            </a:r>
            <a:r>
              <a:rPr lang="pl-PL" sz="1400" b="1">
                <a:solidFill>
                  <a:schemeClr val="accent2"/>
                </a:solidFill>
                <a:latin typeface="Consolas"/>
                <a:ea typeface="Calibri"/>
                <a:cs typeface="Calibri"/>
              </a:rPr>
              <a:t> – d</a:t>
            </a:r>
            <a:r>
              <a:rPr lang="pl-PL" sz="1400" b="1" spc="-60" baseline="-25000">
                <a:solidFill>
                  <a:schemeClr val="accent2"/>
                </a:solidFill>
                <a:latin typeface="Consolas"/>
                <a:ea typeface="Calibri"/>
                <a:cs typeface="Calibri"/>
              </a:rPr>
              <a:t>ij</a:t>
            </a:r>
            <a:r>
              <a:rPr lang="pl-PL" sz="1400" b="1">
                <a:solidFill>
                  <a:schemeClr val="accent2"/>
                </a:solidFill>
                <a:latin typeface="Consolas"/>
                <a:ea typeface="Calibri"/>
                <a:cs typeface="Calibri"/>
              </a:rPr>
              <a:t>)/B) * n</a:t>
            </a:r>
            <a:r>
              <a:rPr lang="pl-PL" sz="1400" b="1" spc="-60" baseline="-25000">
                <a:solidFill>
                  <a:schemeClr val="accent2"/>
                </a:solidFill>
                <a:latin typeface="Consolas"/>
                <a:ea typeface="Calibri"/>
                <a:cs typeface="Calibri"/>
              </a:rPr>
              <a:t>ij</a:t>
            </a:r>
            <a:r>
              <a:rPr lang="pl-PL" sz="1400" b="1" dirty="0">
                <a:solidFill>
                  <a:schemeClr val="accent2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l-PL" sz="1400" dirty="0">
                <a:solidFill>
                  <a:schemeClr val="accent2"/>
                </a:solidFill>
                <a:latin typeface="Graduate"/>
                <a:ea typeface="Calibri"/>
                <a:cs typeface="Calibri"/>
              </a:rPr>
              <a:t>  </a:t>
            </a:r>
            <a:r>
              <a:rPr lang="pl-PL" sz="14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(im blizej, tym silniej)</a:t>
            </a:r>
            <a:endParaRPr lang="pl-PL" sz="140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Siła od przeszkód</a:t>
            </a:r>
            <a:r>
              <a:rPr lang="pl-PL" sz="14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analogiczna do społecznej; gradient prostopadły do powierzchni ściany</a:t>
            </a:r>
            <a:endParaRPr lang="pl-PL" sz="140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Wynikowa</a:t>
            </a:r>
            <a:r>
              <a:rPr lang="pl-PL" sz="14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pl-PL" sz="1400" b="1">
                <a:solidFill>
                  <a:schemeClr val="accent1"/>
                </a:solidFill>
                <a:latin typeface="Consolas"/>
                <a:ea typeface="Calibri"/>
                <a:cs typeface="Calibri"/>
              </a:rPr>
              <a:t>m</a:t>
            </a:r>
            <a:r>
              <a:rPr lang="pl-PL" sz="1400" b="1" spc="-60" baseline="-25000">
                <a:solidFill>
                  <a:schemeClr val="accent1"/>
                </a:solidFill>
                <a:latin typeface="Consolas"/>
                <a:ea typeface="Calibri"/>
                <a:cs typeface="Calibri"/>
              </a:rPr>
              <a:t> i</a:t>
            </a:r>
            <a:r>
              <a:rPr lang="pl-PL" sz="1400" b="1">
                <a:solidFill>
                  <a:schemeClr val="accent1"/>
                </a:solidFill>
                <a:latin typeface="Consolas"/>
                <a:ea typeface="Calibri"/>
                <a:cs typeface="Calibri"/>
              </a:rPr>
              <a:t> * (dv</a:t>
            </a:r>
            <a:r>
              <a:rPr lang="pl-PL" sz="1400" b="1" spc="-60" baseline="-25000">
                <a:solidFill>
                  <a:schemeClr val="accent1"/>
                </a:solidFill>
                <a:latin typeface="Consolas"/>
                <a:ea typeface="Calibri"/>
                <a:cs typeface="Calibri"/>
              </a:rPr>
              <a:t> i </a:t>
            </a:r>
            <a:r>
              <a:rPr lang="pl-PL" sz="1400" b="1">
                <a:solidFill>
                  <a:schemeClr val="accent1"/>
                </a:solidFill>
                <a:latin typeface="Consolas"/>
                <a:ea typeface="Calibri"/>
                <a:cs typeface="Calibri"/>
              </a:rPr>
              <a:t>/dt) = F</a:t>
            </a:r>
            <a:r>
              <a:rPr lang="pl-PL" sz="1400" b="1" spc="-60" baseline="-25000">
                <a:solidFill>
                  <a:schemeClr val="accent1"/>
                </a:solidFill>
                <a:latin typeface="Consolas"/>
                <a:ea typeface="Calibri"/>
                <a:cs typeface="Calibri"/>
              </a:rPr>
              <a:t> i </a:t>
            </a:r>
            <a:r>
              <a:rPr lang="pl-PL" sz="1400" b="1">
                <a:solidFill>
                  <a:schemeClr val="accent1"/>
                </a:solidFill>
                <a:latin typeface="Consolas"/>
                <a:ea typeface="Calibri"/>
                <a:cs typeface="Calibri"/>
              </a:rPr>
              <a:t>^self + sum(F</a:t>
            </a:r>
            <a:r>
              <a:rPr lang="pl-PL" sz="1400" b="1" spc="-60" baseline="-25000">
                <a:solidFill>
                  <a:schemeClr val="accent1"/>
                </a:solidFill>
                <a:latin typeface="Consolas"/>
                <a:ea typeface="Calibri"/>
                <a:cs typeface="Calibri"/>
              </a:rPr>
              <a:t> ij</a:t>
            </a:r>
            <a:r>
              <a:rPr lang="pl-PL" sz="1400" b="1">
                <a:solidFill>
                  <a:schemeClr val="accent1"/>
                </a:solidFill>
                <a:latin typeface="Consolas"/>
                <a:ea typeface="Calibri"/>
                <a:cs typeface="Calibri"/>
              </a:rPr>
              <a:t>) + sum(F</a:t>
            </a:r>
            <a:r>
              <a:rPr lang="pl-PL" sz="1400" b="1" spc="-60" baseline="-25000">
                <a:solidFill>
                  <a:schemeClr val="accent1"/>
                </a:solidFill>
                <a:latin typeface="Consolas"/>
                <a:ea typeface="Calibri"/>
                <a:cs typeface="Calibri"/>
              </a:rPr>
              <a:t> iw</a:t>
            </a:r>
            <a:r>
              <a:rPr lang="pl-PL" sz="1400" b="1">
                <a:solidFill>
                  <a:schemeClr val="accent1"/>
                </a:solidFill>
                <a:latin typeface="Consolas"/>
                <a:ea typeface="Calibri"/>
                <a:cs typeface="Calibri"/>
              </a:rPr>
              <a:t>)</a:t>
            </a: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Zalety</a:t>
            </a:r>
            <a:r>
              <a:rPr lang="pl-PL" sz="14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prosta implementacja, przewidywalne zachowanie, działa w czasie rzeczywistym </a:t>
            </a:r>
            <a:r>
              <a:rPr lang="pl-PL" sz="1400" i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(~1 ms / agent)</a:t>
            </a:r>
            <a:endParaRPr lang="pl-PL" sz="1400" i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Wady</a:t>
            </a:r>
            <a:r>
              <a:rPr lang="pl-PL" sz="14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kalibracja parametrów (A, B, tau) wymaga danych pomiarowych; nie modeluje intencji długookresowych</a:t>
            </a:r>
            <a:endParaRPr lang="pl-PL" sz="14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Force Model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implementacja dla planisty lokalnego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216910"/>
          </a:xfrm>
          <a:prstGeom prst="rect">
            <a:avLst/>
          </a:prstGeom>
          <a:solidFill>
            <a:srgbClr val="071520"/>
          </a:solidFill>
          <a:ln w="12700">
            <a:solidFill>
              <a:srgbClr val="B3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3522" y="1099820"/>
            <a:ext cx="146304" cy="146304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9554" y="1099820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5586" y="1099820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850" y="1068070"/>
            <a:ext cx="8454390" cy="3046730"/>
          </a:xfrm>
          <a:prstGeom prst="rect">
            <a:avLst/>
          </a:prstGeom>
          <a:noFill/>
          <a:ln/>
        </p:spPr>
        <p:txBody>
          <a:bodyPr wrap="square" lIns="108000" tIns="0" rIns="127000" bIns="0" rtlCol="0" anchor="t"/>
          <a:lstStyle/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social_force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robot_pos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robot_vel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goal_pos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pedestrians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0.3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tau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v0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"""Wyznacza wypadkowa siłę społeczną dla robota."""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e0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goal_pos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robot_pos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e0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linalg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norm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e0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1e-6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      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kierunek do celu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Siła własna: robot chce iść do celu z prędkością v0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f_self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v0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e0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robot_vel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tau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Siły odpychające od pieszych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f_social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zeros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pedestrians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diff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robot_pos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pos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           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wektor od pieszego do robota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linalg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norm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diff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r_ij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0.3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'radius'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0.25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   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suma promieni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n_ij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diff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1e-6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        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wektor normalny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f_social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exp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r_ij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n_ij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f_self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f_social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                 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[m/s^2]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endParaRPr lang="pl-PL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59300"/>
            <a:ext cx="8595360" cy="378459"/>
          </a:xfrm>
          <a:prstGeom prst="rect">
            <a:avLst/>
          </a:prstGeom>
          <a:solidFill>
            <a:srgbClr val="1A3550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19600"/>
            <a:ext cx="8321040" cy="518159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r>
              <a:rPr lang="pl-PL" sz="1600" b="1" dirty="0">
                <a:solidFill>
                  <a:srgbClr val="E05C4B"/>
                </a:solidFill>
                <a:latin typeface="Calibri"/>
                <a:ea typeface="Calibri"/>
                <a:cs typeface="Calibri"/>
              </a:rPr>
              <a:t>Opis: </a:t>
            </a:r>
            <a:r>
              <a:rPr lang="pl-PL" sz="160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Wywoływac co 50 ms; scałkuj siłę przez dt aby uzyskać nową predkość (clamp do v</a:t>
            </a:r>
            <a:r>
              <a:rPr lang="pl-PL" sz="1600" baseline="-250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max</a:t>
            </a:r>
            <a:r>
              <a:rPr lang="pl-PL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)</a:t>
            </a:r>
            <a:endParaRPr lang="pl-PL" sz="16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ORCA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ORCA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Optimal Reciprocal Collision Avoidance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299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206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 ORCA (van den Berg et al., 2011)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206240" cy="384048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ORCA dla robota wposrod pieszych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1539240"/>
            <a:ext cx="3992880" cy="2749915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3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Kazdy agent </a:t>
            </a:r>
            <a:r>
              <a:rPr lang="pl-PL" sz="13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przyjmuje połowę odpowiedzialnosci za unikniecie kolizji</a:t>
            </a:r>
            <a:endParaRPr lang="pl-PL" sz="13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3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Dla kazdej pary </a:t>
            </a:r>
            <a:r>
              <a:rPr lang="pl-PL" sz="1300" b="1" spc="-40">
                <a:solidFill>
                  <a:srgbClr val="0D1B2A"/>
                </a:solidFill>
                <a:latin typeface="Graduate"/>
                <a:ea typeface="Calibri"/>
                <a:cs typeface="Calibri"/>
              </a:rPr>
              <a:t>(i, j)</a:t>
            </a:r>
            <a:r>
              <a:rPr lang="pl-PL" sz="13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pl-PL" sz="13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wyznaczana jest half-plane bezpiecznych predkosci</a:t>
            </a:r>
            <a:endParaRPr lang="pl-PL" sz="13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3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Nowa predkosc agenta </a:t>
            </a:r>
            <a:r>
              <a:rPr lang="pl-PL" sz="1300" b="1" spc="-40">
                <a:solidFill>
                  <a:srgbClr val="0D1B2A"/>
                </a:solidFill>
                <a:latin typeface="Graduate"/>
                <a:ea typeface="Calibri"/>
                <a:cs typeface="Calibri"/>
              </a:rPr>
              <a:t>i</a:t>
            </a:r>
            <a:r>
              <a:rPr lang="pl-PL" sz="13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najblizszy punkt do predkosci preferencji w zbiorze bezpiecznych predkosci</a:t>
            </a:r>
            <a:endParaRPr lang="pl-PL" sz="13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3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Warunek</a:t>
            </a:r>
            <a:r>
              <a:rPr lang="pl-PL" sz="13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przy wzajemnym stosowaniu ORCA przez wszystkich agentow brak kolizji jest gwarantowany</a:t>
            </a:r>
            <a:endParaRPr lang="pl-PL" sz="13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3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Zlożoność</a:t>
            </a:r>
            <a:r>
              <a:rPr lang="pl-PL" sz="13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pl-PL" sz="1300" spc="-40">
                <a:solidFill>
                  <a:srgbClr val="0D1B2A"/>
                </a:solidFill>
                <a:latin typeface="Graduate"/>
                <a:ea typeface="Calibri"/>
                <a:cs typeface="Calibri"/>
              </a:rPr>
              <a:t>O(n) </a:t>
            </a:r>
            <a:r>
              <a:rPr lang="pl-PL" sz="13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per agent per krok; praktyczne dla n &lt; 500 agentow</a:t>
            </a:r>
            <a:endParaRPr lang="pl-PL" sz="13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3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Popularny w symulatorach: CrowdSim, MENGE, PedSim</a:t>
            </a:r>
            <a:endParaRPr lang="pl-PL" sz="1300" spc="-4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95520" y="1600200"/>
            <a:ext cx="4053840" cy="1980474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30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Robot zna swoja predkosc preferencji </a:t>
            </a:r>
            <a:r>
              <a:rPr lang="pl-PL" sz="1400" b="1" spc="-60">
                <a:solidFill>
                  <a:srgbClr val="0D1B2A"/>
                </a:solidFill>
                <a:latin typeface="Graduate"/>
                <a:ea typeface="Calibri"/>
                <a:cs typeface="Calibri"/>
              </a:rPr>
              <a:t>v</a:t>
            </a:r>
            <a:r>
              <a:rPr lang="pl-PL" sz="1400" b="1" spc="-60" baseline="-25000">
                <a:solidFill>
                  <a:srgbClr val="0D1B2A"/>
                </a:solidFill>
                <a:latin typeface="Graduate"/>
                <a:ea typeface="Calibri"/>
                <a:cs typeface="Calibri"/>
              </a:rPr>
              <a:t>pref</a:t>
            </a:r>
            <a:r>
              <a:rPr lang="pl-PL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l-PL" sz="130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(z DWA lub WMA)</a:t>
            </a:r>
            <a:endParaRPr lang="pl-PL" sz="1300" spc="-6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3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Dla kazdego wykrytego pieszego wyznacza half-plane ORCA</a:t>
            </a:r>
            <a:endParaRPr lang="pl-PL" sz="13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300" b="1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Wynikowa predkość</a:t>
            </a:r>
            <a:r>
              <a:rPr lang="pl-PL" sz="130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projekcja </a:t>
            </a:r>
            <a:r>
              <a:rPr lang="pl-PL" sz="1400" b="1" spc="-60">
                <a:solidFill>
                  <a:srgbClr val="0D1B2A"/>
                </a:solidFill>
                <a:latin typeface="Graduate"/>
                <a:ea typeface="Calibri"/>
                <a:cs typeface="Calibri"/>
              </a:rPr>
              <a:t>v</a:t>
            </a:r>
            <a:r>
              <a:rPr lang="pl-PL" sz="1400" b="1" spc="-60" baseline="-25000">
                <a:solidFill>
                  <a:srgbClr val="0D1B2A"/>
                </a:solidFill>
                <a:latin typeface="Graduate"/>
                <a:ea typeface="Calibri"/>
                <a:cs typeface="Calibri"/>
              </a:rPr>
              <a:t>pref</a:t>
            </a:r>
            <a:r>
              <a:rPr lang="pl-PL" sz="1400" b="1" spc="-60" dirty="0">
                <a:solidFill>
                  <a:srgbClr val="0D1B2A"/>
                </a:solidFill>
                <a:latin typeface="Graduate"/>
                <a:ea typeface="Calibri"/>
                <a:cs typeface="Calibri"/>
              </a:rPr>
              <a:t> </a:t>
            </a:r>
            <a:r>
              <a:rPr lang="pl-PL" sz="130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 przeciecie half-planes</a:t>
            </a:r>
            <a:endParaRPr lang="pl-PL" sz="1300" spc="-6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300" b="1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Pieszy nie stosuje ORCA</a:t>
            </a:r>
            <a:r>
              <a:rPr lang="pl-PL" sz="130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robot bierze pełną odpowiedzialność</a:t>
            </a:r>
            <a:endParaRPr lang="pl-PL" sz="1300" spc="-6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3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Rozszerzenie</a:t>
            </a:r>
            <a:r>
              <a:rPr lang="pl-PL" sz="13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RVO2 library (C++/Python); dziala w czasie rzeczywistym</a:t>
            </a:r>
            <a:endParaRPr lang="pl-PL" sz="13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3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Ograniczenie</a:t>
            </a:r>
            <a:r>
              <a:rPr lang="pl-PL" sz="13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nie przewiduje intencji; zakresla ruch stały</a:t>
            </a:r>
            <a:endParaRPr lang="pl-PL" sz="1300" spc="-4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PREDYKCJA TRAJEKTORII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Predykcja trajektorii pieszych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85205" y="1153885"/>
            <a:ext cx="2873023" cy="237417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9762" y="1148442"/>
            <a:ext cx="2883909" cy="38971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024" y="1161288"/>
            <a:ext cx="2520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Modele kinematyczne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8431" y="1627632"/>
            <a:ext cx="2737548" cy="183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91440" indent="-91440">
              <a:spcAft>
                <a:spcPts val="800"/>
              </a:spcAft>
              <a:buSzPct val="100000"/>
              <a:buChar char="•"/>
            </a:pPr>
            <a:r>
              <a:rPr lang="pl-PL" sz="12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Stałość prędkości (CV):   </a:t>
            </a:r>
            <a:r>
              <a:rPr lang="pl-PL" sz="1400" b="1" spc="-4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x</a:t>
            </a:r>
            <a:r>
              <a:rPr lang="pl-PL" sz="1400" b="1" spc="-40" baseline="-2500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t+1</a:t>
            </a:r>
            <a:r>
              <a:rPr lang="pl-PL" sz="1400" b="1" spc="-4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= x</a:t>
            </a:r>
            <a:r>
              <a:rPr lang="pl-PL" sz="1400" b="1" spc="-40" baseline="-2500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t </a:t>
            </a:r>
            <a:r>
              <a:rPr lang="pl-PL" sz="1400" b="1" spc="-4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+ v*dt</a:t>
            </a:r>
            <a:endParaRPr lang="pl-PL" sz="1400" b="1">
              <a:solidFill>
                <a:schemeClr val="accent1">
                  <a:lumMod val="49000"/>
                </a:schemeClr>
              </a:solidFill>
              <a:ea typeface="Calibri"/>
              <a:cs typeface="Calibri"/>
            </a:endParaRPr>
          </a:p>
          <a:p>
            <a:pPr marL="91440" indent="-91440">
              <a:spcAft>
                <a:spcPts val="800"/>
              </a:spcAft>
              <a:buSzPct val="100000"/>
              <a:buChar char="•"/>
            </a:pPr>
            <a:r>
              <a:rPr lang="pl-PL" sz="1200" b="1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Stałość przyspieszenia (CA): </a:t>
            </a:r>
            <a:r>
              <a:rPr lang="pl-PL" sz="120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uwzglednia inercje</a:t>
            </a:r>
            <a:endParaRPr lang="pl-PL" sz="1200" spc="-60">
              <a:latin typeface="Calibri"/>
              <a:ea typeface="Calibri"/>
              <a:cs typeface="Calibri"/>
            </a:endParaRPr>
          </a:p>
          <a:p>
            <a:pPr marL="91440" indent="-91440">
              <a:spcAft>
                <a:spcPts val="800"/>
              </a:spcAft>
              <a:buSzPct val="100000"/>
              <a:buChar char="•"/>
            </a:pPr>
            <a:r>
              <a:rPr lang="pl-PL" sz="12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Filtr Kalmana</a:t>
            </a:r>
            <a:r>
              <a:rPr lang="pl-PL" sz="12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estymacja + predykcja</a:t>
            </a:r>
            <a:endParaRPr lang="pl-PL" sz="1200" spc="-40">
              <a:latin typeface="Calibri"/>
              <a:ea typeface="Calibri"/>
              <a:cs typeface="Calibri"/>
            </a:endParaRPr>
          </a:p>
          <a:p>
            <a:pPr marL="91440" indent="-91440">
              <a:spcAft>
                <a:spcPts val="800"/>
              </a:spcAft>
              <a:buSzPct val="100000"/>
              <a:buChar char="•"/>
            </a:pPr>
            <a:r>
              <a:rPr lang="pl-PL" sz="12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Prosta, szybka, dziala krotkoterminowo</a:t>
            </a:r>
            <a:endParaRPr lang="pl-PL" sz="1200" spc="-40">
              <a:latin typeface="Calibri"/>
              <a:ea typeface="Calibri"/>
              <a:cs typeface="Calibri"/>
            </a:endParaRPr>
          </a:p>
          <a:p>
            <a:pPr marL="91440" indent="-91440">
              <a:spcAft>
                <a:spcPts val="800"/>
              </a:spcAft>
              <a:buSzPct val="100000"/>
              <a:buChar char="•"/>
            </a:pPr>
            <a:r>
              <a:rPr lang="pl-PL" sz="12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Zawodzi przy zmianie kierunku lub zatrzymaniu</a:t>
            </a:r>
            <a:endParaRPr lang="pl-PL" sz="1200" spc="-40">
              <a:latin typeface="Calibri"/>
              <a:ea typeface="Calibri"/>
              <a:cs typeface="Calibri"/>
            </a:endParaRPr>
          </a:p>
          <a:p>
            <a:pPr marL="91440" indent="-91440">
              <a:spcAft>
                <a:spcPts val="800"/>
              </a:spcAft>
              <a:buSzPct val="100000"/>
              <a:buChar char="•"/>
            </a:pPr>
            <a:r>
              <a:rPr lang="pl-PL" sz="12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Horyzont</a:t>
            </a:r>
            <a:r>
              <a:rPr lang="pl-PL" sz="12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do ~1 s</a:t>
            </a:r>
            <a:endParaRPr lang="pl-PL" sz="1200" spc="-4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22327" y="1143000"/>
            <a:ext cx="2628096" cy="2385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2327" y="1143000"/>
            <a:ext cx="2628096" cy="41148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6031" y="1161288"/>
            <a:ext cx="2520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Force / ORCA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36031" y="1627632"/>
            <a:ext cx="2520431" cy="1751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15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Model interakcji miedzy agentami</a:t>
            </a:r>
            <a:endParaRPr lang="pl-PL" sz="115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15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Predykcja,</a:t>
            </a:r>
            <a:r>
              <a:rPr lang="pl-PL" sz="115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z uwzglednieniem dynamiki tlumu</a:t>
            </a:r>
            <a:endParaRPr lang="pl-PL" sz="115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15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Wymaga pozycji wszystkich pieszych</a:t>
            </a:r>
            <a:endParaRPr lang="pl-PL" sz="115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15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Średnio skuteczny na krotkim horyzoncie</a:t>
            </a:r>
            <a:endParaRPr lang="pl-PL" sz="115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15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Może propagować błędy siły spolecznej</a:t>
            </a:r>
            <a:endParaRPr lang="pl-PL" sz="115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15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Horyzont</a:t>
            </a:r>
            <a:r>
              <a:rPr lang="pl-PL" sz="115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1–3 s</a:t>
            </a:r>
            <a:endParaRPr lang="pl-PL" sz="1150" spc="-4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43762" y="1143000"/>
            <a:ext cx="2747838" cy="2385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3762" y="1143000"/>
            <a:ext cx="2747838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7465" y="1161288"/>
            <a:ext cx="2520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Modele danych (DL)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7465" y="1627632"/>
            <a:ext cx="2520431" cy="1620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2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Social LSTM / Social GAN (Alahi 2016)</a:t>
            </a:r>
            <a:endParaRPr lang="pl-PL" sz="12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2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Trajectron++ (Salzmann 2021)</a:t>
            </a:r>
            <a:endParaRPr lang="pl-PL" sz="12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2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Transformer</a:t>
            </a:r>
            <a:r>
              <a:rPr lang="pl-PL" sz="12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AgentFormer, Wayformer</a:t>
            </a:r>
            <a:endParaRPr lang="pl-PL" sz="12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2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Uwzgledniaja kontekst i interakcje</a:t>
            </a:r>
            <a:endParaRPr lang="pl-PL" sz="12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2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Wymagaja treningu na danych (UCY, ETH)</a:t>
            </a:r>
            <a:endParaRPr lang="pl-PL" sz="12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2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Horyzont</a:t>
            </a:r>
            <a:r>
              <a:rPr lang="pl-PL" sz="12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3–5 s; SoTA na benchmarkach</a:t>
            </a:r>
            <a:endParaRPr lang="pl-PL" sz="1200" spc="-4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GRUPY I FORMACJE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Detekcja grup i zachowan zbiorowych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47106" y="1097280"/>
            <a:ext cx="8649788" cy="271707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Ludzie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czesto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poruszaja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sie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w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grupach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dyady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triady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rodziny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); robot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nie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moze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wejsc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miedzy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czonkow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grupy</a:t>
            </a:r>
            <a:endParaRPr lang="en-US" sz="1450" spc="-20" dirty="0" err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450" b="1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Detekcja</a:t>
            </a:r>
            <a:r>
              <a:rPr lang="en-US" sz="1450" b="1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b="1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grupy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clustering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pieszych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wedlug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wspolnej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predkosci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bliskosci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; DBSCAN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lub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hierarchical clustering</a:t>
            </a:r>
            <a:endParaRPr lang="en-US" sz="1450" spc="-20" dirty="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450" b="1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Formacja</a:t>
            </a:r>
            <a:r>
              <a:rPr lang="en-US" sz="1450" b="1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b="1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grupy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trojkat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linia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V-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ksztalt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kazda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ma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strefe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chroniona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miedzy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czlonkami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(O-space)</a:t>
            </a:r>
            <a:endParaRPr lang="en-US" sz="1450" spc="-20" dirty="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450" b="1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O-space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b="1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(Kendon 1990):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przestrze</a:t>
            </a:r>
            <a:r>
              <a:rPr lang="pl-PL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ń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miedzy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cz</a:t>
            </a:r>
            <a:r>
              <a:rPr lang="pl-PL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ł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onkami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grupy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; robot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musi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j</a:t>
            </a:r>
            <a:r>
              <a:rPr lang="pl-PL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ą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omin</a:t>
            </a:r>
            <a:r>
              <a:rPr lang="pl-PL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ąć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nie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przej</a:t>
            </a:r>
            <a:r>
              <a:rPr lang="pl-PL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ść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wprost</a:t>
            </a:r>
            <a:endParaRPr lang="en-US" sz="1450" spc="-20" dirty="0" err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450" b="1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F-formation detection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detekcja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wspolnej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orientacji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pola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widzenia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; robot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planuje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objazd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z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zewnatrz</a:t>
            </a:r>
            <a:endParaRPr lang="en-US" sz="1450" spc="-20" dirty="0" err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450" b="1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Zastosowanie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robot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chcacy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podejsc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osoby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czeka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rozejscie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sie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grupy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lub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sygnalizuje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chec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dolaczenia</a:t>
            </a:r>
            <a:endParaRPr lang="en-US" sz="1450" spc="-20" dirty="0" err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450" b="1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Implementacja</a:t>
            </a:r>
            <a:r>
              <a:rPr lang="en-US" sz="145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Social </a:t>
            </a:r>
            <a:r>
              <a:rPr lang="en-US" sz="145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NavMesh</a:t>
            </a:r>
            <a:r>
              <a:rPr lang="en-US" sz="145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uwzgledniajacy</a:t>
            </a:r>
            <a:r>
              <a:rPr lang="en-US" sz="145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O-spaces </a:t>
            </a:r>
            <a:r>
              <a:rPr lang="en-US" sz="145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jako</a:t>
            </a:r>
            <a:r>
              <a:rPr lang="en-US" sz="145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dynamiczne</a:t>
            </a:r>
            <a:r>
              <a:rPr lang="en-US" sz="145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przeszkody</a:t>
            </a:r>
            <a:r>
              <a:rPr lang="en-US" sz="145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kosztowe</a:t>
            </a:r>
            <a:r>
              <a:rPr lang="en-US" sz="145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w cost map</a:t>
            </a:r>
            <a:endParaRPr lang="en-US" sz="1450" spc="-4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ł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eczna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koszt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ó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i integracja z Nav2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375660"/>
          </a:xfrm>
          <a:prstGeom prst="rect">
            <a:avLst/>
          </a:prstGeom>
          <a:solidFill>
            <a:srgbClr val="071520"/>
          </a:solidFill>
          <a:ln w="12700">
            <a:solidFill>
              <a:srgbClr val="B3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9872" y="1106424"/>
            <a:ext cx="146304" cy="146304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75904" y="1106424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31936" y="1106424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28954"/>
            <a:ext cx="8503920" cy="3077766"/>
          </a:xfrm>
          <a:prstGeom prst="rect">
            <a:avLst/>
          </a:prstGeom>
          <a:noFill/>
          <a:ln/>
        </p:spPr>
        <p:txBody>
          <a:bodyPr wrap="square" lIns="108000" tIns="0" rIns="127000" bIns="0" rtlCol="0" anchor="t">
            <a:spAutoFit/>
          </a:bodyPr>
          <a:lstStyle/>
          <a:p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build_social_costmap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grid_size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resolution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pedestrians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  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sigma_pos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sigma_vel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ndarray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"""Buduje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mape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kosztow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uwzgledniajaca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pieszych (Gaussowy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potencjal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)."""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cost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zeros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grid_size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grid_size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dtype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float32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cx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grid_size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//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srodek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mapy = pozycja robota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pedestrians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cx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'x'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resolution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'y'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resolution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vy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vx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vy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grid_size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grid_size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py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Wydluzony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Gauss w kierunku ruchu (anizotropowy)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fwd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dx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dy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vy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1e-6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skladowa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w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przod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dx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sigma_pos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dy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sigma_pos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fwd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sigma_vel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cost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gy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100.0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exp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0.5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clip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cost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astype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uint8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Shape 9"/>
          <p:cNvSpPr/>
          <p:nvPr/>
        </p:nvSpPr>
        <p:spPr>
          <a:xfrm>
            <a:off x="274320" y="4660900"/>
            <a:ext cx="8595360" cy="276860"/>
          </a:xfrm>
          <a:prstGeom prst="rect">
            <a:avLst/>
          </a:prstGeom>
          <a:solidFill>
            <a:srgbClr val="1A3550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52950"/>
            <a:ext cx="8321040" cy="38481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Anizotropowy Gauss: wiekszy koszt z przodu pieszego (w kierunku ruchu) niz z boku lub tylu.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B33D2E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B33D2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33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Proksemika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normy kulturowe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Strefy osobiste, roznice kulturowe, kontekst sytuacyjny, sygnaly spoleczne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PROKSEMIKA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Strefy proksemiczne E.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Halla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przestrzeń osobista człowieka</a:t>
            </a:r>
            <a:endParaRPr lang="pl-PL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033272"/>
            <a:ext cx="4206240" cy="3785616"/>
          </a:xfrm>
          <a:prstGeom prst="ellipse">
            <a:avLst/>
          </a:prstGeom>
          <a:solidFill>
            <a:srgbClr val="FEE2E2"/>
          </a:solidFill>
          <a:ln w="6350">
            <a:solidFill>
              <a:srgbClr val="E8E0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527048"/>
            <a:ext cx="3108960" cy="2798064"/>
          </a:xfrm>
          <a:prstGeom prst="ellipse">
            <a:avLst/>
          </a:prstGeom>
          <a:solidFill>
            <a:srgbClr val="FCA5A5"/>
          </a:solidFill>
          <a:ln w="6350">
            <a:solidFill>
              <a:srgbClr val="E8E0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2020824"/>
            <a:ext cx="2011680" cy="1810512"/>
          </a:xfrm>
          <a:prstGeom prst="ellipse">
            <a:avLst/>
          </a:prstGeom>
          <a:solidFill>
            <a:srgbClr val="F87171"/>
          </a:solidFill>
          <a:ln w="6350">
            <a:solidFill>
              <a:srgbClr val="E8E0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2473452"/>
            <a:ext cx="1005840" cy="905256"/>
          </a:xfrm>
          <a:prstGeom prst="ellipse">
            <a:avLst/>
          </a:prstGeom>
          <a:solidFill>
            <a:srgbClr val="F43F5E"/>
          </a:solidFill>
          <a:ln w="6350">
            <a:solidFill>
              <a:srgbClr val="E8E0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2670048"/>
            <a:ext cx="219456" cy="21945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3472" y="2889504"/>
            <a:ext cx="219456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16152"/>
            <a:ext cx="1874520" cy="365760"/>
          </a:xfrm>
          <a:prstGeom prst="rect">
            <a:avLst/>
          </a:prstGeom>
          <a:noFill/>
          <a:ln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Publiczna  &gt; 3,6 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" y="1676400"/>
            <a:ext cx="1874520" cy="365760"/>
          </a:xfrm>
          <a:prstGeom prst="rect">
            <a:avLst/>
          </a:prstGeom>
          <a:noFill/>
          <a:ln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Spoleczna  1,2 – 3,6 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" y="2171700"/>
            <a:ext cx="2011680" cy="365760"/>
          </a:xfrm>
          <a:prstGeom prst="rect">
            <a:avLst/>
          </a:prstGeom>
          <a:noFill/>
          <a:ln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Osobista   0,45 – 1,2 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" y="2724912"/>
            <a:ext cx="1874520" cy="365760"/>
          </a:xfrm>
          <a:prstGeom prst="rect">
            <a:avLst/>
          </a:prstGeom>
          <a:noFill/>
          <a:ln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Intymna    &lt; 0,45 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99760" y="1153885"/>
            <a:ext cx="3197134" cy="315595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99760" y="1143000"/>
            <a:ext cx="3169920" cy="41148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1200" y="1161288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Implikacje dla robota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91200" y="1627632"/>
            <a:ext cx="3017520" cy="2463258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Robot powinien utrzymywać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dystans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spoleczny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(1,2 m)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przy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podej</a:t>
            </a:r>
            <a:r>
              <a:rPr lang="pl-PL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ś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ciu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nieznanej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osoby</a:t>
            </a:r>
            <a:endParaRPr lang="en-US" sz="1200" spc="-40" dirty="0" err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Wejscie w </a:t>
            </a:r>
            <a:r>
              <a:rPr lang="en-US" sz="1200" b="1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stref</a:t>
            </a:r>
            <a:r>
              <a:rPr lang="pl-PL" sz="12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ę</a:t>
            </a:r>
            <a:r>
              <a:rPr lang="en-US" sz="12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osobist</a:t>
            </a:r>
            <a:r>
              <a:rPr lang="pl-PL" sz="12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ą</a:t>
            </a:r>
            <a:r>
              <a:rPr lang="en-US" sz="12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wymaga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sygna</a:t>
            </a:r>
            <a:r>
              <a:rPr lang="pl-PL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ł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zaproszenia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lub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wyraznej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zgody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u</a:t>
            </a:r>
            <a:r>
              <a:rPr lang="pl-PL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ż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ytkownika</a:t>
            </a:r>
            <a:endParaRPr lang="en-US" sz="1200" spc="-40" dirty="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200" b="1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Strefa</a:t>
            </a:r>
            <a:r>
              <a:rPr lang="en-US" sz="12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intymna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tylko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w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przypadku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asystencji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medycznej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lub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dostepu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dozownika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lekow</a:t>
            </a:r>
            <a:endParaRPr lang="en-US" sz="1200" spc="-40" dirty="0" err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200" b="1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Nawigacja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robot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omija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ludzi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z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marginesem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0,5 m =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strefa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bezpieczna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powyzej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osobistej</a:t>
            </a:r>
            <a:endParaRPr lang="en-US" sz="1200" spc="-40" dirty="0" err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Monitoring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czujnik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F/T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lub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detekcja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YOLO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jako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trigger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zatrzymania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przy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nadmiernym</a:t>
            </a:r>
            <a:r>
              <a:rPr lang="en-US" sz="12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zblizeniu</a:t>
            </a:r>
            <a:endParaRPr lang="en-US" sz="1200" spc="-40" dirty="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33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ROZNICE KULTUROWE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2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Różnice kulturowe w przestrzeni osobistej</a:t>
            </a:r>
            <a:endParaRPr lang="pl-PL" sz="2200">
              <a:latin typeface="Trebuchet MS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3380" y="1188720"/>
            <a:ext cx="8420100" cy="2213871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Kultury kontaktowe 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(Ameryka Poludniowa, Bliski Wschod, Europa Poludniowa): dystans konwersacyjny 0,5–0,9 m</a:t>
            </a:r>
            <a:endParaRPr lang="en-US" sz="14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Kultury zdystansowane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(Europa Polnocna, Japonia, USA): dystans konwersacyjny 0,9–1,5 m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Kultury Azji Wschodniej</a:t>
            </a:r>
            <a:r>
              <a:rPr lang="en-US" sz="145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50" spc="-8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</a:t>
            </a:r>
            <a:r>
              <a:rPr lang="pl-PL" sz="145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ą</a:t>
            </a:r>
            <a:r>
              <a:rPr lang="en-US" sz="1450" spc="-8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tkowo</a:t>
            </a:r>
            <a:r>
              <a:rPr lang="en-US" sz="145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</a:t>
            </a:r>
            <a:r>
              <a:rPr lang="pl-PL" sz="145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</a:t>
            </a:r>
            <a:r>
              <a:rPr lang="en-US" sz="145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dystans w kontekscie formalnym; ma</a:t>
            </a:r>
            <a:r>
              <a:rPr lang="pl-PL" sz="145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</a:t>
            </a:r>
            <a:r>
              <a:rPr lang="en-US" sz="145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dystans w </a:t>
            </a:r>
            <a:r>
              <a:rPr lang="en-US" sz="1450" spc="-8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</a:t>
            </a:r>
            <a:r>
              <a:rPr lang="pl-PL" sz="145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</a:t>
            </a:r>
            <a:r>
              <a:rPr lang="en-US" sz="1450" spc="-8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oczonej</a:t>
            </a:r>
            <a:r>
              <a:rPr lang="en-US" sz="145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przestrzeni publicznej</a:t>
            </a:r>
            <a:endParaRPr lang="en-US" sz="1450" spc="-8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wspolpracujacy globalnie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 adaptowac parametry stref do kontekstu kulturowego uzytkownika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badawcze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Hall (1966), Beaulieu (2004), meta-analiza Sorokowska et al. (2017) na 42 krajach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baza danych norm kulturowych + modul detekcji jezyka / regionu z konta uzytkownika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Ostrozno</a:t>
            </a:r>
            <a:r>
              <a:rPr lang="pl-PL" sz="1450" b="1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ść</a:t>
            </a:r>
            <a:r>
              <a:rPr lang="en-US" sz="14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stereotypizacja kulturowa jest ryzykowna; preferencje indywidualne maja priorytet nad normami grupowymi</a:t>
            </a:r>
            <a:endParaRPr lang="en-US" sz="1450" spc="-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33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KONTEKST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Kontekst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sytuacyjny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 normy nawigacyjne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2537460"/>
          </a:xfrm>
          <a:prstGeom prst="rect">
            <a:avLst/>
          </a:prstGeom>
          <a:solidFill>
            <a:srgbClr val="FFF5F5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2537460"/>
          </a:xfrm>
          <a:prstGeom prst="rect">
            <a:avLst/>
          </a:prstGeom>
          <a:solidFill>
            <a:srgbClr val="F0FDF4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Środowiska</a:t>
            </a:r>
            <a:r>
              <a:rPr lang="en-US" sz="16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o </a:t>
            </a:r>
            <a:r>
              <a:rPr lang="en-US" sz="16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wysokiej</a:t>
            </a:r>
            <a:r>
              <a:rPr lang="en-US" sz="16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gesto</a:t>
            </a:r>
            <a:r>
              <a:rPr lang="en-US" sz="16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ści </a:t>
            </a:r>
            <a:r>
              <a:rPr lang="en-US" sz="1600" i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(public)</a:t>
            </a:r>
            <a:endParaRPr lang="en-US" sz="1600" i="1">
              <a:latin typeface="Trebuchet M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Środowiska</a:t>
            </a:r>
            <a:r>
              <a:rPr lang="en-US" sz="16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opieki</a:t>
            </a:r>
            <a:r>
              <a:rPr lang="en-US" sz="16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i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(</a:t>
            </a:r>
            <a:r>
              <a:rPr lang="en-US" sz="1600" i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szpital</a:t>
            </a:r>
            <a:r>
              <a:rPr lang="en-US" sz="1600" i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1600" i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dom</a:t>
            </a:r>
            <a:r>
              <a:rPr lang="en-US" sz="1600" i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i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opieki</a:t>
            </a:r>
            <a:r>
              <a:rPr lang="en-US" sz="1600" i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)</a:t>
            </a:r>
            <a:endParaRPr lang="en-US" sz="1600" i="1">
              <a:latin typeface="Trebuchet M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6774" y="1527266"/>
            <a:ext cx="4143102" cy="1959955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250" b="1" spc="-2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Dworce, lotniska, centra handlowe</a:t>
            </a:r>
            <a:r>
              <a:rPr lang="pl-PL" sz="1250" spc="-2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tlum &gt; 1 os/m^2</a:t>
            </a:r>
            <a:endParaRPr lang="pl-PL" sz="1250" spc="-2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250" b="1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Akceptowalny kontakt fizyczny </a:t>
            </a:r>
            <a:r>
              <a:rPr lang="pl-PL" sz="125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(ramie w ramie), norma kulturowa</a:t>
            </a:r>
            <a:endParaRPr lang="pl-PL" sz="1250" spc="-6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250" b="1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Robot</a:t>
            </a:r>
            <a:r>
              <a:rPr lang="pl-PL" sz="125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tryb zwarty; waska trasa, mniejszy dystans bezpieczny</a:t>
            </a:r>
            <a:r>
              <a:rPr lang="pl-PL" sz="1250" spc="-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(0,4 m)</a:t>
            </a:r>
            <a:endParaRPr lang="pl-PL" sz="1250" spc="-10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250" b="1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Predkosc zredukowana </a:t>
            </a:r>
            <a:r>
              <a:rPr lang="pl-PL" sz="125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do max 0,6 m/s; czeste zatrzymania</a:t>
            </a:r>
            <a:endParaRPr lang="pl-PL" sz="1250" spc="-6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250" b="1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Priorytet</a:t>
            </a:r>
            <a:r>
              <a:rPr lang="pl-PL" sz="125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przepuszczanie grup idacych w tym samym kierunku</a:t>
            </a:r>
            <a:endParaRPr lang="pl-PL" sz="1250" spc="-6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250" b="1" spc="-2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Sygnalizacja</a:t>
            </a:r>
            <a:r>
              <a:rPr lang="pl-PL" sz="1250" spc="-2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oswietlenie LED i dzwiek przy zblizaniu</a:t>
            </a:r>
            <a:endParaRPr lang="pl-PL" sz="1250" spc="-2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4114800" cy="1959955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250" b="1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Pacjenci, osoby starsze, dzieci</a:t>
            </a:r>
            <a:r>
              <a:rPr lang="pl-PL" sz="125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wzmocniona strefa bezpieczna </a:t>
            </a:r>
            <a:r>
              <a:rPr lang="pl-PL" sz="1250" spc="-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(+50%)</a:t>
            </a:r>
            <a:endParaRPr lang="pl-PL" sz="1250" spc="-10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250" b="1" spc="-2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Predkosc</a:t>
            </a:r>
            <a:r>
              <a:rPr lang="pl-PL" sz="1250" spc="-2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max 0,4 m/s; plynne przyspieszenia i hamowania</a:t>
            </a:r>
            <a:endParaRPr lang="pl-PL" sz="1250" spc="-2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250" b="1" spc="-2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Brak naglych ruchow</a:t>
            </a:r>
            <a:r>
              <a:rPr lang="pl-PL" sz="1250" spc="-2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; robot nie powinien pojawisc sie od tylu</a:t>
            </a:r>
            <a:endParaRPr lang="pl-PL" sz="1250" spc="-2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250" b="1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Zachowanie przewidywalne </a:t>
            </a:r>
            <a:r>
              <a:rPr lang="pl-PL" sz="125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 komunikowane z wyprzedzeniem</a:t>
            </a:r>
            <a:endParaRPr lang="pl-PL" sz="1250" spc="-6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250" b="1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Pierwszenstwo</a:t>
            </a:r>
            <a:r>
              <a:rPr lang="pl-PL" sz="125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dla personelu medycznego niezaleznie od sciezki</a:t>
            </a:r>
            <a:endParaRPr lang="pl-PL" sz="1250" spc="-6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250" b="1" spc="-2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Dzwiek sygnalizacyjny</a:t>
            </a:r>
            <a:r>
              <a:rPr lang="pl-PL" sz="1250" spc="-2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male natezenie, przyjazny ton</a:t>
            </a:r>
            <a:endParaRPr lang="pl-PL" sz="1250" spc="-2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33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SYGNALY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Sygnały społeczne: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 robot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musi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rozpoznawać</a:t>
            </a:r>
            <a:endParaRPr lang="pl-PL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23819" cy="140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23819" cy="54864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7030" y="1234440"/>
            <a:ext cx="2498399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Gesty i mowa ciala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7030" y="1853489"/>
            <a:ext cx="2498399" cy="58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Wyciagnieta reka = stop; kiwnecie glowa = zgoda;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odwrocenie sie = koniec interakcji. </a:t>
            </a:r>
            <a:br>
              <a:rPr lang="pl-PL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MediaPipe Pose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32951" y="1143000"/>
            <a:ext cx="2723819" cy="140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2951" y="1143000"/>
            <a:ext cx="2723819" cy="54864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5660" y="1234440"/>
            <a:ext cx="2498399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Kontakt wzrokowy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07560" y="1853489"/>
            <a:ext cx="2649210" cy="58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Wzrok skierowany na robota = oczekiwanie interakcji;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kontaktu = nie przeszkadzac. </a:t>
            </a:r>
            <a:br>
              <a:rPr lang="pl-PL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gaze estimation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1581" y="1143000"/>
            <a:ext cx="2723819" cy="140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1581" y="1143000"/>
            <a:ext cx="2723819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4291" y="1234440"/>
            <a:ext cx="2498399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Mowa i prosodia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4291" y="1853489"/>
            <a:ext cx="2498399" cy="58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Komenda glosowa; ton i tempo sygnalizuja stan emocjonalny. ASR + klasyfikator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sentymentu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pl-PL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czasie rzeczywistym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2723819" cy="140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43200"/>
            <a:ext cx="2723819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7030" y="2834640"/>
            <a:ext cx="2498399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Orientacja ciala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7030" y="3453689"/>
            <a:ext cx="2498399" cy="58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Zwrot frontem do robota = zaproszenie; </a:t>
            </a:r>
            <a:br>
              <a:rPr lang="pl-PL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lub tyl = brak zainteresowania. </a:t>
            </a:r>
            <a:br>
              <a:rPr lang="pl-PL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dla decyzji o podejsciu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32951" y="2743200"/>
            <a:ext cx="2723819" cy="140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32951" y="2743200"/>
            <a:ext cx="2723819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5660" y="2834640"/>
            <a:ext cx="2498399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Ekspresja twarzy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45660" y="3453689"/>
            <a:ext cx="2498399" cy="58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Dezorientacja, niezadowolenie, panika. </a:t>
            </a:r>
            <a:br>
              <a:rPr lang="pl-PL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modele AU (Action Units) </a:t>
            </a:r>
            <a:br>
              <a:rPr lang="pl-PL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end-to-end (AffectNet, FER2013)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91581" y="2743200"/>
            <a:ext cx="2723819" cy="140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1581" y="2743200"/>
            <a:ext cx="2723819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4291" y="2834640"/>
            <a:ext cx="2498399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Czynniki sytuacyjne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04291" y="3453689"/>
            <a:ext cx="2498399" cy="58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Osoba smieciaca z tornistrem: zajeta. </a:t>
            </a:r>
            <a:br>
              <a:rPr lang="pl-PL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Osoba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stojaca i patrzaca: czeka. </a:t>
            </a:r>
            <a:br>
              <a:rPr lang="pl-PL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wnioskowany z polozenia i gestow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33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MAPA KOSZTOW SPOLECZNYCH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Kodowanie norm 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społecznych w mapie kosztów</a:t>
            </a:r>
            <a:endParaRPr lang="pl-PL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40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1000" y="1143000"/>
            <a:ext cx="8404860" cy="2213871"/>
          </a:xfrm>
          <a:prstGeom prst="rect">
            <a:avLst/>
          </a:prstGeom>
          <a:noFill/>
          <a:ln/>
        </p:spPr>
        <p:txBody>
          <a:bodyPr wrap="square" lIns="36000" tIns="3600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geometryczna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klasyczne przeszkody statyczne (sciany, meble) z inflacja 0,3 m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pieszych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anizotropowy Gauss wokol kazdej osoby; wiekszy koszt w kierunku ruchu i z przodu twarzy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grup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O-space miedzy czlonkami grupy kodowany jako strefa zakazana (koszt = 100)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konwersacji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obszar miedzy rozmawiajacymi osobami; robot nie moze go przeciac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kulturowa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globalny mnoznik kosztow (x1.0 – x1.5) zaleznie od profilu kulturowego srodowiska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kontekstowa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szpital: +30% kosztu wszedzie; ruchliwy korytarz biurowy: -10% kosztow bocznych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Aktualizacja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wszystkie warstwy odswiezane co 100 ms na podstawie detekcji pieszych z LiDAR + kamery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6A34A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07136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07135" y="1600200"/>
            <a:ext cx="41437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Personalizacja interakcji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czlowiek-robot (HRI)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136" y="2697480"/>
            <a:ext cx="3931920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57500" y="2834640"/>
            <a:ext cx="4000500" cy="592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uzytkownika, uczenie preferencji, komunikacja, ewaluacja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PERSONALIZACJA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personalizacja w nawigacji spolecznej?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805940"/>
            <a:ext cx="8595360" cy="208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3380" y="1851660"/>
            <a:ext cx="8328660" cy="1952261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>
              <a:spcAft>
                <a:spcPts val="900"/>
              </a:spcAft>
              <a:buSzPct val="100000"/>
            </a:pPr>
            <a:r>
              <a:rPr lang="pl-PL" sz="1450" b="1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Wymiary personalizacji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dystans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fizyczny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styl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komunikacji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prędkosc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ruchu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poziom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proaktywnosci</a:t>
            </a:r>
            <a:endParaRPr lang="en-US" sz="1450" spc="-20" dirty="0" err="1">
              <a:latin typeface="Calibri"/>
              <a:ea typeface="Calibri"/>
              <a:cs typeface="Calibri"/>
            </a:endParaRPr>
          </a:p>
          <a:p>
            <a:pPr marL="640080" lvl="1" indent="-365760">
              <a:spcAft>
                <a:spcPts val="800"/>
              </a:spcAft>
              <a:buSzPct val="100000"/>
              <a:buFont typeface="Courier New"/>
              <a:buChar char="o"/>
            </a:pPr>
            <a:r>
              <a:rPr lang="pl-PL" sz="1400" b="1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Użytkownik </a:t>
            </a:r>
            <a:r>
              <a:rPr lang="en-US" sz="1400" b="1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osoba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starsza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z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trudnosciami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w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chodzeniu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oczekuje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wolnego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robota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wyraznych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sygnalow</a:t>
            </a:r>
            <a:endParaRPr lang="en-US" sz="1400" spc="-20">
              <a:latin typeface="Calibri"/>
              <a:ea typeface="Calibri"/>
              <a:cs typeface="Calibri"/>
            </a:endParaRPr>
          </a:p>
          <a:p>
            <a:pPr marL="640080" lvl="1" indent="-365760">
              <a:spcAft>
                <a:spcPts val="800"/>
              </a:spcAft>
              <a:buSzPct val="100000"/>
              <a:buFont typeface="Courier New"/>
              <a:buChar char="o"/>
            </a:pPr>
            <a:r>
              <a:rPr lang="en-US" sz="1400" b="1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Użytkownik</a:t>
            </a:r>
            <a:r>
              <a:rPr lang="en-US" sz="1400" b="1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2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pracownik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biura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oczekuje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robota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ktory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nie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przeszkadza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nie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blokuje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drogi</a:t>
            </a:r>
            <a:endParaRPr lang="en-US" sz="1400" spc="-20">
              <a:latin typeface="Calibri"/>
              <a:ea typeface="Calibri"/>
              <a:cs typeface="Calibri"/>
            </a:endParaRPr>
          </a:p>
          <a:p>
            <a:pPr marL="640080" lvl="1" indent="-365760">
              <a:spcAft>
                <a:spcPts val="800"/>
              </a:spcAft>
              <a:buSzPct val="100000"/>
              <a:buFont typeface="Courier New"/>
              <a:buChar char="o"/>
            </a:pPr>
            <a:r>
              <a:rPr lang="en-US" sz="1400" b="1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Użytkownik</a:t>
            </a:r>
            <a:r>
              <a:rPr lang="en-US" sz="1400" b="1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3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dziecko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; robot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powinien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byc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bardziej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ostrozosc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uzywac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prostszych</a:t>
            </a:r>
            <a:r>
              <a:rPr lang="en-US" sz="140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komunikatow</a:t>
            </a:r>
            <a:endParaRPr lang="en-US" sz="1400" spc="-20" dirty="0">
              <a:latin typeface="Calibri"/>
              <a:ea typeface="Calibri"/>
              <a:cs typeface="Calibri"/>
            </a:endParaRPr>
          </a:p>
          <a:p>
            <a:pPr>
              <a:spcAft>
                <a:spcPts val="900"/>
              </a:spcAft>
              <a:buSzPct val="100000"/>
            </a:pPr>
            <a:r>
              <a:rPr lang="en-US" sz="1450" b="1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Cel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minimalizacja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zaklocen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maksymalizacja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poczucia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komfortu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konkretnej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osoby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nie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sredniej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uzytkownikow</a:t>
            </a:r>
            <a:endParaRPr lang="en-US" sz="1450" spc="-20" dirty="0" err="1">
              <a:latin typeface="Calibri"/>
              <a:ea typeface="Calibri"/>
              <a:cs typeface="Calibri"/>
            </a:endParaRPr>
          </a:p>
          <a:p>
            <a:pPr>
              <a:spcAft>
                <a:spcPts val="900"/>
              </a:spcAft>
              <a:buSzPct val="100000"/>
            </a:pPr>
            <a:r>
              <a:rPr lang="en-US" sz="1450" b="1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Metody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profil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explict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preferencje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podane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przez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uzytkownika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) +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profil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implicit (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wnioskowany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z </a:t>
            </a:r>
            <a:r>
              <a:rPr lang="en-US" sz="1450" spc="-2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zachowania</a:t>
            </a:r>
            <a:r>
              <a:rPr lang="en-US" sz="1450" spc="-2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450" spc="-2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Prostokąt 7"/>
          <p:cNvSpPr/>
          <p:nvPr/>
        </p:nvSpPr>
        <p:spPr>
          <a:xfrm>
            <a:off x="693420" y="1101090"/>
            <a:ext cx="3375660" cy="563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spc="-4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Robot </a:t>
            </a:r>
            <a:r>
              <a:rPr lang="en-US" sz="1600" b="1" spc="-4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generyczny</a:t>
            </a:r>
            <a:r>
              <a:rPr lang="en-US" sz="1600" b="1" spc="-4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4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zachowuje</a:t>
            </a:r>
            <a:r>
              <a:rPr lang="en-US" sz="1600" spc="-4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4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sie</a:t>
            </a:r>
            <a:r>
              <a:rPr lang="en-US" sz="1600" spc="-4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4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tak</a:t>
            </a:r>
            <a:r>
              <a:rPr lang="en-US" sz="1600" spc="-4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4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samo</a:t>
            </a:r>
            <a:r>
              <a:rPr lang="en-US" sz="1600" spc="-4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4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wobec</a:t>
            </a:r>
            <a:r>
              <a:rPr lang="en-US" sz="1600" spc="-4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4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kazdego</a:t>
            </a:r>
            <a:endParaRPr lang="pl-PL" sz="16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Prostokąt 8"/>
          <p:cNvSpPr/>
          <p:nvPr/>
        </p:nvSpPr>
        <p:spPr>
          <a:xfrm>
            <a:off x="5170170" y="1101090"/>
            <a:ext cx="3375660" cy="563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1600" b="1" spc="-4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Robot spersonalizowany </a:t>
            </a:r>
            <a:r>
              <a:rPr lang="pl-PL" sz="1600" spc="-4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adaptuje zachowanie do konkretnej osoby</a:t>
            </a:r>
          </a:p>
        </p:txBody>
      </p:sp>
      <p:cxnSp>
        <p:nvCxnSpPr>
          <p:cNvPr id="11" name="Łącznik prosty ze strzałką 10"/>
          <p:cNvCxnSpPr/>
          <p:nvPr/>
        </p:nvCxnSpPr>
        <p:spPr>
          <a:xfrm>
            <a:off x="4236720" y="1383030"/>
            <a:ext cx="731520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PROFIL UZYTKOWNIKA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 użytkownika: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składowe i źródła</a:t>
            </a:r>
            <a:endParaRPr lang="pl-PL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2537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2537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Cechy stale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(explicit)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384048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Cechy dynamiczne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(implicit)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520" y="1546860"/>
            <a:ext cx="4030980" cy="1749641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pl-PL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Wiek i mobilność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(poruszanie sie z </a:t>
            </a:r>
            <a:r>
              <a:rPr lang="pl-PL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laską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</a:t>
            </a:r>
            <a:r>
              <a:rPr lang="pl-PL" sz="13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óz</a:t>
            </a:r>
            <a:r>
              <a:rPr lang="en-US" sz="13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Preferencje kulturowe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(kraj pochodzenia, jezyk)</a:t>
            </a:r>
            <a:endParaRPr lang="en-US" sz="13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pl-PL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Znane fobie lub lęki</a:t>
            </a: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(np. </a:t>
            </a:r>
            <a:r>
              <a:rPr lang="pl-PL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lęki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przed maszynami)</a:t>
            </a:r>
            <a:endParaRPr lang="en-US" sz="13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Preferowany styl komunikacji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(werbalny / niewerbalny)</a:t>
            </a:r>
            <a:endParaRPr lang="en-US" sz="13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interakcji z robotami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(nowicjusz / doswiadczony)</a:t>
            </a:r>
            <a:endParaRPr lang="en-US" sz="13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 w organizacji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(pacjent, personel, </a:t>
            </a:r>
            <a:r>
              <a:rPr lang="pl-PL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gość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70120" y="1546860"/>
            <a:ext cx="4030980" cy="1949696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Aktualny stan emocjonalny 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(ekspresja twarzy, tempo mowy)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pl-PL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</a:t>
            </a: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pospiechu</a:t>
            </a: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pl-PL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prędkość chodzenia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l-PL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częstość kontaktu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Odpowiedzi na poprzednie zachowania robota</a:t>
            </a:r>
            <a:r>
              <a:rPr lang="en-US" sz="13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(wycofanie, </a:t>
            </a:r>
            <a:r>
              <a:rPr lang="pl-PL" sz="13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kiwnięcie</a:t>
            </a:r>
            <a:r>
              <a:rPr lang="en-US" sz="13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spc="-6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pl-PL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Zajętość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</a:t>
            </a:r>
            <a:r>
              <a:rPr lang="pl-PL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</a:t>
            </a:r>
            <a:r>
              <a:rPr lang="en-US" sz="13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ucha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muzyki, rozmawia przez telefon)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Pozycja i orientacja ciala 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wzgledem robota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dzisiejszej sesji 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(akceptacje, odrzucenia propozycji)</a:t>
            </a:r>
            <a:endParaRPr lang="en-US" sz="1300" spc="-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UCZENIE PREFERENCJI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Uczenie preferencji uzytkownika w czasie rzeczywistym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5280" y="1188720"/>
            <a:ext cx="8458200" cy="2177519"/>
          </a:xfrm>
          <a:prstGeom prst="rect">
            <a:avLst/>
          </a:prstGeom>
          <a:noFill/>
          <a:ln/>
        </p:spPr>
        <p:txBody>
          <a:bodyPr wrap="square" lIns="72000" tIns="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aktywnie aktualizuje model preferencji na podstawie sygnalu zwrotnego uzytkownika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Sygnaly zwrotne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wycofanie sie (zbyt blisko), kiwniec (OK), komenda slowa (szybciej / wlnniej), styl chodzenia</a:t>
            </a:r>
            <a:endParaRPr lang="en-US" sz="14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Regresja Bayesowska</a:t>
            </a:r>
            <a:r>
              <a:rPr lang="en-US" sz="14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model dystansu preferowanego d* ~ N(mu, sigma^2); aktualizacja mu i sigma po kazdej obserwacji</a:t>
            </a:r>
            <a:endParaRPr lang="en-US" sz="1450" spc="-6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RL (IRL): 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obserwacji ludzkich zachowan wnioskuj funkcje nagrody; zastosuj do polityki robota</a:t>
            </a:r>
            <a:endParaRPr lang="en-US" sz="14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 Regression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interpolacja preferencji dystansu dla roznych kontekstow (korytarz, winda, sala)</a:t>
            </a:r>
            <a:endParaRPr lang="en-US" sz="14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Prywatnosc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dane profilowe przechowywane lokalnie; opcja reset profilu przez uzytkownika w dowolnej chwili</a:t>
            </a:r>
            <a:endParaRPr lang="en-US" sz="14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r>
              <a:rPr lang="en-US" sz="14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nowy uzytkownik startuje z domyslnymi parametrami kulturowymi; personalizacja po ~5 minutach interakcji</a:t>
            </a:r>
            <a:endParaRPr lang="en-US" sz="1450" spc="-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Bayesowska</a:t>
            </a:r>
            <a:r>
              <a:rPr lang="en-US" sz="22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aktualizacja</a:t>
            </a:r>
            <a:r>
              <a:rPr lang="en-US" sz="22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preferencji</a:t>
            </a:r>
            <a:r>
              <a:rPr lang="en-US" sz="22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dystansu</a:t>
            </a:r>
            <a:endParaRPr lang="en-US" sz="2200" b="1" dirty="0" err="1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329940"/>
          </a:xfrm>
          <a:prstGeom prst="rect">
            <a:avLst/>
          </a:prstGeom>
          <a:solidFill>
            <a:srgbClr val="071520"/>
          </a:solidFill>
          <a:ln w="12700">
            <a:solidFill>
              <a:srgbClr val="B3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9872" y="1156716"/>
            <a:ext cx="146304" cy="146304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75904" y="115671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31936" y="115671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030968"/>
            <a:ext cx="6382512" cy="3221736"/>
          </a:xfrm>
          <a:prstGeom prst="rect">
            <a:avLst/>
          </a:prstGeom>
          <a:noFill/>
          <a:ln/>
        </p:spPr>
        <p:txBody>
          <a:bodyPr wrap="square" lIns="36000" tIns="0" rIns="0" bIns="0" rtlCol="0" anchor="t">
            <a:normAutofit lnSpcReduction="10000"/>
          </a:bodyPr>
          <a:lstStyle/>
          <a:p>
            <a:r>
              <a:rPr lang="pl-PL" sz="1000" dirty="0">
                <a:solidFill>
                  <a:srgbClr val="C586C0"/>
                </a:solidFill>
                <a:latin typeface="Consolas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>
                <a:solidFill>
                  <a:srgbClr val="4EC9B0"/>
                </a:solidFill>
                <a:latin typeface="Consolas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>
                <a:solidFill>
                  <a:srgbClr val="4EC9B0"/>
                </a:solidFill>
                <a:latin typeface="Consolas"/>
              </a:rPr>
              <a:t>np</a:t>
            </a:r>
            <a:endParaRPr lang="pl-PL" sz="1000">
              <a:solidFill>
                <a:srgbClr val="CCCCCC"/>
              </a:solidFill>
              <a:latin typeface="Consolas"/>
            </a:endParaRPr>
          </a:p>
          <a:p>
            <a:br>
              <a:rPr lang="pl-PL" sz="1000" dirty="0">
                <a:latin typeface="Consolas" panose="020B0609020204030204" pitchFamily="49" charset="0"/>
              </a:rPr>
            </a:br>
            <a:r>
              <a:rPr lang="pl-PL" sz="1000">
                <a:solidFill>
                  <a:srgbClr val="569CD6"/>
                </a:solidFill>
                <a:latin typeface="Consolas"/>
              </a:rPr>
              <a:t>class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>
                <a:solidFill>
                  <a:srgbClr val="4EC9B0"/>
                </a:solidFill>
                <a:latin typeface="Consolas"/>
              </a:rPr>
              <a:t>DistancePreferenceModel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/>
              </a:rPr>
              <a:t>"""Gaussowski </a:t>
            </a:r>
            <a:r>
              <a:rPr lang="pl-PL" sz="1000">
                <a:solidFill>
                  <a:srgbClr val="CE9178"/>
                </a:solidFill>
                <a:latin typeface="Consolas"/>
              </a:rPr>
              <a:t>prior</a:t>
            </a:r>
            <a:r>
              <a:rPr lang="pl-PL" sz="1000" dirty="0">
                <a:solidFill>
                  <a:srgbClr val="CE9178"/>
                </a:solidFill>
                <a:latin typeface="Consolas"/>
              </a:rPr>
              <a:t> nad preferowanym dystansem d* [m]."""</a:t>
            </a:r>
            <a:endParaRPr lang="pl-PL" sz="1000" dirty="0">
              <a:solidFill>
                <a:srgbClr val="CCCCCC"/>
              </a:solidFill>
              <a:latin typeface="Consolas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pl-PL" sz="10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/>
              </a:rPr>
              <a:t>__</a:t>
            </a:r>
            <a:r>
              <a:rPr lang="pl-PL" sz="1000">
                <a:solidFill>
                  <a:srgbClr val="DCDCAA"/>
                </a:solidFill>
                <a:latin typeface="Consolas"/>
              </a:rPr>
              <a:t>init</a:t>
            </a:r>
            <a:r>
              <a:rPr lang="pl-PL" sz="1000" dirty="0">
                <a:solidFill>
                  <a:srgbClr val="DCDCAA"/>
                </a:solidFill>
                <a:latin typeface="Consolas"/>
              </a:rPr>
              <a:t>__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/>
              </a:rPr>
              <a:t>mu0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/>
              </a:rPr>
              <a:t>1.2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/>
              </a:rPr>
              <a:t>sigma0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/>
              </a:rPr>
              <a:t>0.4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self</a:t>
            </a:r>
            <a:r>
              <a:rPr lang="pl-PL" sz="1000">
                <a:solidFill>
                  <a:srgbClr val="CCCCCC"/>
                </a:solidFill>
                <a:latin typeface="Consolas"/>
              </a:rPr>
              <a:t>.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mu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   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/>
              </a:rPr>
              <a:t>mu0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      </a:t>
            </a:r>
            <a:r>
              <a:rPr lang="pl-PL" sz="1000" dirty="0">
                <a:solidFill>
                  <a:srgbClr val="6A9955"/>
                </a:solidFill>
                <a:latin typeface="Consolas"/>
              </a:rPr>
              <a:t># wartość oczekiwana początkowa</a:t>
            </a:r>
            <a:endParaRPr lang="pl-PL" sz="1000" dirty="0">
              <a:solidFill>
                <a:srgbClr val="CCCCCC"/>
              </a:solidFill>
              <a:latin typeface="Consolas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self</a:t>
            </a:r>
            <a:r>
              <a:rPr lang="pl-PL" sz="1000">
                <a:solidFill>
                  <a:srgbClr val="CCCCCC"/>
                </a:solidFill>
                <a:latin typeface="Consolas"/>
              </a:rPr>
              <a:t>.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sigma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/>
              </a:rPr>
              <a:t>sigma0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   </a:t>
            </a:r>
            <a:r>
              <a:rPr lang="pl-PL" sz="1000" dirty="0">
                <a:solidFill>
                  <a:srgbClr val="6A9955"/>
                </a:solidFill>
                <a:latin typeface="Consolas"/>
              </a:rPr>
              <a:t># odchylenie standardowe (niepewność)</a:t>
            </a:r>
            <a:endParaRPr lang="pl-PL" sz="1000" dirty="0">
              <a:solidFill>
                <a:srgbClr val="CCCCCC"/>
              </a:solidFill>
              <a:latin typeface="Consolas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self</a:t>
            </a:r>
            <a:r>
              <a:rPr lang="pl-PL" sz="1000">
                <a:solidFill>
                  <a:srgbClr val="CCCCCC"/>
                </a:solidFill>
                <a:latin typeface="Consolas"/>
              </a:rPr>
              <a:t>.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obs_sigma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/>
              </a:rPr>
              <a:t>0.15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 </a:t>
            </a:r>
            <a:r>
              <a:rPr lang="pl-PL" sz="1000" dirty="0">
                <a:solidFill>
                  <a:srgbClr val="6A9955"/>
                </a:solidFill>
                <a:latin typeface="Consolas"/>
              </a:rPr>
              <a:t># szum pomiaru (gęstość obserwacji)</a:t>
            </a:r>
            <a:endParaRPr lang="pl-PL" sz="1000" dirty="0">
              <a:solidFill>
                <a:srgbClr val="CCCCCC"/>
              </a:solidFill>
              <a:latin typeface="Consolas"/>
            </a:endParaRPr>
          </a:p>
          <a:p>
            <a:br>
              <a:rPr lang="pl-PL" sz="1000" dirty="0"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CCCCCC"/>
                </a:solidFill>
                <a:latin typeface="Consolas"/>
              </a:rPr>
              <a:t>    </a:t>
            </a:r>
            <a:r>
              <a:rPr lang="pl-PL" sz="1000" dirty="0">
                <a:solidFill>
                  <a:srgbClr val="569CD6"/>
                </a:solidFill>
                <a:latin typeface="Consolas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/>
              </a:rPr>
              <a:t>update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(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observed_distance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: </a:t>
            </a:r>
            <a:r>
              <a:rPr lang="pl-PL" sz="1000">
                <a:solidFill>
                  <a:srgbClr val="4EC9B0"/>
                </a:solidFill>
                <a:latin typeface="Consolas"/>
              </a:rPr>
              <a:t>float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/>
              </a:rPr>
              <a:t>feedback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: </a:t>
            </a:r>
            <a:r>
              <a:rPr lang="pl-PL" sz="1000">
                <a:solidFill>
                  <a:srgbClr val="4EC9B0"/>
                </a:solidFill>
                <a:latin typeface="Consolas"/>
              </a:rPr>
              <a:t>str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):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pl-PL" sz="1000" dirty="0">
                <a:solidFill>
                  <a:srgbClr val="CE9178"/>
                </a:solidFill>
                <a:latin typeface="Consolas"/>
              </a:rPr>
              <a:t>"""Aktualizacja po obserwacji; feedback: "ok"/"</a:t>
            </a:r>
            <a:r>
              <a:rPr lang="pl-PL" sz="1000">
                <a:solidFill>
                  <a:srgbClr val="CE9178"/>
                </a:solidFill>
                <a:latin typeface="Consolas"/>
              </a:rPr>
              <a:t>too_close</a:t>
            </a:r>
            <a:r>
              <a:rPr lang="pl-PL" sz="1000" dirty="0">
                <a:solidFill>
                  <a:srgbClr val="CE9178"/>
                </a:solidFill>
                <a:latin typeface="Consolas"/>
              </a:rPr>
              <a:t>"/"</a:t>
            </a:r>
            <a:r>
              <a:rPr lang="pl-PL" sz="1000">
                <a:solidFill>
                  <a:srgbClr val="CE9178"/>
                </a:solidFill>
                <a:latin typeface="Consolas"/>
              </a:rPr>
              <a:t>too_far</a:t>
            </a:r>
            <a:r>
              <a:rPr lang="pl-PL" sz="1000" dirty="0">
                <a:solidFill>
                  <a:srgbClr val="CE9178"/>
                </a:solidFill>
                <a:latin typeface="Consolas"/>
              </a:rPr>
              <a:t>"."""</a:t>
            </a:r>
            <a:endParaRPr lang="pl-PL" sz="1000" dirty="0">
              <a:solidFill>
                <a:srgbClr val="CCCCCC"/>
              </a:solidFill>
              <a:latin typeface="Consolas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pl-PL" sz="1000">
                <a:solidFill>
                  <a:srgbClr val="C586C0"/>
                </a:solidFill>
                <a:latin typeface="Consolas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/>
              </a:rPr>
              <a:t>feedback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==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CE9178"/>
                </a:solidFill>
                <a:latin typeface="Consolas"/>
              </a:rPr>
              <a:t>'</a:t>
            </a:r>
            <a:r>
              <a:rPr lang="pl-PL" sz="1000">
                <a:solidFill>
                  <a:srgbClr val="CE9178"/>
                </a:solidFill>
                <a:latin typeface="Consolas"/>
              </a:rPr>
              <a:t>too_close</a:t>
            </a:r>
            <a:r>
              <a:rPr lang="pl-PL" sz="1000" dirty="0">
                <a:solidFill>
                  <a:srgbClr val="CE9178"/>
                </a:solidFill>
                <a:latin typeface="Consolas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    </a:t>
            </a:r>
            <a:r>
              <a:rPr lang="pl-PL" sz="1000" dirty="0">
                <a:solidFill>
                  <a:srgbClr val="9CDCFE"/>
                </a:solidFill>
                <a:latin typeface="Consolas"/>
              </a:rPr>
              <a:t>z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observed_distance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/>
              </a:rPr>
              <a:t>0.3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 </a:t>
            </a:r>
            <a:r>
              <a:rPr lang="pl-PL" sz="1000" dirty="0">
                <a:solidFill>
                  <a:srgbClr val="6A9955"/>
                </a:solidFill>
                <a:latin typeface="Consolas"/>
              </a:rPr>
              <a:t># użytkownik chce większy dystans</a:t>
            </a:r>
            <a:endParaRPr lang="pl-PL" sz="1000" dirty="0">
              <a:solidFill>
                <a:srgbClr val="CCCCCC"/>
              </a:solidFill>
              <a:latin typeface="Consolas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pl-PL" sz="1000">
                <a:solidFill>
                  <a:srgbClr val="C586C0"/>
                </a:solidFill>
                <a:latin typeface="Consolas"/>
              </a:rPr>
              <a:t>elif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/>
              </a:rPr>
              <a:t>feedback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==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CE9178"/>
                </a:solidFill>
                <a:latin typeface="Consolas"/>
              </a:rPr>
              <a:t>'</a:t>
            </a:r>
            <a:r>
              <a:rPr lang="pl-PL" sz="1000">
                <a:solidFill>
                  <a:srgbClr val="CE9178"/>
                </a:solidFill>
                <a:latin typeface="Consolas"/>
              </a:rPr>
              <a:t>too_far</a:t>
            </a:r>
            <a:r>
              <a:rPr lang="pl-PL" sz="1000" dirty="0">
                <a:solidFill>
                  <a:srgbClr val="CE9178"/>
                </a:solidFill>
                <a:latin typeface="Consolas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    </a:t>
            </a:r>
            <a:r>
              <a:rPr lang="pl-PL" sz="1000" dirty="0">
                <a:solidFill>
                  <a:srgbClr val="9CDCFE"/>
                </a:solidFill>
                <a:latin typeface="Consolas"/>
              </a:rPr>
              <a:t>z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observed_distance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/>
              </a:rPr>
              <a:t>0.2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 </a:t>
            </a:r>
            <a:r>
              <a:rPr lang="pl-PL" sz="1000" dirty="0">
                <a:solidFill>
                  <a:srgbClr val="6A9955"/>
                </a:solidFill>
                <a:latin typeface="Consolas"/>
              </a:rPr>
              <a:t># użytkownik akceptuje mniejszy</a:t>
            </a:r>
            <a:endParaRPr lang="pl-PL" sz="1000" dirty="0">
              <a:solidFill>
                <a:srgbClr val="CCCCCC"/>
              </a:solidFill>
              <a:latin typeface="Consolas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pl-PL" sz="1000">
                <a:solidFill>
                  <a:srgbClr val="C586C0"/>
                </a:solidFill>
                <a:latin typeface="Consolas"/>
              </a:rPr>
              <a:t>else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    </a:t>
            </a:r>
            <a:r>
              <a:rPr lang="pl-PL" sz="1000" dirty="0">
                <a:solidFill>
                  <a:srgbClr val="9CDCFE"/>
                </a:solidFill>
                <a:latin typeface="Consolas"/>
              </a:rPr>
              <a:t>z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observed_distance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       </a:t>
            </a:r>
            <a:r>
              <a:rPr lang="pl-PL" sz="1000" dirty="0">
                <a:solidFill>
                  <a:srgbClr val="6A9955"/>
                </a:solidFill>
                <a:latin typeface="Consolas"/>
              </a:rPr>
              <a:t># OK – to jest d*</a:t>
            </a:r>
            <a:endParaRPr lang="pl-PL" sz="1000" dirty="0">
              <a:solidFill>
                <a:srgbClr val="CCCCCC"/>
              </a:solidFill>
              <a:latin typeface="Consolas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</a:t>
            </a:r>
          </a:p>
          <a:p>
            <a:r>
              <a:rPr lang="pl-PL" sz="1000">
                <a:solidFill>
                  <a:srgbClr val="6A9955"/>
                </a:solidFill>
                <a:latin typeface="Consolas"/>
              </a:rPr>
              <a:t>        # Kalman update: posterior Gaussian</a:t>
            </a:r>
            <a:endParaRPr lang="pl-PL" sz="1000">
              <a:solidFill>
                <a:srgbClr val="CCCCCC"/>
              </a:solidFill>
              <a:latin typeface="Consolas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pl-PL" sz="1000" dirty="0">
                <a:solidFill>
                  <a:srgbClr val="4FC1FF"/>
                </a:solidFill>
                <a:latin typeface="Consolas"/>
              </a:rPr>
              <a:t>K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self</a:t>
            </a:r>
            <a:r>
              <a:rPr lang="pl-PL" sz="1000">
                <a:solidFill>
                  <a:srgbClr val="CCCCCC"/>
                </a:solidFill>
                <a:latin typeface="Consolas"/>
              </a:rPr>
              <a:t>.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sigma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/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(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self</a:t>
            </a:r>
            <a:r>
              <a:rPr lang="pl-PL" sz="1000">
                <a:solidFill>
                  <a:srgbClr val="CCCCCC"/>
                </a:solidFill>
                <a:latin typeface="Consolas"/>
              </a:rPr>
              <a:t>.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sigma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self</a:t>
            </a:r>
            <a:r>
              <a:rPr lang="pl-PL" sz="1000">
                <a:solidFill>
                  <a:srgbClr val="CCCCCC"/>
                </a:solidFill>
                <a:latin typeface="Consolas"/>
              </a:rPr>
              <a:t>.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obs_sigma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self</a:t>
            </a:r>
            <a:r>
              <a:rPr lang="pl-PL" sz="1000">
                <a:solidFill>
                  <a:srgbClr val="CCCCCC"/>
                </a:solidFill>
                <a:latin typeface="Consolas"/>
              </a:rPr>
              <a:t>.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mu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   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+=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4FC1FF"/>
                </a:solidFill>
                <a:latin typeface="Consolas"/>
              </a:rPr>
              <a:t>K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*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(</a:t>
            </a:r>
            <a:r>
              <a:rPr lang="pl-PL" sz="1000" dirty="0">
                <a:solidFill>
                  <a:srgbClr val="9CDCFE"/>
                </a:solidFill>
                <a:latin typeface="Consolas"/>
              </a:rPr>
              <a:t>z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self</a:t>
            </a:r>
            <a:r>
              <a:rPr lang="pl-PL" sz="1000">
                <a:solidFill>
                  <a:srgbClr val="CCCCCC"/>
                </a:solidFill>
                <a:latin typeface="Consolas"/>
              </a:rPr>
              <a:t>.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mu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self</a:t>
            </a:r>
            <a:r>
              <a:rPr lang="pl-PL" sz="1000">
                <a:solidFill>
                  <a:srgbClr val="CCCCCC"/>
                </a:solidFill>
                <a:latin typeface="Consolas"/>
              </a:rPr>
              <a:t>.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sigma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>
                <a:solidFill>
                  <a:srgbClr val="4EC9B0"/>
                </a:solidFill>
                <a:latin typeface="Consolas"/>
              </a:rPr>
              <a:t>np</a:t>
            </a:r>
            <a:r>
              <a:rPr lang="pl-PL" sz="1000">
                <a:solidFill>
                  <a:srgbClr val="CCCCCC"/>
                </a:solidFill>
                <a:latin typeface="Consolas"/>
              </a:rPr>
              <a:t>.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sqrt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((</a:t>
            </a:r>
            <a:r>
              <a:rPr lang="pl-PL" sz="1000" dirty="0">
                <a:solidFill>
                  <a:srgbClr val="B5CEA8"/>
                </a:solidFill>
                <a:latin typeface="Consolas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 dirty="0">
                <a:solidFill>
                  <a:srgbClr val="4FC1FF"/>
                </a:solidFill>
                <a:latin typeface="Consolas"/>
              </a:rPr>
              <a:t>K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) 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*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self</a:t>
            </a:r>
            <a:r>
              <a:rPr lang="pl-PL" sz="1000">
                <a:solidFill>
                  <a:srgbClr val="CCCCCC"/>
                </a:solidFill>
                <a:latin typeface="Consolas"/>
              </a:rPr>
              <a:t>.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sigma</a:t>
            </a:r>
            <a:r>
              <a:rPr lang="pl-PL" sz="1000" dirty="0">
                <a:solidFill>
                  <a:srgbClr val="D4D4D4"/>
                </a:solidFill>
                <a:latin typeface="Consolas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pl-PL" sz="1000" dirty="0">
                <a:solidFill>
                  <a:srgbClr val="C586C0"/>
                </a:solidFill>
                <a:latin typeface="Consolas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self</a:t>
            </a:r>
            <a:r>
              <a:rPr lang="pl-PL" sz="1000">
                <a:solidFill>
                  <a:srgbClr val="CCCCCC"/>
                </a:solidFill>
                <a:latin typeface="Consolas"/>
              </a:rPr>
              <a:t>.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mu</a:t>
            </a:r>
            <a:r>
              <a:rPr lang="pl-PL" sz="1000" dirty="0">
                <a:solidFill>
                  <a:srgbClr val="CCCCCC"/>
                </a:solidFill>
                <a:latin typeface="Consolas"/>
              </a:rPr>
              <a:t>, 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self</a:t>
            </a:r>
            <a:r>
              <a:rPr lang="pl-PL" sz="1000">
                <a:solidFill>
                  <a:srgbClr val="CCCCCC"/>
                </a:solidFill>
                <a:latin typeface="Consolas"/>
              </a:rPr>
              <a:t>.</a:t>
            </a:r>
            <a:r>
              <a:rPr lang="pl-PL" sz="1000">
                <a:solidFill>
                  <a:srgbClr val="9CDCFE"/>
                </a:solidFill>
                <a:latin typeface="Consolas"/>
              </a:rPr>
              <a:t>sigma</a:t>
            </a:r>
            <a:endParaRPr lang="pl-PL" sz="1000" b="0">
              <a:solidFill>
                <a:srgbClr val="CCCCCC"/>
              </a:solidFill>
              <a:effectLst/>
              <a:latin typeface="Consola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1A3550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805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solidFill>
                  <a:srgbClr val="E05C4B"/>
                </a:solidFill>
                <a:latin typeface="Calibri"/>
                <a:ea typeface="Calibri"/>
                <a:cs typeface="Calibri"/>
              </a:rPr>
              <a:t>Opis</a:t>
            </a:r>
            <a:r>
              <a:rPr lang="en-US" sz="1400" b="1" dirty="0">
                <a:solidFill>
                  <a:srgbClr val="E05C4B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Po 5–10 </a:t>
            </a:r>
            <a:r>
              <a:rPr lang="en-US" sz="140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interakcjach</a:t>
            </a:r>
            <a:r>
              <a:rPr lang="en-US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sigma </a:t>
            </a:r>
            <a:r>
              <a:rPr lang="en-US" sz="140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spada</a:t>
            </a:r>
            <a:r>
              <a:rPr lang="en-US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do ~0,05 m; mu </a:t>
            </a:r>
            <a:r>
              <a:rPr lang="en-US" sz="140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zbiezna</a:t>
            </a:r>
            <a:r>
              <a:rPr lang="en-US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40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prawdziwej</a:t>
            </a:r>
            <a:r>
              <a:rPr lang="en-US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preferencji</a:t>
            </a:r>
            <a:r>
              <a:rPr lang="en-US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uzytkownika</a:t>
            </a:r>
            <a:endParaRPr lang="pl-PL" err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KOMUNIKACJA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Komunikacja robota z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człowiekiem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kanaly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7838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4783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024" y="1234440"/>
            <a:ext cx="2520431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Mowa (TTS)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8024" y="1853489"/>
            <a:ext cx="2520431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Synteza mowy: przyjazny glos, odpowiednia glosnosc. Robot informuje o zamiarach: 'Przechodze po lewej stronie'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9041" y="1143000"/>
            <a:ext cx="2747838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59041" y="1143000"/>
            <a:ext cx="2747838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2745" y="1234440"/>
            <a:ext cx="2520431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Swiatla LED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72745" y="1853489"/>
            <a:ext cx="2520431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Kolory sygnalizuja stan: zielony = gotowy, zolty = zatrzymanie, czerwony = ostrozenie, niebieski = naladowanie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43762" y="1143000"/>
            <a:ext cx="2747838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3762" y="1143000"/>
            <a:ext cx="2747838" cy="54864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7465" y="1234440"/>
            <a:ext cx="2520431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Gestykulacja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57465" y="1853489"/>
            <a:ext cx="2520431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Ramie wskazuje kierunek lub zaprasza; kiwnicie glowy potwierdza. Wymaga platformy z ramionami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88920"/>
            <a:ext cx="2747838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88920"/>
            <a:ext cx="2747838" cy="54864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024" y="2880360"/>
            <a:ext cx="2520431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Wyswietlacz twarzy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8024" y="3499409"/>
            <a:ext cx="2520431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Animowane oczy lub emotikonki: przekazuja stan emocjonalny (zdziwienie, zaproszenie, przepraszam)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59041" y="2788920"/>
            <a:ext cx="2747838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59041" y="2788920"/>
            <a:ext cx="274783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2745" y="2880360"/>
            <a:ext cx="2520431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Ruch anticipacyjny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72745" y="3499409"/>
            <a:ext cx="2520431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zaczyna skrecac wczesniej niz wymagane, sygnalizujac zamiar. Badania: anticipatory motion zmniejsza konflikty o 40%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43762" y="2788920"/>
            <a:ext cx="2747838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43762" y="2788920"/>
            <a:ext cx="2747838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7465" y="2880360"/>
            <a:ext cx="2520431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Personalizacja głosu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57465" y="3499409"/>
            <a:ext cx="2520431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Ton, tempo i jezyk dopasowane do profilu uzytkownika. Dziecko: wolniej, prostsze slowa. Senior: wieksze natezenie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PIPELINE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3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r>
              <a:rPr lang="pl-PL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personalizacji HRI:</a:t>
            </a: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od kontaktu do adaptacji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76924" cy="254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0684" y="1188720"/>
            <a:ext cx="604196" cy="5852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0684" y="1188720"/>
            <a:ext cx="6041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8726" y="1874520"/>
            <a:ext cx="1888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Identyfikacja uzytkownika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8726" y="2551176"/>
            <a:ext cx="1888112" cy="97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Rozpoznawanie twarzy / tokenu RFID / konta; ladowanie lub tworzenie profilu uzytkownika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92852" y="1097280"/>
            <a:ext cx="2076924" cy="254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9216" y="1188720"/>
            <a:ext cx="604196" cy="5852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9216" y="1188720"/>
            <a:ext cx="6041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87258" y="1874520"/>
            <a:ext cx="1888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Ocena kontekstu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87258" y="2551176"/>
            <a:ext cx="1888112" cy="97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rodowisko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(szpital/biuro), godzina dnia, tlok; wybor bazowej polityki nawigacyjnej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11384" y="1097280"/>
            <a:ext cx="2076924" cy="254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7748" y="1188720"/>
            <a:ext cx="604196" cy="5852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7748" y="1188720"/>
            <a:ext cx="6041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05790" y="1874520"/>
            <a:ext cx="1888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Inicjacja interakcji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5790" y="2551176"/>
            <a:ext cx="1888112" cy="97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 wzrokowy,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kiwni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ę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lub glos; robot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sygnalizuje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gotowo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ść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interakcji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zamiar ruchu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29916" y="1097280"/>
            <a:ext cx="2076924" cy="254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66280" y="1188720"/>
            <a:ext cx="604196" cy="5852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6280" y="1188720"/>
            <a:ext cx="6041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24322" y="1874520"/>
            <a:ext cx="1888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Wykonanie</a:t>
            </a: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br>
              <a:rPr lang="pl-PL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 monitoringiem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24322" y="2551176"/>
            <a:ext cx="1888112" cy="97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 z aktywna obserwacja sygnalizacji zwrotnej; rejestracja odleglosci, reakcji ciala, slow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EWALUACJA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Ewaluacja nawigacji społecznej: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metryki i benchmarki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5222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8620" y="1173480"/>
            <a:ext cx="8427720" cy="2254463"/>
          </a:xfrm>
          <a:prstGeom prst="rect">
            <a:avLst/>
          </a:prstGeom>
          <a:noFill/>
          <a:ln/>
        </p:spPr>
        <p:txBody>
          <a:bodyPr wrap="square" lIns="72000" tIns="0" rIns="0" bIns="0" rtlCol="0" anchor="t">
            <a:spAutoFit/>
          </a:bodyPr>
          <a:lstStyle/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4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into Personal Space (IPS): 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procent czasu, gdy robot narusza strefe osobista (&lt; 1,2 m) bez zaproszenia</a:t>
            </a:r>
            <a:endParaRPr lang="en-US" sz="1450" spc="-2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Irregularity (PI):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odchylenie trasy robota od trajektorii bez pieszych; wskaznik zaklocen w nawigacji</a:t>
            </a:r>
            <a:endParaRPr lang="en-US" sz="145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Space Violation (SSV):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liczba wejsc w O-space grupy lub strefe konwersacji</a:t>
            </a:r>
            <a:endParaRPr lang="en-US" sz="145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Time-to-pass (TTP):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potrzebny robotowi do mineciia pieszego; im krotszy tym mniej ograniczen</a:t>
            </a:r>
            <a:endParaRPr lang="en-US" sz="145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Safety Rating (PSR):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subiektywna ocena bezpieczenstwa przez pieszych (kwestionariusz Likerta)</a:t>
            </a:r>
            <a:endParaRPr lang="en-US" sz="145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Score (CS):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srednio oceniana wygoda interakcji; zbierany przez aplikacje mobilna lub kiosk</a:t>
            </a:r>
            <a:endParaRPr lang="en-US" sz="145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SocNav1/2 (Manso et al.), SEAN-EP (Tsoi et al.), CrowdNav (Chen et al.); porownywalne wyniki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Klasyfikator profilu uzytkownika i adaptacja parametrow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432048"/>
          </a:xfrm>
          <a:prstGeom prst="rect">
            <a:avLst/>
          </a:prstGeom>
          <a:solidFill>
            <a:srgbClr val="071520"/>
          </a:solidFill>
          <a:ln w="12700">
            <a:solidFill>
              <a:srgbClr val="B3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54340" y="1115569"/>
            <a:ext cx="146304" cy="146304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10372" y="1115569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66404" y="1115569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668" y="1115568"/>
            <a:ext cx="8321040" cy="3204972"/>
          </a:xfrm>
          <a:prstGeom prst="rect">
            <a:avLst/>
          </a:prstGeom>
          <a:noFill/>
          <a:ln/>
        </p:spPr>
        <p:txBody>
          <a:bodyPr wrap="square" lIns="63500" tIns="0" rIns="127000" bIns="0" rtlCol="0" anchor="t">
            <a:normAutofit fontScale="92500" lnSpcReduction="10000"/>
          </a:bodyPr>
          <a:lstStyle/>
          <a:p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4FC1FF"/>
                </a:solidFill>
                <a:latin typeface="Consolas" panose="020B0609020204030204" pitchFamily="49" charset="0"/>
              </a:rPr>
              <a:t>PROFILE_PARAMS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'senior'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 {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v_max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0.4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dist_safe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tts_speed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child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  {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v_max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dist_safe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tts_speed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0.9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adult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  {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v_max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dist_safe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tts_speed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worker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 {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v_max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dist_safe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tts_speed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classify_user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face_age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walking_speed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uses_aid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bool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"""Prosty klasyfikator profilu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uzytkownika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."""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uses_aid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face_age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&gt;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65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'senior'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face_age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14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child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walking_speed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&gt;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worker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adult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get_nav_params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profile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pref_model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dict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base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4FC1FF"/>
                </a:solidFill>
                <a:latin typeface="Consolas" panose="020B0609020204030204" pitchFamily="49" charset="0"/>
              </a:rPr>
              <a:t>PROFILE_PARAMS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profile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copy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Nadpisz dystans z modelu Bayesowskiego (z Kodu 3)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base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dist_safe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pref_model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.mu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base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11040"/>
            <a:ext cx="8595360" cy="426720"/>
          </a:xfrm>
          <a:prstGeom prst="rect">
            <a:avLst/>
          </a:prstGeom>
          <a:solidFill>
            <a:srgbClr val="1A3550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11040"/>
            <a:ext cx="832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400" b="1" dirty="0" err="1">
                <a:solidFill>
                  <a:srgbClr val="E05C4B"/>
                </a:solidFill>
                <a:latin typeface="Calibri"/>
                <a:ea typeface="Calibri"/>
                <a:cs typeface="Calibri"/>
              </a:rPr>
              <a:t>Opis</a:t>
            </a:r>
            <a:r>
              <a:rPr lang="pl-PL" sz="1400" b="1" dirty="0">
                <a:solidFill>
                  <a:srgbClr val="E05C4B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pl-PL" sz="14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Klasyfikacja</a:t>
            </a:r>
            <a:r>
              <a:rPr lang="pl-PL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l-PL" sz="14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wstepna</a:t>
            </a:r>
            <a:r>
              <a:rPr lang="pl-PL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z </a:t>
            </a:r>
            <a:r>
              <a:rPr lang="pl-PL" sz="14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szybkich</a:t>
            </a:r>
            <a:r>
              <a:rPr lang="pl-PL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l-PL" sz="14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cech</a:t>
            </a:r>
            <a:r>
              <a:rPr lang="pl-PL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; model </a:t>
            </a:r>
            <a:r>
              <a:rPr lang="pl-PL" sz="14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Bayesowski</a:t>
            </a:r>
            <a:r>
              <a:rPr lang="pl-PL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pl-PL" sz="14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Kod</a:t>
            </a:r>
            <a:r>
              <a:rPr lang="pl-PL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3) </a:t>
            </a:r>
            <a:r>
              <a:rPr lang="pl-PL" sz="14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nastepnie</a:t>
            </a:r>
            <a:r>
              <a:rPr lang="pl-PL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l-PL" sz="14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personalizuje</a:t>
            </a:r>
            <a:r>
              <a:rPr lang="pl-PL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l-PL" sz="1400" i="1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dist_safe</a:t>
            </a:r>
            <a:r>
              <a:rPr lang="pl-PL" sz="14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online</a:t>
            </a:r>
            <a:endParaRPr lang="pl-PL" sz="14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STUDIUM PRZYPADKU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Studium przypadku: robot w szpitalu wielokulturowym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3050" y="1137920"/>
            <a:ext cx="852805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pl-PL" sz="145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</a:t>
            </a:r>
            <a:r>
              <a:rPr lang="pl-PL" sz="14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usługowy na korytarzach szpitalnych; personel z 12 krajów, pacjenci różnych kultur i grup wiekowych</a:t>
            </a:r>
            <a:endParaRPr lang="pl-PL" sz="1450" spc="-60" dirty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pl-PL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detekcji</a:t>
            </a:r>
            <a:r>
              <a:rPr lang="pl-PL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YOLO dla pieszych + </a:t>
            </a:r>
            <a:r>
              <a:rPr lang="pl-PL" sz="145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r>
              <a:rPr lang="pl-PL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5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</a:t>
            </a:r>
            <a:r>
              <a:rPr lang="pl-PL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dla orientacji + </a:t>
            </a:r>
            <a:r>
              <a:rPr lang="pl-PL" sz="145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</a:t>
            </a:r>
            <a:r>
              <a:rPr lang="pl-PL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5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r>
              <a:rPr lang="pl-PL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dla kontaktu wzrokowego</a:t>
            </a:r>
            <a:endParaRPr lang="pl-PL" sz="1450" spc="-40" dirty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pl-PL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domyślny</a:t>
            </a:r>
            <a:r>
              <a:rPr lang="pl-PL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strefa 1,5 m, prędkość max 0,5 m/s, komunikacja głosowa po polsku lub angielsku</a:t>
            </a:r>
            <a:endParaRPr lang="pl-PL" sz="1450" spc="-40" dirty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pl-PL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Adaptacja kulturowa</a:t>
            </a:r>
            <a:r>
              <a:rPr lang="pl-PL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detekcja </a:t>
            </a:r>
            <a:r>
              <a:rPr lang="pl-PL" sz="145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jezyka</a:t>
            </a:r>
            <a:r>
              <a:rPr lang="pl-PL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(ASR) uaktywnia moduł </a:t>
            </a:r>
            <a:r>
              <a:rPr lang="pl-PL" sz="145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proksemiki</a:t>
            </a:r>
            <a:r>
              <a:rPr lang="pl-PL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(+20% dystansu dla kultur nordyckich)</a:t>
            </a:r>
            <a:endParaRPr lang="pl-PL" sz="1450" spc="-40" dirty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pl-PL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Adaptacja do seniora</a:t>
            </a:r>
            <a:r>
              <a:rPr lang="pl-PL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twarz + laska / wózek -&gt; tryb senior: </a:t>
            </a:r>
            <a:r>
              <a:rPr lang="pl-PL" sz="145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v_max</a:t>
            </a:r>
            <a:r>
              <a:rPr lang="pl-PL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0,4 m/s, dystans 1,8 m, glos wolniejszy</a:t>
            </a:r>
            <a:endParaRPr lang="pl-PL" sz="1450" spc="-40" dirty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pl-PL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Adaptacja do dziecka</a:t>
            </a:r>
            <a:r>
              <a:rPr lang="pl-PL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wiek &lt; 14 z rozpoznania twarzy -&gt; tryb dziecko: jeszcze większy dystans, komunikacja prostsza</a:t>
            </a:r>
            <a:endParaRPr lang="pl-PL" sz="1450" spc="-40" dirty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pl-PL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</a:t>
            </a:r>
            <a:r>
              <a:rPr lang="pl-PL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IPS zredukowane o 62% względem klasycznej nawigacji, PSR wzrost o 1,8 pkt (skala 1–7), TTP o 8% </a:t>
            </a:r>
            <a:r>
              <a:rPr lang="pl-PL" sz="145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dluzszy</a:t>
            </a:r>
            <a:endParaRPr lang="pl-PL" sz="1450" spc="-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33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WYZWANIA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Wyzwania i kierunki badań w nawigacji społecznej</a:t>
            </a:r>
            <a:endParaRPr lang="pl-PL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79"/>
            <a:ext cx="4160520" cy="3796446"/>
          </a:xfrm>
          <a:prstGeom prst="rect">
            <a:avLst/>
          </a:prstGeom>
          <a:solidFill>
            <a:srgbClr val="FFF5F5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79"/>
            <a:ext cx="4160520" cy="3796446"/>
          </a:xfrm>
          <a:prstGeom prst="rect">
            <a:avLst/>
          </a:prstGeom>
          <a:solidFill>
            <a:srgbClr val="F0FDF4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Wyzwania techniczne i spoleczne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Kierunki</a:t>
            </a:r>
            <a:r>
              <a:rPr lang="en-US" sz="16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badan </a:t>
            </a:r>
            <a:r>
              <a:rPr lang="en-US" sz="16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(2024-2026)</a:t>
            </a:r>
            <a:endParaRPr lang="en-US" sz="1600">
              <a:latin typeface="Trebuchet M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5750" y="1563030"/>
            <a:ext cx="4149090" cy="3134636"/>
          </a:xfrm>
          <a:prstGeom prst="rect">
            <a:avLst/>
          </a:prstGeom>
          <a:noFill/>
          <a:ln/>
        </p:spPr>
        <p:txBody>
          <a:bodyPr wrap="square" lIns="63500" tIns="36000" rIns="101600" bIns="0" rtlCol="0" anchor="t">
            <a:spAutoFit/>
          </a:bodyPr>
          <a:lstStyle/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Niezawodność detekcji emocji i gestów </a:t>
            </a:r>
            <a:r>
              <a:rPr lang="pl-PL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różnych warunkach oświetlenia i katach widzenia</a:t>
            </a:r>
            <a:endParaRPr lang="pl-PL" sz="1400" spc="-60" dirty="0">
              <a:ea typeface="Calibri" panose="020F0502020204030204"/>
              <a:cs typeface="Calibri" panose="020F0502020204030204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Translacja norm kulturowych </a:t>
            </a:r>
            <a:r>
              <a:rPr lang="pl-PL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 parametry numeryczne bez </a:t>
            </a:r>
            <a:r>
              <a:rPr lang="pl-PL" sz="1400" spc="-6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stereotypizacji</a:t>
            </a:r>
            <a:endParaRPr lang="pl-PL" sz="1400" spc="-6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Zimny start nowego użytkownika</a:t>
            </a:r>
            <a:r>
              <a:rPr lang="pl-PL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brak danych historycznych utrudnia personalizacje</a:t>
            </a:r>
            <a:endParaRPr lang="pl-PL" sz="1400" spc="-60" dirty="0">
              <a:ea typeface="Calibri" panose="020F0502020204030204"/>
              <a:cs typeface="Calibri" panose="020F0502020204030204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Konflikty norm</a:t>
            </a:r>
            <a:r>
              <a:rPr lang="pl-PL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jedna osoba prosi o szybszy ruch, druga </a:t>
            </a:r>
            <a:br>
              <a:rPr lang="pl-PL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tej samej chwili o zwolnienie</a:t>
            </a:r>
            <a:endParaRPr lang="pl-PL" sz="1400" spc="-60" dirty="0">
              <a:ea typeface="Calibri" panose="020F0502020204030204"/>
              <a:cs typeface="Calibri" panose="020F0502020204030204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Prywatność: </a:t>
            </a:r>
            <a:r>
              <a:rPr lang="pl-PL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biometryczna</a:t>
            </a:r>
            <a:r>
              <a:rPr lang="pl-PL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identyfikacja użytkownika wymaga zgody i zasad RODO</a:t>
            </a:r>
            <a:endParaRPr lang="pl-PL" sz="1400" spc="-60" dirty="0">
              <a:ea typeface="Calibri" panose="020F0502020204030204"/>
              <a:cs typeface="Calibri" panose="020F0502020204030204"/>
            </a:endParaRPr>
          </a:p>
          <a:p>
            <a:pPr marL="143510" indent="-143510">
              <a:spcAft>
                <a:spcPts val="800"/>
              </a:spcAft>
              <a:buSzPct val="100000"/>
              <a:buChar char="•"/>
            </a:pPr>
            <a:r>
              <a:rPr lang="pl-PL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Obliczenia w czasie rzeczywistym</a:t>
            </a:r>
            <a:r>
              <a:rPr lang="pl-PL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wielowarstwowa mapa kosztów społecznych musi być odświeżana &lt; 100 ms</a:t>
            </a:r>
            <a:endParaRPr lang="pl-PL" sz="1400" spc="-6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20590" y="1563030"/>
            <a:ext cx="4149090" cy="2908933"/>
          </a:xfrm>
          <a:prstGeom prst="rect">
            <a:avLst/>
          </a:prstGeom>
          <a:noFill/>
          <a:ln/>
        </p:spPr>
        <p:txBody>
          <a:bodyPr wrap="square" lIns="63500" tIns="36000" rIns="101600" bIns="0" rtlCol="0" anchor="t">
            <a:spAutoFit/>
          </a:bodyPr>
          <a:lstStyle/>
          <a:p>
            <a:pPr marL="143510" indent="-143510">
              <a:spcAft>
                <a:spcPts val="14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Foundation models </a:t>
            </a:r>
            <a:r>
              <a:rPr lang="en-US" sz="1400" b="1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dla</a:t>
            </a:r>
            <a:r>
              <a:rPr lang="en-US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HRI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VLM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jako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zrozumialy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interpreter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sygnałow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spolecznych</a:t>
            </a:r>
            <a:endParaRPr lang="en-US" sz="1400" spc="-60" dirty="0" err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400"/>
              </a:spcAft>
              <a:buSzPct val="100000"/>
              <a:buChar char="•"/>
            </a:pPr>
            <a:r>
              <a:rPr lang="en-US" sz="1400" b="1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Uczenie</a:t>
            </a:r>
            <a:r>
              <a:rPr lang="en-US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przez</a:t>
            </a:r>
            <a:r>
              <a:rPr lang="en-US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demonstracje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robot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uczy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sie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norm z </a:t>
            </a:r>
            <a:r>
              <a:rPr lang="pl-PL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filmów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zachowa</a:t>
            </a:r>
            <a:r>
              <a:rPr lang="pl-PL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ń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pieszych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bez </a:t>
            </a:r>
            <a:r>
              <a:rPr lang="pl-PL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ręcznie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l-PL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zdefiniowanych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l-PL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reguł</a:t>
            </a:r>
            <a:endParaRPr lang="en-US" sz="1400" spc="-60" dirty="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4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Teorie </a:t>
            </a:r>
            <a:r>
              <a:rPr lang="en-US" sz="1400" b="1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umyslu</a:t>
            </a:r>
            <a:r>
              <a:rPr lang="en-US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400" b="1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ToM</a:t>
            </a:r>
            <a:r>
              <a:rPr lang="en-US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): 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robot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wnioskuje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pl-PL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intencjach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br>
              <a:rPr lang="pl-PL" sz="1400" spc="-6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stanach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psychicznych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ludzi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z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obserwacji</a:t>
            </a:r>
            <a:endParaRPr lang="en-US" sz="1400" spc="-60" dirty="0" err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4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Swoj </a:t>
            </a:r>
            <a:r>
              <a:rPr lang="en-US" sz="1400" b="1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tlum</a:t>
            </a:r>
            <a:r>
              <a:rPr lang="en-US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vs </a:t>
            </a:r>
            <a:r>
              <a:rPr lang="en-US" sz="1400" b="1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obcy</a:t>
            </a:r>
            <a:r>
              <a:rPr lang="en-US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tlum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wielorobotowe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systemy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spolecznej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nawigacji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z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konsensusem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norm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grupowych</a:t>
            </a:r>
            <a:endParaRPr lang="en-US" sz="1400" spc="-60" dirty="0" err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4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Ewaluacja </a:t>
            </a:r>
            <a:r>
              <a:rPr lang="en-US" sz="1400" b="1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dlugookresowa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pl-PL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badania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l-PL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wielomiesięczne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br>
              <a:rPr lang="pl-PL" sz="1400" spc="-6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szpitalach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biurach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mierzenie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zaufania</a:t>
            </a:r>
            <a:r>
              <a:rPr lang="en-US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w </a:t>
            </a:r>
            <a:r>
              <a:rPr lang="en-US" sz="14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czasie</a:t>
            </a:r>
            <a:endParaRPr lang="en-US" sz="1400" spc="-60" dirty="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921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0" y="840740"/>
            <a:ext cx="3657600" cy="36576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02920" cy="502920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1539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Force Model i ORCA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daja deterministyczne podstawy unikania tlumu; modele danych (Transformer) przewiduja intencje.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947672"/>
            <a:ext cx="502920" cy="502920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97434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Proksemika Halla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definiuje strefy, ktore robot musi szanowac; naruszenie strefy osobistej </a:t>
            </a:r>
            <a:r>
              <a:rPr lang="en-US" sz="16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niszczy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zaufanie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uzytkownik</a:t>
            </a:r>
            <a:r>
              <a:rPr lang="pl-PL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706624"/>
            <a:ext cx="502920" cy="502920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3329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Normy </a:t>
            </a:r>
            <a:r>
              <a:rPr lang="en-US" sz="1600" b="1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kulturowe</a:t>
            </a:r>
            <a:r>
              <a:rPr lang="en-US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istotnie</a:t>
            </a:r>
            <a:r>
              <a:rPr lang="en-US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roznia</a:t>
            </a:r>
            <a:r>
              <a:rPr lang="en-US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sie</a:t>
            </a:r>
            <a:r>
              <a:rPr lang="en-US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w </a:t>
            </a:r>
            <a:r>
              <a:rPr lang="en-US" sz="16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skali</a:t>
            </a:r>
            <a:r>
              <a:rPr lang="en-US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global; robot </a:t>
            </a:r>
            <a:r>
              <a:rPr lang="en-US" sz="16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dzialajacy</a:t>
            </a:r>
            <a:r>
              <a:rPr lang="en-US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w </a:t>
            </a:r>
            <a:r>
              <a:rPr lang="en-US" sz="16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wielu</a:t>
            </a:r>
            <a:r>
              <a:rPr lang="en-US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krajach</a:t>
            </a:r>
            <a:r>
              <a:rPr lang="en-US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wymaga</a:t>
            </a:r>
            <a:r>
              <a:rPr lang="en-US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modulu</a:t>
            </a:r>
            <a:r>
              <a:rPr lang="en-US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adaptacji</a:t>
            </a:r>
            <a:r>
              <a:rPr lang="en-US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kontekstu</a:t>
            </a:r>
            <a:r>
              <a:rPr lang="en-US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kulturowego</a:t>
            </a:r>
            <a:r>
              <a:rPr lang="en-US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3465576"/>
            <a:ext cx="502920" cy="502920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49224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Personalizacja HRI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opiera sie na profilu uzytkownika, uczeniu online preferencji i wielokanalowej komunikacji niewerbalnej.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4224528"/>
            <a:ext cx="502920" cy="502920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25119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Ewaluacja nawigacji spolecznej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metryk jakosci HRI (ITT, PSR, PFC) obok klasycznych wskaznikow nawigacji (RMSE, sukces).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 i pytania problemowe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pl-PL" sz="14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Dlaczego SFM moze generowac oscylacje w waskim korytarzu? </a:t>
            </a:r>
            <a:br>
              <a:rPr lang="pl-PL" dirty="0"/>
            </a:br>
            <a:r>
              <a:rPr lang="pl-PL" sz="14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Zaproponuj modyfikacje parametrow lub dodatkowe ograniczenie, ktore usuwa ten problem.</a:t>
            </a:r>
            <a:endParaRPr lang="pl-PL" sz="14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pl-PL" sz="14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Robot wchodzi miedzy dwie osoby rozmawiajace (O-space). </a:t>
            </a:r>
            <a:br>
              <a:rPr lang="pl-PL" dirty="0"/>
            </a:br>
            <a:r>
              <a:rPr lang="pl-PL" sz="14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Jakie sygnaly zachowania powinny temu zapobiec i jak je zakodowac w mapie kosztow?</a:t>
            </a:r>
            <a:endParaRPr lang="pl-PL" sz="14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pl-PL" sz="14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Uzytkownik z Japonii oczekuje dystansu 1,5 m, a uzytkownik z Brazylii 0,7 m. </a:t>
            </a:r>
            <a:br>
              <a:rPr lang="pl-PL" dirty="0"/>
            </a:br>
            <a:r>
              <a:rPr lang="pl-PL" sz="14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Jak w jednym systemie obs luzyc obie preferencje bez recznie wprowadzonych warunkow?</a:t>
            </a:r>
            <a:endParaRPr lang="pl-PL" sz="1450">
              <a:latin typeface="Calibri"/>
              <a:ea typeface="Calibri"/>
              <a:cs typeface="Calibri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pl-PL" sz="145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Zadanie</a:t>
            </a:r>
            <a:r>
              <a:rPr lang="pl-PL" sz="14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zaimplementuj klase SocialCostmap z anizotropowym Gaussem (kod 2) i przetestuj ją na symulowanej scenie z 5 pieszymi poruszajacymi sie w roznych kierunkach. Zwizualizuj wynikowa mape kosztow i sprawdz, ze planista A* omija ludzi z boku, nie z przodu.</a:t>
            </a:r>
            <a:endParaRPr lang="pl-PL" sz="1450">
              <a:latin typeface="Calibri"/>
              <a:ea typeface="Calibri"/>
              <a:cs typeface="Calibri"/>
            </a:endParaRPr>
          </a:p>
          <a:p>
            <a:pPr>
              <a:spcAft>
                <a:spcPts val="900"/>
              </a:spcAft>
              <a:buSzPct val="100000"/>
            </a:pPr>
            <a:r>
              <a:rPr lang="pl-PL" sz="145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Bonus</a:t>
            </a:r>
            <a:r>
              <a:rPr lang="pl-PL" sz="14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zintegruj DistancePreferenceModel (kod 3) z Nav2 jako dynamiczny mnoznik strefy inflacji i pokaz zbieznosc preferencji dla 3 roznych profilow uzytkownikow w symulacji.</a:t>
            </a:r>
            <a:endParaRPr lang="pl-PL" sz="14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4268</Words>
  <Application>Microsoft Office PowerPoint</Application>
  <PresentationFormat>Pokaz na ekranie (16:9)</PresentationFormat>
  <Paragraphs>390</Paragraphs>
  <Slides>29</Slides>
  <Notes>29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29</vt:i4>
      </vt:variant>
    </vt:vector>
  </HeadingPairs>
  <TitlesOfParts>
    <vt:vector size="30" baseType="lpstr"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Wyklad 7 – Nawigacja spoleczna: tlumy, normy kulturowe, HRI</dc:title>
  <dc:subject>PptxGenJS Presentation</dc:subject>
  <dc:creator>Politechnika – Katedra Robotyki</dc:creator>
  <cp:lastModifiedBy>Mateusz Pomianek</cp:lastModifiedBy>
  <cp:revision>173</cp:revision>
  <dcterms:created xsi:type="dcterms:W3CDTF">2026-04-23T20:52:38Z</dcterms:created>
  <dcterms:modified xsi:type="dcterms:W3CDTF">2026-07-20T09:57:59Z</dcterms:modified>
</cp:coreProperties>
</file>