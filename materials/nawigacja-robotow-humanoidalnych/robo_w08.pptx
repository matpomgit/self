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0505"/>
    <a:srgbClr val="3865B6"/>
    <a:srgbClr val="D6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811BB0-51EE-AE36-C759-CE4E295D7B8F}" v="196" dt="2026-07-20T10:11:56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z Pomianek" userId="S::mpomianek@o365.prz.edu.pl::3d638ea4-2586-4d1a-a8fd-db8a3798db81" providerId="AD" clId="Web-{7F811BB0-51EE-AE36-C759-CE4E295D7B8F}"/>
    <pc:docChg chg="modSld">
      <pc:chgData name="Mateusz Pomianek" userId="S::mpomianek@o365.prz.edu.pl::3d638ea4-2586-4d1a-a8fd-db8a3798db81" providerId="AD" clId="Web-{7F811BB0-51EE-AE36-C759-CE4E295D7B8F}" dt="2026-07-20T10:11:56.366" v="137" actId="20577"/>
      <pc:docMkLst>
        <pc:docMk/>
      </pc:docMkLst>
      <pc:sldChg chg="modSp">
        <pc:chgData name="Mateusz Pomianek" userId="S::mpomianek@o365.prz.edu.pl::3d638ea4-2586-4d1a-a8fd-db8a3798db81" providerId="AD" clId="Web-{7F811BB0-51EE-AE36-C759-CE4E295D7B8F}" dt="2026-07-20T10:00:01.628" v="4" actId="20577"/>
        <pc:sldMkLst>
          <pc:docMk/>
          <pc:sldMk cId="0" sldId="256"/>
        </pc:sldMkLst>
        <pc:spChg chg="mod">
          <ac:chgData name="Mateusz Pomianek" userId="S::mpomianek@o365.prz.edu.pl::3d638ea4-2586-4d1a-a8fd-db8a3798db81" providerId="AD" clId="Web-{7F811BB0-51EE-AE36-C759-CE4E295D7B8F}" dt="2026-07-20T10:00:01.628" v="4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00:12.879" v="12" actId="20577"/>
        <pc:sldMkLst>
          <pc:docMk/>
          <pc:sldMk cId="0" sldId="257"/>
        </pc:sldMkLst>
        <pc:spChg chg="mod">
          <ac:chgData name="Mateusz Pomianek" userId="S::mpomianek@o365.prz.edu.pl::3d638ea4-2586-4d1a-a8fd-db8a3798db81" providerId="AD" clId="Web-{7F811BB0-51EE-AE36-C759-CE4E295D7B8F}" dt="2026-07-20T10:00:06.238" v="6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0:10.519" v="10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0:08.144" v="8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0:12.879" v="12" actId="20577"/>
          <ac:spMkLst>
            <pc:docMk/>
            <pc:sldMk cId="0" sldId="257"/>
            <ac:spMk id="20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09:48.341" v="123" actId="20577"/>
        <pc:sldMkLst>
          <pc:docMk/>
          <pc:sldMk cId="0" sldId="259"/>
        </pc:sldMkLst>
        <pc:spChg chg="mod">
          <ac:chgData name="Mateusz Pomianek" userId="S::mpomianek@o365.prz.edu.pl::3d638ea4-2586-4d1a-a8fd-db8a3798db81" providerId="AD" clId="Web-{7F811BB0-51EE-AE36-C759-CE4E295D7B8F}" dt="2026-07-20T10:00:19.645" v="13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9:48.341" v="123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09:20.745" v="120" actId="20577"/>
        <pc:sldMkLst>
          <pc:docMk/>
          <pc:sldMk cId="0" sldId="262"/>
        </pc:sldMkLst>
        <pc:spChg chg="mod">
          <ac:chgData name="Mateusz Pomianek" userId="S::mpomianek@o365.prz.edu.pl::3d638ea4-2586-4d1a-a8fd-db8a3798db81" providerId="AD" clId="Web-{7F811BB0-51EE-AE36-C759-CE4E295D7B8F}" dt="2026-07-20T10:09:20.745" v="120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8:50.821" v="115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8:40.836" v="112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8:47.743" v="114" actId="20577"/>
          <ac:spMkLst>
            <pc:docMk/>
            <pc:sldMk cId="0" sldId="262"/>
            <ac:spMk id="19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10:21.406" v="125" actId="20577"/>
        <pc:sldMkLst>
          <pc:docMk/>
          <pc:sldMk cId="0" sldId="263"/>
        </pc:sldMkLst>
        <pc:spChg chg="mod">
          <ac:chgData name="Mateusz Pomianek" userId="S::mpomianek@o365.prz.edu.pl::3d638ea4-2586-4d1a-a8fd-db8a3798db81" providerId="AD" clId="Web-{7F811BB0-51EE-AE36-C759-CE4E295D7B8F}" dt="2026-07-20T10:10:21.406" v="125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08:26.476" v="109" actId="1076"/>
        <pc:sldMkLst>
          <pc:docMk/>
          <pc:sldMk cId="0" sldId="269"/>
        </pc:sldMkLst>
        <pc:spChg chg="mod">
          <ac:chgData name="Mateusz Pomianek" userId="S::mpomianek@o365.prz.edu.pl::3d638ea4-2586-4d1a-a8fd-db8a3798db81" providerId="AD" clId="Web-{7F811BB0-51EE-AE36-C759-CE4E295D7B8F}" dt="2026-07-20T10:08:21.272" v="107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8:21.288" v="108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8:26.476" v="109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8:12.569" v="105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8:12.584" v="106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8:05.381" v="101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8:05.412" v="102" actId="1076"/>
          <ac:spMkLst>
            <pc:docMk/>
            <pc:sldMk cId="0" sldId="269"/>
            <ac:spMk id="13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10:32" v="126" actId="20577"/>
        <pc:sldMkLst>
          <pc:docMk/>
          <pc:sldMk cId="0" sldId="270"/>
        </pc:sldMkLst>
        <pc:spChg chg="mod">
          <ac:chgData name="Mateusz Pomianek" userId="S::mpomianek@o365.prz.edu.pl::3d638ea4-2586-4d1a-a8fd-db8a3798db81" providerId="AD" clId="Web-{7F811BB0-51EE-AE36-C759-CE4E295D7B8F}" dt="2026-07-20T10:10:32" v="126" actId="20577"/>
          <ac:spMkLst>
            <pc:docMk/>
            <pc:sldMk cId="0" sldId="270"/>
            <ac:spMk id="5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10:39.360" v="127" actId="20577"/>
        <pc:sldMkLst>
          <pc:docMk/>
          <pc:sldMk cId="0" sldId="271"/>
        </pc:sldMkLst>
        <pc:spChg chg="mod">
          <ac:chgData name="Mateusz Pomianek" userId="S::mpomianek@o365.prz.edu.pl::3d638ea4-2586-4d1a-a8fd-db8a3798db81" providerId="AD" clId="Web-{7F811BB0-51EE-AE36-C759-CE4E295D7B8F}" dt="2026-07-20T10:10:39.360" v="127" actId="20577"/>
          <ac:spMkLst>
            <pc:docMk/>
            <pc:sldMk cId="0" sldId="271"/>
            <ac:spMk id="8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02:12.637" v="33" actId="20577"/>
        <pc:sldMkLst>
          <pc:docMk/>
          <pc:sldMk cId="0" sldId="272"/>
        </pc:sldMkLst>
        <pc:spChg chg="mod">
          <ac:chgData name="Mateusz Pomianek" userId="S::mpomianek@o365.prz.edu.pl::3d638ea4-2586-4d1a-a8fd-db8a3798db81" providerId="AD" clId="Web-{7F811BB0-51EE-AE36-C759-CE4E295D7B8F}" dt="2026-07-20T10:02:12.637" v="33" actId="20577"/>
          <ac:spMkLst>
            <pc:docMk/>
            <pc:sldMk cId="0" sldId="272"/>
            <ac:spMk id="7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10:54.908" v="128" actId="1076"/>
        <pc:sldMkLst>
          <pc:docMk/>
          <pc:sldMk cId="0" sldId="275"/>
        </pc:sldMkLst>
        <pc:spChg chg="mod">
          <ac:chgData name="Mateusz Pomianek" userId="S::mpomianek@o365.prz.edu.pl::3d638ea4-2586-4d1a-a8fd-db8a3798db81" providerId="AD" clId="Web-{7F811BB0-51EE-AE36-C759-CE4E295D7B8F}" dt="2026-07-20T10:10:54.908" v="128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04:54.680" v="69" actId="20577"/>
          <ac:spMkLst>
            <pc:docMk/>
            <pc:sldMk cId="0" sldId="275"/>
            <ac:spMk id="7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11:56.366" v="137" actId="20577"/>
        <pc:sldMkLst>
          <pc:docMk/>
          <pc:sldMk cId="0" sldId="278"/>
        </pc:sldMkLst>
        <pc:spChg chg="mod">
          <ac:chgData name="Mateusz Pomianek" userId="S::mpomianek@o365.prz.edu.pl::3d638ea4-2586-4d1a-a8fd-db8a3798db81" providerId="AD" clId="Web-{7F811BB0-51EE-AE36-C759-CE4E295D7B8F}" dt="2026-07-20T10:11:50.006" v="135" actId="20577"/>
          <ac:spMkLst>
            <pc:docMk/>
            <pc:sldMk cId="0" sldId="278"/>
            <ac:spMk id="8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11:56.366" v="137" actId="20577"/>
          <ac:spMkLst>
            <pc:docMk/>
            <pc:sldMk cId="0" sldId="278"/>
            <ac:spMk id="12" creationId="{00000000-0000-0000-0000-000000000000}"/>
          </ac:spMkLst>
        </pc:spChg>
        <pc:spChg chg="mod">
          <ac:chgData name="Mateusz Pomianek" userId="S::mpomianek@o365.prz.edu.pl::3d638ea4-2586-4d1a-a8fd-db8a3798db81" providerId="AD" clId="Web-{7F811BB0-51EE-AE36-C759-CE4E295D7B8F}" dt="2026-07-20T10:11:53.241" v="136" actId="20577"/>
          <ac:spMkLst>
            <pc:docMk/>
            <pc:sldMk cId="0" sldId="278"/>
            <ac:spMk id="16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11:11.800" v="129" actId="20577"/>
        <pc:sldMkLst>
          <pc:docMk/>
          <pc:sldMk cId="0" sldId="279"/>
        </pc:sldMkLst>
        <pc:spChg chg="mod">
          <ac:chgData name="Mateusz Pomianek" userId="S::mpomianek@o365.prz.edu.pl::3d638ea4-2586-4d1a-a8fd-db8a3798db81" providerId="AD" clId="Web-{7F811BB0-51EE-AE36-C759-CE4E295D7B8F}" dt="2026-07-20T10:11:11.800" v="129" actId="20577"/>
          <ac:spMkLst>
            <pc:docMk/>
            <pc:sldMk cId="0" sldId="279"/>
            <ac:spMk id="20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7F811BB0-51EE-AE36-C759-CE4E295D7B8F}" dt="2026-07-20T10:11:25.302" v="131" actId="20577"/>
        <pc:sldMkLst>
          <pc:docMk/>
          <pc:sldMk cId="0" sldId="280"/>
        </pc:sldMkLst>
        <pc:spChg chg="mod">
          <ac:chgData name="Mateusz Pomianek" userId="S::mpomianek@o365.prz.edu.pl::3d638ea4-2586-4d1a-a8fd-db8a3798db81" providerId="AD" clId="Web-{7F811BB0-51EE-AE36-C759-CE4E295D7B8F}" dt="2026-07-20T10:11:25.302" v="131" actId="20577"/>
          <ac:spMkLst>
            <pc:docMk/>
            <pc:sldMk cId="0" sldId="28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72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8872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ROBOTOW HUMANOIDALNYCH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234440"/>
            <a:ext cx="4437814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</a:t>
            </a:r>
            <a:r>
              <a:rPr lang="pl-PL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Ł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8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900" b="1" dirty="0" err="1">
                <a:solidFill>
                  <a:srgbClr val="86EFAC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Uczenie</a:t>
            </a:r>
            <a:r>
              <a:rPr lang="en-US" sz="1900" b="1" dirty="0">
                <a:solidFill>
                  <a:srgbClr val="86EFAC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900" b="1" dirty="0" err="1">
                <a:solidFill>
                  <a:srgbClr val="86EFAC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przez</a:t>
            </a:r>
            <a:r>
              <a:rPr lang="en-US" sz="1900" b="1" dirty="0">
                <a:solidFill>
                  <a:srgbClr val="86EFAC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900" b="1" dirty="0" err="1">
                <a:solidFill>
                  <a:srgbClr val="86EFAC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wzmacnianie</a:t>
            </a:r>
            <a:endParaRPr lang="en-US" sz="1600" dirty="0" err="1">
              <a:solidFill>
                <a:srgbClr val="000000"/>
              </a:solidFill>
              <a:latin typeface="Trebuchet MS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 </a:t>
            </a:r>
            <a:r>
              <a:rPr lang="en-US" sz="1600" dirty="0" err="1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nawigacji</a:t>
            </a:r>
            <a:r>
              <a:rPr lang="en-US" sz="1600" dirty="0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</a:t>
            </a:r>
            <a:r>
              <a:rPr lang="en-US" sz="1600" dirty="0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lokomocji</a:t>
            </a:r>
            <a:r>
              <a:rPr lang="en-US" sz="1600" dirty="0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90E0E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humanoidow</a:t>
            </a:r>
            <a:endParaRPr lang="en-US" sz="1600">
              <a:latin typeface="Trebuchet M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" y="2926080"/>
            <a:ext cx="57607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295745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Podstawy RL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PPO / SAC / TD3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Sim-to-real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chemeClr val="accent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Lokomocja + Nav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wykladu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605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Sekcja</a:t>
            </a:r>
            <a:r>
              <a:rPr lang="en-US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1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880921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Podstawy RL: MDP, polityka, nagroda, algorytmy model-free (PPO, SAC, TD3) - od intuicji do wzoru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416052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61872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Sekcja</a:t>
            </a:r>
            <a:r>
              <a:rPr lang="en-US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2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0600" y="1880921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 lokomocji humanoidow: trenowanie chodu, biegania, wchodzenia na schody w MuJoCo / Isaac Sim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99008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90088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81528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Sekcja</a:t>
            </a:r>
            <a:r>
              <a:rPr lang="en-US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3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3700577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 nawigacji spolecznej i integracja z ROS 2: reward shaping, curriculum, sim-to-real, wdrożenie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990088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90088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081528"/>
            <a:ext cx="397764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600" y="3700577"/>
            <a:ext cx="3977640" cy="91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Petla RL (Gym), PPO sketch, reward humanoid, curriculum, node ROS 2 z polityka RL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6A34A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Podstawy uczenia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przez wzmacnianie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MDP, polityka, nagroda, Value function, algorytmy model-free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INTUICJA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Intuicja: </a:t>
            </a: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przez doswiadczenie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37150" y="1082911"/>
            <a:ext cx="8678250" cy="25940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086" y="1132668"/>
            <a:ext cx="8538858" cy="243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Dziecko uczy się chodzić przez tysiące prób i upadków:</a:t>
            </a:r>
            <a:r>
              <a:rPr lang="pl-PL" sz="14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nikt nie pisze mu równania kinematyki</a:t>
            </a:r>
            <a:endParaRPr lang="pl-PL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Każda próba dostarcza sygnału</a:t>
            </a:r>
            <a:r>
              <a:rPr lang="pl-PL" sz="14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upadłeś (kara) lub zrobiłeś krok (nagroda) - mozg aktualizuje strategie</a:t>
            </a:r>
            <a:endParaRPr lang="pl-PL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 wystarczająco wielu próbach </a:t>
            </a:r>
            <a:r>
              <a:rPr lang="pl-PL" sz="14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dziecko chodzi płynnie, bez świadomej analizy każdego mięśnia</a:t>
            </a:r>
            <a:endParaRPr lang="pl-PL" sz="1400" dirty="0"/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dirty="0" err="1">
                <a:solidFill>
                  <a:srgbClr val="0D1B2A"/>
                </a:solidFill>
                <a:ea typeface="Calibri"/>
                <a:cs typeface="Calibri"/>
              </a:rPr>
              <a:t>Reinforcement</a:t>
            </a:r>
            <a:r>
              <a:rPr lang="pl-PL" sz="1400" b="1" dirty="0">
                <a:solidFill>
                  <a:srgbClr val="0D1B2A"/>
                </a:solidFill>
                <a:ea typeface="Calibri"/>
                <a:cs typeface="Calibri"/>
              </a:rPr>
              <a:t> Learning (RL) replikuje ten mechanizm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: agent (robot) + środowisko + nagroda </a:t>
            </a:r>
            <a:r>
              <a:rPr lang="pl-PL" sz="14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r_t</a:t>
            </a:r>
            <a:endParaRPr lang="pl-PL" sz="140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dirty="0">
                <a:solidFill>
                  <a:srgbClr val="0D1B2A"/>
                </a:solidFill>
                <a:ea typeface="Calibri"/>
                <a:cs typeface="Calibri"/>
              </a:rPr>
              <a:t>Klucz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: robot NIE potrzebuje modelu dynamiki ani ręcznie zakodowanych reguł - uczy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sie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 sam z interakcji</a:t>
            </a:r>
            <a:endParaRPr lang="pl-PL" sz="1400" dirty="0">
              <a:ea typeface="Calibri"/>
              <a:cs typeface="Calibri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Przewaga nad klasycznym sterowaniem</a:t>
            </a:r>
            <a:r>
              <a:rPr lang="pl-PL" sz="14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generalizacja do nieprzewidzianych warunków (nierówny teren, pchnięcia)</a:t>
            </a:r>
            <a:endParaRPr lang="pl-PL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Wyzwanie</a:t>
            </a:r>
            <a:r>
              <a:rPr lang="pl-PL" sz="14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potrzeba milionów kroków interakcji; w robotyce fizycznej = dni; stąd symulacja jako pośrednik</a:t>
            </a:r>
            <a:endParaRPr lang="pl-PL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MDP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Markowski Proces Decyzyjny (MDP)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formalizacja RL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57200" y="1207008"/>
                <a:ext cx="8229600" cy="3547872"/>
              </a:xfrm>
              <a:prstGeom prst="rect">
                <a:avLst/>
              </a:prstGeom>
              <a:noFill/>
              <a:ln/>
            </p:spPr>
            <p:txBody>
              <a:bodyPr wrap="square" lIns="127000" tIns="127000" rIns="127000" bIns="127000" rtlCol="0" anchor="t"/>
              <a:lstStyle/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MDP definiują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pl-PL" sz="1400" spc="-40" dirty="0">
                    <a:solidFill>
                      <a:schemeClr val="accent2"/>
                    </a:solidFill>
                    <a:ea typeface="Calibri" pitchFamily="34" charset="-122"/>
                    <a:cs typeface="Calibri" pitchFamily="34" charset="-120"/>
                  </a:rPr>
                  <a:t>S - przestrzeń stanów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pl-PL" sz="1400" spc="-40" dirty="0">
                    <a:solidFill>
                      <a:schemeClr val="accent6"/>
                    </a:solidFill>
                    <a:ea typeface="Calibri" pitchFamily="34" charset="-122"/>
                    <a:cs typeface="Calibri" pitchFamily="34" charset="-120"/>
                  </a:rPr>
                  <a:t>A - przestrzeń akcji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𝑃</m:t>
                    </m:r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</m:t>
                    </m:r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′|</m:t>
                    </m:r>
                    <m:r>
                      <a:rPr lang="pl-PL" sz="1400" i="1" spc="-40" dirty="0" err="1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</m:t>
                    </m:r>
                    <m:r>
                      <a:rPr lang="pl-PL" sz="1400" i="1" spc="-40" dirty="0" err="1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r>
                      <a:rPr lang="pl-PL" sz="1400" i="1" spc="-40" dirty="0" err="1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400" i="1" spc="-40" dirty="0" smtClean="0">
                        <a:solidFill>
                          <a:srgbClr val="D6A3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</m:t>
                    </m:r>
                  </m:oMath>
                </a14:m>
                <a:r>
                  <a:rPr lang="pl-PL" sz="1400" spc="-40" dirty="0">
                    <a:solidFill>
                      <a:srgbClr val="D6A300"/>
                    </a:solidFill>
                    <a:ea typeface="Calibri" pitchFamily="34" charset="-122"/>
                    <a:cs typeface="Calibri" pitchFamily="34" charset="-120"/>
                  </a:rPr>
                  <a:t>- model przejścia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1400" i="1" spc="-4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𝑟</m:t>
                    </m:r>
                    <m:r>
                      <a:rPr lang="pl-PL" sz="1400" i="1" spc="-4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pl-PL" sz="1400" i="1" spc="-4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</m:t>
                    </m:r>
                    <m:r>
                      <a:rPr lang="pl-PL" sz="1400" i="1" spc="-4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r>
                      <a:rPr lang="pl-PL" sz="1400" i="1" spc="-4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400" i="1" spc="-4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</m:t>
                    </m:r>
                  </m:oMath>
                </a14:m>
                <a:r>
                  <a:rPr lang="pl-PL" sz="1400" spc="-40" dirty="0">
                    <a:solidFill>
                      <a:srgbClr val="FF0000"/>
                    </a:solidFill>
                    <a:ea typeface="Calibri" pitchFamily="34" charset="-122"/>
                    <a:cs typeface="Calibri" pitchFamily="34" charset="-120"/>
                  </a:rPr>
                  <a:t>- nagroda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, </a:t>
                </a:r>
                <a:b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</a:br>
                <a:r>
                  <a:rPr lang="pl-PL" sz="1400" spc="-40" dirty="0">
                    <a:solidFill>
                      <a:srgbClr val="3865B6"/>
                    </a:solidFill>
                    <a:ea typeface="Calibri" pitchFamily="34" charset="-122"/>
                    <a:cs typeface="Calibri" pitchFamily="34" charset="-120"/>
                  </a:rPr>
                  <a:t>gamma - współczynnik dyskontowania</a:t>
                </a:r>
                <a:endParaRPr lang="pl-PL" sz="1400" spc="-40" dirty="0">
                  <a:solidFill>
                    <a:srgbClr val="3865B6"/>
                  </a:solidFill>
                </a:endParaRPr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Stan </a:t>
                </a:r>
                <a:r>
                  <a:rPr lang="pl-PL" sz="1400" b="1" spc="-4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s_t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dla </a:t>
                </a:r>
                <a:r>
                  <a:rPr lang="pl-PL" sz="1400" spc="-4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humanoida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= </a:t>
                </a:r>
                <a14:m>
                  <m:oMath xmlns:m="http://schemas.openxmlformats.org/officeDocument/2006/math"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[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𝑞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𝑑𝑞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𝑜𝑟𝑖𝑒𝑛𝑡𝑎𝑐𝑗𝑎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𝐼𝑀𝑈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𝑘𝑜𝑛𝑡𝑎𝑘𝑡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𝑠𝑡𝑜𝑝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𝑐𝑒𝑙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𝑥𝑦𝑧</m:t>
                    </m:r>
                    <m:r>
                      <a:rPr lang="pl-PL" sz="1400" i="1" spc="-4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] </m:t>
                    </m:r>
                  </m:oMath>
                </a14:m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- typowo 40-80 wymiarów</a:t>
                </a:r>
                <a:endParaRPr lang="pl-PL" sz="1400" spc="-4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Akcja </a:t>
                </a:r>
                <a:r>
                  <a:rPr lang="pl-PL" sz="1400" b="1" spc="-4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a_t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komendy momentów stawowych [</a:t>
                </a:r>
                <a:r>
                  <a:rPr lang="pl-PL" sz="1400" spc="-4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Nm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] lub docelowe katy stawów [rad] - 12-30 wymiarów</a:t>
                </a:r>
                <a:endParaRPr lang="pl-PL" sz="1400" spc="-4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Nagroda </a:t>
                </a:r>
                <a:r>
                  <a:rPr lang="pl-PL" sz="1400" b="1" spc="-4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r_t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funkcja zaprojektowana przez inżyniera; klucz do sukcesu całego treningu</a:t>
                </a:r>
                <a:endParaRPr lang="pl-PL" sz="1400" spc="-4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Cel agenta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maksymalizacja sumy zdyskontowanych nagród </a:t>
                </a:r>
                <a14:m>
                  <m:oMath xmlns:m="http://schemas.openxmlformats.org/officeDocument/2006/math"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𝐺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𝑠𝑢𝑚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_{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=0}^{</m:t>
                    </m:r>
                    <m:r>
                      <m:rPr>
                        <m:sty m:val="p"/>
                      </m:rP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inf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} 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𝑔𝑎𝑚𝑚𝑎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^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∗ 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𝑟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_{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+</m:t>
                    </m:r>
                    <m:r>
                      <a:rPr lang="pl-PL" sz="14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  <m:r>
                      <a:rPr lang="pl-PL" sz="14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}</m:t>
                    </m:r>
                  </m:oMath>
                </a14:m>
                <a:endParaRPr lang="pl-PL" sz="1400" spc="-40" dirty="0">
                  <a:solidFill>
                    <a:schemeClr val="accent1"/>
                  </a:solidFill>
                  <a:latin typeface="Graduate" panose="02000503000000020004" pitchFamily="2" charset="0"/>
                </a:endParaRPr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Polityka pi(</a:t>
                </a:r>
                <a:r>
                  <a:rPr lang="pl-PL" sz="1400" b="1" spc="-4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a|s</a:t>
                </a:r>
                <a:r>
                  <a:rPr lang="pl-PL" sz="1400" b="1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): </a:t>
                </a:r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funkcja mapująca stan na rozkład akcji; parametryzowana siecią neuronowa </a:t>
                </a:r>
                <a:r>
                  <a:rPr lang="pl-PL" sz="1400" spc="-4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theta</a:t>
                </a:r>
                <a:endParaRPr lang="pl-PL" sz="1400" spc="-4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Value </a:t>
                </a:r>
                <a:r>
                  <a:rPr lang="pl-PL" sz="1400" b="1" spc="-4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function</a:t>
                </a:r>
                <a:r>
                  <a:rPr lang="pl-PL" sz="1400" b="1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𝑽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= 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𝑬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[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𝑮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𝒕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| 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𝒕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</m:t>
                    </m:r>
                    <m:r>
                      <a:rPr lang="pl-PL" sz="1400" b="1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]: </m:t>
                    </m:r>
                  </m:oMath>
                </a14:m>
                <a:r>
                  <a:rPr lang="pl-PL" sz="1400" spc="-4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ocena jak dobry jest dany stan przy optymalnej polityce</a:t>
                </a:r>
                <a:endParaRPr lang="pl-PL" sz="1400" spc="-4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07008"/>
                <a:ext cx="8229600" cy="3547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ALGORYTMY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Porównanie </a:t>
            </a:r>
            <a:r>
              <a:rPr lang="pl-PL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algorytmow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RL model-free </a:t>
            </a:r>
            <a:endParaRPr lang="en-US" sz="2200" dirty="0">
              <a:latin typeface="Trebuchet MS" panose="020B0603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23819" cy="26432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723819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245" y="1248489"/>
            <a:ext cx="25359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b="1" spc="-4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PPO (Proximal Policy Opt.)</a:t>
            </a:r>
            <a:endParaRPr lang="en-US" sz="1600" spc="-40" dirty="0"/>
          </a:p>
        </p:txBody>
      </p:sp>
      <p:sp>
        <p:nvSpPr>
          <p:cNvPr id="9" name="Text 7"/>
          <p:cNvSpPr/>
          <p:nvPr/>
        </p:nvSpPr>
        <p:spPr>
          <a:xfrm>
            <a:off x="291885" y="1645920"/>
            <a:ext cx="2668074" cy="2005677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On-policy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uczy sie z biezacej polityki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Clip loss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kontroluje wielkosc aktualizacji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Stabilny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latwy w implementacji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Popularny w lokomocji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(IsaacGym)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Wymaga duzo danych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(on-policy)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Ref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Schulman et al., 2017</a:t>
            </a:r>
            <a:endParaRPr lang="en-US" sz="1200" spc="-40" dirty="0"/>
          </a:p>
        </p:txBody>
      </p:sp>
      <p:sp>
        <p:nvSpPr>
          <p:cNvPr id="10" name="Shape 8"/>
          <p:cNvSpPr/>
          <p:nvPr/>
        </p:nvSpPr>
        <p:spPr>
          <a:xfrm>
            <a:off x="3232951" y="1170432"/>
            <a:ext cx="2723819" cy="26432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2951" y="1170432"/>
            <a:ext cx="2723819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875" y="1248489"/>
            <a:ext cx="25359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SAC (Soft Actor-Critic)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50515" y="1645920"/>
            <a:ext cx="2668074" cy="2005677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Off-policy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replay buffer, probkowanie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Maksymalizuje nagrode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+ entropia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Probkowanie efektywniejsze niz PPO</a:t>
            </a:r>
            <a:endParaRPr lang="en-US" sz="1200" b="1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Nadaje sie do zadan ciaglych</a:t>
            </a:r>
            <a:endParaRPr lang="en-US" sz="1200" b="1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Dwa krytycy Q1, Q2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- stabilnosc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Ref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Haarnoja et al., 2018</a:t>
            </a:r>
            <a:endParaRPr lang="en-US" sz="1200" spc="-40" dirty="0"/>
          </a:p>
        </p:txBody>
      </p:sp>
      <p:sp>
        <p:nvSpPr>
          <p:cNvPr id="14" name="Shape 12"/>
          <p:cNvSpPr/>
          <p:nvPr/>
        </p:nvSpPr>
        <p:spPr>
          <a:xfrm>
            <a:off x="6191581" y="1170432"/>
            <a:ext cx="2723819" cy="26432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1581" y="1170432"/>
            <a:ext cx="2723819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5506" y="1248489"/>
            <a:ext cx="25359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TD3 (Twin Delayed DDPG)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09146" y="1645920"/>
            <a:ext cx="2668074" cy="2005677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Off-policy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deterministyczna polityka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6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Dwa</a:t>
            </a:r>
            <a:r>
              <a:rPr lang="en-US" sz="1200" b="1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Q-networks</a:t>
            </a:r>
            <a:r>
              <a:rPr lang="pl-PL" sz="1200" b="1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redukuje overestimation</a:t>
            </a:r>
            <a:endParaRPr lang="en-US" sz="12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Opozniona aktualizacja aktora</a:t>
            </a:r>
            <a:endParaRPr lang="en-US" sz="1200" b="1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Szybki w zadaniach manipulacji</a:t>
            </a:r>
            <a:endParaRPr lang="en-US" sz="1200" b="1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Dobry punkt startowy 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dla robotykow</a:t>
            </a:r>
            <a:endParaRPr lang="en-US" sz="12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Ref</a:t>
            </a:r>
            <a:r>
              <a:rPr lang="en-US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Fujimoto et al., 2018</a:t>
            </a:r>
            <a:endParaRPr lang="en-US" sz="1200" spc="-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ARCHITEKTURA 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aktor-krytyk (Actor-Critic)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5524314" cy="561173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70432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Stan </a:t>
            </a:r>
            <a:r>
              <a:rPr lang="en-US" sz="1600" b="1" dirty="0" err="1">
                <a:solidFill>
                  <a:srgbClr val="FFFFFF"/>
                </a:solidFill>
                <a:latin typeface="Consolas"/>
                <a:ea typeface="Trebuchet MS" pitchFamily="34" charset="-122"/>
                <a:cs typeface="Trebuchet MS" pitchFamily="34" charset="-120"/>
              </a:rPr>
              <a:t>s_t</a:t>
            </a:r>
            <a:endParaRPr lang="en-US" sz="1600">
              <a:latin typeface="Consola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04538" y="1170432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Propriocepcja + cel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[q, dq, IMU, contact, goal_dir] - wejście do obu sieci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44368" y="1739421"/>
            <a:ext cx="54864" cy="7815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25394"/>
            <a:ext cx="5524314" cy="56117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825394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Aktor </a:t>
            </a:r>
            <a:r>
              <a:rPr lang="en-US" sz="1600" b="1" dirty="0">
                <a:solidFill>
                  <a:srgbClr val="FFFFFF"/>
                </a:solidFill>
                <a:latin typeface="Consolas"/>
                <a:ea typeface="Trebuchet MS" pitchFamily="34" charset="-122"/>
                <a:cs typeface="Trebuchet MS" pitchFamily="34" charset="-120"/>
              </a:rPr>
              <a:t>pi(</a:t>
            </a:r>
            <a:r>
              <a:rPr lang="en-US" sz="1600" b="1" dirty="0" err="1">
                <a:solidFill>
                  <a:srgbClr val="FFFFFF"/>
                </a:solidFill>
                <a:latin typeface="Consolas"/>
                <a:ea typeface="Trebuchet MS" pitchFamily="34" charset="-122"/>
                <a:cs typeface="Trebuchet MS" pitchFamily="34" charset="-120"/>
              </a:rPr>
              <a:t>a|s</a:t>
            </a:r>
            <a:r>
              <a:rPr lang="en-US" sz="1600" b="1" dirty="0">
                <a:solidFill>
                  <a:srgbClr val="FFFFFF"/>
                </a:solidFill>
                <a:latin typeface="Consolas"/>
                <a:ea typeface="Trebuchet MS" pitchFamily="34" charset="-122"/>
                <a:cs typeface="Trebuchet MS" pitchFamily="34" charset="-120"/>
              </a:rPr>
              <a:t>)</a:t>
            </a:r>
            <a:endParaRPr lang="en-US" sz="1600">
              <a:latin typeface="Consola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04538" y="1825394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3×[512 ELU]: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 mu i log_sigma dla rozkladu Gaussa nad akcja a_t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44368" y="2394383"/>
            <a:ext cx="54864" cy="7815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80357"/>
            <a:ext cx="5524314" cy="56117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480357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Próbkowanie</a:t>
            </a: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akcji</a:t>
            </a:r>
            <a:endParaRPr lang="en-US" sz="1600" dirty="0" err="1">
              <a:latin typeface="Trebuchet M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04538" y="2480357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 ~ N(mu, sigma^2); reparametrization trick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br>
              <a:rPr lang="pl-PL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mu + sigma*eps, eps~N(0,1)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44368" y="3049346"/>
            <a:ext cx="54864" cy="7815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35320"/>
            <a:ext cx="5524314" cy="561173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135320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Środowisko</a:t>
            </a:r>
            <a:r>
              <a:rPr lang="en-US" sz="16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/ robot</a:t>
            </a:r>
            <a:endParaRPr lang="en-US" sz="1600" dirty="0">
              <a:latin typeface="Trebuchet M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04538" y="3135320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Wykonaj a_t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odbierz r_t, s_{t+1}; dane do rollout buffer (PPO) lub replay (SAC)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44368" y="3704308"/>
            <a:ext cx="54864" cy="7815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90282"/>
            <a:ext cx="5524314" cy="561173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790282"/>
            <a:ext cx="192024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Krytyk V(s) / Q(s,a)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04538" y="3790282"/>
            <a:ext cx="2997450" cy="56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3×[512 ELU]: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szacuje wartosc stanu lub pary (stan, akcja); blad TD -&gt; gradient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74806" y="1170432"/>
            <a:ext cx="2942814" cy="31810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4806" y="1170432"/>
            <a:ext cx="2942814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5364" y="1597896"/>
            <a:ext cx="2871810" cy="2523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300" b="1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Aktor i krytyk </a:t>
            </a:r>
            <a:r>
              <a:rPr lang="pl-PL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współdzielą warstwy </a:t>
            </a:r>
            <a:r>
              <a:rPr lang="en-US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 PPO</a:t>
            </a:r>
            <a:endParaRPr lang="en-US" sz="13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Typowy MLP</a:t>
            </a:r>
            <a:r>
              <a:rPr lang="en-US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3 </a:t>
            </a:r>
            <a:r>
              <a:rPr lang="pl-PL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warstwy</a:t>
            </a:r>
            <a:r>
              <a:rPr lang="en-US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</a:t>
            </a:r>
            <a:r>
              <a:rPr lang="en-US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256-512 neuronow</a:t>
            </a:r>
            <a:endParaRPr lang="en-US" sz="13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Aktywacja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spc="-6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ELU lub Tanh (ostatnia warstwa)</a:t>
            </a:r>
            <a:endParaRPr lang="en-US" sz="13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Batch norm 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lub </a:t>
            </a: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layer norm</a:t>
            </a:r>
            <a:r>
              <a:rPr lang="pl-PL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stabilność</a:t>
            </a:r>
            <a:endParaRPr lang="pl-PL" sz="13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spc="-4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lr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aktor 3e-4; lr krytyk 1e-3</a:t>
            </a:r>
            <a:endParaRPr lang="en-US" sz="13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Gradient clipping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max_norm = 1.0</a:t>
            </a:r>
            <a:endParaRPr lang="en-US" sz="13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Horyzont rollout PPO</a:t>
            </a:r>
            <a:r>
              <a:rPr lang="en-US" sz="13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T = 24 krokow</a:t>
            </a:r>
            <a:endParaRPr lang="en-US" sz="1300" spc="-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Petla</a:t>
            </a:r>
            <a:r>
              <a:rPr lang="en-US" sz="2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RL</a:t>
            </a:r>
            <a:r>
              <a:rPr lang="pl-PL" sz="2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MuJoCo</a:t>
            </a:r>
            <a:r>
              <a:rPr lang="en-US" sz="22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Humanoid z Gymnasium</a:t>
            </a:r>
            <a:endParaRPr lang="en-US" sz="2200" dirty="0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134980"/>
          </a:xfrm>
          <a:prstGeom prst="rect">
            <a:avLst/>
          </a:prstGeom>
          <a:solidFill>
            <a:srgbClr val="071520"/>
          </a:solidFill>
          <a:ln w="1016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0728" y="1106424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106424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106424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" y="1087911"/>
            <a:ext cx="8321040" cy="296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gymnasium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gym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gym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.make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"Humanoid-v5"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render_mode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 err="1">
                <a:solidFill>
                  <a:srgbClr val="4FC1FF"/>
                </a:solidFill>
                <a:latin typeface="Consolas" panose="020B0609020204030204" pitchFamily="49" charset="0"/>
              </a:rPr>
              <a:t>None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.reset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seed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wektor stanu (376,)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ep_rewards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[]</a:t>
            </a:r>
          </a:p>
          <a:p>
            <a:pPr>
              <a:lnSpc>
                <a:spcPts val="1100"/>
              </a:lnSpc>
            </a:pP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episode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.reset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FC1FF"/>
                </a:solidFill>
                <a:latin typeface="Consolas" panose="020B0609020204030204" pitchFamily="49" charset="0"/>
              </a:rPr>
              <a:t>False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Polityka - tu: losowa (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zastap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siecia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PPO/SAC)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.action_space.sample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(17,) momenty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reward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terminated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truncated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info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.step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reward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terminated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truncated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ep_rewards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"Epizod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episode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: return =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ep_ret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:.1f}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env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.close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100"/>
              </a:lnSpc>
            </a:pP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"Średni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zwrot z 5 epizodów: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ep_rewards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:.1f}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Shape 9"/>
          <p:cNvSpPr/>
          <p:nvPr/>
        </p:nvSpPr>
        <p:spPr>
          <a:xfrm>
            <a:off x="274320" y="4415882"/>
            <a:ext cx="8595360" cy="503589"/>
          </a:xfrm>
          <a:prstGeom prst="rect">
            <a:avLst/>
          </a:prstGeom>
          <a:solidFill>
            <a:srgbClr val="1A3550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356410"/>
            <a:ext cx="8321040" cy="56306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500" b="1" spc="-4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5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Humanoid-v5: 376-wymiarowy stan, 17 momentow stawowych; pelna dynamika </a:t>
            </a:r>
            <a:r>
              <a:rPr lang="en-US" sz="1500" spc="-4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en-US" sz="15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3.x</a:t>
            </a:r>
            <a:r>
              <a:rPr lang="pl-PL" sz="15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spc="-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5803D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1580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w lokomocji</a:t>
            </a:r>
            <a:endParaRPr lang="en-US" sz="3600" dirty="0"/>
          </a:p>
          <a:p>
            <a:pPr marL="0" indent="0">
              <a:buNone/>
            </a:pPr>
            <a:r>
              <a:rPr lang="pl-PL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humanoidów</a:t>
            </a:r>
            <a:endParaRPr lang="pl-PL" sz="3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540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Trenowanie chodu, biegania, schodow; funkcja nagrody; curriculum learning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SRODOWISKA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Srodowiska symulacyjne dla lokomocji RL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9615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MuJoCo / Gymnasium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1808212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Klasyczny benchmark; Humanoid-v5,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HumanoidStandup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elastyczny;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-native; open-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 2022</a:t>
            </a:r>
            <a:endParaRPr lang="pl-PL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170432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70432"/>
            <a:ext cx="265176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89615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IsaacGym / IsaacLab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46120" y="1808212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4096+ robotów jednocześnie na jednym GPU; PPO w 10 min; NVIDIA; open-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pl-PL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70432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70432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89615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IsaacSim (Omniverse)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6480" y="1808212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Fotorealistyczna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symulacja; ROS 2 native; RTX rendering; domyślne środowisko dla Franka, H1</a:t>
            </a:r>
            <a:endParaRPr lang="pl-PL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62991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62991"/>
            <a:ext cx="2651760" cy="54864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82174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PyBullet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760" y="3300771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Lekki, open-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wolniejszy od Isaac; dobry do prototypowania; 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475569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pip </a:t>
            </a:r>
            <a:r>
              <a:rPr lang="pl-PL" sz="1200" dirty="0" err="1">
                <a:solidFill>
                  <a:srgbClr val="475569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install</a:t>
            </a:r>
            <a:r>
              <a:rPr lang="pl-PL" sz="1200" dirty="0">
                <a:solidFill>
                  <a:srgbClr val="475569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dirty="0" err="1">
                <a:solidFill>
                  <a:srgbClr val="475569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pybullet</a:t>
            </a:r>
            <a:endParaRPr lang="pl-PL" sz="1200" dirty="0">
              <a:latin typeface="Consolas" panose="020B0609020204030204" pitchFamily="49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54680" y="2662991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662991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782174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Genesis (2024)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46120" y="3300771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-native; 10-100× szybszy od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CPU;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nowy standard akademicki</a:t>
            </a:r>
            <a:endParaRPr lang="pl-PL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2662991"/>
            <a:ext cx="2651760" cy="13043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662991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782174"/>
            <a:ext cx="2468880" cy="353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Webots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26480" y="3300771"/>
            <a:ext cx="2468880" cy="5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wbudowany ROS 2 driver; dobry dla studentów; słabsza dokładność kontaktu</a:t>
            </a:r>
            <a:endParaRPr lang="pl-PL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FUNKCJA NAGRODY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Projektowanie funkcji nagrody dla chodu humanoida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7413" y="1115568"/>
            <a:ext cx="8662265" cy="27501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241610" y="1207008"/>
                <a:ext cx="8628069" cy="253915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4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r_velocity</a:t>
                </a:r>
                <a:r>
                  <a:rPr lang="pl-PL" sz="1500" spc="-4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+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𝑣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∗ </m:t>
                    </m:r>
                    <m:r>
                      <m:rPr>
                        <m:sty m:val="p"/>
                      </m:rP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cos</m:t>
                    </m:r>
                    <m: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⁡(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𝑦𝑎𝑤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4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𝑒𝑟𝑟</m:t>
                    </m:r>
                    <m:r>
                      <a:rPr lang="pl-PL" sz="1500" i="1" spc="-4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</m:t>
                    </m:r>
                  </m:oMath>
                </a14:m>
                <a:r>
                  <a:rPr lang="pl-PL" sz="1500" spc="-4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nagroda za ruch do przodu we właściwym kierunku; skaluje prędkość liniowo</a:t>
                </a:r>
                <a:endParaRPr lang="pl-PL" sz="1500" spc="-4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r_alive</a:t>
                </a:r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+0.5 </m:t>
                    </m:r>
                  </m:oMath>
                </a14:m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 każdym kroku w którym robot nie upadł; krytyczne dla uczenia wstawania</a:t>
                </a:r>
                <a:endParaRPr lang="pl-PL" sz="1500" spc="-2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r_upright</a:t>
                </a:r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+1.0 ∗ (1 − |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𝑝𝑖𝑡𝑐h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| / 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𝑝𝑖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</m:t>
                    </m:r>
                  </m:oMath>
                </a14:m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nagroda za pionowa postawę tułowia (brak pochylenia)</a:t>
                </a:r>
                <a:endParaRPr lang="pl-PL" sz="1500" spc="-2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r_feet_contact</a:t>
                </a:r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+0.1 </m:t>
                    </m:r>
                  </m:oMath>
                </a14:m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gdy przynajmniej jedna stopa dotyka podłoża; kara za brak kontaktu obu stop</a:t>
                </a:r>
                <a:endParaRPr lang="pl-PL" sz="1500" spc="-2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r_energy</a:t>
                </a:r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−0.001 ∗ 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𝑠𝑢𝑚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(|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𝑡𝑎𝑢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𝑖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∗ 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𝑑𝑞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𝑖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|) </m:t>
                    </m:r>
                  </m:oMath>
                </a14:m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kara za zbyt duże zużycie mocy </a:t>
                </a:r>
                <a:r>
                  <a:rPr lang="pl-PL" sz="1500" spc="-2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aktuatorów</a:t>
                </a:r>
                <a:endParaRPr lang="pl-PL" sz="1500" spc="-2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500" b="1" spc="-2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r_action_smooth</a:t>
                </a:r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−0.01 ∗ ||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500" i="1" spc="-2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− 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_{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pl-PL" sz="1500" i="1" spc="-2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−1}||^2 </m:t>
                    </m:r>
                  </m:oMath>
                </a14:m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kara za gwałtowne zmiany komend (drgania)</a:t>
                </a:r>
                <a:endParaRPr lang="pl-PL" sz="1500" spc="-2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𝒕𝒐𝒕𝒂𝒍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r>
                      <a:rPr lang="pl-PL" sz="1400" b="1" i="1" spc="-1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𝒗𝒆𝒍𝒐𝒄𝒊𝒕𝒚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𝒂𝒍𝒊𝒗𝒆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𝒖𝒑𝒓𝒊𝒈𝒉𝒕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𝒇𝒆𝒆𝒕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𝒆𝒏𝒆𝒓𝒈𝒚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+ 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𝒓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pl-PL" sz="1400" b="1" i="1" spc="-1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𝒔𝒎𝒐𝒐𝒕𝒉</m:t>
                    </m:r>
                  </m:oMath>
                </a14:m>
                <a:r>
                  <a:rPr lang="pl-PL" sz="1500" spc="-2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; </a:t>
                </a:r>
                <a:r>
                  <a:rPr lang="pl-PL" sz="1500" spc="-4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suma aż do upadku (</a:t>
                </a:r>
                <a:r>
                  <a:rPr lang="pl-PL" sz="1500" spc="-40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done</a:t>
                </a:r>
                <a:r>
                  <a:rPr lang="pl-PL" sz="1500" spc="-4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=True)</a:t>
                </a:r>
                <a:endParaRPr lang="pl-PL" sz="1500" spc="-4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10" y="1207008"/>
                <a:ext cx="8628069" cy="2539157"/>
              </a:xfrm>
              <a:prstGeom prst="rect">
                <a:avLst/>
              </a:prstGeom>
              <a:blipFill>
                <a:blip r:embed="rId3"/>
                <a:stretch>
                  <a:fillRect l="-1413" t="-2638" b="-3357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CURRICULUM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 learning - stopniowe trudnosci treningu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055176" cy="232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2973" y="1207008"/>
            <a:ext cx="597869" cy="5852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2973" y="1207008"/>
            <a:ext cx="59786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7737" y="1883664"/>
            <a:ext cx="1868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Faza 1: Wstawanie</a:t>
            </a:r>
            <a:endParaRPr lang="pl-PL" sz="1600" dirty="0"/>
          </a:p>
        </p:txBody>
      </p:sp>
      <p:sp>
        <p:nvSpPr>
          <p:cNvPr id="10" name="Text 8"/>
          <p:cNvSpPr/>
          <p:nvPr/>
        </p:nvSpPr>
        <p:spPr>
          <a:xfrm>
            <a:off x="367737" y="2432304"/>
            <a:ext cx="1868342" cy="94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uczy się stać. Nagroda tylko za </a:t>
            </a:r>
            <a:r>
              <a:rPr lang="pl-PL" sz="1100" spc="-20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r_upright</a:t>
            </a:r>
            <a:r>
              <a:rPr lang="pl-PL" sz="1100" spc="-2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pl-PL" sz="1100" spc="-20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r_alive</a:t>
            </a: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Brak zadania prędkości. ~10M kroków.</a:t>
            </a:r>
            <a:endParaRPr lang="pl-PL" sz="1100" spc="-20" dirty="0"/>
          </a:p>
        </p:txBody>
      </p:sp>
      <p:sp>
        <p:nvSpPr>
          <p:cNvPr id="11" name="Shape 9"/>
          <p:cNvSpPr/>
          <p:nvPr/>
        </p:nvSpPr>
        <p:spPr>
          <a:xfrm>
            <a:off x="2469621" y="1115568"/>
            <a:ext cx="2055176" cy="232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98275" y="1207008"/>
            <a:ext cx="597869" cy="5852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8275" y="1207008"/>
            <a:ext cx="59786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63038" y="1883664"/>
            <a:ext cx="1868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Faza 2: Chód wolny</a:t>
            </a:r>
            <a:endParaRPr lang="pl-PL" sz="1600" dirty="0"/>
          </a:p>
        </p:txBody>
      </p:sp>
      <p:sp>
        <p:nvSpPr>
          <p:cNvPr id="15" name="Text 13"/>
          <p:cNvSpPr/>
          <p:nvPr/>
        </p:nvSpPr>
        <p:spPr>
          <a:xfrm>
            <a:off x="2494686" y="2432304"/>
            <a:ext cx="1999732" cy="94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Wprowadź </a:t>
            </a:r>
            <a:r>
              <a:rPr lang="pl-PL" sz="1100" spc="-20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r_velocity</a:t>
            </a: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docelowym </a:t>
            </a:r>
            <a:r>
              <a:rPr lang="pl-PL" sz="1100" spc="-20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v_ref</a:t>
            </a:r>
            <a:r>
              <a:rPr lang="pl-PL" sz="1100" spc="-2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0.5 m/s</a:t>
            </a: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Plaska, gładka nawierzchnia. ~50M kroków.</a:t>
            </a:r>
            <a:endParaRPr lang="pl-PL" sz="1100" spc="-20" dirty="0"/>
          </a:p>
        </p:txBody>
      </p:sp>
      <p:sp>
        <p:nvSpPr>
          <p:cNvPr id="16" name="Shape 14"/>
          <p:cNvSpPr/>
          <p:nvPr/>
        </p:nvSpPr>
        <p:spPr>
          <a:xfrm>
            <a:off x="4664923" y="1115568"/>
            <a:ext cx="2055176" cy="232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3576" y="1207008"/>
            <a:ext cx="597869" cy="5852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3576" y="1207008"/>
            <a:ext cx="59786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8340" y="1883664"/>
            <a:ext cx="1868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Faza 3: Prędkość</a:t>
            </a:r>
            <a:endParaRPr lang="pl-PL" sz="1600" dirty="0"/>
          </a:p>
        </p:txBody>
      </p:sp>
      <p:sp>
        <p:nvSpPr>
          <p:cNvPr id="20" name="Text 18"/>
          <p:cNvSpPr/>
          <p:nvPr/>
        </p:nvSpPr>
        <p:spPr>
          <a:xfrm>
            <a:off x="4758340" y="2432304"/>
            <a:ext cx="1868342" cy="94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Stopniowo zwiększ </a:t>
            </a:r>
            <a:r>
              <a:rPr lang="pl-PL" sz="1100" spc="-20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v_ref</a:t>
            </a:r>
            <a:r>
              <a:rPr lang="pl-PL" sz="1100" spc="-2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1.5 m/s</a:t>
            </a: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pl-PL" sz="1100" b="1" spc="-2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r>
              <a:rPr lang="pl-PL" sz="1100" b="1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b="1" spc="-2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</a:t>
            </a: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masa +/-10%, tarcie zmienne. ~100M kroków.</a:t>
            </a:r>
            <a:endParaRPr lang="pl-PL" sz="1100" spc="-20" dirty="0"/>
          </a:p>
        </p:txBody>
      </p:sp>
      <p:sp>
        <p:nvSpPr>
          <p:cNvPr id="21" name="Shape 19"/>
          <p:cNvSpPr/>
          <p:nvPr/>
        </p:nvSpPr>
        <p:spPr>
          <a:xfrm>
            <a:off x="6860224" y="1115568"/>
            <a:ext cx="2055176" cy="232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8877" y="1207008"/>
            <a:ext cx="597869" cy="58521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8877" y="1207008"/>
            <a:ext cx="59786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53641" y="1883664"/>
            <a:ext cx="1868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Faza 4: Teren</a:t>
            </a:r>
            <a:endParaRPr lang="pl-PL" sz="1600" dirty="0"/>
          </a:p>
        </p:txBody>
      </p:sp>
      <p:sp>
        <p:nvSpPr>
          <p:cNvPr id="25" name="Text 23"/>
          <p:cNvSpPr/>
          <p:nvPr/>
        </p:nvSpPr>
        <p:spPr>
          <a:xfrm>
            <a:off x="6953641" y="2432304"/>
            <a:ext cx="1868342" cy="94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Nierówności (</a:t>
            </a:r>
            <a:r>
              <a:rPr lang="pl-PL" sz="1100" spc="-2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heightfield</a:t>
            </a: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schody, rampy. Korekta funkcji nagrody </a:t>
            </a:r>
            <a:r>
              <a:rPr lang="pl-PL" sz="1100" b="1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margines ZMP</a:t>
            </a:r>
            <a:r>
              <a:rPr lang="pl-PL" sz="1100" spc="-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~200M kroków.</a:t>
            </a:r>
            <a:endParaRPr lang="pl-PL" sz="1100" spc="-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Funkcja nagrody dla chodu humanoida (PyTorch / IsaacLab)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2854564"/>
          </a:xfrm>
          <a:prstGeom prst="rect">
            <a:avLst/>
          </a:prstGeom>
          <a:solidFill>
            <a:srgbClr val="071520"/>
          </a:solidFill>
          <a:ln w="10160">
            <a:solidFill>
              <a:srgbClr val="1580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0728" y="1152144"/>
            <a:ext cx="137160" cy="1371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152144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152144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030" y="1069623"/>
            <a:ext cx="8321040" cy="2703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l-PL" sz="1000" spc="2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spc="2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compute_reward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,       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(N, </a:t>
            </a:r>
            <a:r>
              <a:rPr lang="pl-PL" sz="1000" spc="20" dirty="0" err="1">
                <a:solidFill>
                  <a:srgbClr val="6A9955"/>
                </a:solidFill>
                <a:latin typeface="Consolas" panose="020B0609020204030204" pitchFamily="49" charset="0"/>
              </a:rPr>
              <a:t>obs_dim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)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,    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(N, </a:t>
            </a:r>
            <a:r>
              <a:rPr lang="pl-PL" sz="1000" spc="20" dirty="0" err="1">
                <a:solidFill>
                  <a:srgbClr val="6A9955"/>
                </a:solidFill>
                <a:latin typeface="Consolas" panose="020B0609020204030204" pitchFamily="49" charset="0"/>
              </a:rPr>
              <a:t>act_dim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)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prev_action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alive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,     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(N,) </a:t>
            </a:r>
            <a:r>
              <a:rPr lang="pl-PL" sz="1000" spc="20" dirty="0" err="1">
                <a:solidFill>
                  <a:srgbClr val="6A9955"/>
                </a:solidFill>
                <a:latin typeface="Consolas" panose="020B0609020204030204" pitchFamily="49" charset="0"/>
              </a:rPr>
              <a:t>bool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]       		    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prędkość do przodu [m/s]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pitch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]      		    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pochylenie tułowia [rad]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37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]   		    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momenty stawów [</a:t>
            </a:r>
            <a:r>
              <a:rPr lang="pl-PL" sz="1000" spc="20" dirty="0" err="1">
                <a:solidFill>
                  <a:srgbClr val="6A9955"/>
                </a:solidFill>
                <a:latin typeface="Consolas" panose="020B0609020204030204" pitchFamily="49" charset="0"/>
              </a:rPr>
              <a:t>Nm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]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dq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37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54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]    		    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prędkości stawów [rad/s]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r_vel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.w_vel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                 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nagroda prędkości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r_alive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alive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float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.w_alive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    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przeżycie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r_uprt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pitch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abs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/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3.14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.w_upr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   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pionowość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r_enrg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dq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abs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sum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.w_ener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 </a:t>
            </a:r>
            <a:r>
              <a:rPr lang="pl-PL" sz="1000" spc="20" dirty="0">
                <a:solidFill>
                  <a:srgbClr val="6A9955"/>
                </a:solidFill>
                <a:latin typeface="Consolas" panose="020B0609020204030204" pitchFamily="49" charset="0"/>
              </a:rPr>
              <a:t># energia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r_smth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prev_action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spc="20" dirty="0" err="1">
                <a:solidFill>
                  <a:srgbClr val="DCDCAA"/>
                </a:solidFill>
                <a:latin typeface="Consolas" panose="020B0609020204030204" pitchFamily="49" charset="0"/>
              </a:rPr>
              <a:t>pow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sum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spc="2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spc="2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cfg</a:t>
            </a:r>
            <a:r>
              <a:rPr lang="pl-PL" sz="1000" spc="20" dirty="0" err="1">
                <a:solidFill>
                  <a:srgbClr val="CCCCCC"/>
                </a:solidFill>
                <a:latin typeface="Consolas" panose="020B0609020204030204" pitchFamily="49" charset="0"/>
              </a:rPr>
              <a:t>.w_sm</a:t>
            </a:r>
            <a:endParaRPr lang="pl-PL" sz="1000" spc="2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spc="2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r_vel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r_alive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r_uprt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r_enrg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spc="2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spc="20" dirty="0" err="1">
                <a:solidFill>
                  <a:srgbClr val="9CDCFE"/>
                </a:solidFill>
                <a:latin typeface="Consolas" panose="020B0609020204030204" pitchFamily="49" charset="0"/>
              </a:rPr>
              <a:t>r_smth</a:t>
            </a:r>
            <a:endParaRPr lang="pl-PL" sz="1000" b="0" spc="2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27394"/>
            <a:ext cx="8595360" cy="392077"/>
          </a:xfrm>
          <a:prstGeom prst="rect">
            <a:avLst/>
          </a:prstGeom>
          <a:solidFill>
            <a:srgbClr val="1A3550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445620"/>
            <a:ext cx="8595360" cy="47385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 algn="ctr">
              <a:buNone/>
            </a:pPr>
            <a:r>
              <a:rPr lang="en-US" sz="1600" b="1" spc="-4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cfg.w_vel=1.0, w_alive=0.5, w_upr=0.3, w_ener=0.001, </a:t>
            </a:r>
            <a:r>
              <a:rPr lang="en-US" sz="1600" spc="-4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w_sm</a:t>
            </a:r>
            <a:r>
              <a:rPr lang="en-US" sz="16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=0.005 - startowe wagi do </a:t>
            </a:r>
            <a:r>
              <a:rPr lang="en-US" sz="1600" spc="-4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strojenia</a:t>
            </a:r>
            <a:endParaRPr lang="en-US" sz="1600" spc="-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SIM-TO-REAL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randomization i transfer sim-to-real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476205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476205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Randomization (DR)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6954" y="1572768"/>
            <a:ext cx="4573130" cy="312724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Losowanie parametrów modelu podczas treningu</a:t>
            </a:r>
            <a:r>
              <a:rPr lang="pl-PL" sz="14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masa ciała +/-15%, momenty bezwładności +/-10%</a:t>
            </a:r>
            <a:endParaRPr lang="pl-PL" sz="14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Tarcie stopy</a:t>
            </a:r>
            <a:r>
              <a:rPr lang="pl-PL" sz="14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u w [0.4, 1.2]; kluczowe dla różnych nawierzchni</a:t>
            </a:r>
            <a:endParaRPr lang="pl-PL" sz="14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Opóźnienie </a:t>
            </a:r>
            <a:r>
              <a:rPr lang="pl-PL" sz="1400" b="1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aktuatora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0-40 ms; symuluje opóźnienie sieci </a:t>
            </a:r>
            <a:br>
              <a:rPr lang="pl-PL" sz="1400" spc="-60" dirty="0">
                <a:latin typeface="Calibri"/>
                <a:ea typeface="Calibri"/>
                <a:cs typeface="Calibri"/>
              </a:rPr>
            </a:br>
            <a:r>
              <a:rPr lang="pl-PL" sz="140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 kontrolera</a:t>
            </a:r>
            <a:endParaRPr lang="pl-PL" sz="140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Szum obserwacji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N(0, sigma) do q, </a:t>
            </a:r>
            <a:r>
              <a:rPr lang="pl-PL" sz="140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dq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IMU - odporność na błędy </a:t>
            </a:r>
            <a:r>
              <a:rPr lang="pl-PL" sz="1400" spc="-6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enkodera</a:t>
            </a:r>
            <a:endParaRPr lang="pl-PL" sz="1400" spc="-6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Zewnętrzne zakłócenia</a:t>
            </a:r>
            <a:r>
              <a:rPr lang="pl-PL" sz="14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losowe impulsy siły na tułów </a:t>
            </a:r>
            <a:endParaRPr lang="pl-PL" sz="1400" spc="-4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Cel</a:t>
            </a:r>
            <a:r>
              <a:rPr lang="pl-PL" sz="14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pokryć różnice miedzy symulacja a fizycznym robotem</a:t>
            </a:r>
            <a:endParaRPr lang="pl-PL" sz="1400" spc="-4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0" y="1115568"/>
            <a:ext cx="3964578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115568"/>
            <a:ext cx="3964578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8809" y="1133856"/>
            <a:ext cx="36967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sim-to-real (best practices)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06146" y="1572768"/>
            <a:ext cx="3945798" cy="312724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Fine-</a:t>
            </a:r>
            <a:r>
              <a:rPr lang="pl-PL" sz="14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tuning</a:t>
            </a:r>
            <a:r>
              <a:rPr lang="pl-PL" sz="14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na robocie</a:t>
            </a:r>
            <a:r>
              <a:rPr lang="pl-PL" sz="14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zamroź aktora, douczaj tylko ostatnia warstwę (1h danych = 30 min treningu)</a:t>
            </a:r>
            <a:endParaRPr lang="pl-PL" sz="14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History</a:t>
            </a:r>
            <a:r>
              <a:rPr lang="pl-PL" sz="14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4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buffer</a:t>
            </a:r>
            <a:r>
              <a:rPr lang="pl-PL" sz="14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podaj ostatnie k=3 obserwacje </a:t>
            </a:r>
            <a:br>
              <a:rPr lang="pl-PL" sz="14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</a:br>
            <a:r>
              <a:rPr lang="pl-PL" sz="14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 </a:t>
            </a:r>
            <a:r>
              <a:rPr lang="pl-PL" sz="14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akcje; kompensuje opóźnienia</a:t>
            </a:r>
            <a:endParaRPr lang="pl-PL" sz="14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Asymetryczny AC</a:t>
            </a:r>
            <a:r>
              <a:rPr lang="pl-PL" sz="14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krytyk ma dostęp do pełnego stanu w sim; aktor uczy się tylko z obserwacji</a:t>
            </a:r>
            <a:endParaRPr lang="pl-PL" sz="14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System </a:t>
            </a:r>
            <a:r>
              <a:rPr lang="pl-PL" sz="14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identification</a:t>
            </a:r>
            <a:r>
              <a:rPr lang="pl-PL" sz="14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dopasuj tarcie i masę przed treningu przez krótkie sesje na robocie</a:t>
            </a:r>
            <a:endParaRPr lang="pl-PL" sz="1400" spc="-4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Metryki: </a:t>
            </a:r>
            <a:r>
              <a:rPr lang="pl-PL" sz="14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v_forward</a:t>
            </a:r>
            <a:r>
              <a:rPr lang="pl-PL" sz="14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margines ZMP, zużycie energii porównywalne sim vs. real</a:t>
            </a:r>
            <a:endParaRPr lang="pl-PL" sz="1400" spc="-4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WYNIKI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Wyniki</a:t>
            </a:r>
            <a:r>
              <a:rPr lang="en-US" sz="2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RL w </a:t>
            </a:r>
            <a:r>
              <a:rPr lang="en-US" sz="22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lokomocji</a:t>
            </a:r>
            <a:r>
              <a:rPr lang="en-US" sz="2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humanoidow</a:t>
            </a:r>
            <a:r>
              <a:rPr lang="en-US" sz="2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(2022-2025)</a:t>
            </a:r>
            <a:endParaRPr lang="en-US" sz="2200" dirty="0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723819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245" y="1261872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DeepMind - Harness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8245" y="1791713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</a:t>
            </a:r>
            <a:r>
              <a:rPr lang="pl-PL" sz="1200" b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uczy się wstawać, chodzić, biegać z jednej politykami. Nature 2019.</a:t>
            </a:r>
            <a:endParaRPr lang="pl-PL" sz="1200" dirty="0"/>
          </a:p>
        </p:txBody>
      </p:sp>
      <p:sp>
        <p:nvSpPr>
          <p:cNvPr id="10" name="Shape 8"/>
          <p:cNvSpPr/>
          <p:nvPr/>
        </p:nvSpPr>
        <p:spPr>
          <a:xfrm>
            <a:off x="3232951" y="1170432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2951" y="1170432"/>
            <a:ext cx="2723819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875" y="1261872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 - ANYmal RL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26875" y="1791713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</a:t>
            </a:r>
            <a:r>
              <a:rPr lang="pl-PL" sz="1200" b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IsaacGym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quadruped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RL do 3 m/s; transfer sim2real w 15 min kalibracji. RSJ 2022.</a:t>
            </a:r>
            <a:endParaRPr lang="pl-PL" sz="1200" dirty="0"/>
          </a:p>
        </p:txBody>
      </p:sp>
      <p:sp>
        <p:nvSpPr>
          <p:cNvPr id="14" name="Shape 12"/>
          <p:cNvSpPr/>
          <p:nvPr/>
        </p:nvSpPr>
        <p:spPr>
          <a:xfrm>
            <a:off x="6191581" y="1170432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1581" y="1170432"/>
            <a:ext cx="2723819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5506" y="1261872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 Berkeley - Cassie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85506" y="1791713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</a:t>
            </a:r>
            <a:r>
              <a:rPr lang="pl-PL" sz="1200" b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bieganie 3 m/s, kucanie, skakanie; odporność na pchnięcia. RSS 2022.</a:t>
            </a:r>
            <a:endParaRPr lang="pl-PL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700159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00159"/>
            <a:ext cx="2723819" cy="54864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245" y="2791599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Agility Digit - IROS24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8245" y="3321440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+ curriculum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chód po terenie, schody, ramp; transfer na fizycznego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~4h danych.</a:t>
            </a:r>
            <a:endParaRPr lang="pl-PL" sz="1200" dirty="0"/>
          </a:p>
        </p:txBody>
      </p:sp>
      <p:sp>
        <p:nvSpPr>
          <p:cNvPr id="22" name="Shape 20"/>
          <p:cNvSpPr/>
          <p:nvPr/>
        </p:nvSpPr>
        <p:spPr>
          <a:xfrm>
            <a:off x="3232951" y="2700159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32951" y="2700159"/>
            <a:ext cx="2723819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6875" y="2791599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Unitree H1 - 2024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26875" y="3321440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</a:t>
            </a:r>
            <a:r>
              <a:rPr lang="pl-PL" sz="1200" b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IsaacLab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bieg 3,3 m/s z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backflip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2048 środowisk równoległych na jednym GPU.</a:t>
            </a:r>
            <a:endParaRPr lang="pl-PL" sz="1200" dirty="0"/>
          </a:p>
        </p:txBody>
      </p:sp>
      <p:sp>
        <p:nvSpPr>
          <p:cNvPr id="26" name="Shape 24"/>
          <p:cNvSpPr/>
          <p:nvPr/>
        </p:nvSpPr>
        <p:spPr>
          <a:xfrm>
            <a:off x="6191581" y="2700159"/>
            <a:ext cx="2723819" cy="138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1581" y="2700159"/>
            <a:ext cx="2723819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5506" y="2791599"/>
            <a:ext cx="2535969" cy="43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01 - 2024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85506" y="3321440"/>
            <a:ext cx="2535969" cy="61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VLA (GPT-4o); </a:t>
            </a:r>
            <a:r>
              <a:rPr lang="pl-PL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może nauczyć się pieczenia jajek, sprzątania; end to end z LLM</a:t>
            </a:r>
            <a:endParaRPr lang="pl-PL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77A8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5727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RL w </a:t>
            </a:r>
            <a:r>
              <a:rPr lang="en-US" sz="28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nawigacji</a:t>
            </a:r>
            <a:r>
              <a:rPr lang="en-US" sz="28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br>
              <a:rPr lang="pl-PL" sz="2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28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</a:t>
            </a:r>
            <a:r>
              <a:rPr lang="pl-PL" sz="28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integracja</a:t>
            </a:r>
            <a:r>
              <a:rPr lang="en-US" sz="28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z ROS 2</a:t>
            </a:r>
            <a:endParaRPr lang="en-US" sz="2800">
              <a:latin typeface="Trebuchet MS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50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spoleczna z RL, reward shaping, wdrozenie na robocie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RL NAWIGACJA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dla nawigacji społecznej: </a:t>
            </a:r>
            <a:r>
              <a:rPr lang="pl-PL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shaping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88400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3528" y="1154970"/>
            <a:ext cx="8542578" cy="2646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pl-PL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uczy się omijać pieszych bez ręcznie zaprojektowanego planisty lokalnego</a:t>
            </a:r>
            <a:endParaRPr lang="pl-PL" sz="1600" spc="-40" dirty="0"/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6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r_goal</a:t>
            </a:r>
            <a:r>
              <a:rPr lang="pl-PL" sz="16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600" spc="-4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-d(pos_t, </a:t>
            </a:r>
            <a:r>
              <a:rPr lang="pl-PL" sz="1600" spc="-40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goal</a:t>
            </a:r>
            <a:r>
              <a:rPr lang="pl-PL" sz="1600" spc="-4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) / </a:t>
            </a:r>
            <a:r>
              <a:rPr lang="pl-PL" sz="1600" spc="-40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d_initial</a:t>
            </a:r>
            <a:r>
              <a:rPr lang="pl-PL" sz="1600" spc="-4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l-PL" sz="16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- nagroda za zbliżanie </a:t>
            </a:r>
            <a:r>
              <a:rPr lang="pl-PL" sz="1600" spc="-4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sie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do celu nawigacyjnego</a:t>
            </a:r>
            <a:endParaRPr lang="pl-PL" sz="1600" spc="-4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600" b="1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r_social</a:t>
            </a:r>
            <a:r>
              <a:rPr lang="pl-PL" sz="1600" spc="-4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600" spc="-4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-sum_j [ max(0, </a:t>
            </a:r>
            <a:r>
              <a:rPr lang="pl-PL" sz="1600" spc="-40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d_safe</a:t>
            </a:r>
            <a:r>
              <a:rPr lang="pl-PL" sz="1600" spc="-4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- ||</a:t>
            </a:r>
            <a:r>
              <a:rPr lang="pl-PL" sz="1600" spc="-40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pos</a:t>
            </a:r>
            <a:r>
              <a:rPr lang="pl-PL" sz="1600" spc="-4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- </a:t>
            </a:r>
            <a:r>
              <a:rPr lang="pl-PL" sz="1600" spc="-40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ped_j</a:t>
            </a:r>
            <a:r>
              <a:rPr lang="pl-PL" sz="1600" spc="-4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||) ]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- kara proporcjonalna do naruszenia strefy osobistej</a:t>
            </a:r>
            <a:endParaRPr lang="pl-PL" sz="1600" spc="-4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600" b="1" spc="-4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r_collision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600" spc="-40" dirty="0">
                <a:solidFill>
                  <a:srgbClr val="E30505"/>
                </a:solidFill>
                <a:latin typeface="Calibri"/>
                <a:ea typeface="Calibri"/>
                <a:cs typeface="Calibri"/>
              </a:rPr>
              <a:t>-10 gdy ||</a:t>
            </a:r>
            <a:r>
              <a:rPr lang="pl-PL" sz="1600" spc="-40" err="1">
                <a:solidFill>
                  <a:srgbClr val="E30505"/>
                </a:solidFill>
                <a:latin typeface="Calibri"/>
                <a:ea typeface="Calibri"/>
                <a:cs typeface="Calibri"/>
              </a:rPr>
              <a:t>pos</a:t>
            </a:r>
            <a:r>
              <a:rPr lang="pl-PL" sz="1600" spc="-40" dirty="0">
                <a:solidFill>
                  <a:srgbClr val="E30505"/>
                </a:solidFill>
                <a:latin typeface="Calibri"/>
                <a:ea typeface="Calibri"/>
                <a:cs typeface="Calibri"/>
              </a:rPr>
              <a:t> - </a:t>
            </a:r>
            <a:r>
              <a:rPr lang="pl-PL" sz="1600" spc="-40" err="1">
                <a:solidFill>
                  <a:srgbClr val="E30505"/>
                </a:solidFill>
                <a:latin typeface="Calibri"/>
                <a:ea typeface="Calibri"/>
                <a:cs typeface="Calibri"/>
              </a:rPr>
              <a:t>ped</a:t>
            </a:r>
            <a:r>
              <a:rPr lang="pl-PL" sz="1600" spc="-40" dirty="0">
                <a:solidFill>
                  <a:srgbClr val="E30505"/>
                </a:solidFill>
                <a:latin typeface="Calibri"/>
                <a:ea typeface="Calibri"/>
                <a:cs typeface="Calibri"/>
              </a:rPr>
              <a:t>|| &lt; 0.3 m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lub kolizja ze ścianą; epizod kończy się</a:t>
            </a:r>
            <a:endParaRPr lang="pl-PL" sz="1600" spc="-4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600" b="1" spc="-4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r_comfort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 </a:t>
            </a:r>
            <a:r>
              <a:rPr lang="pl-PL" sz="1600" spc="-40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-||</a:t>
            </a:r>
            <a:r>
              <a:rPr lang="pl-PL" sz="1600" spc="-40" err="1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a_t</a:t>
            </a:r>
            <a:r>
              <a:rPr lang="pl-PL" sz="1600" spc="-40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 - a_{t-1}||^2 * 0.01 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- kara za gwałtowne manewry (komfort pieszego)</a:t>
            </a:r>
            <a:endParaRPr lang="pl-PL" sz="1600" spc="-4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600" b="1" spc="-4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r_progress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600" spc="-40" dirty="0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+0.2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gdy robot przeszedł do nowego punktu kontrolnego; hamuje tendencje do okrążania celu</a:t>
            </a:r>
            <a:endParaRPr lang="pl-PL" sz="1600" spc="-4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pl-PL" sz="16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Środowisko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pl-PL" sz="1600" spc="-4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CrowdNav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(Chen et al.) lub SEAN-EP; 5-15 pieszych z </a:t>
            </a:r>
            <a:r>
              <a:rPr lang="pl-PL" sz="1600" spc="-4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Social</a:t>
            </a:r>
            <a:r>
              <a:rPr lang="pl-PL" sz="16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Force Model lub nagraniami</a:t>
            </a:r>
            <a:endParaRPr lang="pl-PL" sz="1600" spc="-4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HIERARCHIA RL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Hierarchiczne RL dla nawigacji humanoidow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Wysoki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- nawigacja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338327" y="1572768"/>
                <a:ext cx="4036295" cy="3127248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127000" bIns="127000" rtlCol="0" anchor="t"/>
              <a:lstStyle/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Policy nawigacyjna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</a:t>
                </a:r>
                <a:b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</a:br>
                <a14:m>
                  <m:oMath xmlns:m="http://schemas.openxmlformats.org/officeDocument/2006/math"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𝑜𝑏𝑠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pl-PL" sz="1400" i="1" spc="-60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pl-PL" sz="1400" i="1" spc="-60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𝑐𝑒</m:t>
                        </m:r>
                        <m:sSub>
                          <m:sSubPr>
                            <m:ctrlP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𝑙</m:t>
                            </m:r>
                          </m:e>
                          <m:sub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𝑑𝑖𝑟</m:t>
                            </m:r>
                          </m:sub>
                        </m:sSub>
                        <m:r>
                          <a:rPr lang="pl-PL" sz="1400" i="1" spc="-60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spc="-60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𝑑𝑖𝑠</m:t>
                        </m:r>
                        <m:sSub>
                          <m:sSubPr>
                            <m:ctrlP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𝑔𝑜𝑎𝑙</m:t>
                            </m:r>
                          </m:sub>
                        </m:sSub>
                        <m:r>
                          <a:rPr lang="pl-PL" sz="1400" i="1" spc="-60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spc="-60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𝑝𝑒𝑑𝑒𝑠𝑡𝑟𝑖𝑎𝑛</m:t>
                        </m:r>
                        <m:sSub>
                          <m:sSubPr>
                            <m:ctrlP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𝑠</m:t>
                            </m:r>
                          </m:e>
                          <m:sub>
                            <m:r>
                              <a:rPr lang="pl-PL" sz="1400" i="1" spc="-60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𝑟𝑒𝑙𝑎𝑡𝑖𝑣𝑒</m:t>
                            </m:r>
                          </m:sub>
                        </m:sSub>
                      </m:e>
                    </m:d>
                  </m:oMath>
                </a14:m>
                <a:br>
                  <a:rPr lang="pl-PL" sz="1400" i="1" spc="-60" dirty="0">
                    <a:solidFill>
                      <a:srgbClr val="0D1B2A"/>
                    </a:solidFill>
                    <a:latin typeface="Cambria Math" panose="02040503050406030204" pitchFamily="18" charset="0"/>
                    <a:ea typeface="Calibri" pitchFamily="34" charset="-122"/>
                    <a:cs typeface="Calibri" pitchFamily="34" charset="-120"/>
                  </a:rPr>
                </a:br>
                <a14:m>
                  <m:oMath xmlns:m="http://schemas.openxmlformats.org/officeDocument/2006/math"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−&gt; 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[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𝑣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 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𝑜𝑚𝑒𝑔𝑎</m:t>
                    </m:r>
                    <m:r>
                      <a:rPr lang="pl-PL" sz="1400" i="1" spc="-60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]</m:t>
                    </m:r>
                  </m:oMath>
                </a14:m>
                <a:endParaRPr lang="pl-PL" sz="1400" spc="-60" dirty="0">
                  <a:latin typeface="Graduate" panose="02000503000000020004" pitchFamily="2" charset="0"/>
                </a:endParaRPr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Trening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CrowdNav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/ 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IsaacSim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; 8 pieszych, randomizowane cele</a:t>
                </a:r>
                <a:endParaRPr lang="pl-PL" sz="1400" spc="-6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Częstotliwość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10 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Hz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; wyjście: wektor (v, omega) </a:t>
                </a:r>
                <a:b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</a:b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do planisty kroków</a:t>
                </a:r>
                <a:endParaRPr lang="pl-PL" sz="1400" spc="-6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Transfer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fine-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tuning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na danych z korytarza (30 min sesji)</a:t>
                </a:r>
                <a:endParaRPr lang="pl-PL" sz="1400" spc="-6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Algorytm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SAC; replay 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buffer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1M; 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batch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256; 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lr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3e-4</a:t>
                </a:r>
                <a:endParaRPr lang="pl-PL" sz="1400" spc="-6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7" y="1572768"/>
                <a:ext cx="4036295" cy="3127248"/>
              </a:xfrm>
              <a:prstGeom prst="rect">
                <a:avLst/>
              </a:prstGeom>
              <a:blipFill>
                <a:blip r:embed="rId3"/>
                <a:stretch>
                  <a:fillRect l="-2715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4709160" y="1115568"/>
            <a:ext cx="416052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15568"/>
            <a:ext cx="41605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33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Niski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- lokomocja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4773167" y="1572768"/>
                <a:ext cx="4036295" cy="3127248"/>
              </a:xfrm>
              <a:prstGeom prst="rect">
                <a:avLst/>
              </a:prstGeom>
              <a:noFill/>
              <a:ln/>
            </p:spPr>
            <p:txBody>
              <a:bodyPr wrap="square" lIns="0" tIns="127000" rIns="127000" bIns="127000" rtlCol="0" anchor="t"/>
              <a:lstStyle/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Policy lokomocyjna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</a:t>
                </a:r>
                <a:br>
                  <a:rPr lang="pl-PL" sz="1400" i="1" spc="-100" dirty="0">
                    <a:solidFill>
                      <a:srgbClr val="0D1B2A"/>
                    </a:solidFill>
                    <a:latin typeface="Cambria Math" panose="02040503050406030204" pitchFamily="18" charset="0"/>
                    <a:ea typeface="Calibri" pitchFamily="34" charset="-122"/>
                    <a:cs typeface="Calibri" pitchFamily="34" charset="-120"/>
                  </a:rPr>
                </a:br>
                <a14:m>
                  <m:oMath xmlns:m="http://schemas.openxmlformats.org/officeDocument/2006/math"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𝑜𝑏𝑠</m:t>
                    </m:r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𝑐𝑚𝑑</m:t>
                            </m:r>
                          </m:sub>
                        </m:sSub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𝑜𝑚𝑒𝑔</m:t>
                        </m:r>
                        <m:sSub>
                          <m:sSubPr>
                            <m:ctrlP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pl-PL" sz="1400" i="1" dirty="0" err="1" smtClean="0">
                                <a:solidFill>
                                  <a:srgbClr val="0D1B2A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𝑐𝑚𝑑</m:t>
                            </m:r>
                          </m:sub>
                        </m:sSub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𝑞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𝑑𝑞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𝐼𝑀𝑈</m:t>
                        </m:r>
                        <m:r>
                          <a:rPr lang="pl-PL" sz="1400" i="1" dirty="0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 </m:t>
                        </m:r>
                        <m:r>
                          <a:rPr lang="pl-PL" sz="1400" i="1" dirty="0" err="1" smtClean="0">
                            <a:solidFill>
                              <a:srgbClr val="0D1B2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𝑐𝑜𝑛𝑡𝑎𝑐𝑡</m:t>
                        </m:r>
                      </m:e>
                    </m:d>
                  </m:oMath>
                </a14:m>
                <a:br>
                  <a:rPr lang="pl-PL" sz="1400" i="1" dirty="0">
                    <a:solidFill>
                      <a:srgbClr val="0D1B2A"/>
                    </a:solidFill>
                    <a:latin typeface="Graduate" panose="02000503000000020004" pitchFamily="2" charset="0"/>
                    <a:ea typeface="Calibri" pitchFamily="34" charset="-122"/>
                    <a:cs typeface="Calibri" pitchFamily="34" charset="-120"/>
                  </a:rPr>
                </a:br>
                <a14:m>
                  <m:oMath xmlns:m="http://schemas.openxmlformats.org/officeDocument/2006/math"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−&gt; </m:t>
                    </m:r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= </m:t>
                    </m:r>
                    <m:r>
                      <a:rPr lang="pl-PL" sz="1400" i="1" dirty="0" smtClean="0">
                        <a:solidFill>
                          <a:srgbClr val="0D1B2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𝑡𝑎𝑢</m:t>
                    </m:r>
                  </m:oMath>
                </a14:m>
                <a:endParaRPr lang="pl-PL" sz="1400" dirty="0">
                  <a:latin typeface="Graduate" panose="02000503000000020004" pitchFamily="2" charset="0"/>
                </a:endParaRPr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Trening: </a:t>
                </a:r>
                <a:r>
                  <a:rPr lang="pl-PL" sz="1400" b="1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IsaacGym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; 2048 środowisk; 200M kroków; PPO</a:t>
                </a:r>
                <a:endParaRPr lang="pl-PL" sz="1400" spc="-6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Częstotliwość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200 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Hz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(WBC 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loop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integration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)</a:t>
                </a:r>
                <a:endParaRPr lang="pl-PL" sz="1400" spc="-6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Odbiera komendy od planisty 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nawigacyjnego co 50 ms</a:t>
                </a:r>
                <a:endParaRPr lang="pl-PL" sz="1400" spc="-60" dirty="0"/>
              </a:p>
              <a:p>
                <a:pPr marL="144000" indent="-144000">
                  <a:spcAft>
                    <a:spcPts val="1200"/>
                  </a:spcAft>
                  <a:buSzPct val="100000"/>
                  <a:buChar char="•"/>
                </a:pPr>
                <a:r>
                  <a:rPr lang="pl-PL" sz="1400" b="1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Algorytm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: PPO; clip = 0.2; T = 24; mini-</a:t>
                </a:r>
                <a:r>
                  <a:rPr lang="pl-PL" sz="1400" spc="-60" dirty="0" err="1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batches</a:t>
                </a:r>
                <a:r>
                  <a:rPr lang="pl-PL" sz="1400" spc="-60" dirty="0">
                    <a:solidFill>
                      <a:srgbClr val="0D1B2A"/>
                    </a:solidFill>
                    <a:ea typeface="Calibri" pitchFamily="34" charset="-122"/>
                    <a:cs typeface="Calibri" pitchFamily="34" charset="-120"/>
                  </a:rPr>
                  <a:t> = 4</a:t>
                </a:r>
                <a:endParaRPr lang="pl-PL" sz="1400" spc="-6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167" y="1572768"/>
                <a:ext cx="4036295" cy="3127248"/>
              </a:xfrm>
              <a:prstGeom prst="rect">
                <a:avLst/>
              </a:prstGeom>
              <a:blipFill>
                <a:blip r:embed="rId4"/>
                <a:stretch>
                  <a:fillRect l="-2719"/>
                </a:stretch>
              </a:blipFill>
              <a:ln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Uproszczona polityka nawigacyjna RL (SAC)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39"/>
            <a:ext cx="8595360" cy="2904521"/>
          </a:xfrm>
          <a:prstGeom prst="rect">
            <a:avLst/>
          </a:prstGeom>
          <a:solidFill>
            <a:srgbClr val="071520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" y="1005840"/>
            <a:ext cx="8321040" cy="2807878"/>
          </a:xfrm>
          <a:prstGeom prst="rect">
            <a:avLst/>
          </a:prstGeom>
          <a:noFill/>
          <a:ln/>
        </p:spPr>
        <p:txBody>
          <a:bodyPr wrap="square" lIns="50800" tIns="127000" rIns="127000" bIns="50800" rtlCol="0" anchor="t"/>
          <a:lstStyle/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NavPolicy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Module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obs_dim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act_dim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256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super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net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Sequential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Linear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obs_dim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ELU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Linear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),  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ELU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nn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Linear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hidden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act_dim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mu [v, omega]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forward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Tensor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net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Ogranicz v in [-0.5, 1.0] m/s; omega in [-1.0, 1.0] rad/s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tanh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])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0.75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0.25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preferencja do przodu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omega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tanh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[:,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])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stack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v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omega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dim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l-PL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A3550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4490224"/>
            <a:ext cx="8458200" cy="429248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 algn="ctr">
              <a:buNone/>
            </a:pPr>
            <a:r>
              <a:rPr lang="en-US" sz="1600" b="1" spc="-4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4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obs_dim=18: [goal_dx, goal_dy, dist_goal, 5x{ped_dx,dy,vx,vy,dist}]; output: (v, omega) do lokomocji.</a:t>
            </a:r>
            <a:endParaRPr lang="en-US" sz="1600" spc="-40" dirty="0"/>
          </a:p>
        </p:txBody>
      </p:sp>
      <p:sp>
        <p:nvSpPr>
          <p:cNvPr id="13" name="Shape 5"/>
          <p:cNvSpPr/>
          <p:nvPr/>
        </p:nvSpPr>
        <p:spPr>
          <a:xfrm>
            <a:off x="8110728" y="1124712"/>
            <a:ext cx="137160" cy="1371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66760" y="1124712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622792" y="1124712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ROS 2 INTEGRACJA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polityki RL z ROS 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47106" y="1093796"/>
            <a:ext cx="8785859" cy="273186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256" y="1137181"/>
            <a:ext cx="8599260" cy="2539157"/>
          </a:xfrm>
          <a:prstGeom prst="rect">
            <a:avLst/>
          </a:prstGeom>
          <a:noFill/>
          <a:ln/>
        </p:spPr>
        <p:txBody>
          <a:bodyPr wrap="square" lIns="0" tIns="0" rIns="127000" bIns="0" rtlCol="0" anchor="t">
            <a:spAutoFit/>
          </a:bodyPr>
          <a:lstStyle/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Node /</a:t>
            </a:r>
            <a:r>
              <a:rPr lang="en-US" sz="15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rl_nav_policy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subskrybuje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/</a:t>
            </a:r>
            <a:r>
              <a:rPr lang="en-US" sz="1500" b="1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odom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500" b="1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/</a:t>
            </a:r>
            <a:r>
              <a:rPr lang="en-US" sz="1500" b="1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goal_pose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500" b="1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/pedestrians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publikuje</a:t>
            </a:r>
            <a:r>
              <a:rPr lang="en-US" sz="1500" b="1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 /</a:t>
            </a:r>
            <a:r>
              <a:rPr lang="en-US" sz="1500" b="1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rl_cmd_vel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(10 Hz)</a:t>
            </a:r>
            <a:endParaRPr lang="en-US" sz="1500" spc="-4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Node /</a:t>
            </a:r>
            <a:r>
              <a:rPr lang="en-US" sz="15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rl_loco_policy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subskrybuje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/</a:t>
            </a:r>
            <a:r>
              <a:rPr lang="en-US" sz="1500" b="1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joint_states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500" b="1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/imu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500" b="1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/</a:t>
            </a:r>
            <a:r>
              <a:rPr lang="en-US" sz="1500" b="1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rl_cmd_vel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publikuje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/</a:t>
            </a:r>
            <a:r>
              <a:rPr lang="en-US" sz="1500" b="1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joint_torques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(200 Hz)</a:t>
            </a:r>
            <a:endParaRPr lang="en-US" sz="1500" spc="-4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5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Wczytanie</a:t>
            </a:r>
            <a:r>
              <a:rPr lang="en-US" sz="15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wag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500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torch.load</a:t>
            </a:r>
            <a:r>
              <a:rPr lang="en-US" sz="1500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("nav_policy.pt").eval(); </a:t>
            </a:r>
            <a:r>
              <a:rPr lang="en-US" sz="1500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torch.jit.trace</a:t>
            </a:r>
            <a:r>
              <a:rPr lang="en-US" sz="1500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()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do 2×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szybszej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inferencji</a:t>
            </a:r>
            <a:endParaRPr lang="en-US" sz="1500" spc="-4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5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Latencja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500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NavPolicy</a:t>
            </a:r>
            <a:r>
              <a:rPr lang="en-US" sz="1500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 ~0.8 </a:t>
            </a:r>
            <a:r>
              <a:rPr lang="en-US" sz="1500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ms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500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LocoPolicy</a:t>
            </a:r>
            <a:r>
              <a:rPr lang="en-US" sz="1500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 ~1.2 </a:t>
            </a:r>
            <a:r>
              <a:rPr lang="en-US" sz="1500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ms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Jetson AGX Orin -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miesci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cyklu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sterowania</a:t>
            </a:r>
            <a:endParaRPr lang="en-US" sz="1500" spc="-4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Safety wrapper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przed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kazdą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akcja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sprawdź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clip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prędkości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ZMP; watchdog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zatrzymuje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przy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przekroczeniu</a:t>
            </a:r>
            <a:endParaRPr lang="en-US" sz="1500" spc="-40" dirty="0" err="1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500" b="1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Fallback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gdy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RL policy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odpowie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przez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&gt;30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ms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aktywuj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klasyczny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DWA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kontroler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Nav2</a:t>
            </a:r>
            <a:endParaRPr lang="en-US" sz="1500" spc="-40" dirty="0">
              <a:latin typeface="Calibri"/>
              <a:ea typeface="Calibri"/>
              <a:cs typeface="Calibri"/>
            </a:endParaRPr>
          </a:p>
          <a:p>
            <a:pPr marL="143510" indent="-143510">
              <a:spcAft>
                <a:spcPts val="1200"/>
              </a:spcAft>
              <a:buSzPct val="100000"/>
              <a:buChar char="•"/>
            </a:pPr>
            <a:r>
              <a:rPr lang="en-US" sz="1500" b="1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Logowanie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zapisuj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(</a:t>
            </a:r>
            <a:r>
              <a:rPr lang="en-US" sz="1500" spc="-40" dirty="0" err="1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obs</a:t>
            </a:r>
            <a:r>
              <a:rPr lang="en-US" sz="1500" spc="-40" dirty="0">
                <a:solidFill>
                  <a:srgbClr val="0D1B2A"/>
                </a:solidFill>
                <a:latin typeface="Consolas"/>
                <a:ea typeface="Calibri"/>
                <a:cs typeface="Calibri"/>
              </a:rPr>
              <a:t>, action, reward)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do rosbag2 -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dane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dalszego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fine-</a:t>
            </a:r>
            <a:r>
              <a:rPr lang="en-US" sz="1500" spc="-4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tuningu</a:t>
            </a:r>
            <a:r>
              <a:rPr lang="en-US" sz="1500" spc="-4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online</a:t>
            </a:r>
            <a:endParaRPr lang="en-US" sz="1500" spc="-4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ROS 2 node - polityka nawigacyjna RL (Python)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107436"/>
          </a:xfrm>
          <a:prstGeom prst="rect">
            <a:avLst/>
          </a:prstGeom>
          <a:solidFill>
            <a:srgbClr val="071520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0728" y="1124712"/>
            <a:ext cx="137160" cy="1371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1124712"/>
            <a:ext cx="137160" cy="1371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2792" y="1124712"/>
            <a:ext cx="137160" cy="137160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" y="1053120"/>
            <a:ext cx="8321040" cy="2968752"/>
          </a:xfrm>
          <a:prstGeom prst="rect">
            <a:avLst/>
          </a:prstGeom>
          <a:noFill/>
          <a:ln/>
        </p:spPr>
        <p:txBody>
          <a:bodyPr wrap="square" lIns="108000" tIns="0" rIns="127000" bIns="0" rtlCol="0" anchor="t"/>
          <a:lstStyle/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rclpy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rclpy.node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Node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geometry_msgs.msg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Twist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nav_msgs.msg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Odometry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RLNavNode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Node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super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rl_nav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.policy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torch.jit.load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"nav_policy_traced.pt"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eval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.goal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None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PoseStamped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goal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.peds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[]          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lista pieszych z detektora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.cmd_pub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.create_publisher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(Twist,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"/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rl_cmd_vel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.create_subscription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Odometry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"/odom"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.odom_cb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.create_timer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.timer_cb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10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Hz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timer_cb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.goal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is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None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._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build_obs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(1, 18) tensor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torch.no_grad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.policy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obs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squeeze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cmd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Twist()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cmd.linear.x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].clip(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cmd.angular.z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].clip(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.cmd_pub.publish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cmd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Shape 9"/>
          <p:cNvSpPr/>
          <p:nvPr/>
        </p:nvSpPr>
        <p:spPr>
          <a:xfrm>
            <a:off x="274320" y="4533900"/>
            <a:ext cx="8595360" cy="385572"/>
          </a:xfrm>
          <a:prstGeom prst="rect">
            <a:avLst/>
          </a:prstGeom>
          <a:solidFill>
            <a:srgbClr val="1A3550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438650"/>
            <a:ext cx="8321040" cy="48082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torch.jit.load() laduje skompilowany </a:t>
            </a:r>
            <a:r>
              <a:rPr lang="en-US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TorchScript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- 2x szybszy i niezalezny od kodu treningu.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OGRANICZENIA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i otwarte pytania RL w humanoidach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72160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1605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Problemy techniczne i badawcze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160520" cy="37216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15568"/>
            <a:ext cx="416052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338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Kierunki (2024-2026)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" y="1600200"/>
            <a:ext cx="4096512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Kosztowny trening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100M kroków PPO to ~2 h na 4×A100; realny robot = tygodnie bez DR</a:t>
            </a:r>
            <a:endParaRPr lang="pl-PL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r>
              <a:rPr lang="pl-PL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b="1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agent nagminnie oszukuje nagrodę nieoczekiwanymi ruchami (</a:t>
            </a:r>
            <a:r>
              <a:rPr lang="pl-PL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np.toczy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się zamiast chodzić)</a:t>
            </a:r>
            <a:endParaRPr lang="pl-PL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Długookresowe planowanie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RL słabo radzi sobie </a:t>
            </a:r>
            <a:b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horyzontami &gt;50 kroków bez hierarchii lub modelu świata</a:t>
            </a:r>
            <a:endParaRPr lang="pl-PL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Generalizacja topologii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polityka nauczona w jednym budynku może nie działać w nowym</a:t>
            </a:r>
            <a:endParaRPr lang="pl-PL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Interpretowalność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siec neuronowa nie podaje powodu decyzji; trudność certyfikacji bezpieczeństwa</a:t>
            </a:r>
            <a:endParaRPr lang="pl-PL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773168" y="1600200"/>
            <a:ext cx="4096512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WMA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DreamerV3 jako efektywny solver MDP </a:t>
            </a:r>
            <a:b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wyobraznia (patrz Wyklad 6)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(od człowieka): 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ludzkie pary preferencji jako sygnał nagrody zamiast ręcznie projektowanej r</a:t>
            </a:r>
            <a:endParaRPr lang="pl-PL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</a:t>
            </a:r>
            <a:r>
              <a:rPr lang="pl-PL" sz="1400" b="1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jeden model </a:t>
            </a:r>
            <a:r>
              <a:rPr lang="pl-PL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100 robotach (Open-X-</a:t>
            </a:r>
            <a:r>
              <a:rPr lang="pl-PL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Embodiment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PPO)</a:t>
            </a:r>
            <a:endParaRPr lang="pl-PL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r>
              <a:rPr lang="pl-PL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RL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MDP z gwarancja P(kolizja) &lt; delta; </a:t>
            </a:r>
            <a:r>
              <a:rPr lang="pl-PL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certifiable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przez </a:t>
            </a:r>
            <a:r>
              <a:rPr lang="pl-PL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pl-PL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RL</a:t>
            </a:r>
            <a: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kilka humanoidów uczących się współpracować lub omijać się nawzajem</a:t>
            </a:r>
            <a:endParaRPr lang="pl-PL" sz="1400" spc="-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SYNTEZA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vs klasyczne planowanie vs WMA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545" y="1170432"/>
            <a:ext cx="2797880" cy="30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545" y="1170432"/>
            <a:ext cx="279788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715" y="1188720"/>
            <a:ext cx="27034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2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Klasyczny</a:t>
            </a:r>
            <a:r>
              <a:rPr lang="en-US" sz="1600" b="1" spc="-2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spc="-2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planista</a:t>
            </a:r>
            <a:r>
              <a:rPr lang="en-US" sz="1600" b="1" spc="-2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spc="-2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(A*/DWA)</a:t>
            </a:r>
            <a:endParaRPr lang="en-US" sz="1600" spc="-20" dirty="0">
              <a:latin typeface="Trebuchet M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7545" y="1645920"/>
            <a:ext cx="2797879" cy="253973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Deterministyczny</a:t>
            </a:r>
            <a:r>
              <a:rPr lang="pl-PL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formalnie weryfikowalny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Wymaga gotowej mapy </a:t>
            </a:r>
            <a:r>
              <a:rPr lang="pl-PL" sz="1200" spc="-4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 modelu dynamiki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czasie wykonania (ms)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uczy się 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doświadczenia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Słabe przy dużej nieliniowości </a:t>
            </a:r>
            <a:b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zakłóceniach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znane środowisko, cert. bezpieczeństwo</a:t>
            </a:r>
            <a:endParaRPr lang="pl-PL" sz="1200" spc="-40" dirty="0"/>
          </a:p>
        </p:txBody>
      </p:sp>
      <p:sp>
        <p:nvSpPr>
          <p:cNvPr id="10" name="Shape 8"/>
          <p:cNvSpPr/>
          <p:nvPr/>
        </p:nvSpPr>
        <p:spPr>
          <a:xfrm>
            <a:off x="3262454" y="1170432"/>
            <a:ext cx="2737293" cy="30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2454" y="1170432"/>
            <a:ext cx="2737293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6843" y="1188720"/>
            <a:ext cx="2548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Model-based RL/WMA</a:t>
            </a:r>
            <a:endParaRPr lang="en-US" sz="1600">
              <a:latin typeface="Trebuchet M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56843" y="1645920"/>
            <a:ext cx="2548514" cy="253973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w wyobraźni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10-100× mniej danych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Generalizacja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modelu przejścia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 być interpretowany 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przez model świata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treningu 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RSSM / TDMPC2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Średnio skuteczny 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dl. horyzoncie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ograniczone dane, bezpieczne uczenie</a:t>
            </a:r>
            <a:endParaRPr lang="pl-PL" sz="1200" spc="-40" dirty="0"/>
          </a:p>
        </p:txBody>
      </p:sp>
      <p:sp>
        <p:nvSpPr>
          <p:cNvPr id="14" name="Shape 12"/>
          <p:cNvSpPr/>
          <p:nvPr/>
        </p:nvSpPr>
        <p:spPr>
          <a:xfrm>
            <a:off x="6116776" y="1170432"/>
            <a:ext cx="2737293" cy="30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6776" y="1170432"/>
            <a:ext cx="2737293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1165" y="1188720"/>
            <a:ext cx="2548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rebuchet MS"/>
                <a:ea typeface="Trebuchet MS" pitchFamily="34" charset="-122"/>
                <a:cs typeface="Trebuchet MS" pitchFamily="34" charset="-120"/>
              </a:rPr>
              <a:t>Model-free RL </a:t>
            </a:r>
            <a:r>
              <a:rPr lang="en-US" sz="1600" dirty="0">
                <a:latin typeface="Trebuchet MS"/>
                <a:ea typeface="Trebuchet MS" pitchFamily="34" charset="-122"/>
                <a:cs typeface="Trebuchet MS" pitchFamily="34" charset="-120"/>
              </a:rPr>
              <a:t>(PPO/SAC)</a:t>
            </a:r>
            <a:endParaRPr lang="en-US" sz="1600" dirty="0">
              <a:latin typeface="Trebuchet M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96297" y="1645920"/>
            <a:ext cx="2548514" cy="253973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wymaga modelu dynamiki</a:t>
            </a:r>
            <a:endParaRPr lang="pl-PL" sz="1200" b="1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Skaluje się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2048 środowisk w Isaac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Najlepsza wydajność 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dl. treningu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dużo danych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może hakować nagrodę</a:t>
            </a:r>
            <a:endParaRPr lang="pl-PL" sz="1200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Trudny do certyfikacji</a:t>
            </a:r>
            <a:endParaRPr lang="pl-PL" sz="1200" b="1" spc="-4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</a:t>
            </a:r>
            <a:r>
              <a:rPr lang="pl-PL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duża zdolność obliczeniowa, sim2real</a:t>
            </a:r>
            <a:endParaRPr lang="pl-PL" sz="1200" spc="-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3891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 WYKLADU 8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0" y="987552"/>
            <a:ext cx="3657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7043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87552" y="1216152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i algorytmy PPO/SAC/TD3 to fundamenty RL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siec aktor-krytyk uczy się polityki przez interakcje z symulacja.</a:t>
            </a:r>
            <a:endParaRPr lang="pl-PL" sz="1600" dirty="0"/>
          </a:p>
        </p:txBody>
      </p:sp>
      <p:sp>
        <p:nvSpPr>
          <p:cNvPr id="9" name="Shape 7"/>
          <p:cNvSpPr/>
          <p:nvPr/>
        </p:nvSpPr>
        <p:spPr>
          <a:xfrm>
            <a:off x="347472" y="192024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552" y="1965960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nagrody i curriculum są kluczowe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źle zaprojektowana nagroda prowadzi do </a:t>
            </a:r>
            <a:r>
              <a:rPr lang="pl-PL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hackingu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zamiast chodzenia.</a:t>
            </a:r>
            <a:endParaRPr lang="pl-PL" sz="1600" dirty="0"/>
          </a:p>
        </p:txBody>
      </p:sp>
      <p:sp>
        <p:nvSpPr>
          <p:cNvPr id="12" name="Shape 10"/>
          <p:cNvSpPr/>
          <p:nvPr/>
        </p:nvSpPr>
        <p:spPr>
          <a:xfrm>
            <a:off x="347472" y="2670048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7552" y="2715768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600" b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r>
              <a:rPr lang="pl-PL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b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</a:t>
            </a:r>
            <a:r>
              <a:rPr lang="pl-PL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asymetryczny AC 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sprawdzone recepty na udany transfer sim-to-real w mniej niż 2h kalibracji.</a:t>
            </a:r>
            <a:endParaRPr lang="pl-PL" sz="1600" dirty="0"/>
          </a:p>
        </p:txBody>
      </p:sp>
      <p:sp>
        <p:nvSpPr>
          <p:cNvPr id="15" name="Shape 13"/>
          <p:cNvSpPr/>
          <p:nvPr/>
        </p:nvSpPr>
        <p:spPr>
          <a:xfrm>
            <a:off x="347472" y="3419856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7552" y="3465576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l-PL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Hierarchiczne RL rozdziela nawigacje 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</a:t>
            </a:r>
            <a:r>
              <a:rPr lang="pl-PL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pl-PL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lokomocji 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 </a:t>
            </a:r>
            <a:r>
              <a:rPr lang="pl-PL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oba poziomy integrują się z ROS 2 przez </a:t>
            </a:r>
            <a:r>
              <a:rPr lang="pl-PL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torchscript</a:t>
            </a:r>
            <a:r>
              <a:rPr lang="pl-PL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l-PL" sz="1600" dirty="0"/>
          </a:p>
        </p:txBody>
      </p:sp>
      <p:sp>
        <p:nvSpPr>
          <p:cNvPr id="18" name="Shape 16"/>
          <p:cNvSpPr/>
          <p:nvPr/>
        </p:nvSpPr>
        <p:spPr>
          <a:xfrm>
            <a:off x="347472" y="4169664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7552" y="4215384"/>
            <a:ext cx="7740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600" b="1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RL, WMA i klasyczny planista są komplementarne</a:t>
            </a:r>
            <a:r>
              <a:rPr lang="pl-PL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; optymalna architektura </a:t>
            </a:r>
            <a:br>
              <a:rPr lang="pl-PL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</a:br>
            <a:r>
              <a:rPr lang="pl-PL" sz="16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łączy je w </a:t>
            </a:r>
            <a:r>
              <a:rPr lang="pl-PL" sz="1600" dirty="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hierarchii zależnie od horyzontu i ryzyka.</a:t>
            </a:r>
            <a:endParaRPr lang="pl-PL" sz="16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4537" y="1147536"/>
            <a:ext cx="8535143" cy="35478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Dlaczego polityka RL musi mieć dostęp do historii obserwacji (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history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buffer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) przy transferze sim-to-real? </a:t>
            </a:r>
            <a:b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</a:b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Jaką 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długość bufora jest wystarczająca i dlaczego?</a:t>
            </a:r>
            <a:endParaRPr lang="pl-PL" sz="1400" dirty="0">
              <a:ea typeface="Calibri"/>
              <a:cs typeface="Calibri"/>
            </a:endParaRPr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Zaprojektuj funkcje nagrody dla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humanoida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 uczącego się wchodzić po schodach o nieznanej wysokości stopni (10-20 cm). Jakie składniki nagrody są niezbędne, a jakie mogą prowadzić do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reward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hackingu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?</a:t>
            </a:r>
            <a:endParaRPr lang="pl-PL" sz="1400" dirty="0">
              <a:ea typeface="Calibri"/>
              <a:cs typeface="Calibri"/>
            </a:endParaRPr>
          </a:p>
          <a:p>
            <a:pPr marL="342900" indent="-342900">
              <a:spcAft>
                <a:spcPts val="2400"/>
              </a:spcAft>
              <a:buSzPct val="100000"/>
              <a:buFont typeface="+mj-lt"/>
              <a:buAutoNum type="arabicPeriod"/>
            </a:pPr>
            <a:r>
              <a:rPr lang="pl-PL" sz="14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Wyjaśnij różnice miedzy on-policy (PPO) a off-policy (SAC) w kontekście ograniczonego czasu treningu na GPU. Kiedy wybrać jeden, a kiedy drugi?</a:t>
            </a:r>
            <a:endParaRPr lang="pl-PL" sz="1200" dirty="0"/>
          </a:p>
          <a:p>
            <a:pPr>
              <a:spcAft>
                <a:spcPts val="1200"/>
              </a:spcAft>
              <a:buSzPct val="100000"/>
            </a:pPr>
            <a:r>
              <a:rPr lang="pl-PL" sz="1400" b="1" dirty="0">
                <a:solidFill>
                  <a:srgbClr val="0D1B2A"/>
                </a:solidFill>
                <a:ea typeface="Calibri"/>
                <a:cs typeface="Calibri"/>
              </a:rPr>
              <a:t>Zadanie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: zaimplementuj pętle RL z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Gymnasium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 Humanoid-v5 (Kod 1) i zastąp losowa politykę najprostszym możliwym aktorem (MLP 2 warstwy,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tanh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,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opt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 Adam). Porównaj średni return po 10k i 100k krokach.</a:t>
            </a:r>
            <a:endParaRPr lang="pl-PL" sz="1400" dirty="0">
              <a:ea typeface="Calibri"/>
              <a:cs typeface="Calibri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pl-PL" sz="1400" b="1" dirty="0">
                <a:solidFill>
                  <a:srgbClr val="0D1B2A"/>
                </a:solidFill>
                <a:ea typeface="Calibri"/>
                <a:cs typeface="Calibri"/>
              </a:rPr>
              <a:t>Bonus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: zintegruj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TorchScript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 policy (Kod 4) z Nav2 w </a:t>
            </a:r>
            <a:r>
              <a:rPr lang="pl-PL" sz="1400">
                <a:solidFill>
                  <a:srgbClr val="0D1B2A"/>
                </a:solidFill>
                <a:ea typeface="Calibri"/>
                <a:cs typeface="Calibri"/>
              </a:rPr>
              <a:t>Gazebo</a:t>
            </a:r>
            <a:r>
              <a:rPr lang="pl-PL" sz="1400" dirty="0">
                <a:solidFill>
                  <a:srgbClr val="0D1B2A"/>
                </a:solidFill>
                <a:ea typeface="Calibri"/>
                <a:cs typeface="Calibri"/>
              </a:rPr>
              <a:t> i porównaj czas dotarcia do celu z 5 pieszymi względem klasycznego DWB kontrolera.</a:t>
            </a:r>
            <a:endParaRPr lang="pl-PL" sz="1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3825</Words>
  <Application>Microsoft Office PowerPoint</Application>
  <PresentationFormat>Pokaz na ekranie (16:9)</PresentationFormat>
  <Paragraphs>357</Paragraphs>
  <Slides>25</Slides>
  <Notes>25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25</vt:i4>
      </vt:variant>
    </vt:vector>
  </HeadingPairs>
  <TitlesOfParts>
    <vt:vector size="26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Wyklad 8 – Reinforcement Learning w nawigacji i lokomocji humanoidow</dc:title>
  <dc:subject>PptxGenJS Presentation</dc:subject>
  <dc:creator>Politechnika – Katedra Robotyki</dc:creator>
  <cp:lastModifiedBy>Mateusz Pomianek</cp:lastModifiedBy>
  <cp:revision>135</cp:revision>
  <dcterms:created xsi:type="dcterms:W3CDTF">2026-04-29T05:25:41Z</dcterms:created>
  <dcterms:modified xsi:type="dcterms:W3CDTF">2026-07-20T10:12:01Z</dcterms:modified>
</cp:coreProperties>
</file>