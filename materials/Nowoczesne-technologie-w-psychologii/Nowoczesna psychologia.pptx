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Layouts/slideLayout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 id="2147483654" r:id="rId5"/>
    <p:sldMasterId id="2147483656" r:id="rId6"/>
  </p:sldMasterIdLst>
  <p:notesMasterIdLst>
    <p:notesMasterId r:id="rId58"/>
  </p:notesMasterIdLst>
  <p:sldIdLst>
    <p:sldId id="256" r:id="rId7"/>
    <p:sldId id="257" r:id="rId8"/>
    <p:sldId id="258" r:id="rId9"/>
    <p:sldId id="259" r:id="rId10"/>
    <p:sldId id="311" r:id="rId11"/>
    <p:sldId id="260" r:id="rId12"/>
    <p:sldId id="261" r:id="rId13"/>
    <p:sldId id="262" r:id="rId14"/>
    <p:sldId id="312" r:id="rId15"/>
    <p:sldId id="263" r:id="rId16"/>
    <p:sldId id="264" r:id="rId17"/>
    <p:sldId id="265" r:id="rId18"/>
    <p:sldId id="305" r:id="rId19"/>
    <p:sldId id="267" r:id="rId20"/>
    <p:sldId id="306" r:id="rId21"/>
    <p:sldId id="269" r:id="rId22"/>
    <p:sldId id="270" r:id="rId23"/>
    <p:sldId id="271" r:id="rId24"/>
    <p:sldId id="272" r:id="rId25"/>
    <p:sldId id="307" r:id="rId26"/>
    <p:sldId id="274" r:id="rId27"/>
    <p:sldId id="275" r:id="rId28"/>
    <p:sldId id="276" r:id="rId29"/>
    <p:sldId id="277" r:id="rId30"/>
    <p:sldId id="278" r:id="rId31"/>
    <p:sldId id="279" r:id="rId32"/>
    <p:sldId id="280" r:id="rId33"/>
    <p:sldId id="281" r:id="rId34"/>
    <p:sldId id="282" r:id="rId35"/>
    <p:sldId id="283" r:id="rId36"/>
    <p:sldId id="308" r:id="rId37"/>
    <p:sldId id="285" r:id="rId38"/>
    <p:sldId id="286" r:id="rId39"/>
    <p:sldId id="287" r:id="rId40"/>
    <p:sldId id="288" r:id="rId41"/>
    <p:sldId id="289" r:id="rId42"/>
    <p:sldId id="309" r:id="rId43"/>
    <p:sldId id="291" r:id="rId44"/>
    <p:sldId id="292" r:id="rId45"/>
    <p:sldId id="293" r:id="rId46"/>
    <p:sldId id="294" r:id="rId47"/>
    <p:sldId id="295" r:id="rId48"/>
    <p:sldId id="296" r:id="rId49"/>
    <p:sldId id="297" r:id="rId50"/>
    <p:sldId id="310" r:id="rId51"/>
    <p:sldId id="299" r:id="rId52"/>
    <p:sldId id="300" r:id="rId53"/>
    <p:sldId id="301" r:id="rId54"/>
    <p:sldId id="302" r:id="rId55"/>
    <p:sldId id="303" r:id="rId56"/>
    <p:sldId id="304" r:id="rId57"/>
  </p:sldIdLst>
  <p:sldSz cx="10080625" cy="5670550"/>
  <p:notesSz cx="7559675" cy="10691813"/>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FBFD"/>
    <a:srgbClr val="5B8FF9"/>
    <a:srgbClr val="F4F6FB"/>
    <a:srgbClr val="B9BED9"/>
    <a:srgbClr val="255DDD"/>
    <a:srgbClr val="084EDA"/>
    <a:srgbClr val="256BF7"/>
    <a:srgbClr val="3677F8"/>
    <a:srgbClr val="8A93C0"/>
    <a:srgbClr val="5966A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3F6432-ED33-8395-B56C-88A160F54687}" v="44" dt="2026-06-26T10:54:09.2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941" autoAdjust="0"/>
    <p:restoredTop sz="80516" autoAdjust="0"/>
  </p:normalViewPr>
  <p:slideViewPr>
    <p:cSldViewPr snapToGrid="0">
      <p:cViewPr varScale="1">
        <p:scale>
          <a:sx n="137" d="100"/>
          <a:sy n="137" d="100"/>
        </p:scale>
        <p:origin x="906" y="120"/>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slide" Target="slides/slide44.xml"/><Relationship Id="rId55" Type="http://schemas.openxmlformats.org/officeDocument/2006/relationships/slide" Target="slides/slide49.xml"/><Relationship Id="rId63" Type="http://schemas.microsoft.com/office/2016/11/relationships/changesInfo" Target="changesInfos/changesInfo1.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notesMaster" Target="notesMasters/notesMaster1.xml"/><Relationship Id="rId5" Type="http://schemas.openxmlformats.org/officeDocument/2006/relationships/slideMaster" Target="slideMasters/slideMaster2.xml"/><Relationship Id="rId61" Type="http://schemas.openxmlformats.org/officeDocument/2006/relationships/theme" Target="theme/theme1.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microsoft.com/office/2015/10/relationships/revisionInfo" Target="revisionInfo.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presProps" Target="presProps.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eusz Pomianek" userId="S::mpomianek@o365.prz.edu.pl::3d638ea4-2586-4d1a-a8fd-db8a3798db81" providerId="AD" clId="Web-{793F6432-ED33-8395-B56C-88A160F54687}"/>
    <pc:docChg chg="modSld">
      <pc:chgData name="Mateusz Pomianek" userId="S::mpomianek@o365.prz.edu.pl::3d638ea4-2586-4d1a-a8fd-db8a3798db81" providerId="AD" clId="Web-{793F6432-ED33-8395-B56C-88A160F54687}" dt="2026-06-26T10:54:09.241" v="42" actId="20577"/>
      <pc:docMkLst>
        <pc:docMk/>
      </pc:docMkLst>
      <pc:sldChg chg="modSp">
        <pc:chgData name="Mateusz Pomianek" userId="S::mpomianek@o365.prz.edu.pl::3d638ea4-2586-4d1a-a8fd-db8a3798db81" providerId="AD" clId="Web-{793F6432-ED33-8395-B56C-88A160F54687}" dt="2026-06-26T10:54:09.241" v="42" actId="20577"/>
        <pc:sldMkLst>
          <pc:docMk/>
          <pc:sldMk cId="1712655520" sldId="312"/>
        </pc:sldMkLst>
        <pc:spChg chg="mod">
          <ac:chgData name="Mateusz Pomianek" userId="S::mpomianek@o365.prz.edu.pl::3d638ea4-2586-4d1a-a8fd-db8a3798db81" providerId="AD" clId="Web-{793F6432-ED33-8395-B56C-88A160F54687}" dt="2026-06-26T10:53:48.459" v="36" actId="20577"/>
          <ac:spMkLst>
            <pc:docMk/>
            <pc:sldMk cId="1712655520" sldId="312"/>
            <ac:spMk id="7" creationId="{00000000-0000-0000-0000-000000000000}"/>
          </ac:spMkLst>
        </pc:spChg>
        <pc:spChg chg="mod">
          <ac:chgData name="Mateusz Pomianek" userId="S::mpomianek@o365.prz.edu.pl::3d638ea4-2586-4d1a-a8fd-db8a3798db81" providerId="AD" clId="Web-{793F6432-ED33-8395-B56C-88A160F54687}" dt="2026-06-26T10:53:43.006" v="33" actId="20577"/>
          <ac:spMkLst>
            <pc:docMk/>
            <pc:sldMk cId="1712655520" sldId="312"/>
            <ac:spMk id="11" creationId="{00000000-0000-0000-0000-000000000000}"/>
          </ac:spMkLst>
        </pc:spChg>
        <pc:spChg chg="mod">
          <ac:chgData name="Mateusz Pomianek" userId="S::mpomianek@o365.prz.edu.pl::3d638ea4-2586-4d1a-a8fd-db8a3798db81" providerId="AD" clId="Web-{793F6432-ED33-8395-B56C-88A160F54687}" dt="2026-06-26T10:53:46.959" v="35" actId="20577"/>
          <ac:spMkLst>
            <pc:docMk/>
            <pc:sldMk cId="1712655520" sldId="312"/>
            <ac:spMk id="15" creationId="{00000000-0000-0000-0000-000000000000}"/>
          </ac:spMkLst>
        </pc:spChg>
        <pc:spChg chg="mod">
          <ac:chgData name="Mateusz Pomianek" userId="S::mpomianek@o365.prz.edu.pl::3d638ea4-2586-4d1a-a8fd-db8a3798db81" providerId="AD" clId="Web-{793F6432-ED33-8395-B56C-88A160F54687}" dt="2026-06-26T10:53:56.365" v="39" actId="20577"/>
          <ac:spMkLst>
            <pc:docMk/>
            <pc:sldMk cId="1712655520" sldId="312"/>
            <ac:spMk id="19" creationId="{00000000-0000-0000-0000-000000000000}"/>
          </ac:spMkLst>
        </pc:spChg>
        <pc:spChg chg="mod">
          <ac:chgData name="Mateusz Pomianek" userId="S::mpomianek@o365.prz.edu.pl::3d638ea4-2586-4d1a-a8fd-db8a3798db81" providerId="AD" clId="Web-{793F6432-ED33-8395-B56C-88A160F54687}" dt="2026-06-26T10:53:53.709" v="38" actId="20577"/>
          <ac:spMkLst>
            <pc:docMk/>
            <pc:sldMk cId="1712655520" sldId="312"/>
            <ac:spMk id="23" creationId="{00000000-0000-0000-0000-000000000000}"/>
          </ac:spMkLst>
        </pc:spChg>
        <pc:spChg chg="mod">
          <ac:chgData name="Mateusz Pomianek" userId="S::mpomianek@o365.prz.edu.pl::3d638ea4-2586-4d1a-a8fd-db8a3798db81" providerId="AD" clId="Web-{793F6432-ED33-8395-B56C-88A160F54687}" dt="2026-06-26T10:53:51.162" v="37" actId="20577"/>
          <ac:spMkLst>
            <pc:docMk/>
            <pc:sldMk cId="1712655520" sldId="312"/>
            <ac:spMk id="27" creationId="{00000000-0000-0000-0000-000000000000}"/>
          </ac:spMkLst>
        </pc:spChg>
        <pc:spChg chg="mod">
          <ac:chgData name="Mateusz Pomianek" userId="S::mpomianek@o365.prz.edu.pl::3d638ea4-2586-4d1a-a8fd-db8a3798db81" providerId="AD" clId="Web-{793F6432-ED33-8395-B56C-88A160F54687}" dt="2026-06-26T10:53:09.459" v="23" actId="14100"/>
          <ac:spMkLst>
            <pc:docMk/>
            <pc:sldMk cId="1712655520" sldId="312"/>
            <ac:spMk id="29" creationId="{00000000-0000-0000-0000-000000000000}"/>
          </ac:spMkLst>
        </pc:spChg>
        <pc:spChg chg="mod">
          <ac:chgData name="Mateusz Pomianek" userId="S::mpomianek@o365.prz.edu.pl::3d638ea4-2586-4d1a-a8fd-db8a3798db81" providerId="AD" clId="Web-{793F6432-ED33-8395-B56C-88A160F54687}" dt="2026-06-26T10:53:09.490" v="24" actId="14100"/>
          <ac:spMkLst>
            <pc:docMk/>
            <pc:sldMk cId="1712655520" sldId="312"/>
            <ac:spMk id="30" creationId="{00000000-0000-0000-0000-000000000000}"/>
          </ac:spMkLst>
        </pc:spChg>
        <pc:spChg chg="mod">
          <ac:chgData name="Mateusz Pomianek" userId="S::mpomianek@o365.prz.edu.pl::3d638ea4-2586-4d1a-a8fd-db8a3798db81" providerId="AD" clId="Web-{793F6432-ED33-8395-B56C-88A160F54687}" dt="2026-06-26T10:54:09.241" v="42" actId="20577"/>
          <ac:spMkLst>
            <pc:docMk/>
            <pc:sldMk cId="1712655520" sldId="312"/>
            <ac:spMk id="31" creationId="{00000000-0000-0000-0000-000000000000}"/>
          </ac:spMkLst>
        </pc:spChg>
        <pc:spChg chg="mod">
          <ac:chgData name="Mateusz Pomianek" userId="S::mpomianek@o365.prz.edu.pl::3d638ea4-2586-4d1a-a8fd-db8a3798db81" providerId="AD" clId="Web-{793F6432-ED33-8395-B56C-88A160F54687}" dt="2026-06-26T10:53:00.630" v="22" actId="14100"/>
          <ac:spMkLst>
            <pc:docMk/>
            <pc:sldMk cId="1712655520" sldId="312"/>
            <ac:spMk id="32" creationId="{00000000-0000-0000-0000-000000000000}"/>
          </ac:spMkLst>
        </pc:spChg>
        <pc:spChg chg="mod">
          <ac:chgData name="Mateusz Pomianek" userId="S::mpomianek@o365.prz.edu.pl::3d638ea4-2586-4d1a-a8fd-db8a3798db81" providerId="AD" clId="Web-{793F6432-ED33-8395-B56C-88A160F54687}" dt="2026-06-26T10:53:19.115" v="26" actId="14100"/>
          <ac:spMkLst>
            <pc:docMk/>
            <pc:sldMk cId="1712655520" sldId="312"/>
            <ac:spMk id="33" creationId="{00000000-0000-0000-0000-000000000000}"/>
          </ac:spMkLst>
        </pc:spChg>
        <pc:spChg chg="mod">
          <ac:chgData name="Mateusz Pomianek" userId="S::mpomianek@o365.prz.edu.pl::3d638ea4-2586-4d1a-a8fd-db8a3798db81" providerId="AD" clId="Web-{793F6432-ED33-8395-B56C-88A160F54687}" dt="2026-06-26T10:53:19.131" v="27" actId="14100"/>
          <ac:spMkLst>
            <pc:docMk/>
            <pc:sldMk cId="1712655520" sldId="312"/>
            <ac:spMk id="34" creationId="{00000000-0000-0000-0000-000000000000}"/>
          </ac:spMkLst>
        </pc:spChg>
        <pc:spChg chg="mod">
          <ac:chgData name="Mateusz Pomianek" userId="S::mpomianek@o365.prz.edu.pl::3d638ea4-2586-4d1a-a8fd-db8a3798db81" providerId="AD" clId="Web-{793F6432-ED33-8395-B56C-88A160F54687}" dt="2026-06-26T10:54:05.225" v="40" actId="20577"/>
          <ac:spMkLst>
            <pc:docMk/>
            <pc:sldMk cId="1712655520" sldId="312"/>
            <ac:spMk id="35" creationId="{00000000-0000-0000-0000-000000000000}"/>
          </ac:spMkLst>
        </pc:spChg>
        <pc:spChg chg="mod">
          <ac:chgData name="Mateusz Pomianek" userId="S::mpomianek@o365.prz.edu.pl::3d638ea4-2586-4d1a-a8fd-db8a3798db81" providerId="AD" clId="Web-{793F6432-ED33-8395-B56C-88A160F54687}" dt="2026-06-26T10:53:33.303" v="32" actId="20577"/>
          <ac:spMkLst>
            <pc:docMk/>
            <pc:sldMk cId="1712655520" sldId="312"/>
            <ac:spMk id="36" creationId="{00000000-0000-0000-0000-000000000000}"/>
          </ac:spMkLst>
        </pc:spChg>
        <pc:spChg chg="mod">
          <ac:chgData name="Mateusz Pomianek" userId="S::mpomianek@o365.prz.edu.pl::3d638ea4-2586-4d1a-a8fd-db8a3798db81" providerId="AD" clId="Web-{793F6432-ED33-8395-B56C-88A160F54687}" dt="2026-06-26T10:51:17.661" v="0" actId="1076"/>
          <ac:spMkLst>
            <pc:docMk/>
            <pc:sldMk cId="1712655520" sldId="312"/>
            <ac:spMk id="3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7"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a:r>
              <a:rPr lang="pl-PL" sz="4400" b="0" u="none" strike="noStrike">
                <a:solidFill>
                  <a:srgbClr val="000000"/>
                </a:solidFill>
                <a:effectLst/>
                <a:uFillTx/>
                <a:latin typeface="Arial"/>
              </a:rPr>
              <a:t>Kliknij, aby przesunąć slajd</a:t>
            </a:r>
          </a:p>
        </p:txBody>
      </p:sp>
      <p:sp>
        <p:nvSpPr>
          <p:cNvPr id="38"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pl-PL" sz="2000" b="0" u="none" strike="noStrike">
                <a:solidFill>
                  <a:srgbClr val="000000"/>
                </a:solidFill>
                <a:effectLst/>
                <a:uFillTx/>
                <a:latin typeface="Arial"/>
              </a:rPr>
              <a:t>Kliknij, aby edytować format notatek</a:t>
            </a:r>
          </a:p>
        </p:txBody>
      </p:sp>
      <p:sp>
        <p:nvSpPr>
          <p:cNvPr id="39"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pl-PL" sz="1400" b="0" u="none" strike="noStrike">
                <a:solidFill>
                  <a:srgbClr val="000000"/>
                </a:solidFill>
                <a:effectLst/>
                <a:uFillTx/>
                <a:latin typeface="Times New Roman"/>
              </a:rPr>
              <a:t> </a:t>
            </a:r>
          </a:p>
        </p:txBody>
      </p:sp>
      <p:sp>
        <p:nvSpPr>
          <p:cNvPr id="40" name="PlaceHolder 4"/>
          <p:cNvSpPr>
            <a:spLocks noGrp="1"/>
          </p:cNvSpPr>
          <p:nvPr>
            <p:ph type="dt" idx="16"/>
          </p:nvPr>
        </p:nvSpPr>
        <p:spPr>
          <a:xfrm>
            <a:off x="4278960" y="0"/>
            <a:ext cx="3280680" cy="534240"/>
          </a:xfrm>
          <a:prstGeom prst="rect">
            <a:avLst/>
          </a:prstGeom>
          <a:noFill/>
          <a:ln w="0">
            <a:noFill/>
          </a:ln>
        </p:spPr>
        <p:txBody>
          <a:bodyPr lIns="0" tIns="0" rIns="0" bIns="0" anchor="t">
            <a:noAutofit/>
          </a:bodyPr>
          <a:lstStyle>
            <a:lvl1pPr indent="0" algn="r">
              <a:buNone/>
              <a:defRPr lang="pl-PL" sz="1400" b="0" u="none" strike="noStrike">
                <a:solidFill>
                  <a:srgbClr val="000000"/>
                </a:solidFill>
                <a:effectLst/>
                <a:uFillTx/>
                <a:latin typeface="Times New Roman"/>
              </a:defRPr>
            </a:lvl1pPr>
          </a:lstStyle>
          <a:p>
            <a:pPr indent="0" algn="r">
              <a:buNone/>
            </a:pPr>
            <a:r>
              <a:rPr lang="pl-PL" sz="1400" b="0" u="none" strike="noStrike">
                <a:solidFill>
                  <a:srgbClr val="000000"/>
                </a:solidFill>
                <a:effectLst/>
                <a:uFillTx/>
                <a:latin typeface="Times New Roman"/>
              </a:rPr>
              <a:t> </a:t>
            </a:r>
          </a:p>
        </p:txBody>
      </p:sp>
      <p:sp>
        <p:nvSpPr>
          <p:cNvPr id="41" name="PlaceHolder 5"/>
          <p:cNvSpPr>
            <a:spLocks noGrp="1"/>
          </p:cNvSpPr>
          <p:nvPr>
            <p:ph type="ftr" idx="17"/>
          </p:nvPr>
        </p:nvSpPr>
        <p:spPr>
          <a:xfrm>
            <a:off x="0" y="10157400"/>
            <a:ext cx="3280680" cy="534240"/>
          </a:xfrm>
          <a:prstGeom prst="rect">
            <a:avLst/>
          </a:prstGeom>
          <a:noFill/>
          <a:ln w="0">
            <a:noFill/>
          </a:ln>
        </p:spPr>
        <p:txBody>
          <a:bodyPr lIns="0" tIns="0" rIns="0" bIns="0" anchor="b">
            <a:noAutofit/>
          </a:bodyPr>
          <a:lstStyle>
            <a:lvl1pPr indent="0">
              <a:buNone/>
              <a:defRPr lang="pl-PL" sz="1400" b="0" u="none" strike="noStrike">
                <a:solidFill>
                  <a:srgbClr val="000000"/>
                </a:solidFill>
                <a:effectLst/>
                <a:uFillTx/>
                <a:latin typeface="Times New Roman"/>
              </a:defRPr>
            </a:lvl1pPr>
          </a:lstStyle>
          <a:p>
            <a:pPr indent="0">
              <a:buNone/>
            </a:pPr>
            <a:r>
              <a:rPr lang="pl-PL" sz="1400" b="0" u="none" strike="noStrike">
                <a:solidFill>
                  <a:srgbClr val="000000"/>
                </a:solidFill>
                <a:effectLst/>
                <a:uFillTx/>
                <a:latin typeface="Times New Roman"/>
              </a:rPr>
              <a:t> </a:t>
            </a:r>
          </a:p>
        </p:txBody>
      </p:sp>
      <p:sp>
        <p:nvSpPr>
          <p:cNvPr id="42" name="PlaceHolder 6"/>
          <p:cNvSpPr>
            <a:spLocks noGrp="1"/>
          </p:cNvSpPr>
          <p:nvPr>
            <p:ph type="sldNum" idx="18"/>
          </p:nvPr>
        </p:nvSpPr>
        <p:spPr>
          <a:xfrm>
            <a:off x="4278960" y="10157400"/>
            <a:ext cx="3280680" cy="534240"/>
          </a:xfrm>
          <a:prstGeom prst="rect">
            <a:avLst/>
          </a:prstGeom>
          <a:noFill/>
          <a:ln w="0">
            <a:noFill/>
          </a:ln>
        </p:spPr>
        <p:txBody>
          <a:bodyPr lIns="0" tIns="0" rIns="0" bIns="0" anchor="b">
            <a:noAutofit/>
          </a:bodyPr>
          <a:lstStyle>
            <a:lvl1pPr indent="0" algn="r">
              <a:buNone/>
              <a:defRPr lang="pl-PL" sz="1400" b="0" u="none" strike="noStrike">
                <a:solidFill>
                  <a:srgbClr val="000000"/>
                </a:solidFill>
                <a:effectLst/>
                <a:uFillTx/>
                <a:latin typeface="Times New Roman"/>
              </a:defRPr>
            </a:lvl1pPr>
          </a:lstStyle>
          <a:p>
            <a:pPr indent="0" algn="r">
              <a:buNone/>
            </a:pPr>
            <a:fld id="{BF06256B-8A80-4B55-9404-0B5FC9FA1CF7}" type="slidenum">
              <a:rPr lang="pl-PL" sz="1400" b="0" u="none" strike="noStrike">
                <a:solidFill>
                  <a:srgbClr val="000000"/>
                </a:solidFill>
                <a:effectLst/>
                <a:uFillTx/>
                <a:latin typeface="Times New Roman"/>
              </a:rPr>
              <a:t>‹#›</a:t>
            </a:fld>
            <a:endParaRPr lang="pl-PL"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4" name="PlaceHolder 1"/>
          <p:cNvSpPr>
            <a:spLocks noGrp="1" noRot="1" noChangeAspect="1"/>
          </p:cNvSpPr>
          <p:nvPr>
            <p:ph type="sldImg"/>
          </p:nvPr>
        </p:nvSpPr>
        <p:spPr>
          <a:xfrm>
            <a:off x="1833563" y="1336675"/>
            <a:ext cx="6411912" cy="3606800"/>
          </a:xfrm>
          <a:prstGeom prst="rect">
            <a:avLst/>
          </a:prstGeom>
          <a:ln w="0">
            <a:noFill/>
          </a:ln>
        </p:spPr>
      </p:sp>
      <p:sp>
        <p:nvSpPr>
          <p:cNvPr id="1535" name="PlaceHolder 2"/>
          <p:cNvSpPr>
            <a:spLocks noGrp="1"/>
          </p:cNvSpPr>
          <p:nvPr>
            <p:ph type="body"/>
          </p:nvPr>
        </p:nvSpPr>
        <p:spPr>
          <a:xfrm>
            <a:off x="1007640" y="5145480"/>
            <a:ext cx="8062560" cy="4208760"/>
          </a:xfrm>
          <a:prstGeom prst="rect">
            <a:avLst/>
          </a:prstGeom>
          <a:noFill/>
          <a:ln w="0">
            <a:noFill/>
          </a:ln>
        </p:spPr>
        <p:txBody>
          <a:bodyPr lIns="91440" tIns="45720" rIns="91440" bIns="45720" anchor="t">
            <a:noAutofit/>
          </a:bodyPr>
          <a:lstStyle/>
          <a:p>
            <a:pPr indent="0">
              <a:lnSpc>
                <a:spcPct val="100000"/>
              </a:lnSpc>
              <a:buNone/>
              <a:tabLst>
                <a:tab pos="0" algn="l"/>
              </a:tabLst>
            </a:pPr>
            <a:r>
              <a:rPr lang="pl-PL" sz="2000" b="0" u="none" strike="noStrike" dirty="0">
                <a:solidFill>
                  <a:srgbClr val="000000"/>
                </a:solidFill>
                <a:effectLst/>
                <a:uFillTx/>
                <a:latin typeface="Arial"/>
              </a:rPr>
              <a:t>Zacznę od pytania, które zadaję sobie co kilka lat: co tak naprawdę mierzymy w psychologii i jak dobrze to robimy? Przez dekady dominował schemat: rekrutujemy grupę studentów, dajemy im kwestionariusz, liczymy średnie i piszemy artykuł. Dziś mamy narzędzia pozwalające mierzyć zachowanie z milisekundową dokładnością, zbierać dane od tysięcy uczestników online, rejestrować sygnały fizjologiczne w środowisku naturalnym. Moim zadaniem nie jest przekonywanie, że technologia zmienia psychologię - chcę pokazać konkretnie, które decyzje metodologiczne poprawia, a których nie zastąpi. To wykład dla praktyków, nie dla entuzjastów gadżetów.</a:t>
            </a:r>
          </a:p>
        </p:txBody>
      </p:sp>
      <p:sp>
        <p:nvSpPr>
          <p:cNvPr id="1536" name="PlaceHolder 3"/>
          <p:cNvSpPr>
            <a:spLocks noGrp="1"/>
          </p:cNvSpPr>
          <p:nvPr>
            <p:ph type="sldNum" idx="19"/>
          </p:nvPr>
        </p:nvSpPr>
        <p:spPr>
          <a:xfrm>
            <a:off x="5709600" y="10155600"/>
            <a:ext cx="4366440" cy="5353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pl-PL" sz="1200" b="0" u="none" strike="noStrike">
                <a:solidFill>
                  <a:schemeClr val="dk1"/>
                </a:solidFill>
                <a:effectLst/>
                <a:uFillTx/>
                <a:latin typeface="+mn-lt"/>
                <a:ea typeface="+mn-ea"/>
              </a:defRPr>
            </a:lvl1pPr>
          </a:lstStyle>
          <a:p>
            <a:pPr indent="0" algn="r" defTabSz="914400">
              <a:lnSpc>
                <a:spcPct val="100000"/>
              </a:lnSpc>
              <a:buNone/>
              <a:tabLst>
                <a:tab pos="0" algn="l"/>
              </a:tabLst>
            </a:pPr>
            <a:fld id="{BA191C0E-2824-4BC1-8DF2-040E2A647493}" type="slidenum">
              <a:rPr lang="pl-PL" sz="1200" b="0" u="none" strike="noStrike">
                <a:solidFill>
                  <a:schemeClr val="dk1"/>
                </a:solidFill>
                <a:effectLst/>
                <a:uFillTx/>
                <a:latin typeface="+mn-lt"/>
                <a:ea typeface="+mn-ea"/>
              </a:rPr>
              <a:t>1</a:t>
            </a:fld>
            <a:endParaRPr lang="pl-PL"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7" name="PlaceHolder 1"/>
          <p:cNvSpPr>
            <a:spLocks noGrp="1" noRot="1" noChangeAspect="1"/>
          </p:cNvSpPr>
          <p:nvPr>
            <p:ph type="sldImg"/>
          </p:nvPr>
        </p:nvSpPr>
        <p:spPr>
          <a:xfrm>
            <a:off x="1833563" y="1336675"/>
            <a:ext cx="6410325" cy="3606800"/>
          </a:xfrm>
          <a:prstGeom prst="rect">
            <a:avLst/>
          </a:prstGeom>
          <a:ln w="0">
            <a:noFill/>
          </a:ln>
        </p:spPr>
      </p:sp>
      <p:sp>
        <p:nvSpPr>
          <p:cNvPr id="1538" name="PlaceHolder 2"/>
          <p:cNvSpPr>
            <a:spLocks noGrp="1"/>
          </p:cNvSpPr>
          <p:nvPr>
            <p:ph type="body"/>
          </p:nvPr>
        </p:nvSpPr>
        <p:spPr>
          <a:xfrm>
            <a:off x="1007640" y="5145480"/>
            <a:ext cx="8061840" cy="4208400"/>
          </a:xfrm>
          <a:prstGeom prst="rect">
            <a:avLst/>
          </a:prstGeom>
          <a:noFill/>
          <a:ln w="0">
            <a:noFill/>
          </a:ln>
        </p:spPr>
        <p:txBody>
          <a:bodyPr lIns="91440" tIns="45720" rIns="91440" bIns="45720" anchor="t">
            <a:noAutofit/>
          </a:bodyPr>
          <a:lstStyle/>
          <a:p>
            <a:pPr indent="0">
              <a:lnSpc>
                <a:spcPct val="100000"/>
              </a:lnSpc>
              <a:buNone/>
              <a:tabLst>
                <a:tab pos="0" algn="l"/>
              </a:tabLst>
            </a:pPr>
            <a:r>
              <a:rPr lang="pl-PL" sz="2000" b="0" u="none" strike="noStrike" dirty="0">
                <a:solidFill>
                  <a:srgbClr val="000000"/>
                </a:solidFill>
                <a:effectLst/>
                <a:uFillTx/>
                <a:latin typeface="Arial"/>
              </a:rPr>
              <a:t>Zorganizowałem ten wykład wokół pięciu etapów odpowiadających kolejności realnej pracy badawczej. Nie zaczynamy od narzędzi - zaczynamy od pytania. Narzędzie jest odpowiedzią na problem pomiarowy, nie punktem wyjścia. Dla każdego etapu omówię typowe błędy i konkretne rozwiązania technologiczne. Chcę, żeby po tym wykładzie każdy miał listę rzeczy do wdrożenia - nie inspirację, lecz plan.</a:t>
            </a:r>
          </a:p>
        </p:txBody>
      </p:sp>
      <p:sp>
        <p:nvSpPr>
          <p:cNvPr id="1539" name="PlaceHolder 3"/>
          <p:cNvSpPr>
            <a:spLocks noGrp="1"/>
          </p:cNvSpPr>
          <p:nvPr>
            <p:ph type="sldNum" idx="20"/>
          </p:nvPr>
        </p:nvSpPr>
        <p:spPr>
          <a:xfrm>
            <a:off x="5709600" y="10155600"/>
            <a:ext cx="4366080" cy="5346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pl-PL" sz="1200" b="0" u="none" strike="noStrike">
                <a:solidFill>
                  <a:schemeClr val="dk1"/>
                </a:solidFill>
                <a:effectLst/>
                <a:uFillTx/>
                <a:latin typeface="+mn-lt"/>
                <a:ea typeface="+mn-ea"/>
              </a:defRPr>
            </a:lvl1pPr>
          </a:lstStyle>
          <a:p>
            <a:pPr indent="0" algn="r" defTabSz="914400">
              <a:lnSpc>
                <a:spcPct val="100000"/>
              </a:lnSpc>
              <a:buNone/>
              <a:tabLst>
                <a:tab pos="0" algn="l"/>
              </a:tabLst>
            </a:pPr>
            <a:fld id="{20617AFA-A361-49ED-B6F2-6F6C2B5E483C}" type="slidenum">
              <a:rPr lang="pl-PL" sz="1200" b="0" u="none" strike="noStrike">
                <a:solidFill>
                  <a:schemeClr val="dk1"/>
                </a:solidFill>
                <a:effectLst/>
                <a:uFillTx/>
                <a:latin typeface="+mn-lt"/>
                <a:ea typeface="+mn-ea"/>
              </a:rPr>
              <a:t>2</a:t>
            </a:fld>
            <a:endParaRPr lang="pl-PL"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0" name="PlaceHolder 1"/>
          <p:cNvSpPr>
            <a:spLocks noGrp="1" noRot="1" noChangeAspect="1"/>
          </p:cNvSpPr>
          <p:nvPr>
            <p:ph type="sldImg"/>
          </p:nvPr>
        </p:nvSpPr>
        <p:spPr>
          <a:xfrm>
            <a:off x="1007640" y="1336320"/>
            <a:ext cx="8062560" cy="3607560"/>
          </a:xfrm>
          <a:prstGeom prst="rect">
            <a:avLst/>
          </a:prstGeom>
          <a:ln w="0">
            <a:noFill/>
          </a:ln>
        </p:spPr>
      </p:sp>
      <p:sp>
        <p:nvSpPr>
          <p:cNvPr id="1541" name="PlaceHolder 2"/>
          <p:cNvSpPr>
            <a:spLocks noGrp="1"/>
          </p:cNvSpPr>
          <p:nvPr>
            <p:ph type="body"/>
          </p:nvPr>
        </p:nvSpPr>
        <p:spPr>
          <a:xfrm>
            <a:off x="1007640" y="5145480"/>
            <a:ext cx="8061840" cy="4208400"/>
          </a:xfrm>
          <a:prstGeom prst="rect">
            <a:avLst/>
          </a:prstGeom>
          <a:noFill/>
          <a:ln w="0">
            <a:noFill/>
          </a:ln>
        </p:spPr>
        <p:txBody>
          <a:bodyPr lIns="91440" tIns="45720" rIns="91440" bIns="45720" anchor="t">
            <a:noAutofit/>
          </a:bodyPr>
          <a:lstStyle/>
          <a:p>
            <a:pPr indent="0">
              <a:lnSpc>
                <a:spcPct val="100000"/>
              </a:lnSpc>
              <a:buNone/>
              <a:tabLst>
                <a:tab pos="0" algn="l"/>
              </a:tabLst>
            </a:pPr>
            <a:r>
              <a:rPr lang="pl-PL" sz="2000" b="0" u="none" strike="noStrike" dirty="0">
                <a:solidFill>
                  <a:srgbClr val="000000"/>
                </a:solidFill>
                <a:effectLst/>
                <a:uFillTx/>
                <a:latin typeface="Arial"/>
              </a:rPr>
              <a:t>Psychologia jest nauką pomiarową - mierzymy rzeczy, których nie można wskazać palcem: uwagę, lęk, motywację, emocje. Między konstruktem a miarą jest zawsze pewna odległość, którą nazywamy operacjonalizacją. Jeśli chcę zmierzyć uwagę, mogę użyć kwestionariusza, zadania ciągłej uwagi, ruchów oczu albo ERN z EEG - i każda z tych miar powie mi coś innego. Nowoczesne technologie rozszerzają dostępne operacjonalizacje, ale nie likwidują problemu trafności. Więcej miar to więcej decyzji do uzasadnienia. Dlatego zanim sięgniemy po </a:t>
            </a:r>
            <a:r>
              <a:rPr lang="pl-PL" sz="2000" b="0" u="none" strike="noStrike" dirty="0" err="1">
                <a:solidFill>
                  <a:srgbClr val="000000"/>
                </a:solidFill>
                <a:effectLst/>
                <a:uFillTx/>
                <a:latin typeface="Arial"/>
              </a:rPr>
              <a:t>eye-tracker</a:t>
            </a:r>
            <a:r>
              <a:rPr lang="pl-PL" sz="2000" b="0" u="none" strike="noStrike" dirty="0">
                <a:solidFill>
                  <a:srgbClr val="000000"/>
                </a:solidFill>
                <a:effectLst/>
                <a:uFillTx/>
                <a:latin typeface="Arial"/>
              </a:rPr>
              <a:t>, musimy odpowiedzieć: co dokładnie mierzymy i dlaczego ta miara jest trafna?</a:t>
            </a:r>
          </a:p>
        </p:txBody>
      </p:sp>
      <p:sp>
        <p:nvSpPr>
          <p:cNvPr id="1542" name="PlaceHolder 3"/>
          <p:cNvSpPr>
            <a:spLocks noGrp="1"/>
          </p:cNvSpPr>
          <p:nvPr>
            <p:ph type="sldNum" idx="21"/>
          </p:nvPr>
        </p:nvSpPr>
        <p:spPr>
          <a:xfrm>
            <a:off x="5709600" y="10155600"/>
            <a:ext cx="4366080" cy="5346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pl-PL" sz="1200" b="0" u="none" strike="noStrike">
                <a:solidFill>
                  <a:schemeClr val="dk1"/>
                </a:solidFill>
                <a:effectLst/>
                <a:uFillTx/>
                <a:latin typeface="+mn-lt"/>
                <a:ea typeface="+mn-ea"/>
              </a:defRPr>
            </a:lvl1pPr>
          </a:lstStyle>
          <a:p>
            <a:pPr indent="0" algn="r" defTabSz="914400">
              <a:lnSpc>
                <a:spcPct val="100000"/>
              </a:lnSpc>
              <a:buNone/>
              <a:tabLst>
                <a:tab pos="0" algn="l"/>
              </a:tabLst>
            </a:pPr>
            <a:fld id="{152AB47B-AC05-4007-A263-3715F0226974}" type="slidenum">
              <a:rPr lang="pl-PL" sz="1200" b="0" u="none" strike="noStrike">
                <a:solidFill>
                  <a:schemeClr val="dk1"/>
                </a:solidFill>
                <a:effectLst/>
                <a:uFillTx/>
                <a:latin typeface="+mn-lt"/>
                <a:ea typeface="+mn-ea"/>
              </a:rPr>
              <a:t>3</a:t>
            </a:fld>
            <a:endParaRPr lang="pl-PL"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3" name="PlaceHolder 1"/>
          <p:cNvSpPr>
            <a:spLocks noGrp="1" noRot="1" noChangeAspect="1"/>
          </p:cNvSpPr>
          <p:nvPr>
            <p:ph type="sldImg"/>
          </p:nvPr>
        </p:nvSpPr>
        <p:spPr>
          <a:xfrm>
            <a:off x="1833563" y="1336675"/>
            <a:ext cx="6411912" cy="3606800"/>
          </a:xfrm>
          <a:prstGeom prst="rect">
            <a:avLst/>
          </a:prstGeom>
          <a:ln w="0">
            <a:noFill/>
          </a:ln>
        </p:spPr>
      </p:sp>
      <p:sp>
        <p:nvSpPr>
          <p:cNvPr id="1544" name="PlaceHolder 2"/>
          <p:cNvSpPr>
            <a:spLocks noGrp="1"/>
          </p:cNvSpPr>
          <p:nvPr>
            <p:ph type="body"/>
          </p:nvPr>
        </p:nvSpPr>
        <p:spPr>
          <a:xfrm>
            <a:off x="1007640" y="5145480"/>
            <a:ext cx="8062560" cy="4208760"/>
          </a:xfrm>
          <a:prstGeom prst="rect">
            <a:avLst/>
          </a:prstGeom>
          <a:noFill/>
          <a:ln w="0">
            <a:noFill/>
          </a:ln>
        </p:spPr>
        <p:txBody>
          <a:bodyPr lIns="91440" tIns="45720" rIns="91440" bIns="45720" anchor="t">
            <a:noAutofit/>
          </a:bodyPr>
          <a:lstStyle/>
          <a:p>
            <a:pPr indent="0">
              <a:lnSpc>
                <a:spcPct val="100000"/>
              </a:lnSpc>
              <a:buNone/>
              <a:tabLst>
                <a:tab pos="0" algn="l"/>
              </a:tabLst>
            </a:pPr>
            <a:r>
              <a:rPr lang="pl-PL" sz="2000" b="0" u="none" strike="noStrike" dirty="0">
                <a:solidFill>
                  <a:srgbClr val="000000"/>
                </a:solidFill>
                <a:effectLst/>
                <a:uFillTx/>
                <a:latin typeface="Arial"/>
              </a:rPr>
              <a:t>Kryzys </a:t>
            </a:r>
            <a:r>
              <a:rPr lang="pl-PL" sz="2000" b="0" u="none" strike="noStrike" dirty="0" err="1">
                <a:solidFill>
                  <a:srgbClr val="000000"/>
                </a:solidFill>
                <a:effectLst/>
                <a:uFillTx/>
                <a:latin typeface="Arial"/>
              </a:rPr>
              <a:t>replikowalności</a:t>
            </a:r>
            <a:r>
              <a:rPr lang="pl-PL" sz="2000" b="0" u="none" strike="noStrike" dirty="0">
                <a:solidFill>
                  <a:srgbClr val="000000"/>
                </a:solidFill>
                <a:effectLst/>
                <a:uFillTx/>
                <a:latin typeface="Arial"/>
              </a:rPr>
              <a:t> w psychologii nie jest nowym tematem, ale wciąż aktualnym. Badania z przełomu lat 2010 pokazały, że znaczna część wyników opublikowanych w wiodących czasopismach nie daje się odtworzyć. Przyczyny są różnorodne: zbyt małe próby, selektywne raportowanie, elastyczne decyzje analityczne podejmowane po obejrzeniu danych. To nie jest kwestia nieuczciwości - to systemowy problem braku standaryzowanych procedur. Technologie nie rozwiązują tych problemów automatycznie. </a:t>
            </a:r>
            <a:r>
              <a:rPr lang="pl-PL" sz="2000" b="0" u="none" strike="noStrike" dirty="0" err="1">
                <a:solidFill>
                  <a:srgbClr val="000000"/>
                </a:solidFill>
                <a:effectLst/>
                <a:uFillTx/>
                <a:latin typeface="Arial"/>
              </a:rPr>
              <a:t>Prerejestracja</a:t>
            </a:r>
            <a:r>
              <a:rPr lang="pl-PL" sz="2000" b="0" u="none" strike="noStrike" dirty="0">
                <a:solidFill>
                  <a:srgbClr val="000000"/>
                </a:solidFill>
                <a:effectLst/>
                <a:uFillTx/>
                <a:latin typeface="Arial"/>
              </a:rPr>
              <a:t>, otwarte dane i automatyczne logowanie pomagają - ale tylko wtedy, gdy są stosowane świadomie.</a:t>
            </a:r>
          </a:p>
        </p:txBody>
      </p:sp>
      <p:sp>
        <p:nvSpPr>
          <p:cNvPr id="1545" name="PlaceHolder 3"/>
          <p:cNvSpPr>
            <a:spLocks noGrp="1"/>
          </p:cNvSpPr>
          <p:nvPr>
            <p:ph type="sldNum" idx="22"/>
          </p:nvPr>
        </p:nvSpPr>
        <p:spPr>
          <a:xfrm>
            <a:off x="5709600" y="10155600"/>
            <a:ext cx="4366440" cy="5353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pl-PL" sz="1200" b="0" u="none" strike="noStrike">
                <a:solidFill>
                  <a:schemeClr val="dk1"/>
                </a:solidFill>
                <a:effectLst/>
                <a:uFillTx/>
                <a:latin typeface="+mn-lt"/>
                <a:ea typeface="+mn-ea"/>
              </a:defRPr>
            </a:lvl1pPr>
          </a:lstStyle>
          <a:p>
            <a:pPr indent="0" algn="r" defTabSz="914400">
              <a:lnSpc>
                <a:spcPct val="100000"/>
              </a:lnSpc>
              <a:buNone/>
              <a:tabLst>
                <a:tab pos="0" algn="l"/>
              </a:tabLst>
            </a:pPr>
            <a:fld id="{8D00EFD4-FD73-4467-B6EA-7B2CB039ED59}" type="slidenum">
              <a:rPr lang="pl-PL" sz="1200" b="0" u="none" strike="noStrike">
                <a:solidFill>
                  <a:schemeClr val="dk1"/>
                </a:solidFill>
                <a:effectLst/>
                <a:uFillTx/>
                <a:latin typeface="+mn-lt"/>
                <a:ea typeface="+mn-ea"/>
              </a:rPr>
              <a:t>4</a:t>
            </a:fld>
            <a:endParaRPr lang="pl-PL"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3" name="PlaceHolder 1"/>
          <p:cNvSpPr>
            <a:spLocks noGrp="1" noRot="1" noChangeAspect="1"/>
          </p:cNvSpPr>
          <p:nvPr>
            <p:ph type="sldImg"/>
          </p:nvPr>
        </p:nvSpPr>
        <p:spPr>
          <a:xfrm>
            <a:off x="1833563" y="1336675"/>
            <a:ext cx="6411912" cy="3606800"/>
          </a:xfrm>
          <a:prstGeom prst="rect">
            <a:avLst/>
          </a:prstGeom>
          <a:ln w="0">
            <a:noFill/>
          </a:ln>
        </p:spPr>
      </p:sp>
      <p:sp>
        <p:nvSpPr>
          <p:cNvPr id="1544" name="PlaceHolder 2"/>
          <p:cNvSpPr>
            <a:spLocks noGrp="1"/>
          </p:cNvSpPr>
          <p:nvPr>
            <p:ph type="body"/>
          </p:nvPr>
        </p:nvSpPr>
        <p:spPr>
          <a:xfrm>
            <a:off x="1007640" y="5145480"/>
            <a:ext cx="8062560" cy="4208760"/>
          </a:xfrm>
          <a:prstGeom prst="rect">
            <a:avLst/>
          </a:prstGeom>
          <a:noFill/>
          <a:ln w="0">
            <a:noFill/>
          </a:ln>
        </p:spPr>
        <p:txBody>
          <a:bodyPr lIns="91440" tIns="45720" rIns="91440" bIns="45720" anchor="t">
            <a:noAutofit/>
          </a:bodyPr>
          <a:lstStyle/>
          <a:p>
            <a:pPr indent="0">
              <a:lnSpc>
                <a:spcPct val="100000"/>
              </a:lnSpc>
              <a:buNone/>
              <a:tabLst>
                <a:tab pos="0" algn="l"/>
              </a:tabLst>
            </a:pPr>
            <a:r>
              <a:rPr lang="pl-PL" sz="2000" b="0" u="none" strike="noStrike" dirty="0">
                <a:solidFill>
                  <a:srgbClr val="000000"/>
                </a:solidFill>
                <a:effectLst/>
                <a:uFillTx/>
                <a:latin typeface="Arial"/>
              </a:rPr>
              <a:t>Kryzys </a:t>
            </a:r>
            <a:r>
              <a:rPr lang="pl-PL" sz="2000" b="0" u="none" strike="noStrike" dirty="0" err="1">
                <a:solidFill>
                  <a:srgbClr val="000000"/>
                </a:solidFill>
                <a:effectLst/>
                <a:uFillTx/>
                <a:latin typeface="Arial"/>
              </a:rPr>
              <a:t>replikowalności</a:t>
            </a:r>
            <a:r>
              <a:rPr lang="pl-PL" sz="2000" b="0" u="none" strike="noStrike" dirty="0">
                <a:solidFill>
                  <a:srgbClr val="000000"/>
                </a:solidFill>
                <a:effectLst/>
                <a:uFillTx/>
                <a:latin typeface="Arial"/>
              </a:rPr>
              <a:t> w psychologii nie jest nowym tematem, ale wciąż aktualnym. Badania z przełomu lat 2010 pokazały, że znaczna część wyników opublikowanych w wiodących czasopismach nie daje się odtworzyć. Przyczyny są różnorodne: zbyt małe próby, selektywne raportowanie, elastyczne decyzje analityczne podejmowane po obejrzeniu danych. To nie jest kwestia nieuczciwości - to systemowy problem braku standaryzowanych procedur. Technologie nie rozwiązują tych problemów automatycznie. </a:t>
            </a:r>
            <a:r>
              <a:rPr lang="pl-PL" sz="2000" b="0" u="none" strike="noStrike" dirty="0" err="1">
                <a:solidFill>
                  <a:srgbClr val="000000"/>
                </a:solidFill>
                <a:effectLst/>
                <a:uFillTx/>
                <a:latin typeface="Arial"/>
              </a:rPr>
              <a:t>Prerejestracja</a:t>
            </a:r>
            <a:r>
              <a:rPr lang="pl-PL" sz="2000" b="0" u="none" strike="noStrike" dirty="0">
                <a:solidFill>
                  <a:srgbClr val="000000"/>
                </a:solidFill>
                <a:effectLst/>
                <a:uFillTx/>
                <a:latin typeface="Arial"/>
              </a:rPr>
              <a:t>, otwarte dane i automatyczne logowanie pomagają - ale tylko wtedy, gdy są stosowane świadomie.</a:t>
            </a:r>
          </a:p>
        </p:txBody>
      </p:sp>
      <p:sp>
        <p:nvSpPr>
          <p:cNvPr id="1545" name="PlaceHolder 3"/>
          <p:cNvSpPr>
            <a:spLocks noGrp="1"/>
          </p:cNvSpPr>
          <p:nvPr>
            <p:ph type="sldNum" idx="22"/>
          </p:nvPr>
        </p:nvSpPr>
        <p:spPr>
          <a:xfrm>
            <a:off x="5709600" y="10155600"/>
            <a:ext cx="4366440" cy="5353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pl-PL" sz="1200" b="0" u="none" strike="noStrike">
                <a:solidFill>
                  <a:schemeClr val="dk1"/>
                </a:solidFill>
                <a:effectLst/>
                <a:uFillTx/>
                <a:latin typeface="+mn-lt"/>
                <a:ea typeface="+mn-ea"/>
              </a:defRPr>
            </a:lvl1pPr>
          </a:lstStyle>
          <a:p>
            <a:pPr indent="0" algn="r" defTabSz="914400">
              <a:lnSpc>
                <a:spcPct val="100000"/>
              </a:lnSpc>
              <a:buNone/>
              <a:tabLst>
                <a:tab pos="0" algn="l"/>
              </a:tabLst>
            </a:pPr>
            <a:fld id="{8D00EFD4-FD73-4467-B6EA-7B2CB039ED59}" type="slidenum">
              <a:rPr lang="pl-PL" sz="1200" b="0" u="none" strike="noStrike">
                <a:solidFill>
                  <a:schemeClr val="dk1"/>
                </a:solidFill>
                <a:effectLst/>
                <a:uFillTx/>
                <a:latin typeface="+mn-lt"/>
                <a:ea typeface="+mn-ea"/>
              </a:rPr>
              <a:t>5</a:t>
            </a:fld>
            <a:endParaRPr lang="pl-PL" sz="1200" b="0" u="none" strike="noStrike">
              <a:solidFill>
                <a:srgbClr val="000000"/>
              </a:solidFill>
              <a:effectLst/>
              <a:uFillTx/>
              <a:latin typeface="Times New Roman"/>
            </a:endParaRPr>
          </a:p>
        </p:txBody>
      </p:sp>
    </p:spTree>
    <p:extLst>
      <p:ext uri="{BB962C8B-B14F-4D97-AF65-F5344CB8AC3E}">
        <p14:creationId xmlns:p14="http://schemas.microsoft.com/office/powerpoint/2010/main" val="13925770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 name="PlaceHolder 1"/>
          <p:cNvSpPr>
            <a:spLocks noGrp="1" noRot="1" noChangeAspect="1"/>
          </p:cNvSpPr>
          <p:nvPr>
            <p:ph type="sldImg"/>
          </p:nvPr>
        </p:nvSpPr>
        <p:spPr>
          <a:xfrm>
            <a:off x="1833563" y="1336675"/>
            <a:ext cx="6411912" cy="3606800"/>
          </a:xfrm>
          <a:prstGeom prst="rect">
            <a:avLst/>
          </a:prstGeom>
          <a:ln w="0">
            <a:noFill/>
          </a:ln>
        </p:spPr>
      </p:sp>
      <p:sp>
        <p:nvSpPr>
          <p:cNvPr id="1547" name="PlaceHolder 2"/>
          <p:cNvSpPr>
            <a:spLocks noGrp="1"/>
          </p:cNvSpPr>
          <p:nvPr>
            <p:ph type="body"/>
          </p:nvPr>
        </p:nvSpPr>
        <p:spPr>
          <a:xfrm>
            <a:off x="1007640" y="5145480"/>
            <a:ext cx="8061840" cy="4208400"/>
          </a:xfrm>
          <a:prstGeom prst="rect">
            <a:avLst/>
          </a:prstGeom>
          <a:noFill/>
          <a:ln w="0">
            <a:noFill/>
          </a:ln>
        </p:spPr>
        <p:txBody>
          <a:bodyPr lIns="91440" tIns="45720" rIns="91440" bIns="45720" anchor="t">
            <a:noAutofit/>
          </a:bodyPr>
          <a:lstStyle/>
          <a:p>
            <a:pPr indent="0">
              <a:lnSpc>
                <a:spcPct val="100000"/>
              </a:lnSpc>
              <a:buNone/>
              <a:tabLst>
                <a:tab pos="0" algn="l"/>
              </a:tabLst>
            </a:pPr>
            <a:r>
              <a:rPr lang="pl-PL" sz="2000" b="0" u="none" strike="noStrike" dirty="0">
                <a:solidFill>
                  <a:srgbClr val="000000"/>
                </a:solidFill>
                <a:effectLst/>
                <a:uFillTx/>
                <a:latin typeface="Arial"/>
              </a:rPr>
              <a:t>Nie ma jednego optymalnego środowiska badawczego. Laboratorium stacjonarne daje kontrolę nad bodźcami i możliwość użycia sprzętu nieprzenośnego. Badania online pozwalają zrekrutować w ciągu dni próby, które laboratoryjnie zajęłyby miesiące - ale tracimy kontrolę środowiskową. Badania mobilne dają wgląd w zachowanie w jego naturalnym kontekście. </a:t>
            </a:r>
            <a:r>
              <a:rPr lang="pl-PL" sz="2000" b="0" u="none" strike="noStrike" dirty="0" err="1">
                <a:solidFill>
                  <a:srgbClr val="000000"/>
                </a:solidFill>
                <a:effectLst/>
                <a:uFillTx/>
                <a:latin typeface="Arial"/>
              </a:rPr>
              <a:t>Wearables</a:t>
            </a:r>
            <a:r>
              <a:rPr lang="pl-PL" sz="2000" b="0" u="none" strike="noStrike" dirty="0">
                <a:solidFill>
                  <a:srgbClr val="000000"/>
                </a:solidFill>
                <a:effectLst/>
                <a:uFillTx/>
                <a:latin typeface="Arial"/>
              </a:rPr>
              <a:t> pozwalają mierzyć aktywność i stres przez tygodnie. VR daje iluzję środowiska naturalnego przy zachowaniu kontroli eksperymentalnej. Kluczowe pytanie: jakie środowisko jest najbardziej trafne ekologicznie dla zjawiska, które badamy?</a:t>
            </a:r>
          </a:p>
        </p:txBody>
      </p:sp>
      <p:sp>
        <p:nvSpPr>
          <p:cNvPr id="1548" name="PlaceHolder 3"/>
          <p:cNvSpPr>
            <a:spLocks noGrp="1"/>
          </p:cNvSpPr>
          <p:nvPr>
            <p:ph type="sldNum" idx="23"/>
          </p:nvPr>
        </p:nvSpPr>
        <p:spPr>
          <a:xfrm>
            <a:off x="5709600" y="10155600"/>
            <a:ext cx="4366080" cy="5346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pl-PL" sz="1200" b="0" u="none" strike="noStrike">
                <a:solidFill>
                  <a:schemeClr val="dk1"/>
                </a:solidFill>
                <a:effectLst/>
                <a:uFillTx/>
                <a:latin typeface="+mn-lt"/>
                <a:ea typeface="+mn-ea"/>
              </a:defRPr>
            </a:lvl1pPr>
          </a:lstStyle>
          <a:p>
            <a:pPr indent="0" algn="r" defTabSz="914400">
              <a:lnSpc>
                <a:spcPct val="100000"/>
              </a:lnSpc>
              <a:buNone/>
              <a:tabLst>
                <a:tab pos="0" algn="l"/>
              </a:tabLst>
            </a:pPr>
            <a:fld id="{563C7C6E-FD6C-4463-9B18-0598F1ECE61D}" type="slidenum">
              <a:rPr lang="pl-PL" sz="1200" b="0" u="none" strike="noStrike">
                <a:solidFill>
                  <a:schemeClr val="dk1"/>
                </a:solidFill>
                <a:effectLst/>
                <a:uFillTx/>
                <a:latin typeface="+mn-lt"/>
                <a:ea typeface="+mn-ea"/>
              </a:rPr>
              <a:t>6</a:t>
            </a:fld>
            <a:endParaRPr lang="pl-PL"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9" name="PlaceHolder 1"/>
          <p:cNvSpPr>
            <a:spLocks noGrp="1" noRot="1" noChangeAspect="1"/>
          </p:cNvSpPr>
          <p:nvPr>
            <p:ph type="sldImg"/>
          </p:nvPr>
        </p:nvSpPr>
        <p:spPr>
          <a:xfrm>
            <a:off x="1833563" y="1336675"/>
            <a:ext cx="6411912" cy="3606800"/>
          </a:xfrm>
          <a:prstGeom prst="rect">
            <a:avLst/>
          </a:prstGeom>
          <a:ln w="0">
            <a:noFill/>
          </a:ln>
        </p:spPr>
      </p:sp>
      <p:sp>
        <p:nvSpPr>
          <p:cNvPr id="1550" name="PlaceHolder 2"/>
          <p:cNvSpPr>
            <a:spLocks noGrp="1"/>
          </p:cNvSpPr>
          <p:nvPr>
            <p:ph type="body"/>
          </p:nvPr>
        </p:nvSpPr>
        <p:spPr>
          <a:xfrm>
            <a:off x="1007640" y="5145480"/>
            <a:ext cx="8062560" cy="4208760"/>
          </a:xfrm>
          <a:prstGeom prst="rect">
            <a:avLst/>
          </a:prstGeom>
          <a:noFill/>
          <a:ln w="0">
            <a:noFill/>
          </a:ln>
        </p:spPr>
        <p:txBody>
          <a:bodyPr lIns="91440" tIns="45720" rIns="91440" bIns="45720" anchor="t">
            <a:noAutofit/>
          </a:bodyPr>
          <a:lstStyle/>
          <a:p>
            <a:pPr indent="0">
              <a:lnSpc>
                <a:spcPct val="100000"/>
              </a:lnSpc>
              <a:buNone/>
              <a:tabLst>
                <a:tab pos="0" algn="l"/>
              </a:tabLst>
            </a:pPr>
            <a:r>
              <a:rPr lang="pl-PL" sz="2000" b="0" u="none" strike="noStrike" dirty="0">
                <a:solidFill>
                  <a:srgbClr val="000000"/>
                </a:solidFill>
                <a:effectLst/>
                <a:uFillTx/>
                <a:latin typeface="Arial"/>
              </a:rPr>
              <a:t>Ten diagram jest minimalnym standardem, do którego warto dążyć. Zwracam uwagę na kilka nieoczywistych elementów. </a:t>
            </a:r>
            <a:r>
              <a:rPr lang="pl-PL" sz="2000" b="0" u="none" strike="noStrike" dirty="0" err="1">
                <a:solidFill>
                  <a:srgbClr val="000000"/>
                </a:solidFill>
                <a:effectLst/>
                <a:uFillTx/>
                <a:latin typeface="Arial"/>
              </a:rPr>
              <a:t>Prerejestracja</a:t>
            </a:r>
            <a:r>
              <a:rPr lang="pl-PL" sz="2000" b="0" u="none" strike="noStrike" dirty="0">
                <a:solidFill>
                  <a:srgbClr val="000000"/>
                </a:solidFill>
                <a:effectLst/>
                <a:uFillTx/>
                <a:latin typeface="Arial"/>
              </a:rPr>
              <a:t> przed zebraniem danych to decyzja wymuszająca klarowne myślenie o hipotezach zanim zobaczymy dane. Dane surowe powinny być przechowywane w niezmienionej formie - wszelkie przekształcenia wykonujemy skryptami. Analiza przez klikanie w interfejsie bez zapisu kroków jest </a:t>
            </a:r>
            <a:r>
              <a:rPr lang="pl-PL" sz="2000" b="0" u="none" strike="noStrike" dirty="0" err="1">
                <a:solidFill>
                  <a:srgbClr val="000000"/>
                </a:solidFill>
                <a:effectLst/>
                <a:uFillTx/>
                <a:latin typeface="Arial"/>
              </a:rPr>
              <a:t>niereplikowalna</a:t>
            </a:r>
            <a:r>
              <a:rPr lang="pl-PL" sz="2000" b="0" u="none" strike="noStrike" dirty="0">
                <a:solidFill>
                  <a:srgbClr val="000000"/>
                </a:solidFill>
                <a:effectLst/>
                <a:uFillTx/>
                <a:latin typeface="Arial"/>
              </a:rPr>
              <a:t>. Repozytorium to coraz częściej wymóg recenzentów i redakcji. Każdy z tych ośmiu kroków ma swoje narzędzia - omówię je szczegółowo.</a:t>
            </a:r>
          </a:p>
        </p:txBody>
      </p:sp>
      <p:sp>
        <p:nvSpPr>
          <p:cNvPr id="1551" name="PlaceHolder 3"/>
          <p:cNvSpPr>
            <a:spLocks noGrp="1"/>
          </p:cNvSpPr>
          <p:nvPr>
            <p:ph type="sldNum" idx="24"/>
          </p:nvPr>
        </p:nvSpPr>
        <p:spPr>
          <a:xfrm>
            <a:off x="5709600" y="10155600"/>
            <a:ext cx="4366440" cy="5353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pl-PL" sz="1200" b="0" u="none" strike="noStrike">
                <a:solidFill>
                  <a:schemeClr val="dk1"/>
                </a:solidFill>
                <a:effectLst/>
                <a:uFillTx/>
                <a:latin typeface="+mn-lt"/>
                <a:ea typeface="+mn-ea"/>
              </a:defRPr>
            </a:lvl1pPr>
          </a:lstStyle>
          <a:p>
            <a:pPr indent="0" algn="r" defTabSz="914400">
              <a:lnSpc>
                <a:spcPct val="100000"/>
              </a:lnSpc>
              <a:buNone/>
              <a:tabLst>
                <a:tab pos="0" algn="l"/>
              </a:tabLst>
            </a:pPr>
            <a:fld id="{2FDB9601-775B-4BE6-8B88-07102029404D}" type="slidenum">
              <a:rPr lang="pl-PL" sz="1200" b="0" u="none" strike="noStrike">
                <a:solidFill>
                  <a:schemeClr val="dk1"/>
                </a:solidFill>
                <a:effectLst/>
                <a:uFillTx/>
                <a:latin typeface="+mn-lt"/>
                <a:ea typeface="+mn-ea"/>
              </a:rPr>
              <a:t>7</a:t>
            </a:fld>
            <a:endParaRPr lang="pl-PL" sz="12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2" name="PlaceHolder 1"/>
          <p:cNvSpPr>
            <a:spLocks noGrp="1" noRot="1" noChangeAspect="1"/>
          </p:cNvSpPr>
          <p:nvPr>
            <p:ph type="sldImg"/>
          </p:nvPr>
        </p:nvSpPr>
        <p:spPr>
          <a:xfrm>
            <a:off x="1833563" y="1336675"/>
            <a:ext cx="6411912" cy="3606800"/>
          </a:xfrm>
          <a:prstGeom prst="rect">
            <a:avLst/>
          </a:prstGeom>
          <a:ln w="0">
            <a:noFill/>
          </a:ln>
        </p:spPr>
      </p:sp>
      <p:sp>
        <p:nvSpPr>
          <p:cNvPr id="1553" name="PlaceHolder 2"/>
          <p:cNvSpPr>
            <a:spLocks noGrp="1"/>
          </p:cNvSpPr>
          <p:nvPr>
            <p:ph type="body"/>
          </p:nvPr>
        </p:nvSpPr>
        <p:spPr>
          <a:xfrm>
            <a:off x="1007640" y="5145480"/>
            <a:ext cx="8062560" cy="4208760"/>
          </a:xfrm>
          <a:prstGeom prst="rect">
            <a:avLst/>
          </a:prstGeom>
          <a:noFill/>
          <a:ln w="0">
            <a:noFill/>
          </a:ln>
        </p:spPr>
        <p:txBody>
          <a:bodyPr lIns="91440" tIns="45720" rIns="91440" bIns="45720" anchor="t">
            <a:noAutofit/>
          </a:bodyPr>
          <a:lstStyle/>
          <a:p>
            <a:pPr indent="0">
              <a:lnSpc>
                <a:spcPct val="100000"/>
              </a:lnSpc>
              <a:buNone/>
              <a:tabLst>
                <a:tab pos="0" algn="l"/>
              </a:tabLst>
            </a:pPr>
            <a:r>
              <a:rPr lang="pl-PL" sz="2000" b="0" u="none" strike="noStrike" dirty="0">
                <a:solidFill>
                  <a:srgbClr val="000000"/>
                </a:solidFill>
                <a:effectLst/>
                <a:uFillTx/>
                <a:latin typeface="Arial"/>
              </a:rPr>
              <a:t>Modele językowe są szczególnie pomocne na etapie myślenia na głos - kiedy szkicujemy pytanie badawcze i chcemy sprawdzić, czy nie pomijamy oczywistej zmiennej. Claude, GPT-4 czy inne modele mogą wygenerować listę możliwych zmiennych zakłócających, zaproponować hipotezy alternatywne, pomóc w precyzyjnej operacjonalizacji. Ale model nie wie, czy dany efekt jest prawdziwy - operuje na wzorcach językowych, nie na empirycznej wiedzy. Traktuję AI jak inteligentnego studenta doktoranckiego: pomocny, szybki, ale wymaga weryfikacji każdego faktu.</a:t>
            </a:r>
          </a:p>
        </p:txBody>
      </p:sp>
      <p:sp>
        <p:nvSpPr>
          <p:cNvPr id="1554" name="PlaceHolder 3"/>
          <p:cNvSpPr>
            <a:spLocks noGrp="1"/>
          </p:cNvSpPr>
          <p:nvPr>
            <p:ph type="sldNum" idx="25"/>
          </p:nvPr>
        </p:nvSpPr>
        <p:spPr>
          <a:xfrm>
            <a:off x="5709600" y="10155600"/>
            <a:ext cx="4366440" cy="5353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pl-PL" sz="1200" b="0" u="none" strike="noStrike">
                <a:solidFill>
                  <a:schemeClr val="dk1"/>
                </a:solidFill>
                <a:effectLst/>
                <a:uFillTx/>
                <a:latin typeface="+mn-lt"/>
                <a:ea typeface="+mn-ea"/>
              </a:defRPr>
            </a:lvl1pPr>
          </a:lstStyle>
          <a:p>
            <a:pPr indent="0" algn="r" defTabSz="914400">
              <a:lnSpc>
                <a:spcPct val="100000"/>
              </a:lnSpc>
              <a:buNone/>
              <a:tabLst>
                <a:tab pos="0" algn="l"/>
              </a:tabLst>
            </a:pPr>
            <a:fld id="{541A57C5-DEC2-4455-849E-572A34B2C106}" type="slidenum">
              <a:rPr lang="pl-PL" sz="1200" b="0" u="none" strike="noStrike">
                <a:solidFill>
                  <a:schemeClr val="dk1"/>
                </a:solidFill>
                <a:effectLst/>
                <a:uFillTx/>
                <a:latin typeface="+mn-lt"/>
                <a:ea typeface="+mn-ea"/>
              </a:rPr>
              <a:t>8</a:t>
            </a:fld>
            <a:endParaRPr lang="pl-PL" sz="1200" b="0" u="none" strike="noStrike">
              <a:solidFill>
                <a:srgbClr val="000000"/>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812800"/>
            <a:ext cx="0" cy="0"/>
          </a:xfrm>
        </p:spPr>
      </p:sp>
      <p:sp>
        <p:nvSpPr>
          <p:cNvPr id="3" name="Notes Placeholder 2"/>
          <p:cNvSpPr>
            <a:spLocks noGrp="1"/>
          </p:cNvSpPr>
          <p:nvPr>
            <p:ph type="body" idx="1"/>
          </p:nvPr>
        </p:nvSpPr>
        <p:spPr/>
        <p:txBody>
          <a:bodyPr/>
          <a:lstStyle/>
          <a:p>
            <a:r>
              <a:rPr lang="en-US" dirty="0"/>
              <a:t>Ten slajd porządkuje praktyczne zasady promptowania modeli językowych. Najważniejsza idea jest prosta: model nie zna intencji użytkownika, więc trzeba jawnie dostarczyć kontekst, cel, ograniczenia i format wyniku. Słaby prompt przerzuca zbyt dużo decyzji na model, dlatego odpowiedź może być ogólna, nieadekwatna albo trudna do weryfikacji. Lepszy prompt zawęża zadanie: wskazuje rolę, zakres czasowy, liczbę elementów, kryteria opisu i format odpowiedzi. W pracy naukowej szczególnie ważne są jawne kryteria, ponieważ pozwalają później sprawdzić, czy odpowiedź spełnia wymagania merytoryczne. Pierwsza odpowiedź modelu powinna być traktowana jako szkic roboczy, a nie jako źródło prawdy. Fakty, cytowania i tezy empiryczne należy weryfikować w źródłach pierwotnych.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5649297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5" name="PlaceHolder 1"/>
          <p:cNvSpPr>
            <a:spLocks noGrp="1" noRot="1" noChangeAspect="1"/>
          </p:cNvSpPr>
          <p:nvPr>
            <p:ph type="sldImg"/>
          </p:nvPr>
        </p:nvSpPr>
        <p:spPr>
          <a:xfrm>
            <a:off x="1833563" y="1336675"/>
            <a:ext cx="6411912" cy="3606800"/>
          </a:xfrm>
          <a:prstGeom prst="rect">
            <a:avLst/>
          </a:prstGeom>
          <a:ln w="0">
            <a:noFill/>
          </a:ln>
        </p:spPr>
      </p:sp>
      <p:sp>
        <p:nvSpPr>
          <p:cNvPr id="1556" name="PlaceHolder 2"/>
          <p:cNvSpPr>
            <a:spLocks noGrp="1"/>
          </p:cNvSpPr>
          <p:nvPr>
            <p:ph type="body"/>
          </p:nvPr>
        </p:nvSpPr>
        <p:spPr>
          <a:xfrm>
            <a:off x="1007640" y="5145480"/>
            <a:ext cx="8062560" cy="4208760"/>
          </a:xfrm>
          <a:prstGeom prst="rect">
            <a:avLst/>
          </a:prstGeom>
          <a:noFill/>
          <a:ln w="0">
            <a:noFill/>
          </a:ln>
        </p:spPr>
        <p:txBody>
          <a:bodyPr lIns="91440" tIns="45720" rIns="91440" bIns="45720" anchor="t">
            <a:noAutofit/>
          </a:bodyPr>
          <a:lstStyle/>
          <a:p>
            <a:pPr indent="0">
              <a:lnSpc>
                <a:spcPct val="100000"/>
              </a:lnSpc>
              <a:buNone/>
              <a:tabLst>
                <a:tab pos="0" algn="l"/>
              </a:tabLst>
            </a:pPr>
            <a:r>
              <a:rPr lang="pl-PL" sz="2000" b="0" u="none" strike="noStrike" dirty="0">
                <a:solidFill>
                  <a:srgbClr val="000000"/>
                </a:solidFill>
                <a:effectLst/>
                <a:uFillTx/>
                <a:latin typeface="Arial"/>
              </a:rPr>
              <a:t>Chcę poświęcić osobny slajd temu ograniczeniu, bo obserwuję dwie skrajności: zupełne odrzucenie AI jako narzędzia naukowego albo bezkrytyczne zaufanie. Modele językowe mają poważne ograniczenie krytyczne dla nauki: mogą generować cytowania, które nie istnieją - z pełną precyzją podawać autora, tytuł, rok i numer strony artykułu, który nigdy nie powstał. Zjawisko to nazywamy halucynacją. Poza tym model nie ma dostępu do aktualnych danych empirycznych, nie potrafi ocenić trafności operacjonalizacji. Używajmy AI do wsparcia myślenia, weryfikujmy każde twierdzenie w źródłach pierwotnych. Podpisując artykuł, bierzemy pełną odpowiedzialność za jego treść.</a:t>
            </a:r>
          </a:p>
        </p:txBody>
      </p:sp>
      <p:sp>
        <p:nvSpPr>
          <p:cNvPr id="1557" name="PlaceHolder 3"/>
          <p:cNvSpPr>
            <a:spLocks noGrp="1"/>
          </p:cNvSpPr>
          <p:nvPr>
            <p:ph type="sldNum" idx="26"/>
          </p:nvPr>
        </p:nvSpPr>
        <p:spPr>
          <a:xfrm>
            <a:off x="5709600" y="10155600"/>
            <a:ext cx="4366440" cy="5353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pl-PL" sz="1200" b="0" u="none" strike="noStrike">
                <a:solidFill>
                  <a:schemeClr val="dk1"/>
                </a:solidFill>
                <a:effectLst/>
                <a:uFillTx/>
                <a:latin typeface="+mn-lt"/>
                <a:ea typeface="+mn-ea"/>
              </a:defRPr>
            </a:lvl1pPr>
          </a:lstStyle>
          <a:p>
            <a:pPr indent="0" algn="r" defTabSz="914400">
              <a:lnSpc>
                <a:spcPct val="100000"/>
              </a:lnSpc>
              <a:buNone/>
              <a:tabLst>
                <a:tab pos="0" algn="l"/>
              </a:tabLst>
            </a:pPr>
            <a:fld id="{51E8E6C9-2610-4B31-92C4-F5416A082479}" type="slidenum">
              <a:rPr lang="pl-PL" sz="1200" b="0" u="none" strike="noStrike">
                <a:solidFill>
                  <a:schemeClr val="dk1"/>
                </a:solidFill>
                <a:effectLst/>
                <a:uFillTx/>
                <a:latin typeface="+mn-lt"/>
                <a:ea typeface="+mn-ea"/>
              </a:rPr>
              <a:t>10</a:t>
            </a:fld>
            <a:endParaRPr lang="pl-PL" sz="1200" b="0" u="none" strike="noStrike">
              <a:solidFill>
                <a:srgbClr val="000000"/>
              </a:solidFill>
              <a:effectLst/>
              <a:uFillTx/>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8" name="PlaceHolder 1"/>
          <p:cNvSpPr>
            <a:spLocks noGrp="1" noRot="1" noChangeAspect="1"/>
          </p:cNvSpPr>
          <p:nvPr>
            <p:ph type="sldImg"/>
          </p:nvPr>
        </p:nvSpPr>
        <p:spPr>
          <a:xfrm>
            <a:off x="1833563" y="1336675"/>
            <a:ext cx="6411912" cy="3606800"/>
          </a:xfrm>
          <a:prstGeom prst="rect">
            <a:avLst/>
          </a:prstGeom>
          <a:ln w="0">
            <a:noFill/>
          </a:ln>
        </p:spPr>
      </p:sp>
      <p:sp>
        <p:nvSpPr>
          <p:cNvPr id="1559" name="PlaceHolder 2"/>
          <p:cNvSpPr>
            <a:spLocks noGrp="1"/>
          </p:cNvSpPr>
          <p:nvPr>
            <p:ph type="body"/>
          </p:nvPr>
        </p:nvSpPr>
        <p:spPr>
          <a:xfrm>
            <a:off x="1007640" y="5145480"/>
            <a:ext cx="8062560" cy="4208760"/>
          </a:xfrm>
          <a:prstGeom prst="rect">
            <a:avLst/>
          </a:prstGeom>
          <a:noFill/>
          <a:ln w="0">
            <a:noFill/>
          </a:ln>
        </p:spPr>
        <p:txBody>
          <a:bodyPr lIns="91440" tIns="45720" rIns="91440" bIns="45720" anchor="t">
            <a:noAutofit/>
          </a:bodyPr>
          <a:lstStyle/>
          <a:p>
            <a:pPr indent="0">
              <a:lnSpc>
                <a:spcPct val="100000"/>
              </a:lnSpc>
              <a:buNone/>
              <a:tabLst>
                <a:tab pos="0" algn="l"/>
              </a:tabLst>
            </a:pPr>
            <a:r>
              <a:rPr lang="pl-PL" sz="2000" b="0" u="none" strike="noStrike" dirty="0">
                <a:solidFill>
                  <a:srgbClr val="000000"/>
                </a:solidFill>
                <a:effectLst/>
                <a:uFillTx/>
                <a:latin typeface="Arial"/>
              </a:rPr>
              <a:t>Przegląd literatury to nie tylko zebranie 50 artykułów do wstępu. To diagnoza: gdzie jest wiedza ugruntowana, gdzie są sprzeczności, gdzie są białe plamy. Tradycyjny przegląd przez Google Scholar jest użyteczny, ale nie pokazuje struktury pola. </a:t>
            </a:r>
            <a:r>
              <a:rPr lang="pl-PL" sz="2000" b="0" u="none" strike="noStrike" dirty="0" err="1">
                <a:solidFill>
                  <a:srgbClr val="000000"/>
                </a:solidFill>
                <a:effectLst/>
                <a:uFillTx/>
                <a:latin typeface="Arial"/>
              </a:rPr>
              <a:t>Connected</a:t>
            </a:r>
            <a:r>
              <a:rPr lang="pl-PL" sz="2000" b="0" u="none" strike="noStrike" dirty="0">
                <a:solidFill>
                  <a:srgbClr val="000000"/>
                </a:solidFill>
                <a:effectLst/>
                <a:uFillTx/>
                <a:latin typeface="Arial"/>
              </a:rPr>
              <a:t> </a:t>
            </a:r>
            <a:r>
              <a:rPr lang="pl-PL" sz="2000" b="0" u="none" strike="noStrike" dirty="0" err="1">
                <a:solidFill>
                  <a:srgbClr val="000000"/>
                </a:solidFill>
                <a:effectLst/>
                <a:uFillTx/>
                <a:latin typeface="Arial"/>
              </a:rPr>
              <a:t>Papers</a:t>
            </a:r>
            <a:r>
              <a:rPr lang="pl-PL" sz="2000" b="0" u="none" strike="noStrike" dirty="0">
                <a:solidFill>
                  <a:srgbClr val="000000"/>
                </a:solidFill>
                <a:effectLst/>
                <a:uFillTx/>
                <a:latin typeface="Arial"/>
              </a:rPr>
              <a:t> i </a:t>
            </a:r>
            <a:r>
              <a:rPr lang="pl-PL" sz="2000" b="0" u="none" strike="noStrike" dirty="0" err="1">
                <a:solidFill>
                  <a:srgbClr val="000000"/>
                </a:solidFill>
                <a:effectLst/>
                <a:uFillTx/>
                <a:latin typeface="Arial"/>
              </a:rPr>
              <a:t>Litmaps</a:t>
            </a:r>
            <a:r>
              <a:rPr lang="pl-PL" sz="2000" b="0" u="none" strike="noStrike" dirty="0">
                <a:solidFill>
                  <a:srgbClr val="000000"/>
                </a:solidFill>
                <a:effectLst/>
                <a:uFillTx/>
                <a:latin typeface="Arial"/>
              </a:rPr>
              <a:t> rysują te sieci graficznie. </a:t>
            </a:r>
            <a:r>
              <a:rPr lang="pl-PL" sz="2000" b="0" u="none" strike="noStrike" dirty="0" err="1">
                <a:solidFill>
                  <a:srgbClr val="000000"/>
                </a:solidFill>
                <a:effectLst/>
                <a:uFillTx/>
                <a:latin typeface="Arial"/>
              </a:rPr>
              <a:t>ResearchRabbit</a:t>
            </a:r>
            <a:r>
              <a:rPr lang="pl-PL" sz="2000" b="0" u="none" strike="noStrike" dirty="0">
                <a:solidFill>
                  <a:srgbClr val="000000"/>
                </a:solidFill>
                <a:effectLst/>
                <a:uFillTx/>
                <a:latin typeface="Arial"/>
              </a:rPr>
              <a:t> sugeruje artykuły powiązane tematycznie. </a:t>
            </a:r>
            <a:r>
              <a:rPr lang="pl-PL" sz="2000" b="0" u="none" strike="noStrike" dirty="0" err="1">
                <a:solidFill>
                  <a:srgbClr val="000000"/>
                </a:solidFill>
                <a:effectLst/>
                <a:uFillTx/>
                <a:latin typeface="Arial"/>
              </a:rPr>
              <a:t>Elicit</a:t>
            </a:r>
            <a:r>
              <a:rPr lang="pl-PL" sz="2000" b="0" u="none" strike="noStrike" dirty="0">
                <a:solidFill>
                  <a:srgbClr val="000000"/>
                </a:solidFill>
                <a:effectLst/>
                <a:uFillTx/>
                <a:latin typeface="Arial"/>
              </a:rPr>
              <a:t> próbuje odpowiadać na konkretne pytania badawcze, przeszukując literaturę. To narzędzia pomocnicze - nie zastępują czytania artykułów, ale pomagają zdecydować, co warto czytać.</a:t>
            </a:r>
          </a:p>
        </p:txBody>
      </p:sp>
      <p:sp>
        <p:nvSpPr>
          <p:cNvPr id="1560" name="PlaceHolder 3"/>
          <p:cNvSpPr>
            <a:spLocks noGrp="1"/>
          </p:cNvSpPr>
          <p:nvPr>
            <p:ph type="sldNum" idx="27"/>
          </p:nvPr>
        </p:nvSpPr>
        <p:spPr>
          <a:xfrm>
            <a:off x="5709600" y="10155600"/>
            <a:ext cx="4366440" cy="5353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pl-PL" sz="1200" b="0" u="none" strike="noStrike">
                <a:solidFill>
                  <a:schemeClr val="dk1"/>
                </a:solidFill>
                <a:effectLst/>
                <a:uFillTx/>
                <a:latin typeface="+mn-lt"/>
                <a:ea typeface="+mn-ea"/>
              </a:defRPr>
            </a:lvl1pPr>
          </a:lstStyle>
          <a:p>
            <a:pPr indent="0" algn="r" defTabSz="914400">
              <a:lnSpc>
                <a:spcPct val="100000"/>
              </a:lnSpc>
              <a:buNone/>
              <a:tabLst>
                <a:tab pos="0" algn="l"/>
              </a:tabLst>
            </a:pPr>
            <a:fld id="{01CFEF87-1C34-4E4C-93D4-83AB1128A796}" type="slidenum">
              <a:rPr lang="pl-PL" sz="1200" b="0" u="none" strike="noStrike">
                <a:solidFill>
                  <a:schemeClr val="dk1"/>
                </a:solidFill>
                <a:effectLst/>
                <a:uFillTx/>
                <a:latin typeface="+mn-lt"/>
                <a:ea typeface="+mn-ea"/>
              </a:rPr>
              <a:t>11</a:t>
            </a:fld>
            <a:endParaRPr lang="pl-PL" sz="1200" b="0" u="none" strike="noStrike">
              <a:solidFill>
                <a:srgbClr val="000000"/>
              </a:solidFill>
              <a:effectLst/>
              <a:uFillTx/>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1" name="PlaceHolder 1"/>
          <p:cNvSpPr>
            <a:spLocks noGrp="1" noRot="1" noChangeAspect="1"/>
          </p:cNvSpPr>
          <p:nvPr>
            <p:ph type="sldImg"/>
          </p:nvPr>
        </p:nvSpPr>
        <p:spPr>
          <a:xfrm>
            <a:off x="1833563" y="1336675"/>
            <a:ext cx="6411912" cy="3606800"/>
          </a:xfrm>
          <a:prstGeom prst="rect">
            <a:avLst/>
          </a:prstGeom>
          <a:ln w="0">
            <a:noFill/>
          </a:ln>
        </p:spPr>
      </p:sp>
      <p:sp>
        <p:nvSpPr>
          <p:cNvPr id="1562" name="PlaceHolder 2"/>
          <p:cNvSpPr>
            <a:spLocks noGrp="1"/>
          </p:cNvSpPr>
          <p:nvPr>
            <p:ph type="body"/>
          </p:nvPr>
        </p:nvSpPr>
        <p:spPr>
          <a:xfrm>
            <a:off x="1007640" y="5145480"/>
            <a:ext cx="8062560" cy="4208760"/>
          </a:xfrm>
          <a:prstGeom prst="rect">
            <a:avLst/>
          </a:prstGeom>
          <a:noFill/>
          <a:ln w="0">
            <a:noFill/>
          </a:ln>
        </p:spPr>
        <p:txBody>
          <a:bodyPr lIns="91440" tIns="45720" rIns="91440" bIns="45720" anchor="t">
            <a:noAutofit/>
          </a:bodyPr>
          <a:lstStyle/>
          <a:p>
            <a:pPr indent="0">
              <a:lnSpc>
                <a:spcPct val="100000"/>
              </a:lnSpc>
              <a:buNone/>
              <a:tabLst>
                <a:tab pos="0" algn="l"/>
              </a:tabLst>
            </a:pPr>
            <a:r>
              <a:rPr lang="pl-PL" sz="2000" b="0" u="none" strike="noStrike" dirty="0" err="1">
                <a:solidFill>
                  <a:srgbClr val="000000"/>
                </a:solidFill>
                <a:effectLst/>
                <a:uFillTx/>
                <a:latin typeface="Arial"/>
              </a:rPr>
              <a:t>Prerejestracja</a:t>
            </a:r>
            <a:r>
              <a:rPr lang="pl-PL" sz="2000" b="0" u="none" strike="noStrike" dirty="0">
                <a:solidFill>
                  <a:srgbClr val="000000"/>
                </a:solidFill>
                <a:effectLst/>
                <a:uFillTx/>
                <a:latin typeface="Arial"/>
              </a:rPr>
              <a:t> jest jedną z najbardziej efektywnych odpowiedzi na problem </a:t>
            </a:r>
            <a:r>
              <a:rPr lang="pl-PL" sz="2000" b="0" u="none" strike="noStrike" dirty="0" err="1">
                <a:solidFill>
                  <a:srgbClr val="000000"/>
                </a:solidFill>
                <a:effectLst/>
                <a:uFillTx/>
                <a:latin typeface="Arial"/>
              </a:rPr>
              <a:t>researcher</a:t>
            </a:r>
            <a:r>
              <a:rPr lang="pl-PL" sz="2000" b="0" u="none" strike="noStrike" dirty="0">
                <a:solidFill>
                  <a:srgbClr val="000000"/>
                </a:solidFill>
                <a:effectLst/>
                <a:uFillTx/>
                <a:latin typeface="Arial"/>
              </a:rPr>
              <a:t> </a:t>
            </a:r>
            <a:r>
              <a:rPr lang="pl-PL" sz="2000" b="0" u="none" strike="noStrike" dirty="0" err="1">
                <a:solidFill>
                  <a:srgbClr val="000000"/>
                </a:solidFill>
                <a:effectLst/>
                <a:uFillTx/>
                <a:latin typeface="Arial"/>
              </a:rPr>
              <a:t>degrees</a:t>
            </a:r>
            <a:r>
              <a:rPr lang="pl-PL" sz="2000" b="0" u="none" strike="noStrike" dirty="0">
                <a:solidFill>
                  <a:srgbClr val="000000"/>
                </a:solidFill>
                <a:effectLst/>
                <a:uFillTx/>
                <a:latin typeface="Arial"/>
              </a:rPr>
              <a:t> of </a:t>
            </a:r>
            <a:r>
              <a:rPr lang="pl-PL" sz="2000" b="0" u="none" strike="noStrike" dirty="0" err="1">
                <a:solidFill>
                  <a:srgbClr val="000000"/>
                </a:solidFill>
                <a:effectLst/>
                <a:uFillTx/>
                <a:latin typeface="Arial"/>
              </a:rPr>
              <a:t>freedom</a:t>
            </a:r>
            <a:r>
              <a:rPr lang="pl-PL" sz="2000" b="0" u="none" strike="noStrike" dirty="0">
                <a:solidFill>
                  <a:srgbClr val="000000"/>
                </a:solidFill>
                <a:effectLst/>
                <a:uFillTx/>
                <a:latin typeface="Arial"/>
              </a:rPr>
              <a:t>. </a:t>
            </a:r>
            <a:r>
              <a:rPr lang="pl-PL" sz="2000" b="0" u="none" strike="noStrike" dirty="0" err="1">
                <a:solidFill>
                  <a:srgbClr val="000000"/>
                </a:solidFill>
                <a:effectLst/>
                <a:uFillTx/>
                <a:latin typeface="Arial"/>
              </a:rPr>
              <a:t>Prererejestracja</a:t>
            </a:r>
            <a:r>
              <a:rPr lang="pl-PL" sz="2000" b="0" u="none" strike="noStrike" dirty="0">
                <a:solidFill>
                  <a:srgbClr val="000000"/>
                </a:solidFill>
                <a:effectLst/>
                <a:uFillTx/>
                <a:latin typeface="Arial"/>
              </a:rPr>
              <a:t> nie musi być długim dokumentem - wystarczy kilkustronicowy formularz na OSF lub </a:t>
            </a:r>
            <a:r>
              <a:rPr lang="pl-PL" sz="2000" b="0" u="none" strike="noStrike" dirty="0" err="1">
                <a:solidFill>
                  <a:srgbClr val="000000"/>
                </a:solidFill>
                <a:effectLst/>
                <a:uFillTx/>
                <a:latin typeface="Arial"/>
              </a:rPr>
              <a:t>AsPredicted</a:t>
            </a:r>
            <a:r>
              <a:rPr lang="pl-PL" sz="2000" b="0" u="none" strike="noStrike" dirty="0">
                <a:solidFill>
                  <a:srgbClr val="000000"/>
                </a:solidFill>
                <a:effectLst/>
                <a:uFillTx/>
                <a:latin typeface="Arial"/>
              </a:rPr>
              <a:t>, w którym zapisujemy: jaką hipotezę testujemy, jaką statystyką, jakie kryterium wykluczenia uczestników. Analiza eksploracyjna jest całkowicie legalna i wartościowa - musi być tylko jasno opisana jako eksploracyjna, nie konfirmacyjna. </a:t>
            </a:r>
            <a:r>
              <a:rPr lang="pl-PL" sz="2000" b="0" u="none" strike="noStrike" dirty="0" err="1">
                <a:solidFill>
                  <a:srgbClr val="000000"/>
                </a:solidFill>
                <a:effectLst/>
                <a:uFillTx/>
                <a:latin typeface="Arial"/>
              </a:rPr>
              <a:t>Prerejestracja</a:t>
            </a:r>
            <a:r>
              <a:rPr lang="pl-PL" sz="2000" b="0" u="none" strike="noStrike" dirty="0">
                <a:solidFill>
                  <a:srgbClr val="000000"/>
                </a:solidFill>
                <a:effectLst/>
                <a:uFillTx/>
                <a:latin typeface="Arial"/>
              </a:rPr>
              <a:t> wymusza też pewien poziom precyzji myślenia przed badaniem, co samo w sobie poprawia jakość projektu.</a:t>
            </a:r>
          </a:p>
        </p:txBody>
      </p:sp>
      <p:sp>
        <p:nvSpPr>
          <p:cNvPr id="1563" name="PlaceHolder 3"/>
          <p:cNvSpPr>
            <a:spLocks noGrp="1"/>
          </p:cNvSpPr>
          <p:nvPr>
            <p:ph type="sldNum" idx="28"/>
          </p:nvPr>
        </p:nvSpPr>
        <p:spPr>
          <a:xfrm>
            <a:off x="5709600" y="10155600"/>
            <a:ext cx="4366440" cy="5353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pl-PL" sz="1200" b="0" u="none" strike="noStrike">
                <a:solidFill>
                  <a:schemeClr val="dk1"/>
                </a:solidFill>
                <a:effectLst/>
                <a:uFillTx/>
                <a:latin typeface="+mn-lt"/>
                <a:ea typeface="+mn-ea"/>
              </a:defRPr>
            </a:lvl1pPr>
          </a:lstStyle>
          <a:p>
            <a:pPr indent="0" algn="r" defTabSz="914400">
              <a:lnSpc>
                <a:spcPct val="100000"/>
              </a:lnSpc>
              <a:buNone/>
              <a:tabLst>
                <a:tab pos="0" algn="l"/>
              </a:tabLst>
            </a:pPr>
            <a:fld id="{1AF4FA6B-C74D-4807-89BE-CA6727BCE827}" type="slidenum">
              <a:rPr lang="pl-PL" sz="1200" b="0" u="none" strike="noStrike">
                <a:solidFill>
                  <a:schemeClr val="dk1"/>
                </a:solidFill>
                <a:effectLst/>
                <a:uFillTx/>
                <a:latin typeface="+mn-lt"/>
                <a:ea typeface="+mn-ea"/>
              </a:rPr>
              <a:t>12</a:t>
            </a:fld>
            <a:endParaRPr lang="pl-PL" sz="1200" b="0" u="none" strike="noStrike">
              <a:solidFill>
                <a:srgbClr val="000000"/>
              </a:solidFill>
              <a:effectLst/>
              <a:uFillTx/>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812800"/>
            <a:ext cx="0" cy="0"/>
          </a:xfrm>
        </p:spPr>
      </p:sp>
      <p:sp>
        <p:nvSpPr>
          <p:cNvPr id="3" name="Notes Placeholder 2"/>
          <p:cNvSpPr>
            <a:spLocks noGrp="1"/>
          </p:cNvSpPr>
          <p:nvPr>
            <p:ph type="body" idx="1"/>
          </p:nvPr>
        </p:nvSpPr>
        <p:spPr/>
        <p:txBody>
          <a:bodyPr/>
          <a:lstStyle/>
          <a:p>
            <a:r>
              <a:rPr lang="en-US" dirty="0"/>
              <a:t>Wróćmy do problemu małych prób, jednej z głównych przyczyn słabej replikowalności. Analiza mocy a priori odpowiada na pytanie: ile uczestników potrzebuję, żeby z określonym prawdopodobieństwem wykryć efekt o przewidywanej wielkości? Cztery </a:t>
            </a:r>
            <a:r>
              <a:rPr lang="en-US" dirty="0" err="1"/>
              <a:t>składowe</a:t>
            </a:r>
            <a:r>
              <a:rPr lang="en-US" dirty="0"/>
              <a:t> - wielkość efektu, poziom alfa, moc i </a:t>
            </a:r>
            <a:r>
              <a:rPr lang="en-US" dirty="0" err="1"/>
              <a:t>liczebność</a:t>
            </a:r>
            <a:r>
              <a:rPr lang="en-US" dirty="0"/>
              <a:t> - są matematycznie związane: znając trzy, wyznaczamy czwartą. Problem w praktyce polega na tym, że rzadko mamy dobre oszacowanie wielkości efektu przed </a:t>
            </a:r>
            <a:r>
              <a:rPr lang="en-US" dirty="0" err="1"/>
              <a:t>badaniem</a:t>
            </a:r>
            <a:r>
              <a:rPr lang="en-US" dirty="0"/>
              <a:t> - warto sięgać do metaanaliz lub przyjmować konserwatywne założenia. G*Power jest darmowym standardem; pwr w R i statsmodels w Pythonie integrują analizę mocy z resztą pipeline'u. Pamiętajmy o marginesie </a:t>
            </a:r>
            <a:r>
              <a:rPr lang="en-US" dirty="0" err="1"/>
              <a:t>na</a:t>
            </a:r>
            <a:r>
              <a:rPr lang="en-US" dirty="0"/>
              <a:t> drop-out.</a:t>
            </a:r>
            <a:endParaRPr lang="pl-PL" dirty="0"/>
          </a:p>
          <a:p>
            <a:pPr marL="0" marR="0" lvl="0" indent="0" algn="l" defTabSz="914400" rtl="0" eaLnBrk="1" fontAlgn="auto" latinLnBrk="0" hangingPunct="1">
              <a:lnSpc>
                <a:spcPct val="100000"/>
              </a:lnSpc>
              <a:spcBef>
                <a:spcPts val="0"/>
              </a:spcBef>
              <a:spcAft>
                <a:spcPts val="0"/>
              </a:spcAft>
              <a:buClrTx/>
              <a:buSzTx/>
              <a:buFontTx/>
              <a:buNone/>
              <a:tabLst/>
              <a:defRPr/>
            </a:pPr>
            <a:r>
              <a:rPr lang="pl-PL" sz="1200" b="0" u="none" strike="noStrike" dirty="0">
                <a:solidFill>
                  <a:srgbClr val="000000"/>
                </a:solidFill>
                <a:effectLst/>
                <a:uFillTx/>
                <a:latin typeface="+mn-lt"/>
              </a:rPr>
              <a:t>Protokół eksperymentu to operacyjna specyfikacja tego, co zaplanowaliśmy w </a:t>
            </a:r>
            <a:r>
              <a:rPr lang="pl-PL" sz="1200" b="0" u="none" strike="noStrike" dirty="0" err="1">
                <a:solidFill>
                  <a:srgbClr val="000000"/>
                </a:solidFill>
                <a:effectLst/>
                <a:uFillTx/>
                <a:latin typeface="+mn-lt"/>
              </a:rPr>
              <a:t>prerejestracji</a:t>
            </a:r>
            <a:r>
              <a:rPr lang="pl-PL" sz="1200" b="0" u="none" strike="noStrike" dirty="0">
                <a:solidFill>
                  <a:srgbClr val="000000"/>
                </a:solidFill>
                <a:effectLst/>
                <a:uFillTx/>
                <a:latin typeface="+mn-lt"/>
              </a:rPr>
              <a:t>. Dobry protokół powinien pozwolić innemu badaczowi przeprowadzić dokładnie ten sam eksperyment. Zwracam uwagę na </a:t>
            </a:r>
            <a:r>
              <a:rPr lang="pl-PL" sz="1200" b="0" u="none" strike="noStrike" dirty="0" err="1">
                <a:solidFill>
                  <a:srgbClr val="000000"/>
                </a:solidFill>
                <a:effectLst/>
                <a:uFillTx/>
                <a:latin typeface="+mn-lt"/>
              </a:rPr>
              <a:t>check</a:t>
            </a:r>
            <a:r>
              <a:rPr lang="pl-PL" sz="1200" b="0" u="none" strike="noStrike" dirty="0">
                <a:solidFill>
                  <a:srgbClr val="000000"/>
                </a:solidFill>
                <a:effectLst/>
                <a:uFillTx/>
                <a:latin typeface="+mn-lt"/>
              </a:rPr>
              <a:t> manipulacyjny - sprawdza, czy zastosowana manipulacja faktycznie wywołała zamierzony efekt psychologiczny. Bez tego nie wiemy, czy </a:t>
            </a:r>
            <a:r>
              <a:rPr lang="pl-PL" sz="1200" b="0" u="none" strike="noStrike" dirty="0" err="1">
                <a:solidFill>
                  <a:srgbClr val="000000"/>
                </a:solidFill>
                <a:effectLst/>
                <a:uFillTx/>
                <a:latin typeface="+mn-lt"/>
              </a:rPr>
              <a:t>null</a:t>
            </a:r>
            <a:r>
              <a:rPr lang="pl-PL" sz="1200" b="0" u="none" strike="noStrike" dirty="0">
                <a:solidFill>
                  <a:srgbClr val="000000"/>
                </a:solidFill>
                <a:effectLst/>
                <a:uFillTx/>
                <a:latin typeface="+mn-lt"/>
              </a:rPr>
              <a:t> </a:t>
            </a:r>
            <a:r>
              <a:rPr lang="pl-PL" sz="1200" b="0" u="none" strike="noStrike" dirty="0" err="1">
                <a:solidFill>
                  <a:srgbClr val="000000"/>
                </a:solidFill>
                <a:effectLst/>
                <a:uFillTx/>
                <a:latin typeface="+mn-lt"/>
              </a:rPr>
              <a:t>result</a:t>
            </a:r>
            <a:r>
              <a:rPr lang="pl-PL" sz="1200" b="0" u="none" strike="noStrike" dirty="0">
                <a:solidFill>
                  <a:srgbClr val="000000"/>
                </a:solidFill>
                <a:effectLst/>
                <a:uFillTx/>
                <a:latin typeface="+mn-lt"/>
              </a:rPr>
              <a:t> pochodzi z braku efektu, czy z nieskutecznej manipulacji. Randomizacja kolejności bodźców jest szczególnie istotna przy zadaniach powtarzalnych - efekty treningowe mogą zniekształcać wyniki.</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597445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7" name="PlaceHolder 1"/>
          <p:cNvSpPr>
            <a:spLocks noGrp="1" noRot="1" noChangeAspect="1"/>
          </p:cNvSpPr>
          <p:nvPr>
            <p:ph type="sldImg"/>
          </p:nvPr>
        </p:nvSpPr>
        <p:spPr>
          <a:xfrm>
            <a:off x="1833563" y="1336675"/>
            <a:ext cx="6410325" cy="3606800"/>
          </a:xfrm>
          <a:prstGeom prst="rect">
            <a:avLst/>
          </a:prstGeom>
          <a:ln w="0">
            <a:noFill/>
          </a:ln>
        </p:spPr>
      </p:sp>
      <p:sp>
        <p:nvSpPr>
          <p:cNvPr id="1568" name="PlaceHolder 2"/>
          <p:cNvSpPr>
            <a:spLocks noGrp="1"/>
          </p:cNvSpPr>
          <p:nvPr>
            <p:ph type="body"/>
          </p:nvPr>
        </p:nvSpPr>
        <p:spPr>
          <a:xfrm>
            <a:off x="1007640" y="5145480"/>
            <a:ext cx="8061840" cy="4208400"/>
          </a:xfrm>
          <a:prstGeom prst="rect">
            <a:avLst/>
          </a:prstGeom>
          <a:noFill/>
          <a:ln w="0">
            <a:noFill/>
          </a:ln>
        </p:spPr>
        <p:txBody>
          <a:bodyPr lIns="91440" tIns="45720" rIns="91440" bIns="45720" anchor="t">
            <a:noAutofit/>
          </a:bodyPr>
          <a:lstStyle/>
          <a:p>
            <a:pPr indent="0">
              <a:lnSpc>
                <a:spcPct val="100000"/>
              </a:lnSpc>
              <a:buNone/>
              <a:tabLst>
                <a:tab pos="0" algn="l"/>
              </a:tabLst>
            </a:pPr>
            <a:r>
              <a:rPr lang="pl-PL" sz="2000" b="0" u="none" strike="noStrike" dirty="0">
                <a:solidFill>
                  <a:srgbClr val="000000"/>
                </a:solidFill>
                <a:effectLst/>
                <a:uFillTx/>
                <a:latin typeface="Arial"/>
              </a:rPr>
              <a:t>Protokół eksperymentu to operacyjna specyfikacja tego, co zaplanowaliśmy w </a:t>
            </a:r>
            <a:r>
              <a:rPr lang="pl-PL" sz="2000" b="0" u="none" strike="noStrike" dirty="0" err="1">
                <a:solidFill>
                  <a:srgbClr val="000000"/>
                </a:solidFill>
                <a:effectLst/>
                <a:uFillTx/>
                <a:latin typeface="Arial"/>
              </a:rPr>
              <a:t>prerejestracji</a:t>
            </a:r>
            <a:r>
              <a:rPr lang="pl-PL" sz="2000" b="0" u="none" strike="noStrike" dirty="0">
                <a:solidFill>
                  <a:srgbClr val="000000"/>
                </a:solidFill>
                <a:effectLst/>
                <a:uFillTx/>
                <a:latin typeface="Arial"/>
              </a:rPr>
              <a:t>. Dobry protokół powinien pozwolić innemu badaczowi przeprowadzić dokładnie ten sam eksperyment. Zwracam uwagę na </a:t>
            </a:r>
            <a:r>
              <a:rPr lang="pl-PL" sz="2000" b="0" u="none" strike="noStrike" dirty="0" err="1">
                <a:solidFill>
                  <a:srgbClr val="000000"/>
                </a:solidFill>
                <a:effectLst/>
                <a:uFillTx/>
                <a:latin typeface="Arial"/>
              </a:rPr>
              <a:t>check</a:t>
            </a:r>
            <a:r>
              <a:rPr lang="pl-PL" sz="2000" b="0" u="none" strike="noStrike" dirty="0">
                <a:solidFill>
                  <a:srgbClr val="000000"/>
                </a:solidFill>
                <a:effectLst/>
                <a:uFillTx/>
                <a:latin typeface="Arial"/>
              </a:rPr>
              <a:t> manipulacyjny - sprawdza, czy zastosowana manipulacja faktycznie wywołała zamierzony efekt psychologiczny. Bez tego nie wiemy, czy </a:t>
            </a:r>
            <a:r>
              <a:rPr lang="pl-PL" sz="2000" b="0" u="none" strike="noStrike" dirty="0" err="1">
                <a:solidFill>
                  <a:srgbClr val="000000"/>
                </a:solidFill>
                <a:effectLst/>
                <a:uFillTx/>
                <a:latin typeface="Arial"/>
              </a:rPr>
              <a:t>null</a:t>
            </a:r>
            <a:r>
              <a:rPr lang="pl-PL" sz="2000" b="0" u="none" strike="noStrike" dirty="0">
                <a:solidFill>
                  <a:srgbClr val="000000"/>
                </a:solidFill>
                <a:effectLst/>
                <a:uFillTx/>
                <a:latin typeface="Arial"/>
              </a:rPr>
              <a:t> </a:t>
            </a:r>
            <a:r>
              <a:rPr lang="pl-PL" sz="2000" b="0" u="none" strike="noStrike" dirty="0" err="1">
                <a:solidFill>
                  <a:srgbClr val="000000"/>
                </a:solidFill>
                <a:effectLst/>
                <a:uFillTx/>
                <a:latin typeface="Arial"/>
              </a:rPr>
              <a:t>result</a:t>
            </a:r>
            <a:r>
              <a:rPr lang="pl-PL" sz="2000" b="0" u="none" strike="noStrike" dirty="0">
                <a:solidFill>
                  <a:srgbClr val="000000"/>
                </a:solidFill>
                <a:effectLst/>
                <a:uFillTx/>
                <a:latin typeface="Arial"/>
              </a:rPr>
              <a:t> pochodzi z braku efektu, czy z nieskutecznej manipulacji. Randomizacja kolejności bodźców jest szczególnie istotna przy zadaniach powtarzalnych - efekty treningowe mogą zniekształcać wyniki.</a:t>
            </a:r>
          </a:p>
        </p:txBody>
      </p:sp>
      <p:sp>
        <p:nvSpPr>
          <p:cNvPr id="1569" name="PlaceHolder 3"/>
          <p:cNvSpPr>
            <a:spLocks noGrp="1"/>
          </p:cNvSpPr>
          <p:nvPr>
            <p:ph type="sldNum" idx="30"/>
          </p:nvPr>
        </p:nvSpPr>
        <p:spPr>
          <a:xfrm>
            <a:off x="5709600" y="10155600"/>
            <a:ext cx="4366080" cy="5346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pl-PL" sz="1200" b="0" u="none" strike="noStrike">
                <a:solidFill>
                  <a:schemeClr val="dk1"/>
                </a:solidFill>
                <a:effectLst/>
                <a:uFillTx/>
                <a:latin typeface="+mn-lt"/>
                <a:ea typeface="+mn-ea"/>
              </a:defRPr>
            </a:lvl1pPr>
          </a:lstStyle>
          <a:p>
            <a:pPr indent="0" algn="r" defTabSz="914400">
              <a:lnSpc>
                <a:spcPct val="100000"/>
              </a:lnSpc>
              <a:buNone/>
              <a:tabLst>
                <a:tab pos="0" algn="l"/>
              </a:tabLst>
            </a:pPr>
            <a:fld id="{E6EA955C-0B83-4BFE-B44B-D9247EDC6C4E}" type="slidenum">
              <a:rPr lang="pl-PL" sz="1200" b="0" u="none" strike="noStrike">
                <a:solidFill>
                  <a:schemeClr val="dk1"/>
                </a:solidFill>
                <a:effectLst/>
                <a:uFillTx/>
                <a:latin typeface="+mn-lt"/>
                <a:ea typeface="+mn-ea"/>
              </a:rPr>
              <a:t>14</a:t>
            </a:fld>
            <a:endParaRPr lang="pl-PL" sz="1200" b="0" u="none" strike="noStrike">
              <a:solidFill>
                <a:srgbClr val="000000"/>
              </a:solidFill>
              <a:effectLst/>
              <a:uFillTx/>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812800"/>
            <a:ext cx="0" cy="0"/>
          </a:xfrm>
        </p:spPr>
      </p:sp>
      <p:sp>
        <p:nvSpPr>
          <p:cNvPr id="3" name="Notes Placeholder 2"/>
          <p:cNvSpPr>
            <a:spLocks noGrp="1"/>
          </p:cNvSpPr>
          <p:nvPr>
            <p:ph type="body" idx="1"/>
          </p:nvPr>
        </p:nvSpPr>
        <p:spPr/>
        <p:txBody>
          <a:bodyPr/>
          <a:lstStyle/>
          <a:p>
            <a:r>
              <a:rPr lang="en-US" dirty="0"/>
              <a:t>Skąd biorą się nasi uczestnicy? Próba studencka, panel Prolific i pacjenci kliniki różnią się nie tylko demografią, ale motywacją do udziału i doświadczeniem z badaniami. Bias samoselekcji oznacza, że osoby zgłaszające się do badania mogą systematycznie różnić się od populacji, którą chcemy opisać. Compensation bias: wysokość wynagrodzenia za udział zmienia skład próby, szczególnie online. Kryteria włączenia i wyłączenia powinny być ustalone i prerejestrowane przed rekrutacją, nie modyfikowane w trakcie. Im więcej szczegółów o rekrutacji podamy w metodach, tym łatwiej ocenić, do jakiej populacji wyniki się generalizują.</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7296644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3" name="PlaceHolder 1"/>
          <p:cNvSpPr>
            <a:spLocks noGrp="1" noRot="1" noChangeAspect="1"/>
          </p:cNvSpPr>
          <p:nvPr>
            <p:ph type="sldImg"/>
          </p:nvPr>
        </p:nvSpPr>
        <p:spPr>
          <a:xfrm>
            <a:off x="1833563" y="1336675"/>
            <a:ext cx="6410325" cy="3606800"/>
          </a:xfrm>
          <a:prstGeom prst="rect">
            <a:avLst/>
          </a:prstGeom>
          <a:ln w="0">
            <a:noFill/>
          </a:ln>
        </p:spPr>
      </p:sp>
      <p:sp>
        <p:nvSpPr>
          <p:cNvPr id="1574" name="PlaceHolder 2"/>
          <p:cNvSpPr>
            <a:spLocks noGrp="1"/>
          </p:cNvSpPr>
          <p:nvPr>
            <p:ph type="body"/>
          </p:nvPr>
        </p:nvSpPr>
        <p:spPr>
          <a:xfrm>
            <a:off x="1007640" y="5145480"/>
            <a:ext cx="8061840" cy="4208400"/>
          </a:xfrm>
          <a:prstGeom prst="rect">
            <a:avLst/>
          </a:prstGeom>
          <a:noFill/>
          <a:ln w="0">
            <a:noFill/>
          </a:ln>
        </p:spPr>
        <p:txBody>
          <a:bodyPr lIns="91440" tIns="45720" rIns="91440" bIns="45720" anchor="t">
            <a:noAutofit/>
          </a:bodyPr>
          <a:lstStyle/>
          <a:p>
            <a:pPr indent="0">
              <a:lnSpc>
                <a:spcPct val="100000"/>
              </a:lnSpc>
              <a:buNone/>
              <a:tabLst>
                <a:tab pos="0" algn="l"/>
              </a:tabLst>
            </a:pPr>
            <a:r>
              <a:rPr lang="pl-PL" sz="2000" b="0" u="none" strike="noStrike" dirty="0" err="1">
                <a:solidFill>
                  <a:srgbClr val="000000"/>
                </a:solidFill>
                <a:effectLst/>
                <a:uFillTx/>
                <a:latin typeface="Arial"/>
              </a:rPr>
              <a:t>PsychoPy</a:t>
            </a:r>
            <a:r>
              <a:rPr lang="pl-PL" sz="2000" b="0" u="none" strike="noStrike" dirty="0">
                <a:solidFill>
                  <a:srgbClr val="000000"/>
                </a:solidFill>
                <a:effectLst/>
                <a:uFillTx/>
                <a:latin typeface="Arial"/>
              </a:rPr>
              <a:t> to aktualnie jedno z najszerzej stosowanych narzędzi do prowadzenia eksperymentów laboratoryjnych w psychologii. Tryb Builder pozwala zbudować eksperyment graficznie bez programowania. Tryb </a:t>
            </a:r>
            <a:r>
              <a:rPr lang="pl-PL" sz="2000" b="0" u="none" strike="noStrike" dirty="0" err="1">
                <a:solidFill>
                  <a:srgbClr val="000000"/>
                </a:solidFill>
                <a:effectLst/>
                <a:uFillTx/>
                <a:latin typeface="Arial"/>
              </a:rPr>
              <a:t>Coder</a:t>
            </a:r>
            <a:r>
              <a:rPr lang="pl-PL" sz="2000" b="0" u="none" strike="noStrike" dirty="0">
                <a:solidFill>
                  <a:srgbClr val="000000"/>
                </a:solidFill>
                <a:effectLst/>
                <a:uFillTx/>
                <a:latin typeface="Arial"/>
              </a:rPr>
              <a:t> daje pełną kontrolę przez </a:t>
            </a:r>
            <a:r>
              <a:rPr lang="pl-PL" sz="2000" b="0" u="none" strike="noStrike" dirty="0" err="1">
                <a:solidFill>
                  <a:srgbClr val="000000"/>
                </a:solidFill>
                <a:effectLst/>
                <a:uFillTx/>
                <a:latin typeface="Arial"/>
              </a:rPr>
              <a:t>Pythona</a:t>
            </a:r>
            <a:r>
              <a:rPr lang="pl-PL" sz="2000" b="0" u="none" strike="noStrike" dirty="0">
                <a:solidFill>
                  <a:srgbClr val="000000"/>
                </a:solidFill>
                <a:effectLst/>
                <a:uFillTx/>
                <a:latin typeface="Arial"/>
              </a:rPr>
              <a:t>, niezbędną przy bardziej złożonych paradygmatach: adaptacyjnych procedurach, dynamicznym generowaniu bodźców, integracji z zewnętrznymi urządzeniami. </a:t>
            </a:r>
            <a:r>
              <a:rPr lang="pl-PL" sz="2000" b="0" u="none" strike="noStrike" dirty="0" err="1">
                <a:solidFill>
                  <a:srgbClr val="000000"/>
                </a:solidFill>
                <a:effectLst/>
                <a:uFillTx/>
                <a:latin typeface="Arial"/>
              </a:rPr>
              <a:t>PsychoPy</a:t>
            </a:r>
            <a:r>
              <a:rPr lang="pl-PL" sz="2000" b="0" u="none" strike="noStrike" dirty="0">
                <a:solidFill>
                  <a:srgbClr val="000000"/>
                </a:solidFill>
                <a:effectLst/>
                <a:uFillTx/>
                <a:latin typeface="Arial"/>
              </a:rPr>
              <a:t> integruje się z </a:t>
            </a:r>
            <a:r>
              <a:rPr lang="pl-PL" sz="2000" b="0" u="none" strike="noStrike" dirty="0" err="1">
                <a:solidFill>
                  <a:srgbClr val="000000"/>
                </a:solidFill>
                <a:effectLst/>
                <a:uFillTx/>
                <a:latin typeface="Arial"/>
              </a:rPr>
              <a:t>Pavlovią</a:t>
            </a:r>
            <a:r>
              <a:rPr lang="pl-PL" sz="2000" b="0" u="none" strike="noStrike" dirty="0">
                <a:solidFill>
                  <a:srgbClr val="000000"/>
                </a:solidFill>
                <a:effectLst/>
                <a:uFillTx/>
                <a:latin typeface="Arial"/>
              </a:rPr>
              <a:t> - platformą, która pozwala uruchomić eksperyment w przeglądarce bez przepisywania kodu.</a:t>
            </a:r>
          </a:p>
        </p:txBody>
      </p:sp>
      <p:sp>
        <p:nvSpPr>
          <p:cNvPr id="1575" name="PlaceHolder 3"/>
          <p:cNvSpPr>
            <a:spLocks noGrp="1"/>
          </p:cNvSpPr>
          <p:nvPr>
            <p:ph type="sldNum" idx="32"/>
          </p:nvPr>
        </p:nvSpPr>
        <p:spPr>
          <a:xfrm>
            <a:off x="5709600" y="10155600"/>
            <a:ext cx="4366080" cy="5346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pl-PL" sz="1200" b="0" u="none" strike="noStrike">
                <a:solidFill>
                  <a:schemeClr val="dk1"/>
                </a:solidFill>
                <a:effectLst/>
                <a:uFillTx/>
                <a:latin typeface="+mn-lt"/>
                <a:ea typeface="+mn-ea"/>
              </a:defRPr>
            </a:lvl1pPr>
          </a:lstStyle>
          <a:p>
            <a:pPr indent="0" algn="r" defTabSz="914400">
              <a:lnSpc>
                <a:spcPct val="100000"/>
              </a:lnSpc>
              <a:buNone/>
              <a:tabLst>
                <a:tab pos="0" algn="l"/>
              </a:tabLst>
            </a:pPr>
            <a:fld id="{D35D39B3-C5EE-4D33-A21F-30CA869A9114}" type="slidenum">
              <a:rPr lang="pl-PL" sz="1200" b="0" u="none" strike="noStrike">
                <a:solidFill>
                  <a:schemeClr val="dk1"/>
                </a:solidFill>
                <a:effectLst/>
                <a:uFillTx/>
                <a:latin typeface="+mn-lt"/>
                <a:ea typeface="+mn-ea"/>
              </a:rPr>
              <a:t>16</a:t>
            </a:fld>
            <a:endParaRPr lang="pl-PL" sz="1200" b="0" u="none" strike="noStrike">
              <a:solidFill>
                <a:srgbClr val="000000"/>
              </a:solidFill>
              <a:effectLst/>
              <a:uFillTx/>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 name="PlaceHolder 1"/>
          <p:cNvSpPr>
            <a:spLocks noGrp="1" noRot="1" noChangeAspect="1"/>
          </p:cNvSpPr>
          <p:nvPr>
            <p:ph type="sldImg"/>
          </p:nvPr>
        </p:nvSpPr>
        <p:spPr>
          <a:xfrm>
            <a:off x="1833563" y="1336675"/>
            <a:ext cx="6410325" cy="3606800"/>
          </a:xfrm>
          <a:prstGeom prst="rect">
            <a:avLst/>
          </a:prstGeom>
          <a:ln w="0">
            <a:noFill/>
          </a:ln>
        </p:spPr>
      </p:sp>
      <p:sp>
        <p:nvSpPr>
          <p:cNvPr id="1577" name="PlaceHolder 2"/>
          <p:cNvSpPr>
            <a:spLocks noGrp="1"/>
          </p:cNvSpPr>
          <p:nvPr>
            <p:ph type="body"/>
          </p:nvPr>
        </p:nvSpPr>
        <p:spPr>
          <a:xfrm>
            <a:off x="1007640" y="5145480"/>
            <a:ext cx="8061840" cy="4208400"/>
          </a:xfrm>
          <a:prstGeom prst="rect">
            <a:avLst/>
          </a:prstGeom>
          <a:noFill/>
          <a:ln w="0">
            <a:noFill/>
          </a:ln>
        </p:spPr>
        <p:txBody>
          <a:bodyPr lIns="91440" tIns="45720" rIns="91440" bIns="45720" anchor="t">
            <a:noAutofit/>
          </a:bodyPr>
          <a:lstStyle/>
          <a:p>
            <a:pPr indent="0">
              <a:lnSpc>
                <a:spcPct val="100000"/>
              </a:lnSpc>
              <a:buNone/>
              <a:tabLst>
                <a:tab pos="0" algn="l"/>
              </a:tabLst>
            </a:pPr>
            <a:r>
              <a:rPr lang="pl-PL" sz="2000" b="0" u="none" strike="noStrike" dirty="0" err="1">
                <a:solidFill>
                  <a:srgbClr val="000000"/>
                </a:solidFill>
                <a:effectLst/>
                <a:uFillTx/>
                <a:latin typeface="Arial"/>
              </a:rPr>
              <a:t>jsPsych</a:t>
            </a:r>
            <a:r>
              <a:rPr lang="pl-PL" sz="2000" b="0" u="none" strike="noStrike" dirty="0">
                <a:solidFill>
                  <a:srgbClr val="000000"/>
                </a:solidFill>
                <a:effectLst/>
                <a:uFillTx/>
                <a:latin typeface="Arial"/>
              </a:rPr>
              <a:t> rozwiązuje problem prowadzenia precyzyjnych eksperymentów behawioralnych w przeglądarce. Biblioteka dostarcza gotowe implementacje dziesiątek standardowych paradygmatów poznawczych. Dane zbierane są w formacie JSON i mogą być przesyłane na serwer JATOS. Integracja z </a:t>
            </a:r>
            <a:r>
              <a:rPr lang="pl-PL" sz="2000" b="0" u="none" strike="noStrike" dirty="0" err="1">
                <a:solidFill>
                  <a:srgbClr val="000000"/>
                </a:solidFill>
                <a:effectLst/>
                <a:uFillTx/>
                <a:latin typeface="Arial"/>
              </a:rPr>
              <a:t>Prolific</a:t>
            </a:r>
            <a:r>
              <a:rPr lang="pl-PL" sz="2000" b="0" u="none" strike="noStrike" dirty="0">
                <a:solidFill>
                  <a:srgbClr val="000000"/>
                </a:solidFill>
                <a:effectLst/>
                <a:uFillTx/>
                <a:latin typeface="Arial"/>
              </a:rPr>
              <a:t> pozwala rekrutować uczestników globalnie z kontrolą demograficzną. Dla badaczy z doświadczeniem programistycznym </a:t>
            </a:r>
            <a:r>
              <a:rPr lang="pl-PL" sz="2000" b="0" u="none" strike="noStrike" dirty="0" err="1">
                <a:solidFill>
                  <a:srgbClr val="000000"/>
                </a:solidFill>
                <a:effectLst/>
                <a:uFillTx/>
                <a:latin typeface="Arial"/>
              </a:rPr>
              <a:t>jsPsych</a:t>
            </a:r>
            <a:r>
              <a:rPr lang="pl-PL" sz="2000" b="0" u="none" strike="noStrike" dirty="0">
                <a:solidFill>
                  <a:srgbClr val="000000"/>
                </a:solidFill>
                <a:effectLst/>
                <a:uFillTx/>
                <a:latin typeface="Arial"/>
              </a:rPr>
              <a:t> jest elastycznym narzędziem - kod JavaScript pozwala dostosować niemal każdy element eksperymentu.</a:t>
            </a:r>
          </a:p>
        </p:txBody>
      </p:sp>
      <p:sp>
        <p:nvSpPr>
          <p:cNvPr id="1578" name="PlaceHolder 3"/>
          <p:cNvSpPr>
            <a:spLocks noGrp="1"/>
          </p:cNvSpPr>
          <p:nvPr>
            <p:ph type="sldNum" idx="33"/>
          </p:nvPr>
        </p:nvSpPr>
        <p:spPr>
          <a:xfrm>
            <a:off x="5709600" y="10155600"/>
            <a:ext cx="4366080" cy="5346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pl-PL" sz="1200" b="0" u="none" strike="noStrike">
                <a:solidFill>
                  <a:schemeClr val="dk1"/>
                </a:solidFill>
                <a:effectLst/>
                <a:uFillTx/>
                <a:latin typeface="+mn-lt"/>
                <a:ea typeface="+mn-ea"/>
              </a:defRPr>
            </a:lvl1pPr>
          </a:lstStyle>
          <a:p>
            <a:pPr indent="0" algn="r" defTabSz="914400">
              <a:lnSpc>
                <a:spcPct val="100000"/>
              </a:lnSpc>
              <a:buNone/>
              <a:tabLst>
                <a:tab pos="0" algn="l"/>
              </a:tabLst>
            </a:pPr>
            <a:fld id="{674B0E21-855C-4485-AB10-49C6586C19BC}" type="slidenum">
              <a:rPr lang="pl-PL" sz="1200" b="0" u="none" strike="noStrike">
                <a:solidFill>
                  <a:schemeClr val="dk1"/>
                </a:solidFill>
                <a:effectLst/>
                <a:uFillTx/>
                <a:latin typeface="+mn-lt"/>
                <a:ea typeface="+mn-ea"/>
              </a:rPr>
              <a:t>17</a:t>
            </a:fld>
            <a:endParaRPr lang="pl-PL" sz="1200" b="0" u="none" strike="noStrike">
              <a:solidFill>
                <a:srgbClr val="000000"/>
              </a:solidFill>
              <a:effectLst/>
              <a:uFillTx/>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9" name="PlaceHolder 1"/>
          <p:cNvSpPr>
            <a:spLocks noGrp="1" noRot="1" noChangeAspect="1"/>
          </p:cNvSpPr>
          <p:nvPr>
            <p:ph type="sldImg"/>
          </p:nvPr>
        </p:nvSpPr>
        <p:spPr>
          <a:xfrm>
            <a:off x="1833563" y="1336675"/>
            <a:ext cx="6410325" cy="3606800"/>
          </a:xfrm>
          <a:prstGeom prst="rect">
            <a:avLst/>
          </a:prstGeom>
          <a:ln w="0">
            <a:noFill/>
          </a:ln>
        </p:spPr>
      </p:sp>
      <p:sp>
        <p:nvSpPr>
          <p:cNvPr id="1580" name="PlaceHolder 2"/>
          <p:cNvSpPr>
            <a:spLocks noGrp="1"/>
          </p:cNvSpPr>
          <p:nvPr>
            <p:ph type="body"/>
          </p:nvPr>
        </p:nvSpPr>
        <p:spPr>
          <a:xfrm>
            <a:off x="1007640" y="5145480"/>
            <a:ext cx="8061840" cy="4208400"/>
          </a:xfrm>
          <a:prstGeom prst="rect">
            <a:avLst/>
          </a:prstGeom>
          <a:noFill/>
          <a:ln w="0">
            <a:noFill/>
          </a:ln>
        </p:spPr>
        <p:txBody>
          <a:bodyPr lIns="91440" tIns="45720" rIns="91440" bIns="45720" anchor="t">
            <a:noAutofit/>
          </a:bodyPr>
          <a:lstStyle/>
          <a:p>
            <a:pPr indent="0">
              <a:lnSpc>
                <a:spcPct val="100000"/>
              </a:lnSpc>
              <a:buNone/>
              <a:tabLst>
                <a:tab pos="0" algn="l"/>
              </a:tabLst>
            </a:pPr>
            <a:r>
              <a:rPr lang="pl-PL" sz="2000" b="0" u="none" strike="noStrike" dirty="0">
                <a:solidFill>
                  <a:srgbClr val="000000"/>
                </a:solidFill>
                <a:effectLst/>
                <a:uFillTx/>
                <a:latin typeface="Arial"/>
              </a:rPr>
              <a:t>Wybór platformy powinien wynikać z trzech kryteriów: złożoności paradygmatu, dostępnych zasobów technicznych i budżetu. </a:t>
            </a:r>
            <a:r>
              <a:rPr lang="pl-PL" sz="2000" b="0" u="none" strike="noStrike" dirty="0" err="1">
                <a:solidFill>
                  <a:srgbClr val="000000"/>
                </a:solidFill>
                <a:effectLst/>
                <a:uFillTx/>
                <a:latin typeface="Arial"/>
              </a:rPr>
              <a:t>Gorilla</a:t>
            </a:r>
            <a:r>
              <a:rPr lang="pl-PL" sz="2000" b="0" u="none" strike="noStrike" dirty="0">
                <a:solidFill>
                  <a:srgbClr val="000000"/>
                </a:solidFill>
                <a:effectLst/>
                <a:uFillTx/>
                <a:latin typeface="Arial"/>
              </a:rPr>
              <a:t> jest dobrą opcją dla badaczy, którzy potrzebują szybko wdrożyć eksperyment bez programowania. </a:t>
            </a:r>
            <a:r>
              <a:rPr lang="pl-PL" sz="2000" b="0" u="none" strike="noStrike" dirty="0" err="1">
                <a:solidFill>
                  <a:srgbClr val="000000"/>
                </a:solidFill>
                <a:effectLst/>
                <a:uFillTx/>
                <a:latin typeface="Arial"/>
              </a:rPr>
              <a:t>Pavlovia</a:t>
            </a:r>
            <a:r>
              <a:rPr lang="pl-PL" sz="2000" b="0" u="none" strike="noStrike" dirty="0">
                <a:solidFill>
                  <a:srgbClr val="000000"/>
                </a:solidFill>
                <a:effectLst/>
                <a:uFillTx/>
                <a:latin typeface="Arial"/>
              </a:rPr>
              <a:t> jest naturalnym wyborem, jeśli eksperyment jest już zbudowany w </a:t>
            </a:r>
            <a:r>
              <a:rPr lang="pl-PL" sz="2000" b="0" u="none" strike="noStrike" dirty="0" err="1">
                <a:solidFill>
                  <a:srgbClr val="000000"/>
                </a:solidFill>
                <a:effectLst/>
                <a:uFillTx/>
                <a:latin typeface="Arial"/>
              </a:rPr>
              <a:t>PsychoPy</a:t>
            </a:r>
            <a:r>
              <a:rPr lang="pl-PL" sz="2000" b="0" u="none" strike="noStrike" dirty="0">
                <a:solidFill>
                  <a:srgbClr val="000000"/>
                </a:solidFill>
                <a:effectLst/>
                <a:uFillTx/>
                <a:latin typeface="Arial"/>
              </a:rPr>
              <a:t>. Lab.js to ciekawa alternatywa open-</a:t>
            </a:r>
            <a:r>
              <a:rPr lang="pl-PL" sz="2000" b="0" u="none" strike="noStrike" dirty="0" err="1">
                <a:solidFill>
                  <a:srgbClr val="000000"/>
                </a:solidFill>
                <a:effectLst/>
                <a:uFillTx/>
                <a:latin typeface="Arial"/>
              </a:rPr>
              <a:t>source</a:t>
            </a:r>
            <a:r>
              <a:rPr lang="pl-PL" sz="2000" b="0" u="none" strike="noStrike" dirty="0">
                <a:solidFill>
                  <a:srgbClr val="000000"/>
                </a:solidFill>
                <a:effectLst/>
                <a:uFillTx/>
                <a:latin typeface="Arial"/>
              </a:rPr>
              <a:t>. </a:t>
            </a:r>
            <a:r>
              <a:rPr lang="pl-PL" sz="2000" b="0" u="none" strike="noStrike" dirty="0" err="1">
                <a:solidFill>
                  <a:srgbClr val="000000"/>
                </a:solidFill>
                <a:effectLst/>
                <a:uFillTx/>
                <a:latin typeface="Arial"/>
              </a:rPr>
              <a:t>Qualtrics</a:t>
            </a:r>
            <a:r>
              <a:rPr lang="pl-PL" sz="2000" b="0" u="none" strike="noStrike" dirty="0">
                <a:solidFill>
                  <a:srgbClr val="000000"/>
                </a:solidFill>
                <a:effectLst/>
                <a:uFillTx/>
                <a:latin typeface="Arial"/>
              </a:rPr>
              <a:t> sprawdza się przy badaniach kwestionariuszowych, ale ma ograniczenia przy precyzyjnych pomiarach czasu reakcji. Własny kod w </a:t>
            </a:r>
            <a:r>
              <a:rPr lang="pl-PL" sz="2000" b="0" u="none" strike="noStrike" dirty="0" err="1">
                <a:solidFill>
                  <a:srgbClr val="000000"/>
                </a:solidFill>
                <a:effectLst/>
                <a:uFillTx/>
                <a:latin typeface="Arial"/>
              </a:rPr>
              <a:t>jsPsych</a:t>
            </a:r>
            <a:r>
              <a:rPr lang="pl-PL" sz="2000" b="0" u="none" strike="noStrike" dirty="0">
                <a:solidFill>
                  <a:srgbClr val="000000"/>
                </a:solidFill>
                <a:effectLst/>
                <a:uFillTx/>
                <a:latin typeface="Arial"/>
              </a:rPr>
              <a:t> daje największą elastyczność i jest zalecany przy niestandardowych paradygmatach.</a:t>
            </a:r>
          </a:p>
        </p:txBody>
      </p:sp>
      <p:sp>
        <p:nvSpPr>
          <p:cNvPr id="1581" name="PlaceHolder 3"/>
          <p:cNvSpPr>
            <a:spLocks noGrp="1"/>
          </p:cNvSpPr>
          <p:nvPr>
            <p:ph type="sldNum" idx="34"/>
          </p:nvPr>
        </p:nvSpPr>
        <p:spPr>
          <a:xfrm>
            <a:off x="5709600" y="10155600"/>
            <a:ext cx="4366080" cy="5346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pl-PL" sz="1200" b="0" u="none" strike="noStrike">
                <a:solidFill>
                  <a:schemeClr val="dk1"/>
                </a:solidFill>
                <a:effectLst/>
                <a:uFillTx/>
                <a:latin typeface="+mn-lt"/>
                <a:ea typeface="+mn-ea"/>
              </a:defRPr>
            </a:lvl1pPr>
          </a:lstStyle>
          <a:p>
            <a:pPr indent="0" algn="r" defTabSz="914400">
              <a:lnSpc>
                <a:spcPct val="100000"/>
              </a:lnSpc>
              <a:buNone/>
              <a:tabLst>
                <a:tab pos="0" algn="l"/>
              </a:tabLst>
            </a:pPr>
            <a:fld id="{645E42AC-C681-46A4-B39F-4D1810136E3B}" type="slidenum">
              <a:rPr lang="pl-PL" sz="1200" b="0" u="none" strike="noStrike">
                <a:solidFill>
                  <a:schemeClr val="dk1"/>
                </a:solidFill>
                <a:effectLst/>
                <a:uFillTx/>
                <a:latin typeface="+mn-lt"/>
                <a:ea typeface="+mn-ea"/>
              </a:rPr>
              <a:t>18</a:t>
            </a:fld>
            <a:endParaRPr lang="pl-PL" sz="1200" b="0" u="none" strike="noStrike">
              <a:solidFill>
                <a:srgbClr val="000000"/>
              </a:solidFill>
              <a:effectLst/>
              <a:uFillTx/>
              <a:latin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2" name="PlaceHolder 1"/>
          <p:cNvSpPr>
            <a:spLocks noGrp="1" noRot="1" noChangeAspect="1"/>
          </p:cNvSpPr>
          <p:nvPr>
            <p:ph type="sldImg"/>
          </p:nvPr>
        </p:nvSpPr>
        <p:spPr>
          <a:xfrm>
            <a:off x="1833563" y="1336675"/>
            <a:ext cx="6410325" cy="3606800"/>
          </a:xfrm>
          <a:prstGeom prst="rect">
            <a:avLst/>
          </a:prstGeom>
          <a:ln w="0">
            <a:noFill/>
          </a:ln>
        </p:spPr>
      </p:sp>
      <p:sp>
        <p:nvSpPr>
          <p:cNvPr id="1583" name="PlaceHolder 2"/>
          <p:cNvSpPr>
            <a:spLocks noGrp="1"/>
          </p:cNvSpPr>
          <p:nvPr>
            <p:ph type="body"/>
          </p:nvPr>
        </p:nvSpPr>
        <p:spPr>
          <a:xfrm>
            <a:off x="1007640" y="5145480"/>
            <a:ext cx="8061840" cy="4208400"/>
          </a:xfrm>
          <a:prstGeom prst="rect">
            <a:avLst/>
          </a:prstGeom>
          <a:noFill/>
          <a:ln w="0">
            <a:noFill/>
          </a:ln>
        </p:spPr>
        <p:txBody>
          <a:bodyPr lIns="91440" tIns="45720" rIns="91440" bIns="45720" anchor="t">
            <a:noAutofit/>
          </a:bodyPr>
          <a:lstStyle/>
          <a:p>
            <a:pPr indent="0">
              <a:lnSpc>
                <a:spcPct val="100000"/>
              </a:lnSpc>
              <a:buNone/>
              <a:tabLst>
                <a:tab pos="0" algn="l"/>
              </a:tabLst>
            </a:pPr>
            <a:r>
              <a:rPr lang="pl-PL" sz="2000" b="0" u="none" strike="noStrike">
                <a:solidFill>
                  <a:srgbClr val="000000"/>
                </a:solidFill>
                <a:effectLst/>
                <a:uFillTx/>
                <a:latin typeface="Arial"/>
              </a:rPr>
              <a:t>To jest jeden z tych technicznych szczegółów, które mają bezpośrednie konsekwencje metodologiczne. Odchylenie odświeżania ekranu na poziomie 60 Hz oznacza, że bodźiec może pojawić się z opóźnieniem do 16 ms względem momentu obliczenia. Suma tych czynników powoduje, że przy badaniach online możemy spodziewać się jitteru rzędu kilkudziesięciu milisekund. Dla paradygmatów takich jak maskowanie wsteczne jest to niedopuszczalne. Natomiast dla zadań z czasami reakcji powyżej 300–400 ms efekt ten jest relatywnie mały.</a:t>
            </a:r>
          </a:p>
        </p:txBody>
      </p:sp>
      <p:sp>
        <p:nvSpPr>
          <p:cNvPr id="1584" name="PlaceHolder 3"/>
          <p:cNvSpPr>
            <a:spLocks noGrp="1"/>
          </p:cNvSpPr>
          <p:nvPr>
            <p:ph type="sldNum" idx="35"/>
          </p:nvPr>
        </p:nvSpPr>
        <p:spPr>
          <a:xfrm>
            <a:off x="5709600" y="10155600"/>
            <a:ext cx="4366080" cy="5346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pl-PL" sz="1200" b="0" u="none" strike="noStrike">
                <a:solidFill>
                  <a:schemeClr val="dk1"/>
                </a:solidFill>
                <a:effectLst/>
                <a:uFillTx/>
                <a:latin typeface="+mn-lt"/>
                <a:ea typeface="+mn-ea"/>
              </a:defRPr>
            </a:lvl1pPr>
          </a:lstStyle>
          <a:p>
            <a:pPr indent="0" algn="r" defTabSz="914400">
              <a:lnSpc>
                <a:spcPct val="100000"/>
              </a:lnSpc>
              <a:buNone/>
              <a:tabLst>
                <a:tab pos="0" algn="l"/>
              </a:tabLst>
            </a:pPr>
            <a:fld id="{8CDAE494-6613-45DA-9F65-7D9CD6C702F5}" type="slidenum">
              <a:rPr lang="pl-PL" sz="1200" b="0" u="none" strike="noStrike">
                <a:solidFill>
                  <a:schemeClr val="dk1"/>
                </a:solidFill>
                <a:effectLst/>
                <a:uFillTx/>
                <a:latin typeface="+mn-lt"/>
                <a:ea typeface="+mn-ea"/>
              </a:rPr>
              <a:t>19</a:t>
            </a:fld>
            <a:endParaRPr lang="pl-PL" sz="1200" b="0" u="none" strike="noStrike">
              <a:solidFill>
                <a:srgbClr val="000000"/>
              </a:solidFill>
              <a:effectLst/>
              <a:uFillTx/>
              <a:latin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812800"/>
            <a:ext cx="0" cy="0"/>
          </a:xfrm>
        </p:spPr>
      </p:sp>
      <p:sp>
        <p:nvSpPr>
          <p:cNvPr id="3" name="Notes Placeholder 2"/>
          <p:cNvSpPr>
            <a:spLocks noGrp="1"/>
          </p:cNvSpPr>
          <p:nvPr>
            <p:ph type="body" idx="1"/>
          </p:nvPr>
        </p:nvSpPr>
        <p:spPr/>
        <p:txBody>
          <a:bodyPr/>
          <a:lstStyle/>
          <a:p>
            <a:r>
              <a:rPr lang="en-US" dirty="0"/>
              <a:t>Czy to, co mierzymy z taką precyzją, mierzy faktycznie to, co chcemy zbadać? To różnica między precyzją techniczną a trafnością psychometryczną. Urządzenie może rejestrować dane ze świetną rozdzielczością i jednocześnie być nietrafne względem konstruktu. Rzetelność test-retest sprawdza stabilność miary w czasie, a zgodność między urządzeniami jest krytyczna w badaniach longitudinalnych. Zanim włączymy nowe urządzenie do protokołu, warto zweryfikować je względem miary referencyjnej, nawet na małej próbie pilotażowej.</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2975598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8" name="PlaceHolder 1"/>
          <p:cNvSpPr>
            <a:spLocks noGrp="1" noRot="1" noChangeAspect="1"/>
          </p:cNvSpPr>
          <p:nvPr>
            <p:ph type="sldImg"/>
          </p:nvPr>
        </p:nvSpPr>
        <p:spPr>
          <a:xfrm>
            <a:off x="1833563" y="1336675"/>
            <a:ext cx="6410325" cy="3606800"/>
          </a:xfrm>
          <a:prstGeom prst="rect">
            <a:avLst/>
          </a:prstGeom>
          <a:ln w="0">
            <a:noFill/>
          </a:ln>
        </p:spPr>
      </p:sp>
      <p:sp>
        <p:nvSpPr>
          <p:cNvPr id="1589" name="PlaceHolder 2"/>
          <p:cNvSpPr>
            <a:spLocks noGrp="1"/>
          </p:cNvSpPr>
          <p:nvPr>
            <p:ph type="body"/>
          </p:nvPr>
        </p:nvSpPr>
        <p:spPr>
          <a:xfrm>
            <a:off x="1007640" y="5145480"/>
            <a:ext cx="8061840" cy="4208400"/>
          </a:xfrm>
          <a:prstGeom prst="rect">
            <a:avLst/>
          </a:prstGeom>
          <a:noFill/>
          <a:ln w="0">
            <a:noFill/>
          </a:ln>
        </p:spPr>
        <p:txBody>
          <a:bodyPr lIns="91440" tIns="45720" rIns="91440" bIns="45720" anchor="t">
            <a:noAutofit/>
          </a:bodyPr>
          <a:lstStyle/>
          <a:p>
            <a:pPr indent="0">
              <a:lnSpc>
                <a:spcPct val="100000"/>
              </a:lnSpc>
              <a:buNone/>
              <a:tabLst>
                <a:tab pos="0" algn="l"/>
              </a:tabLst>
            </a:pPr>
            <a:r>
              <a:rPr lang="pl-PL" sz="2000" b="0" u="none" strike="noStrike">
                <a:solidFill>
                  <a:srgbClr val="000000"/>
                </a:solidFill>
                <a:effectLst/>
                <a:uFillTx/>
                <a:latin typeface="Arial"/>
              </a:rPr>
              <a:t>EMA rozwiązuje fundamentalny problem psychologii opartej na pomiarze jednorazowym: zjawiska takie jak nastrój, stres czy zmęczenie są zmienne w czasie. Pytając uczestnika o samopoczucie raz w tygodniu, prosimy o retrospektywną rekonstrukcję obarzoną błędami pamięci. EMA pyta wiele razy dziennie. Wymaga to starannego zaprojektowania: ile pytań na sesję? Jak często? Dane EMA mają strukturę hierarchiczną: obserwacje są zagnieżdżone w uczestnikach, co wymaga modeli liniowych mieszanych lub wielopoziomowych.</a:t>
            </a:r>
          </a:p>
        </p:txBody>
      </p:sp>
      <p:sp>
        <p:nvSpPr>
          <p:cNvPr id="1590" name="PlaceHolder 3"/>
          <p:cNvSpPr>
            <a:spLocks noGrp="1"/>
          </p:cNvSpPr>
          <p:nvPr>
            <p:ph type="sldNum" idx="37"/>
          </p:nvPr>
        </p:nvSpPr>
        <p:spPr>
          <a:xfrm>
            <a:off x="5709600" y="10155600"/>
            <a:ext cx="4366080" cy="5346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pl-PL" sz="1200" b="0" u="none" strike="noStrike">
                <a:solidFill>
                  <a:schemeClr val="dk1"/>
                </a:solidFill>
                <a:effectLst/>
                <a:uFillTx/>
                <a:latin typeface="+mn-lt"/>
                <a:ea typeface="+mn-ea"/>
              </a:defRPr>
            </a:lvl1pPr>
          </a:lstStyle>
          <a:p>
            <a:pPr indent="0" algn="r" defTabSz="914400">
              <a:lnSpc>
                <a:spcPct val="100000"/>
              </a:lnSpc>
              <a:buNone/>
              <a:tabLst>
                <a:tab pos="0" algn="l"/>
              </a:tabLst>
            </a:pPr>
            <a:fld id="{2E58AF07-A386-4BAB-B1FF-4AAE5404460D}" type="slidenum">
              <a:rPr lang="pl-PL" sz="1200" b="0" u="none" strike="noStrike">
                <a:solidFill>
                  <a:schemeClr val="dk1"/>
                </a:solidFill>
                <a:effectLst/>
                <a:uFillTx/>
                <a:latin typeface="+mn-lt"/>
                <a:ea typeface="+mn-ea"/>
              </a:rPr>
              <a:t>21</a:t>
            </a:fld>
            <a:endParaRPr lang="pl-PL" sz="1200" b="0" u="none" strike="noStrike">
              <a:solidFill>
                <a:srgbClr val="000000"/>
              </a:solidFill>
              <a:effectLst/>
              <a:uFillTx/>
              <a:latin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1" name="PlaceHolder 1"/>
          <p:cNvSpPr>
            <a:spLocks noGrp="1" noRot="1" noChangeAspect="1"/>
          </p:cNvSpPr>
          <p:nvPr>
            <p:ph type="sldImg"/>
          </p:nvPr>
        </p:nvSpPr>
        <p:spPr>
          <a:xfrm>
            <a:off x="1833563" y="1336675"/>
            <a:ext cx="6410325" cy="3606800"/>
          </a:xfrm>
          <a:prstGeom prst="rect">
            <a:avLst/>
          </a:prstGeom>
          <a:ln w="0">
            <a:noFill/>
          </a:ln>
        </p:spPr>
      </p:sp>
      <p:sp>
        <p:nvSpPr>
          <p:cNvPr id="1592" name="PlaceHolder 2"/>
          <p:cNvSpPr>
            <a:spLocks noGrp="1"/>
          </p:cNvSpPr>
          <p:nvPr>
            <p:ph type="body"/>
          </p:nvPr>
        </p:nvSpPr>
        <p:spPr>
          <a:xfrm>
            <a:off x="1007640" y="5145480"/>
            <a:ext cx="8061840" cy="4208400"/>
          </a:xfrm>
          <a:prstGeom prst="rect">
            <a:avLst/>
          </a:prstGeom>
          <a:noFill/>
          <a:ln w="0">
            <a:noFill/>
          </a:ln>
        </p:spPr>
        <p:txBody>
          <a:bodyPr lIns="91440" tIns="45720" rIns="91440" bIns="45720" anchor="t">
            <a:noAutofit/>
          </a:bodyPr>
          <a:lstStyle/>
          <a:p>
            <a:pPr indent="0">
              <a:lnSpc>
                <a:spcPct val="100000"/>
              </a:lnSpc>
              <a:buNone/>
              <a:tabLst>
                <a:tab pos="0" algn="l"/>
              </a:tabLst>
            </a:pPr>
            <a:r>
              <a:rPr lang="pl-PL" sz="2000" b="0" u="none" strike="noStrike" dirty="0" err="1">
                <a:solidFill>
                  <a:srgbClr val="000000"/>
                </a:solidFill>
                <a:effectLst/>
                <a:uFillTx/>
                <a:latin typeface="Arial"/>
              </a:rPr>
              <a:t>Wearables</a:t>
            </a:r>
            <a:r>
              <a:rPr lang="pl-PL" sz="2000" b="0" u="none" strike="noStrike" dirty="0">
                <a:solidFill>
                  <a:srgbClr val="000000"/>
                </a:solidFill>
                <a:effectLst/>
                <a:uFillTx/>
                <a:latin typeface="Arial"/>
              </a:rPr>
              <a:t> wnoszą do psychologii możliwość mierzenia sygnałów fizjologicznych w warunkach niemal naturalnych przez długi czas. Ale to wnosi też specyficzne ryzyka interpretacyjne. EDA mierzy aktywność układu współczulnego - mówi o pobudzeniu, ale nie mówi jakiego rodzaju. Stres, radość i wysiłek fizyczny dają podobne wzorce EDA. HRV wymaga odpowiedniej ekstrakcji i walidacji, a jego interpretacja w krótkich oknach jest ograniczona. Dane z urządzeń komercyjnych mają gorszą jakość niż urządzenia badawcze jak </a:t>
            </a:r>
            <a:r>
              <a:rPr lang="pl-PL" sz="2000" b="0" u="none" strike="noStrike" dirty="0" err="1">
                <a:solidFill>
                  <a:srgbClr val="000000"/>
                </a:solidFill>
                <a:effectLst/>
                <a:uFillTx/>
                <a:latin typeface="Arial"/>
              </a:rPr>
              <a:t>Empatica</a:t>
            </a:r>
            <a:r>
              <a:rPr lang="pl-PL" sz="2000" b="0" u="none" strike="noStrike" dirty="0">
                <a:solidFill>
                  <a:srgbClr val="000000"/>
                </a:solidFill>
                <a:effectLst/>
                <a:uFillTx/>
                <a:latin typeface="Arial"/>
              </a:rPr>
              <a:t> E4.</a:t>
            </a:r>
          </a:p>
        </p:txBody>
      </p:sp>
      <p:sp>
        <p:nvSpPr>
          <p:cNvPr id="1593" name="PlaceHolder 3"/>
          <p:cNvSpPr>
            <a:spLocks noGrp="1"/>
          </p:cNvSpPr>
          <p:nvPr>
            <p:ph type="sldNum" idx="38"/>
          </p:nvPr>
        </p:nvSpPr>
        <p:spPr>
          <a:xfrm>
            <a:off x="5709600" y="10155600"/>
            <a:ext cx="4366080" cy="5346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pl-PL" sz="1200" b="0" u="none" strike="noStrike">
                <a:solidFill>
                  <a:schemeClr val="dk1"/>
                </a:solidFill>
                <a:effectLst/>
                <a:uFillTx/>
                <a:latin typeface="+mn-lt"/>
                <a:ea typeface="+mn-ea"/>
              </a:defRPr>
            </a:lvl1pPr>
          </a:lstStyle>
          <a:p>
            <a:pPr indent="0" algn="r" defTabSz="914400">
              <a:lnSpc>
                <a:spcPct val="100000"/>
              </a:lnSpc>
              <a:buNone/>
              <a:tabLst>
                <a:tab pos="0" algn="l"/>
              </a:tabLst>
            </a:pPr>
            <a:fld id="{555C34DE-F040-4185-94F0-C5821469F14B}" type="slidenum">
              <a:rPr lang="pl-PL" sz="1200" b="0" u="none" strike="noStrike">
                <a:solidFill>
                  <a:schemeClr val="dk1"/>
                </a:solidFill>
                <a:effectLst/>
                <a:uFillTx/>
                <a:latin typeface="+mn-lt"/>
                <a:ea typeface="+mn-ea"/>
              </a:rPr>
              <a:t>22</a:t>
            </a:fld>
            <a:endParaRPr lang="pl-PL" sz="1200" b="0" u="none" strike="noStrike">
              <a:solidFill>
                <a:srgbClr val="000000"/>
              </a:solidFill>
              <a:effectLst/>
              <a:uFillTx/>
              <a:latin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4" name="PlaceHolder 1"/>
          <p:cNvSpPr>
            <a:spLocks noGrp="1" noRot="1" noChangeAspect="1"/>
          </p:cNvSpPr>
          <p:nvPr>
            <p:ph type="sldImg"/>
          </p:nvPr>
        </p:nvSpPr>
        <p:spPr>
          <a:xfrm>
            <a:off x="1833563" y="1336675"/>
            <a:ext cx="6410325" cy="3606800"/>
          </a:xfrm>
          <a:prstGeom prst="rect">
            <a:avLst/>
          </a:prstGeom>
          <a:ln w="0">
            <a:noFill/>
          </a:ln>
        </p:spPr>
      </p:sp>
      <p:sp>
        <p:nvSpPr>
          <p:cNvPr id="1595" name="PlaceHolder 2"/>
          <p:cNvSpPr>
            <a:spLocks noGrp="1"/>
          </p:cNvSpPr>
          <p:nvPr>
            <p:ph type="body"/>
          </p:nvPr>
        </p:nvSpPr>
        <p:spPr>
          <a:xfrm>
            <a:off x="1007640" y="5145480"/>
            <a:ext cx="8061840" cy="4208400"/>
          </a:xfrm>
          <a:prstGeom prst="rect">
            <a:avLst/>
          </a:prstGeom>
          <a:noFill/>
          <a:ln w="0">
            <a:noFill/>
          </a:ln>
        </p:spPr>
        <p:txBody>
          <a:bodyPr lIns="91440" tIns="45720" rIns="91440" bIns="45720" anchor="t">
            <a:noAutofit/>
          </a:bodyPr>
          <a:lstStyle/>
          <a:p>
            <a:pPr indent="0">
              <a:lnSpc>
                <a:spcPct val="100000"/>
              </a:lnSpc>
              <a:buNone/>
              <a:tabLst>
                <a:tab pos="0" algn="l"/>
              </a:tabLst>
            </a:pPr>
            <a:r>
              <a:rPr lang="pl-PL" sz="2000" b="0" u="none" strike="noStrike" dirty="0" err="1">
                <a:solidFill>
                  <a:srgbClr val="000000"/>
                </a:solidFill>
                <a:effectLst/>
                <a:uFillTx/>
                <a:latin typeface="Arial"/>
              </a:rPr>
              <a:t>Eye-tracking</a:t>
            </a:r>
            <a:r>
              <a:rPr lang="pl-PL" sz="2000" b="0" u="none" strike="noStrike" dirty="0">
                <a:solidFill>
                  <a:srgbClr val="000000"/>
                </a:solidFill>
                <a:effectLst/>
                <a:uFillTx/>
                <a:latin typeface="Arial"/>
              </a:rPr>
              <a:t> pozwala obiektywnie śledzić uwagę bez pytania uczestnika, gdzie patrzy. Fiksacja - zatrzymanie wzroku przez co najmniej 100–150 ms - jest </a:t>
            </a:r>
            <a:r>
              <a:rPr lang="pl-PL" sz="2000" b="0" u="none" strike="noStrike" dirty="0" err="1">
                <a:solidFill>
                  <a:srgbClr val="000000"/>
                </a:solidFill>
                <a:effectLst/>
                <a:uFillTx/>
                <a:latin typeface="Arial"/>
              </a:rPr>
              <a:t>wskaźniką</a:t>
            </a:r>
            <a:r>
              <a:rPr lang="pl-PL" sz="2000" b="0" u="none" strike="noStrike" dirty="0">
                <a:solidFill>
                  <a:srgbClr val="000000"/>
                </a:solidFill>
                <a:effectLst/>
                <a:uFillTx/>
                <a:latin typeface="Arial"/>
              </a:rPr>
              <a:t> aktywnego przetwarzania. AOI to regiony definiowane przez badacza na materiale bodźcowym, pozwalające porównywać czas spędzony w różnych obszarach. </a:t>
            </a:r>
            <a:r>
              <a:rPr lang="pl-PL" sz="2000" b="0" u="none" strike="noStrike" dirty="0" err="1">
                <a:solidFill>
                  <a:srgbClr val="000000"/>
                </a:solidFill>
                <a:effectLst/>
                <a:uFillTx/>
                <a:latin typeface="Arial"/>
              </a:rPr>
              <a:t>Pupilometria</a:t>
            </a:r>
            <a:r>
              <a:rPr lang="pl-PL" sz="2000" b="0" u="none" strike="noStrike" dirty="0">
                <a:solidFill>
                  <a:srgbClr val="000000"/>
                </a:solidFill>
                <a:effectLst/>
                <a:uFillTx/>
                <a:latin typeface="Arial"/>
              </a:rPr>
              <a:t> jest szczególnie interesującym </a:t>
            </a:r>
            <a:r>
              <a:rPr lang="pl-PL" sz="2000" b="0" u="none" strike="noStrike" dirty="0" err="1">
                <a:solidFill>
                  <a:srgbClr val="000000"/>
                </a:solidFill>
                <a:effectLst/>
                <a:uFillTx/>
                <a:latin typeface="Arial"/>
              </a:rPr>
              <a:t>wskaźniką</a:t>
            </a:r>
            <a:r>
              <a:rPr lang="pl-PL" sz="2000" b="0" u="none" strike="noStrike" dirty="0">
                <a:solidFill>
                  <a:srgbClr val="000000"/>
                </a:solidFill>
                <a:effectLst/>
                <a:uFillTx/>
                <a:latin typeface="Arial"/>
              </a:rPr>
              <a:t>: </a:t>
            </a:r>
            <a:r>
              <a:rPr lang="pl-PL" sz="2000" b="0" u="none" strike="noStrike" dirty="0" err="1">
                <a:solidFill>
                  <a:srgbClr val="000000"/>
                </a:solidFill>
                <a:effectLst/>
                <a:uFillTx/>
                <a:latin typeface="Arial"/>
              </a:rPr>
              <a:t>źródzrenica</a:t>
            </a:r>
            <a:r>
              <a:rPr lang="pl-PL" sz="2000" b="0" u="none" strike="noStrike" dirty="0">
                <a:solidFill>
                  <a:srgbClr val="000000"/>
                </a:solidFill>
                <a:effectLst/>
                <a:uFillTx/>
                <a:latin typeface="Arial"/>
              </a:rPr>
              <a:t> reaguje na obciążenie poznawcze niezależnie od kontroli wolicjonalnej. Interpretacja danych </a:t>
            </a:r>
            <a:r>
              <a:rPr lang="pl-PL" sz="2000" b="0" u="none" strike="noStrike" dirty="0" err="1">
                <a:solidFill>
                  <a:srgbClr val="000000"/>
                </a:solidFill>
                <a:effectLst/>
                <a:uFillTx/>
                <a:latin typeface="Arial"/>
              </a:rPr>
              <a:t>eye-trackingowych</a:t>
            </a:r>
            <a:r>
              <a:rPr lang="pl-PL" sz="2000" b="0" u="none" strike="noStrike" dirty="0">
                <a:solidFill>
                  <a:srgbClr val="000000"/>
                </a:solidFill>
                <a:effectLst/>
                <a:uFillTx/>
                <a:latin typeface="Arial"/>
              </a:rPr>
              <a:t> wymaga dobrze zaprojektowanego protokołu - kalibracja i jakość </a:t>
            </a:r>
            <a:r>
              <a:rPr lang="pl-PL" sz="2000" b="0" u="none" strike="noStrike" dirty="0" err="1">
                <a:solidFill>
                  <a:srgbClr val="000000"/>
                </a:solidFill>
                <a:effectLst/>
                <a:uFillTx/>
                <a:latin typeface="Arial"/>
              </a:rPr>
              <a:t>rekordingu</a:t>
            </a:r>
            <a:r>
              <a:rPr lang="pl-PL" sz="2000" b="0" u="none" strike="noStrike" dirty="0">
                <a:solidFill>
                  <a:srgbClr val="000000"/>
                </a:solidFill>
                <a:effectLst/>
                <a:uFillTx/>
                <a:latin typeface="Arial"/>
              </a:rPr>
              <a:t> mają bezpośredni wpływ na wyniki.</a:t>
            </a:r>
          </a:p>
        </p:txBody>
      </p:sp>
      <p:sp>
        <p:nvSpPr>
          <p:cNvPr id="1596" name="PlaceHolder 3"/>
          <p:cNvSpPr>
            <a:spLocks noGrp="1"/>
          </p:cNvSpPr>
          <p:nvPr>
            <p:ph type="sldNum" idx="39"/>
          </p:nvPr>
        </p:nvSpPr>
        <p:spPr>
          <a:xfrm>
            <a:off x="5709600" y="10155600"/>
            <a:ext cx="4366080" cy="5346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pl-PL" sz="1200" b="0" u="none" strike="noStrike">
                <a:solidFill>
                  <a:schemeClr val="dk1"/>
                </a:solidFill>
                <a:effectLst/>
                <a:uFillTx/>
                <a:latin typeface="+mn-lt"/>
                <a:ea typeface="+mn-ea"/>
              </a:defRPr>
            </a:lvl1pPr>
          </a:lstStyle>
          <a:p>
            <a:pPr indent="0" algn="r" defTabSz="914400">
              <a:lnSpc>
                <a:spcPct val="100000"/>
              </a:lnSpc>
              <a:buNone/>
              <a:tabLst>
                <a:tab pos="0" algn="l"/>
              </a:tabLst>
            </a:pPr>
            <a:fld id="{5B0F6FFC-2A7E-4087-9751-4CC567646310}" type="slidenum">
              <a:rPr lang="pl-PL" sz="1200" b="0" u="none" strike="noStrike">
                <a:solidFill>
                  <a:schemeClr val="dk1"/>
                </a:solidFill>
                <a:effectLst/>
                <a:uFillTx/>
                <a:latin typeface="+mn-lt"/>
                <a:ea typeface="+mn-ea"/>
              </a:rPr>
              <a:t>23</a:t>
            </a:fld>
            <a:endParaRPr lang="pl-PL" sz="1200" b="0" u="none" strike="noStrike">
              <a:solidFill>
                <a:srgbClr val="000000"/>
              </a:solidFill>
              <a:effectLst/>
              <a:uFillTx/>
              <a:latin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 name="PlaceHolder 1"/>
          <p:cNvSpPr>
            <a:spLocks noGrp="1" noRot="1" noChangeAspect="1"/>
          </p:cNvSpPr>
          <p:nvPr>
            <p:ph type="sldImg"/>
          </p:nvPr>
        </p:nvSpPr>
        <p:spPr>
          <a:xfrm>
            <a:off x="1833563" y="1336675"/>
            <a:ext cx="6410325" cy="3606800"/>
          </a:xfrm>
          <a:prstGeom prst="rect">
            <a:avLst/>
          </a:prstGeom>
          <a:ln w="0">
            <a:noFill/>
          </a:ln>
        </p:spPr>
      </p:sp>
      <p:sp>
        <p:nvSpPr>
          <p:cNvPr id="1598" name="PlaceHolder 2"/>
          <p:cNvSpPr>
            <a:spLocks noGrp="1"/>
          </p:cNvSpPr>
          <p:nvPr>
            <p:ph type="body"/>
          </p:nvPr>
        </p:nvSpPr>
        <p:spPr>
          <a:xfrm>
            <a:off x="1007640" y="5145480"/>
            <a:ext cx="8061840" cy="4208400"/>
          </a:xfrm>
          <a:prstGeom prst="rect">
            <a:avLst/>
          </a:prstGeom>
          <a:noFill/>
          <a:ln w="0">
            <a:noFill/>
          </a:ln>
        </p:spPr>
        <p:txBody>
          <a:bodyPr lIns="91440" tIns="45720" rIns="91440" bIns="45720" anchor="t">
            <a:noAutofit/>
          </a:bodyPr>
          <a:lstStyle/>
          <a:p>
            <a:pPr indent="0">
              <a:lnSpc>
                <a:spcPct val="100000"/>
              </a:lnSpc>
              <a:buNone/>
              <a:tabLst>
                <a:tab pos="0" algn="l"/>
              </a:tabLst>
            </a:pPr>
            <a:r>
              <a:rPr lang="pl-PL" sz="2000" b="0" u="none" strike="noStrike" dirty="0">
                <a:solidFill>
                  <a:srgbClr val="000000"/>
                </a:solidFill>
                <a:effectLst/>
                <a:uFillTx/>
                <a:latin typeface="Arial"/>
              </a:rPr>
              <a:t>FACS opisuje ruchy twarzy przez elementarne jednostki mięśniowe. Automatyczne systemy takie jak </a:t>
            </a:r>
            <a:r>
              <a:rPr lang="pl-PL" sz="2000" b="0" u="none" strike="noStrike" dirty="0" err="1">
                <a:solidFill>
                  <a:srgbClr val="000000"/>
                </a:solidFill>
                <a:effectLst/>
                <a:uFillTx/>
                <a:latin typeface="Arial"/>
              </a:rPr>
              <a:t>OpenFace</a:t>
            </a:r>
            <a:r>
              <a:rPr lang="pl-PL" sz="2000" b="0" u="none" strike="noStrike" dirty="0">
                <a:solidFill>
                  <a:srgbClr val="000000"/>
                </a:solidFill>
                <a:effectLst/>
                <a:uFillTx/>
                <a:latin typeface="Arial"/>
              </a:rPr>
              <a:t> czy </a:t>
            </a:r>
            <a:r>
              <a:rPr lang="pl-PL" sz="2000" b="0" u="none" strike="noStrike" dirty="0" err="1">
                <a:solidFill>
                  <a:srgbClr val="000000"/>
                </a:solidFill>
                <a:effectLst/>
                <a:uFillTx/>
                <a:latin typeface="Arial"/>
              </a:rPr>
              <a:t>Py-Feat</a:t>
            </a:r>
            <a:r>
              <a:rPr lang="pl-PL" sz="2000" b="0" u="none" strike="noStrike" dirty="0">
                <a:solidFill>
                  <a:srgbClr val="000000"/>
                </a:solidFill>
                <a:effectLst/>
                <a:uFillTx/>
                <a:latin typeface="Arial"/>
              </a:rPr>
              <a:t> wykrywają te jednostki na podstawie </a:t>
            </a:r>
            <a:r>
              <a:rPr lang="pl-PL" sz="2000" b="0" u="none" strike="noStrike" dirty="0" err="1">
                <a:solidFill>
                  <a:srgbClr val="000000"/>
                </a:solidFill>
                <a:effectLst/>
                <a:uFillTx/>
                <a:latin typeface="Arial"/>
              </a:rPr>
              <a:t>landmaków</a:t>
            </a:r>
            <a:r>
              <a:rPr lang="pl-PL" sz="2000" b="0" u="none" strike="noStrike" dirty="0">
                <a:solidFill>
                  <a:srgbClr val="000000"/>
                </a:solidFill>
                <a:effectLst/>
                <a:uFillTx/>
                <a:latin typeface="Arial"/>
              </a:rPr>
              <a:t> twarzy. Problemem jest fundamentalne ograniczenie interpretacyjne: twarz może wyrazić identyczny ruch mięśni w bardzo różnych kontekstach. Uśmiech pojawia się z radości, ze wstydu, z zakłopotania. Automatyczne klasyfikatory upraszczają tę złożoność, przypisując każdemu wzorcowi jedną z sześciu emocji podstawowych - podejście mające poważne ograniczenia kulturowe i sytuacyjne.</a:t>
            </a:r>
          </a:p>
        </p:txBody>
      </p:sp>
      <p:sp>
        <p:nvSpPr>
          <p:cNvPr id="1599" name="PlaceHolder 3"/>
          <p:cNvSpPr>
            <a:spLocks noGrp="1"/>
          </p:cNvSpPr>
          <p:nvPr>
            <p:ph type="sldNum" idx="40"/>
          </p:nvPr>
        </p:nvSpPr>
        <p:spPr>
          <a:xfrm>
            <a:off x="5709600" y="10155600"/>
            <a:ext cx="4366080" cy="5346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pl-PL" sz="1200" b="0" u="none" strike="noStrike">
                <a:solidFill>
                  <a:schemeClr val="dk1"/>
                </a:solidFill>
                <a:effectLst/>
                <a:uFillTx/>
                <a:latin typeface="+mn-lt"/>
                <a:ea typeface="+mn-ea"/>
              </a:defRPr>
            </a:lvl1pPr>
          </a:lstStyle>
          <a:p>
            <a:pPr indent="0" algn="r" defTabSz="914400">
              <a:lnSpc>
                <a:spcPct val="100000"/>
              </a:lnSpc>
              <a:buNone/>
              <a:tabLst>
                <a:tab pos="0" algn="l"/>
              </a:tabLst>
            </a:pPr>
            <a:fld id="{3EEC43D2-B489-4123-8938-D64C4D6E3205}" type="slidenum">
              <a:rPr lang="pl-PL" sz="1200" b="0" u="none" strike="noStrike">
                <a:solidFill>
                  <a:schemeClr val="dk1"/>
                </a:solidFill>
                <a:effectLst/>
                <a:uFillTx/>
                <a:latin typeface="+mn-lt"/>
                <a:ea typeface="+mn-ea"/>
              </a:rPr>
              <a:t>24</a:t>
            </a:fld>
            <a:endParaRPr lang="pl-PL" sz="1200" b="0" u="none" strike="noStrike">
              <a:solidFill>
                <a:srgbClr val="000000"/>
              </a:solidFill>
              <a:effectLst/>
              <a:uFillTx/>
              <a:latin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0" name="PlaceHolder 1"/>
          <p:cNvSpPr>
            <a:spLocks noGrp="1" noRot="1" noChangeAspect="1"/>
          </p:cNvSpPr>
          <p:nvPr>
            <p:ph type="sldImg"/>
          </p:nvPr>
        </p:nvSpPr>
        <p:spPr>
          <a:xfrm>
            <a:off x="1833563" y="1336675"/>
            <a:ext cx="6410325" cy="3606800"/>
          </a:xfrm>
          <a:prstGeom prst="rect">
            <a:avLst/>
          </a:prstGeom>
          <a:ln w="0">
            <a:noFill/>
          </a:ln>
        </p:spPr>
      </p:sp>
      <p:sp>
        <p:nvSpPr>
          <p:cNvPr id="1601" name="PlaceHolder 2"/>
          <p:cNvSpPr>
            <a:spLocks noGrp="1"/>
          </p:cNvSpPr>
          <p:nvPr>
            <p:ph type="body"/>
          </p:nvPr>
        </p:nvSpPr>
        <p:spPr>
          <a:xfrm>
            <a:off x="1007640" y="5145480"/>
            <a:ext cx="8061840" cy="4208400"/>
          </a:xfrm>
          <a:prstGeom prst="rect">
            <a:avLst/>
          </a:prstGeom>
          <a:noFill/>
          <a:ln w="0">
            <a:noFill/>
          </a:ln>
        </p:spPr>
        <p:txBody>
          <a:bodyPr lIns="91440" tIns="45720" rIns="91440" bIns="45720" anchor="t">
            <a:noAutofit/>
          </a:bodyPr>
          <a:lstStyle/>
          <a:p>
            <a:pPr indent="0">
              <a:lnSpc>
                <a:spcPct val="100000"/>
              </a:lnSpc>
              <a:buNone/>
              <a:tabLst>
                <a:tab pos="0" algn="l"/>
              </a:tabLst>
            </a:pPr>
            <a:r>
              <a:rPr lang="pl-PL" sz="2000" b="0" u="none" strike="noStrike" dirty="0">
                <a:solidFill>
                  <a:srgbClr val="000000"/>
                </a:solidFill>
                <a:effectLst/>
                <a:uFillTx/>
                <a:latin typeface="Arial"/>
              </a:rPr>
              <a:t>Głos jest bogatym źródłem danych psychologicznych. Ton podstawowy zmienia się systematycznie z emocją, stresem, dominacją. Tempo mowy i rozkład pauz są czułymi </a:t>
            </a:r>
            <a:r>
              <a:rPr lang="pl-PL" sz="2000" b="0" u="none" strike="noStrike" dirty="0" err="1">
                <a:solidFill>
                  <a:srgbClr val="000000"/>
                </a:solidFill>
                <a:effectLst/>
                <a:uFillTx/>
                <a:latin typeface="Arial"/>
              </a:rPr>
              <a:t>wskaźnikamu</a:t>
            </a:r>
            <a:r>
              <a:rPr lang="pl-PL" sz="2000" b="0" u="none" strike="noStrike" dirty="0">
                <a:solidFill>
                  <a:srgbClr val="000000"/>
                </a:solidFill>
                <a:effectLst/>
                <a:uFillTx/>
                <a:latin typeface="Arial"/>
              </a:rPr>
              <a:t> zaburzeń płynności mowy i obciążenia poznawczego. MFCC to standardowy zestaw cech spektralnych stosowany w rozpoznawaniu mowy do dziś. </a:t>
            </a:r>
            <a:r>
              <a:rPr lang="pl-PL" sz="2000" b="0" u="none" strike="noStrike" dirty="0" err="1">
                <a:solidFill>
                  <a:srgbClr val="000000"/>
                </a:solidFill>
                <a:effectLst/>
                <a:uFillTx/>
                <a:latin typeface="Arial"/>
              </a:rPr>
              <a:t>Whisper</a:t>
            </a:r>
            <a:r>
              <a:rPr lang="pl-PL" sz="2000" b="0" u="none" strike="noStrike" dirty="0">
                <a:solidFill>
                  <a:srgbClr val="000000"/>
                </a:solidFill>
                <a:effectLst/>
                <a:uFillTx/>
                <a:latin typeface="Arial"/>
              </a:rPr>
              <a:t> zmienił krajobraz transkrypcji automatycznej - działa wielojęzycznie, offline, z wysoką dokładnością. Przy interpretacji wyników pamiętajmy o wieloczynnikowej naturze głosu: płeć, wiek, akcent i zmęczenie </a:t>
            </a:r>
            <a:r>
              <a:rPr lang="pl-PL" sz="2000" b="0" u="none" strike="noStrike" dirty="0" err="1">
                <a:solidFill>
                  <a:srgbClr val="000000"/>
                </a:solidFill>
                <a:effectLst/>
                <a:uFillTx/>
                <a:latin typeface="Arial"/>
              </a:rPr>
              <a:t>gardla</a:t>
            </a:r>
            <a:r>
              <a:rPr lang="pl-PL" sz="2000" b="0" u="none" strike="noStrike" dirty="0">
                <a:solidFill>
                  <a:srgbClr val="000000"/>
                </a:solidFill>
                <a:effectLst/>
                <a:uFillTx/>
                <a:latin typeface="Arial"/>
              </a:rPr>
              <a:t> - wymagana normalizacja wewnątrzosobnicza.</a:t>
            </a:r>
          </a:p>
        </p:txBody>
      </p:sp>
      <p:sp>
        <p:nvSpPr>
          <p:cNvPr id="1602" name="PlaceHolder 3"/>
          <p:cNvSpPr>
            <a:spLocks noGrp="1"/>
          </p:cNvSpPr>
          <p:nvPr>
            <p:ph type="sldNum" idx="41"/>
          </p:nvPr>
        </p:nvSpPr>
        <p:spPr>
          <a:xfrm>
            <a:off x="5709600" y="10155600"/>
            <a:ext cx="4366080" cy="5346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pl-PL" sz="1200" b="0" u="none" strike="noStrike">
                <a:solidFill>
                  <a:schemeClr val="dk1"/>
                </a:solidFill>
                <a:effectLst/>
                <a:uFillTx/>
                <a:latin typeface="+mn-lt"/>
                <a:ea typeface="+mn-ea"/>
              </a:defRPr>
            </a:lvl1pPr>
          </a:lstStyle>
          <a:p>
            <a:pPr indent="0" algn="r" defTabSz="914400">
              <a:lnSpc>
                <a:spcPct val="100000"/>
              </a:lnSpc>
              <a:buNone/>
              <a:tabLst>
                <a:tab pos="0" algn="l"/>
              </a:tabLst>
            </a:pPr>
            <a:fld id="{88D0D5D9-0517-440D-9029-73BF09765A73}" type="slidenum">
              <a:rPr lang="pl-PL" sz="1200" b="0" u="none" strike="noStrike">
                <a:solidFill>
                  <a:schemeClr val="dk1"/>
                </a:solidFill>
                <a:effectLst/>
                <a:uFillTx/>
                <a:latin typeface="+mn-lt"/>
                <a:ea typeface="+mn-ea"/>
              </a:rPr>
              <a:t>25</a:t>
            </a:fld>
            <a:endParaRPr lang="pl-PL" sz="1200" b="0" u="none" strike="noStrike">
              <a:solidFill>
                <a:srgbClr val="000000"/>
              </a:solidFill>
              <a:effectLst/>
              <a:uFillTx/>
              <a:latin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3" name="PlaceHolder 1"/>
          <p:cNvSpPr>
            <a:spLocks noGrp="1" noRot="1" noChangeAspect="1"/>
          </p:cNvSpPr>
          <p:nvPr>
            <p:ph type="sldImg"/>
          </p:nvPr>
        </p:nvSpPr>
        <p:spPr>
          <a:xfrm>
            <a:off x="0" y="0"/>
            <a:ext cx="0" cy="0"/>
          </a:xfrm>
          <a:prstGeom prst="rect">
            <a:avLst/>
          </a:prstGeom>
          <a:ln w="0">
            <a:noFill/>
          </a:ln>
        </p:spPr>
      </p:sp>
      <p:sp>
        <p:nvSpPr>
          <p:cNvPr id="1604" name="PlaceHolder 2"/>
          <p:cNvSpPr>
            <a:spLocks noGrp="1"/>
          </p:cNvSpPr>
          <p:nvPr>
            <p:ph type="body"/>
          </p:nvPr>
        </p:nvSpPr>
        <p:spPr>
          <a:xfrm>
            <a:off x="0" y="0"/>
            <a:ext cx="248544720" cy="360"/>
          </a:xfrm>
          <a:prstGeom prst="rect">
            <a:avLst/>
          </a:prstGeom>
          <a:noFill/>
          <a:ln w="0">
            <a:noFill/>
          </a:ln>
        </p:spPr>
        <p:txBody>
          <a:bodyPr lIns="90000" tIns="-44640" rIns="90000" bIns="-44640" anchor="t">
            <a:noAutofit/>
          </a:bodyPr>
          <a:lstStyle/>
          <a:p>
            <a:pPr indent="0">
              <a:lnSpc>
                <a:spcPct val="100000"/>
              </a:lnSpc>
              <a:buNone/>
              <a:tabLst>
                <a:tab pos="0" algn="l"/>
              </a:tabLst>
            </a:pPr>
            <a:r>
              <a:rPr lang="pl-PL" sz="2000" b="0" u="none" strike="noStrike" dirty="0">
                <a:solidFill>
                  <a:srgbClr val="000000"/>
                </a:solidFill>
                <a:effectLst/>
                <a:uFillTx/>
                <a:latin typeface="Arial"/>
              </a:rPr>
              <a:t>EEG rejestruje aktywność elektryczną mózgu z milisekundową rozdzielczością czasową. Dla psychologa najbardziej użyteczne są techniki ERP: uśredniamy setki epok bodźcowych i uzyskujemy charakterystyczne komponenty odpowiedzi mózgu. P300 jest wskaźnikiem aktualizacji kontekstu, N170 reaguje na twarze, N400 na niespójność semantyczną. Pasma częstotliwości dają inny rodzaj informacji: </a:t>
            </a:r>
            <a:r>
              <a:rPr lang="pl-PL" sz="2000" b="0" u="none" strike="noStrike" dirty="0" err="1">
                <a:solidFill>
                  <a:srgbClr val="000000"/>
                </a:solidFill>
                <a:effectLst/>
                <a:uFillTx/>
                <a:latin typeface="Arial"/>
              </a:rPr>
              <a:t>theta</a:t>
            </a:r>
            <a:r>
              <a:rPr lang="pl-PL" sz="2000" b="0" u="none" strike="noStrike" dirty="0">
                <a:solidFill>
                  <a:srgbClr val="000000"/>
                </a:solidFill>
                <a:effectLst/>
                <a:uFillTx/>
                <a:latin typeface="Arial"/>
              </a:rPr>
              <a:t> wiąże się z pamięcią, </a:t>
            </a:r>
            <a:r>
              <a:rPr lang="pl-PL" sz="2000" b="0" u="none" strike="noStrike" dirty="0" err="1">
                <a:solidFill>
                  <a:srgbClr val="000000"/>
                </a:solidFill>
                <a:effectLst/>
                <a:uFillTx/>
                <a:latin typeface="Arial"/>
              </a:rPr>
              <a:t>alpha</a:t>
            </a:r>
            <a:r>
              <a:rPr lang="pl-PL" sz="2000" b="0" u="none" strike="noStrike" dirty="0">
                <a:solidFill>
                  <a:srgbClr val="000000"/>
                </a:solidFill>
                <a:effectLst/>
                <a:uFillTx/>
                <a:latin typeface="Arial"/>
              </a:rPr>
              <a:t> z hamowaniem przetwarzania, gamma z integracją informacji. </a:t>
            </a:r>
            <a:r>
              <a:rPr lang="pl-PL" sz="2000" b="0" u="none" strike="noStrike" dirty="0" err="1">
                <a:solidFill>
                  <a:srgbClr val="000000"/>
                </a:solidFill>
                <a:effectLst/>
                <a:uFillTx/>
                <a:latin typeface="Arial"/>
              </a:rPr>
              <a:t>Preprocessing</a:t>
            </a:r>
            <a:r>
              <a:rPr lang="pl-PL" sz="2000" b="0" u="none" strike="noStrike" dirty="0">
                <a:solidFill>
                  <a:srgbClr val="000000"/>
                </a:solidFill>
                <a:effectLst/>
                <a:uFillTx/>
                <a:latin typeface="Arial"/>
              </a:rPr>
              <a:t> pochłania najwięcej pracy i </a:t>
            </a:r>
            <a:r>
              <a:rPr lang="pl-PL" sz="2000" b="0" u="none" strike="noStrike" dirty="0" err="1">
                <a:solidFill>
                  <a:srgbClr val="000000"/>
                </a:solidFill>
                <a:effectLst/>
                <a:uFillTx/>
                <a:latin typeface="Arial"/>
              </a:rPr>
              <a:t>najlatwiej</a:t>
            </a:r>
            <a:r>
              <a:rPr lang="pl-PL" sz="2000" b="0" u="none" strike="noStrike" dirty="0">
                <a:solidFill>
                  <a:srgbClr val="000000"/>
                </a:solidFill>
                <a:effectLst/>
                <a:uFillTx/>
                <a:latin typeface="Arial"/>
              </a:rPr>
              <a:t> wykonać go źle. MNE-</a:t>
            </a:r>
            <a:r>
              <a:rPr lang="pl-PL" sz="2000" b="0" u="none" strike="noStrike" dirty="0" err="1">
                <a:solidFill>
                  <a:srgbClr val="000000"/>
                </a:solidFill>
                <a:effectLst/>
                <a:uFillTx/>
                <a:latin typeface="Arial"/>
              </a:rPr>
              <a:t>Python</a:t>
            </a:r>
            <a:r>
              <a:rPr lang="pl-PL" sz="2000" b="0" u="none" strike="noStrike" dirty="0">
                <a:solidFill>
                  <a:srgbClr val="000000"/>
                </a:solidFill>
                <a:effectLst/>
                <a:uFillTx/>
                <a:latin typeface="Arial"/>
              </a:rPr>
              <a:t> jest dziś standardem open-</a:t>
            </a:r>
            <a:r>
              <a:rPr lang="pl-PL" sz="2000" b="0" u="none" strike="noStrike" dirty="0" err="1">
                <a:solidFill>
                  <a:srgbClr val="000000"/>
                </a:solidFill>
                <a:effectLst/>
                <a:uFillTx/>
                <a:latin typeface="Arial"/>
              </a:rPr>
              <a:t>source</a:t>
            </a:r>
            <a:r>
              <a:rPr lang="pl-PL" sz="2000" b="0" u="none" strike="noStrike" dirty="0">
                <a:solidFill>
                  <a:srgbClr val="000000"/>
                </a:solidFill>
                <a:effectLst/>
                <a:uFillTx/>
                <a:latin typeface="Arial"/>
              </a:rPr>
              <a:t>.</a:t>
            </a:r>
          </a:p>
        </p:txBody>
      </p:sp>
      <p:sp>
        <p:nvSpPr>
          <p:cNvPr id="1605" name="PlaceHolder 3"/>
          <p:cNvSpPr>
            <a:spLocks noGrp="1"/>
          </p:cNvSpPr>
          <p:nvPr>
            <p:ph type="sldNum" idx="42"/>
          </p:nvPr>
        </p:nvSpPr>
        <p:spPr>
          <a:xfrm>
            <a:off x="360" y="0"/>
            <a:ext cx="248551560" cy="360"/>
          </a:xfrm>
          <a:prstGeom prst="rect">
            <a:avLst/>
          </a:prstGeom>
          <a:noFill/>
          <a:ln w="0">
            <a:noFill/>
          </a:ln>
        </p:spPr>
        <p:txBody>
          <a:bodyPr lIns="90000" tIns="-44640" rIns="90000" bIns="-44640" anchor="t">
            <a:noAutofit/>
          </a:bodyPr>
          <a:lstStyle>
            <a:lvl1pPr indent="0" algn="r" defTabSz="914400">
              <a:lnSpc>
                <a:spcPct val="100000"/>
              </a:lnSpc>
              <a:buNone/>
              <a:tabLst>
                <a:tab pos="0" algn="l"/>
              </a:tabLst>
              <a:defRPr lang="pl-PL" sz="1800" b="0" u="none" strike="noStrike">
                <a:solidFill>
                  <a:schemeClr val="dk1"/>
                </a:solidFill>
                <a:effectLst/>
                <a:uFillTx/>
                <a:latin typeface="+mn-lt"/>
                <a:ea typeface="+mn-ea"/>
              </a:defRPr>
            </a:lvl1pPr>
          </a:lstStyle>
          <a:p>
            <a:pPr indent="0" algn="r" defTabSz="914400">
              <a:lnSpc>
                <a:spcPct val="100000"/>
              </a:lnSpc>
              <a:buNone/>
              <a:tabLst>
                <a:tab pos="0" algn="l"/>
              </a:tabLst>
            </a:pPr>
            <a:fld id="{27810A49-085F-440B-895D-2591D404E975}" type="slidenum">
              <a:rPr lang="pl-PL" sz="1800" b="0" u="none" strike="noStrike">
                <a:solidFill>
                  <a:schemeClr val="dk1"/>
                </a:solidFill>
                <a:effectLst/>
                <a:uFillTx/>
                <a:latin typeface="+mn-lt"/>
                <a:ea typeface="+mn-ea"/>
              </a:rPr>
              <a:t>26</a:t>
            </a:fld>
            <a:endParaRPr lang="pl-PL" sz="1800" b="0" u="none" strike="noStrike">
              <a:solidFill>
                <a:srgbClr val="000000"/>
              </a:solidFill>
              <a:effectLst/>
              <a:uFillTx/>
              <a:latin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6" name="PlaceHolder 1"/>
          <p:cNvSpPr>
            <a:spLocks noGrp="1" noRot="1" noChangeAspect="1"/>
          </p:cNvSpPr>
          <p:nvPr>
            <p:ph type="sldImg"/>
          </p:nvPr>
        </p:nvSpPr>
        <p:spPr>
          <a:xfrm>
            <a:off x="0" y="0"/>
            <a:ext cx="0" cy="0"/>
          </a:xfrm>
          <a:prstGeom prst="rect">
            <a:avLst/>
          </a:prstGeom>
          <a:ln w="0">
            <a:noFill/>
          </a:ln>
        </p:spPr>
      </p:sp>
      <p:sp>
        <p:nvSpPr>
          <p:cNvPr id="1607" name="PlaceHolder 2"/>
          <p:cNvSpPr>
            <a:spLocks noGrp="1"/>
          </p:cNvSpPr>
          <p:nvPr>
            <p:ph type="body"/>
          </p:nvPr>
        </p:nvSpPr>
        <p:spPr>
          <a:xfrm>
            <a:off x="0" y="0"/>
            <a:ext cx="248559120" cy="360"/>
          </a:xfrm>
          <a:prstGeom prst="rect">
            <a:avLst/>
          </a:prstGeom>
          <a:noFill/>
          <a:ln w="0">
            <a:noFill/>
          </a:ln>
        </p:spPr>
        <p:txBody>
          <a:bodyPr lIns="90000" tIns="-44640" rIns="90000" bIns="-44640" anchor="t">
            <a:noAutofit/>
          </a:bodyPr>
          <a:lstStyle/>
          <a:p>
            <a:pPr indent="0">
              <a:lnSpc>
                <a:spcPct val="100000"/>
              </a:lnSpc>
              <a:buNone/>
              <a:tabLst>
                <a:tab pos="0" algn="l"/>
              </a:tabLst>
            </a:pPr>
            <a:r>
              <a:rPr lang="pl-PL" sz="2000" b="0" u="none" strike="noStrike" dirty="0">
                <a:solidFill>
                  <a:srgbClr val="000000"/>
                </a:solidFill>
                <a:effectLst/>
                <a:uFillTx/>
                <a:latin typeface="Arial"/>
              </a:rPr>
              <a:t>Wirtualna rzeczywistość rozwiązuje dylemat psychologii eksperymentalnej: jak </a:t>
            </a:r>
            <a:r>
              <a:rPr lang="pl-PL" sz="2000" b="0" u="none" strike="noStrike" dirty="0" err="1">
                <a:solidFill>
                  <a:srgbClr val="000000"/>
                </a:solidFill>
                <a:effectLst/>
                <a:uFillTx/>
                <a:latin typeface="Arial"/>
              </a:rPr>
              <a:t>badac</a:t>
            </a:r>
            <a:r>
              <a:rPr lang="pl-PL" sz="2000" b="0" u="none" strike="noStrike" dirty="0">
                <a:solidFill>
                  <a:srgbClr val="000000"/>
                </a:solidFill>
                <a:effectLst/>
                <a:uFillTx/>
                <a:latin typeface="Arial"/>
              </a:rPr>
              <a:t> zachowanie w sytuacjach złożonych i ekologicznie trafnych, zachowując kontrolę eksperymentalną. W VR możemy wywołać realne pobudzenie przy pełnej kontroli bodźcowej. Kluczowym pojęciem jest </a:t>
            </a:r>
            <a:r>
              <a:rPr lang="pl-PL" sz="2000" b="0" u="none" strike="noStrike" dirty="0" err="1">
                <a:solidFill>
                  <a:srgbClr val="000000"/>
                </a:solidFill>
                <a:effectLst/>
                <a:uFillTx/>
                <a:latin typeface="Arial"/>
              </a:rPr>
              <a:t>presence</a:t>
            </a:r>
            <a:r>
              <a:rPr lang="pl-PL" sz="2000" b="0" u="none" strike="noStrike" dirty="0">
                <a:solidFill>
                  <a:srgbClr val="000000"/>
                </a:solidFill>
                <a:effectLst/>
                <a:uFillTx/>
                <a:latin typeface="Arial"/>
              </a:rPr>
              <a:t> - poczucie bycia w środowisku wirtualnym - które moduluje siłę efektów. VR nie jest panaceum: </a:t>
            </a:r>
            <a:r>
              <a:rPr lang="pl-PL" sz="2000" b="0" u="none" strike="noStrike" dirty="0" err="1">
                <a:solidFill>
                  <a:srgbClr val="000000"/>
                </a:solidFill>
                <a:effectLst/>
                <a:uFillTx/>
                <a:latin typeface="Arial"/>
              </a:rPr>
              <a:t>motion</a:t>
            </a:r>
            <a:r>
              <a:rPr lang="pl-PL" sz="2000" b="0" u="none" strike="noStrike" dirty="0">
                <a:solidFill>
                  <a:srgbClr val="000000"/>
                </a:solidFill>
                <a:effectLst/>
                <a:uFillTx/>
                <a:latin typeface="Arial"/>
              </a:rPr>
              <a:t> </a:t>
            </a:r>
            <a:r>
              <a:rPr lang="pl-PL" sz="2000" b="0" u="none" strike="noStrike" dirty="0" err="1">
                <a:solidFill>
                  <a:srgbClr val="000000"/>
                </a:solidFill>
                <a:effectLst/>
                <a:uFillTx/>
                <a:latin typeface="Arial"/>
              </a:rPr>
              <a:t>sickness</a:t>
            </a:r>
            <a:r>
              <a:rPr lang="pl-PL" sz="2000" b="0" u="none" strike="noStrike" dirty="0">
                <a:solidFill>
                  <a:srgbClr val="000000"/>
                </a:solidFill>
                <a:effectLst/>
                <a:uFillTx/>
                <a:latin typeface="Arial"/>
              </a:rPr>
              <a:t> eliminuje część uczestników, a synchronizacja z EEG czy </a:t>
            </a:r>
            <a:r>
              <a:rPr lang="pl-PL" sz="2000" b="0" u="none" strike="noStrike" dirty="0" err="1">
                <a:solidFill>
                  <a:srgbClr val="000000"/>
                </a:solidFill>
                <a:effectLst/>
                <a:uFillTx/>
                <a:latin typeface="Arial"/>
              </a:rPr>
              <a:t>eye-trackerem</a:t>
            </a:r>
            <a:r>
              <a:rPr lang="pl-PL" sz="2000" b="0" u="none" strike="noStrike" dirty="0">
                <a:solidFill>
                  <a:srgbClr val="000000"/>
                </a:solidFill>
                <a:effectLst/>
                <a:uFillTx/>
                <a:latin typeface="Arial"/>
              </a:rPr>
              <a:t> jest technicznie wymagająca.</a:t>
            </a:r>
          </a:p>
        </p:txBody>
      </p:sp>
      <p:sp>
        <p:nvSpPr>
          <p:cNvPr id="1608" name="PlaceHolder 3"/>
          <p:cNvSpPr>
            <a:spLocks noGrp="1"/>
          </p:cNvSpPr>
          <p:nvPr>
            <p:ph type="sldNum" idx="43"/>
          </p:nvPr>
        </p:nvSpPr>
        <p:spPr>
          <a:xfrm>
            <a:off x="360" y="0"/>
            <a:ext cx="248551560" cy="360"/>
          </a:xfrm>
          <a:prstGeom prst="rect">
            <a:avLst/>
          </a:prstGeom>
          <a:noFill/>
          <a:ln w="0">
            <a:noFill/>
          </a:ln>
        </p:spPr>
        <p:txBody>
          <a:bodyPr lIns="90000" tIns="-44640" rIns="90000" bIns="-44640" anchor="t">
            <a:noAutofit/>
          </a:bodyPr>
          <a:lstStyle>
            <a:lvl1pPr indent="0" algn="r" defTabSz="914400">
              <a:lnSpc>
                <a:spcPct val="100000"/>
              </a:lnSpc>
              <a:buNone/>
              <a:tabLst>
                <a:tab pos="0" algn="l"/>
              </a:tabLst>
              <a:defRPr lang="pl-PL" sz="1800" b="0" u="none" strike="noStrike">
                <a:solidFill>
                  <a:schemeClr val="dk1"/>
                </a:solidFill>
                <a:effectLst/>
                <a:uFillTx/>
                <a:latin typeface="+mn-lt"/>
                <a:ea typeface="+mn-ea"/>
              </a:defRPr>
            </a:lvl1pPr>
          </a:lstStyle>
          <a:p>
            <a:pPr indent="0" algn="r" defTabSz="914400">
              <a:lnSpc>
                <a:spcPct val="100000"/>
              </a:lnSpc>
              <a:buNone/>
              <a:tabLst>
                <a:tab pos="0" algn="l"/>
              </a:tabLst>
            </a:pPr>
            <a:fld id="{19FFDE21-FD54-403B-AA3A-A25FFFF7A605}" type="slidenum">
              <a:rPr lang="pl-PL" sz="1800" b="0" u="none" strike="noStrike">
                <a:solidFill>
                  <a:schemeClr val="dk1"/>
                </a:solidFill>
                <a:effectLst/>
                <a:uFillTx/>
                <a:latin typeface="+mn-lt"/>
                <a:ea typeface="+mn-ea"/>
              </a:rPr>
              <a:t>27</a:t>
            </a:fld>
            <a:endParaRPr lang="pl-PL" sz="1800" b="0" u="none" strike="noStrike">
              <a:solidFill>
                <a:srgbClr val="000000"/>
              </a:solidFill>
              <a:effectLst/>
              <a:uFillTx/>
              <a:latin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9" name="PlaceHolder 1"/>
          <p:cNvSpPr>
            <a:spLocks noGrp="1" noRot="1" noChangeAspect="1"/>
          </p:cNvSpPr>
          <p:nvPr>
            <p:ph type="sldImg"/>
          </p:nvPr>
        </p:nvSpPr>
        <p:spPr>
          <a:xfrm>
            <a:off x="0" y="0"/>
            <a:ext cx="0" cy="0"/>
          </a:xfrm>
          <a:prstGeom prst="rect">
            <a:avLst/>
          </a:prstGeom>
          <a:ln w="0">
            <a:noFill/>
          </a:ln>
        </p:spPr>
      </p:sp>
      <p:sp>
        <p:nvSpPr>
          <p:cNvPr id="1610" name="PlaceHolder 2"/>
          <p:cNvSpPr>
            <a:spLocks noGrp="1"/>
          </p:cNvSpPr>
          <p:nvPr>
            <p:ph type="body"/>
          </p:nvPr>
        </p:nvSpPr>
        <p:spPr>
          <a:xfrm>
            <a:off x="0" y="0"/>
            <a:ext cx="248544720" cy="360"/>
          </a:xfrm>
          <a:prstGeom prst="rect">
            <a:avLst/>
          </a:prstGeom>
          <a:noFill/>
          <a:ln w="0">
            <a:noFill/>
          </a:ln>
        </p:spPr>
        <p:txBody>
          <a:bodyPr lIns="90000" tIns="-44640" rIns="90000" bIns="-44640" anchor="t">
            <a:noAutofit/>
          </a:bodyPr>
          <a:lstStyle/>
          <a:p>
            <a:pPr indent="0">
              <a:lnSpc>
                <a:spcPct val="100000"/>
              </a:lnSpc>
              <a:buNone/>
              <a:tabLst>
                <a:tab pos="0" algn="l"/>
              </a:tabLst>
            </a:pPr>
            <a:r>
              <a:rPr lang="pl-PL" sz="2000" b="0" u="none" strike="noStrike" dirty="0">
                <a:solidFill>
                  <a:srgbClr val="000000"/>
                </a:solidFill>
                <a:effectLst/>
                <a:uFillTx/>
                <a:latin typeface="Arial"/>
              </a:rPr>
              <a:t>Robot społeczny jest bodźcem eksperymentalnym o właściwościach, których nie ma żadne inne medium: jest fizycznie obecny i może wchodzić w interakcję w czasie rzeczywistym, a jego zachowanie można precyzyjnie kontrolować. Efekt niesamowitej doliny - wzrost dyskomfortu przy zbliżaniu się wyglądu robota do ludzkiego - jest klasycznym przykładem pytania badanego tylko z użyciem zróżnicowanych platform robotycznych. Wyzwanie: programowanie precyzyjnych zachowań wymaga kompetencji technicznych - znajomości ROS2, SDK lub systemów dialogowych.</a:t>
            </a:r>
          </a:p>
        </p:txBody>
      </p:sp>
      <p:sp>
        <p:nvSpPr>
          <p:cNvPr id="1611" name="PlaceHolder 3"/>
          <p:cNvSpPr>
            <a:spLocks noGrp="1"/>
          </p:cNvSpPr>
          <p:nvPr>
            <p:ph type="sldNum" idx="44"/>
          </p:nvPr>
        </p:nvSpPr>
        <p:spPr>
          <a:xfrm>
            <a:off x="360" y="0"/>
            <a:ext cx="248551560" cy="360"/>
          </a:xfrm>
          <a:prstGeom prst="rect">
            <a:avLst/>
          </a:prstGeom>
          <a:noFill/>
          <a:ln w="0">
            <a:noFill/>
          </a:ln>
        </p:spPr>
        <p:txBody>
          <a:bodyPr lIns="90000" tIns="-44640" rIns="90000" bIns="-44640" anchor="t">
            <a:noAutofit/>
          </a:bodyPr>
          <a:lstStyle>
            <a:lvl1pPr indent="0" algn="r" defTabSz="914400">
              <a:lnSpc>
                <a:spcPct val="100000"/>
              </a:lnSpc>
              <a:buNone/>
              <a:tabLst>
                <a:tab pos="0" algn="l"/>
              </a:tabLst>
              <a:defRPr lang="pl-PL" sz="1800" b="0" u="none" strike="noStrike">
                <a:solidFill>
                  <a:schemeClr val="dk1"/>
                </a:solidFill>
                <a:effectLst/>
                <a:uFillTx/>
                <a:latin typeface="+mn-lt"/>
                <a:ea typeface="+mn-ea"/>
              </a:defRPr>
            </a:lvl1pPr>
          </a:lstStyle>
          <a:p>
            <a:pPr indent="0" algn="r" defTabSz="914400">
              <a:lnSpc>
                <a:spcPct val="100000"/>
              </a:lnSpc>
              <a:buNone/>
              <a:tabLst>
                <a:tab pos="0" algn="l"/>
              </a:tabLst>
            </a:pPr>
            <a:fld id="{C91C9BDA-8FCF-44A9-B982-2A45E46E3603}" type="slidenum">
              <a:rPr lang="pl-PL" sz="1800" b="0" u="none" strike="noStrike">
                <a:solidFill>
                  <a:schemeClr val="dk1"/>
                </a:solidFill>
                <a:effectLst/>
                <a:uFillTx/>
                <a:latin typeface="+mn-lt"/>
                <a:ea typeface="+mn-ea"/>
              </a:rPr>
              <a:t>28</a:t>
            </a:fld>
            <a:endParaRPr lang="pl-PL" sz="1800" b="0" u="none" strike="noStrike">
              <a:solidFill>
                <a:srgbClr val="000000"/>
              </a:solidFill>
              <a:effectLst/>
              <a:uFillTx/>
              <a:latin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2" name="PlaceHolder 1"/>
          <p:cNvSpPr>
            <a:spLocks noGrp="1" noRot="1" noChangeAspect="1"/>
          </p:cNvSpPr>
          <p:nvPr>
            <p:ph type="sldImg"/>
          </p:nvPr>
        </p:nvSpPr>
        <p:spPr>
          <a:xfrm>
            <a:off x="0" y="0"/>
            <a:ext cx="0" cy="0"/>
          </a:xfrm>
          <a:prstGeom prst="rect">
            <a:avLst/>
          </a:prstGeom>
          <a:ln w="0">
            <a:noFill/>
          </a:ln>
        </p:spPr>
      </p:sp>
      <p:sp>
        <p:nvSpPr>
          <p:cNvPr id="1613" name="PlaceHolder 2"/>
          <p:cNvSpPr>
            <a:spLocks noGrp="1"/>
          </p:cNvSpPr>
          <p:nvPr>
            <p:ph type="body"/>
          </p:nvPr>
        </p:nvSpPr>
        <p:spPr>
          <a:xfrm>
            <a:off x="0" y="0"/>
            <a:ext cx="248559120" cy="360"/>
          </a:xfrm>
          <a:prstGeom prst="rect">
            <a:avLst/>
          </a:prstGeom>
          <a:noFill/>
          <a:ln w="0">
            <a:noFill/>
          </a:ln>
        </p:spPr>
        <p:txBody>
          <a:bodyPr lIns="90000" tIns="-44640" rIns="90000" bIns="-44640" anchor="t">
            <a:noAutofit/>
          </a:bodyPr>
          <a:lstStyle/>
          <a:p>
            <a:pPr indent="0">
              <a:lnSpc>
                <a:spcPct val="100000"/>
              </a:lnSpc>
              <a:buNone/>
              <a:tabLst>
                <a:tab pos="0" algn="l"/>
              </a:tabLst>
            </a:pPr>
            <a:r>
              <a:rPr lang="pl-PL" sz="2000" b="0" u="none" strike="noStrike" dirty="0">
                <a:solidFill>
                  <a:srgbClr val="000000"/>
                </a:solidFill>
                <a:effectLst/>
                <a:uFillTx/>
                <a:latin typeface="Arial"/>
              </a:rPr>
              <a:t>Badania multimodalne odpowiadają na to, czym rzeczywiście jest doświadczenie psychologiczne - zjawiskiem wielowymiarowym. Problem pojawia się technicznie: </a:t>
            </a:r>
            <a:r>
              <a:rPr lang="pl-PL" sz="2000" b="0" u="none" strike="noStrike" dirty="0" err="1">
                <a:solidFill>
                  <a:srgbClr val="000000"/>
                </a:solidFill>
                <a:effectLst/>
                <a:uFillTx/>
                <a:latin typeface="Arial"/>
              </a:rPr>
              <a:t>eye-tracker</a:t>
            </a:r>
            <a:r>
              <a:rPr lang="pl-PL" sz="2000" b="0" u="none" strike="noStrike" dirty="0">
                <a:solidFill>
                  <a:srgbClr val="000000"/>
                </a:solidFill>
                <a:effectLst/>
                <a:uFillTx/>
                <a:latin typeface="Arial"/>
              </a:rPr>
              <a:t> próbkuje z 120 </a:t>
            </a:r>
            <a:r>
              <a:rPr lang="pl-PL" sz="2000" b="0" u="none" strike="noStrike" dirty="0" err="1">
                <a:solidFill>
                  <a:srgbClr val="000000"/>
                </a:solidFill>
                <a:effectLst/>
                <a:uFillTx/>
                <a:latin typeface="Arial"/>
              </a:rPr>
              <a:t>Hz</a:t>
            </a:r>
            <a:r>
              <a:rPr lang="pl-PL" sz="2000" b="0" u="none" strike="noStrike" dirty="0">
                <a:solidFill>
                  <a:srgbClr val="000000"/>
                </a:solidFill>
                <a:effectLst/>
                <a:uFillTx/>
                <a:latin typeface="Arial"/>
              </a:rPr>
              <a:t>, EEG z 512 </a:t>
            </a:r>
            <a:r>
              <a:rPr lang="pl-PL" sz="2000" b="0" u="none" strike="noStrike" dirty="0" err="1">
                <a:solidFill>
                  <a:srgbClr val="000000"/>
                </a:solidFill>
                <a:effectLst/>
                <a:uFillTx/>
                <a:latin typeface="Arial"/>
              </a:rPr>
              <a:t>Hz</a:t>
            </a:r>
            <a:r>
              <a:rPr lang="pl-PL" sz="2000" b="0" u="none" strike="noStrike" dirty="0">
                <a:solidFill>
                  <a:srgbClr val="000000"/>
                </a:solidFill>
                <a:effectLst/>
                <a:uFillTx/>
                <a:latin typeface="Arial"/>
              </a:rPr>
              <a:t>, kamera z 30 klatkami, mikrofon z 44100 </a:t>
            </a:r>
            <a:r>
              <a:rPr lang="pl-PL" sz="2000" b="0" u="none" strike="noStrike" dirty="0" err="1">
                <a:solidFill>
                  <a:srgbClr val="000000"/>
                </a:solidFill>
                <a:effectLst/>
                <a:uFillTx/>
                <a:latin typeface="Arial"/>
              </a:rPr>
              <a:t>Hz</a:t>
            </a:r>
            <a:r>
              <a:rPr lang="pl-PL" sz="2000" b="0" u="none" strike="noStrike" dirty="0">
                <a:solidFill>
                  <a:srgbClr val="000000"/>
                </a:solidFill>
                <a:effectLst/>
                <a:uFillTx/>
                <a:latin typeface="Arial"/>
              </a:rPr>
              <a:t>, a każde urządzenie ma własny zegar. </a:t>
            </a:r>
            <a:r>
              <a:rPr lang="pl-PL" sz="2000" b="0" u="none" strike="noStrike" dirty="0" err="1">
                <a:solidFill>
                  <a:srgbClr val="000000"/>
                </a:solidFill>
                <a:effectLst/>
                <a:uFillTx/>
                <a:latin typeface="Arial"/>
              </a:rPr>
              <a:t>LabStreamingLayer</a:t>
            </a:r>
            <a:r>
              <a:rPr lang="pl-PL" sz="2000" b="0" u="none" strike="noStrike" dirty="0">
                <a:solidFill>
                  <a:srgbClr val="000000"/>
                </a:solidFill>
                <a:effectLst/>
                <a:uFillTx/>
                <a:latin typeface="Arial"/>
              </a:rPr>
              <a:t> pozwala synchronizować strumienie z dokładnością do milisekund przez wspólny znacznik czasu. Zanim zdecydujemy się na badanie multimodalne, powinniśmy zapytać: czy mamy zasoby do przetworzenia tych danych?</a:t>
            </a:r>
          </a:p>
        </p:txBody>
      </p:sp>
      <p:sp>
        <p:nvSpPr>
          <p:cNvPr id="1614" name="PlaceHolder 3"/>
          <p:cNvSpPr>
            <a:spLocks noGrp="1"/>
          </p:cNvSpPr>
          <p:nvPr>
            <p:ph type="sldNum" idx="45"/>
          </p:nvPr>
        </p:nvSpPr>
        <p:spPr>
          <a:xfrm>
            <a:off x="360" y="0"/>
            <a:ext cx="248551560" cy="360"/>
          </a:xfrm>
          <a:prstGeom prst="rect">
            <a:avLst/>
          </a:prstGeom>
          <a:noFill/>
          <a:ln w="0">
            <a:noFill/>
          </a:ln>
        </p:spPr>
        <p:txBody>
          <a:bodyPr lIns="90000" tIns="-44640" rIns="90000" bIns="-44640" anchor="t">
            <a:noAutofit/>
          </a:bodyPr>
          <a:lstStyle>
            <a:lvl1pPr indent="0" algn="r" defTabSz="914400">
              <a:lnSpc>
                <a:spcPct val="100000"/>
              </a:lnSpc>
              <a:buNone/>
              <a:tabLst>
                <a:tab pos="0" algn="l"/>
              </a:tabLst>
              <a:defRPr lang="pl-PL" sz="1800" b="0" u="none" strike="noStrike">
                <a:solidFill>
                  <a:schemeClr val="dk1"/>
                </a:solidFill>
                <a:effectLst/>
                <a:uFillTx/>
                <a:latin typeface="+mn-lt"/>
                <a:ea typeface="+mn-ea"/>
              </a:defRPr>
            </a:lvl1pPr>
          </a:lstStyle>
          <a:p>
            <a:pPr indent="0" algn="r" defTabSz="914400">
              <a:lnSpc>
                <a:spcPct val="100000"/>
              </a:lnSpc>
              <a:buNone/>
              <a:tabLst>
                <a:tab pos="0" algn="l"/>
              </a:tabLst>
            </a:pPr>
            <a:fld id="{A9F6471B-321B-4927-A14F-EE7E69A912B9}" type="slidenum">
              <a:rPr lang="pl-PL" sz="1800" b="0" u="none" strike="noStrike">
                <a:solidFill>
                  <a:schemeClr val="dk1"/>
                </a:solidFill>
                <a:effectLst/>
                <a:uFillTx/>
                <a:latin typeface="+mn-lt"/>
                <a:ea typeface="+mn-ea"/>
              </a:rPr>
              <a:t>29</a:t>
            </a:fld>
            <a:endParaRPr lang="pl-PL" sz="1800" b="0" u="none" strike="noStrike">
              <a:solidFill>
                <a:srgbClr val="000000"/>
              </a:solidFill>
              <a:effectLst/>
              <a:uFillTx/>
              <a:latin typeface="Times New Roman"/>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5" name="PlaceHolder 1"/>
          <p:cNvSpPr>
            <a:spLocks noGrp="1" noRot="1" noChangeAspect="1"/>
          </p:cNvSpPr>
          <p:nvPr>
            <p:ph type="sldImg"/>
          </p:nvPr>
        </p:nvSpPr>
        <p:spPr>
          <a:xfrm>
            <a:off x="-360" y="-360"/>
            <a:ext cx="360" cy="0"/>
          </a:xfrm>
          <a:prstGeom prst="rect">
            <a:avLst/>
          </a:prstGeom>
          <a:ln w="0">
            <a:noFill/>
          </a:ln>
        </p:spPr>
      </p:sp>
      <p:sp>
        <p:nvSpPr>
          <p:cNvPr id="1616" name="PlaceHolder 2"/>
          <p:cNvSpPr>
            <a:spLocks noGrp="1"/>
          </p:cNvSpPr>
          <p:nvPr>
            <p:ph type="body"/>
          </p:nvPr>
        </p:nvSpPr>
        <p:spPr>
          <a:xfrm>
            <a:off x="0" y="0"/>
            <a:ext cx="248559120" cy="360"/>
          </a:xfrm>
          <a:prstGeom prst="rect">
            <a:avLst/>
          </a:prstGeom>
          <a:noFill/>
          <a:ln w="0">
            <a:noFill/>
          </a:ln>
        </p:spPr>
        <p:txBody>
          <a:bodyPr lIns="90000" tIns="-44640" rIns="90000" bIns="-44640" anchor="t">
            <a:noAutofit/>
          </a:bodyPr>
          <a:lstStyle/>
          <a:p>
            <a:pPr indent="0">
              <a:lnSpc>
                <a:spcPct val="100000"/>
              </a:lnSpc>
              <a:buNone/>
              <a:tabLst>
                <a:tab pos="0" algn="l"/>
              </a:tabLst>
            </a:pPr>
            <a:r>
              <a:rPr lang="pl-PL" sz="2000" b="0" u="none" strike="noStrike" dirty="0">
                <a:solidFill>
                  <a:srgbClr val="000000"/>
                </a:solidFill>
                <a:effectLst/>
                <a:uFillTx/>
                <a:latin typeface="Arial"/>
              </a:rPr>
              <a:t>Warto myśleć o cyfrowym eksperymencie jak o systemie, a nie zbiorze oddzielnych narzędzi. Każda warstwa ma swoje wejście i wyjście i powinna działać niezależnie od pozostałych - tak, by awaria jednego komponentu nie niszczyła danych z całego badania. Warstwa synchronizacji zapewnia, że zdarzenia eksperymentalne są oznaczane w każdym strumieniu z tą samą precyzją czasową. Warstwa logowania powinna działać automatycznie. Całość warto udokumentować w pliku README jeszcze przed pierwszą sesją.</a:t>
            </a:r>
          </a:p>
        </p:txBody>
      </p:sp>
      <p:sp>
        <p:nvSpPr>
          <p:cNvPr id="1617" name="PlaceHolder 3"/>
          <p:cNvSpPr>
            <a:spLocks noGrp="1"/>
          </p:cNvSpPr>
          <p:nvPr>
            <p:ph type="sldNum" idx="46"/>
          </p:nvPr>
        </p:nvSpPr>
        <p:spPr>
          <a:xfrm>
            <a:off x="360" y="0"/>
            <a:ext cx="248551560" cy="360"/>
          </a:xfrm>
          <a:prstGeom prst="rect">
            <a:avLst/>
          </a:prstGeom>
          <a:noFill/>
          <a:ln w="0">
            <a:noFill/>
          </a:ln>
        </p:spPr>
        <p:txBody>
          <a:bodyPr lIns="90000" tIns="-44640" rIns="90000" bIns="-44640" anchor="t">
            <a:noAutofit/>
          </a:bodyPr>
          <a:lstStyle>
            <a:lvl1pPr indent="0" algn="r" defTabSz="914400">
              <a:lnSpc>
                <a:spcPct val="100000"/>
              </a:lnSpc>
              <a:buNone/>
              <a:tabLst>
                <a:tab pos="0" algn="l"/>
              </a:tabLst>
              <a:defRPr lang="pl-PL" sz="1800" b="0" u="none" strike="noStrike">
                <a:solidFill>
                  <a:schemeClr val="dk1"/>
                </a:solidFill>
                <a:effectLst/>
                <a:uFillTx/>
                <a:latin typeface="+mn-lt"/>
                <a:ea typeface="+mn-ea"/>
              </a:defRPr>
            </a:lvl1pPr>
          </a:lstStyle>
          <a:p>
            <a:pPr indent="0" algn="r" defTabSz="914400">
              <a:lnSpc>
                <a:spcPct val="100000"/>
              </a:lnSpc>
              <a:buNone/>
              <a:tabLst>
                <a:tab pos="0" algn="l"/>
              </a:tabLst>
            </a:pPr>
            <a:fld id="{D86A6150-5E89-4A82-B8D0-811034FB7B65}" type="slidenum">
              <a:rPr lang="pl-PL" sz="1800" b="0" u="none" strike="noStrike">
                <a:solidFill>
                  <a:schemeClr val="dk1"/>
                </a:solidFill>
                <a:effectLst/>
                <a:uFillTx/>
                <a:latin typeface="+mn-lt"/>
                <a:ea typeface="+mn-ea"/>
              </a:rPr>
              <a:t>30</a:t>
            </a:fld>
            <a:endParaRPr lang="pl-PL" sz="1800" b="0" u="none" strike="noStrike">
              <a:solidFill>
                <a:srgbClr val="000000"/>
              </a:solidFill>
              <a:effectLst/>
              <a:uFillTx/>
              <a:latin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812800"/>
            <a:ext cx="0" cy="0"/>
          </a:xfrm>
        </p:spPr>
      </p:sp>
      <p:sp>
        <p:nvSpPr>
          <p:cNvPr id="3" name="Notes Placeholder 2"/>
          <p:cNvSpPr>
            <a:spLocks noGrp="1"/>
          </p:cNvSpPr>
          <p:nvPr>
            <p:ph type="body" idx="1"/>
          </p:nvPr>
        </p:nvSpPr>
        <p:spPr/>
        <p:txBody>
          <a:bodyPr/>
          <a:lstStyle/>
          <a:p>
            <a:r>
              <a:rPr lang="en-US" dirty="0"/>
              <a:t>Każda warstwa architektury cyfrowego </a:t>
            </a:r>
            <a:r>
              <a:rPr lang="en-US" dirty="0" err="1"/>
              <a:t>eksperymentu</a:t>
            </a:r>
            <a:r>
              <a:rPr lang="en-US" dirty="0"/>
              <a:t> - bodźce, akwizycja, synchronizacja, </a:t>
            </a:r>
            <a:r>
              <a:rPr lang="en-US" dirty="0" err="1"/>
              <a:t>logowanie</a:t>
            </a:r>
            <a:r>
              <a:rPr lang="en-US" dirty="0"/>
              <a:t> - powinna mieć wbudowany mechanizm kontroli jakości, nie tylko zapis danych. Attention checks i catch trials pozwalają wykryć uczestników klikających losowo. Minimalny czas odpowiedzi działa podobnie. W badaniach z eye-trackerem czy EEG kluczowe jest monitorowanie jakości sygnału w czasie rzeczywistym. Dashboard jakości danych pozwala badaczowi zareagować na </a:t>
            </a:r>
            <a:r>
              <a:rPr lang="en-US" dirty="0" err="1"/>
              <a:t>bieżąco</a:t>
            </a:r>
            <a:r>
              <a:rPr lang="en-US" dirty="0"/>
              <a:t> - przerwać, skalibrować albo wykluczyć uczestnika zgodnie z prerejestrowanymi kryteriami.</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87012185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1" name="PlaceHolder 1"/>
          <p:cNvSpPr>
            <a:spLocks noGrp="1" noRot="1" noChangeAspect="1"/>
          </p:cNvSpPr>
          <p:nvPr>
            <p:ph type="sldImg"/>
          </p:nvPr>
        </p:nvSpPr>
        <p:spPr>
          <a:xfrm>
            <a:off x="0" y="0"/>
            <a:ext cx="0" cy="0"/>
          </a:xfrm>
          <a:prstGeom prst="rect">
            <a:avLst/>
          </a:prstGeom>
          <a:ln w="0">
            <a:noFill/>
          </a:ln>
        </p:spPr>
      </p:sp>
      <p:sp>
        <p:nvSpPr>
          <p:cNvPr id="1622" name="PlaceHolder 2"/>
          <p:cNvSpPr>
            <a:spLocks noGrp="1"/>
          </p:cNvSpPr>
          <p:nvPr>
            <p:ph type="body"/>
          </p:nvPr>
        </p:nvSpPr>
        <p:spPr>
          <a:xfrm>
            <a:off x="0" y="0"/>
            <a:ext cx="248559120" cy="360"/>
          </a:xfrm>
          <a:prstGeom prst="rect">
            <a:avLst/>
          </a:prstGeom>
          <a:noFill/>
          <a:ln w="0">
            <a:noFill/>
          </a:ln>
        </p:spPr>
        <p:txBody>
          <a:bodyPr lIns="90000" tIns="-44640" rIns="90000" bIns="-44640" anchor="t">
            <a:noAutofit/>
          </a:bodyPr>
          <a:lstStyle/>
          <a:p>
            <a:pPr indent="0">
              <a:lnSpc>
                <a:spcPct val="100000"/>
              </a:lnSpc>
              <a:buNone/>
              <a:tabLst>
                <a:tab pos="0" algn="l"/>
              </a:tabLst>
            </a:pPr>
            <a:r>
              <a:rPr lang="pl-PL" sz="2000" b="0" u="none" strike="noStrike" dirty="0">
                <a:solidFill>
                  <a:srgbClr val="000000"/>
                </a:solidFill>
                <a:effectLst/>
                <a:uFillTx/>
                <a:latin typeface="Arial"/>
              </a:rPr>
              <a:t>Porządek w repozytorium danych to nie kwestia estetyki - to kwestia </a:t>
            </a:r>
            <a:r>
              <a:rPr lang="pl-PL" sz="2000" b="0" u="none" strike="noStrike" dirty="0" err="1">
                <a:solidFill>
                  <a:srgbClr val="000000"/>
                </a:solidFill>
                <a:effectLst/>
                <a:uFillTx/>
                <a:latin typeface="Arial"/>
              </a:rPr>
              <a:t>replikowalności</a:t>
            </a:r>
            <a:r>
              <a:rPr lang="pl-PL" sz="2000" b="0" u="none" strike="noStrike" dirty="0">
                <a:solidFill>
                  <a:srgbClr val="000000"/>
                </a:solidFill>
                <a:effectLst/>
                <a:uFillTx/>
                <a:latin typeface="Arial"/>
              </a:rPr>
              <a:t> i bezpieczeństwa danych. Dane surowe powinny być plikami tylko do odczytu, a wszelkie przekształcenia wykonywane wyłącznie przez skrypty. Plik </a:t>
            </a:r>
            <a:r>
              <a:rPr lang="pl-PL" sz="2000" b="0" u="none" strike="noStrike" dirty="0" err="1">
                <a:solidFill>
                  <a:srgbClr val="000000"/>
                </a:solidFill>
                <a:effectLst/>
                <a:uFillTx/>
                <a:latin typeface="Arial"/>
              </a:rPr>
              <a:t>environment.yml</a:t>
            </a:r>
            <a:r>
              <a:rPr lang="pl-PL" sz="2000" b="0" u="none" strike="noStrike" dirty="0">
                <a:solidFill>
                  <a:srgbClr val="000000"/>
                </a:solidFill>
                <a:effectLst/>
                <a:uFillTx/>
                <a:latin typeface="Arial"/>
              </a:rPr>
              <a:t> zapisuje dokładne wersje bibliotek użytych w analizie. Standard BIDS jest coraz szerzej wymagany przez czasopisma i repozytoria takie jak </a:t>
            </a:r>
            <a:r>
              <a:rPr lang="pl-PL" sz="2000" b="0" u="none" strike="noStrike" dirty="0" err="1">
                <a:solidFill>
                  <a:srgbClr val="000000"/>
                </a:solidFill>
                <a:effectLst/>
                <a:uFillTx/>
                <a:latin typeface="Arial"/>
              </a:rPr>
              <a:t>OpenNeuro</a:t>
            </a:r>
            <a:r>
              <a:rPr lang="pl-PL" sz="2000" b="0" u="none" strike="noStrike" dirty="0">
                <a:solidFill>
                  <a:srgbClr val="000000"/>
                </a:solidFill>
                <a:effectLst/>
                <a:uFillTx/>
                <a:latin typeface="Arial"/>
              </a:rPr>
              <a:t>. Nawet bez pełnego BIDS warto przyjąć jego filozofię: każdy plik danych powinien mieć parę z metadanymi.</a:t>
            </a:r>
          </a:p>
        </p:txBody>
      </p:sp>
      <p:sp>
        <p:nvSpPr>
          <p:cNvPr id="1623" name="PlaceHolder 3"/>
          <p:cNvSpPr>
            <a:spLocks noGrp="1"/>
          </p:cNvSpPr>
          <p:nvPr>
            <p:ph type="sldNum" idx="48"/>
          </p:nvPr>
        </p:nvSpPr>
        <p:spPr>
          <a:xfrm>
            <a:off x="360" y="0"/>
            <a:ext cx="248551560" cy="360"/>
          </a:xfrm>
          <a:prstGeom prst="rect">
            <a:avLst/>
          </a:prstGeom>
          <a:noFill/>
          <a:ln w="0">
            <a:noFill/>
          </a:ln>
        </p:spPr>
        <p:txBody>
          <a:bodyPr lIns="90000" tIns="-44640" rIns="90000" bIns="-44640" anchor="t">
            <a:noAutofit/>
          </a:bodyPr>
          <a:lstStyle>
            <a:lvl1pPr indent="0" algn="r" defTabSz="914400">
              <a:lnSpc>
                <a:spcPct val="100000"/>
              </a:lnSpc>
              <a:buNone/>
              <a:tabLst>
                <a:tab pos="0" algn="l"/>
              </a:tabLst>
              <a:defRPr lang="pl-PL" sz="1800" b="0" u="none" strike="noStrike">
                <a:solidFill>
                  <a:schemeClr val="dk1"/>
                </a:solidFill>
                <a:effectLst/>
                <a:uFillTx/>
                <a:latin typeface="+mn-lt"/>
                <a:ea typeface="+mn-ea"/>
              </a:defRPr>
            </a:lvl1pPr>
          </a:lstStyle>
          <a:p>
            <a:pPr indent="0" algn="r" defTabSz="914400">
              <a:lnSpc>
                <a:spcPct val="100000"/>
              </a:lnSpc>
              <a:buNone/>
              <a:tabLst>
                <a:tab pos="0" algn="l"/>
              </a:tabLst>
            </a:pPr>
            <a:fld id="{284C7CB4-007D-46F6-8CF7-B36B5C029F13}" type="slidenum">
              <a:rPr lang="pl-PL" sz="1800" b="0" u="none" strike="noStrike">
                <a:solidFill>
                  <a:schemeClr val="dk1"/>
                </a:solidFill>
                <a:effectLst/>
                <a:uFillTx/>
                <a:latin typeface="+mn-lt"/>
                <a:ea typeface="+mn-ea"/>
              </a:rPr>
              <a:t>32</a:t>
            </a:fld>
            <a:endParaRPr lang="pl-PL" sz="1800" b="0" u="none" strike="noStrike">
              <a:solidFill>
                <a:srgbClr val="000000"/>
              </a:solidFill>
              <a:effectLst/>
              <a:uFillTx/>
              <a:latin typeface="Times New Roman"/>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4" name="PlaceHolder 1"/>
          <p:cNvSpPr>
            <a:spLocks noGrp="1" noRot="1" noChangeAspect="1"/>
          </p:cNvSpPr>
          <p:nvPr>
            <p:ph type="sldImg"/>
          </p:nvPr>
        </p:nvSpPr>
        <p:spPr>
          <a:xfrm>
            <a:off x="0" y="0"/>
            <a:ext cx="0" cy="0"/>
          </a:xfrm>
          <a:prstGeom prst="rect">
            <a:avLst/>
          </a:prstGeom>
          <a:ln w="0">
            <a:noFill/>
          </a:ln>
        </p:spPr>
      </p:sp>
      <p:sp>
        <p:nvSpPr>
          <p:cNvPr id="1625" name="PlaceHolder 2"/>
          <p:cNvSpPr>
            <a:spLocks noGrp="1"/>
          </p:cNvSpPr>
          <p:nvPr>
            <p:ph type="body"/>
          </p:nvPr>
        </p:nvSpPr>
        <p:spPr>
          <a:xfrm>
            <a:off x="0" y="0"/>
            <a:ext cx="248559120" cy="360"/>
          </a:xfrm>
          <a:prstGeom prst="rect">
            <a:avLst/>
          </a:prstGeom>
          <a:noFill/>
          <a:ln w="0">
            <a:noFill/>
          </a:ln>
        </p:spPr>
        <p:txBody>
          <a:bodyPr lIns="90000" tIns="-44640" rIns="90000" bIns="-44640" anchor="t">
            <a:noAutofit/>
          </a:bodyPr>
          <a:lstStyle/>
          <a:p>
            <a:pPr indent="0">
              <a:lnSpc>
                <a:spcPct val="100000"/>
              </a:lnSpc>
              <a:buNone/>
              <a:tabLst>
                <a:tab pos="0" algn="l"/>
              </a:tabLst>
            </a:pPr>
            <a:r>
              <a:rPr lang="pl-PL" sz="2000" b="0" u="none" strike="noStrike" dirty="0">
                <a:solidFill>
                  <a:srgbClr val="000000"/>
                </a:solidFill>
                <a:effectLst/>
                <a:uFillTx/>
                <a:latin typeface="Arial"/>
              </a:rPr>
              <a:t>RODO traktuje dane dotyczące zdrowia, w tym zdrowia psychicznego, jako dane szczególnych kategorii wymagające wyraźnej zgody. Każdy uczestnik otrzymuje unikatowy kod generowany losowo - ten kod, a nie imię i nazwisko, pojawia się w plikach danych. Klucz łączący kod z tożsamością jest przechowywany oddzielnie, najlepiej szyfrowany. Minimalizacja: nie zbieramy danych, których nie planujemy analizować. Nagrania twarzy i głosu są danymi biometrycznymi i wymagają jasnego opisu w protokole zgody.</a:t>
            </a:r>
          </a:p>
        </p:txBody>
      </p:sp>
      <p:sp>
        <p:nvSpPr>
          <p:cNvPr id="1626" name="PlaceHolder 3"/>
          <p:cNvSpPr>
            <a:spLocks noGrp="1"/>
          </p:cNvSpPr>
          <p:nvPr>
            <p:ph type="sldNum" idx="49"/>
          </p:nvPr>
        </p:nvSpPr>
        <p:spPr>
          <a:xfrm>
            <a:off x="360" y="0"/>
            <a:ext cx="248552280" cy="360"/>
          </a:xfrm>
          <a:prstGeom prst="rect">
            <a:avLst/>
          </a:prstGeom>
          <a:noFill/>
          <a:ln w="0">
            <a:noFill/>
          </a:ln>
        </p:spPr>
        <p:txBody>
          <a:bodyPr lIns="90000" tIns="-44640" rIns="90000" bIns="-44640" anchor="t">
            <a:noAutofit/>
          </a:bodyPr>
          <a:lstStyle>
            <a:lvl1pPr indent="0" algn="r" defTabSz="914400">
              <a:lnSpc>
                <a:spcPct val="100000"/>
              </a:lnSpc>
              <a:buNone/>
              <a:tabLst>
                <a:tab pos="0" algn="l"/>
              </a:tabLst>
              <a:defRPr lang="pl-PL" sz="1800" b="0" u="none" strike="noStrike">
                <a:solidFill>
                  <a:schemeClr val="dk1"/>
                </a:solidFill>
                <a:effectLst/>
                <a:uFillTx/>
                <a:latin typeface="+mn-lt"/>
                <a:ea typeface="+mn-ea"/>
              </a:defRPr>
            </a:lvl1pPr>
          </a:lstStyle>
          <a:p>
            <a:pPr indent="0" algn="r" defTabSz="914400">
              <a:lnSpc>
                <a:spcPct val="100000"/>
              </a:lnSpc>
              <a:buNone/>
              <a:tabLst>
                <a:tab pos="0" algn="l"/>
              </a:tabLst>
            </a:pPr>
            <a:fld id="{598E60AF-07B1-4777-A768-4AF602F7096E}" type="slidenum">
              <a:rPr lang="pl-PL" sz="1800" b="0" u="none" strike="noStrike">
                <a:solidFill>
                  <a:schemeClr val="dk1"/>
                </a:solidFill>
                <a:effectLst/>
                <a:uFillTx/>
                <a:latin typeface="+mn-lt"/>
                <a:ea typeface="+mn-ea"/>
              </a:rPr>
              <a:t>33</a:t>
            </a:fld>
            <a:endParaRPr lang="pl-PL" sz="1800" b="0" u="none" strike="noStrike">
              <a:solidFill>
                <a:srgbClr val="000000"/>
              </a:solidFill>
              <a:effectLst/>
              <a:uFillTx/>
              <a:latin typeface="Times New Roman"/>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7" name="PlaceHolder 1"/>
          <p:cNvSpPr>
            <a:spLocks noGrp="1" noRot="1" noChangeAspect="1"/>
          </p:cNvSpPr>
          <p:nvPr>
            <p:ph type="sldImg"/>
          </p:nvPr>
        </p:nvSpPr>
        <p:spPr>
          <a:xfrm>
            <a:off x="0" y="0"/>
            <a:ext cx="0" cy="0"/>
          </a:xfrm>
          <a:prstGeom prst="rect">
            <a:avLst/>
          </a:prstGeom>
          <a:ln w="0">
            <a:noFill/>
          </a:ln>
        </p:spPr>
      </p:sp>
      <p:sp>
        <p:nvSpPr>
          <p:cNvPr id="1628" name="PlaceHolder 2"/>
          <p:cNvSpPr>
            <a:spLocks noGrp="1"/>
          </p:cNvSpPr>
          <p:nvPr>
            <p:ph type="body"/>
          </p:nvPr>
        </p:nvSpPr>
        <p:spPr>
          <a:xfrm>
            <a:off x="0" y="0"/>
            <a:ext cx="248559120" cy="360"/>
          </a:xfrm>
          <a:prstGeom prst="rect">
            <a:avLst/>
          </a:prstGeom>
          <a:noFill/>
          <a:ln w="0">
            <a:noFill/>
          </a:ln>
        </p:spPr>
        <p:txBody>
          <a:bodyPr lIns="90000" tIns="-44640" rIns="90000" bIns="-44640" anchor="t">
            <a:noAutofit/>
          </a:bodyPr>
          <a:lstStyle/>
          <a:p>
            <a:pPr indent="0">
              <a:lnSpc>
                <a:spcPct val="100000"/>
              </a:lnSpc>
              <a:buNone/>
              <a:tabLst>
                <a:tab pos="0" algn="l"/>
              </a:tabLst>
            </a:pPr>
            <a:r>
              <a:rPr lang="pl-PL" sz="2000" b="0" u="none" strike="noStrike">
                <a:solidFill>
                  <a:srgbClr val="000000"/>
                </a:solidFill>
                <a:effectLst/>
                <a:uFillTx/>
                <a:latin typeface="Arial"/>
              </a:rPr>
              <a:t>Generatywna AI daje możliwość tworzenia dużych zestawów bodźców w kontrolowany sposob. Zamiast spędzać tygodnie na ręcznym przygotowywaniu bodźców, możemy wygenerować ich setki i wybrać te, które przejdą walidację. Uczestnicy panelu walidacyjnego oceniają bodźce na wymiarach istotnych dla badania: walencja, pobudzenie, typowość. Ważnym problemem jest bias: modele generatywne trenowane na danych internetowych mogą odtwarzać stereotypy. Każdy zestaw bodźców generowanych przez AI wymaga analizy pod kątem takich artefaktów.</a:t>
            </a:r>
          </a:p>
        </p:txBody>
      </p:sp>
      <p:sp>
        <p:nvSpPr>
          <p:cNvPr id="1629" name="PlaceHolder 3"/>
          <p:cNvSpPr>
            <a:spLocks noGrp="1"/>
          </p:cNvSpPr>
          <p:nvPr>
            <p:ph type="sldNum" idx="50"/>
          </p:nvPr>
        </p:nvSpPr>
        <p:spPr>
          <a:xfrm>
            <a:off x="360" y="0"/>
            <a:ext cx="248552280" cy="360"/>
          </a:xfrm>
          <a:prstGeom prst="rect">
            <a:avLst/>
          </a:prstGeom>
          <a:noFill/>
          <a:ln w="0">
            <a:noFill/>
          </a:ln>
        </p:spPr>
        <p:txBody>
          <a:bodyPr lIns="90000" tIns="-44640" rIns="90000" bIns="-44640" anchor="t">
            <a:noAutofit/>
          </a:bodyPr>
          <a:lstStyle>
            <a:lvl1pPr indent="0" algn="r" defTabSz="914400">
              <a:lnSpc>
                <a:spcPct val="100000"/>
              </a:lnSpc>
              <a:buNone/>
              <a:tabLst>
                <a:tab pos="0" algn="l"/>
              </a:tabLst>
              <a:defRPr lang="pl-PL" sz="1800" b="0" u="none" strike="noStrike">
                <a:solidFill>
                  <a:schemeClr val="dk1"/>
                </a:solidFill>
                <a:effectLst/>
                <a:uFillTx/>
                <a:latin typeface="+mn-lt"/>
                <a:ea typeface="+mn-ea"/>
              </a:defRPr>
            </a:lvl1pPr>
          </a:lstStyle>
          <a:p>
            <a:pPr indent="0" algn="r" defTabSz="914400">
              <a:lnSpc>
                <a:spcPct val="100000"/>
              </a:lnSpc>
              <a:buNone/>
              <a:tabLst>
                <a:tab pos="0" algn="l"/>
              </a:tabLst>
            </a:pPr>
            <a:fld id="{2B1DC9BA-77BF-4094-B17A-8C37D8307CF7}" type="slidenum">
              <a:rPr lang="pl-PL" sz="1800" b="0" u="none" strike="noStrike">
                <a:solidFill>
                  <a:schemeClr val="dk1"/>
                </a:solidFill>
                <a:effectLst/>
                <a:uFillTx/>
                <a:latin typeface="+mn-lt"/>
                <a:ea typeface="+mn-ea"/>
              </a:rPr>
              <a:t>34</a:t>
            </a:fld>
            <a:endParaRPr lang="pl-PL" sz="1800" b="0" u="none" strike="noStrike">
              <a:solidFill>
                <a:srgbClr val="000000"/>
              </a:solidFill>
              <a:effectLst/>
              <a:uFillTx/>
              <a:latin typeface="Times New Roman"/>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0" name="PlaceHolder 1"/>
          <p:cNvSpPr>
            <a:spLocks noGrp="1" noRot="1" noChangeAspect="1"/>
          </p:cNvSpPr>
          <p:nvPr>
            <p:ph type="sldImg"/>
          </p:nvPr>
        </p:nvSpPr>
        <p:spPr>
          <a:xfrm>
            <a:off x="0" y="0"/>
            <a:ext cx="0" cy="0"/>
          </a:xfrm>
          <a:prstGeom prst="rect">
            <a:avLst/>
          </a:prstGeom>
          <a:ln w="0">
            <a:noFill/>
          </a:ln>
        </p:spPr>
      </p:sp>
      <p:sp>
        <p:nvSpPr>
          <p:cNvPr id="1631" name="PlaceHolder 2"/>
          <p:cNvSpPr>
            <a:spLocks noGrp="1"/>
          </p:cNvSpPr>
          <p:nvPr>
            <p:ph type="body"/>
          </p:nvPr>
        </p:nvSpPr>
        <p:spPr>
          <a:xfrm>
            <a:off x="0" y="0"/>
            <a:ext cx="248559120" cy="360"/>
          </a:xfrm>
          <a:prstGeom prst="rect">
            <a:avLst/>
          </a:prstGeom>
          <a:noFill/>
          <a:ln w="0">
            <a:noFill/>
          </a:ln>
        </p:spPr>
        <p:txBody>
          <a:bodyPr lIns="90000" tIns="-44640" rIns="90000" bIns="-44640" anchor="t">
            <a:noAutofit/>
          </a:bodyPr>
          <a:lstStyle/>
          <a:p>
            <a:pPr indent="0">
              <a:lnSpc>
                <a:spcPct val="100000"/>
              </a:lnSpc>
              <a:buNone/>
              <a:tabLst>
                <a:tab pos="0" algn="l"/>
              </a:tabLst>
            </a:pPr>
            <a:r>
              <a:rPr lang="pl-PL" sz="2000" b="0" u="none" strike="noStrike" dirty="0">
                <a:solidFill>
                  <a:srgbClr val="000000"/>
                </a:solidFill>
                <a:effectLst/>
                <a:uFillTx/>
                <a:latin typeface="Arial"/>
              </a:rPr>
              <a:t>Psychologia jakościowa od lat zmaga się z problemem czasochłonności kodowania danych. </a:t>
            </a:r>
            <a:r>
              <a:rPr lang="pl-PL" sz="2000" b="0" u="none" strike="noStrike" dirty="0" err="1">
                <a:solidFill>
                  <a:srgbClr val="000000"/>
                </a:solidFill>
                <a:effectLst/>
                <a:uFillTx/>
                <a:latin typeface="Arial"/>
              </a:rPr>
              <a:t>Whisper</a:t>
            </a:r>
            <a:r>
              <a:rPr lang="pl-PL" sz="2000" b="0" u="none" strike="noStrike" dirty="0">
                <a:solidFill>
                  <a:srgbClr val="000000"/>
                </a:solidFill>
                <a:effectLst/>
                <a:uFillTx/>
                <a:latin typeface="Arial"/>
              </a:rPr>
              <a:t> transkrybuje godzinę nagrania w kilka minut z dokładnością porównywalną z ludzkim </a:t>
            </a:r>
            <a:r>
              <a:rPr lang="pl-PL" sz="2000" b="0" u="none" strike="noStrike" dirty="0" err="1">
                <a:solidFill>
                  <a:srgbClr val="000000"/>
                </a:solidFill>
                <a:effectLst/>
                <a:uFillTx/>
                <a:latin typeface="Arial"/>
              </a:rPr>
              <a:t>transkryptorem</a:t>
            </a:r>
            <a:r>
              <a:rPr lang="pl-PL" sz="2000" b="0" u="none" strike="noStrike" dirty="0">
                <a:solidFill>
                  <a:srgbClr val="000000"/>
                </a:solidFill>
                <a:effectLst/>
                <a:uFillTx/>
                <a:latin typeface="Arial"/>
              </a:rPr>
              <a:t>. Modele językowe mogą wstępnie przyporządkować fragmenty do kategorii tematycznych - to jednak tylko pierwsza propozycja. Intersubiektywność pozostaje wymogiem: wyniki kodowania przez AI porównujemy z kodowaniem człowieka, a zgodność mierzymy kappa Cohena lub ICC. Bez dokumentacji procesu </a:t>
            </a:r>
            <a:r>
              <a:rPr lang="pl-PL" sz="2000" b="0" u="none" strike="noStrike" dirty="0" err="1">
                <a:solidFill>
                  <a:srgbClr val="000000"/>
                </a:solidFill>
                <a:effectLst/>
                <a:uFillTx/>
                <a:latin typeface="Arial"/>
              </a:rPr>
              <a:t>pipeline</a:t>
            </a:r>
            <a:r>
              <a:rPr lang="pl-PL" sz="2000" b="0" u="none" strike="noStrike" dirty="0">
                <a:solidFill>
                  <a:srgbClr val="000000"/>
                </a:solidFill>
                <a:effectLst/>
                <a:uFillTx/>
                <a:latin typeface="Arial"/>
              </a:rPr>
              <a:t> analityczny jest </a:t>
            </a:r>
            <a:r>
              <a:rPr lang="pl-PL" sz="2000" b="0" u="none" strike="noStrike" dirty="0" err="1">
                <a:solidFill>
                  <a:srgbClr val="000000"/>
                </a:solidFill>
                <a:effectLst/>
                <a:uFillTx/>
                <a:latin typeface="Arial"/>
              </a:rPr>
              <a:t>niereplikowalny</a:t>
            </a:r>
            <a:r>
              <a:rPr lang="pl-PL" sz="2000" b="0" u="none" strike="noStrike" dirty="0">
                <a:solidFill>
                  <a:srgbClr val="000000"/>
                </a:solidFill>
                <a:effectLst/>
                <a:uFillTx/>
                <a:latin typeface="Arial"/>
              </a:rPr>
              <a:t>.</a:t>
            </a:r>
          </a:p>
        </p:txBody>
      </p:sp>
      <p:sp>
        <p:nvSpPr>
          <p:cNvPr id="1632" name="PlaceHolder 3"/>
          <p:cNvSpPr>
            <a:spLocks noGrp="1"/>
          </p:cNvSpPr>
          <p:nvPr>
            <p:ph type="sldNum" idx="51"/>
          </p:nvPr>
        </p:nvSpPr>
        <p:spPr>
          <a:xfrm>
            <a:off x="360" y="0"/>
            <a:ext cx="248552280" cy="360"/>
          </a:xfrm>
          <a:prstGeom prst="rect">
            <a:avLst/>
          </a:prstGeom>
          <a:noFill/>
          <a:ln w="0">
            <a:noFill/>
          </a:ln>
        </p:spPr>
        <p:txBody>
          <a:bodyPr lIns="90000" tIns="-44640" rIns="90000" bIns="-44640" anchor="t">
            <a:noAutofit/>
          </a:bodyPr>
          <a:lstStyle>
            <a:lvl1pPr indent="0" algn="r" defTabSz="914400">
              <a:lnSpc>
                <a:spcPct val="100000"/>
              </a:lnSpc>
              <a:buNone/>
              <a:tabLst>
                <a:tab pos="0" algn="l"/>
              </a:tabLst>
              <a:defRPr lang="pl-PL" sz="1800" b="0" u="none" strike="noStrike">
                <a:solidFill>
                  <a:schemeClr val="dk1"/>
                </a:solidFill>
                <a:effectLst/>
                <a:uFillTx/>
                <a:latin typeface="+mn-lt"/>
                <a:ea typeface="+mn-ea"/>
              </a:defRPr>
            </a:lvl1pPr>
          </a:lstStyle>
          <a:p>
            <a:pPr indent="0" algn="r" defTabSz="914400">
              <a:lnSpc>
                <a:spcPct val="100000"/>
              </a:lnSpc>
              <a:buNone/>
              <a:tabLst>
                <a:tab pos="0" algn="l"/>
              </a:tabLst>
            </a:pPr>
            <a:fld id="{40EFC749-E81F-415E-A93F-EE837BBD0CCF}" type="slidenum">
              <a:rPr lang="pl-PL" sz="1800" b="0" u="none" strike="noStrike">
                <a:solidFill>
                  <a:schemeClr val="dk1"/>
                </a:solidFill>
                <a:effectLst/>
                <a:uFillTx/>
                <a:latin typeface="+mn-lt"/>
                <a:ea typeface="+mn-ea"/>
              </a:rPr>
              <a:t>35</a:t>
            </a:fld>
            <a:endParaRPr lang="pl-PL" sz="1800" b="0" u="none" strike="noStrike">
              <a:solidFill>
                <a:srgbClr val="000000"/>
              </a:solidFill>
              <a:effectLst/>
              <a:uFillTx/>
              <a:latin typeface="Times New Roman"/>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3" name="PlaceHolder 1"/>
          <p:cNvSpPr>
            <a:spLocks noGrp="1" noRot="1" noChangeAspect="1"/>
          </p:cNvSpPr>
          <p:nvPr>
            <p:ph type="sldImg"/>
          </p:nvPr>
        </p:nvSpPr>
        <p:spPr>
          <a:xfrm>
            <a:off x="0" y="0"/>
            <a:ext cx="0" cy="0"/>
          </a:xfrm>
          <a:prstGeom prst="rect">
            <a:avLst/>
          </a:prstGeom>
          <a:ln w="0">
            <a:noFill/>
          </a:ln>
        </p:spPr>
      </p:sp>
      <p:sp>
        <p:nvSpPr>
          <p:cNvPr id="1634" name="PlaceHolder 2"/>
          <p:cNvSpPr>
            <a:spLocks noGrp="1"/>
          </p:cNvSpPr>
          <p:nvPr>
            <p:ph type="body"/>
          </p:nvPr>
        </p:nvSpPr>
        <p:spPr>
          <a:xfrm>
            <a:off x="0" y="0"/>
            <a:ext cx="248559120" cy="360"/>
          </a:xfrm>
          <a:prstGeom prst="rect">
            <a:avLst/>
          </a:prstGeom>
          <a:noFill/>
          <a:ln w="0">
            <a:noFill/>
          </a:ln>
        </p:spPr>
        <p:txBody>
          <a:bodyPr lIns="90000" tIns="-44640" rIns="90000" bIns="-44640" anchor="t">
            <a:noAutofit/>
          </a:bodyPr>
          <a:lstStyle/>
          <a:p>
            <a:pPr indent="0">
              <a:lnSpc>
                <a:spcPct val="100000"/>
              </a:lnSpc>
              <a:buNone/>
              <a:tabLst>
                <a:tab pos="0" algn="l"/>
              </a:tabLst>
            </a:pPr>
            <a:r>
              <a:rPr lang="pl-PL" sz="2000" b="0" u="none" strike="noStrike" dirty="0" err="1">
                <a:solidFill>
                  <a:srgbClr val="000000"/>
                </a:solidFill>
                <a:effectLst/>
                <a:uFillTx/>
                <a:latin typeface="Arial"/>
              </a:rPr>
              <a:t>Embeddingi</a:t>
            </a:r>
            <a:r>
              <a:rPr lang="pl-PL" sz="2000" b="0" u="none" strike="noStrike" dirty="0">
                <a:solidFill>
                  <a:srgbClr val="000000"/>
                </a:solidFill>
                <a:effectLst/>
                <a:uFillTx/>
                <a:latin typeface="Arial"/>
              </a:rPr>
              <a:t> to jeden z najbardziej użytecznych wynalazków współczesnego NLP dla badań psychologicznych. Gdy reprezentujemy wypowiedzi jako wektory w przestrzeni o wysokiej wymiarowości, możemy mierzyć podobieństwo semantyczne, </a:t>
            </a:r>
            <a:r>
              <a:rPr lang="pl-PL" sz="2000" b="0" u="none" strike="noStrike" dirty="0" err="1">
                <a:solidFill>
                  <a:srgbClr val="000000"/>
                </a:solidFill>
                <a:effectLst/>
                <a:uFillTx/>
                <a:latin typeface="Arial"/>
              </a:rPr>
              <a:t>klastrować</a:t>
            </a:r>
            <a:r>
              <a:rPr lang="pl-PL" sz="2000" b="0" u="none" strike="noStrike" dirty="0">
                <a:solidFill>
                  <a:srgbClr val="000000"/>
                </a:solidFill>
                <a:effectLst/>
                <a:uFillTx/>
                <a:latin typeface="Arial"/>
              </a:rPr>
              <a:t> je tematycznie i porównywać rozkłady znaczeń między grupami. </a:t>
            </a:r>
            <a:r>
              <a:rPr lang="pl-PL" sz="2000" b="0" u="none" strike="noStrike" dirty="0" err="1">
                <a:solidFill>
                  <a:srgbClr val="000000"/>
                </a:solidFill>
                <a:effectLst/>
                <a:uFillTx/>
                <a:latin typeface="Arial"/>
              </a:rPr>
              <a:t>BERTopic</a:t>
            </a:r>
            <a:r>
              <a:rPr lang="pl-PL" sz="2000" b="0" u="none" strike="noStrike" dirty="0">
                <a:solidFill>
                  <a:srgbClr val="000000"/>
                </a:solidFill>
                <a:effectLst/>
                <a:uFillTx/>
                <a:latin typeface="Arial"/>
              </a:rPr>
              <a:t> łączy </a:t>
            </a:r>
            <a:r>
              <a:rPr lang="pl-PL" sz="2000" b="0" u="none" strike="noStrike" dirty="0" err="1">
                <a:solidFill>
                  <a:srgbClr val="000000"/>
                </a:solidFill>
                <a:effectLst/>
                <a:uFillTx/>
                <a:latin typeface="Arial"/>
              </a:rPr>
              <a:t>embeddingi</a:t>
            </a:r>
            <a:r>
              <a:rPr lang="pl-PL" sz="2000" b="0" u="none" strike="noStrike" dirty="0">
                <a:solidFill>
                  <a:srgbClr val="000000"/>
                </a:solidFill>
                <a:effectLst/>
                <a:uFillTx/>
                <a:latin typeface="Arial"/>
              </a:rPr>
              <a:t> BERT z klasteryzacją HDBSCAN. Klasyfikacja zero-</a:t>
            </a:r>
            <a:r>
              <a:rPr lang="pl-PL" sz="2000" b="0" u="none" strike="noStrike" dirty="0" err="1">
                <a:solidFill>
                  <a:srgbClr val="000000"/>
                </a:solidFill>
                <a:effectLst/>
                <a:uFillTx/>
                <a:latin typeface="Arial"/>
              </a:rPr>
              <a:t>shot</a:t>
            </a:r>
            <a:r>
              <a:rPr lang="pl-PL" sz="2000" b="0" u="none" strike="noStrike" dirty="0">
                <a:solidFill>
                  <a:srgbClr val="000000"/>
                </a:solidFill>
                <a:effectLst/>
                <a:uFillTx/>
                <a:latin typeface="Arial"/>
              </a:rPr>
              <a:t> pozwala przyporządkować wypowiedzi do kategorii bez trenowania na danych oznaczonych. Pamiętajmy: model uczy się dystrybucji słów, nie rozumie kontekstu tak jak człowiek - przy małych, specjalistycznych zbiorach klasyfikacja może być mniej trafna niż intuicja eksperta.</a:t>
            </a:r>
          </a:p>
        </p:txBody>
      </p:sp>
      <p:sp>
        <p:nvSpPr>
          <p:cNvPr id="1635" name="PlaceHolder 3"/>
          <p:cNvSpPr>
            <a:spLocks noGrp="1"/>
          </p:cNvSpPr>
          <p:nvPr>
            <p:ph type="sldNum" idx="52"/>
          </p:nvPr>
        </p:nvSpPr>
        <p:spPr>
          <a:xfrm>
            <a:off x="360" y="0"/>
            <a:ext cx="248552280" cy="360"/>
          </a:xfrm>
          <a:prstGeom prst="rect">
            <a:avLst/>
          </a:prstGeom>
          <a:noFill/>
          <a:ln w="0">
            <a:noFill/>
          </a:ln>
        </p:spPr>
        <p:txBody>
          <a:bodyPr lIns="90000" tIns="-44640" rIns="90000" bIns="-44640" anchor="t">
            <a:noAutofit/>
          </a:bodyPr>
          <a:lstStyle>
            <a:lvl1pPr indent="0" algn="r" defTabSz="914400">
              <a:lnSpc>
                <a:spcPct val="100000"/>
              </a:lnSpc>
              <a:buNone/>
              <a:tabLst>
                <a:tab pos="0" algn="l"/>
              </a:tabLst>
              <a:defRPr lang="pl-PL" sz="1800" b="0" u="none" strike="noStrike">
                <a:solidFill>
                  <a:schemeClr val="dk1"/>
                </a:solidFill>
                <a:effectLst/>
                <a:uFillTx/>
                <a:latin typeface="+mn-lt"/>
                <a:ea typeface="+mn-ea"/>
              </a:defRPr>
            </a:lvl1pPr>
          </a:lstStyle>
          <a:p>
            <a:pPr indent="0" algn="r" defTabSz="914400">
              <a:lnSpc>
                <a:spcPct val="100000"/>
              </a:lnSpc>
              <a:buNone/>
              <a:tabLst>
                <a:tab pos="0" algn="l"/>
              </a:tabLst>
            </a:pPr>
            <a:fld id="{9A4CF05C-3882-42A8-A44D-74E3BAF22F4A}" type="slidenum">
              <a:rPr lang="pl-PL" sz="1800" b="0" u="none" strike="noStrike">
                <a:solidFill>
                  <a:schemeClr val="dk1"/>
                </a:solidFill>
                <a:effectLst/>
                <a:uFillTx/>
                <a:latin typeface="+mn-lt"/>
                <a:ea typeface="+mn-ea"/>
              </a:rPr>
              <a:t>36</a:t>
            </a:fld>
            <a:endParaRPr lang="pl-PL" sz="1800" b="0" u="none" strike="noStrike">
              <a:solidFill>
                <a:srgbClr val="000000"/>
              </a:solidFill>
              <a:effectLst/>
              <a:uFillTx/>
              <a:latin typeface="Times New Roman"/>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812800"/>
            <a:ext cx="0" cy="0"/>
          </a:xfrm>
        </p:spPr>
      </p:sp>
      <p:sp>
        <p:nvSpPr>
          <p:cNvPr id="3" name="Notes Placeholder 2"/>
          <p:cNvSpPr>
            <a:spLocks noGrp="1"/>
          </p:cNvSpPr>
          <p:nvPr>
            <p:ph type="body" idx="1"/>
          </p:nvPr>
        </p:nvSpPr>
        <p:spPr/>
        <p:txBody>
          <a:bodyPr/>
          <a:lstStyle/>
          <a:p>
            <a:r>
              <a:rPr lang="en-US" dirty="0"/>
              <a:t>Mechanizm brakujących danych ma znaczenie: MCAR oznacza, że braki są całkowicie losowe; MAR oznacza, że brak zależy od innych obserwowanych zmiennych; MNAR jest najgorszym </a:t>
            </a:r>
            <a:r>
              <a:rPr lang="en-US" dirty="0" err="1"/>
              <a:t>przypadkiem</a:t>
            </a:r>
            <a:r>
              <a:rPr lang="en-US" dirty="0"/>
              <a:t> - brak zależy od samej wartości, której nie obserwujemy. Winsoryzacja zmienia rozkład danych i powinna być decyzją uzasadnioną teoretycznie, nie kosmetyczną poprawką wyniku. Kryteria usuwania obserwacji ustalamy przed zobaczeniem wyników analizy głównej. Jeśli nie jesteśmy pewni wpływu decyzji, warto przeprowadzić analizę wrażliwości.</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3118986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9" name="PlaceHolder 1"/>
          <p:cNvSpPr>
            <a:spLocks noGrp="1" noRot="1" noChangeAspect="1"/>
          </p:cNvSpPr>
          <p:nvPr>
            <p:ph type="sldImg"/>
          </p:nvPr>
        </p:nvSpPr>
        <p:spPr>
          <a:xfrm>
            <a:off x="0" y="0"/>
            <a:ext cx="0" cy="0"/>
          </a:xfrm>
          <a:prstGeom prst="rect">
            <a:avLst/>
          </a:prstGeom>
          <a:ln w="0">
            <a:noFill/>
          </a:ln>
        </p:spPr>
      </p:sp>
      <p:sp>
        <p:nvSpPr>
          <p:cNvPr id="1640" name="PlaceHolder 2"/>
          <p:cNvSpPr>
            <a:spLocks noGrp="1"/>
          </p:cNvSpPr>
          <p:nvPr>
            <p:ph type="body"/>
          </p:nvPr>
        </p:nvSpPr>
        <p:spPr>
          <a:xfrm>
            <a:off x="0" y="0"/>
            <a:ext cx="248558400" cy="360"/>
          </a:xfrm>
          <a:prstGeom prst="rect">
            <a:avLst/>
          </a:prstGeom>
          <a:noFill/>
          <a:ln w="0">
            <a:noFill/>
          </a:ln>
        </p:spPr>
        <p:txBody>
          <a:bodyPr lIns="90000" tIns="-44640" rIns="90000" bIns="-44640" anchor="t">
            <a:noAutofit/>
          </a:bodyPr>
          <a:lstStyle/>
          <a:p>
            <a:pPr indent="0">
              <a:lnSpc>
                <a:spcPct val="100000"/>
              </a:lnSpc>
              <a:buNone/>
              <a:tabLst>
                <a:tab pos="0" algn="l"/>
              </a:tabLst>
            </a:pPr>
            <a:r>
              <a:rPr lang="pl-PL" sz="2000" b="0" u="none" strike="noStrike">
                <a:solidFill>
                  <a:srgbClr val="000000"/>
                </a:solidFill>
                <a:effectLst/>
                <a:uFillTx/>
                <a:latin typeface="Arial"/>
              </a:rPr>
              <a:t>W dyskusji o AI i machine learningu łatwo zapomnieć, że zdecydowana większość artykułów empirycznych w psychologii używa wnioskowania statystycznego oparte na klasycznych modelach. ANOVA i regresja pozwalają zadawać precyzyjne pytania o różnice między warunkami. Modele mieszane są szczególnie ważne w kontekście danych z pomiarów powtarzanych i badań EMA. Chcę zwrócić uwagę na dwie kwestie niedostatecznie stosowane: raportowanie wielkości efektu obok wartości p, oraz przedziały ufności zamiast binarnej decyzji istotne/nieistotne.</a:t>
            </a:r>
          </a:p>
        </p:txBody>
      </p:sp>
      <p:sp>
        <p:nvSpPr>
          <p:cNvPr id="1641" name="PlaceHolder 3"/>
          <p:cNvSpPr>
            <a:spLocks noGrp="1"/>
          </p:cNvSpPr>
          <p:nvPr>
            <p:ph type="sldNum" idx="54"/>
          </p:nvPr>
        </p:nvSpPr>
        <p:spPr>
          <a:xfrm>
            <a:off x="360" y="0"/>
            <a:ext cx="248552280" cy="360"/>
          </a:xfrm>
          <a:prstGeom prst="rect">
            <a:avLst/>
          </a:prstGeom>
          <a:noFill/>
          <a:ln w="0">
            <a:noFill/>
          </a:ln>
        </p:spPr>
        <p:txBody>
          <a:bodyPr lIns="90000" tIns="-44640" rIns="90000" bIns="-44640" anchor="t">
            <a:noAutofit/>
          </a:bodyPr>
          <a:lstStyle>
            <a:lvl1pPr indent="0" algn="r" defTabSz="914400">
              <a:lnSpc>
                <a:spcPct val="100000"/>
              </a:lnSpc>
              <a:buNone/>
              <a:tabLst>
                <a:tab pos="0" algn="l"/>
              </a:tabLst>
              <a:defRPr lang="pl-PL" sz="1800" b="0" u="none" strike="noStrike">
                <a:solidFill>
                  <a:schemeClr val="dk1"/>
                </a:solidFill>
                <a:effectLst/>
                <a:uFillTx/>
                <a:latin typeface="+mn-lt"/>
                <a:ea typeface="+mn-ea"/>
              </a:defRPr>
            </a:lvl1pPr>
          </a:lstStyle>
          <a:p>
            <a:pPr indent="0" algn="r" defTabSz="914400">
              <a:lnSpc>
                <a:spcPct val="100000"/>
              </a:lnSpc>
              <a:buNone/>
              <a:tabLst>
                <a:tab pos="0" algn="l"/>
              </a:tabLst>
            </a:pPr>
            <a:fld id="{02ECD5C9-0A86-4F58-9072-B93DE6E47876}" type="slidenum">
              <a:rPr lang="pl-PL" sz="1800" b="0" u="none" strike="noStrike">
                <a:solidFill>
                  <a:schemeClr val="dk1"/>
                </a:solidFill>
                <a:effectLst/>
                <a:uFillTx/>
                <a:latin typeface="+mn-lt"/>
                <a:ea typeface="+mn-ea"/>
              </a:rPr>
              <a:t>38</a:t>
            </a:fld>
            <a:endParaRPr lang="pl-PL" sz="1800" b="0" u="none" strike="noStrike">
              <a:solidFill>
                <a:srgbClr val="000000"/>
              </a:solidFill>
              <a:effectLst/>
              <a:uFillTx/>
              <a:latin typeface="Times New Roman"/>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2" name="PlaceHolder 1"/>
          <p:cNvSpPr>
            <a:spLocks noGrp="1" noRot="1" noChangeAspect="1"/>
          </p:cNvSpPr>
          <p:nvPr>
            <p:ph type="sldImg"/>
          </p:nvPr>
        </p:nvSpPr>
        <p:spPr>
          <a:xfrm>
            <a:off x="0" y="0"/>
            <a:ext cx="0" cy="0"/>
          </a:xfrm>
          <a:prstGeom prst="rect">
            <a:avLst/>
          </a:prstGeom>
          <a:ln w="0">
            <a:noFill/>
          </a:ln>
        </p:spPr>
      </p:sp>
      <p:sp>
        <p:nvSpPr>
          <p:cNvPr id="1643" name="PlaceHolder 2"/>
          <p:cNvSpPr>
            <a:spLocks noGrp="1"/>
          </p:cNvSpPr>
          <p:nvPr>
            <p:ph type="body"/>
          </p:nvPr>
        </p:nvSpPr>
        <p:spPr>
          <a:xfrm>
            <a:off x="0" y="0"/>
            <a:ext cx="248559120" cy="360"/>
          </a:xfrm>
          <a:prstGeom prst="rect">
            <a:avLst/>
          </a:prstGeom>
          <a:noFill/>
          <a:ln w="0">
            <a:noFill/>
          </a:ln>
        </p:spPr>
        <p:txBody>
          <a:bodyPr lIns="90000" tIns="-44640" rIns="90000" bIns="-44640" anchor="t">
            <a:noAutofit/>
          </a:bodyPr>
          <a:lstStyle/>
          <a:p>
            <a:pPr indent="0">
              <a:lnSpc>
                <a:spcPct val="100000"/>
              </a:lnSpc>
              <a:buNone/>
              <a:tabLst>
                <a:tab pos="0" algn="l"/>
              </a:tabLst>
            </a:pPr>
            <a:r>
              <a:rPr lang="pl-PL" sz="2000" b="0" u="none" strike="noStrike" dirty="0">
                <a:solidFill>
                  <a:srgbClr val="000000"/>
                </a:solidFill>
                <a:effectLst/>
                <a:uFillTx/>
                <a:latin typeface="Arial"/>
              </a:rPr>
              <a:t>Wybór narzędzia analitycznego powinien być decyzją metodologiczną, nie przyzwyczajeniem. JASP generuje tabele w formacie APA i obsługuje czynnik Bayesa bez programowania. </a:t>
            </a:r>
            <a:r>
              <a:rPr lang="pl-PL" sz="2000" b="0" u="none" strike="noStrike" dirty="0" err="1">
                <a:solidFill>
                  <a:srgbClr val="000000"/>
                </a:solidFill>
                <a:effectLst/>
                <a:uFillTx/>
                <a:latin typeface="Arial"/>
              </a:rPr>
              <a:t>Jamovi</a:t>
            </a:r>
            <a:r>
              <a:rPr lang="pl-PL" sz="2000" b="0" u="none" strike="noStrike" dirty="0">
                <a:solidFill>
                  <a:srgbClr val="000000"/>
                </a:solidFill>
                <a:effectLst/>
                <a:uFillTx/>
                <a:latin typeface="Arial"/>
              </a:rPr>
              <a:t> opiera się na R - zaawansowany użytkownik może zobaczyć kod R generowany przez GUI. R jest standardem w statystyce z największym ekosystemem pakietów. </a:t>
            </a:r>
            <a:r>
              <a:rPr lang="pl-PL" sz="2000" b="0" u="none" strike="noStrike" dirty="0" err="1">
                <a:solidFill>
                  <a:srgbClr val="000000"/>
                </a:solidFill>
                <a:effectLst/>
                <a:uFillTx/>
                <a:latin typeface="Arial"/>
              </a:rPr>
              <a:t>Python</a:t>
            </a:r>
            <a:r>
              <a:rPr lang="pl-PL" sz="2000" b="0" u="none" strike="noStrike" dirty="0">
                <a:solidFill>
                  <a:srgbClr val="000000"/>
                </a:solidFill>
                <a:effectLst/>
                <a:uFillTx/>
                <a:latin typeface="Arial"/>
              </a:rPr>
              <a:t> zyskuje pozycję, gdy analiza jest częścią większego </a:t>
            </a:r>
            <a:r>
              <a:rPr lang="pl-PL" sz="2000" b="0" u="none" strike="noStrike" dirty="0" err="1">
                <a:solidFill>
                  <a:srgbClr val="000000"/>
                </a:solidFill>
                <a:effectLst/>
                <a:uFillTx/>
                <a:latin typeface="Arial"/>
              </a:rPr>
              <a:t>pipeline'u</a:t>
            </a:r>
            <a:r>
              <a:rPr lang="pl-PL" sz="2000" b="0" u="none" strike="noStrike" dirty="0">
                <a:solidFill>
                  <a:srgbClr val="000000"/>
                </a:solidFill>
                <a:effectLst/>
                <a:uFillTx/>
                <a:latin typeface="Arial"/>
              </a:rPr>
              <a:t> z ML. Cokolwiek wybierzemy, analiza musi być zapisana w skrypcie i archiwizowana razem z danymi.</a:t>
            </a:r>
          </a:p>
        </p:txBody>
      </p:sp>
      <p:sp>
        <p:nvSpPr>
          <p:cNvPr id="1644" name="PlaceHolder 3"/>
          <p:cNvSpPr>
            <a:spLocks noGrp="1"/>
          </p:cNvSpPr>
          <p:nvPr>
            <p:ph type="sldNum" idx="55"/>
          </p:nvPr>
        </p:nvSpPr>
        <p:spPr>
          <a:xfrm>
            <a:off x="360" y="0"/>
            <a:ext cx="248552280" cy="360"/>
          </a:xfrm>
          <a:prstGeom prst="rect">
            <a:avLst/>
          </a:prstGeom>
          <a:noFill/>
          <a:ln w="0">
            <a:noFill/>
          </a:ln>
        </p:spPr>
        <p:txBody>
          <a:bodyPr lIns="90000" tIns="-44640" rIns="90000" bIns="-44640" anchor="t">
            <a:noAutofit/>
          </a:bodyPr>
          <a:lstStyle>
            <a:lvl1pPr indent="0" algn="r" defTabSz="914400">
              <a:lnSpc>
                <a:spcPct val="100000"/>
              </a:lnSpc>
              <a:buNone/>
              <a:tabLst>
                <a:tab pos="0" algn="l"/>
              </a:tabLst>
              <a:defRPr lang="pl-PL" sz="1800" b="0" u="none" strike="noStrike">
                <a:solidFill>
                  <a:schemeClr val="dk1"/>
                </a:solidFill>
                <a:effectLst/>
                <a:uFillTx/>
                <a:latin typeface="+mn-lt"/>
                <a:ea typeface="+mn-ea"/>
              </a:defRPr>
            </a:lvl1pPr>
          </a:lstStyle>
          <a:p>
            <a:pPr indent="0" algn="r" defTabSz="914400">
              <a:lnSpc>
                <a:spcPct val="100000"/>
              </a:lnSpc>
              <a:buNone/>
              <a:tabLst>
                <a:tab pos="0" algn="l"/>
              </a:tabLst>
            </a:pPr>
            <a:fld id="{030EB56F-8282-4E39-88CE-47E00931C160}" type="slidenum">
              <a:rPr lang="pl-PL" sz="1800" b="0" u="none" strike="noStrike">
                <a:solidFill>
                  <a:schemeClr val="dk1"/>
                </a:solidFill>
                <a:effectLst/>
                <a:uFillTx/>
                <a:latin typeface="+mn-lt"/>
                <a:ea typeface="+mn-ea"/>
              </a:rPr>
              <a:t>39</a:t>
            </a:fld>
            <a:endParaRPr lang="pl-PL" sz="1800" b="0" u="none" strike="noStrike">
              <a:solidFill>
                <a:srgbClr val="000000"/>
              </a:solidFill>
              <a:effectLst/>
              <a:uFillTx/>
              <a:latin typeface="Times New Roman"/>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5" name="PlaceHolder 1"/>
          <p:cNvSpPr>
            <a:spLocks noGrp="1" noRot="1" noChangeAspect="1"/>
          </p:cNvSpPr>
          <p:nvPr>
            <p:ph type="sldImg"/>
          </p:nvPr>
        </p:nvSpPr>
        <p:spPr>
          <a:xfrm>
            <a:off x="0" y="0"/>
            <a:ext cx="0" cy="0"/>
          </a:xfrm>
          <a:prstGeom prst="rect">
            <a:avLst/>
          </a:prstGeom>
          <a:ln w="0">
            <a:noFill/>
          </a:ln>
        </p:spPr>
      </p:sp>
      <p:sp>
        <p:nvSpPr>
          <p:cNvPr id="1646" name="PlaceHolder 2"/>
          <p:cNvSpPr>
            <a:spLocks noGrp="1"/>
          </p:cNvSpPr>
          <p:nvPr>
            <p:ph type="body"/>
          </p:nvPr>
        </p:nvSpPr>
        <p:spPr>
          <a:xfrm>
            <a:off x="0" y="0"/>
            <a:ext cx="248559120" cy="360"/>
          </a:xfrm>
          <a:prstGeom prst="rect">
            <a:avLst/>
          </a:prstGeom>
          <a:noFill/>
          <a:ln w="0">
            <a:noFill/>
          </a:ln>
        </p:spPr>
        <p:txBody>
          <a:bodyPr lIns="90000" tIns="-44640" rIns="90000" bIns="-44640" anchor="t">
            <a:noAutofit/>
          </a:bodyPr>
          <a:lstStyle/>
          <a:p>
            <a:pPr indent="0">
              <a:lnSpc>
                <a:spcPct val="100000"/>
              </a:lnSpc>
              <a:buNone/>
              <a:tabLst>
                <a:tab pos="0" algn="l"/>
              </a:tabLst>
            </a:pPr>
            <a:r>
              <a:rPr lang="pl-PL" sz="2000" b="0" u="none" strike="noStrike" dirty="0">
                <a:solidFill>
                  <a:srgbClr val="000000"/>
                </a:solidFill>
                <a:effectLst/>
                <a:uFillTx/>
                <a:latin typeface="Arial"/>
              </a:rPr>
              <a:t>Wybór narzędzia analitycznego powinien być decyzją metodologiczną, nie przyzwyczajeniem. JASP generuje tabele w formacie APA i obsługuje czynnik Bayesa bez programowania. </a:t>
            </a:r>
            <a:r>
              <a:rPr lang="pl-PL" sz="2000" b="0" u="none" strike="noStrike" dirty="0" err="1">
                <a:solidFill>
                  <a:srgbClr val="000000"/>
                </a:solidFill>
                <a:effectLst/>
                <a:uFillTx/>
                <a:latin typeface="Arial"/>
              </a:rPr>
              <a:t>Jamovi</a:t>
            </a:r>
            <a:r>
              <a:rPr lang="pl-PL" sz="2000" b="0" u="none" strike="noStrike" dirty="0">
                <a:solidFill>
                  <a:srgbClr val="000000"/>
                </a:solidFill>
                <a:effectLst/>
                <a:uFillTx/>
                <a:latin typeface="Arial"/>
              </a:rPr>
              <a:t> opiera się na R - zaawansowany użytkownik może zobaczyć kod R generowany przez GUI. R jest standardem w statystyce z największym ekosystemem pakietów. </a:t>
            </a:r>
            <a:r>
              <a:rPr lang="pl-PL" sz="2000" b="0" u="none" strike="noStrike" dirty="0" err="1">
                <a:solidFill>
                  <a:srgbClr val="000000"/>
                </a:solidFill>
                <a:effectLst/>
                <a:uFillTx/>
                <a:latin typeface="Arial"/>
              </a:rPr>
              <a:t>Python</a:t>
            </a:r>
            <a:r>
              <a:rPr lang="pl-PL" sz="2000" b="0" u="none" strike="noStrike" dirty="0">
                <a:solidFill>
                  <a:srgbClr val="000000"/>
                </a:solidFill>
                <a:effectLst/>
                <a:uFillTx/>
                <a:latin typeface="Arial"/>
              </a:rPr>
              <a:t> zyskuje pozycję, gdy analiza jest częścią większego </a:t>
            </a:r>
            <a:r>
              <a:rPr lang="pl-PL" sz="2000" b="0" u="none" strike="noStrike" dirty="0" err="1">
                <a:solidFill>
                  <a:srgbClr val="000000"/>
                </a:solidFill>
                <a:effectLst/>
                <a:uFillTx/>
                <a:latin typeface="Arial"/>
              </a:rPr>
              <a:t>pipeline'u</a:t>
            </a:r>
            <a:r>
              <a:rPr lang="pl-PL" sz="2000" b="0" u="none" strike="noStrike" dirty="0">
                <a:solidFill>
                  <a:srgbClr val="000000"/>
                </a:solidFill>
                <a:effectLst/>
                <a:uFillTx/>
                <a:latin typeface="Arial"/>
              </a:rPr>
              <a:t> z ML. Cokolwiek wybierzemy, analiza musi być zapisana w skrypcie i archiwizowana razem z danymi.</a:t>
            </a:r>
          </a:p>
        </p:txBody>
      </p:sp>
      <p:sp>
        <p:nvSpPr>
          <p:cNvPr id="1647" name="PlaceHolder 3"/>
          <p:cNvSpPr>
            <a:spLocks noGrp="1"/>
          </p:cNvSpPr>
          <p:nvPr>
            <p:ph type="sldNum" idx="56"/>
          </p:nvPr>
        </p:nvSpPr>
        <p:spPr>
          <a:xfrm>
            <a:off x="360" y="0"/>
            <a:ext cx="248552280" cy="360"/>
          </a:xfrm>
          <a:prstGeom prst="rect">
            <a:avLst/>
          </a:prstGeom>
          <a:noFill/>
          <a:ln w="0">
            <a:noFill/>
          </a:ln>
        </p:spPr>
        <p:txBody>
          <a:bodyPr lIns="90000" tIns="-44640" rIns="90000" bIns="-44640" anchor="t">
            <a:noAutofit/>
          </a:bodyPr>
          <a:lstStyle>
            <a:lvl1pPr indent="0" algn="r" defTabSz="914400">
              <a:lnSpc>
                <a:spcPct val="100000"/>
              </a:lnSpc>
              <a:buNone/>
              <a:tabLst>
                <a:tab pos="0" algn="l"/>
              </a:tabLst>
              <a:defRPr lang="pl-PL" sz="1800" b="0" u="none" strike="noStrike">
                <a:solidFill>
                  <a:schemeClr val="dk1"/>
                </a:solidFill>
                <a:effectLst/>
                <a:uFillTx/>
                <a:latin typeface="+mn-lt"/>
                <a:ea typeface="+mn-ea"/>
              </a:defRPr>
            </a:lvl1pPr>
          </a:lstStyle>
          <a:p>
            <a:pPr indent="0" algn="r" defTabSz="914400">
              <a:lnSpc>
                <a:spcPct val="100000"/>
              </a:lnSpc>
              <a:buNone/>
              <a:tabLst>
                <a:tab pos="0" algn="l"/>
              </a:tabLst>
            </a:pPr>
            <a:fld id="{13570BC3-4AD2-419D-A324-5A84A046A93F}" type="slidenum">
              <a:rPr lang="pl-PL" sz="1800" b="0" u="none" strike="noStrike">
                <a:solidFill>
                  <a:schemeClr val="dk1"/>
                </a:solidFill>
                <a:effectLst/>
                <a:uFillTx/>
                <a:latin typeface="+mn-lt"/>
                <a:ea typeface="+mn-ea"/>
              </a:rPr>
              <a:t>40</a:t>
            </a:fld>
            <a:endParaRPr lang="pl-PL" sz="1800" b="0" u="none" strike="noStrike">
              <a:solidFill>
                <a:srgbClr val="000000"/>
              </a:solidFill>
              <a:effectLst/>
              <a:uFillTx/>
              <a:latin typeface="Times New Roman"/>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 name="PlaceHolder 1"/>
          <p:cNvSpPr>
            <a:spLocks noGrp="1" noRot="1" noChangeAspect="1"/>
          </p:cNvSpPr>
          <p:nvPr>
            <p:ph type="sldImg"/>
          </p:nvPr>
        </p:nvSpPr>
        <p:spPr>
          <a:xfrm>
            <a:off x="0" y="0"/>
            <a:ext cx="0" cy="0"/>
          </a:xfrm>
          <a:prstGeom prst="rect">
            <a:avLst/>
          </a:prstGeom>
          <a:ln w="0">
            <a:noFill/>
          </a:ln>
        </p:spPr>
      </p:sp>
      <p:sp>
        <p:nvSpPr>
          <p:cNvPr id="1649" name="PlaceHolder 2"/>
          <p:cNvSpPr>
            <a:spLocks noGrp="1"/>
          </p:cNvSpPr>
          <p:nvPr>
            <p:ph type="body"/>
          </p:nvPr>
        </p:nvSpPr>
        <p:spPr>
          <a:xfrm>
            <a:off x="0" y="0"/>
            <a:ext cx="248559120" cy="360"/>
          </a:xfrm>
          <a:prstGeom prst="rect">
            <a:avLst/>
          </a:prstGeom>
          <a:noFill/>
          <a:ln w="0">
            <a:noFill/>
          </a:ln>
        </p:spPr>
        <p:txBody>
          <a:bodyPr lIns="90000" tIns="-44640" rIns="90000" bIns="-44640" anchor="t">
            <a:noAutofit/>
          </a:bodyPr>
          <a:lstStyle/>
          <a:p>
            <a:pPr indent="0">
              <a:lnSpc>
                <a:spcPct val="100000"/>
              </a:lnSpc>
              <a:buNone/>
              <a:tabLst>
                <a:tab pos="0" algn="l"/>
              </a:tabLst>
            </a:pPr>
            <a:r>
              <a:rPr lang="pl-PL" sz="2000" b="0" u="none" strike="noStrike" dirty="0">
                <a:solidFill>
                  <a:srgbClr val="000000"/>
                </a:solidFill>
                <a:effectLst/>
                <a:uFillTx/>
                <a:latin typeface="Arial"/>
              </a:rPr>
              <a:t>Statystyka bayesowska nie jest modą - jest alternatywnym sposobem wnioskowania, który ujawnia swoją przewagę przy małych próbach i modelach hierarchicznych. Czynnik Bayesa BF₁₀ mówi nam, ile razy bardziej prawdopodobne są dane pod H₁ niż pod H₀ - to stwierdzenie o sile dowodów interpretowalne ciągle. Kluczowym elementem jest </a:t>
            </a:r>
            <a:r>
              <a:rPr lang="pl-PL" sz="2000" b="0" u="none" strike="noStrike" dirty="0" err="1">
                <a:solidFill>
                  <a:srgbClr val="000000"/>
                </a:solidFill>
                <a:effectLst/>
                <a:uFillTx/>
                <a:latin typeface="Arial"/>
              </a:rPr>
              <a:t>prior</a:t>
            </a:r>
            <a:r>
              <a:rPr lang="pl-PL" sz="2000" b="0" u="none" strike="noStrike" dirty="0">
                <a:solidFill>
                  <a:srgbClr val="000000"/>
                </a:solidFill>
                <a:effectLst/>
                <a:uFillTx/>
                <a:latin typeface="Arial"/>
              </a:rPr>
              <a:t> </a:t>
            </a:r>
            <a:r>
              <a:rPr lang="pl-PL" sz="2000" b="0" u="none" strike="noStrike" dirty="0" err="1">
                <a:solidFill>
                  <a:srgbClr val="000000"/>
                </a:solidFill>
                <a:effectLst/>
                <a:uFillTx/>
                <a:latin typeface="Arial"/>
              </a:rPr>
              <a:t>sensitivity</a:t>
            </a:r>
            <a:r>
              <a:rPr lang="pl-PL" sz="2000" b="0" u="none" strike="noStrike" dirty="0">
                <a:solidFill>
                  <a:srgbClr val="000000"/>
                </a:solidFill>
                <a:effectLst/>
                <a:uFillTx/>
                <a:latin typeface="Arial"/>
              </a:rPr>
              <a:t> </a:t>
            </a:r>
            <a:r>
              <a:rPr lang="pl-PL" sz="2000" b="0" u="none" strike="noStrike" dirty="0" err="1">
                <a:solidFill>
                  <a:srgbClr val="000000"/>
                </a:solidFill>
                <a:effectLst/>
                <a:uFillTx/>
                <a:latin typeface="Arial"/>
              </a:rPr>
              <a:t>analysis</a:t>
            </a:r>
            <a:r>
              <a:rPr lang="pl-PL" sz="2000" b="0" u="none" strike="noStrike" dirty="0">
                <a:solidFill>
                  <a:srgbClr val="000000"/>
                </a:solidFill>
                <a:effectLst/>
                <a:uFillTx/>
                <a:latin typeface="Arial"/>
              </a:rPr>
              <a:t>: sprawdzamy, czy zmiana założeń a priori zmienia nasze wnioski. </a:t>
            </a:r>
            <a:r>
              <a:rPr lang="pl-PL" sz="2000" b="0" u="none" strike="noStrike" dirty="0" err="1">
                <a:solidFill>
                  <a:srgbClr val="000000"/>
                </a:solidFill>
                <a:effectLst/>
                <a:uFillTx/>
                <a:latin typeface="Arial"/>
              </a:rPr>
              <a:t>brms</a:t>
            </a:r>
            <a:r>
              <a:rPr lang="pl-PL" sz="2000" b="0" u="none" strike="noStrike" dirty="0">
                <a:solidFill>
                  <a:srgbClr val="000000"/>
                </a:solidFill>
                <a:effectLst/>
                <a:uFillTx/>
                <a:latin typeface="Arial"/>
              </a:rPr>
              <a:t> w R to obecnie najwygodniejsza droga do złożonych modeli </a:t>
            </a:r>
            <a:r>
              <a:rPr lang="pl-PL" sz="2000" b="0" u="none" strike="noStrike" dirty="0" err="1">
                <a:solidFill>
                  <a:srgbClr val="000000"/>
                </a:solidFill>
                <a:effectLst/>
                <a:uFillTx/>
                <a:latin typeface="Arial"/>
              </a:rPr>
              <a:t>bayesowskich</a:t>
            </a:r>
            <a:r>
              <a:rPr lang="pl-PL" sz="2000" b="0" u="none" strike="noStrike" dirty="0">
                <a:solidFill>
                  <a:srgbClr val="000000"/>
                </a:solidFill>
                <a:effectLst/>
                <a:uFillTx/>
                <a:latin typeface="Arial"/>
              </a:rPr>
              <a:t>.</a:t>
            </a:r>
          </a:p>
        </p:txBody>
      </p:sp>
      <p:sp>
        <p:nvSpPr>
          <p:cNvPr id="1650" name="PlaceHolder 3"/>
          <p:cNvSpPr>
            <a:spLocks noGrp="1"/>
          </p:cNvSpPr>
          <p:nvPr>
            <p:ph type="sldNum" idx="57"/>
          </p:nvPr>
        </p:nvSpPr>
        <p:spPr>
          <a:xfrm>
            <a:off x="360" y="0"/>
            <a:ext cx="248552280" cy="360"/>
          </a:xfrm>
          <a:prstGeom prst="rect">
            <a:avLst/>
          </a:prstGeom>
          <a:noFill/>
          <a:ln w="0">
            <a:noFill/>
          </a:ln>
        </p:spPr>
        <p:txBody>
          <a:bodyPr lIns="90000" tIns="-44640" rIns="90000" bIns="-44640" anchor="t">
            <a:noAutofit/>
          </a:bodyPr>
          <a:lstStyle>
            <a:lvl1pPr indent="0" algn="r" defTabSz="914400">
              <a:lnSpc>
                <a:spcPct val="100000"/>
              </a:lnSpc>
              <a:buNone/>
              <a:tabLst>
                <a:tab pos="0" algn="l"/>
              </a:tabLst>
              <a:defRPr lang="pl-PL" sz="1800" b="0" u="none" strike="noStrike">
                <a:solidFill>
                  <a:schemeClr val="dk1"/>
                </a:solidFill>
                <a:effectLst/>
                <a:uFillTx/>
                <a:latin typeface="+mn-lt"/>
                <a:ea typeface="+mn-ea"/>
              </a:defRPr>
            </a:lvl1pPr>
          </a:lstStyle>
          <a:p>
            <a:pPr indent="0" algn="r" defTabSz="914400">
              <a:lnSpc>
                <a:spcPct val="100000"/>
              </a:lnSpc>
              <a:buNone/>
              <a:tabLst>
                <a:tab pos="0" algn="l"/>
              </a:tabLst>
            </a:pPr>
            <a:fld id="{D802E0F7-BF7D-4853-85D4-63BE81567D9A}" type="slidenum">
              <a:rPr lang="pl-PL" sz="1800" b="0" u="none" strike="noStrike">
                <a:solidFill>
                  <a:schemeClr val="dk1"/>
                </a:solidFill>
                <a:effectLst/>
                <a:uFillTx/>
                <a:latin typeface="+mn-lt"/>
                <a:ea typeface="+mn-ea"/>
              </a:rPr>
              <a:t>41</a:t>
            </a:fld>
            <a:endParaRPr lang="pl-PL" sz="1800" b="0" u="none" strike="noStrike">
              <a:solidFill>
                <a:srgbClr val="000000"/>
              </a:solidFill>
              <a:effectLst/>
              <a:uFillTx/>
              <a:latin typeface="Times New Roman"/>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1" name="PlaceHolder 1"/>
          <p:cNvSpPr>
            <a:spLocks noGrp="1" noRot="1" noChangeAspect="1"/>
          </p:cNvSpPr>
          <p:nvPr>
            <p:ph type="sldImg"/>
          </p:nvPr>
        </p:nvSpPr>
        <p:spPr>
          <a:xfrm>
            <a:off x="0" y="0"/>
            <a:ext cx="0" cy="0"/>
          </a:xfrm>
          <a:prstGeom prst="rect">
            <a:avLst/>
          </a:prstGeom>
          <a:ln w="0">
            <a:noFill/>
          </a:ln>
        </p:spPr>
      </p:sp>
      <p:sp>
        <p:nvSpPr>
          <p:cNvPr id="1652" name="PlaceHolder 2"/>
          <p:cNvSpPr>
            <a:spLocks noGrp="1"/>
          </p:cNvSpPr>
          <p:nvPr>
            <p:ph type="body"/>
          </p:nvPr>
        </p:nvSpPr>
        <p:spPr>
          <a:xfrm>
            <a:off x="0" y="0"/>
            <a:ext cx="248544720" cy="360"/>
          </a:xfrm>
          <a:prstGeom prst="rect">
            <a:avLst/>
          </a:prstGeom>
          <a:noFill/>
          <a:ln w="0">
            <a:noFill/>
          </a:ln>
        </p:spPr>
        <p:txBody>
          <a:bodyPr lIns="90000" tIns="-44640" rIns="90000" bIns="-44640" anchor="t">
            <a:noAutofit/>
          </a:bodyPr>
          <a:lstStyle/>
          <a:p>
            <a:pPr indent="0">
              <a:lnSpc>
                <a:spcPct val="100000"/>
              </a:lnSpc>
              <a:buNone/>
              <a:tabLst>
                <a:tab pos="0" algn="l"/>
              </a:tabLst>
            </a:pPr>
            <a:r>
              <a:rPr lang="pl-PL" sz="2000" b="0" u="none" strike="noStrike" dirty="0">
                <a:solidFill>
                  <a:srgbClr val="000000"/>
                </a:solidFill>
                <a:effectLst/>
                <a:uFillTx/>
                <a:latin typeface="Arial"/>
              </a:rPr>
              <a:t>Machine learning jest narzędziem predykcji, nie wyjaśniania przyczynowego. Walidacja krzyżowa jest niezbędna: nie oceniamy modelu na danych, na których go trenowaliśmy. </a:t>
            </a:r>
            <a:r>
              <a:rPr lang="pl-PL" sz="2000" b="0" u="none" strike="noStrike" dirty="0" err="1">
                <a:solidFill>
                  <a:srgbClr val="000000"/>
                </a:solidFill>
                <a:effectLst/>
                <a:uFillTx/>
                <a:latin typeface="Arial"/>
              </a:rPr>
              <a:t>Leakage</a:t>
            </a:r>
            <a:r>
              <a:rPr lang="pl-PL" sz="2000" b="0" u="none" strike="noStrike" dirty="0">
                <a:solidFill>
                  <a:srgbClr val="000000"/>
                </a:solidFill>
                <a:effectLst/>
                <a:uFillTx/>
                <a:latin typeface="Arial"/>
              </a:rPr>
              <a:t> - przypadkowe przenikanie informacji z zbioru testowego do treningowego - zawyża wyniki o kilkanaście punktów procentowych. Przy niezbalansowanych klasach dokładność (</a:t>
            </a:r>
            <a:r>
              <a:rPr lang="pl-PL" sz="2000" b="0" u="none" strike="noStrike" dirty="0" err="1">
                <a:solidFill>
                  <a:srgbClr val="000000"/>
                </a:solidFill>
                <a:effectLst/>
                <a:uFillTx/>
                <a:latin typeface="Arial"/>
              </a:rPr>
              <a:t>accuracy</a:t>
            </a:r>
            <a:r>
              <a:rPr lang="pl-PL" sz="2000" b="0" u="none" strike="noStrike" dirty="0">
                <a:solidFill>
                  <a:srgbClr val="000000"/>
                </a:solidFill>
                <a:effectLst/>
                <a:uFillTx/>
                <a:latin typeface="Arial"/>
              </a:rPr>
              <a:t>) jest mylącą miarą - używajmy F1 lub AUC-ROC.</a:t>
            </a:r>
          </a:p>
        </p:txBody>
      </p:sp>
      <p:sp>
        <p:nvSpPr>
          <p:cNvPr id="1653" name="PlaceHolder 3"/>
          <p:cNvSpPr>
            <a:spLocks noGrp="1"/>
          </p:cNvSpPr>
          <p:nvPr>
            <p:ph type="sldNum" idx="58"/>
          </p:nvPr>
        </p:nvSpPr>
        <p:spPr>
          <a:xfrm>
            <a:off x="360" y="0"/>
            <a:ext cx="248552280" cy="360"/>
          </a:xfrm>
          <a:prstGeom prst="rect">
            <a:avLst/>
          </a:prstGeom>
          <a:noFill/>
          <a:ln w="0">
            <a:noFill/>
          </a:ln>
        </p:spPr>
        <p:txBody>
          <a:bodyPr lIns="90000" tIns="-44640" rIns="90000" bIns="-44640" anchor="t">
            <a:noAutofit/>
          </a:bodyPr>
          <a:lstStyle>
            <a:lvl1pPr indent="0" algn="r" defTabSz="914400">
              <a:lnSpc>
                <a:spcPct val="100000"/>
              </a:lnSpc>
              <a:buNone/>
              <a:tabLst>
                <a:tab pos="0" algn="l"/>
              </a:tabLst>
              <a:defRPr lang="pl-PL" sz="1800" b="0" u="none" strike="noStrike">
                <a:solidFill>
                  <a:schemeClr val="dk1"/>
                </a:solidFill>
                <a:effectLst/>
                <a:uFillTx/>
                <a:latin typeface="+mn-lt"/>
                <a:ea typeface="+mn-ea"/>
              </a:defRPr>
            </a:lvl1pPr>
          </a:lstStyle>
          <a:p>
            <a:pPr indent="0" algn="r" defTabSz="914400">
              <a:lnSpc>
                <a:spcPct val="100000"/>
              </a:lnSpc>
              <a:buNone/>
              <a:tabLst>
                <a:tab pos="0" algn="l"/>
              </a:tabLst>
            </a:pPr>
            <a:fld id="{CEB166B9-114A-4E28-BE84-3FC6DEC90CEC}" type="slidenum">
              <a:rPr lang="pl-PL" sz="1800" b="0" u="none" strike="noStrike">
                <a:solidFill>
                  <a:schemeClr val="dk1"/>
                </a:solidFill>
                <a:effectLst/>
                <a:uFillTx/>
                <a:latin typeface="+mn-lt"/>
                <a:ea typeface="+mn-ea"/>
              </a:rPr>
              <a:t>42</a:t>
            </a:fld>
            <a:endParaRPr lang="pl-PL" sz="1800" b="0" u="none" strike="noStrike">
              <a:solidFill>
                <a:srgbClr val="000000"/>
              </a:solidFill>
              <a:effectLst/>
              <a:uFillTx/>
              <a:latin typeface="Times New Roman"/>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4" name="PlaceHolder 1"/>
          <p:cNvSpPr>
            <a:spLocks noGrp="1" noRot="1" noChangeAspect="1"/>
          </p:cNvSpPr>
          <p:nvPr>
            <p:ph type="sldImg"/>
          </p:nvPr>
        </p:nvSpPr>
        <p:spPr>
          <a:xfrm>
            <a:off x="0" y="0"/>
            <a:ext cx="0" cy="0"/>
          </a:xfrm>
          <a:prstGeom prst="rect">
            <a:avLst/>
          </a:prstGeom>
          <a:ln w="0">
            <a:noFill/>
          </a:ln>
        </p:spPr>
      </p:sp>
      <p:sp>
        <p:nvSpPr>
          <p:cNvPr id="1655" name="PlaceHolder 2"/>
          <p:cNvSpPr>
            <a:spLocks noGrp="1"/>
          </p:cNvSpPr>
          <p:nvPr>
            <p:ph type="body"/>
          </p:nvPr>
        </p:nvSpPr>
        <p:spPr>
          <a:xfrm>
            <a:off x="0" y="0"/>
            <a:ext cx="248559120" cy="360"/>
          </a:xfrm>
          <a:prstGeom prst="rect">
            <a:avLst/>
          </a:prstGeom>
          <a:noFill/>
          <a:ln w="0">
            <a:noFill/>
          </a:ln>
        </p:spPr>
        <p:txBody>
          <a:bodyPr lIns="90000" tIns="-44640" rIns="90000" bIns="-44640" anchor="t">
            <a:noAutofit/>
          </a:bodyPr>
          <a:lstStyle/>
          <a:p>
            <a:pPr indent="0">
              <a:lnSpc>
                <a:spcPct val="100000"/>
              </a:lnSpc>
              <a:buNone/>
              <a:tabLst>
                <a:tab pos="0" algn="l"/>
              </a:tabLst>
            </a:pPr>
            <a:r>
              <a:rPr lang="pl-PL" sz="2000" b="0" u="none" strike="noStrike" dirty="0">
                <a:solidFill>
                  <a:srgbClr val="000000"/>
                </a:solidFill>
                <a:effectLst/>
                <a:uFillTx/>
                <a:latin typeface="Arial"/>
              </a:rPr>
              <a:t>Głębokie sieci neuronowe osiągają imponujące wyniki w zadaniach percepcyjnych. Dla większości psychologów trenowanie modelu od zera jest niepraktyczne - wymaga dziesiątek tysięcy etykietowanych przykładów. Praktyczną alternatywą jest fine-</a:t>
            </a:r>
            <a:r>
              <a:rPr lang="pl-PL" sz="2000" b="0" u="none" strike="noStrike" dirty="0" err="1">
                <a:solidFill>
                  <a:srgbClr val="000000"/>
                </a:solidFill>
                <a:effectLst/>
                <a:uFillTx/>
                <a:latin typeface="Arial"/>
              </a:rPr>
              <a:t>tuning</a:t>
            </a:r>
            <a:r>
              <a:rPr lang="pl-PL" sz="2000" b="0" u="none" strike="noStrike" dirty="0">
                <a:solidFill>
                  <a:srgbClr val="000000"/>
                </a:solidFill>
                <a:effectLst/>
                <a:uFillTx/>
                <a:latin typeface="Arial"/>
              </a:rPr>
              <a:t> modeli </a:t>
            </a:r>
            <a:r>
              <a:rPr lang="pl-PL" sz="2000" b="0" u="none" strike="noStrike" dirty="0" err="1">
                <a:solidFill>
                  <a:srgbClr val="000000"/>
                </a:solidFill>
                <a:effectLst/>
                <a:uFillTx/>
                <a:latin typeface="Arial"/>
              </a:rPr>
              <a:t>pretrenowanych</a:t>
            </a:r>
            <a:r>
              <a:rPr lang="pl-PL" sz="2000" b="0" u="none" strike="noStrike" dirty="0">
                <a:solidFill>
                  <a:srgbClr val="000000"/>
                </a:solidFill>
                <a:effectLst/>
                <a:uFillTx/>
                <a:latin typeface="Arial"/>
              </a:rPr>
              <a:t>, np. wav2vec2 dostrojony do klasyfikacji emocji głosowych. </a:t>
            </a:r>
            <a:r>
              <a:rPr lang="pl-PL" sz="2000" b="0" u="none" strike="noStrike" dirty="0" err="1">
                <a:solidFill>
                  <a:srgbClr val="000000"/>
                </a:solidFill>
                <a:effectLst/>
                <a:uFillTx/>
                <a:latin typeface="Arial"/>
              </a:rPr>
              <a:t>MediaPipe</a:t>
            </a:r>
            <a:r>
              <a:rPr lang="pl-PL" sz="2000" b="0" u="none" strike="noStrike" dirty="0">
                <a:solidFill>
                  <a:srgbClr val="000000"/>
                </a:solidFill>
                <a:effectLst/>
                <a:uFillTx/>
                <a:latin typeface="Arial"/>
              </a:rPr>
              <a:t> pozwala estymować pozę ciała bez trenowania czegokolwiek. Dla małych prób model głęboki to ryzyko </a:t>
            </a:r>
            <a:r>
              <a:rPr lang="pl-PL" sz="2000" b="0" u="none" strike="noStrike" dirty="0" err="1">
                <a:solidFill>
                  <a:srgbClr val="000000"/>
                </a:solidFill>
                <a:effectLst/>
                <a:uFillTx/>
                <a:latin typeface="Arial"/>
              </a:rPr>
              <a:t>overfittingu</a:t>
            </a:r>
            <a:r>
              <a:rPr lang="pl-PL" sz="2000" b="0" u="none" strike="noStrike" dirty="0">
                <a:solidFill>
                  <a:srgbClr val="000000"/>
                </a:solidFill>
                <a:effectLst/>
                <a:uFillTx/>
                <a:latin typeface="Arial"/>
              </a:rPr>
              <a:t>.</a:t>
            </a:r>
          </a:p>
        </p:txBody>
      </p:sp>
      <p:sp>
        <p:nvSpPr>
          <p:cNvPr id="1656" name="PlaceHolder 3"/>
          <p:cNvSpPr>
            <a:spLocks noGrp="1"/>
          </p:cNvSpPr>
          <p:nvPr>
            <p:ph type="sldNum" idx="59"/>
          </p:nvPr>
        </p:nvSpPr>
        <p:spPr>
          <a:xfrm>
            <a:off x="360" y="0"/>
            <a:ext cx="248552280" cy="360"/>
          </a:xfrm>
          <a:prstGeom prst="rect">
            <a:avLst/>
          </a:prstGeom>
          <a:noFill/>
          <a:ln w="0">
            <a:noFill/>
          </a:ln>
        </p:spPr>
        <p:txBody>
          <a:bodyPr lIns="90000" tIns="-44640" rIns="90000" bIns="-44640" anchor="t">
            <a:noAutofit/>
          </a:bodyPr>
          <a:lstStyle>
            <a:lvl1pPr indent="0" algn="r" defTabSz="914400">
              <a:lnSpc>
                <a:spcPct val="100000"/>
              </a:lnSpc>
              <a:buNone/>
              <a:tabLst>
                <a:tab pos="0" algn="l"/>
              </a:tabLst>
              <a:defRPr lang="pl-PL" sz="1800" b="0" u="none" strike="noStrike">
                <a:solidFill>
                  <a:schemeClr val="dk1"/>
                </a:solidFill>
                <a:effectLst/>
                <a:uFillTx/>
                <a:latin typeface="+mn-lt"/>
                <a:ea typeface="+mn-ea"/>
              </a:defRPr>
            </a:lvl1pPr>
          </a:lstStyle>
          <a:p>
            <a:pPr indent="0" algn="r" defTabSz="914400">
              <a:lnSpc>
                <a:spcPct val="100000"/>
              </a:lnSpc>
              <a:buNone/>
              <a:tabLst>
                <a:tab pos="0" algn="l"/>
              </a:tabLst>
            </a:pPr>
            <a:fld id="{807B617D-CB88-4347-9404-C531F5737ABD}" type="slidenum">
              <a:rPr lang="pl-PL" sz="1800" b="0" u="none" strike="noStrike">
                <a:solidFill>
                  <a:schemeClr val="dk1"/>
                </a:solidFill>
                <a:effectLst/>
                <a:uFillTx/>
                <a:latin typeface="+mn-lt"/>
                <a:ea typeface="+mn-ea"/>
              </a:rPr>
              <a:t>43</a:t>
            </a:fld>
            <a:endParaRPr lang="pl-PL" sz="1800" b="0" u="none" strike="noStrike">
              <a:solidFill>
                <a:srgbClr val="000000"/>
              </a:solidFill>
              <a:effectLst/>
              <a:uFillTx/>
              <a:latin typeface="Times New Roman"/>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7" name="PlaceHolder 1"/>
          <p:cNvSpPr>
            <a:spLocks noGrp="1" noRot="1" noChangeAspect="1"/>
          </p:cNvSpPr>
          <p:nvPr>
            <p:ph type="sldImg"/>
          </p:nvPr>
        </p:nvSpPr>
        <p:spPr>
          <a:xfrm>
            <a:off x="-360" y="-360"/>
            <a:ext cx="360" cy="0"/>
          </a:xfrm>
          <a:prstGeom prst="rect">
            <a:avLst/>
          </a:prstGeom>
          <a:ln w="0">
            <a:noFill/>
          </a:ln>
        </p:spPr>
      </p:sp>
      <p:sp>
        <p:nvSpPr>
          <p:cNvPr id="1658" name="PlaceHolder 2"/>
          <p:cNvSpPr>
            <a:spLocks noGrp="1"/>
          </p:cNvSpPr>
          <p:nvPr>
            <p:ph type="body"/>
          </p:nvPr>
        </p:nvSpPr>
        <p:spPr>
          <a:xfrm>
            <a:off x="0" y="0"/>
            <a:ext cx="248544720" cy="360"/>
          </a:xfrm>
          <a:prstGeom prst="rect">
            <a:avLst/>
          </a:prstGeom>
          <a:noFill/>
          <a:ln w="0">
            <a:noFill/>
          </a:ln>
        </p:spPr>
        <p:txBody>
          <a:bodyPr lIns="90000" tIns="-44640" rIns="90000" bIns="-44640" anchor="t">
            <a:noAutofit/>
          </a:bodyPr>
          <a:lstStyle/>
          <a:p>
            <a:pPr indent="0">
              <a:lnSpc>
                <a:spcPct val="100000"/>
              </a:lnSpc>
              <a:buNone/>
              <a:tabLst>
                <a:tab pos="0" algn="l"/>
              </a:tabLst>
            </a:pPr>
            <a:r>
              <a:rPr lang="pl-PL" sz="2000" b="0" u="none" strike="noStrike" dirty="0" err="1">
                <a:solidFill>
                  <a:srgbClr val="000000"/>
                </a:solidFill>
                <a:effectLst/>
                <a:uFillTx/>
                <a:latin typeface="Arial"/>
              </a:rPr>
              <a:t>Explainable</a:t>
            </a:r>
            <a:r>
              <a:rPr lang="pl-PL" sz="2000" b="0" u="none" strike="noStrike" dirty="0">
                <a:solidFill>
                  <a:srgbClr val="000000"/>
                </a:solidFill>
                <a:effectLst/>
                <a:uFillTx/>
                <a:latin typeface="Arial"/>
              </a:rPr>
              <a:t> AI zyskuje na znaczeniu nie tylko technicznym, ale etycznym. Wyobraźmy sobie model predykcji ryzyka kryzysu z danych EMA - musimy wiedzieć, które sygnały go uruchamiają. SHAP oblicza dla każdej obserwacji udział każdej cechy w predykcji modelu. LIME działa lokalnie - konstruuje prosty model liniowy jako przybliżenie złożonego modelu. Analiza błędów jest równie ważna jak analiza trafności: sprawdzamy, dla których grup model popełnia więcej błędów.</a:t>
            </a:r>
          </a:p>
        </p:txBody>
      </p:sp>
      <p:sp>
        <p:nvSpPr>
          <p:cNvPr id="1659" name="PlaceHolder 3"/>
          <p:cNvSpPr>
            <a:spLocks noGrp="1"/>
          </p:cNvSpPr>
          <p:nvPr>
            <p:ph type="sldNum" idx="60"/>
          </p:nvPr>
        </p:nvSpPr>
        <p:spPr>
          <a:xfrm>
            <a:off x="360" y="0"/>
            <a:ext cx="248552280" cy="360"/>
          </a:xfrm>
          <a:prstGeom prst="rect">
            <a:avLst/>
          </a:prstGeom>
          <a:noFill/>
          <a:ln w="0">
            <a:noFill/>
          </a:ln>
        </p:spPr>
        <p:txBody>
          <a:bodyPr lIns="90000" tIns="-44640" rIns="90000" bIns="-44640" anchor="t">
            <a:noAutofit/>
          </a:bodyPr>
          <a:lstStyle>
            <a:lvl1pPr indent="0" algn="r" defTabSz="914400">
              <a:lnSpc>
                <a:spcPct val="100000"/>
              </a:lnSpc>
              <a:buNone/>
              <a:tabLst>
                <a:tab pos="0" algn="l"/>
              </a:tabLst>
              <a:defRPr lang="pl-PL" sz="1800" b="0" u="none" strike="noStrike">
                <a:solidFill>
                  <a:schemeClr val="dk1"/>
                </a:solidFill>
                <a:effectLst/>
                <a:uFillTx/>
                <a:latin typeface="+mn-lt"/>
                <a:ea typeface="+mn-ea"/>
              </a:defRPr>
            </a:lvl1pPr>
          </a:lstStyle>
          <a:p>
            <a:pPr indent="0" algn="r" defTabSz="914400">
              <a:lnSpc>
                <a:spcPct val="100000"/>
              </a:lnSpc>
              <a:buNone/>
              <a:tabLst>
                <a:tab pos="0" algn="l"/>
              </a:tabLst>
            </a:pPr>
            <a:fld id="{B7AA817B-693D-42FA-98BE-3F00E4C1D014}" type="slidenum">
              <a:rPr lang="pl-PL" sz="1800" b="0" u="none" strike="noStrike">
                <a:solidFill>
                  <a:schemeClr val="dk1"/>
                </a:solidFill>
                <a:effectLst/>
                <a:uFillTx/>
                <a:latin typeface="+mn-lt"/>
                <a:ea typeface="+mn-ea"/>
              </a:rPr>
              <a:t>44</a:t>
            </a:fld>
            <a:endParaRPr lang="pl-PL" sz="1800" b="0" u="none" strike="noStrike">
              <a:solidFill>
                <a:srgbClr val="000000"/>
              </a:solidFill>
              <a:effectLst/>
              <a:uFillTx/>
              <a:latin typeface="Times New Roman"/>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812800"/>
            <a:ext cx="0" cy="0"/>
          </a:xfrm>
        </p:spPr>
      </p:sp>
      <p:sp>
        <p:nvSpPr>
          <p:cNvPr id="3" name="Notes Placeholder 2"/>
          <p:cNvSpPr>
            <a:spLocks noGrp="1"/>
          </p:cNvSpPr>
          <p:nvPr>
            <p:ph type="body" idx="1"/>
          </p:nvPr>
        </p:nvSpPr>
        <p:spPr/>
        <p:txBody>
          <a:bodyPr/>
          <a:lstStyle/>
          <a:p>
            <a:r>
              <a:rPr lang="en-US" dirty="0"/>
              <a:t>Model predykcyjny, nawet bardzo dokładny, mówi nam, że pewne zmienne są związane z wynikiem — nie mówi, że jedna powoduje drugą. To rozróżnienie staje się szczególnie istotne przy SHAP czy LIME. Efekt statystycznie istotny przy dużej próbie może być praktycznie nieistotny. Przedziały ufności i niepewność modelu powinny być integralną częścią raportowania wyniku, nie przypiskiem. Jeśli badaliśmy studentów psychologii z jednego uniwersytetu, nasz wynik niesie ograniczoną informację o populacji ogólnej. Publikowalny wynik to poprawnie ograniczony, ostrożnie sformułowany zakres wnioskowania.</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30842453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3" name="PlaceHolder 1"/>
          <p:cNvSpPr>
            <a:spLocks noGrp="1" noRot="1" noChangeAspect="1"/>
          </p:cNvSpPr>
          <p:nvPr>
            <p:ph type="sldImg"/>
          </p:nvPr>
        </p:nvSpPr>
        <p:spPr>
          <a:xfrm>
            <a:off x="0" y="0"/>
            <a:ext cx="0" cy="0"/>
          </a:xfrm>
          <a:prstGeom prst="rect">
            <a:avLst/>
          </a:prstGeom>
          <a:ln w="0">
            <a:noFill/>
          </a:ln>
        </p:spPr>
      </p:sp>
      <p:sp>
        <p:nvSpPr>
          <p:cNvPr id="1664" name="PlaceHolder 2"/>
          <p:cNvSpPr>
            <a:spLocks noGrp="1"/>
          </p:cNvSpPr>
          <p:nvPr>
            <p:ph type="body"/>
          </p:nvPr>
        </p:nvSpPr>
        <p:spPr>
          <a:xfrm>
            <a:off x="0" y="0"/>
            <a:ext cx="248544720" cy="360"/>
          </a:xfrm>
          <a:prstGeom prst="rect">
            <a:avLst/>
          </a:prstGeom>
          <a:noFill/>
          <a:ln w="0">
            <a:noFill/>
          </a:ln>
        </p:spPr>
        <p:txBody>
          <a:bodyPr lIns="90000" tIns="-44640" rIns="90000" bIns="-44640" anchor="t">
            <a:noAutofit/>
          </a:bodyPr>
          <a:lstStyle/>
          <a:p>
            <a:pPr indent="0">
              <a:lnSpc>
                <a:spcPct val="100000"/>
              </a:lnSpc>
              <a:buNone/>
              <a:tabLst>
                <a:tab pos="0" algn="l"/>
              </a:tabLst>
            </a:pPr>
            <a:r>
              <a:rPr lang="pl-PL" sz="2000" b="0" u="none" strike="noStrike" dirty="0" err="1">
                <a:solidFill>
                  <a:srgbClr val="000000"/>
                </a:solidFill>
                <a:effectLst/>
                <a:uFillTx/>
                <a:latin typeface="Arial"/>
              </a:rPr>
              <a:t>Explainable</a:t>
            </a:r>
            <a:r>
              <a:rPr lang="pl-PL" sz="2000" b="0" u="none" strike="noStrike" dirty="0">
                <a:solidFill>
                  <a:srgbClr val="000000"/>
                </a:solidFill>
                <a:effectLst/>
                <a:uFillTx/>
                <a:latin typeface="Arial"/>
              </a:rPr>
              <a:t> AI zyskuje na znaczeniu nie tylko technicznym, ale etycznym. Wyobraźmy sobie model predykcji ryzyka kryzysu z danych EMA - musimy wiedzieć, które sygnały go uruchamiają. SHAP oblicza dla każdej obserwacji udział każdej cechy w predykcji modelu. LIME działa lokalnie - konstruuje prosty model liniowy jako przybliżenie złożonego modelu. Analiza błędów jest równie ważna jak analiza trafności: sprawdzamy, dla których grup model popełnia więcej błędów.</a:t>
            </a:r>
          </a:p>
        </p:txBody>
      </p:sp>
      <p:sp>
        <p:nvSpPr>
          <p:cNvPr id="1665" name="PlaceHolder 3"/>
          <p:cNvSpPr>
            <a:spLocks noGrp="1"/>
          </p:cNvSpPr>
          <p:nvPr>
            <p:ph type="sldNum" idx="62"/>
          </p:nvPr>
        </p:nvSpPr>
        <p:spPr>
          <a:xfrm>
            <a:off x="360" y="0"/>
            <a:ext cx="248552280" cy="360"/>
          </a:xfrm>
          <a:prstGeom prst="rect">
            <a:avLst/>
          </a:prstGeom>
          <a:noFill/>
          <a:ln w="0">
            <a:noFill/>
          </a:ln>
        </p:spPr>
        <p:txBody>
          <a:bodyPr lIns="90000" tIns="-44640" rIns="90000" bIns="-44640" anchor="t">
            <a:noAutofit/>
          </a:bodyPr>
          <a:lstStyle>
            <a:lvl1pPr indent="0" algn="r" defTabSz="914400">
              <a:lnSpc>
                <a:spcPct val="100000"/>
              </a:lnSpc>
              <a:buNone/>
              <a:tabLst>
                <a:tab pos="0" algn="l"/>
              </a:tabLst>
              <a:defRPr lang="pl-PL" sz="1800" b="0" u="none" strike="noStrike">
                <a:solidFill>
                  <a:schemeClr val="dk1"/>
                </a:solidFill>
                <a:effectLst/>
                <a:uFillTx/>
                <a:latin typeface="+mn-lt"/>
                <a:ea typeface="+mn-ea"/>
              </a:defRPr>
            </a:lvl1pPr>
          </a:lstStyle>
          <a:p>
            <a:pPr indent="0" algn="r" defTabSz="914400">
              <a:lnSpc>
                <a:spcPct val="100000"/>
              </a:lnSpc>
              <a:buNone/>
              <a:tabLst>
                <a:tab pos="0" algn="l"/>
              </a:tabLst>
            </a:pPr>
            <a:fld id="{9809191E-4CDF-483D-83A0-51B815E3FC3B}" type="slidenum">
              <a:rPr lang="pl-PL" sz="1800" b="0" u="none" strike="noStrike">
                <a:solidFill>
                  <a:schemeClr val="dk1"/>
                </a:solidFill>
                <a:effectLst/>
                <a:uFillTx/>
                <a:latin typeface="+mn-lt"/>
                <a:ea typeface="+mn-ea"/>
              </a:rPr>
              <a:t>46</a:t>
            </a:fld>
            <a:endParaRPr lang="pl-PL" sz="1800" b="0" u="none" strike="noStrike">
              <a:solidFill>
                <a:srgbClr val="000000"/>
              </a:solidFill>
              <a:effectLst/>
              <a:uFillTx/>
              <a:latin typeface="Times New Roman"/>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6" name="PlaceHolder 1"/>
          <p:cNvSpPr>
            <a:spLocks noGrp="1" noRot="1" noChangeAspect="1"/>
          </p:cNvSpPr>
          <p:nvPr>
            <p:ph type="sldImg"/>
          </p:nvPr>
        </p:nvSpPr>
        <p:spPr>
          <a:xfrm>
            <a:off x="0" y="0"/>
            <a:ext cx="0" cy="0"/>
          </a:xfrm>
          <a:prstGeom prst="rect">
            <a:avLst/>
          </a:prstGeom>
          <a:ln w="0">
            <a:noFill/>
          </a:ln>
        </p:spPr>
      </p:sp>
      <p:sp>
        <p:nvSpPr>
          <p:cNvPr id="1667" name="PlaceHolder 2"/>
          <p:cNvSpPr>
            <a:spLocks noGrp="1"/>
          </p:cNvSpPr>
          <p:nvPr>
            <p:ph type="body"/>
          </p:nvPr>
        </p:nvSpPr>
        <p:spPr>
          <a:xfrm>
            <a:off x="0" y="0"/>
            <a:ext cx="248544720" cy="360"/>
          </a:xfrm>
          <a:prstGeom prst="rect">
            <a:avLst/>
          </a:prstGeom>
          <a:noFill/>
          <a:ln w="0">
            <a:noFill/>
          </a:ln>
        </p:spPr>
        <p:txBody>
          <a:bodyPr lIns="90000" tIns="-44640" rIns="90000" bIns="-44640" anchor="t">
            <a:noAutofit/>
          </a:bodyPr>
          <a:lstStyle/>
          <a:p>
            <a:pPr indent="0">
              <a:lnSpc>
                <a:spcPct val="100000"/>
              </a:lnSpc>
              <a:buNone/>
              <a:tabLst>
                <a:tab pos="0" algn="l"/>
              </a:tabLst>
            </a:pPr>
            <a:r>
              <a:rPr lang="pl-PL" sz="2000" b="0" u="none" strike="noStrike" dirty="0" err="1">
                <a:solidFill>
                  <a:srgbClr val="000000"/>
                </a:solidFill>
                <a:effectLst/>
                <a:uFillTx/>
                <a:latin typeface="Arial"/>
              </a:rPr>
              <a:t>Explainable</a:t>
            </a:r>
            <a:r>
              <a:rPr lang="pl-PL" sz="2000" b="0" u="none" strike="noStrike" dirty="0">
                <a:solidFill>
                  <a:srgbClr val="000000"/>
                </a:solidFill>
                <a:effectLst/>
                <a:uFillTx/>
                <a:latin typeface="Arial"/>
              </a:rPr>
              <a:t> AI zyskuje na znaczeniu nie tylko technicznym, ale etycznym. Wyobraźmy sobie model predykcji ryzyka kryzysu z danych EMA - musimy wiedzieć, które sygnały go uruchamiają. SHAP oblicza dla każdej obserwacji udział każdej cechy w predykcji modelu. LIME działa lokalnie - konstruuje prosty model liniowy jako przybliżenie złożonego modelu. Analiza błędów jest równie ważna jak analiza trafności: sprawdzamy, dla których grup model popełnia więcej błędów.</a:t>
            </a:r>
          </a:p>
        </p:txBody>
      </p:sp>
      <p:sp>
        <p:nvSpPr>
          <p:cNvPr id="1668" name="PlaceHolder 3"/>
          <p:cNvSpPr>
            <a:spLocks noGrp="1"/>
          </p:cNvSpPr>
          <p:nvPr>
            <p:ph type="sldNum" idx="63"/>
          </p:nvPr>
        </p:nvSpPr>
        <p:spPr>
          <a:xfrm>
            <a:off x="360" y="0"/>
            <a:ext cx="248552280" cy="360"/>
          </a:xfrm>
          <a:prstGeom prst="rect">
            <a:avLst/>
          </a:prstGeom>
          <a:noFill/>
          <a:ln w="0">
            <a:noFill/>
          </a:ln>
        </p:spPr>
        <p:txBody>
          <a:bodyPr lIns="90000" tIns="-44640" rIns="90000" bIns="-44640" anchor="t">
            <a:noAutofit/>
          </a:bodyPr>
          <a:lstStyle>
            <a:lvl1pPr indent="0" algn="r" defTabSz="914400">
              <a:lnSpc>
                <a:spcPct val="100000"/>
              </a:lnSpc>
              <a:buNone/>
              <a:tabLst>
                <a:tab pos="0" algn="l"/>
              </a:tabLst>
              <a:defRPr lang="pl-PL" sz="1800" b="0" u="none" strike="noStrike">
                <a:solidFill>
                  <a:schemeClr val="dk1"/>
                </a:solidFill>
                <a:effectLst/>
                <a:uFillTx/>
                <a:latin typeface="+mn-lt"/>
                <a:ea typeface="+mn-ea"/>
              </a:defRPr>
            </a:lvl1pPr>
          </a:lstStyle>
          <a:p>
            <a:pPr indent="0" algn="r" defTabSz="914400">
              <a:lnSpc>
                <a:spcPct val="100000"/>
              </a:lnSpc>
              <a:buNone/>
              <a:tabLst>
                <a:tab pos="0" algn="l"/>
              </a:tabLst>
            </a:pPr>
            <a:fld id="{FF4553F2-5985-471E-BBE2-9A1AF9436914}" type="slidenum">
              <a:rPr lang="pl-PL" sz="1800" b="0" u="none" strike="noStrike">
                <a:solidFill>
                  <a:schemeClr val="dk1"/>
                </a:solidFill>
                <a:effectLst/>
                <a:uFillTx/>
                <a:latin typeface="+mn-lt"/>
                <a:ea typeface="+mn-ea"/>
              </a:rPr>
              <a:t>47</a:t>
            </a:fld>
            <a:endParaRPr lang="pl-PL" sz="1800" b="0" u="none" strike="noStrike">
              <a:solidFill>
                <a:srgbClr val="000000"/>
              </a:solidFill>
              <a:effectLst/>
              <a:uFillTx/>
              <a:latin typeface="Times New Roman"/>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 name="PlaceHolder 1"/>
          <p:cNvSpPr>
            <a:spLocks noGrp="1" noRot="1" noChangeAspect="1"/>
          </p:cNvSpPr>
          <p:nvPr>
            <p:ph type="sldImg"/>
          </p:nvPr>
        </p:nvSpPr>
        <p:spPr>
          <a:xfrm>
            <a:off x="0" y="0"/>
            <a:ext cx="0" cy="0"/>
          </a:xfrm>
          <a:prstGeom prst="rect">
            <a:avLst/>
          </a:prstGeom>
          <a:ln w="0">
            <a:noFill/>
          </a:ln>
        </p:spPr>
      </p:sp>
      <p:sp>
        <p:nvSpPr>
          <p:cNvPr id="1670" name="PlaceHolder 2"/>
          <p:cNvSpPr>
            <a:spLocks noGrp="1"/>
          </p:cNvSpPr>
          <p:nvPr>
            <p:ph type="body"/>
          </p:nvPr>
        </p:nvSpPr>
        <p:spPr>
          <a:xfrm>
            <a:off x="0" y="0"/>
            <a:ext cx="248559120" cy="360"/>
          </a:xfrm>
          <a:prstGeom prst="rect">
            <a:avLst/>
          </a:prstGeom>
          <a:noFill/>
          <a:ln w="0">
            <a:noFill/>
          </a:ln>
        </p:spPr>
        <p:txBody>
          <a:bodyPr lIns="90000" tIns="-44640" rIns="90000" bIns="-44640" anchor="t">
            <a:noAutofit/>
          </a:bodyPr>
          <a:lstStyle/>
          <a:p>
            <a:pPr indent="0">
              <a:lnSpc>
                <a:spcPct val="100000"/>
              </a:lnSpc>
              <a:buNone/>
              <a:tabLst>
                <a:tab pos="0" algn="l"/>
              </a:tabLst>
            </a:pPr>
            <a:r>
              <a:rPr lang="pl-PL" sz="2000" b="0" u="none" strike="noStrike" dirty="0">
                <a:solidFill>
                  <a:srgbClr val="000000"/>
                </a:solidFill>
                <a:effectLst/>
                <a:uFillTx/>
                <a:latin typeface="Arial"/>
              </a:rPr>
              <a:t>Badanie jest </a:t>
            </a:r>
            <a:r>
              <a:rPr lang="pl-PL" sz="2000" b="0" u="none" strike="noStrike" dirty="0" err="1">
                <a:solidFill>
                  <a:srgbClr val="000000"/>
                </a:solidFill>
                <a:effectLst/>
                <a:uFillTx/>
                <a:latin typeface="Arial"/>
              </a:rPr>
              <a:t>replikowalne</a:t>
            </a:r>
            <a:r>
              <a:rPr lang="pl-PL" sz="2000" b="0" u="none" strike="noStrike" dirty="0">
                <a:solidFill>
                  <a:srgbClr val="000000"/>
                </a:solidFill>
                <a:effectLst/>
                <a:uFillTx/>
                <a:latin typeface="Arial"/>
              </a:rPr>
              <a:t> obliczeniowo, jeśli osoba, która nie brała udziału w jego tworzeniu, jest w stanie uruchomić kod na oryginalnych danych i uzyskać dokładnie te same wyniki. Pierwszym problemem jest losowość - ustawienie </a:t>
            </a:r>
            <a:r>
              <a:rPr lang="pl-PL" sz="2000" b="0" u="none" strike="noStrike" dirty="0" err="1">
                <a:solidFill>
                  <a:srgbClr val="000000"/>
                </a:solidFill>
                <a:effectLst/>
                <a:uFillTx/>
                <a:latin typeface="Arial"/>
              </a:rPr>
              <a:t>seed</a:t>
            </a:r>
            <a:r>
              <a:rPr lang="pl-PL" sz="2000" b="0" u="none" strike="noStrike" dirty="0">
                <a:solidFill>
                  <a:srgbClr val="000000"/>
                </a:solidFill>
                <a:effectLst/>
                <a:uFillTx/>
                <a:latin typeface="Arial"/>
              </a:rPr>
              <a:t> kosztuje sekundę. Drugim są wersje bibliotek. Git pozwala oznaczyć wersję kodu użytą przy submisji artykułu. Kontenery Docker zamrażają cały ekosystem w jednym pliku, który można uruchomić na dowolnej maszynie.</a:t>
            </a:r>
          </a:p>
        </p:txBody>
      </p:sp>
      <p:sp>
        <p:nvSpPr>
          <p:cNvPr id="1671" name="PlaceHolder 3"/>
          <p:cNvSpPr>
            <a:spLocks noGrp="1"/>
          </p:cNvSpPr>
          <p:nvPr>
            <p:ph type="sldNum" idx="64"/>
          </p:nvPr>
        </p:nvSpPr>
        <p:spPr>
          <a:xfrm>
            <a:off x="360" y="0"/>
            <a:ext cx="248555880" cy="360"/>
          </a:xfrm>
          <a:prstGeom prst="rect">
            <a:avLst/>
          </a:prstGeom>
          <a:noFill/>
          <a:ln w="0">
            <a:noFill/>
          </a:ln>
        </p:spPr>
        <p:txBody>
          <a:bodyPr lIns="90000" tIns="-44640" rIns="90000" bIns="-44640" anchor="t">
            <a:noAutofit/>
          </a:bodyPr>
          <a:lstStyle>
            <a:lvl1pPr indent="0" algn="r" defTabSz="914400">
              <a:lnSpc>
                <a:spcPct val="100000"/>
              </a:lnSpc>
              <a:buNone/>
              <a:tabLst>
                <a:tab pos="0" algn="l"/>
              </a:tabLst>
              <a:defRPr lang="pl-PL" sz="1800" b="0" u="none" strike="noStrike">
                <a:solidFill>
                  <a:schemeClr val="dk1"/>
                </a:solidFill>
                <a:effectLst/>
                <a:uFillTx/>
                <a:latin typeface="+mn-lt"/>
                <a:ea typeface="+mn-ea"/>
              </a:defRPr>
            </a:lvl1pPr>
          </a:lstStyle>
          <a:p>
            <a:pPr indent="0" algn="r" defTabSz="914400">
              <a:lnSpc>
                <a:spcPct val="100000"/>
              </a:lnSpc>
              <a:buNone/>
              <a:tabLst>
                <a:tab pos="0" algn="l"/>
              </a:tabLst>
            </a:pPr>
            <a:fld id="{77C3AF9C-F934-429E-B81C-C4149DE8F224}" type="slidenum">
              <a:rPr lang="pl-PL" sz="1800" b="0" u="none" strike="noStrike">
                <a:solidFill>
                  <a:schemeClr val="dk1"/>
                </a:solidFill>
                <a:effectLst/>
                <a:uFillTx/>
                <a:latin typeface="+mn-lt"/>
                <a:ea typeface="+mn-ea"/>
              </a:rPr>
              <a:t>48</a:t>
            </a:fld>
            <a:endParaRPr lang="pl-PL" sz="1800" b="0" u="none" strike="noStrike">
              <a:solidFill>
                <a:srgbClr val="000000"/>
              </a:solidFill>
              <a:effectLst/>
              <a:uFillTx/>
              <a:latin typeface="Times New Roman"/>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2" name="PlaceHolder 1"/>
          <p:cNvSpPr>
            <a:spLocks noGrp="1" noRot="1" noChangeAspect="1"/>
          </p:cNvSpPr>
          <p:nvPr>
            <p:ph type="sldImg"/>
          </p:nvPr>
        </p:nvSpPr>
        <p:spPr>
          <a:xfrm>
            <a:off x="0" y="0"/>
            <a:ext cx="0" cy="0"/>
          </a:xfrm>
          <a:prstGeom prst="rect">
            <a:avLst/>
          </a:prstGeom>
          <a:ln w="0">
            <a:noFill/>
          </a:ln>
        </p:spPr>
      </p:sp>
      <p:sp>
        <p:nvSpPr>
          <p:cNvPr id="1673" name="PlaceHolder 2"/>
          <p:cNvSpPr>
            <a:spLocks noGrp="1"/>
          </p:cNvSpPr>
          <p:nvPr>
            <p:ph type="body"/>
          </p:nvPr>
        </p:nvSpPr>
        <p:spPr>
          <a:xfrm>
            <a:off x="0" y="0"/>
            <a:ext cx="248559120" cy="360"/>
          </a:xfrm>
          <a:prstGeom prst="rect">
            <a:avLst/>
          </a:prstGeom>
          <a:noFill/>
          <a:ln w="0">
            <a:noFill/>
          </a:ln>
        </p:spPr>
        <p:txBody>
          <a:bodyPr lIns="90000" tIns="-44640" rIns="90000" bIns="-44640" anchor="t">
            <a:noAutofit/>
          </a:bodyPr>
          <a:lstStyle/>
          <a:p>
            <a:pPr indent="0">
              <a:lnSpc>
                <a:spcPct val="100000"/>
              </a:lnSpc>
              <a:buNone/>
              <a:tabLst>
                <a:tab pos="0" algn="l"/>
              </a:tabLst>
            </a:pPr>
            <a:r>
              <a:rPr lang="pl-PL" sz="2000" b="0" u="none" strike="noStrike" dirty="0">
                <a:solidFill>
                  <a:srgbClr val="000000"/>
                </a:solidFill>
                <a:effectLst/>
                <a:uFillTx/>
                <a:latin typeface="Arial"/>
              </a:rPr>
              <a:t>Coraz więcej czasopism psychologicznych wymaga lub silnie zachęca do udostępniania danych i kodu. </a:t>
            </a:r>
            <a:r>
              <a:rPr lang="pl-PL" sz="2000" b="0" u="none" strike="noStrike" dirty="0" err="1">
                <a:solidFill>
                  <a:srgbClr val="000000"/>
                </a:solidFill>
                <a:effectLst/>
                <a:uFillTx/>
                <a:latin typeface="Arial"/>
              </a:rPr>
              <a:t>Zenodo</a:t>
            </a:r>
            <a:r>
              <a:rPr lang="pl-PL" sz="2000" b="0" u="none" strike="noStrike" dirty="0">
                <a:solidFill>
                  <a:srgbClr val="000000"/>
                </a:solidFill>
                <a:effectLst/>
                <a:uFillTx/>
                <a:latin typeface="Arial"/>
              </a:rPr>
              <a:t> i OSF to dwa główne repozytoria dla nauk społecznych. </a:t>
            </a:r>
            <a:r>
              <a:rPr lang="pl-PL" sz="2000" b="0" u="none" strike="noStrike" dirty="0" err="1">
                <a:solidFill>
                  <a:srgbClr val="000000"/>
                </a:solidFill>
                <a:effectLst/>
                <a:uFillTx/>
                <a:latin typeface="Arial"/>
              </a:rPr>
              <a:t>Zenodo</a:t>
            </a:r>
            <a:r>
              <a:rPr lang="pl-PL" sz="2000" b="0" u="none" strike="noStrike" dirty="0">
                <a:solidFill>
                  <a:srgbClr val="000000"/>
                </a:solidFill>
                <a:effectLst/>
                <a:uFillTx/>
                <a:latin typeface="Arial"/>
              </a:rPr>
              <a:t> przydziela każdemu archiwizowanemu elementowi DOI - trwały identyfikator </a:t>
            </a:r>
            <a:r>
              <a:rPr lang="pl-PL" sz="2000" b="0" u="none" strike="noStrike" dirty="0" err="1">
                <a:solidFill>
                  <a:srgbClr val="000000"/>
                </a:solidFill>
                <a:effectLst/>
                <a:uFillTx/>
                <a:latin typeface="Arial"/>
              </a:rPr>
              <a:t>cytowalny</a:t>
            </a:r>
            <a:r>
              <a:rPr lang="pl-PL" sz="2000" b="0" u="none" strike="noStrike" dirty="0">
                <a:solidFill>
                  <a:srgbClr val="000000"/>
                </a:solidFill>
                <a:effectLst/>
                <a:uFillTx/>
                <a:latin typeface="Arial"/>
              </a:rPr>
              <a:t> jak artykuł. GitHub to najlepsze miejsce na kod. Kluczową częścią pakietu </a:t>
            </a:r>
            <a:r>
              <a:rPr lang="pl-PL" sz="2000" b="0" u="none" strike="noStrike" dirty="0" err="1">
                <a:solidFill>
                  <a:srgbClr val="000000"/>
                </a:solidFill>
                <a:effectLst/>
                <a:uFillTx/>
                <a:latin typeface="Arial"/>
              </a:rPr>
              <a:t>replikacyjnego</a:t>
            </a:r>
            <a:r>
              <a:rPr lang="pl-PL" sz="2000" b="0" u="none" strike="noStrike" dirty="0">
                <a:solidFill>
                  <a:srgbClr val="000000"/>
                </a:solidFill>
                <a:effectLst/>
                <a:uFillTx/>
                <a:latin typeface="Arial"/>
              </a:rPr>
              <a:t> jest README - dokument wyjaśniający strukturę projektu i kolejność uruchamiania skryptów.</a:t>
            </a:r>
          </a:p>
        </p:txBody>
      </p:sp>
      <p:sp>
        <p:nvSpPr>
          <p:cNvPr id="1674" name="PlaceHolder 3"/>
          <p:cNvSpPr>
            <a:spLocks noGrp="1"/>
          </p:cNvSpPr>
          <p:nvPr>
            <p:ph type="sldNum" idx="65"/>
          </p:nvPr>
        </p:nvSpPr>
        <p:spPr>
          <a:xfrm>
            <a:off x="360" y="0"/>
            <a:ext cx="248555880" cy="360"/>
          </a:xfrm>
          <a:prstGeom prst="rect">
            <a:avLst/>
          </a:prstGeom>
          <a:noFill/>
          <a:ln w="0">
            <a:noFill/>
          </a:ln>
        </p:spPr>
        <p:txBody>
          <a:bodyPr lIns="90000" tIns="-44640" rIns="90000" bIns="-44640" anchor="t">
            <a:noAutofit/>
          </a:bodyPr>
          <a:lstStyle>
            <a:lvl1pPr indent="0" algn="r" defTabSz="914400">
              <a:lnSpc>
                <a:spcPct val="100000"/>
              </a:lnSpc>
              <a:buNone/>
              <a:tabLst>
                <a:tab pos="0" algn="l"/>
              </a:tabLst>
              <a:defRPr lang="pl-PL" sz="1800" b="0" u="none" strike="noStrike">
                <a:solidFill>
                  <a:schemeClr val="dk1"/>
                </a:solidFill>
                <a:effectLst/>
                <a:uFillTx/>
                <a:latin typeface="+mn-lt"/>
                <a:ea typeface="+mn-ea"/>
              </a:defRPr>
            </a:lvl1pPr>
          </a:lstStyle>
          <a:p>
            <a:pPr indent="0" algn="r" defTabSz="914400">
              <a:lnSpc>
                <a:spcPct val="100000"/>
              </a:lnSpc>
              <a:buNone/>
              <a:tabLst>
                <a:tab pos="0" algn="l"/>
              </a:tabLst>
            </a:pPr>
            <a:fld id="{C24909DC-EB85-43B8-9FBC-753C9074E95F}" type="slidenum">
              <a:rPr lang="pl-PL" sz="1800" b="0" u="none" strike="noStrike">
                <a:solidFill>
                  <a:schemeClr val="dk1"/>
                </a:solidFill>
                <a:effectLst/>
                <a:uFillTx/>
                <a:latin typeface="+mn-lt"/>
                <a:ea typeface="+mn-ea"/>
              </a:rPr>
              <a:t>49</a:t>
            </a:fld>
            <a:endParaRPr lang="pl-PL" sz="1800" b="0" u="none" strike="noStrike">
              <a:solidFill>
                <a:srgbClr val="000000"/>
              </a:solidFill>
              <a:effectLst/>
              <a:uFillTx/>
              <a:latin typeface="Times New Roman"/>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5" name="PlaceHolder 1"/>
          <p:cNvSpPr>
            <a:spLocks noGrp="1" noRot="1" noChangeAspect="1"/>
          </p:cNvSpPr>
          <p:nvPr>
            <p:ph type="sldImg"/>
          </p:nvPr>
        </p:nvSpPr>
        <p:spPr>
          <a:xfrm>
            <a:off x="0" y="0"/>
            <a:ext cx="0" cy="0"/>
          </a:xfrm>
          <a:prstGeom prst="rect">
            <a:avLst/>
          </a:prstGeom>
          <a:ln w="0">
            <a:noFill/>
          </a:ln>
        </p:spPr>
      </p:sp>
      <p:sp>
        <p:nvSpPr>
          <p:cNvPr id="1676" name="PlaceHolder 2"/>
          <p:cNvSpPr>
            <a:spLocks noGrp="1"/>
          </p:cNvSpPr>
          <p:nvPr>
            <p:ph type="body"/>
          </p:nvPr>
        </p:nvSpPr>
        <p:spPr>
          <a:xfrm>
            <a:off x="0" y="0"/>
            <a:ext cx="248559120" cy="360"/>
          </a:xfrm>
          <a:prstGeom prst="rect">
            <a:avLst/>
          </a:prstGeom>
          <a:noFill/>
          <a:ln w="0">
            <a:noFill/>
          </a:ln>
        </p:spPr>
        <p:txBody>
          <a:bodyPr lIns="90000" tIns="-44640" rIns="90000" bIns="-44640" anchor="t">
            <a:noAutofit/>
          </a:bodyPr>
          <a:lstStyle/>
          <a:p>
            <a:pPr indent="0">
              <a:lnSpc>
                <a:spcPct val="100000"/>
              </a:lnSpc>
              <a:buNone/>
              <a:tabLst>
                <a:tab pos="0" algn="l"/>
              </a:tabLst>
            </a:pPr>
            <a:r>
              <a:rPr lang="pl-PL" sz="2000" b="0" u="none" strike="noStrike" dirty="0">
                <a:solidFill>
                  <a:srgbClr val="000000"/>
                </a:solidFill>
                <a:effectLst/>
                <a:uFillTx/>
                <a:latin typeface="Arial"/>
              </a:rPr>
              <a:t>Technologia nie znosi odpowiedzialności etycznej - często ją komplikuje. Badania z użyciem urządzeń mobilnych, </a:t>
            </a:r>
            <a:r>
              <a:rPr lang="pl-PL" sz="2000" b="0" u="none" strike="noStrike" dirty="0" err="1">
                <a:solidFill>
                  <a:srgbClr val="000000"/>
                </a:solidFill>
                <a:effectLst/>
                <a:uFillTx/>
                <a:latin typeface="Arial"/>
              </a:rPr>
              <a:t>wearables</a:t>
            </a:r>
            <a:r>
              <a:rPr lang="pl-PL" sz="2000" b="0" u="none" strike="noStrike" dirty="0">
                <a:solidFill>
                  <a:srgbClr val="000000"/>
                </a:solidFill>
                <a:effectLst/>
                <a:uFillTx/>
                <a:latin typeface="Arial"/>
              </a:rPr>
              <a:t>, kamer lub nagrań głosowych zbierają dane, które mogą być znacznie bardziej inwazyjne niż klasyczny kwestionariusz. Anonimizacja nie jest gwarancją prywatności - cechy głosu i chód są biometrycznie identyfikowalne nawet po usunięciu imienia. </a:t>
            </a:r>
            <a:r>
              <a:rPr lang="pl-PL" sz="2000" b="0" u="none" strike="noStrike" dirty="0" err="1">
                <a:solidFill>
                  <a:srgbClr val="000000"/>
                </a:solidFill>
                <a:effectLst/>
                <a:uFillTx/>
                <a:latin typeface="Arial"/>
              </a:rPr>
              <a:t>Bias</a:t>
            </a:r>
            <a:r>
              <a:rPr lang="pl-PL" sz="2000" b="0" u="none" strike="noStrike" dirty="0">
                <a:solidFill>
                  <a:srgbClr val="000000"/>
                </a:solidFill>
                <a:effectLst/>
                <a:uFillTx/>
                <a:latin typeface="Arial"/>
              </a:rPr>
              <a:t> algorytmiczny jest problemem etycznym, nie tylko technicznym. Komisja etyczna powinna </a:t>
            </a:r>
            <a:r>
              <a:rPr lang="pl-PL" sz="2000" b="0" u="none" strike="noStrike" dirty="0" err="1">
                <a:solidFill>
                  <a:srgbClr val="000000"/>
                </a:solidFill>
                <a:effectLst/>
                <a:uFillTx/>
                <a:latin typeface="Arial"/>
              </a:rPr>
              <a:t>oceniac</a:t>
            </a:r>
            <a:r>
              <a:rPr lang="pl-PL" sz="2000" b="0" u="none" strike="noStrike" dirty="0">
                <a:solidFill>
                  <a:srgbClr val="000000"/>
                </a:solidFill>
                <a:effectLst/>
                <a:uFillTx/>
                <a:latin typeface="Arial"/>
              </a:rPr>
              <a:t> protokół przed badaniem - jest mechanizmem ochrony uczestnika i badacza.</a:t>
            </a:r>
          </a:p>
        </p:txBody>
      </p:sp>
      <p:sp>
        <p:nvSpPr>
          <p:cNvPr id="1677" name="PlaceHolder 3"/>
          <p:cNvSpPr>
            <a:spLocks noGrp="1"/>
          </p:cNvSpPr>
          <p:nvPr>
            <p:ph type="sldNum" idx="66"/>
          </p:nvPr>
        </p:nvSpPr>
        <p:spPr>
          <a:xfrm>
            <a:off x="360" y="0"/>
            <a:ext cx="248555880" cy="360"/>
          </a:xfrm>
          <a:prstGeom prst="rect">
            <a:avLst/>
          </a:prstGeom>
          <a:noFill/>
          <a:ln w="0">
            <a:noFill/>
          </a:ln>
        </p:spPr>
        <p:txBody>
          <a:bodyPr lIns="90000" tIns="-44640" rIns="90000" bIns="-44640" anchor="t">
            <a:noAutofit/>
          </a:bodyPr>
          <a:lstStyle>
            <a:lvl1pPr indent="0" algn="r" defTabSz="914400">
              <a:lnSpc>
                <a:spcPct val="100000"/>
              </a:lnSpc>
              <a:buNone/>
              <a:tabLst>
                <a:tab pos="0" algn="l"/>
              </a:tabLst>
              <a:defRPr lang="pl-PL" sz="1800" b="0" u="none" strike="noStrike">
                <a:solidFill>
                  <a:schemeClr val="dk1"/>
                </a:solidFill>
                <a:effectLst/>
                <a:uFillTx/>
                <a:latin typeface="+mn-lt"/>
                <a:ea typeface="+mn-ea"/>
              </a:defRPr>
            </a:lvl1pPr>
          </a:lstStyle>
          <a:p>
            <a:pPr indent="0" algn="r" defTabSz="914400">
              <a:lnSpc>
                <a:spcPct val="100000"/>
              </a:lnSpc>
              <a:buNone/>
              <a:tabLst>
                <a:tab pos="0" algn="l"/>
              </a:tabLst>
            </a:pPr>
            <a:fld id="{1BB5AED2-299C-40D1-82CE-1BF119615424}" type="slidenum">
              <a:rPr lang="pl-PL" sz="1800" b="0" u="none" strike="noStrike">
                <a:solidFill>
                  <a:schemeClr val="dk1"/>
                </a:solidFill>
                <a:effectLst/>
                <a:uFillTx/>
                <a:latin typeface="+mn-lt"/>
                <a:ea typeface="+mn-ea"/>
              </a:rPr>
              <a:t>50</a:t>
            </a:fld>
            <a:endParaRPr lang="pl-PL" sz="1800" b="0" u="none" strike="noStrike">
              <a:solidFill>
                <a:srgbClr val="000000"/>
              </a:solidFill>
              <a:effectLst/>
              <a:uFillTx/>
              <a:latin typeface="Times New Roman"/>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8" name="PlaceHolder 1"/>
          <p:cNvSpPr>
            <a:spLocks noGrp="1" noRot="1" noChangeAspect="1"/>
          </p:cNvSpPr>
          <p:nvPr>
            <p:ph type="sldImg"/>
          </p:nvPr>
        </p:nvSpPr>
        <p:spPr>
          <a:xfrm>
            <a:off x="1831975" y="1336675"/>
            <a:ext cx="6415088" cy="3608388"/>
          </a:xfrm>
          <a:prstGeom prst="rect">
            <a:avLst/>
          </a:prstGeom>
          <a:ln w="0">
            <a:noFill/>
          </a:ln>
        </p:spPr>
      </p:sp>
      <p:sp>
        <p:nvSpPr>
          <p:cNvPr id="1679" name="PlaceHolder 2"/>
          <p:cNvSpPr>
            <a:spLocks noGrp="1"/>
          </p:cNvSpPr>
          <p:nvPr>
            <p:ph type="body"/>
          </p:nvPr>
        </p:nvSpPr>
        <p:spPr>
          <a:xfrm>
            <a:off x="1007640" y="5145120"/>
            <a:ext cx="8062920" cy="420948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a:rPr>
              <a:t>Chcę zakończyć nie syntezą, lecz listą działań. Każdy z tych dziesięciu punktów to konkretna decyzja, którą można podjąć w najbliższych dniach, niezależnie od etapu kariery naukowej i zasobów technologicznych. Prerejestracja kosztuje godzinę pracy i jest bezpłatna. Żaden z tych kroków nie wymaga drogiego sprzętu ani specjalistycznej wiedzy obliczeniowej. Wymagają jednej rzeczy: przekonania, że rygor metodologiczny jest częścią pracy naukowej, a nie dodatkiem do niej. Dziękuję za uwagę i zapraszam do pytań.</a:t>
            </a:r>
            <a:endParaRPr lang="pl-PL" sz="2000" b="0" u="none" strike="noStrike">
              <a:solidFill>
                <a:srgbClr val="000000"/>
              </a:solidFill>
              <a:effectLst/>
              <a:uFillTx/>
              <a:latin typeface="Arial"/>
            </a:endParaRPr>
          </a:p>
        </p:txBody>
      </p:sp>
      <p:sp>
        <p:nvSpPr>
          <p:cNvPr id="1680" name="PlaceHolder 3"/>
          <p:cNvSpPr>
            <a:spLocks noGrp="1"/>
          </p:cNvSpPr>
          <p:nvPr>
            <p:ph type="sldNum" idx="67"/>
          </p:nvPr>
        </p:nvSpPr>
        <p:spPr>
          <a:xfrm>
            <a:off x="5709240" y="10155240"/>
            <a:ext cx="4367160" cy="5356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5A2E84F-15CE-466F-B7BC-EDCDDCD1F161}" type="slidenum">
              <a:rPr lang="en-US" sz="1200" b="0" u="none" strike="noStrike">
                <a:solidFill>
                  <a:schemeClr val="dk1"/>
                </a:solidFill>
                <a:effectLst/>
                <a:uFillTx/>
                <a:latin typeface="+mn-lt"/>
                <a:ea typeface="+mn-ea"/>
              </a:rPr>
              <a:t>51</a:t>
            </a:fld>
            <a:endParaRPr lang="pl-PL"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Only" preserve="1">
  <p:cSld name="Vivid">
    <p:spTree>
      <p:nvGrpSpPr>
        <p:cNvPr id="1" name=""/>
        <p:cNvGrpSpPr/>
        <p:nvPr/>
      </p:nvGrpSpPr>
      <p:grpSpPr>
        <a:xfrm>
          <a:off x="0" y="0"/>
          <a:ext cx="0" cy="0"/>
          <a:chOff x="0" y="0"/>
          <a:chExt cx="0" cy="0"/>
        </a:xfrm>
      </p:grpSpPr>
      <p:sp>
        <p:nvSpPr>
          <p:cNvPr id="2" name="Prostokąt 1"/>
          <p:cNvSpPr/>
          <p:nvPr/>
        </p:nvSpPr>
        <p:spPr>
          <a:xfrm>
            <a:off x="0" y="3780000"/>
            <a:ext cx="10078920" cy="1888920"/>
          </a:xfrm>
          <a:prstGeom prst="rect">
            <a:avLst/>
          </a:prstGeom>
          <a:pattFill prst="lgGrid">
            <a:fgClr>
              <a:srgbClr val="3465A4"/>
            </a:fgClr>
            <a:bgClr>
              <a:srgbClr val="009EDA"/>
            </a:bgClr>
          </a:pattFill>
          <a:ln w="18000">
            <a:noFill/>
          </a:ln>
          <a:effectLst>
            <a:outerShdw dist="25200" dir="16200000" rotWithShape="0">
              <a:srgbClr val="F49100"/>
            </a:outerShdw>
          </a:effectLst>
        </p:spPr>
        <p:style>
          <a:lnRef idx="0">
            <a:scrgbClr r="0" g="0" b="0"/>
          </a:lnRef>
          <a:fillRef idx="0">
            <a:scrgbClr r="0" g="0" b="0"/>
          </a:fillRef>
          <a:effectRef idx="0">
            <a:scrgbClr r="0" g="0" b="0"/>
          </a:effectRef>
          <a:fontRef idx="minor"/>
        </p:style>
        <p:txBody>
          <a:bodyPr wrap="none" lIns="36000" tIns="36000" rIns="36000" bIns="36000" anchor="ctr">
            <a:noAutofit/>
          </a:bodyPr>
          <a:lstStyle/>
          <a:p>
            <a:pPr>
              <a:lnSpc>
                <a:spcPct val="100000"/>
              </a:lnSpc>
              <a:tabLst>
                <a:tab pos="408240" algn="l"/>
              </a:tabLst>
            </a:pPr>
            <a:endParaRPr lang="pl-PL" sz="2200" b="0" u="none" strike="noStrike">
              <a:solidFill>
                <a:srgbClr val="FFFFFF"/>
              </a:solidFill>
              <a:effectLst/>
              <a:uFillTx/>
              <a:latin typeface="Noto Sans"/>
              <a:ea typeface="DejaVu Sans"/>
            </a:endParaRPr>
          </a:p>
        </p:txBody>
      </p:sp>
      <p:sp>
        <p:nvSpPr>
          <p:cNvPr id="3" name="PlaceHolder 1"/>
          <p:cNvSpPr>
            <a:spLocks noGrp="1"/>
          </p:cNvSpPr>
          <p:nvPr>
            <p:ph type="dt" idx="1"/>
          </p:nvPr>
        </p:nvSpPr>
        <p:spPr>
          <a:xfrm>
            <a:off x="504000" y="5130000"/>
            <a:ext cx="2338920" cy="242640"/>
          </a:xfrm>
          <a:prstGeom prst="rect">
            <a:avLst/>
          </a:prstGeom>
          <a:noFill/>
          <a:ln w="0">
            <a:noFill/>
          </a:ln>
        </p:spPr>
        <p:txBody>
          <a:bodyPr lIns="0" tIns="0" rIns="0" bIns="0" anchor="t">
            <a:spAutoFit/>
          </a:bodyPr>
          <a:lstStyle>
            <a:lvl1pPr indent="0">
              <a:lnSpc>
                <a:spcPct val="100000"/>
              </a:lnSpc>
              <a:buNone/>
              <a:tabLst>
                <a:tab pos="0" algn="l"/>
              </a:tabLst>
              <a:defRPr lang="pl-PL" sz="1400" b="0" u="none" strike="noStrike">
                <a:solidFill>
                  <a:srgbClr val="DBF5F9"/>
                </a:solidFill>
                <a:effectLst/>
                <a:uFillTx/>
                <a:latin typeface="Noto Sans"/>
              </a:defRPr>
            </a:lvl1pPr>
          </a:lstStyle>
          <a:p>
            <a:pPr indent="0">
              <a:lnSpc>
                <a:spcPct val="100000"/>
              </a:lnSpc>
              <a:buNone/>
              <a:tabLst>
                <a:tab pos="0" algn="l"/>
              </a:tabLst>
            </a:pPr>
            <a:r>
              <a:rPr lang="pl-PL" sz="1400" b="0" u="none" strike="noStrike">
                <a:solidFill>
                  <a:srgbClr val="DBF5F9"/>
                </a:solidFill>
                <a:effectLst/>
                <a:uFillTx/>
                <a:latin typeface="Noto Sans"/>
              </a:rPr>
              <a:t>&lt;data/godzina&gt;</a:t>
            </a:r>
            <a:endParaRPr lang="pl-PL" sz="1400" b="0" u="none" strike="noStrike">
              <a:solidFill>
                <a:srgbClr val="000000"/>
              </a:solidFill>
              <a:effectLst/>
              <a:uFillTx/>
              <a:latin typeface="Times New Roman"/>
            </a:endParaRPr>
          </a:p>
        </p:txBody>
      </p:sp>
      <p:sp>
        <p:nvSpPr>
          <p:cNvPr id="4" name="PlaceHolder 2"/>
          <p:cNvSpPr>
            <a:spLocks noGrp="1"/>
          </p:cNvSpPr>
          <p:nvPr>
            <p:ph type="ftr" idx="2"/>
          </p:nvPr>
        </p:nvSpPr>
        <p:spPr>
          <a:xfrm>
            <a:off x="3420000" y="5130000"/>
            <a:ext cx="3238920" cy="242640"/>
          </a:xfrm>
          <a:prstGeom prst="rect">
            <a:avLst/>
          </a:prstGeom>
          <a:noFill/>
          <a:ln w="0">
            <a:noFill/>
          </a:ln>
        </p:spPr>
        <p:txBody>
          <a:bodyPr lIns="0" tIns="0" rIns="0" bIns="0" anchor="t">
            <a:spAutoFit/>
          </a:bodyPr>
          <a:lstStyle>
            <a:lvl1pPr indent="0" algn="ctr">
              <a:lnSpc>
                <a:spcPct val="100000"/>
              </a:lnSpc>
              <a:buNone/>
              <a:tabLst>
                <a:tab pos="0" algn="l"/>
              </a:tabLst>
              <a:defRPr lang="pl-PL" sz="1400" b="0" u="none" strike="noStrike">
                <a:solidFill>
                  <a:srgbClr val="DBF5F9"/>
                </a:solidFill>
                <a:effectLst/>
                <a:uFillTx/>
                <a:latin typeface="Noto Sans"/>
              </a:defRPr>
            </a:lvl1pPr>
          </a:lstStyle>
          <a:p>
            <a:pPr indent="0" algn="ctr">
              <a:lnSpc>
                <a:spcPct val="100000"/>
              </a:lnSpc>
              <a:buNone/>
              <a:tabLst>
                <a:tab pos="0" algn="l"/>
              </a:tabLst>
            </a:pPr>
            <a:r>
              <a:rPr lang="pl-PL" sz="1400" b="0" u="none" strike="noStrike">
                <a:solidFill>
                  <a:srgbClr val="DBF5F9"/>
                </a:solidFill>
                <a:effectLst/>
                <a:uFillTx/>
                <a:latin typeface="Noto Sans"/>
              </a:rPr>
              <a:t>&lt;stopka&gt;</a:t>
            </a:r>
            <a:endParaRPr lang="pl-PL" sz="1400" b="0" u="none" strike="noStrike">
              <a:solidFill>
                <a:srgbClr val="000000"/>
              </a:solidFill>
              <a:effectLst/>
              <a:uFillTx/>
              <a:latin typeface="Times New Roman"/>
            </a:endParaRPr>
          </a:p>
        </p:txBody>
      </p:sp>
      <p:sp>
        <p:nvSpPr>
          <p:cNvPr id="5" name="PlaceHolder 3"/>
          <p:cNvSpPr>
            <a:spLocks noGrp="1"/>
          </p:cNvSpPr>
          <p:nvPr>
            <p:ph type="sldNum" idx="3"/>
          </p:nvPr>
        </p:nvSpPr>
        <p:spPr>
          <a:xfrm>
            <a:off x="7236000" y="5130000"/>
            <a:ext cx="2338920" cy="213840"/>
          </a:xfrm>
          <a:prstGeom prst="rect">
            <a:avLst/>
          </a:prstGeom>
          <a:noFill/>
          <a:ln w="0">
            <a:noFill/>
          </a:ln>
        </p:spPr>
        <p:txBody>
          <a:bodyPr lIns="0" tIns="0" rIns="0" bIns="0" anchor="t">
            <a:spAutoFit/>
          </a:bodyPr>
          <a:lstStyle>
            <a:lvl1pPr indent="0" algn="r">
              <a:lnSpc>
                <a:spcPct val="100000"/>
              </a:lnSpc>
              <a:buNone/>
              <a:tabLst>
                <a:tab pos="0" algn="l"/>
              </a:tabLst>
              <a:defRPr lang="pl-PL" sz="1400" b="0" u="none" strike="noStrike">
                <a:solidFill>
                  <a:srgbClr val="DBF5F9"/>
                </a:solidFill>
                <a:effectLst/>
                <a:uFillTx/>
                <a:latin typeface="Noto Sans"/>
              </a:defRPr>
            </a:lvl1pPr>
          </a:lstStyle>
          <a:p>
            <a:pPr indent="0" algn="r">
              <a:lnSpc>
                <a:spcPct val="100000"/>
              </a:lnSpc>
              <a:buNone/>
              <a:tabLst>
                <a:tab pos="0" algn="l"/>
              </a:tabLst>
            </a:pPr>
            <a:fld id="{871F887B-EDE4-41B5-B914-66C6369F23B0}" type="slidenum">
              <a:rPr lang="pl-PL" sz="1400" b="0" u="none" strike="noStrike">
                <a:solidFill>
                  <a:srgbClr val="DBF5F9"/>
                </a:solidFill>
                <a:effectLst/>
                <a:uFillTx/>
                <a:latin typeface="Noto Sans"/>
              </a:rPr>
              <a:t>‹#›</a:t>
            </a:fld>
            <a:endParaRPr lang="pl-PL" sz="1400" b="0" u="none" strike="noStrike">
              <a:solidFill>
                <a:srgbClr val="000000"/>
              </a:solidFill>
              <a:effectLst/>
              <a:uFillTx/>
              <a:latin typeface="Times New Roman"/>
            </a:endParaRPr>
          </a:p>
        </p:txBody>
      </p:sp>
      <p:sp>
        <p:nvSpPr>
          <p:cNvPr id="6" name="PlaceHolder 4"/>
          <p:cNvSpPr>
            <a:spLocks noGrp="1"/>
          </p:cNvSpPr>
          <p:nvPr>
            <p:ph type="title"/>
          </p:nvPr>
        </p:nvSpPr>
        <p:spPr>
          <a:xfrm>
            <a:off x="504000" y="270000"/>
            <a:ext cx="9070920" cy="3238920"/>
          </a:xfrm>
          <a:prstGeom prst="rect">
            <a:avLst/>
          </a:prstGeom>
          <a:noFill/>
          <a:ln w="0">
            <a:noFill/>
          </a:ln>
        </p:spPr>
        <p:txBody>
          <a:bodyPr lIns="0" tIns="0" rIns="0" bIns="0" anchor="b">
            <a:normAutofit/>
          </a:bodyPr>
          <a:lstStyle/>
          <a:p>
            <a:pPr indent="0">
              <a:lnSpc>
                <a:spcPct val="100000"/>
              </a:lnSpc>
              <a:buNone/>
              <a:tabLst>
                <a:tab pos="0" algn="l"/>
              </a:tabLst>
            </a:pPr>
            <a:r>
              <a:rPr lang="pl-PL" sz="6000" b="0" u="none" strike="noStrike">
                <a:solidFill>
                  <a:srgbClr val="04617B"/>
                </a:solidFill>
                <a:effectLst/>
                <a:uFillTx/>
                <a:latin typeface="Noto Sans"/>
              </a:rPr>
              <a:t>Kliknij, aby edytować format tekstu tytułu</a:t>
            </a:r>
            <a:endParaRPr lang="pl-PL" sz="6000" b="0" u="none" strike="noStrike">
              <a:solidFill>
                <a:srgbClr val="000000"/>
              </a:solidFill>
              <a:effectLst/>
              <a:uFillTx/>
              <a:latin typeface="Arial"/>
            </a:endParaRPr>
          </a:p>
        </p:txBody>
      </p:sp>
      <p:sp>
        <p:nvSpPr>
          <p:cNvPr id="7" name="PlaceHolder 5"/>
          <p:cNvSpPr>
            <a:spLocks noGrp="1"/>
          </p:cNvSpPr>
          <p:nvPr>
            <p:ph type="body"/>
          </p:nvPr>
        </p:nvSpPr>
        <p:spPr>
          <a:xfrm>
            <a:off x="504000" y="3870000"/>
            <a:ext cx="9070920" cy="1168920"/>
          </a:xfrm>
          <a:prstGeom prst="rect">
            <a:avLst/>
          </a:prstGeom>
          <a:noFill/>
          <a:ln w="0">
            <a:noFill/>
          </a:ln>
        </p:spPr>
        <p:txBody>
          <a:bodyPr lIns="0" tIns="0" rIns="0" bIns="0" anchor="t">
            <a:normAutofit fontScale="55000" lnSpcReduction="19999"/>
          </a:bodyPr>
          <a:lstStyle/>
          <a:p>
            <a:pPr marL="432000" indent="-324000">
              <a:lnSpc>
                <a:spcPct val="100000"/>
              </a:lnSpc>
              <a:spcAft>
                <a:spcPts val="924"/>
              </a:spcAft>
              <a:buClr>
                <a:srgbClr val="F49100"/>
              </a:buClr>
              <a:buSzPct val="45000"/>
              <a:buFont typeface="Wingdings" charset="2"/>
              <a:buChar char=""/>
            </a:pPr>
            <a:r>
              <a:rPr lang="pl-PL" sz="2100" b="0" u="none" strike="noStrike">
                <a:solidFill>
                  <a:srgbClr val="DBF5F9"/>
                </a:solidFill>
                <a:effectLst/>
                <a:uFillTx/>
                <a:latin typeface="Noto Sans"/>
              </a:rPr>
              <a:t>Kliknij, aby edytować format tekstu konspektu</a:t>
            </a:r>
            <a:endParaRPr lang="pl-PL" sz="2100" b="0" u="none" strike="noStrike">
              <a:solidFill>
                <a:srgbClr val="000000"/>
              </a:solidFill>
              <a:effectLst/>
              <a:uFillTx/>
              <a:latin typeface="Arial"/>
            </a:endParaRPr>
          </a:p>
          <a:p>
            <a:pPr marL="864000" lvl="1" indent="-324000">
              <a:lnSpc>
                <a:spcPct val="100000"/>
              </a:lnSpc>
              <a:spcAft>
                <a:spcPts val="842"/>
              </a:spcAft>
              <a:buClr>
                <a:srgbClr val="F49100"/>
              </a:buClr>
              <a:buSzPct val="75000"/>
              <a:buFont typeface="Symbol" charset="2"/>
              <a:buChar char=""/>
            </a:pPr>
            <a:r>
              <a:rPr lang="pl-PL" sz="1650" b="0" u="none" strike="noStrike">
                <a:solidFill>
                  <a:srgbClr val="DBF5F9"/>
                </a:solidFill>
                <a:effectLst/>
                <a:uFillTx/>
                <a:latin typeface="Noto Sans"/>
              </a:rPr>
              <a:t>Drugi poziom konspektu</a:t>
            </a:r>
            <a:endParaRPr lang="pl-PL" sz="1650" b="0" u="none" strike="noStrike">
              <a:solidFill>
                <a:srgbClr val="000000"/>
              </a:solidFill>
              <a:effectLst/>
              <a:uFillTx/>
              <a:latin typeface="Arial"/>
            </a:endParaRPr>
          </a:p>
          <a:p>
            <a:pPr marL="1296000" lvl="2" indent="-288000">
              <a:lnSpc>
                <a:spcPct val="100000"/>
              </a:lnSpc>
              <a:spcAft>
                <a:spcPts val="635"/>
              </a:spcAft>
              <a:buClr>
                <a:srgbClr val="F49100"/>
              </a:buClr>
              <a:buSzPct val="45000"/>
              <a:buFont typeface="Wingdings" charset="2"/>
              <a:buChar char=""/>
            </a:pPr>
            <a:r>
              <a:rPr lang="pl-PL" sz="1800" b="0" u="none" strike="noStrike">
                <a:solidFill>
                  <a:srgbClr val="DBF5F9"/>
                </a:solidFill>
                <a:effectLst/>
                <a:uFillTx/>
                <a:latin typeface="Noto Sans"/>
              </a:rPr>
              <a:t>Trzeci poziom konspektu</a:t>
            </a:r>
            <a:endParaRPr lang="pl-PL" sz="1800" b="0" u="none" strike="noStrike">
              <a:solidFill>
                <a:srgbClr val="000000"/>
              </a:solidFill>
              <a:effectLst/>
              <a:uFillTx/>
              <a:latin typeface="Arial"/>
            </a:endParaRPr>
          </a:p>
          <a:p>
            <a:pPr marL="1728000" lvl="3" indent="-216000">
              <a:lnSpc>
                <a:spcPct val="100000"/>
              </a:lnSpc>
              <a:spcAft>
                <a:spcPts val="422"/>
              </a:spcAft>
              <a:buClr>
                <a:srgbClr val="F49100"/>
              </a:buClr>
              <a:buSzPct val="75000"/>
              <a:buFont typeface="Symbol" charset="2"/>
              <a:buChar char=""/>
            </a:pPr>
            <a:r>
              <a:rPr lang="pl-PL" sz="1500" b="0" u="none" strike="noStrike">
                <a:solidFill>
                  <a:srgbClr val="DBF5F9"/>
                </a:solidFill>
                <a:effectLst/>
                <a:uFillTx/>
                <a:latin typeface="Noto Sans"/>
              </a:rPr>
              <a:t>Czwarty poziom konspektu</a:t>
            </a:r>
            <a:endParaRPr lang="pl-PL" sz="1500" b="0" u="none" strike="noStrike">
              <a:solidFill>
                <a:srgbClr val="000000"/>
              </a:solidFill>
              <a:effectLst/>
              <a:uFillTx/>
              <a:latin typeface="Arial"/>
            </a:endParaRPr>
          </a:p>
          <a:p>
            <a:pPr marL="2160000" lvl="4" indent="-216000">
              <a:lnSpc>
                <a:spcPct val="100000"/>
              </a:lnSpc>
              <a:spcAft>
                <a:spcPts val="210"/>
              </a:spcAft>
              <a:buClr>
                <a:srgbClr val="F49100"/>
              </a:buClr>
              <a:buSzPct val="45000"/>
              <a:buFont typeface="Wingdings" charset="2"/>
              <a:buChar char=""/>
            </a:pPr>
            <a:r>
              <a:rPr lang="pl-PL" sz="1500" b="0" u="none" strike="noStrike">
                <a:solidFill>
                  <a:srgbClr val="DBF5F9"/>
                </a:solidFill>
                <a:effectLst/>
                <a:uFillTx/>
                <a:latin typeface="Noto Sans"/>
              </a:rPr>
              <a:t>Piąty poziom konspektu</a:t>
            </a:r>
            <a:endParaRPr lang="pl-PL" sz="1500" b="0" u="none" strike="noStrike">
              <a:solidFill>
                <a:srgbClr val="000000"/>
              </a:solidFill>
              <a:effectLst/>
              <a:uFillTx/>
              <a:latin typeface="Arial"/>
            </a:endParaRPr>
          </a:p>
          <a:p>
            <a:pPr marL="2592000" lvl="5" indent="-216000">
              <a:lnSpc>
                <a:spcPct val="100000"/>
              </a:lnSpc>
              <a:spcAft>
                <a:spcPts val="210"/>
              </a:spcAft>
              <a:buClr>
                <a:srgbClr val="F49100"/>
              </a:buClr>
              <a:buSzPct val="45000"/>
              <a:buFont typeface="Wingdings" charset="2"/>
              <a:buChar char=""/>
            </a:pPr>
            <a:r>
              <a:rPr lang="pl-PL" sz="1500" b="0" u="none" strike="noStrike">
                <a:solidFill>
                  <a:srgbClr val="DBF5F9"/>
                </a:solidFill>
                <a:effectLst/>
                <a:uFillTx/>
                <a:latin typeface="Noto Sans"/>
              </a:rPr>
              <a:t>Szósty poziom konspektu</a:t>
            </a:r>
            <a:endParaRPr lang="pl-PL" sz="1500" b="0" u="none" strike="noStrike">
              <a:solidFill>
                <a:srgbClr val="000000"/>
              </a:solidFill>
              <a:effectLst/>
              <a:uFillTx/>
              <a:latin typeface="Arial"/>
            </a:endParaRPr>
          </a:p>
          <a:p>
            <a:pPr marL="3024000" lvl="6" indent="-216000">
              <a:lnSpc>
                <a:spcPct val="100000"/>
              </a:lnSpc>
              <a:spcAft>
                <a:spcPts val="210"/>
              </a:spcAft>
              <a:buClr>
                <a:srgbClr val="F49100"/>
              </a:buClr>
              <a:buSzPct val="45000"/>
              <a:buFont typeface="Wingdings" charset="2"/>
              <a:buChar char=""/>
            </a:pPr>
            <a:r>
              <a:rPr lang="pl-PL" sz="1500" b="0" u="none" strike="noStrike">
                <a:solidFill>
                  <a:srgbClr val="DBF5F9"/>
                </a:solidFill>
                <a:effectLst/>
                <a:uFillTx/>
                <a:latin typeface="Noto Sans"/>
              </a:rPr>
              <a:t>Siódmy poziom konspektu</a:t>
            </a:r>
            <a:endParaRPr lang="pl-PL" sz="1500" b="0" u="none" strike="noStrike">
              <a:solidFill>
                <a:srgbClr val="000000"/>
              </a:solidFill>
              <a:effectLst/>
              <a:uFillTx/>
              <a:latin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Domyślny">
    <p:spTree>
      <p:nvGrpSpPr>
        <p:cNvPr id="1" name=""/>
        <p:cNvGrpSpPr/>
        <p:nvPr/>
      </p:nvGrpSpPr>
      <p:grpSpPr>
        <a:xfrm>
          <a:off x="0" y="0"/>
          <a:ext cx="0" cy="0"/>
          <a:chOff x="0" y="0"/>
          <a:chExt cx="0" cy="0"/>
        </a:xfrm>
      </p:grpSpPr>
      <p:sp>
        <p:nvSpPr>
          <p:cNvPr id="8" name="Prostokąt 7"/>
          <p:cNvSpPr/>
          <p:nvPr/>
        </p:nvSpPr>
        <p:spPr>
          <a:xfrm>
            <a:off x="0" y="3780000"/>
            <a:ext cx="10078920" cy="1888920"/>
          </a:xfrm>
          <a:prstGeom prst="rect">
            <a:avLst/>
          </a:prstGeom>
          <a:pattFill prst="lgGrid">
            <a:fgClr>
              <a:srgbClr val="3465A4"/>
            </a:fgClr>
            <a:bgClr>
              <a:srgbClr val="009EDA"/>
            </a:bgClr>
          </a:pattFill>
          <a:ln w="18000">
            <a:noFill/>
          </a:ln>
          <a:effectLst>
            <a:outerShdw dist="25200" dir="16200000" rotWithShape="0">
              <a:srgbClr val="F49100"/>
            </a:outerShdw>
          </a:effectLst>
        </p:spPr>
        <p:style>
          <a:lnRef idx="0">
            <a:scrgbClr r="0" g="0" b="0"/>
          </a:lnRef>
          <a:fillRef idx="0">
            <a:scrgbClr r="0" g="0" b="0"/>
          </a:fillRef>
          <a:effectRef idx="0">
            <a:scrgbClr r="0" g="0" b="0"/>
          </a:effectRef>
          <a:fontRef idx="minor"/>
        </p:style>
        <p:txBody>
          <a:bodyPr wrap="none" lIns="36000" tIns="36000" rIns="36000" bIns="36000" anchor="ctr">
            <a:noAutofit/>
          </a:bodyPr>
          <a:lstStyle/>
          <a:p>
            <a:pPr>
              <a:lnSpc>
                <a:spcPct val="100000"/>
              </a:lnSpc>
              <a:tabLst>
                <a:tab pos="408240" algn="l"/>
              </a:tabLst>
            </a:pPr>
            <a:endParaRPr lang="pl-PL" sz="2200" b="0" u="none" strike="noStrike">
              <a:solidFill>
                <a:srgbClr val="FFFFFF"/>
              </a:solidFill>
              <a:effectLst/>
              <a:uFillTx/>
              <a:latin typeface="Noto Sans"/>
              <a:ea typeface="DejaVu Sans"/>
            </a:endParaRPr>
          </a:p>
        </p:txBody>
      </p:sp>
      <p:sp>
        <p:nvSpPr>
          <p:cNvPr id="9" name="PlaceHolder 1"/>
          <p:cNvSpPr>
            <a:spLocks noGrp="1"/>
          </p:cNvSpPr>
          <p:nvPr>
            <p:ph type="dt" idx="4"/>
          </p:nvPr>
        </p:nvSpPr>
        <p:spPr>
          <a:xfrm>
            <a:off x="504000" y="5130000"/>
            <a:ext cx="2338920" cy="242640"/>
          </a:xfrm>
          <a:prstGeom prst="rect">
            <a:avLst/>
          </a:prstGeom>
          <a:noFill/>
          <a:ln w="0">
            <a:noFill/>
          </a:ln>
        </p:spPr>
        <p:txBody>
          <a:bodyPr lIns="0" tIns="0" rIns="0" bIns="0" anchor="t">
            <a:spAutoFit/>
          </a:bodyPr>
          <a:lstStyle>
            <a:lvl1pPr indent="0">
              <a:lnSpc>
                <a:spcPct val="100000"/>
              </a:lnSpc>
              <a:buNone/>
              <a:tabLst>
                <a:tab pos="0" algn="l"/>
              </a:tabLst>
              <a:defRPr lang="pl-PL" sz="1400" b="0" u="none" strike="noStrike">
                <a:solidFill>
                  <a:srgbClr val="DBF5F9"/>
                </a:solidFill>
                <a:effectLst/>
                <a:uFillTx/>
                <a:latin typeface="Noto Sans"/>
              </a:defRPr>
            </a:lvl1pPr>
          </a:lstStyle>
          <a:p>
            <a:pPr indent="0">
              <a:lnSpc>
                <a:spcPct val="100000"/>
              </a:lnSpc>
              <a:buNone/>
              <a:tabLst>
                <a:tab pos="0" algn="l"/>
              </a:tabLst>
            </a:pPr>
            <a:r>
              <a:rPr lang="pl-PL" sz="1400" b="0" u="none" strike="noStrike">
                <a:solidFill>
                  <a:srgbClr val="DBF5F9"/>
                </a:solidFill>
                <a:effectLst/>
                <a:uFillTx/>
                <a:latin typeface="Noto Sans"/>
              </a:rPr>
              <a:t>&lt;data/godzina&gt;</a:t>
            </a:r>
            <a:endParaRPr lang="pl-PL" sz="1400" b="0" u="none" strike="noStrike">
              <a:solidFill>
                <a:srgbClr val="000000"/>
              </a:solidFill>
              <a:effectLst/>
              <a:uFillTx/>
              <a:latin typeface="Times New Roman"/>
            </a:endParaRPr>
          </a:p>
        </p:txBody>
      </p:sp>
      <p:sp>
        <p:nvSpPr>
          <p:cNvPr id="10" name="PlaceHolder 2"/>
          <p:cNvSpPr>
            <a:spLocks noGrp="1"/>
          </p:cNvSpPr>
          <p:nvPr>
            <p:ph type="ftr" idx="5"/>
          </p:nvPr>
        </p:nvSpPr>
        <p:spPr>
          <a:xfrm>
            <a:off x="3420000" y="5130000"/>
            <a:ext cx="3238920" cy="242640"/>
          </a:xfrm>
          <a:prstGeom prst="rect">
            <a:avLst/>
          </a:prstGeom>
          <a:noFill/>
          <a:ln w="0">
            <a:noFill/>
          </a:ln>
        </p:spPr>
        <p:txBody>
          <a:bodyPr lIns="0" tIns="0" rIns="0" bIns="0" anchor="t">
            <a:spAutoFit/>
          </a:bodyPr>
          <a:lstStyle>
            <a:lvl1pPr indent="0" algn="ctr">
              <a:lnSpc>
                <a:spcPct val="100000"/>
              </a:lnSpc>
              <a:buNone/>
              <a:tabLst>
                <a:tab pos="0" algn="l"/>
              </a:tabLst>
              <a:defRPr lang="pl-PL" sz="1400" b="0" u="none" strike="noStrike">
                <a:solidFill>
                  <a:srgbClr val="DBF5F9"/>
                </a:solidFill>
                <a:effectLst/>
                <a:uFillTx/>
                <a:latin typeface="Noto Sans"/>
              </a:defRPr>
            </a:lvl1pPr>
          </a:lstStyle>
          <a:p>
            <a:pPr indent="0" algn="ctr">
              <a:lnSpc>
                <a:spcPct val="100000"/>
              </a:lnSpc>
              <a:buNone/>
              <a:tabLst>
                <a:tab pos="0" algn="l"/>
              </a:tabLst>
            </a:pPr>
            <a:r>
              <a:rPr lang="pl-PL" sz="1400" b="0" u="none" strike="noStrike">
                <a:solidFill>
                  <a:srgbClr val="DBF5F9"/>
                </a:solidFill>
                <a:effectLst/>
                <a:uFillTx/>
                <a:latin typeface="Noto Sans"/>
              </a:rPr>
              <a:t>&lt;stopka&gt;</a:t>
            </a:r>
            <a:endParaRPr lang="pl-PL" sz="1400" b="0" u="none" strike="noStrike">
              <a:solidFill>
                <a:srgbClr val="000000"/>
              </a:solidFill>
              <a:effectLst/>
              <a:uFillTx/>
              <a:latin typeface="Times New Roman"/>
            </a:endParaRPr>
          </a:p>
        </p:txBody>
      </p:sp>
      <p:sp>
        <p:nvSpPr>
          <p:cNvPr id="11" name="PlaceHolder 3"/>
          <p:cNvSpPr>
            <a:spLocks noGrp="1"/>
          </p:cNvSpPr>
          <p:nvPr>
            <p:ph type="sldNum" idx="6"/>
          </p:nvPr>
        </p:nvSpPr>
        <p:spPr>
          <a:xfrm>
            <a:off x="7236000" y="5130000"/>
            <a:ext cx="2338920" cy="213840"/>
          </a:xfrm>
          <a:prstGeom prst="rect">
            <a:avLst/>
          </a:prstGeom>
          <a:noFill/>
          <a:ln w="0">
            <a:noFill/>
          </a:ln>
        </p:spPr>
        <p:txBody>
          <a:bodyPr lIns="0" tIns="0" rIns="0" bIns="0" anchor="t">
            <a:spAutoFit/>
          </a:bodyPr>
          <a:lstStyle>
            <a:lvl1pPr indent="0" algn="r">
              <a:lnSpc>
                <a:spcPct val="100000"/>
              </a:lnSpc>
              <a:buNone/>
              <a:tabLst>
                <a:tab pos="0" algn="l"/>
              </a:tabLst>
              <a:defRPr lang="pl-PL" sz="1400" b="0" u="none" strike="noStrike">
                <a:solidFill>
                  <a:srgbClr val="DBF5F9"/>
                </a:solidFill>
                <a:effectLst/>
                <a:uFillTx/>
                <a:latin typeface="Noto Sans"/>
              </a:defRPr>
            </a:lvl1pPr>
          </a:lstStyle>
          <a:p>
            <a:pPr indent="0" algn="r">
              <a:lnSpc>
                <a:spcPct val="100000"/>
              </a:lnSpc>
              <a:buNone/>
              <a:tabLst>
                <a:tab pos="0" algn="l"/>
              </a:tabLst>
            </a:pPr>
            <a:fld id="{9D773E41-520C-4BC5-A864-66DD598BA980}" type="slidenum">
              <a:rPr lang="pl-PL" sz="1400" b="0" u="none" strike="noStrike">
                <a:solidFill>
                  <a:srgbClr val="DBF5F9"/>
                </a:solidFill>
                <a:effectLst/>
                <a:uFillTx/>
                <a:latin typeface="Noto Sans"/>
              </a:rPr>
              <a:t>‹#›</a:t>
            </a:fld>
            <a:endParaRPr lang="pl-PL" sz="1400" b="0" u="none" strike="noStrike">
              <a:solidFill>
                <a:srgbClr val="000000"/>
              </a:solidFill>
              <a:effectLst/>
              <a:uFillTx/>
              <a:latin typeface="Times New Roman"/>
            </a:endParaRPr>
          </a:p>
        </p:txBody>
      </p:sp>
      <p:sp>
        <p:nvSpPr>
          <p:cNvPr id="12" name="PlaceHolder 4"/>
          <p:cNvSpPr>
            <a:spLocks noGrp="1"/>
          </p:cNvSpPr>
          <p:nvPr>
            <p:ph type="title"/>
          </p:nvPr>
        </p:nvSpPr>
        <p:spPr>
          <a:xfrm>
            <a:off x="504000" y="270000"/>
            <a:ext cx="9070920" cy="3238920"/>
          </a:xfrm>
          <a:prstGeom prst="rect">
            <a:avLst/>
          </a:prstGeom>
          <a:noFill/>
          <a:ln w="0">
            <a:noFill/>
          </a:ln>
        </p:spPr>
        <p:txBody>
          <a:bodyPr lIns="0" tIns="0" rIns="0" bIns="0" anchor="b">
            <a:normAutofit/>
          </a:bodyPr>
          <a:lstStyle/>
          <a:p>
            <a:pPr indent="0">
              <a:lnSpc>
                <a:spcPct val="100000"/>
              </a:lnSpc>
              <a:buNone/>
              <a:tabLst>
                <a:tab pos="0" algn="l"/>
              </a:tabLst>
            </a:pPr>
            <a:r>
              <a:rPr lang="pl-PL" sz="6000" b="0" u="none" strike="noStrike">
                <a:solidFill>
                  <a:srgbClr val="04617B"/>
                </a:solidFill>
                <a:effectLst/>
                <a:uFillTx/>
                <a:latin typeface="Noto Sans"/>
              </a:rPr>
              <a:t>Kliknij, aby edytować format tekstu tytułu</a:t>
            </a:r>
            <a:endParaRPr lang="pl-PL" sz="6000" b="0" u="none" strike="noStrike">
              <a:solidFill>
                <a:srgbClr val="000000"/>
              </a:solidFill>
              <a:effectLst/>
              <a:uFillTx/>
              <a:latin typeface="Arial"/>
            </a:endParaRPr>
          </a:p>
        </p:txBody>
      </p:sp>
      <p:sp>
        <p:nvSpPr>
          <p:cNvPr id="13" name="PlaceHolder 5"/>
          <p:cNvSpPr>
            <a:spLocks noGrp="1"/>
          </p:cNvSpPr>
          <p:nvPr>
            <p:ph type="body"/>
          </p:nvPr>
        </p:nvSpPr>
        <p:spPr>
          <a:xfrm>
            <a:off x="504000" y="3870000"/>
            <a:ext cx="9070920" cy="1168920"/>
          </a:xfrm>
          <a:prstGeom prst="rect">
            <a:avLst/>
          </a:prstGeom>
          <a:noFill/>
          <a:ln w="0">
            <a:noFill/>
          </a:ln>
        </p:spPr>
        <p:txBody>
          <a:bodyPr lIns="0" tIns="0" rIns="0" bIns="0" anchor="t">
            <a:normAutofit fontScale="55000" lnSpcReduction="19999"/>
          </a:bodyPr>
          <a:lstStyle/>
          <a:p>
            <a:pPr marL="432000" indent="-324000">
              <a:lnSpc>
                <a:spcPct val="100000"/>
              </a:lnSpc>
              <a:spcAft>
                <a:spcPts val="924"/>
              </a:spcAft>
              <a:buClr>
                <a:srgbClr val="F49100"/>
              </a:buClr>
              <a:buSzPct val="45000"/>
              <a:buFont typeface="Wingdings" charset="2"/>
              <a:buChar char=""/>
            </a:pPr>
            <a:r>
              <a:rPr lang="pl-PL" sz="2100" b="0" u="none" strike="noStrike">
                <a:solidFill>
                  <a:srgbClr val="DBF5F9"/>
                </a:solidFill>
                <a:effectLst/>
                <a:uFillTx/>
                <a:latin typeface="Noto Sans"/>
              </a:rPr>
              <a:t>Kliknij, aby edytować format tekstu konspektu</a:t>
            </a:r>
            <a:endParaRPr lang="pl-PL" sz="2100" b="0" u="none" strike="noStrike">
              <a:solidFill>
                <a:srgbClr val="000000"/>
              </a:solidFill>
              <a:effectLst/>
              <a:uFillTx/>
              <a:latin typeface="Arial"/>
            </a:endParaRPr>
          </a:p>
          <a:p>
            <a:pPr marL="864000" lvl="1" indent="-324000">
              <a:lnSpc>
                <a:spcPct val="100000"/>
              </a:lnSpc>
              <a:spcAft>
                <a:spcPts val="842"/>
              </a:spcAft>
              <a:buClr>
                <a:srgbClr val="F49100"/>
              </a:buClr>
              <a:buSzPct val="75000"/>
              <a:buFont typeface="Symbol" charset="2"/>
              <a:buChar char=""/>
            </a:pPr>
            <a:r>
              <a:rPr lang="pl-PL" sz="1650" b="0" u="none" strike="noStrike">
                <a:solidFill>
                  <a:srgbClr val="DBF5F9"/>
                </a:solidFill>
                <a:effectLst/>
                <a:uFillTx/>
                <a:latin typeface="Noto Sans"/>
              </a:rPr>
              <a:t>Drugi poziom konspektu</a:t>
            </a:r>
            <a:endParaRPr lang="pl-PL" sz="1650" b="0" u="none" strike="noStrike">
              <a:solidFill>
                <a:srgbClr val="000000"/>
              </a:solidFill>
              <a:effectLst/>
              <a:uFillTx/>
              <a:latin typeface="Arial"/>
            </a:endParaRPr>
          </a:p>
          <a:p>
            <a:pPr marL="1296000" lvl="2" indent="-288000">
              <a:lnSpc>
                <a:spcPct val="100000"/>
              </a:lnSpc>
              <a:spcAft>
                <a:spcPts val="635"/>
              </a:spcAft>
              <a:buClr>
                <a:srgbClr val="F49100"/>
              </a:buClr>
              <a:buSzPct val="45000"/>
              <a:buFont typeface="Wingdings" charset="2"/>
              <a:buChar char=""/>
            </a:pPr>
            <a:r>
              <a:rPr lang="pl-PL" sz="1800" b="0" u="none" strike="noStrike">
                <a:solidFill>
                  <a:srgbClr val="DBF5F9"/>
                </a:solidFill>
                <a:effectLst/>
                <a:uFillTx/>
                <a:latin typeface="Noto Sans"/>
              </a:rPr>
              <a:t>Trzeci poziom konspektu</a:t>
            </a:r>
            <a:endParaRPr lang="pl-PL" sz="1800" b="0" u="none" strike="noStrike">
              <a:solidFill>
                <a:srgbClr val="000000"/>
              </a:solidFill>
              <a:effectLst/>
              <a:uFillTx/>
              <a:latin typeface="Arial"/>
            </a:endParaRPr>
          </a:p>
          <a:p>
            <a:pPr marL="1728000" lvl="3" indent="-216000">
              <a:lnSpc>
                <a:spcPct val="100000"/>
              </a:lnSpc>
              <a:spcAft>
                <a:spcPts val="422"/>
              </a:spcAft>
              <a:buClr>
                <a:srgbClr val="F49100"/>
              </a:buClr>
              <a:buSzPct val="75000"/>
              <a:buFont typeface="Symbol" charset="2"/>
              <a:buChar char=""/>
            </a:pPr>
            <a:r>
              <a:rPr lang="pl-PL" sz="1500" b="0" u="none" strike="noStrike">
                <a:solidFill>
                  <a:srgbClr val="DBF5F9"/>
                </a:solidFill>
                <a:effectLst/>
                <a:uFillTx/>
                <a:latin typeface="Noto Sans"/>
              </a:rPr>
              <a:t>Czwarty poziom konspektu</a:t>
            </a:r>
            <a:endParaRPr lang="pl-PL" sz="1500" b="0" u="none" strike="noStrike">
              <a:solidFill>
                <a:srgbClr val="000000"/>
              </a:solidFill>
              <a:effectLst/>
              <a:uFillTx/>
              <a:latin typeface="Arial"/>
            </a:endParaRPr>
          </a:p>
          <a:p>
            <a:pPr marL="2160000" lvl="4" indent="-216000">
              <a:lnSpc>
                <a:spcPct val="100000"/>
              </a:lnSpc>
              <a:spcAft>
                <a:spcPts val="210"/>
              </a:spcAft>
              <a:buClr>
                <a:srgbClr val="F49100"/>
              </a:buClr>
              <a:buSzPct val="45000"/>
              <a:buFont typeface="Wingdings" charset="2"/>
              <a:buChar char=""/>
            </a:pPr>
            <a:r>
              <a:rPr lang="pl-PL" sz="1500" b="0" u="none" strike="noStrike">
                <a:solidFill>
                  <a:srgbClr val="DBF5F9"/>
                </a:solidFill>
                <a:effectLst/>
                <a:uFillTx/>
                <a:latin typeface="Noto Sans"/>
              </a:rPr>
              <a:t>Piąty poziom konspektu</a:t>
            </a:r>
            <a:endParaRPr lang="pl-PL" sz="1500" b="0" u="none" strike="noStrike">
              <a:solidFill>
                <a:srgbClr val="000000"/>
              </a:solidFill>
              <a:effectLst/>
              <a:uFillTx/>
              <a:latin typeface="Arial"/>
            </a:endParaRPr>
          </a:p>
          <a:p>
            <a:pPr marL="2592000" lvl="5" indent="-216000">
              <a:lnSpc>
                <a:spcPct val="100000"/>
              </a:lnSpc>
              <a:spcAft>
                <a:spcPts val="210"/>
              </a:spcAft>
              <a:buClr>
                <a:srgbClr val="F49100"/>
              </a:buClr>
              <a:buSzPct val="45000"/>
              <a:buFont typeface="Wingdings" charset="2"/>
              <a:buChar char=""/>
            </a:pPr>
            <a:r>
              <a:rPr lang="pl-PL" sz="1500" b="0" u="none" strike="noStrike">
                <a:solidFill>
                  <a:srgbClr val="DBF5F9"/>
                </a:solidFill>
                <a:effectLst/>
                <a:uFillTx/>
                <a:latin typeface="Noto Sans"/>
              </a:rPr>
              <a:t>Szósty poziom konspektu</a:t>
            </a:r>
            <a:endParaRPr lang="pl-PL" sz="1500" b="0" u="none" strike="noStrike">
              <a:solidFill>
                <a:srgbClr val="000000"/>
              </a:solidFill>
              <a:effectLst/>
              <a:uFillTx/>
              <a:latin typeface="Arial"/>
            </a:endParaRPr>
          </a:p>
          <a:p>
            <a:pPr marL="3024000" lvl="6" indent="-216000">
              <a:lnSpc>
                <a:spcPct val="100000"/>
              </a:lnSpc>
              <a:spcAft>
                <a:spcPts val="210"/>
              </a:spcAft>
              <a:buClr>
                <a:srgbClr val="F49100"/>
              </a:buClr>
              <a:buSzPct val="45000"/>
              <a:buFont typeface="Wingdings" charset="2"/>
              <a:buChar char=""/>
            </a:pPr>
            <a:r>
              <a:rPr lang="pl-PL" sz="1500" b="0" u="none" strike="noStrike">
                <a:solidFill>
                  <a:srgbClr val="DBF5F9"/>
                </a:solidFill>
                <a:effectLst/>
                <a:uFillTx/>
                <a:latin typeface="Noto Sans"/>
              </a:rPr>
              <a:t>Siódmy poziom konspektu</a:t>
            </a:r>
            <a:endParaRPr lang="pl-PL" sz="1500" b="0" u="none" strike="noStrike">
              <a:solidFill>
                <a:srgbClr val="000000"/>
              </a:solidFill>
              <a:effectLst/>
              <a:uFillTx/>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Only" preserve="1">
  <p:cSld name="Vivid1">
    <p:spTree>
      <p:nvGrpSpPr>
        <p:cNvPr id="1" name=""/>
        <p:cNvGrpSpPr/>
        <p:nvPr/>
      </p:nvGrpSpPr>
      <p:grpSpPr>
        <a:xfrm>
          <a:off x="0" y="0"/>
          <a:ext cx="0" cy="0"/>
          <a:chOff x="0" y="0"/>
          <a:chExt cx="0" cy="0"/>
        </a:xfrm>
      </p:grpSpPr>
      <p:sp>
        <p:nvSpPr>
          <p:cNvPr id="14" name="Prostokąt 13"/>
          <p:cNvSpPr/>
          <p:nvPr/>
        </p:nvSpPr>
        <p:spPr>
          <a:xfrm flipV="1">
            <a:off x="0" y="-1440"/>
            <a:ext cx="10078920" cy="1078920"/>
          </a:xfrm>
          <a:prstGeom prst="rect">
            <a:avLst/>
          </a:prstGeom>
          <a:pattFill prst="lgGrid">
            <a:fgClr>
              <a:srgbClr val="3465A4"/>
            </a:fgClr>
            <a:bgClr>
              <a:srgbClr val="009EDA"/>
            </a:bgClr>
          </a:pattFill>
          <a:ln w="18000">
            <a:noFill/>
          </a:ln>
          <a:effectLst>
            <a:outerShdw dist="25200" dir="5400000" rotWithShape="0">
              <a:srgbClr val="F49100"/>
            </a:outerShdw>
          </a:effectLst>
        </p:spPr>
        <p:style>
          <a:lnRef idx="0">
            <a:scrgbClr r="0" g="0" b="0"/>
          </a:lnRef>
          <a:fillRef idx="0">
            <a:scrgbClr r="0" g="0" b="0"/>
          </a:fillRef>
          <a:effectRef idx="0">
            <a:scrgbClr r="0" g="0" b="0"/>
          </a:effectRef>
          <a:fontRef idx="minor"/>
        </p:style>
        <p:txBody>
          <a:bodyPr wrap="none" lIns="36000" tIns="36000" rIns="36000" bIns="36000" anchor="ctr">
            <a:noAutofit/>
          </a:bodyPr>
          <a:lstStyle/>
          <a:p>
            <a:pPr>
              <a:lnSpc>
                <a:spcPct val="100000"/>
              </a:lnSpc>
              <a:tabLst>
                <a:tab pos="408240" algn="l"/>
              </a:tabLst>
            </a:pPr>
            <a:endParaRPr lang="pl-PL" sz="2200" b="0" u="none" strike="noStrike">
              <a:solidFill>
                <a:srgbClr val="FFFFFF"/>
              </a:solidFill>
              <a:effectLst/>
              <a:uFillTx/>
              <a:latin typeface="Noto Sans"/>
              <a:ea typeface="DejaVu Sans"/>
            </a:endParaRPr>
          </a:p>
        </p:txBody>
      </p:sp>
      <p:sp>
        <p:nvSpPr>
          <p:cNvPr id="15" name="PlaceHolder 1"/>
          <p:cNvSpPr>
            <a:spLocks noGrp="1"/>
          </p:cNvSpPr>
          <p:nvPr>
            <p:ph type="title"/>
          </p:nvPr>
        </p:nvSpPr>
        <p:spPr>
          <a:xfrm>
            <a:off x="504000" y="90000"/>
            <a:ext cx="9070920" cy="988920"/>
          </a:xfrm>
          <a:prstGeom prst="rect">
            <a:avLst/>
          </a:prstGeom>
          <a:noFill/>
          <a:ln w="0">
            <a:noFill/>
          </a:ln>
        </p:spPr>
        <p:txBody>
          <a:bodyPr lIns="0" tIns="0" rIns="0" bIns="0" anchor="b">
            <a:normAutofit fontScale="85000" lnSpcReduction="19999"/>
          </a:bodyPr>
          <a:lstStyle/>
          <a:p>
            <a:pPr indent="0">
              <a:lnSpc>
                <a:spcPct val="100000"/>
              </a:lnSpc>
              <a:buNone/>
              <a:tabLst>
                <a:tab pos="0" algn="l"/>
              </a:tabLst>
            </a:pPr>
            <a:r>
              <a:rPr lang="pl-PL" sz="4500" b="0" u="none" strike="noStrike">
                <a:solidFill>
                  <a:srgbClr val="DBF5F9"/>
                </a:solidFill>
                <a:effectLst/>
                <a:uFillTx/>
                <a:latin typeface="Noto Sans"/>
              </a:rPr>
              <a:t>Kliknij, aby edytować format tekstu tytułu</a:t>
            </a:r>
            <a:endParaRPr lang="pl-PL" sz="4500" b="0" u="none" strike="noStrike">
              <a:solidFill>
                <a:srgbClr val="000000"/>
              </a:solidFill>
              <a:effectLst/>
              <a:uFillTx/>
              <a:latin typeface="Arial"/>
            </a:endParaRPr>
          </a:p>
        </p:txBody>
      </p:sp>
      <p:sp>
        <p:nvSpPr>
          <p:cNvPr id="16" name="PlaceHolder 2"/>
          <p:cNvSpPr>
            <a:spLocks noGrp="1"/>
          </p:cNvSpPr>
          <p:nvPr>
            <p:ph type="body"/>
          </p:nvPr>
        </p:nvSpPr>
        <p:spPr>
          <a:xfrm>
            <a:off x="504000" y="1440000"/>
            <a:ext cx="9070920" cy="3508920"/>
          </a:xfrm>
          <a:prstGeom prst="rect">
            <a:avLst/>
          </a:prstGeom>
          <a:noFill/>
          <a:ln w="0">
            <a:noFill/>
          </a:ln>
        </p:spPr>
        <p:txBody>
          <a:bodyPr lIns="0" tIns="0" rIns="0" bIns="0" anchor="t">
            <a:normAutofit/>
          </a:bodyPr>
          <a:lstStyle/>
          <a:p>
            <a:pPr marL="432000" indent="-324000">
              <a:lnSpc>
                <a:spcPct val="100000"/>
              </a:lnSpc>
              <a:spcAft>
                <a:spcPts val="1054"/>
              </a:spcAft>
              <a:buClr>
                <a:srgbClr val="009EDA"/>
              </a:buClr>
              <a:buSzPct val="45000"/>
              <a:buFont typeface="Wingdings" charset="2"/>
              <a:buChar char=""/>
            </a:pPr>
            <a:r>
              <a:rPr lang="pl-PL" sz="2400" b="0" u="none" strike="noStrike">
                <a:solidFill>
                  <a:srgbClr val="04617B"/>
                </a:solidFill>
                <a:effectLst/>
                <a:uFillTx/>
                <a:latin typeface="Noto Sans"/>
              </a:rPr>
              <a:t>Kliknij, aby edytować format tekstu konspektu</a:t>
            </a:r>
            <a:endParaRPr lang="pl-PL" sz="2400" b="0" u="none" strike="noStrike">
              <a:solidFill>
                <a:srgbClr val="000000"/>
              </a:solidFill>
              <a:effectLst/>
              <a:uFillTx/>
              <a:latin typeface="Arial"/>
            </a:endParaRPr>
          </a:p>
          <a:p>
            <a:pPr marL="864000" lvl="1" indent="-324000">
              <a:lnSpc>
                <a:spcPct val="100000"/>
              </a:lnSpc>
              <a:spcAft>
                <a:spcPts val="842"/>
              </a:spcAft>
              <a:buClr>
                <a:srgbClr val="009EDA"/>
              </a:buClr>
              <a:buSzPct val="45000"/>
              <a:buFont typeface="Wingdings" charset="2"/>
              <a:buChar char=""/>
            </a:pPr>
            <a:r>
              <a:rPr lang="pl-PL" sz="2100" b="0" u="none" strike="noStrike">
                <a:solidFill>
                  <a:srgbClr val="04617B"/>
                </a:solidFill>
                <a:effectLst/>
                <a:uFillTx/>
                <a:latin typeface="Noto Sans"/>
              </a:rPr>
              <a:t>Drugi poziom konspektu</a:t>
            </a:r>
            <a:endParaRPr lang="pl-PL" sz="2100" b="0" u="none" strike="noStrike">
              <a:solidFill>
                <a:srgbClr val="000000"/>
              </a:solidFill>
              <a:effectLst/>
              <a:uFillTx/>
              <a:latin typeface="Arial"/>
            </a:endParaRPr>
          </a:p>
          <a:p>
            <a:pPr marL="1296000" lvl="2" indent="-288000">
              <a:lnSpc>
                <a:spcPct val="100000"/>
              </a:lnSpc>
              <a:spcAft>
                <a:spcPts val="635"/>
              </a:spcAft>
              <a:buClr>
                <a:srgbClr val="009EDA"/>
              </a:buClr>
              <a:buSzPct val="45000"/>
              <a:buFont typeface="Wingdings" charset="2"/>
              <a:buChar char=""/>
            </a:pPr>
            <a:r>
              <a:rPr lang="pl-PL" sz="1800" b="0" u="none" strike="noStrike">
                <a:solidFill>
                  <a:srgbClr val="04617B"/>
                </a:solidFill>
                <a:effectLst/>
                <a:uFillTx/>
                <a:latin typeface="Noto Sans"/>
              </a:rPr>
              <a:t>Trzeci poziom konspektu</a:t>
            </a:r>
            <a:endParaRPr lang="pl-PL" sz="1800" b="0" u="none" strike="noStrike">
              <a:solidFill>
                <a:srgbClr val="000000"/>
              </a:solidFill>
              <a:effectLst/>
              <a:uFillTx/>
              <a:latin typeface="Arial"/>
            </a:endParaRPr>
          </a:p>
          <a:p>
            <a:pPr marL="1728000" lvl="3" indent="-216000">
              <a:lnSpc>
                <a:spcPct val="100000"/>
              </a:lnSpc>
              <a:spcAft>
                <a:spcPts val="422"/>
              </a:spcAft>
              <a:buClr>
                <a:srgbClr val="009EDA"/>
              </a:buClr>
              <a:buSzPct val="45000"/>
              <a:buFont typeface="Wingdings" charset="2"/>
              <a:buChar char=""/>
            </a:pPr>
            <a:r>
              <a:rPr lang="pl-PL" sz="1800" b="0" u="none" strike="noStrike">
                <a:solidFill>
                  <a:srgbClr val="04617B"/>
                </a:solidFill>
                <a:effectLst/>
                <a:uFillTx/>
                <a:latin typeface="Noto Sans"/>
              </a:rPr>
              <a:t>Czwarty poziom konspektu</a:t>
            </a:r>
            <a:endParaRPr lang="pl-PL" sz="1800" b="0" u="none" strike="noStrike">
              <a:solidFill>
                <a:srgbClr val="000000"/>
              </a:solidFill>
              <a:effectLst/>
              <a:uFillTx/>
              <a:latin typeface="Arial"/>
            </a:endParaRPr>
          </a:p>
          <a:p>
            <a:pPr marL="2160000" lvl="4" indent="-216000">
              <a:lnSpc>
                <a:spcPct val="100000"/>
              </a:lnSpc>
              <a:spcAft>
                <a:spcPts val="210"/>
              </a:spcAft>
              <a:buClr>
                <a:srgbClr val="009EDA"/>
              </a:buClr>
              <a:buSzPct val="45000"/>
              <a:buFont typeface="Wingdings" charset="2"/>
              <a:buChar char=""/>
            </a:pPr>
            <a:r>
              <a:rPr lang="pl-PL" sz="1800" b="0" u="none" strike="noStrike">
                <a:solidFill>
                  <a:srgbClr val="04617B"/>
                </a:solidFill>
                <a:effectLst/>
                <a:uFillTx/>
                <a:latin typeface="Noto Sans"/>
              </a:rPr>
              <a:t>Piąty poziom konspektu</a:t>
            </a:r>
            <a:endParaRPr lang="pl-PL" sz="1800" b="0" u="none" strike="noStrike">
              <a:solidFill>
                <a:srgbClr val="000000"/>
              </a:solidFill>
              <a:effectLst/>
              <a:uFillTx/>
              <a:latin typeface="Arial"/>
            </a:endParaRPr>
          </a:p>
          <a:p>
            <a:pPr marL="2592000" lvl="5" indent="-216000">
              <a:lnSpc>
                <a:spcPct val="100000"/>
              </a:lnSpc>
              <a:spcAft>
                <a:spcPts val="210"/>
              </a:spcAft>
              <a:buClr>
                <a:srgbClr val="009EDA"/>
              </a:buClr>
              <a:buSzPct val="45000"/>
              <a:buFont typeface="Wingdings" charset="2"/>
              <a:buChar char=""/>
            </a:pPr>
            <a:r>
              <a:rPr lang="pl-PL" sz="1800" b="0" u="none" strike="noStrike">
                <a:solidFill>
                  <a:srgbClr val="04617B"/>
                </a:solidFill>
                <a:effectLst/>
                <a:uFillTx/>
                <a:latin typeface="Noto Sans"/>
              </a:rPr>
              <a:t>Szósty poziom konspektu</a:t>
            </a:r>
            <a:endParaRPr lang="pl-PL" sz="1800" b="0" u="none" strike="noStrike">
              <a:solidFill>
                <a:srgbClr val="000000"/>
              </a:solidFill>
              <a:effectLst/>
              <a:uFillTx/>
              <a:latin typeface="Arial"/>
            </a:endParaRPr>
          </a:p>
          <a:p>
            <a:pPr marL="3024000" lvl="6" indent="-216000">
              <a:lnSpc>
                <a:spcPct val="100000"/>
              </a:lnSpc>
              <a:spcAft>
                <a:spcPts val="210"/>
              </a:spcAft>
              <a:buClr>
                <a:srgbClr val="009EDA"/>
              </a:buClr>
              <a:buSzPct val="45000"/>
              <a:buFont typeface="Wingdings" charset="2"/>
              <a:buChar char=""/>
            </a:pPr>
            <a:r>
              <a:rPr lang="pl-PL" sz="1800" b="0" u="none" strike="noStrike">
                <a:solidFill>
                  <a:srgbClr val="04617B"/>
                </a:solidFill>
                <a:effectLst/>
                <a:uFillTx/>
                <a:latin typeface="Noto Sans"/>
              </a:rPr>
              <a:t>Siódmy poziom konspektu</a:t>
            </a:r>
            <a:endParaRPr lang="pl-PL" sz="1800" b="0" u="none" strike="noStrike">
              <a:solidFill>
                <a:srgbClr val="000000"/>
              </a:solidFill>
              <a:effectLst/>
              <a:uFillTx/>
              <a:latin typeface="Arial"/>
            </a:endParaRPr>
          </a:p>
        </p:txBody>
      </p:sp>
      <p:sp>
        <p:nvSpPr>
          <p:cNvPr id="17" name="PlaceHolder 3"/>
          <p:cNvSpPr>
            <a:spLocks noGrp="1"/>
          </p:cNvSpPr>
          <p:nvPr>
            <p:ph type="dt" idx="7"/>
          </p:nvPr>
        </p:nvSpPr>
        <p:spPr>
          <a:xfrm>
            <a:off x="504000" y="5130000"/>
            <a:ext cx="2338920" cy="242640"/>
          </a:xfrm>
          <a:prstGeom prst="rect">
            <a:avLst/>
          </a:prstGeom>
          <a:noFill/>
          <a:ln w="0">
            <a:noFill/>
          </a:ln>
        </p:spPr>
        <p:txBody>
          <a:bodyPr lIns="0" tIns="0" rIns="0" bIns="0" anchor="t">
            <a:spAutoFit/>
          </a:bodyPr>
          <a:lstStyle>
            <a:lvl1pPr indent="0">
              <a:lnSpc>
                <a:spcPct val="100000"/>
              </a:lnSpc>
              <a:buNone/>
              <a:tabLst>
                <a:tab pos="0" algn="l"/>
              </a:tabLst>
              <a:defRPr lang="pl-PL" sz="1400" b="0" u="none" strike="noStrike">
                <a:solidFill>
                  <a:srgbClr val="484848"/>
                </a:solidFill>
                <a:effectLst/>
                <a:uFillTx/>
                <a:latin typeface="Noto Sans"/>
              </a:defRPr>
            </a:lvl1pPr>
          </a:lstStyle>
          <a:p>
            <a:pPr indent="0">
              <a:lnSpc>
                <a:spcPct val="100000"/>
              </a:lnSpc>
              <a:buNone/>
              <a:tabLst>
                <a:tab pos="0" algn="l"/>
              </a:tabLst>
            </a:pPr>
            <a:r>
              <a:rPr lang="pl-PL" sz="1400" b="0" u="none" strike="noStrike">
                <a:solidFill>
                  <a:srgbClr val="484848"/>
                </a:solidFill>
                <a:effectLst/>
                <a:uFillTx/>
                <a:latin typeface="Noto Sans"/>
              </a:rPr>
              <a:t>&lt;data/godzina&gt;</a:t>
            </a:r>
            <a:endParaRPr lang="pl-PL" sz="1400" b="0" u="none" strike="noStrike">
              <a:solidFill>
                <a:srgbClr val="000000"/>
              </a:solidFill>
              <a:effectLst/>
              <a:uFillTx/>
              <a:latin typeface="Times New Roman"/>
            </a:endParaRPr>
          </a:p>
        </p:txBody>
      </p:sp>
      <p:sp>
        <p:nvSpPr>
          <p:cNvPr id="18" name="PlaceHolder 4"/>
          <p:cNvSpPr>
            <a:spLocks noGrp="1"/>
          </p:cNvSpPr>
          <p:nvPr>
            <p:ph type="ftr" idx="8"/>
          </p:nvPr>
        </p:nvSpPr>
        <p:spPr>
          <a:xfrm>
            <a:off x="3420000" y="5130000"/>
            <a:ext cx="3238920" cy="242640"/>
          </a:xfrm>
          <a:prstGeom prst="rect">
            <a:avLst/>
          </a:prstGeom>
          <a:noFill/>
          <a:ln w="0">
            <a:noFill/>
          </a:ln>
        </p:spPr>
        <p:txBody>
          <a:bodyPr lIns="0" tIns="0" rIns="0" bIns="0" anchor="t">
            <a:spAutoFit/>
          </a:bodyPr>
          <a:lstStyle>
            <a:lvl1pPr indent="0" algn="ctr">
              <a:lnSpc>
                <a:spcPct val="100000"/>
              </a:lnSpc>
              <a:buNone/>
              <a:tabLst>
                <a:tab pos="0" algn="l"/>
              </a:tabLst>
              <a:defRPr lang="pl-PL" sz="1400" b="0" u="none" strike="noStrike">
                <a:solidFill>
                  <a:srgbClr val="484848"/>
                </a:solidFill>
                <a:effectLst/>
                <a:uFillTx/>
                <a:latin typeface="Noto Sans"/>
              </a:defRPr>
            </a:lvl1pPr>
          </a:lstStyle>
          <a:p>
            <a:pPr indent="0" algn="ctr">
              <a:lnSpc>
                <a:spcPct val="100000"/>
              </a:lnSpc>
              <a:buNone/>
              <a:tabLst>
                <a:tab pos="0" algn="l"/>
              </a:tabLst>
            </a:pPr>
            <a:r>
              <a:rPr lang="pl-PL" sz="1400" b="0" u="none" strike="noStrike">
                <a:solidFill>
                  <a:srgbClr val="484848"/>
                </a:solidFill>
                <a:effectLst/>
                <a:uFillTx/>
                <a:latin typeface="Noto Sans"/>
              </a:rPr>
              <a:t>&lt;stopka&gt;</a:t>
            </a:r>
            <a:endParaRPr lang="pl-PL" sz="1400" b="0" u="none" strike="noStrike">
              <a:solidFill>
                <a:srgbClr val="000000"/>
              </a:solidFill>
              <a:effectLst/>
              <a:uFillTx/>
              <a:latin typeface="Times New Roman"/>
            </a:endParaRPr>
          </a:p>
        </p:txBody>
      </p:sp>
      <p:sp>
        <p:nvSpPr>
          <p:cNvPr id="19" name="PlaceHolder 5"/>
          <p:cNvSpPr>
            <a:spLocks noGrp="1"/>
          </p:cNvSpPr>
          <p:nvPr>
            <p:ph type="sldNum" idx="9"/>
          </p:nvPr>
        </p:nvSpPr>
        <p:spPr>
          <a:xfrm>
            <a:off x="7236000" y="5130000"/>
            <a:ext cx="2338920" cy="213840"/>
          </a:xfrm>
          <a:prstGeom prst="rect">
            <a:avLst/>
          </a:prstGeom>
          <a:noFill/>
          <a:ln w="0">
            <a:noFill/>
          </a:ln>
        </p:spPr>
        <p:txBody>
          <a:bodyPr lIns="0" tIns="0" rIns="0" bIns="0" anchor="t">
            <a:spAutoFit/>
          </a:bodyPr>
          <a:lstStyle>
            <a:lvl1pPr indent="0" algn="r">
              <a:lnSpc>
                <a:spcPct val="100000"/>
              </a:lnSpc>
              <a:buNone/>
              <a:tabLst>
                <a:tab pos="0" algn="l"/>
              </a:tabLst>
              <a:defRPr lang="pl-PL" sz="1400" b="0" u="none" strike="noStrike">
                <a:solidFill>
                  <a:srgbClr val="484848"/>
                </a:solidFill>
                <a:effectLst/>
                <a:uFillTx/>
                <a:latin typeface="Noto Sans"/>
              </a:defRPr>
            </a:lvl1pPr>
          </a:lstStyle>
          <a:p>
            <a:pPr indent="0" algn="r">
              <a:lnSpc>
                <a:spcPct val="100000"/>
              </a:lnSpc>
              <a:buNone/>
              <a:tabLst>
                <a:tab pos="0" algn="l"/>
              </a:tabLst>
            </a:pPr>
            <a:fld id="{70FFCF23-89BC-4C0E-8380-BD0EF5359A34}" type="slidenum">
              <a:rPr lang="pl-PL" sz="1400" b="0" u="none" strike="noStrike">
                <a:solidFill>
                  <a:srgbClr val="484848"/>
                </a:solidFill>
                <a:effectLst/>
                <a:uFillTx/>
                <a:latin typeface="Noto Sans"/>
              </a:rPr>
              <a:t>‹#›</a:t>
            </a:fld>
            <a:endParaRPr lang="pl-PL" sz="14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Domyślny 1">
    <p:spTree>
      <p:nvGrpSpPr>
        <p:cNvPr id="1" name=""/>
        <p:cNvGrpSpPr/>
        <p:nvPr/>
      </p:nvGrpSpPr>
      <p:grpSpPr>
        <a:xfrm>
          <a:off x="0" y="0"/>
          <a:ext cx="0" cy="0"/>
          <a:chOff x="0" y="0"/>
          <a:chExt cx="0" cy="0"/>
        </a:xfrm>
      </p:grpSpPr>
      <p:sp>
        <p:nvSpPr>
          <p:cNvPr id="20" name="Prostokąt 19"/>
          <p:cNvSpPr/>
          <p:nvPr/>
        </p:nvSpPr>
        <p:spPr>
          <a:xfrm flipV="1">
            <a:off x="0" y="-1440"/>
            <a:ext cx="10078920" cy="1078920"/>
          </a:xfrm>
          <a:prstGeom prst="rect">
            <a:avLst/>
          </a:prstGeom>
          <a:pattFill prst="lgGrid">
            <a:fgClr>
              <a:srgbClr val="3465A4"/>
            </a:fgClr>
            <a:bgClr>
              <a:srgbClr val="009EDA"/>
            </a:bgClr>
          </a:pattFill>
          <a:ln w="18000">
            <a:noFill/>
          </a:ln>
          <a:effectLst>
            <a:outerShdw dist="25200" dir="5400000" rotWithShape="0">
              <a:srgbClr val="F49100"/>
            </a:outerShdw>
          </a:effectLst>
        </p:spPr>
        <p:style>
          <a:lnRef idx="0">
            <a:scrgbClr r="0" g="0" b="0"/>
          </a:lnRef>
          <a:fillRef idx="0">
            <a:scrgbClr r="0" g="0" b="0"/>
          </a:fillRef>
          <a:effectRef idx="0">
            <a:scrgbClr r="0" g="0" b="0"/>
          </a:effectRef>
          <a:fontRef idx="minor"/>
        </p:style>
        <p:txBody>
          <a:bodyPr wrap="none" lIns="36000" tIns="36000" rIns="36000" bIns="36000" anchor="ctr">
            <a:noAutofit/>
          </a:bodyPr>
          <a:lstStyle/>
          <a:p>
            <a:pPr>
              <a:lnSpc>
                <a:spcPct val="100000"/>
              </a:lnSpc>
              <a:tabLst>
                <a:tab pos="408240" algn="l"/>
              </a:tabLst>
            </a:pPr>
            <a:endParaRPr lang="pl-PL" sz="2200" b="0" u="none" strike="noStrike">
              <a:solidFill>
                <a:srgbClr val="FFFFFF"/>
              </a:solidFill>
              <a:effectLst/>
              <a:uFillTx/>
              <a:latin typeface="Noto Sans"/>
              <a:ea typeface="DejaVu Sans"/>
            </a:endParaRPr>
          </a:p>
        </p:txBody>
      </p:sp>
      <p:sp>
        <p:nvSpPr>
          <p:cNvPr id="21" name="PlaceHolder 1"/>
          <p:cNvSpPr>
            <a:spLocks noGrp="1"/>
          </p:cNvSpPr>
          <p:nvPr>
            <p:ph type="title"/>
          </p:nvPr>
        </p:nvSpPr>
        <p:spPr>
          <a:xfrm>
            <a:off x="504000" y="90000"/>
            <a:ext cx="9070920" cy="988920"/>
          </a:xfrm>
          <a:prstGeom prst="rect">
            <a:avLst/>
          </a:prstGeom>
          <a:noFill/>
          <a:ln w="0">
            <a:noFill/>
          </a:ln>
        </p:spPr>
        <p:txBody>
          <a:bodyPr lIns="0" tIns="0" rIns="0" bIns="0" anchor="b">
            <a:normAutofit fontScale="85000" lnSpcReduction="19999"/>
          </a:bodyPr>
          <a:lstStyle/>
          <a:p>
            <a:pPr indent="0">
              <a:lnSpc>
                <a:spcPct val="100000"/>
              </a:lnSpc>
              <a:buNone/>
              <a:tabLst>
                <a:tab pos="0" algn="l"/>
              </a:tabLst>
            </a:pPr>
            <a:r>
              <a:rPr lang="pl-PL" sz="4500" b="0" u="none" strike="noStrike">
                <a:solidFill>
                  <a:srgbClr val="DBF5F9"/>
                </a:solidFill>
                <a:effectLst/>
                <a:uFillTx/>
                <a:latin typeface="Noto Sans"/>
              </a:rPr>
              <a:t>Kliknij, aby edytować format tekstu tytułu</a:t>
            </a:r>
            <a:endParaRPr lang="pl-PL" sz="4500" b="0" u="none" strike="noStrike">
              <a:solidFill>
                <a:srgbClr val="000000"/>
              </a:solidFill>
              <a:effectLst/>
              <a:uFillTx/>
              <a:latin typeface="Arial"/>
            </a:endParaRPr>
          </a:p>
        </p:txBody>
      </p:sp>
      <p:sp>
        <p:nvSpPr>
          <p:cNvPr id="22" name="PlaceHolder 2"/>
          <p:cNvSpPr>
            <a:spLocks noGrp="1"/>
          </p:cNvSpPr>
          <p:nvPr>
            <p:ph type="body"/>
          </p:nvPr>
        </p:nvSpPr>
        <p:spPr>
          <a:xfrm>
            <a:off x="504000" y="1440000"/>
            <a:ext cx="9070920" cy="3508920"/>
          </a:xfrm>
          <a:prstGeom prst="rect">
            <a:avLst/>
          </a:prstGeom>
          <a:noFill/>
          <a:ln w="0">
            <a:noFill/>
          </a:ln>
        </p:spPr>
        <p:txBody>
          <a:bodyPr lIns="0" tIns="0" rIns="0" bIns="0" anchor="t">
            <a:normAutofit/>
          </a:bodyPr>
          <a:lstStyle/>
          <a:p>
            <a:pPr marL="432000" indent="-324000">
              <a:lnSpc>
                <a:spcPct val="100000"/>
              </a:lnSpc>
              <a:spcAft>
                <a:spcPts val="1054"/>
              </a:spcAft>
              <a:buClr>
                <a:srgbClr val="009EDA"/>
              </a:buClr>
              <a:buSzPct val="45000"/>
              <a:buFont typeface="Wingdings" charset="2"/>
              <a:buChar char=""/>
            </a:pPr>
            <a:r>
              <a:rPr lang="pl-PL" sz="2400" b="0" u="none" strike="noStrike">
                <a:solidFill>
                  <a:srgbClr val="04617B"/>
                </a:solidFill>
                <a:effectLst/>
                <a:uFillTx/>
                <a:latin typeface="Noto Sans"/>
              </a:rPr>
              <a:t>Kliknij, aby edytować format tekstu konspektu</a:t>
            </a:r>
            <a:endParaRPr lang="pl-PL" sz="2400" b="0" u="none" strike="noStrike">
              <a:solidFill>
                <a:srgbClr val="000000"/>
              </a:solidFill>
              <a:effectLst/>
              <a:uFillTx/>
              <a:latin typeface="Arial"/>
            </a:endParaRPr>
          </a:p>
          <a:p>
            <a:pPr marL="864000" lvl="1" indent="-324000">
              <a:lnSpc>
                <a:spcPct val="100000"/>
              </a:lnSpc>
              <a:spcAft>
                <a:spcPts val="842"/>
              </a:spcAft>
              <a:buClr>
                <a:srgbClr val="009EDA"/>
              </a:buClr>
              <a:buSzPct val="45000"/>
              <a:buFont typeface="Wingdings" charset="2"/>
              <a:buChar char=""/>
            </a:pPr>
            <a:r>
              <a:rPr lang="pl-PL" sz="2100" b="0" u="none" strike="noStrike">
                <a:solidFill>
                  <a:srgbClr val="04617B"/>
                </a:solidFill>
                <a:effectLst/>
                <a:uFillTx/>
                <a:latin typeface="Noto Sans"/>
              </a:rPr>
              <a:t>Drugi poziom konspektu</a:t>
            </a:r>
            <a:endParaRPr lang="pl-PL" sz="2100" b="0" u="none" strike="noStrike">
              <a:solidFill>
                <a:srgbClr val="000000"/>
              </a:solidFill>
              <a:effectLst/>
              <a:uFillTx/>
              <a:latin typeface="Arial"/>
            </a:endParaRPr>
          </a:p>
          <a:p>
            <a:pPr marL="1296000" lvl="2" indent="-288000">
              <a:lnSpc>
                <a:spcPct val="100000"/>
              </a:lnSpc>
              <a:spcAft>
                <a:spcPts val="635"/>
              </a:spcAft>
              <a:buClr>
                <a:srgbClr val="009EDA"/>
              </a:buClr>
              <a:buSzPct val="45000"/>
              <a:buFont typeface="Wingdings" charset="2"/>
              <a:buChar char=""/>
            </a:pPr>
            <a:r>
              <a:rPr lang="pl-PL" sz="1800" b="0" u="none" strike="noStrike">
                <a:solidFill>
                  <a:srgbClr val="04617B"/>
                </a:solidFill>
                <a:effectLst/>
                <a:uFillTx/>
                <a:latin typeface="Noto Sans"/>
              </a:rPr>
              <a:t>Trzeci poziom konspektu</a:t>
            </a:r>
            <a:endParaRPr lang="pl-PL" sz="1800" b="0" u="none" strike="noStrike">
              <a:solidFill>
                <a:srgbClr val="000000"/>
              </a:solidFill>
              <a:effectLst/>
              <a:uFillTx/>
              <a:latin typeface="Arial"/>
            </a:endParaRPr>
          </a:p>
          <a:p>
            <a:pPr marL="1728000" lvl="3" indent="-216000">
              <a:lnSpc>
                <a:spcPct val="100000"/>
              </a:lnSpc>
              <a:spcAft>
                <a:spcPts val="422"/>
              </a:spcAft>
              <a:buClr>
                <a:srgbClr val="009EDA"/>
              </a:buClr>
              <a:buSzPct val="45000"/>
              <a:buFont typeface="Wingdings" charset="2"/>
              <a:buChar char=""/>
            </a:pPr>
            <a:r>
              <a:rPr lang="pl-PL" sz="1800" b="0" u="none" strike="noStrike">
                <a:solidFill>
                  <a:srgbClr val="04617B"/>
                </a:solidFill>
                <a:effectLst/>
                <a:uFillTx/>
                <a:latin typeface="Noto Sans"/>
              </a:rPr>
              <a:t>Czwarty poziom konspektu</a:t>
            </a:r>
            <a:endParaRPr lang="pl-PL" sz="1800" b="0" u="none" strike="noStrike">
              <a:solidFill>
                <a:srgbClr val="000000"/>
              </a:solidFill>
              <a:effectLst/>
              <a:uFillTx/>
              <a:latin typeface="Arial"/>
            </a:endParaRPr>
          </a:p>
          <a:p>
            <a:pPr marL="2160000" lvl="4" indent="-216000">
              <a:lnSpc>
                <a:spcPct val="100000"/>
              </a:lnSpc>
              <a:spcAft>
                <a:spcPts val="210"/>
              </a:spcAft>
              <a:buClr>
                <a:srgbClr val="009EDA"/>
              </a:buClr>
              <a:buSzPct val="45000"/>
              <a:buFont typeface="Wingdings" charset="2"/>
              <a:buChar char=""/>
            </a:pPr>
            <a:r>
              <a:rPr lang="pl-PL" sz="1800" b="0" u="none" strike="noStrike">
                <a:solidFill>
                  <a:srgbClr val="04617B"/>
                </a:solidFill>
                <a:effectLst/>
                <a:uFillTx/>
                <a:latin typeface="Noto Sans"/>
              </a:rPr>
              <a:t>Piąty poziom konspektu</a:t>
            </a:r>
            <a:endParaRPr lang="pl-PL" sz="1800" b="0" u="none" strike="noStrike">
              <a:solidFill>
                <a:srgbClr val="000000"/>
              </a:solidFill>
              <a:effectLst/>
              <a:uFillTx/>
              <a:latin typeface="Arial"/>
            </a:endParaRPr>
          </a:p>
          <a:p>
            <a:pPr marL="2592000" lvl="5" indent="-216000">
              <a:lnSpc>
                <a:spcPct val="100000"/>
              </a:lnSpc>
              <a:spcAft>
                <a:spcPts val="210"/>
              </a:spcAft>
              <a:buClr>
                <a:srgbClr val="009EDA"/>
              </a:buClr>
              <a:buSzPct val="45000"/>
              <a:buFont typeface="Wingdings" charset="2"/>
              <a:buChar char=""/>
            </a:pPr>
            <a:r>
              <a:rPr lang="pl-PL" sz="1800" b="0" u="none" strike="noStrike">
                <a:solidFill>
                  <a:srgbClr val="04617B"/>
                </a:solidFill>
                <a:effectLst/>
                <a:uFillTx/>
                <a:latin typeface="Noto Sans"/>
              </a:rPr>
              <a:t>Szósty poziom konspektu</a:t>
            </a:r>
            <a:endParaRPr lang="pl-PL" sz="1800" b="0" u="none" strike="noStrike">
              <a:solidFill>
                <a:srgbClr val="000000"/>
              </a:solidFill>
              <a:effectLst/>
              <a:uFillTx/>
              <a:latin typeface="Arial"/>
            </a:endParaRPr>
          </a:p>
          <a:p>
            <a:pPr marL="3024000" lvl="6" indent="-216000">
              <a:lnSpc>
                <a:spcPct val="100000"/>
              </a:lnSpc>
              <a:spcAft>
                <a:spcPts val="210"/>
              </a:spcAft>
              <a:buClr>
                <a:srgbClr val="009EDA"/>
              </a:buClr>
              <a:buSzPct val="45000"/>
              <a:buFont typeface="Wingdings" charset="2"/>
              <a:buChar char=""/>
            </a:pPr>
            <a:r>
              <a:rPr lang="pl-PL" sz="1800" b="0" u="none" strike="noStrike">
                <a:solidFill>
                  <a:srgbClr val="04617B"/>
                </a:solidFill>
                <a:effectLst/>
                <a:uFillTx/>
                <a:latin typeface="Noto Sans"/>
              </a:rPr>
              <a:t>Siódmy poziom konspektu</a:t>
            </a:r>
            <a:endParaRPr lang="pl-PL" sz="1800" b="0" u="none" strike="noStrike">
              <a:solidFill>
                <a:srgbClr val="000000"/>
              </a:solidFill>
              <a:effectLst/>
              <a:uFillTx/>
              <a:latin typeface="Arial"/>
            </a:endParaRPr>
          </a:p>
        </p:txBody>
      </p:sp>
      <p:sp>
        <p:nvSpPr>
          <p:cNvPr id="23" name="PlaceHolder 3"/>
          <p:cNvSpPr>
            <a:spLocks noGrp="1"/>
          </p:cNvSpPr>
          <p:nvPr>
            <p:ph type="dt" idx="10"/>
          </p:nvPr>
        </p:nvSpPr>
        <p:spPr>
          <a:xfrm>
            <a:off x="504000" y="5130000"/>
            <a:ext cx="2338920" cy="242640"/>
          </a:xfrm>
          <a:prstGeom prst="rect">
            <a:avLst/>
          </a:prstGeom>
          <a:noFill/>
          <a:ln w="0">
            <a:noFill/>
          </a:ln>
        </p:spPr>
        <p:txBody>
          <a:bodyPr lIns="0" tIns="0" rIns="0" bIns="0" anchor="t">
            <a:spAutoFit/>
          </a:bodyPr>
          <a:lstStyle>
            <a:lvl1pPr indent="0">
              <a:lnSpc>
                <a:spcPct val="100000"/>
              </a:lnSpc>
              <a:buNone/>
              <a:tabLst>
                <a:tab pos="0" algn="l"/>
              </a:tabLst>
              <a:defRPr lang="pl-PL" sz="1400" b="0" u="none" strike="noStrike">
                <a:solidFill>
                  <a:srgbClr val="484848"/>
                </a:solidFill>
                <a:effectLst/>
                <a:uFillTx/>
                <a:latin typeface="Noto Sans"/>
              </a:defRPr>
            </a:lvl1pPr>
          </a:lstStyle>
          <a:p>
            <a:pPr indent="0">
              <a:lnSpc>
                <a:spcPct val="100000"/>
              </a:lnSpc>
              <a:buNone/>
              <a:tabLst>
                <a:tab pos="0" algn="l"/>
              </a:tabLst>
            </a:pPr>
            <a:r>
              <a:rPr lang="pl-PL" sz="1400" b="0" u="none" strike="noStrike">
                <a:solidFill>
                  <a:srgbClr val="484848"/>
                </a:solidFill>
                <a:effectLst/>
                <a:uFillTx/>
                <a:latin typeface="Noto Sans"/>
              </a:rPr>
              <a:t>&lt;data/godzina&gt;</a:t>
            </a:r>
            <a:endParaRPr lang="pl-PL" sz="1400" b="0" u="none" strike="noStrike">
              <a:solidFill>
                <a:srgbClr val="000000"/>
              </a:solidFill>
              <a:effectLst/>
              <a:uFillTx/>
              <a:latin typeface="Times New Roman"/>
            </a:endParaRPr>
          </a:p>
        </p:txBody>
      </p:sp>
      <p:sp>
        <p:nvSpPr>
          <p:cNvPr id="24" name="PlaceHolder 4"/>
          <p:cNvSpPr>
            <a:spLocks noGrp="1"/>
          </p:cNvSpPr>
          <p:nvPr>
            <p:ph type="ftr" idx="11"/>
          </p:nvPr>
        </p:nvSpPr>
        <p:spPr>
          <a:xfrm>
            <a:off x="3420000" y="5130000"/>
            <a:ext cx="3238920" cy="242640"/>
          </a:xfrm>
          <a:prstGeom prst="rect">
            <a:avLst/>
          </a:prstGeom>
          <a:noFill/>
          <a:ln w="0">
            <a:noFill/>
          </a:ln>
        </p:spPr>
        <p:txBody>
          <a:bodyPr lIns="0" tIns="0" rIns="0" bIns="0" anchor="t">
            <a:spAutoFit/>
          </a:bodyPr>
          <a:lstStyle>
            <a:lvl1pPr indent="0" algn="ctr">
              <a:lnSpc>
                <a:spcPct val="100000"/>
              </a:lnSpc>
              <a:buNone/>
              <a:tabLst>
                <a:tab pos="0" algn="l"/>
              </a:tabLst>
              <a:defRPr lang="pl-PL" sz="1400" b="0" u="none" strike="noStrike">
                <a:solidFill>
                  <a:srgbClr val="484848"/>
                </a:solidFill>
                <a:effectLst/>
                <a:uFillTx/>
                <a:latin typeface="Noto Sans"/>
              </a:defRPr>
            </a:lvl1pPr>
          </a:lstStyle>
          <a:p>
            <a:pPr indent="0" algn="ctr">
              <a:lnSpc>
                <a:spcPct val="100000"/>
              </a:lnSpc>
              <a:buNone/>
              <a:tabLst>
                <a:tab pos="0" algn="l"/>
              </a:tabLst>
            </a:pPr>
            <a:r>
              <a:rPr lang="pl-PL" sz="1400" b="0" u="none" strike="noStrike">
                <a:solidFill>
                  <a:srgbClr val="484848"/>
                </a:solidFill>
                <a:effectLst/>
                <a:uFillTx/>
                <a:latin typeface="Noto Sans"/>
              </a:rPr>
              <a:t>&lt;stopka&gt;</a:t>
            </a:r>
            <a:endParaRPr lang="pl-PL" sz="1400" b="0" u="none" strike="noStrike">
              <a:solidFill>
                <a:srgbClr val="000000"/>
              </a:solidFill>
              <a:effectLst/>
              <a:uFillTx/>
              <a:latin typeface="Times New Roman"/>
            </a:endParaRPr>
          </a:p>
        </p:txBody>
      </p:sp>
      <p:sp>
        <p:nvSpPr>
          <p:cNvPr id="25" name="PlaceHolder 5"/>
          <p:cNvSpPr>
            <a:spLocks noGrp="1"/>
          </p:cNvSpPr>
          <p:nvPr>
            <p:ph type="sldNum" idx="12"/>
          </p:nvPr>
        </p:nvSpPr>
        <p:spPr>
          <a:xfrm>
            <a:off x="7236000" y="5130000"/>
            <a:ext cx="2338920" cy="213840"/>
          </a:xfrm>
          <a:prstGeom prst="rect">
            <a:avLst/>
          </a:prstGeom>
          <a:noFill/>
          <a:ln w="0">
            <a:noFill/>
          </a:ln>
        </p:spPr>
        <p:txBody>
          <a:bodyPr lIns="0" tIns="0" rIns="0" bIns="0" anchor="t">
            <a:spAutoFit/>
          </a:bodyPr>
          <a:lstStyle>
            <a:lvl1pPr indent="0" algn="r">
              <a:lnSpc>
                <a:spcPct val="100000"/>
              </a:lnSpc>
              <a:buNone/>
              <a:tabLst>
                <a:tab pos="0" algn="l"/>
              </a:tabLst>
              <a:defRPr lang="pl-PL" sz="1400" b="0" u="none" strike="noStrike">
                <a:solidFill>
                  <a:srgbClr val="484848"/>
                </a:solidFill>
                <a:effectLst/>
                <a:uFillTx/>
                <a:latin typeface="Noto Sans"/>
              </a:defRPr>
            </a:lvl1pPr>
          </a:lstStyle>
          <a:p>
            <a:pPr indent="0" algn="r">
              <a:lnSpc>
                <a:spcPct val="100000"/>
              </a:lnSpc>
              <a:buNone/>
              <a:tabLst>
                <a:tab pos="0" algn="l"/>
              </a:tabLst>
            </a:pPr>
            <a:fld id="{5571BB38-FF51-40EC-B8B7-E8448BA7C57A}" type="slidenum">
              <a:rPr lang="pl-PL" sz="1400" b="0" u="none" strike="noStrike">
                <a:solidFill>
                  <a:srgbClr val="484848"/>
                </a:solidFill>
                <a:effectLst/>
                <a:uFillTx/>
                <a:latin typeface="Noto Sans"/>
              </a:rPr>
              <a:t>‹#›</a:t>
            </a:fld>
            <a:endParaRPr lang="pl-PL" sz="14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Only" preserve="1">
  <p:cSld name="Vivid2">
    <p:spTree>
      <p:nvGrpSpPr>
        <p:cNvPr id="1" name=""/>
        <p:cNvGrpSpPr/>
        <p:nvPr/>
      </p:nvGrpSpPr>
      <p:grpSpPr>
        <a:xfrm>
          <a:off x="0" y="0"/>
          <a:ext cx="0" cy="0"/>
          <a:chOff x="0" y="0"/>
          <a:chExt cx="0" cy="0"/>
        </a:xfrm>
      </p:grpSpPr>
      <p:sp>
        <p:nvSpPr>
          <p:cNvPr id="26" name="Prostokąt 25"/>
          <p:cNvSpPr/>
          <p:nvPr/>
        </p:nvSpPr>
        <p:spPr>
          <a:xfrm flipV="1">
            <a:off x="0" y="-1440"/>
            <a:ext cx="10078920" cy="178920"/>
          </a:xfrm>
          <a:prstGeom prst="rect">
            <a:avLst/>
          </a:prstGeom>
          <a:pattFill prst="lgGrid">
            <a:fgClr>
              <a:srgbClr val="3465A4"/>
            </a:fgClr>
            <a:bgClr>
              <a:srgbClr val="009EDA"/>
            </a:bgClr>
          </a:pattFill>
          <a:ln w="18000">
            <a:noFill/>
          </a:ln>
          <a:effectLst>
            <a:outerShdw dist="25200" dir="5400000" rotWithShape="0">
              <a:srgbClr val="F49100"/>
            </a:outerShdw>
          </a:effectLst>
        </p:spPr>
        <p:style>
          <a:lnRef idx="0">
            <a:scrgbClr r="0" g="0" b="0"/>
          </a:lnRef>
          <a:fillRef idx="0">
            <a:scrgbClr r="0" g="0" b="0"/>
          </a:fillRef>
          <a:effectRef idx="0">
            <a:scrgbClr r="0" g="0" b="0"/>
          </a:effectRef>
          <a:fontRef idx="minor"/>
        </p:style>
        <p:txBody>
          <a:bodyPr wrap="none" lIns="36000" tIns="36000" rIns="36000" bIns="36000" anchor="ctr">
            <a:noAutofit/>
          </a:bodyPr>
          <a:lstStyle/>
          <a:p>
            <a:pPr>
              <a:lnSpc>
                <a:spcPct val="100000"/>
              </a:lnSpc>
              <a:tabLst>
                <a:tab pos="408240" algn="l"/>
              </a:tabLst>
            </a:pPr>
            <a:endParaRPr lang="pl-PL" sz="2200" b="0" u="none" strike="noStrike">
              <a:solidFill>
                <a:srgbClr val="FFFFFF"/>
              </a:solidFill>
              <a:effectLst/>
              <a:uFillTx/>
              <a:latin typeface="Noto Sans"/>
              <a:ea typeface="DejaVu Sans"/>
            </a:endParaRPr>
          </a:p>
        </p:txBody>
      </p:sp>
      <p:sp>
        <p:nvSpPr>
          <p:cNvPr id="27" name="PlaceHolder 1"/>
          <p:cNvSpPr>
            <a:spLocks noGrp="1"/>
          </p:cNvSpPr>
          <p:nvPr>
            <p:ph type="title"/>
          </p:nvPr>
        </p:nvSpPr>
        <p:spPr>
          <a:xfrm>
            <a:off x="504000" y="270000"/>
            <a:ext cx="9070920" cy="988920"/>
          </a:xfrm>
          <a:prstGeom prst="rect">
            <a:avLst/>
          </a:prstGeom>
          <a:noFill/>
          <a:ln w="0">
            <a:noFill/>
          </a:ln>
        </p:spPr>
        <p:txBody>
          <a:bodyPr lIns="0" tIns="0" rIns="0" bIns="0" anchor="ctr">
            <a:normAutofit fontScale="85000" lnSpcReduction="19999"/>
          </a:bodyPr>
          <a:lstStyle/>
          <a:p>
            <a:pPr indent="0">
              <a:lnSpc>
                <a:spcPct val="100000"/>
              </a:lnSpc>
              <a:buNone/>
              <a:tabLst>
                <a:tab pos="0" algn="l"/>
              </a:tabLst>
            </a:pPr>
            <a:r>
              <a:rPr lang="pl-PL" sz="4500" b="0" u="none" strike="noStrike">
                <a:solidFill>
                  <a:srgbClr val="04617B"/>
                </a:solidFill>
                <a:effectLst/>
                <a:uFillTx/>
                <a:latin typeface="Noto Sans"/>
              </a:rPr>
              <a:t>Kliknij, aby edytować format tekstu tytułu</a:t>
            </a:r>
            <a:endParaRPr lang="pl-PL" sz="4500" b="0" u="none" strike="noStrike">
              <a:solidFill>
                <a:srgbClr val="000000"/>
              </a:solidFill>
              <a:effectLst/>
              <a:uFillTx/>
              <a:latin typeface="Arial"/>
            </a:endParaRPr>
          </a:p>
        </p:txBody>
      </p:sp>
      <p:sp>
        <p:nvSpPr>
          <p:cNvPr id="28" name="PlaceHolder 2"/>
          <p:cNvSpPr>
            <a:spLocks noGrp="1"/>
          </p:cNvSpPr>
          <p:nvPr>
            <p:ph type="body"/>
          </p:nvPr>
        </p:nvSpPr>
        <p:spPr>
          <a:xfrm>
            <a:off x="504000" y="1440000"/>
            <a:ext cx="9070920" cy="3688920"/>
          </a:xfrm>
          <a:prstGeom prst="rect">
            <a:avLst/>
          </a:prstGeom>
          <a:noFill/>
          <a:ln w="0">
            <a:noFill/>
          </a:ln>
        </p:spPr>
        <p:txBody>
          <a:bodyPr lIns="0" tIns="0" rIns="0" bIns="0" anchor="t">
            <a:normAutofit/>
          </a:bodyPr>
          <a:lstStyle/>
          <a:p>
            <a:pPr marL="432000" indent="-324000">
              <a:lnSpc>
                <a:spcPct val="100000"/>
              </a:lnSpc>
              <a:spcAft>
                <a:spcPts val="1057"/>
              </a:spcAft>
              <a:buClr>
                <a:srgbClr val="04617B"/>
              </a:buClr>
              <a:buSzPct val="45000"/>
              <a:buFont typeface="Wingdings" charset="2"/>
              <a:buChar char=""/>
            </a:pPr>
            <a:r>
              <a:rPr lang="pl-PL" sz="2400" b="0" u="none" strike="noStrike">
                <a:solidFill>
                  <a:srgbClr val="04617B"/>
                </a:solidFill>
                <a:effectLst/>
                <a:uFillTx/>
                <a:latin typeface="Noto Sans"/>
              </a:rPr>
              <a:t>Kliknij, aby edytować format tekstu konspektu</a:t>
            </a:r>
            <a:endParaRPr lang="pl-PL" sz="2400" b="0" u="none" strike="noStrike">
              <a:solidFill>
                <a:srgbClr val="000000"/>
              </a:solidFill>
              <a:effectLst/>
              <a:uFillTx/>
              <a:latin typeface="Arial"/>
            </a:endParaRPr>
          </a:p>
          <a:p>
            <a:pPr marL="864000" lvl="1" indent="-324000">
              <a:lnSpc>
                <a:spcPct val="100000"/>
              </a:lnSpc>
              <a:spcAft>
                <a:spcPts val="842"/>
              </a:spcAft>
              <a:buClr>
                <a:srgbClr val="04617B"/>
              </a:buClr>
              <a:buSzPct val="75000"/>
              <a:buFont typeface="Symbol" charset="2"/>
              <a:buChar char=""/>
            </a:pPr>
            <a:r>
              <a:rPr lang="pl-PL" sz="2100" b="0" u="none" strike="noStrike">
                <a:solidFill>
                  <a:srgbClr val="04617B"/>
                </a:solidFill>
                <a:effectLst/>
                <a:uFillTx/>
                <a:latin typeface="Noto Sans"/>
              </a:rPr>
              <a:t>Drugi poziom konspektu</a:t>
            </a:r>
            <a:endParaRPr lang="pl-PL" sz="2100" b="0" u="none" strike="noStrike">
              <a:solidFill>
                <a:srgbClr val="000000"/>
              </a:solidFill>
              <a:effectLst/>
              <a:uFillTx/>
              <a:latin typeface="Arial"/>
            </a:endParaRPr>
          </a:p>
          <a:p>
            <a:pPr marL="1296000" lvl="2" indent="-288000">
              <a:lnSpc>
                <a:spcPct val="100000"/>
              </a:lnSpc>
              <a:spcAft>
                <a:spcPts val="635"/>
              </a:spcAft>
              <a:buClr>
                <a:srgbClr val="04617B"/>
              </a:buClr>
              <a:buSzPct val="45000"/>
              <a:buFont typeface="Wingdings" charset="2"/>
              <a:buChar char=""/>
            </a:pPr>
            <a:r>
              <a:rPr lang="pl-PL" sz="1800" b="0" u="none" strike="noStrike">
                <a:solidFill>
                  <a:srgbClr val="04617B"/>
                </a:solidFill>
                <a:effectLst/>
                <a:uFillTx/>
                <a:latin typeface="Noto Sans"/>
              </a:rPr>
              <a:t>Trzeci poziom konspektu</a:t>
            </a:r>
            <a:endParaRPr lang="pl-PL" sz="1800" b="0" u="none" strike="noStrike">
              <a:solidFill>
                <a:srgbClr val="000000"/>
              </a:solidFill>
              <a:effectLst/>
              <a:uFillTx/>
              <a:latin typeface="Arial"/>
            </a:endParaRPr>
          </a:p>
          <a:p>
            <a:pPr marL="1728000" lvl="3" indent="-216000">
              <a:lnSpc>
                <a:spcPct val="100000"/>
              </a:lnSpc>
              <a:spcAft>
                <a:spcPts val="422"/>
              </a:spcAft>
              <a:buClr>
                <a:srgbClr val="04617B"/>
              </a:buClr>
              <a:buSzPct val="75000"/>
              <a:buFont typeface="Symbol" charset="2"/>
              <a:buChar char=""/>
            </a:pPr>
            <a:r>
              <a:rPr lang="pl-PL" sz="1800" b="0" u="none" strike="noStrike">
                <a:solidFill>
                  <a:srgbClr val="04617B"/>
                </a:solidFill>
                <a:effectLst/>
                <a:uFillTx/>
                <a:latin typeface="Noto Sans"/>
              </a:rPr>
              <a:t>Czwarty poziom konspektu</a:t>
            </a:r>
            <a:endParaRPr lang="pl-PL" sz="1800" b="0" u="none" strike="noStrike">
              <a:solidFill>
                <a:srgbClr val="000000"/>
              </a:solidFill>
              <a:effectLst/>
              <a:uFillTx/>
              <a:latin typeface="Arial"/>
            </a:endParaRPr>
          </a:p>
          <a:p>
            <a:pPr marL="2160000" lvl="4" indent="-216000">
              <a:lnSpc>
                <a:spcPct val="100000"/>
              </a:lnSpc>
              <a:spcAft>
                <a:spcPts val="210"/>
              </a:spcAft>
              <a:buClr>
                <a:srgbClr val="04617B"/>
              </a:buClr>
              <a:buSzPct val="45000"/>
              <a:buFont typeface="Wingdings" charset="2"/>
              <a:buChar char=""/>
            </a:pPr>
            <a:r>
              <a:rPr lang="pl-PL" sz="1800" b="0" u="none" strike="noStrike">
                <a:solidFill>
                  <a:srgbClr val="04617B"/>
                </a:solidFill>
                <a:effectLst/>
                <a:uFillTx/>
                <a:latin typeface="Noto Sans"/>
              </a:rPr>
              <a:t>Piąty poziom konspektu</a:t>
            </a:r>
            <a:endParaRPr lang="pl-PL" sz="1800" b="0" u="none" strike="noStrike">
              <a:solidFill>
                <a:srgbClr val="000000"/>
              </a:solidFill>
              <a:effectLst/>
              <a:uFillTx/>
              <a:latin typeface="Arial"/>
            </a:endParaRPr>
          </a:p>
          <a:p>
            <a:pPr marL="2592000" lvl="5" indent="-216000">
              <a:lnSpc>
                <a:spcPct val="100000"/>
              </a:lnSpc>
              <a:spcAft>
                <a:spcPts val="210"/>
              </a:spcAft>
              <a:buClr>
                <a:srgbClr val="04617B"/>
              </a:buClr>
              <a:buSzPct val="45000"/>
              <a:buFont typeface="Wingdings" charset="2"/>
              <a:buChar char=""/>
            </a:pPr>
            <a:r>
              <a:rPr lang="pl-PL" sz="1800" b="0" u="none" strike="noStrike">
                <a:solidFill>
                  <a:srgbClr val="04617B"/>
                </a:solidFill>
                <a:effectLst/>
                <a:uFillTx/>
                <a:latin typeface="Noto Sans"/>
              </a:rPr>
              <a:t>Szósty poziom konspektu</a:t>
            </a:r>
            <a:endParaRPr lang="pl-PL" sz="1800" b="0" u="none" strike="noStrike">
              <a:solidFill>
                <a:srgbClr val="000000"/>
              </a:solidFill>
              <a:effectLst/>
              <a:uFillTx/>
              <a:latin typeface="Arial"/>
            </a:endParaRPr>
          </a:p>
          <a:p>
            <a:pPr marL="3024000" lvl="6" indent="-216000">
              <a:lnSpc>
                <a:spcPct val="100000"/>
              </a:lnSpc>
              <a:spcAft>
                <a:spcPts val="210"/>
              </a:spcAft>
              <a:buClr>
                <a:srgbClr val="04617B"/>
              </a:buClr>
              <a:buSzPct val="45000"/>
              <a:buFont typeface="Wingdings" charset="2"/>
              <a:buChar char=""/>
            </a:pPr>
            <a:r>
              <a:rPr lang="pl-PL" sz="1800" b="0" u="none" strike="noStrike">
                <a:solidFill>
                  <a:srgbClr val="04617B"/>
                </a:solidFill>
                <a:effectLst/>
                <a:uFillTx/>
                <a:latin typeface="Noto Sans"/>
              </a:rPr>
              <a:t>Siódmy poziom konspektu</a:t>
            </a:r>
            <a:endParaRPr lang="pl-PL" sz="1800" b="0" u="none" strike="noStrike">
              <a:solidFill>
                <a:srgbClr val="000000"/>
              </a:solidFill>
              <a:effectLst/>
              <a:uFillTx/>
              <a:latin typeface="Arial"/>
            </a:endParaRPr>
          </a:p>
        </p:txBody>
      </p:sp>
      <p:sp>
        <p:nvSpPr>
          <p:cNvPr id="29" name="PlaceHolder 3"/>
          <p:cNvSpPr>
            <a:spLocks noGrp="1"/>
          </p:cNvSpPr>
          <p:nvPr>
            <p:ph type="dt" idx="13"/>
          </p:nvPr>
        </p:nvSpPr>
        <p:spPr>
          <a:xfrm>
            <a:off x="504000" y="5130000"/>
            <a:ext cx="2338920" cy="242640"/>
          </a:xfrm>
          <a:prstGeom prst="rect">
            <a:avLst/>
          </a:prstGeom>
          <a:noFill/>
          <a:ln w="0">
            <a:noFill/>
          </a:ln>
        </p:spPr>
        <p:txBody>
          <a:bodyPr lIns="0" tIns="0" rIns="0" bIns="0" anchor="t">
            <a:spAutoFit/>
          </a:bodyPr>
          <a:lstStyle>
            <a:lvl1pPr indent="0">
              <a:lnSpc>
                <a:spcPct val="100000"/>
              </a:lnSpc>
              <a:buNone/>
              <a:tabLst>
                <a:tab pos="0" algn="l"/>
              </a:tabLst>
              <a:defRPr lang="pl-PL" sz="1400" b="0" u="none" strike="noStrike">
                <a:solidFill>
                  <a:srgbClr val="484848"/>
                </a:solidFill>
                <a:effectLst/>
                <a:uFillTx/>
                <a:latin typeface="Noto Sans"/>
              </a:defRPr>
            </a:lvl1pPr>
          </a:lstStyle>
          <a:p>
            <a:pPr indent="0">
              <a:lnSpc>
                <a:spcPct val="100000"/>
              </a:lnSpc>
              <a:buNone/>
              <a:tabLst>
                <a:tab pos="0" algn="l"/>
              </a:tabLst>
            </a:pPr>
            <a:r>
              <a:rPr lang="pl-PL" sz="1400" b="0" u="none" strike="noStrike">
                <a:solidFill>
                  <a:srgbClr val="484848"/>
                </a:solidFill>
                <a:effectLst/>
                <a:uFillTx/>
                <a:latin typeface="Noto Sans"/>
              </a:rPr>
              <a:t>&lt;data/godzina&gt;</a:t>
            </a:r>
            <a:endParaRPr lang="pl-PL" sz="1400" b="0" u="none" strike="noStrike">
              <a:solidFill>
                <a:srgbClr val="000000"/>
              </a:solidFill>
              <a:effectLst/>
              <a:uFillTx/>
              <a:latin typeface="Times New Roman"/>
            </a:endParaRPr>
          </a:p>
        </p:txBody>
      </p:sp>
      <p:sp>
        <p:nvSpPr>
          <p:cNvPr id="30" name="PlaceHolder 4"/>
          <p:cNvSpPr>
            <a:spLocks noGrp="1"/>
          </p:cNvSpPr>
          <p:nvPr>
            <p:ph type="ftr" idx="14"/>
          </p:nvPr>
        </p:nvSpPr>
        <p:spPr>
          <a:xfrm>
            <a:off x="3420000" y="5130000"/>
            <a:ext cx="3238920" cy="242640"/>
          </a:xfrm>
          <a:prstGeom prst="rect">
            <a:avLst/>
          </a:prstGeom>
          <a:noFill/>
          <a:ln w="0">
            <a:noFill/>
          </a:ln>
        </p:spPr>
        <p:txBody>
          <a:bodyPr lIns="0" tIns="0" rIns="0" bIns="0" anchor="t">
            <a:spAutoFit/>
          </a:bodyPr>
          <a:lstStyle>
            <a:lvl1pPr indent="0" algn="ctr">
              <a:lnSpc>
                <a:spcPct val="100000"/>
              </a:lnSpc>
              <a:buNone/>
              <a:tabLst>
                <a:tab pos="0" algn="l"/>
              </a:tabLst>
              <a:defRPr lang="pl-PL" sz="1400" b="0" u="none" strike="noStrike">
                <a:solidFill>
                  <a:srgbClr val="484848"/>
                </a:solidFill>
                <a:effectLst/>
                <a:uFillTx/>
                <a:latin typeface="Noto Sans"/>
              </a:defRPr>
            </a:lvl1pPr>
          </a:lstStyle>
          <a:p>
            <a:pPr indent="0" algn="ctr">
              <a:lnSpc>
                <a:spcPct val="100000"/>
              </a:lnSpc>
              <a:buNone/>
              <a:tabLst>
                <a:tab pos="0" algn="l"/>
              </a:tabLst>
            </a:pPr>
            <a:r>
              <a:rPr lang="pl-PL" sz="1400" b="0" u="none" strike="noStrike">
                <a:solidFill>
                  <a:srgbClr val="484848"/>
                </a:solidFill>
                <a:effectLst/>
                <a:uFillTx/>
                <a:latin typeface="Noto Sans"/>
              </a:rPr>
              <a:t>&lt;stopka&gt;</a:t>
            </a:r>
            <a:endParaRPr lang="pl-PL" sz="1400" b="0" u="none" strike="noStrike">
              <a:solidFill>
                <a:srgbClr val="000000"/>
              </a:solidFill>
              <a:effectLst/>
              <a:uFillTx/>
              <a:latin typeface="Times New Roman"/>
            </a:endParaRPr>
          </a:p>
        </p:txBody>
      </p:sp>
      <p:sp>
        <p:nvSpPr>
          <p:cNvPr id="31" name="PlaceHolder 5"/>
          <p:cNvSpPr>
            <a:spLocks noGrp="1"/>
          </p:cNvSpPr>
          <p:nvPr>
            <p:ph type="sldNum" idx="15"/>
          </p:nvPr>
        </p:nvSpPr>
        <p:spPr>
          <a:xfrm>
            <a:off x="7236000" y="5130000"/>
            <a:ext cx="2338920" cy="213840"/>
          </a:xfrm>
          <a:prstGeom prst="rect">
            <a:avLst/>
          </a:prstGeom>
          <a:noFill/>
          <a:ln w="0">
            <a:noFill/>
          </a:ln>
        </p:spPr>
        <p:txBody>
          <a:bodyPr lIns="0" tIns="0" rIns="0" bIns="0" anchor="t">
            <a:spAutoFit/>
          </a:bodyPr>
          <a:lstStyle>
            <a:lvl1pPr indent="0" algn="r">
              <a:lnSpc>
                <a:spcPct val="100000"/>
              </a:lnSpc>
              <a:buNone/>
              <a:tabLst>
                <a:tab pos="0" algn="l"/>
              </a:tabLst>
              <a:defRPr lang="pl-PL" sz="1400" b="0" u="none" strike="noStrike">
                <a:solidFill>
                  <a:srgbClr val="484848"/>
                </a:solidFill>
                <a:effectLst/>
                <a:uFillTx/>
                <a:latin typeface="Noto Sans"/>
              </a:defRPr>
            </a:lvl1pPr>
          </a:lstStyle>
          <a:p>
            <a:pPr indent="0" algn="r">
              <a:lnSpc>
                <a:spcPct val="100000"/>
              </a:lnSpc>
              <a:buNone/>
              <a:tabLst>
                <a:tab pos="0" algn="l"/>
              </a:tabLst>
            </a:pPr>
            <a:fld id="{7557ABD2-1A85-47E2-AE04-22979390232E}" type="slidenum">
              <a:rPr lang="pl-PL" sz="1400" b="0" u="none" strike="noStrike">
                <a:solidFill>
                  <a:srgbClr val="484848"/>
                </a:solidFill>
                <a:effectLst/>
                <a:uFillTx/>
                <a:latin typeface="Noto Sans"/>
              </a:rPr>
              <a:t>‹#›</a:t>
            </a:fld>
            <a:endParaRPr lang="pl-PL" sz="1400" b="0" u="none" strike="noStrike">
              <a:solidFill>
                <a:srgbClr val="000000"/>
              </a:solidFill>
              <a:effectLst/>
              <a:uFillTx/>
              <a:latin typeface="Times New Roman"/>
            </a:endParaRPr>
          </a:p>
        </p:txBody>
      </p:sp>
      <p:sp>
        <p:nvSpPr>
          <p:cNvPr id="32" name="Prostokąt 31"/>
          <p:cNvSpPr/>
          <p:nvPr/>
        </p:nvSpPr>
        <p:spPr>
          <a:xfrm>
            <a:off x="0" y="5580000"/>
            <a:ext cx="10078920" cy="88920"/>
          </a:xfrm>
          <a:prstGeom prst="rect">
            <a:avLst/>
          </a:prstGeom>
          <a:pattFill prst="lgGrid">
            <a:fgClr>
              <a:srgbClr val="3465A4"/>
            </a:fgClr>
            <a:bgClr>
              <a:srgbClr val="009EDA"/>
            </a:bgClr>
          </a:pattFill>
          <a:ln w="18000">
            <a:noFill/>
          </a:ln>
          <a:effectLst>
            <a:outerShdw dist="25200" dir="16200000" rotWithShape="0">
              <a:srgbClr val="F49100"/>
            </a:outerShdw>
          </a:effectLst>
        </p:spPr>
        <p:style>
          <a:lnRef idx="0">
            <a:scrgbClr r="0" g="0" b="0"/>
          </a:lnRef>
          <a:fillRef idx="0">
            <a:scrgbClr r="0" g="0" b="0"/>
          </a:fillRef>
          <a:effectRef idx="0">
            <a:scrgbClr r="0" g="0" b="0"/>
          </a:effectRef>
          <a:fontRef idx="minor"/>
        </p:style>
        <p:txBody>
          <a:bodyPr wrap="none" lIns="36000" tIns="36000" rIns="36000" bIns="36000" anchor="ctr">
            <a:noAutofit/>
          </a:bodyPr>
          <a:lstStyle/>
          <a:p>
            <a:pPr>
              <a:lnSpc>
                <a:spcPct val="100000"/>
              </a:lnSpc>
              <a:tabLst>
                <a:tab pos="408240" algn="l"/>
              </a:tabLst>
            </a:pPr>
            <a:endParaRPr lang="pl-PL" sz="2200" b="0" u="none" strike="noStrike">
              <a:solidFill>
                <a:srgbClr val="FFFFFF"/>
              </a:solidFill>
              <a:effectLst/>
              <a:uFillTx/>
              <a:latin typeface="Noto Sans"/>
              <a:ea typeface="DejaVu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1_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6.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504000" y="226080"/>
            <a:ext cx="9072000" cy="946440"/>
          </a:xfrm>
          <a:prstGeom prst="rect">
            <a:avLst/>
          </a:prstGeom>
          <a:noFill/>
          <a:ln w="0">
            <a:noFill/>
          </a:ln>
        </p:spPr>
        <p:txBody>
          <a:bodyPr lIns="0" tIns="0" rIns="0" bIns="0" anchor="ctr">
            <a:noAutofit/>
          </a:bodyPr>
          <a:lstStyle/>
          <a:p>
            <a:pPr indent="0" algn="ctr">
              <a:buNone/>
            </a:pPr>
            <a:r>
              <a:rPr lang="pl-PL" sz="4400" b="0" u="none" strike="noStrike">
                <a:solidFill>
                  <a:srgbClr val="000000"/>
                </a:solidFill>
                <a:effectLst/>
                <a:uFillTx/>
                <a:latin typeface="Arial"/>
              </a:rPr>
              <a:t>Kliknij, aby edytować format tekstu tytułu</a:t>
            </a:r>
          </a:p>
        </p:txBody>
      </p:sp>
      <p:sp>
        <p:nvSpPr>
          <p:cNvPr id="34" name="PlaceHolder 2"/>
          <p:cNvSpPr>
            <a:spLocks noGrp="1"/>
          </p:cNvSpPr>
          <p:nvPr>
            <p:ph type="body"/>
          </p:nvPr>
        </p:nvSpPr>
        <p:spPr>
          <a:xfrm>
            <a:off x="504000" y="1326600"/>
            <a:ext cx="9072000" cy="328860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pl-PL" sz="3200" b="0" u="none" strike="noStrike">
                <a:solidFill>
                  <a:srgbClr val="000000"/>
                </a:solidFill>
                <a:effectLst/>
                <a:uFillTx/>
                <a:latin typeface="Arial"/>
              </a:rPr>
              <a:t>Kliknij, aby edytować format tekstu konspektu</a:t>
            </a:r>
          </a:p>
          <a:p>
            <a:pPr marL="864000" lvl="1" indent="-324000">
              <a:spcBef>
                <a:spcPts val="1134"/>
              </a:spcBef>
              <a:buClr>
                <a:srgbClr val="000000"/>
              </a:buClr>
              <a:buSzPct val="75000"/>
              <a:buFont typeface="Symbol" charset="2"/>
              <a:buChar char=""/>
            </a:pPr>
            <a:r>
              <a:rPr lang="pl-PL" sz="2800" b="0" u="none" strike="noStrike">
                <a:solidFill>
                  <a:srgbClr val="000000"/>
                </a:solidFill>
                <a:effectLst/>
                <a:uFillTx/>
                <a:latin typeface="Arial"/>
              </a:rPr>
              <a:t>Drugi poziom konspektu</a:t>
            </a:r>
          </a:p>
          <a:p>
            <a:pPr marL="1296000" lvl="2" indent="-288000">
              <a:spcBef>
                <a:spcPts val="850"/>
              </a:spcBef>
              <a:buClr>
                <a:srgbClr val="000000"/>
              </a:buClr>
              <a:buSzPct val="45000"/>
              <a:buFont typeface="Wingdings" charset="2"/>
              <a:buChar char=""/>
            </a:pPr>
            <a:r>
              <a:rPr lang="pl-PL" sz="2400" b="0" u="none" strike="noStrike">
                <a:solidFill>
                  <a:srgbClr val="000000"/>
                </a:solidFill>
                <a:effectLst/>
                <a:uFillTx/>
                <a:latin typeface="Arial"/>
              </a:rPr>
              <a:t>Trzeci poziom konspektu</a:t>
            </a:r>
          </a:p>
          <a:p>
            <a:pPr marL="1728000" lvl="3" indent="-216000">
              <a:spcBef>
                <a:spcPts val="567"/>
              </a:spcBef>
              <a:buClr>
                <a:srgbClr val="000000"/>
              </a:buClr>
              <a:buSzPct val="75000"/>
              <a:buFont typeface="Symbol" charset="2"/>
              <a:buChar char=""/>
            </a:pPr>
            <a:r>
              <a:rPr lang="pl-PL" sz="2000" b="0" u="none" strike="noStrike">
                <a:solidFill>
                  <a:srgbClr val="000000"/>
                </a:solidFill>
                <a:effectLst/>
                <a:uFillTx/>
                <a:latin typeface="Arial"/>
              </a:rPr>
              <a:t>Czwarty poziom konspektu</a:t>
            </a:r>
          </a:p>
          <a:p>
            <a:pPr marL="2160000" lvl="4" indent="-216000">
              <a:spcBef>
                <a:spcPts val="283"/>
              </a:spcBef>
              <a:buClr>
                <a:srgbClr val="000000"/>
              </a:buClr>
              <a:buSzPct val="45000"/>
              <a:buFont typeface="Wingdings" charset="2"/>
              <a:buChar char=""/>
            </a:pPr>
            <a:r>
              <a:rPr lang="pl-PL" sz="2000" b="0" u="none" strike="noStrike">
                <a:solidFill>
                  <a:srgbClr val="000000"/>
                </a:solidFill>
                <a:effectLst/>
                <a:uFillTx/>
                <a:latin typeface="Arial"/>
              </a:rPr>
              <a:t>Piąty poziom konspektu</a:t>
            </a:r>
          </a:p>
          <a:p>
            <a:pPr marL="2592000" lvl="5" indent="-216000">
              <a:spcBef>
                <a:spcPts val="283"/>
              </a:spcBef>
              <a:buClr>
                <a:srgbClr val="000000"/>
              </a:buClr>
              <a:buSzPct val="45000"/>
              <a:buFont typeface="Wingdings" charset="2"/>
              <a:buChar char=""/>
            </a:pPr>
            <a:r>
              <a:rPr lang="pl-PL" sz="2000" b="0" u="none" strike="noStrike">
                <a:solidFill>
                  <a:srgbClr val="000000"/>
                </a:solidFill>
                <a:effectLst/>
                <a:uFillTx/>
                <a:latin typeface="Arial"/>
              </a:rPr>
              <a:t>Szósty poziom konspektu</a:t>
            </a:r>
          </a:p>
          <a:p>
            <a:pPr marL="3024000" lvl="6" indent="-216000">
              <a:spcBef>
                <a:spcPts val="283"/>
              </a:spcBef>
              <a:buClr>
                <a:srgbClr val="000000"/>
              </a:buClr>
              <a:buSzPct val="45000"/>
              <a:buFont typeface="Wingdings" charset="2"/>
              <a:buChar char=""/>
            </a:pPr>
            <a:r>
              <a:rPr lang="pl-PL" sz="2000" b="0" u="none" strike="noStrike">
                <a:solidFill>
                  <a:srgbClr val="000000"/>
                </a:solidFill>
                <a:effectLst/>
                <a:uFillTx/>
                <a:latin typeface="Arial"/>
              </a:rPr>
              <a:t>Siódmy poziom konspektu</a:t>
            </a: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PlaceHolder 1"/>
          <p:cNvSpPr>
            <a:spLocks noGrp="1"/>
          </p:cNvSpPr>
          <p:nvPr>
            <p:ph type="title"/>
          </p:nvPr>
        </p:nvSpPr>
        <p:spPr>
          <a:xfrm>
            <a:off x="504000" y="226080"/>
            <a:ext cx="9072360" cy="946440"/>
          </a:xfrm>
          <a:prstGeom prst="rect">
            <a:avLst/>
          </a:prstGeom>
          <a:noFill/>
          <a:ln w="0">
            <a:noFill/>
          </a:ln>
        </p:spPr>
        <p:txBody>
          <a:bodyPr lIns="0" tIns="0" rIns="0" bIns="0" anchor="ctr">
            <a:noAutofit/>
          </a:bodyPr>
          <a:lstStyle/>
          <a:p>
            <a:pPr indent="0">
              <a:buNone/>
            </a:pPr>
            <a:r>
              <a:rPr lang="pl-PL" sz="1979" b="0" u="none" strike="noStrike">
                <a:solidFill>
                  <a:schemeClr val="dk1"/>
                </a:solidFill>
                <a:effectLst/>
                <a:uFillTx/>
                <a:latin typeface="Calibri"/>
              </a:rPr>
              <a:t>Kliknij, aby edytować format tekstu tytułu</a:t>
            </a:r>
          </a:p>
        </p:txBody>
      </p:sp>
      <p:sp>
        <p:nvSpPr>
          <p:cNvPr id="36" name="PlaceHolder 2"/>
          <p:cNvSpPr>
            <a:spLocks noGrp="1"/>
          </p:cNvSpPr>
          <p:nvPr>
            <p:ph type="body"/>
          </p:nvPr>
        </p:nvSpPr>
        <p:spPr>
          <a:xfrm>
            <a:off x="504000" y="1326600"/>
            <a:ext cx="9072360" cy="3288600"/>
          </a:xfrm>
          <a:prstGeom prst="rect">
            <a:avLst/>
          </a:prstGeom>
          <a:noFill/>
          <a:ln w="0">
            <a:noFill/>
          </a:ln>
        </p:spPr>
        <p:txBody>
          <a:bodyPr lIns="0" tIns="0" rIns="0" bIns="0" anchor="t">
            <a:normAutofit/>
          </a:bodyPr>
          <a:lstStyle/>
          <a:p>
            <a:pPr marL="432000" indent="-324000">
              <a:spcBef>
                <a:spcPts val="1559"/>
              </a:spcBef>
              <a:buClr>
                <a:srgbClr val="000000"/>
              </a:buClr>
              <a:buSzPct val="45000"/>
              <a:buFont typeface="Wingdings" charset="2"/>
              <a:buChar char=""/>
            </a:pPr>
            <a:r>
              <a:rPr lang="pl-PL" sz="3530" b="0" u="none" strike="noStrike">
                <a:solidFill>
                  <a:schemeClr val="dk1"/>
                </a:solidFill>
                <a:effectLst/>
                <a:uFillTx/>
                <a:latin typeface="Calibri"/>
              </a:rPr>
              <a:t>Kliknij, aby edytować format tekstu konspektu</a:t>
            </a:r>
          </a:p>
          <a:p>
            <a:pPr marL="864000" lvl="1" indent="-324000">
              <a:spcBef>
                <a:spcPts val="1247"/>
              </a:spcBef>
              <a:buClr>
                <a:srgbClr val="000000"/>
              </a:buClr>
              <a:buSzPct val="75000"/>
              <a:buFont typeface="Symbol" charset="2"/>
              <a:buChar char=""/>
            </a:pPr>
            <a:r>
              <a:rPr lang="pl-PL" sz="2640" b="0" u="none" strike="noStrike">
                <a:solidFill>
                  <a:schemeClr val="dk1"/>
                </a:solidFill>
                <a:effectLst/>
                <a:uFillTx/>
                <a:latin typeface="Calibri"/>
              </a:rPr>
              <a:t>Drugi poziom konspektu</a:t>
            </a:r>
          </a:p>
          <a:p>
            <a:pPr marL="1296000" lvl="2" indent="-288000">
              <a:spcBef>
                <a:spcPts val="935"/>
              </a:spcBef>
              <a:buClr>
                <a:srgbClr val="000000"/>
              </a:buClr>
              <a:buSzPct val="45000"/>
              <a:buFont typeface="Wingdings" charset="2"/>
              <a:buChar char=""/>
            </a:pPr>
            <a:r>
              <a:rPr lang="pl-PL" sz="2210" b="0" u="none" strike="noStrike">
                <a:solidFill>
                  <a:schemeClr val="dk1"/>
                </a:solidFill>
                <a:effectLst/>
                <a:uFillTx/>
                <a:latin typeface="Calibri"/>
              </a:rPr>
              <a:t>Trzeci poziom konspektu</a:t>
            </a:r>
          </a:p>
          <a:p>
            <a:pPr marL="1728000" lvl="3" indent="-216000">
              <a:spcBef>
                <a:spcPts val="624"/>
              </a:spcBef>
              <a:buClr>
                <a:srgbClr val="000000"/>
              </a:buClr>
              <a:buSzPct val="75000"/>
              <a:buFont typeface="Symbol" charset="2"/>
              <a:buChar char=""/>
            </a:pPr>
            <a:r>
              <a:rPr lang="pl-PL" sz="2210" b="0" u="none" strike="noStrike">
                <a:solidFill>
                  <a:schemeClr val="dk1"/>
                </a:solidFill>
                <a:effectLst/>
                <a:uFillTx/>
                <a:latin typeface="Calibri"/>
              </a:rPr>
              <a:t>Czwarty poziom konspektu</a:t>
            </a:r>
          </a:p>
          <a:p>
            <a:pPr marL="2160000" lvl="4" indent="-216000">
              <a:spcBef>
                <a:spcPts val="312"/>
              </a:spcBef>
              <a:buClr>
                <a:srgbClr val="000000"/>
              </a:buClr>
              <a:buSzPct val="45000"/>
              <a:buFont typeface="Wingdings" charset="2"/>
              <a:buChar char=""/>
            </a:pPr>
            <a:r>
              <a:rPr lang="pl-PL" sz="2210" b="0" u="none" strike="noStrike">
                <a:solidFill>
                  <a:schemeClr val="dk1"/>
                </a:solidFill>
                <a:effectLst/>
                <a:uFillTx/>
                <a:latin typeface="Calibri"/>
              </a:rPr>
              <a:t>Piąty poziom konspektu</a:t>
            </a:r>
          </a:p>
          <a:p>
            <a:pPr marL="2592000" lvl="5" indent="-216000">
              <a:spcBef>
                <a:spcPts val="312"/>
              </a:spcBef>
              <a:buClr>
                <a:srgbClr val="000000"/>
              </a:buClr>
              <a:buSzPct val="45000"/>
              <a:buFont typeface="Wingdings" charset="2"/>
              <a:buChar char=""/>
            </a:pPr>
            <a:r>
              <a:rPr lang="pl-PL" sz="2210" b="0" u="none" strike="noStrike">
                <a:solidFill>
                  <a:schemeClr val="dk1"/>
                </a:solidFill>
                <a:effectLst/>
                <a:uFillTx/>
                <a:latin typeface="Calibri"/>
              </a:rPr>
              <a:t>Szósty poziom konspektu</a:t>
            </a:r>
          </a:p>
          <a:p>
            <a:pPr marL="3024000" lvl="6" indent="-216000">
              <a:spcBef>
                <a:spcPts val="312"/>
              </a:spcBef>
              <a:buClr>
                <a:srgbClr val="000000"/>
              </a:buClr>
              <a:buSzPct val="45000"/>
              <a:buFont typeface="Wingdings" charset="2"/>
              <a:buChar char=""/>
            </a:pPr>
            <a:r>
              <a:rPr lang="pl-PL" sz="2210" b="0" u="none" strike="noStrike">
                <a:solidFill>
                  <a:schemeClr val="dk1"/>
                </a:solidFill>
                <a:effectLst/>
                <a:uFillTx/>
                <a:latin typeface="Calibri"/>
              </a:rPr>
              <a:t>Siódmy poziom konspektu</a:t>
            </a: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6.xml"/><Relationship Id="rId4" Type="http://schemas.microsoft.com/office/2007/relationships/hdphoto" Target="../media/hdphoto1.wdp"/></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43" name="Text 751"/>
          <p:cNvSpPr/>
          <p:nvPr/>
        </p:nvSpPr>
        <p:spPr>
          <a:xfrm>
            <a:off x="554400" y="352800"/>
            <a:ext cx="7003440" cy="179010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tabLst>
                <a:tab pos="0" algn="l"/>
              </a:tabLst>
            </a:pPr>
            <a:r>
              <a:rPr lang="pl-PL" sz="3600" b="1" u="none" strike="noStrike" dirty="0">
                <a:solidFill>
                  <a:srgbClr val="1E2761"/>
                </a:solidFill>
                <a:effectLst/>
                <a:uFillTx/>
                <a:latin typeface="+mj-lt"/>
                <a:ea typeface="Cambria"/>
              </a:rPr>
              <a:t>Nowoczesne technologie </a:t>
            </a:r>
            <a:br>
              <a:rPr sz="3600" dirty="0">
                <a:latin typeface="+mj-lt"/>
              </a:rPr>
            </a:br>
            <a:r>
              <a:rPr lang="pl-PL" sz="3600" b="1" u="none" strike="noStrike" dirty="0">
                <a:solidFill>
                  <a:srgbClr val="1E2761"/>
                </a:solidFill>
                <a:effectLst/>
                <a:uFillTx/>
                <a:latin typeface="+mj-lt"/>
                <a:ea typeface="Cambria"/>
              </a:rPr>
              <a:t>i narzędzia cyfrowe </a:t>
            </a:r>
            <a:br>
              <a:rPr sz="3600" dirty="0">
                <a:latin typeface="+mj-lt"/>
              </a:rPr>
            </a:br>
            <a:r>
              <a:rPr lang="pl-PL" sz="3600" b="1" u="none" strike="noStrike" dirty="0">
                <a:solidFill>
                  <a:srgbClr val="1E2761"/>
                </a:solidFill>
                <a:effectLst/>
                <a:uFillTx/>
                <a:latin typeface="+mj-lt"/>
                <a:ea typeface="Cambria"/>
              </a:rPr>
              <a:t>w badaniach psychologicznych</a:t>
            </a:r>
            <a:endParaRPr lang="pl-PL" sz="3600" b="0" u="none" strike="noStrike" dirty="0">
              <a:solidFill>
                <a:srgbClr val="000000"/>
              </a:solidFill>
              <a:effectLst/>
              <a:uFillTx/>
              <a:latin typeface="+mj-lt"/>
            </a:endParaRPr>
          </a:p>
        </p:txBody>
      </p:sp>
      <p:sp>
        <p:nvSpPr>
          <p:cNvPr id="44" name="Text 752"/>
          <p:cNvSpPr/>
          <p:nvPr/>
        </p:nvSpPr>
        <p:spPr>
          <a:xfrm>
            <a:off x="554400" y="2872742"/>
            <a:ext cx="725688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2000" b="0" i="1" u="none" strike="noStrike" dirty="0">
                <a:solidFill>
                  <a:srgbClr val="4A5280"/>
                </a:solidFill>
                <a:effectLst/>
                <a:uFillTx/>
                <a:latin typeface="Arial Nova" panose="020B0504020202020204" pitchFamily="34" charset="0"/>
                <a:ea typeface="Calibri"/>
              </a:rPr>
              <a:t>Od pomysłu do publikowalnego eksperymentu</a:t>
            </a:r>
            <a:endParaRPr lang="pl-PL" sz="2000" b="0" i="1" u="none" strike="noStrike" dirty="0">
              <a:solidFill>
                <a:srgbClr val="000000"/>
              </a:solidFill>
              <a:effectLst/>
              <a:uFillTx/>
              <a:latin typeface="Arial Nova" panose="020B0504020202020204" pitchFamily="34" charset="0"/>
            </a:endParaRPr>
          </a:p>
        </p:txBody>
      </p:sp>
      <p:sp>
        <p:nvSpPr>
          <p:cNvPr id="45" name="Shape 677"/>
          <p:cNvSpPr/>
          <p:nvPr/>
        </p:nvSpPr>
        <p:spPr>
          <a:xfrm>
            <a:off x="604800" y="3326342"/>
            <a:ext cx="5543280" cy="39240"/>
          </a:xfrm>
          <a:prstGeom prst="rect">
            <a:avLst/>
          </a:prstGeom>
          <a:solidFill>
            <a:srgbClr val="5B8FF9"/>
          </a:solidFill>
          <a:ln w="12700">
            <a:solidFill>
              <a:srgbClr val="5B8FF9"/>
            </a:solidFill>
            <a:round/>
          </a:ln>
        </p:spPr>
        <p:style>
          <a:lnRef idx="0">
            <a:scrgbClr r="0" g="0" b="0"/>
          </a:lnRef>
          <a:fillRef idx="0">
            <a:scrgbClr r="0" g="0" b="0"/>
          </a:fillRef>
          <a:effectRef idx="0">
            <a:scrgbClr r="0" g="0" b="0"/>
          </a:effectRef>
          <a:fontRef idx="minor"/>
        </p:style>
        <p:txBody>
          <a:bodyPr lIns="90000" tIns="-4680" rIns="90000" bIns="-468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46" name="Text 4"/>
          <p:cNvSpPr/>
          <p:nvPr/>
        </p:nvSpPr>
        <p:spPr>
          <a:xfrm>
            <a:off x="609120" y="3444782"/>
            <a:ext cx="316620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b="0" u="none" strike="noStrike" dirty="0">
                <a:solidFill>
                  <a:srgbClr val="4A5280"/>
                </a:solidFill>
                <a:effectLst/>
                <a:uFillTx/>
                <a:latin typeface="Arial Nova" panose="020B0504020202020204" pitchFamily="34" charset="0"/>
                <a:ea typeface="Calibri"/>
              </a:rPr>
              <a:t>dr inż. Mateusz Pomianek</a:t>
            </a:r>
            <a:endParaRPr lang="pl-PL" b="0" u="none" strike="noStrike" dirty="0">
              <a:solidFill>
                <a:srgbClr val="000000"/>
              </a:solidFill>
              <a:effectLst/>
              <a:uFillTx/>
              <a:latin typeface="Arial Nova" panose="020B05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47" name="Shape 0"/>
          <p:cNvSpPr/>
          <p:nvPr/>
        </p:nvSpPr>
        <p:spPr>
          <a:xfrm>
            <a:off x="360" y="360"/>
            <a:ext cx="10079280" cy="1107360"/>
          </a:xfrm>
          <a:prstGeom prst="rect">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48" name="Text 1"/>
          <p:cNvSpPr/>
          <p:nvPr/>
        </p:nvSpPr>
        <p:spPr>
          <a:xfrm>
            <a:off x="504000" y="0"/>
            <a:ext cx="9071280" cy="1107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2600" b="1" u="none" strike="noStrike">
                <a:solidFill>
                  <a:srgbClr val="FFFFFF"/>
                </a:solidFill>
                <a:effectLst/>
                <a:uFillTx/>
                <a:latin typeface="Cambria"/>
                <a:ea typeface="Cambria"/>
              </a:rPr>
              <a:t>MAPA WYKŁADU</a:t>
            </a:r>
            <a:endParaRPr lang="pl-PL" sz="2600" b="0" u="none" strike="noStrike">
              <a:solidFill>
                <a:srgbClr val="000000"/>
              </a:solidFill>
              <a:effectLst/>
              <a:uFillTx/>
              <a:latin typeface="Arial"/>
            </a:endParaRPr>
          </a:p>
        </p:txBody>
      </p:sp>
      <p:sp>
        <p:nvSpPr>
          <p:cNvPr id="49" name="Text 2"/>
          <p:cNvSpPr/>
          <p:nvPr/>
        </p:nvSpPr>
        <p:spPr>
          <a:xfrm>
            <a:off x="504000" y="0"/>
            <a:ext cx="9071280" cy="1107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pl-PL" sz="1800" b="0" i="1" u="none" strike="noStrike">
                <a:solidFill>
                  <a:srgbClr val="CADCFC"/>
                </a:solidFill>
                <a:effectLst/>
                <a:uFillTx/>
                <a:latin typeface="Calibri"/>
                <a:ea typeface="Calibri"/>
              </a:rPr>
              <a:t>Pięć etapów cyfrowego badania empirycznego</a:t>
            </a:r>
            <a:endParaRPr lang="pl-PL" sz="1800" b="0" u="none" strike="noStrike">
              <a:solidFill>
                <a:srgbClr val="000000"/>
              </a:solidFill>
              <a:effectLst/>
              <a:uFillTx/>
              <a:latin typeface="Arial"/>
            </a:endParaRPr>
          </a:p>
        </p:txBody>
      </p:sp>
      <p:sp>
        <p:nvSpPr>
          <p:cNvPr id="50" name="Shape 1"/>
          <p:cNvSpPr/>
          <p:nvPr/>
        </p:nvSpPr>
        <p:spPr>
          <a:xfrm>
            <a:off x="302040" y="1259640"/>
            <a:ext cx="1712520" cy="3217110"/>
          </a:xfrm>
          <a:prstGeom prst="roundRect">
            <a:avLst>
              <a:gd name="adj" fmla="val 7059"/>
            </a:avLst>
          </a:prstGeom>
          <a:solidFill>
            <a:srgbClr val="1E2761"/>
          </a:solidFill>
          <a:ln w="0">
            <a:noFill/>
          </a:ln>
          <a:effectLst>
            <a:outerShdw blurRad="101520" dist="37674"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51" name="Text 3"/>
          <p:cNvSpPr/>
          <p:nvPr/>
        </p:nvSpPr>
        <p:spPr>
          <a:xfrm>
            <a:off x="302400" y="1310400"/>
            <a:ext cx="1712160" cy="75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3200" b="1" u="none" strike="noStrike">
                <a:solidFill>
                  <a:srgbClr val="FFFFFF"/>
                </a:solidFill>
                <a:effectLst/>
                <a:uFillTx/>
                <a:latin typeface="Cambria"/>
                <a:ea typeface="Cambria"/>
              </a:rPr>
              <a:t>01</a:t>
            </a:r>
            <a:endParaRPr lang="pl-PL" sz="3200" b="0" u="none" strike="noStrike">
              <a:solidFill>
                <a:srgbClr val="000000"/>
              </a:solidFill>
              <a:effectLst/>
              <a:uFillTx/>
              <a:latin typeface="Arial"/>
            </a:endParaRPr>
          </a:p>
        </p:txBody>
      </p:sp>
      <p:sp>
        <p:nvSpPr>
          <p:cNvPr id="52" name="Shape 2"/>
          <p:cNvSpPr/>
          <p:nvPr/>
        </p:nvSpPr>
        <p:spPr>
          <a:xfrm>
            <a:off x="604800" y="2096640"/>
            <a:ext cx="1107360" cy="28440"/>
          </a:xfrm>
          <a:prstGeom prst="rect">
            <a:avLst/>
          </a:prstGeom>
          <a:solidFill>
            <a:srgbClr val="FFFFFF">
              <a:alpha val="50000"/>
            </a:srgbClr>
          </a:solidFill>
          <a:ln w="12700">
            <a:solidFill>
              <a:srgbClr val="FFFFFF"/>
            </a:solidFill>
            <a:round/>
          </a:ln>
        </p:spPr>
        <p:style>
          <a:lnRef idx="0">
            <a:scrgbClr r="0" g="0" b="0"/>
          </a:lnRef>
          <a:fillRef idx="0">
            <a:scrgbClr r="0" g="0" b="0"/>
          </a:fillRef>
          <a:effectRef idx="0">
            <a:scrgbClr r="0" g="0" b="0"/>
          </a:effectRef>
          <a:fontRef idx="minor"/>
        </p:style>
        <p:txBody>
          <a:bodyPr lIns="90000" tIns="-17640" rIns="90000" bIns="-1764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53" name="Text 6"/>
          <p:cNvSpPr/>
          <p:nvPr/>
        </p:nvSpPr>
        <p:spPr>
          <a:xfrm>
            <a:off x="302400" y="2167200"/>
            <a:ext cx="1733400" cy="552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800" b="1" u="none" strike="noStrike" dirty="0">
                <a:solidFill>
                  <a:srgbClr val="FFFFFF"/>
                </a:solidFill>
                <a:effectLst/>
                <a:uFillTx/>
                <a:latin typeface="Cambria"/>
                <a:ea typeface="Cambria"/>
              </a:rPr>
              <a:t>Projektowanie</a:t>
            </a:r>
            <a:endParaRPr lang="pl-PL" sz="1800" b="0" u="none" strike="noStrike" dirty="0">
              <a:solidFill>
                <a:srgbClr val="000000"/>
              </a:solidFill>
              <a:effectLst/>
              <a:uFillTx/>
              <a:latin typeface="Arial"/>
            </a:endParaRPr>
          </a:p>
        </p:txBody>
      </p:sp>
      <p:sp>
        <p:nvSpPr>
          <p:cNvPr id="54" name="Text 7"/>
          <p:cNvSpPr/>
          <p:nvPr/>
        </p:nvSpPr>
        <p:spPr>
          <a:xfrm>
            <a:off x="403200" y="2724375"/>
            <a:ext cx="1510560" cy="160775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30000"/>
              </a:lnSpc>
              <a:tabLst>
                <a:tab pos="0" algn="l"/>
              </a:tabLst>
            </a:pPr>
            <a:r>
              <a:rPr lang="pl-PL" sz="1400" b="0" u="none" strike="noStrike">
                <a:solidFill>
                  <a:srgbClr val="FFFFFF"/>
                </a:solidFill>
                <a:effectLst/>
                <a:uFillTx/>
                <a:latin typeface="Calibri"/>
                <a:ea typeface="Calibri"/>
              </a:rPr>
              <a:t>Pytania badawcze</a:t>
            </a:r>
            <a:endParaRPr lang="pl-PL" sz="1400" b="0" u="none" strike="noStrike">
              <a:solidFill>
                <a:srgbClr val="000000"/>
              </a:solidFill>
              <a:effectLst/>
              <a:uFillTx/>
              <a:latin typeface="Arial"/>
            </a:endParaRPr>
          </a:p>
          <a:p>
            <a:pPr algn="ctr" defTabSz="914400">
              <a:lnSpc>
                <a:spcPct val="130000"/>
              </a:lnSpc>
              <a:tabLst>
                <a:tab pos="0" algn="l"/>
              </a:tabLst>
            </a:pPr>
            <a:r>
              <a:rPr lang="pl-PL" sz="1400" b="0" u="none" strike="noStrike">
                <a:solidFill>
                  <a:srgbClr val="FFFFFF"/>
                </a:solidFill>
                <a:effectLst/>
                <a:uFillTx/>
                <a:latin typeface="Calibri"/>
                <a:ea typeface="Calibri"/>
              </a:rPr>
              <a:t>Hipotezy</a:t>
            </a:r>
            <a:endParaRPr lang="pl-PL" sz="1400" b="0" u="none" strike="noStrike">
              <a:solidFill>
                <a:srgbClr val="000000"/>
              </a:solidFill>
              <a:effectLst/>
              <a:uFillTx/>
              <a:latin typeface="Arial"/>
            </a:endParaRPr>
          </a:p>
          <a:p>
            <a:pPr algn="ctr" defTabSz="914400">
              <a:lnSpc>
                <a:spcPct val="130000"/>
              </a:lnSpc>
              <a:tabLst>
                <a:tab pos="0" algn="l"/>
              </a:tabLst>
            </a:pPr>
            <a:r>
              <a:rPr lang="pl-PL" sz="1400" b="0" u="none" strike="noStrike">
                <a:solidFill>
                  <a:srgbClr val="FFFFFF"/>
                </a:solidFill>
                <a:effectLst/>
                <a:uFillTx/>
                <a:latin typeface="Calibri"/>
                <a:ea typeface="Calibri"/>
              </a:rPr>
              <a:t>Prerejestracja</a:t>
            </a:r>
            <a:endParaRPr lang="pl-PL" sz="1400" b="0" u="none" strike="noStrike">
              <a:solidFill>
                <a:srgbClr val="000000"/>
              </a:solidFill>
              <a:effectLst/>
              <a:uFillTx/>
              <a:latin typeface="Arial"/>
            </a:endParaRPr>
          </a:p>
        </p:txBody>
      </p:sp>
      <p:sp>
        <p:nvSpPr>
          <p:cNvPr id="55" name="Shape 4"/>
          <p:cNvSpPr/>
          <p:nvPr/>
        </p:nvSpPr>
        <p:spPr>
          <a:xfrm>
            <a:off x="2035800" y="3074760"/>
            <a:ext cx="252000" cy="360"/>
          </a:xfrm>
          <a:prstGeom prst="line">
            <a:avLst/>
          </a:prstGeom>
          <a:ln w="19050">
            <a:solidFill>
              <a:srgbClr val="7A83B0"/>
            </a:solidFill>
            <a:prstDash val="dash"/>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000000"/>
              </a:solidFill>
              <a:effectLst/>
              <a:uFillTx/>
              <a:latin typeface="Arial"/>
            </a:endParaRPr>
          </a:p>
        </p:txBody>
      </p:sp>
      <p:sp>
        <p:nvSpPr>
          <p:cNvPr id="56" name="Shape 5"/>
          <p:cNvSpPr/>
          <p:nvPr/>
        </p:nvSpPr>
        <p:spPr>
          <a:xfrm>
            <a:off x="2288160" y="1259640"/>
            <a:ext cx="1712520" cy="3217110"/>
          </a:xfrm>
          <a:prstGeom prst="roundRect">
            <a:avLst>
              <a:gd name="adj" fmla="val 7059"/>
            </a:avLst>
          </a:prstGeom>
          <a:solidFill>
            <a:srgbClr val="2D3B8E"/>
          </a:solidFill>
          <a:ln w="0">
            <a:noFill/>
          </a:ln>
          <a:effectLst>
            <a:outerShdw blurRad="101520" dist="37674"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57" name="Text 9"/>
          <p:cNvSpPr/>
          <p:nvPr/>
        </p:nvSpPr>
        <p:spPr>
          <a:xfrm>
            <a:off x="2288160" y="1310400"/>
            <a:ext cx="1712160" cy="75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3200" b="1" u="none" strike="noStrike">
                <a:solidFill>
                  <a:srgbClr val="FFFFFF"/>
                </a:solidFill>
                <a:effectLst/>
                <a:uFillTx/>
                <a:latin typeface="Cambria"/>
                <a:ea typeface="Cambria"/>
              </a:rPr>
              <a:t>02</a:t>
            </a:r>
            <a:endParaRPr lang="pl-PL" sz="3200" b="0" u="none" strike="noStrike">
              <a:solidFill>
                <a:srgbClr val="000000"/>
              </a:solidFill>
              <a:effectLst/>
              <a:uFillTx/>
              <a:latin typeface="Arial"/>
            </a:endParaRPr>
          </a:p>
        </p:txBody>
      </p:sp>
      <p:sp>
        <p:nvSpPr>
          <p:cNvPr id="58" name="Shape 8"/>
          <p:cNvSpPr/>
          <p:nvPr/>
        </p:nvSpPr>
        <p:spPr>
          <a:xfrm>
            <a:off x="2590560" y="2096640"/>
            <a:ext cx="1107360" cy="28440"/>
          </a:xfrm>
          <a:prstGeom prst="rect">
            <a:avLst/>
          </a:prstGeom>
          <a:solidFill>
            <a:srgbClr val="FFFFFF">
              <a:alpha val="50000"/>
            </a:srgbClr>
          </a:solidFill>
          <a:ln w="12700">
            <a:solidFill>
              <a:srgbClr val="FFFFFF"/>
            </a:solidFill>
            <a:round/>
          </a:ln>
        </p:spPr>
        <p:style>
          <a:lnRef idx="0">
            <a:scrgbClr r="0" g="0" b="0"/>
          </a:lnRef>
          <a:fillRef idx="0">
            <a:scrgbClr r="0" g="0" b="0"/>
          </a:fillRef>
          <a:effectRef idx="0">
            <a:scrgbClr r="0" g="0" b="0"/>
          </a:effectRef>
          <a:fontRef idx="minor"/>
        </p:style>
        <p:txBody>
          <a:bodyPr lIns="90000" tIns="-17640" rIns="90000" bIns="-1764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59" name="Text 12"/>
          <p:cNvSpPr/>
          <p:nvPr/>
        </p:nvSpPr>
        <p:spPr>
          <a:xfrm>
            <a:off x="2288160" y="2167200"/>
            <a:ext cx="1712160" cy="552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200" b="1" u="none" strike="noStrike">
                <a:solidFill>
                  <a:srgbClr val="FFFFFF"/>
                </a:solidFill>
                <a:effectLst/>
                <a:uFillTx/>
                <a:latin typeface="Cambria"/>
                <a:ea typeface="Cambria"/>
              </a:rPr>
              <a:t>Pomiar</a:t>
            </a:r>
            <a:endParaRPr lang="pl-PL" sz="2200" b="0" u="none" strike="noStrike">
              <a:solidFill>
                <a:srgbClr val="000000"/>
              </a:solidFill>
              <a:effectLst/>
              <a:uFillTx/>
              <a:latin typeface="Arial"/>
            </a:endParaRPr>
          </a:p>
        </p:txBody>
      </p:sp>
      <p:sp>
        <p:nvSpPr>
          <p:cNvPr id="60" name="Text 15"/>
          <p:cNvSpPr/>
          <p:nvPr/>
        </p:nvSpPr>
        <p:spPr>
          <a:xfrm>
            <a:off x="2321640" y="2724375"/>
            <a:ext cx="1634400" cy="160775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30000"/>
              </a:lnSpc>
              <a:tabLst>
                <a:tab pos="0" algn="l"/>
              </a:tabLst>
            </a:pPr>
            <a:r>
              <a:rPr lang="pl-PL" sz="1500" b="0" u="none" strike="noStrike">
                <a:solidFill>
                  <a:srgbClr val="FFFFFF"/>
                </a:solidFill>
                <a:effectLst/>
                <a:uFillTx/>
                <a:latin typeface="Calibri"/>
                <a:ea typeface="Calibri"/>
              </a:rPr>
              <a:t>Narzędzia eksperymentalne</a:t>
            </a:r>
            <a:endParaRPr lang="pl-PL" sz="1500" b="0" u="none" strike="noStrike">
              <a:solidFill>
                <a:srgbClr val="000000"/>
              </a:solidFill>
              <a:effectLst/>
              <a:uFillTx/>
              <a:latin typeface="Arial"/>
            </a:endParaRPr>
          </a:p>
          <a:p>
            <a:pPr algn="ctr" defTabSz="914400">
              <a:lnSpc>
                <a:spcPct val="130000"/>
              </a:lnSpc>
              <a:tabLst>
                <a:tab pos="0" algn="l"/>
              </a:tabLst>
            </a:pPr>
            <a:r>
              <a:rPr lang="pl-PL" sz="1500" b="0" u="none" strike="noStrike">
                <a:solidFill>
                  <a:srgbClr val="FFFFFF"/>
                </a:solidFill>
                <a:effectLst/>
                <a:uFillTx/>
                <a:latin typeface="Calibri"/>
                <a:ea typeface="Calibri"/>
              </a:rPr>
              <a:t>Źródła danych</a:t>
            </a:r>
            <a:endParaRPr lang="pl-PL" sz="1500" b="0" u="none" strike="noStrike">
              <a:solidFill>
                <a:srgbClr val="000000"/>
              </a:solidFill>
              <a:effectLst/>
              <a:uFillTx/>
              <a:latin typeface="Arial"/>
            </a:endParaRPr>
          </a:p>
          <a:p>
            <a:pPr algn="ctr" defTabSz="914400">
              <a:lnSpc>
                <a:spcPct val="130000"/>
              </a:lnSpc>
              <a:tabLst>
                <a:tab pos="0" algn="l"/>
              </a:tabLst>
            </a:pPr>
            <a:r>
              <a:rPr lang="pl-PL" sz="1500" b="0" u="none" strike="noStrike">
                <a:solidFill>
                  <a:srgbClr val="FFFFFF"/>
                </a:solidFill>
                <a:effectLst/>
                <a:uFillTx/>
                <a:latin typeface="Calibri"/>
                <a:ea typeface="Calibri"/>
              </a:rPr>
              <a:t>Precyzja pomiaru</a:t>
            </a:r>
            <a:endParaRPr lang="pl-PL" sz="1500" b="0" u="none" strike="noStrike">
              <a:solidFill>
                <a:srgbClr val="000000"/>
              </a:solidFill>
              <a:effectLst/>
              <a:uFillTx/>
              <a:latin typeface="Arial"/>
            </a:endParaRPr>
          </a:p>
        </p:txBody>
      </p:sp>
      <p:sp>
        <p:nvSpPr>
          <p:cNvPr id="61" name="Shape 14"/>
          <p:cNvSpPr/>
          <p:nvPr/>
        </p:nvSpPr>
        <p:spPr>
          <a:xfrm>
            <a:off x="4021920" y="3074760"/>
            <a:ext cx="252000" cy="360"/>
          </a:xfrm>
          <a:prstGeom prst="line">
            <a:avLst/>
          </a:prstGeom>
          <a:ln w="19050">
            <a:solidFill>
              <a:srgbClr val="7A83B0"/>
            </a:solidFill>
            <a:prstDash val="dash"/>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000000"/>
              </a:solidFill>
              <a:effectLst/>
              <a:uFillTx/>
              <a:latin typeface="Arial"/>
            </a:endParaRPr>
          </a:p>
        </p:txBody>
      </p:sp>
      <p:sp>
        <p:nvSpPr>
          <p:cNvPr id="62" name="Shape 15"/>
          <p:cNvSpPr/>
          <p:nvPr/>
        </p:nvSpPr>
        <p:spPr>
          <a:xfrm>
            <a:off x="4273920" y="1259640"/>
            <a:ext cx="1712520" cy="3217110"/>
          </a:xfrm>
          <a:prstGeom prst="roundRect">
            <a:avLst>
              <a:gd name="adj" fmla="val 7059"/>
            </a:avLst>
          </a:prstGeom>
          <a:solidFill>
            <a:srgbClr val="5B8FF9"/>
          </a:solidFill>
          <a:ln w="0">
            <a:noFill/>
          </a:ln>
          <a:effectLst>
            <a:outerShdw blurRad="101520" dist="37674"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63" name="Text 18"/>
          <p:cNvSpPr/>
          <p:nvPr/>
        </p:nvSpPr>
        <p:spPr>
          <a:xfrm>
            <a:off x="4274280" y="1310400"/>
            <a:ext cx="1712160" cy="75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3200" b="1" u="none" strike="noStrike">
                <a:solidFill>
                  <a:srgbClr val="FFFFFF"/>
                </a:solidFill>
                <a:effectLst/>
                <a:uFillTx/>
                <a:latin typeface="Cambria"/>
                <a:ea typeface="Cambria"/>
              </a:rPr>
              <a:t>03</a:t>
            </a:r>
            <a:endParaRPr lang="pl-PL" sz="3200" b="0" u="none" strike="noStrike">
              <a:solidFill>
                <a:srgbClr val="000000"/>
              </a:solidFill>
              <a:effectLst/>
              <a:uFillTx/>
              <a:latin typeface="Arial"/>
            </a:endParaRPr>
          </a:p>
        </p:txBody>
      </p:sp>
      <p:sp>
        <p:nvSpPr>
          <p:cNvPr id="64" name="Shape 17"/>
          <p:cNvSpPr/>
          <p:nvPr/>
        </p:nvSpPr>
        <p:spPr>
          <a:xfrm>
            <a:off x="4576680" y="2096640"/>
            <a:ext cx="1107360" cy="28440"/>
          </a:xfrm>
          <a:prstGeom prst="rect">
            <a:avLst/>
          </a:prstGeom>
          <a:solidFill>
            <a:srgbClr val="FFFFFF">
              <a:alpha val="50000"/>
            </a:srgbClr>
          </a:solidFill>
          <a:ln w="12700">
            <a:solidFill>
              <a:srgbClr val="FFFFFF"/>
            </a:solidFill>
            <a:round/>
          </a:ln>
        </p:spPr>
        <p:style>
          <a:lnRef idx="0">
            <a:scrgbClr r="0" g="0" b="0"/>
          </a:lnRef>
          <a:fillRef idx="0">
            <a:scrgbClr r="0" g="0" b="0"/>
          </a:fillRef>
          <a:effectRef idx="0">
            <a:scrgbClr r="0" g="0" b="0"/>
          </a:effectRef>
          <a:fontRef idx="minor"/>
        </p:style>
        <p:txBody>
          <a:bodyPr lIns="90000" tIns="-17640" rIns="90000" bIns="-1764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65" name="Text 19"/>
          <p:cNvSpPr/>
          <p:nvPr/>
        </p:nvSpPr>
        <p:spPr>
          <a:xfrm>
            <a:off x="4242795" y="2167200"/>
            <a:ext cx="1757880" cy="552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900" b="1" u="none" strike="noStrike" spc="-40" dirty="0">
                <a:solidFill>
                  <a:srgbClr val="FFFFFF"/>
                </a:solidFill>
                <a:effectLst/>
                <a:uFillTx/>
                <a:latin typeface="Cambria"/>
                <a:ea typeface="Cambria"/>
              </a:rPr>
              <a:t>Automatyzacja</a:t>
            </a:r>
            <a:endParaRPr lang="pl-PL" sz="1900" b="0" u="none" strike="noStrike" spc="-40" dirty="0">
              <a:solidFill>
                <a:srgbClr val="000000"/>
              </a:solidFill>
              <a:effectLst/>
              <a:uFillTx/>
              <a:latin typeface="Arial"/>
            </a:endParaRPr>
          </a:p>
        </p:txBody>
      </p:sp>
      <p:sp>
        <p:nvSpPr>
          <p:cNvPr id="66" name="Text 22"/>
          <p:cNvSpPr/>
          <p:nvPr/>
        </p:nvSpPr>
        <p:spPr>
          <a:xfrm>
            <a:off x="4375080" y="2724375"/>
            <a:ext cx="1510560" cy="160775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30000"/>
              </a:lnSpc>
              <a:tabLst>
                <a:tab pos="0" algn="l"/>
              </a:tabLst>
            </a:pPr>
            <a:r>
              <a:rPr lang="pl-PL" sz="1600" b="0" u="none" strike="noStrike" dirty="0" err="1">
                <a:solidFill>
                  <a:srgbClr val="FFFFFF"/>
                </a:solidFill>
                <a:effectLst/>
                <a:uFillTx/>
                <a:latin typeface="Calibri"/>
                <a:ea typeface="Calibri"/>
              </a:rPr>
              <a:t>Workflow</a:t>
            </a:r>
            <a:endParaRPr lang="pl-PL" sz="1600" b="0" u="none" strike="noStrike" dirty="0">
              <a:solidFill>
                <a:srgbClr val="000000"/>
              </a:solidFill>
              <a:effectLst/>
              <a:uFillTx/>
              <a:latin typeface="Arial"/>
            </a:endParaRPr>
          </a:p>
          <a:p>
            <a:pPr algn="ctr" defTabSz="914400">
              <a:lnSpc>
                <a:spcPct val="130000"/>
              </a:lnSpc>
              <a:tabLst>
                <a:tab pos="0" algn="l"/>
              </a:tabLst>
            </a:pPr>
            <a:r>
              <a:rPr lang="pl-PL" sz="1600" b="0" u="none" strike="noStrike" dirty="0">
                <a:solidFill>
                  <a:srgbClr val="FFFFFF"/>
                </a:solidFill>
                <a:effectLst/>
                <a:uFillTx/>
                <a:latin typeface="Calibri"/>
                <a:ea typeface="Calibri"/>
              </a:rPr>
              <a:t>Logowanie</a:t>
            </a:r>
            <a:endParaRPr lang="pl-PL" sz="1600" b="0" u="none" strike="noStrike" dirty="0">
              <a:solidFill>
                <a:srgbClr val="000000"/>
              </a:solidFill>
              <a:effectLst/>
              <a:uFillTx/>
              <a:latin typeface="Arial"/>
            </a:endParaRPr>
          </a:p>
          <a:p>
            <a:pPr algn="ctr" defTabSz="914400">
              <a:lnSpc>
                <a:spcPct val="130000"/>
              </a:lnSpc>
              <a:tabLst>
                <a:tab pos="0" algn="l"/>
              </a:tabLst>
            </a:pPr>
            <a:r>
              <a:rPr lang="pl-PL" sz="1600" b="0" u="none" strike="noStrike" dirty="0">
                <a:solidFill>
                  <a:srgbClr val="FFFFFF"/>
                </a:solidFill>
                <a:effectLst/>
                <a:uFillTx/>
                <a:latin typeface="Calibri"/>
                <a:ea typeface="Calibri"/>
              </a:rPr>
              <a:t>Kontrola jakości</a:t>
            </a:r>
            <a:endParaRPr lang="pl-PL" sz="1600" b="0" u="none" strike="noStrike" dirty="0">
              <a:solidFill>
                <a:srgbClr val="000000"/>
              </a:solidFill>
              <a:effectLst/>
              <a:uFillTx/>
              <a:latin typeface="Arial"/>
            </a:endParaRPr>
          </a:p>
        </p:txBody>
      </p:sp>
      <p:sp>
        <p:nvSpPr>
          <p:cNvPr id="67" name="Shape 20"/>
          <p:cNvSpPr/>
          <p:nvPr/>
        </p:nvSpPr>
        <p:spPr>
          <a:xfrm>
            <a:off x="6007680" y="3074760"/>
            <a:ext cx="252000" cy="360"/>
          </a:xfrm>
          <a:prstGeom prst="line">
            <a:avLst/>
          </a:prstGeom>
          <a:ln w="19050">
            <a:solidFill>
              <a:srgbClr val="7A83B0"/>
            </a:solidFill>
            <a:prstDash val="dash"/>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000000"/>
              </a:solidFill>
              <a:effectLst/>
              <a:uFillTx/>
              <a:latin typeface="Arial"/>
            </a:endParaRPr>
          </a:p>
        </p:txBody>
      </p:sp>
      <p:sp>
        <p:nvSpPr>
          <p:cNvPr id="68" name="Shape 21"/>
          <p:cNvSpPr/>
          <p:nvPr/>
        </p:nvSpPr>
        <p:spPr>
          <a:xfrm>
            <a:off x="6259680" y="1259640"/>
            <a:ext cx="1712520" cy="3217110"/>
          </a:xfrm>
          <a:prstGeom prst="roundRect">
            <a:avLst>
              <a:gd name="adj" fmla="val 7059"/>
            </a:avLst>
          </a:prstGeom>
          <a:solidFill>
            <a:srgbClr val="2D7DD2"/>
          </a:solidFill>
          <a:ln w="0">
            <a:noFill/>
          </a:ln>
          <a:effectLst>
            <a:outerShdw blurRad="101520" dist="37674"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69" name="Text 24"/>
          <p:cNvSpPr/>
          <p:nvPr/>
        </p:nvSpPr>
        <p:spPr>
          <a:xfrm>
            <a:off x="6259680" y="1310400"/>
            <a:ext cx="1712160" cy="75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3200" b="1" u="none" strike="noStrike">
                <a:solidFill>
                  <a:srgbClr val="FFFFFF"/>
                </a:solidFill>
                <a:effectLst/>
                <a:uFillTx/>
                <a:latin typeface="Cambria"/>
                <a:ea typeface="Cambria"/>
              </a:rPr>
              <a:t>04</a:t>
            </a:r>
            <a:endParaRPr lang="pl-PL" sz="3200" b="0" u="none" strike="noStrike">
              <a:solidFill>
                <a:srgbClr val="000000"/>
              </a:solidFill>
              <a:effectLst/>
              <a:uFillTx/>
              <a:latin typeface="Arial"/>
            </a:endParaRPr>
          </a:p>
        </p:txBody>
      </p:sp>
      <p:sp>
        <p:nvSpPr>
          <p:cNvPr id="70" name="Shape 23"/>
          <p:cNvSpPr/>
          <p:nvPr/>
        </p:nvSpPr>
        <p:spPr>
          <a:xfrm>
            <a:off x="6562440" y="2096640"/>
            <a:ext cx="1107360" cy="28440"/>
          </a:xfrm>
          <a:prstGeom prst="rect">
            <a:avLst/>
          </a:prstGeom>
          <a:solidFill>
            <a:srgbClr val="FFFFFF">
              <a:alpha val="50000"/>
            </a:srgbClr>
          </a:solidFill>
          <a:ln w="12700">
            <a:solidFill>
              <a:srgbClr val="FFFFFF"/>
            </a:solidFill>
            <a:round/>
          </a:ln>
        </p:spPr>
        <p:style>
          <a:lnRef idx="0">
            <a:scrgbClr r="0" g="0" b="0"/>
          </a:lnRef>
          <a:fillRef idx="0">
            <a:scrgbClr r="0" g="0" b="0"/>
          </a:fillRef>
          <a:effectRef idx="0">
            <a:scrgbClr r="0" g="0" b="0"/>
          </a:effectRef>
          <a:fontRef idx="minor"/>
        </p:style>
        <p:txBody>
          <a:bodyPr lIns="90000" tIns="-17640" rIns="90000" bIns="-1764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71" name="Text 25"/>
          <p:cNvSpPr/>
          <p:nvPr/>
        </p:nvSpPr>
        <p:spPr>
          <a:xfrm>
            <a:off x="6259680" y="2167200"/>
            <a:ext cx="1712160" cy="552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200" b="1" u="none" strike="noStrike">
                <a:solidFill>
                  <a:srgbClr val="FFFFFF"/>
                </a:solidFill>
                <a:effectLst/>
                <a:uFillTx/>
                <a:latin typeface="Cambria"/>
                <a:ea typeface="Cambria"/>
              </a:rPr>
              <a:t>Analiza</a:t>
            </a:r>
            <a:endParaRPr lang="pl-PL" sz="2200" b="0" u="none" strike="noStrike">
              <a:solidFill>
                <a:srgbClr val="000000"/>
              </a:solidFill>
              <a:effectLst/>
              <a:uFillTx/>
              <a:latin typeface="Arial"/>
            </a:endParaRPr>
          </a:p>
        </p:txBody>
      </p:sp>
      <p:sp>
        <p:nvSpPr>
          <p:cNvPr id="72" name="Text 28"/>
          <p:cNvSpPr/>
          <p:nvPr/>
        </p:nvSpPr>
        <p:spPr>
          <a:xfrm>
            <a:off x="6360480" y="2724375"/>
            <a:ext cx="1510560" cy="160775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30000"/>
              </a:lnSpc>
              <a:tabLst>
                <a:tab pos="0" algn="l"/>
              </a:tabLst>
            </a:pPr>
            <a:r>
              <a:rPr lang="pl-PL" sz="1600" b="0" u="none" strike="noStrike">
                <a:solidFill>
                  <a:srgbClr val="FFFFFF"/>
                </a:solidFill>
                <a:effectLst/>
                <a:uFillTx/>
                <a:latin typeface="Calibri"/>
                <a:ea typeface="Calibri"/>
              </a:rPr>
              <a:t>Statystyki klasyczne,</a:t>
            </a:r>
            <a:endParaRPr lang="pl-PL" sz="1600" b="0" u="none" strike="noStrike">
              <a:solidFill>
                <a:srgbClr val="000000"/>
              </a:solidFill>
              <a:effectLst/>
              <a:uFillTx/>
              <a:latin typeface="Arial"/>
            </a:endParaRPr>
          </a:p>
          <a:p>
            <a:pPr algn="ctr" defTabSz="914400">
              <a:lnSpc>
                <a:spcPct val="130000"/>
              </a:lnSpc>
              <a:tabLst>
                <a:tab pos="0" algn="l"/>
              </a:tabLst>
            </a:pPr>
            <a:r>
              <a:rPr lang="pl-PL" sz="1600" b="0" u="none" strike="noStrike">
                <a:solidFill>
                  <a:srgbClr val="FFFFFF"/>
                </a:solidFill>
                <a:effectLst/>
                <a:uFillTx/>
                <a:latin typeface="Calibri"/>
                <a:ea typeface="Calibri"/>
              </a:rPr>
              <a:t>ML / AI</a:t>
            </a:r>
            <a:endParaRPr lang="pl-PL" sz="1600" b="0" u="none" strike="noStrike">
              <a:solidFill>
                <a:srgbClr val="000000"/>
              </a:solidFill>
              <a:effectLst/>
              <a:uFillTx/>
              <a:latin typeface="Arial"/>
            </a:endParaRPr>
          </a:p>
          <a:p>
            <a:pPr algn="ctr" defTabSz="914400">
              <a:lnSpc>
                <a:spcPct val="130000"/>
              </a:lnSpc>
              <a:tabLst>
                <a:tab pos="0" algn="l"/>
              </a:tabLst>
            </a:pPr>
            <a:r>
              <a:rPr lang="pl-PL" sz="1600" b="0" u="none" strike="noStrike">
                <a:solidFill>
                  <a:srgbClr val="FFFFFF"/>
                </a:solidFill>
                <a:effectLst/>
                <a:uFillTx/>
                <a:latin typeface="Calibri"/>
                <a:ea typeface="Calibri"/>
              </a:rPr>
              <a:t>Modelowanie</a:t>
            </a:r>
            <a:endParaRPr lang="pl-PL" sz="1600" b="0" u="none" strike="noStrike">
              <a:solidFill>
                <a:srgbClr val="000000"/>
              </a:solidFill>
              <a:effectLst/>
              <a:uFillTx/>
              <a:latin typeface="Arial"/>
            </a:endParaRPr>
          </a:p>
        </p:txBody>
      </p:sp>
      <p:sp>
        <p:nvSpPr>
          <p:cNvPr id="73" name="Shape 26"/>
          <p:cNvSpPr/>
          <p:nvPr/>
        </p:nvSpPr>
        <p:spPr>
          <a:xfrm>
            <a:off x="7993800" y="3074760"/>
            <a:ext cx="252000" cy="360"/>
          </a:xfrm>
          <a:prstGeom prst="line">
            <a:avLst/>
          </a:prstGeom>
          <a:ln w="19050">
            <a:solidFill>
              <a:srgbClr val="7A83B0"/>
            </a:solidFill>
            <a:prstDash val="dash"/>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000000"/>
              </a:solidFill>
              <a:effectLst/>
              <a:uFillTx/>
              <a:latin typeface="Arial"/>
            </a:endParaRPr>
          </a:p>
        </p:txBody>
      </p:sp>
      <p:sp>
        <p:nvSpPr>
          <p:cNvPr id="74" name="Shape 27"/>
          <p:cNvSpPr/>
          <p:nvPr/>
        </p:nvSpPr>
        <p:spPr>
          <a:xfrm>
            <a:off x="8245800" y="1259640"/>
            <a:ext cx="1712520" cy="3217110"/>
          </a:xfrm>
          <a:prstGeom prst="roundRect">
            <a:avLst>
              <a:gd name="adj" fmla="val 7059"/>
            </a:avLst>
          </a:prstGeom>
          <a:solidFill>
            <a:schemeClr val="accent6"/>
          </a:solidFill>
          <a:ln w="0">
            <a:noFill/>
          </a:ln>
          <a:effectLst>
            <a:outerShdw blurRad="101520" dist="37674"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75" name="Text 30"/>
          <p:cNvSpPr/>
          <p:nvPr/>
        </p:nvSpPr>
        <p:spPr>
          <a:xfrm>
            <a:off x="8245800" y="1310400"/>
            <a:ext cx="1712160" cy="75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3200" b="1" u="none" strike="noStrike">
                <a:solidFill>
                  <a:srgbClr val="FFFFFF"/>
                </a:solidFill>
                <a:effectLst/>
                <a:uFillTx/>
                <a:latin typeface="Cambria"/>
                <a:ea typeface="Cambria"/>
              </a:rPr>
              <a:t>05</a:t>
            </a:r>
            <a:endParaRPr lang="pl-PL" sz="3200" b="0" u="none" strike="noStrike">
              <a:solidFill>
                <a:srgbClr val="000000"/>
              </a:solidFill>
              <a:effectLst/>
              <a:uFillTx/>
              <a:latin typeface="Arial"/>
            </a:endParaRPr>
          </a:p>
        </p:txBody>
      </p:sp>
      <p:sp>
        <p:nvSpPr>
          <p:cNvPr id="76" name="Shape 29"/>
          <p:cNvSpPr/>
          <p:nvPr/>
        </p:nvSpPr>
        <p:spPr>
          <a:xfrm>
            <a:off x="8548200" y="2096640"/>
            <a:ext cx="1107360" cy="28440"/>
          </a:xfrm>
          <a:prstGeom prst="rect">
            <a:avLst/>
          </a:prstGeom>
          <a:solidFill>
            <a:srgbClr val="FFFFFF">
              <a:alpha val="50000"/>
            </a:srgbClr>
          </a:solidFill>
          <a:ln w="12700">
            <a:solidFill>
              <a:srgbClr val="FFFFFF"/>
            </a:solidFill>
            <a:round/>
          </a:ln>
        </p:spPr>
        <p:style>
          <a:lnRef idx="0">
            <a:scrgbClr r="0" g="0" b="0"/>
          </a:lnRef>
          <a:fillRef idx="0">
            <a:scrgbClr r="0" g="0" b="0"/>
          </a:fillRef>
          <a:effectRef idx="0">
            <a:scrgbClr r="0" g="0" b="0"/>
          </a:effectRef>
          <a:fontRef idx="minor"/>
        </p:style>
        <p:txBody>
          <a:bodyPr lIns="90000" tIns="-17640" rIns="90000" bIns="-1764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77" name="Text 31"/>
          <p:cNvSpPr/>
          <p:nvPr/>
        </p:nvSpPr>
        <p:spPr>
          <a:xfrm>
            <a:off x="8245800" y="2167200"/>
            <a:ext cx="1712160" cy="552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000" b="1" u="none" strike="noStrike">
                <a:solidFill>
                  <a:srgbClr val="FFFFFF"/>
                </a:solidFill>
                <a:effectLst/>
                <a:uFillTx/>
                <a:latin typeface="Cambria"/>
                <a:ea typeface="Cambria"/>
              </a:rPr>
              <a:t>Publikacja</a:t>
            </a:r>
            <a:endParaRPr lang="pl-PL" sz="2000" b="0" u="none" strike="noStrike">
              <a:solidFill>
                <a:srgbClr val="000000"/>
              </a:solidFill>
              <a:effectLst/>
              <a:uFillTx/>
              <a:latin typeface="Arial"/>
            </a:endParaRPr>
          </a:p>
        </p:txBody>
      </p:sp>
      <p:sp>
        <p:nvSpPr>
          <p:cNvPr id="78" name="Text 32"/>
          <p:cNvSpPr/>
          <p:nvPr/>
        </p:nvSpPr>
        <p:spPr>
          <a:xfrm>
            <a:off x="8245800" y="2724375"/>
            <a:ext cx="1712520" cy="160775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30000"/>
              </a:lnSpc>
              <a:tabLst>
                <a:tab pos="0" algn="l"/>
              </a:tabLst>
            </a:pPr>
            <a:r>
              <a:rPr lang="pl-PL" sz="1800" b="0" u="none" strike="noStrike">
                <a:solidFill>
                  <a:srgbClr val="FFFFFF"/>
                </a:solidFill>
                <a:effectLst/>
                <a:uFillTx/>
                <a:latin typeface="Calibri"/>
                <a:ea typeface="Calibri"/>
              </a:rPr>
              <a:t>Otwarta nauka</a:t>
            </a:r>
            <a:endParaRPr lang="pl-PL" sz="1800" b="0" u="none" strike="noStrike">
              <a:solidFill>
                <a:srgbClr val="000000"/>
              </a:solidFill>
              <a:effectLst/>
              <a:uFillTx/>
              <a:latin typeface="Arial"/>
            </a:endParaRPr>
          </a:p>
          <a:p>
            <a:pPr algn="ctr" defTabSz="914400">
              <a:lnSpc>
                <a:spcPct val="130000"/>
              </a:lnSpc>
              <a:tabLst>
                <a:tab pos="0" algn="l"/>
              </a:tabLst>
            </a:pPr>
            <a:r>
              <a:rPr lang="pl-PL" sz="1800" b="0" u="none" strike="noStrike">
                <a:solidFill>
                  <a:srgbClr val="FFFFFF"/>
                </a:solidFill>
                <a:effectLst/>
                <a:uFillTx/>
                <a:latin typeface="Calibri"/>
                <a:ea typeface="Calibri"/>
              </a:rPr>
              <a:t>Kod i dane</a:t>
            </a:r>
            <a:endParaRPr lang="pl-PL" sz="1800" b="0" u="none" strike="noStrike">
              <a:solidFill>
                <a:srgbClr val="000000"/>
              </a:solidFill>
              <a:effectLst/>
              <a:uFillTx/>
              <a:latin typeface="Arial"/>
            </a:endParaRPr>
          </a:p>
          <a:p>
            <a:pPr algn="ctr" defTabSz="914400">
              <a:lnSpc>
                <a:spcPct val="130000"/>
              </a:lnSpc>
              <a:tabLst>
                <a:tab pos="0" algn="l"/>
              </a:tabLst>
            </a:pPr>
            <a:r>
              <a:rPr lang="pl-PL" sz="1800" b="0" u="none" strike="noStrike">
                <a:solidFill>
                  <a:srgbClr val="FFFFFF"/>
                </a:solidFill>
                <a:effectLst/>
                <a:uFillTx/>
                <a:latin typeface="Calibri"/>
                <a:ea typeface="Calibri"/>
              </a:rPr>
              <a:t>Replikowalność</a:t>
            </a:r>
            <a:endParaRPr lang="pl-PL" sz="1800" b="0" u="none" strike="noStrike">
              <a:solidFill>
                <a:srgbClr val="000000"/>
              </a:solidFill>
              <a:effectLst/>
              <a:uFillTx/>
              <a:latin typeface="Arial"/>
            </a:endParaRPr>
          </a:p>
        </p:txBody>
      </p:sp>
      <p:sp>
        <p:nvSpPr>
          <p:cNvPr id="79" name="Text 40"/>
          <p:cNvSpPr/>
          <p:nvPr/>
        </p:nvSpPr>
        <p:spPr>
          <a:xfrm>
            <a:off x="504000" y="5090760"/>
            <a:ext cx="9071280" cy="401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200" b="0" i="1" u="none" strike="noStrike">
                <a:solidFill>
                  <a:srgbClr val="000000"/>
                </a:solidFill>
                <a:effectLst/>
                <a:uFillTx/>
                <a:latin typeface="Calibri"/>
                <a:ea typeface="Calibri"/>
              </a:rPr>
              <a:t>Każdy etap kończy się konkretnymi narzędziami lub procedurą wdrożeniową</a:t>
            </a:r>
            <a:endParaRPr lang="pl-PL" sz="2200" b="0" u="none" strike="noStrike">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80" name="Shape 12"/>
          <p:cNvSpPr/>
          <p:nvPr/>
        </p:nvSpPr>
        <p:spPr>
          <a:xfrm>
            <a:off x="360" y="360"/>
            <a:ext cx="10079280" cy="1107360"/>
          </a:xfrm>
          <a:prstGeom prst="rect">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81" name="Text 20"/>
          <p:cNvSpPr/>
          <p:nvPr/>
        </p:nvSpPr>
        <p:spPr>
          <a:xfrm>
            <a:off x="504000" y="0"/>
            <a:ext cx="9071280" cy="1107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2400" b="1" u="none" strike="noStrike">
                <a:solidFill>
                  <a:srgbClr val="FFFFFF"/>
                </a:solidFill>
                <a:effectLst/>
                <a:uFillTx/>
                <a:latin typeface="Cambria"/>
                <a:ea typeface="Cambria"/>
              </a:rPr>
              <a:t>PSYCHOLOGIA JAKO NAUKA POMIAROWA</a:t>
            </a:r>
            <a:endParaRPr lang="pl-PL" sz="2400" b="0" u="none" strike="noStrike">
              <a:solidFill>
                <a:srgbClr val="000000"/>
              </a:solidFill>
              <a:effectLst/>
              <a:uFillTx/>
              <a:latin typeface="Arial"/>
            </a:endParaRPr>
          </a:p>
        </p:txBody>
      </p:sp>
      <p:sp>
        <p:nvSpPr>
          <p:cNvPr id="82" name="Text 23"/>
          <p:cNvSpPr/>
          <p:nvPr/>
        </p:nvSpPr>
        <p:spPr>
          <a:xfrm>
            <a:off x="2520000" y="2368800"/>
            <a:ext cx="5038920" cy="35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000" b="0" i="1" u="none" strike="noStrike">
                <a:solidFill>
                  <a:srgbClr val="4A5280"/>
                </a:solidFill>
                <a:effectLst/>
                <a:uFillTx/>
                <a:latin typeface="Calibri"/>
                <a:ea typeface="Calibri"/>
              </a:rPr>
              <a:t>(np. uwaga, emocja, lęk, motywacja)</a:t>
            </a:r>
            <a:endParaRPr lang="pl-PL" sz="2000" b="0" u="none" strike="noStrike">
              <a:solidFill>
                <a:srgbClr val="000000"/>
              </a:solidFill>
              <a:effectLst/>
              <a:uFillTx/>
              <a:latin typeface="Arial"/>
            </a:endParaRPr>
          </a:p>
        </p:txBody>
      </p:sp>
      <p:sp>
        <p:nvSpPr>
          <p:cNvPr id="83" name="Shape 16"/>
          <p:cNvSpPr/>
          <p:nvPr/>
        </p:nvSpPr>
        <p:spPr>
          <a:xfrm>
            <a:off x="5040360" y="2721960"/>
            <a:ext cx="360" cy="453600"/>
          </a:xfrm>
          <a:prstGeom prst="line">
            <a:avLst/>
          </a:prstGeom>
          <a:ln w="25400">
            <a:solidFill>
              <a:srgbClr val="5B8FF9"/>
            </a:solidFill>
            <a:prstDash val="dash"/>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pl-PL" sz="1800" b="0" u="none" strike="noStrike">
              <a:solidFill>
                <a:srgbClr val="000000"/>
              </a:solidFill>
              <a:effectLst/>
              <a:uFillTx/>
              <a:latin typeface="Arial"/>
            </a:endParaRPr>
          </a:p>
        </p:txBody>
      </p:sp>
      <p:sp>
        <p:nvSpPr>
          <p:cNvPr id="84" name="Text 26"/>
          <p:cNvSpPr/>
          <p:nvPr/>
        </p:nvSpPr>
        <p:spPr>
          <a:xfrm>
            <a:off x="5090760" y="2741760"/>
            <a:ext cx="2216160" cy="300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500" b="0" i="1" u="none" strike="noStrike">
                <a:solidFill>
                  <a:srgbClr val="5B8FF9"/>
                </a:solidFill>
                <a:effectLst/>
                <a:uFillTx/>
                <a:latin typeface="Calibri"/>
                <a:ea typeface="Calibri"/>
              </a:rPr>
              <a:t>operacjonalizacja</a:t>
            </a:r>
            <a:endParaRPr lang="pl-PL" sz="1500" b="0" u="none" strike="noStrike">
              <a:solidFill>
                <a:srgbClr val="000000"/>
              </a:solidFill>
              <a:effectLst/>
              <a:uFillTx/>
              <a:latin typeface="Arial"/>
            </a:endParaRPr>
          </a:p>
        </p:txBody>
      </p:sp>
      <p:sp>
        <p:nvSpPr>
          <p:cNvPr id="85" name="Shape 18"/>
          <p:cNvSpPr/>
          <p:nvPr/>
        </p:nvSpPr>
        <p:spPr>
          <a:xfrm>
            <a:off x="554040" y="3225600"/>
            <a:ext cx="2821320" cy="905760"/>
          </a:xfrm>
          <a:prstGeom prst="roundRect">
            <a:avLst>
              <a:gd name="adj" fmla="val 11111"/>
            </a:avLst>
          </a:prstGeom>
          <a:solidFill>
            <a:srgbClr val="FFFFFF"/>
          </a:solidFill>
          <a:ln w="0">
            <a:noFill/>
          </a:ln>
          <a:effectLst>
            <a:outerShdw blurRad="101520" dist="37674"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86" name="Shape 19"/>
          <p:cNvSpPr/>
          <p:nvPr/>
        </p:nvSpPr>
        <p:spPr>
          <a:xfrm>
            <a:off x="675360" y="3528000"/>
            <a:ext cx="180000" cy="180000"/>
          </a:xfrm>
          <a:prstGeom prst="ellipse">
            <a:avLst/>
          </a:prstGeom>
          <a:solidFill>
            <a:srgbClr val="5B8FF9"/>
          </a:solidFill>
          <a:ln w="12700">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87" name="Text 27"/>
          <p:cNvSpPr/>
          <p:nvPr/>
        </p:nvSpPr>
        <p:spPr>
          <a:xfrm>
            <a:off x="937080" y="3234240"/>
            <a:ext cx="2316960" cy="421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defTabSz="914400">
              <a:lnSpc>
                <a:spcPct val="100000"/>
              </a:lnSpc>
              <a:tabLst>
                <a:tab pos="0" algn="l"/>
              </a:tabLst>
            </a:pPr>
            <a:r>
              <a:rPr lang="pl-PL" sz="2100" b="1" u="none" strike="noStrike">
                <a:solidFill>
                  <a:srgbClr val="1A1F3C"/>
                </a:solidFill>
                <a:effectLst/>
                <a:uFillTx/>
                <a:latin typeface="Cambria"/>
                <a:ea typeface="Cambria"/>
              </a:rPr>
              <a:t>Czas reakcji</a:t>
            </a:r>
            <a:endParaRPr lang="pl-PL" sz="2100" b="0" u="none" strike="noStrike">
              <a:solidFill>
                <a:srgbClr val="000000"/>
              </a:solidFill>
              <a:effectLst/>
              <a:uFillTx/>
              <a:latin typeface="Arial"/>
            </a:endParaRPr>
          </a:p>
        </p:txBody>
      </p:sp>
      <p:sp>
        <p:nvSpPr>
          <p:cNvPr id="88" name="Text 29"/>
          <p:cNvSpPr/>
          <p:nvPr/>
        </p:nvSpPr>
        <p:spPr>
          <a:xfrm>
            <a:off x="937080" y="3729600"/>
            <a:ext cx="2316960" cy="321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0" i="1" u="none" strike="noStrike">
                <a:solidFill>
                  <a:srgbClr val="4A5280"/>
                </a:solidFill>
                <a:effectLst/>
                <a:uFillTx/>
                <a:latin typeface="Calibri"/>
                <a:ea typeface="Calibri"/>
              </a:rPr>
              <a:t>ms, precyzja sprzętowa</a:t>
            </a:r>
            <a:endParaRPr lang="pl-PL" sz="1600" b="0" u="none" strike="noStrike">
              <a:solidFill>
                <a:srgbClr val="000000"/>
              </a:solidFill>
              <a:effectLst/>
              <a:uFillTx/>
              <a:latin typeface="Arial"/>
            </a:endParaRPr>
          </a:p>
        </p:txBody>
      </p:sp>
      <p:sp>
        <p:nvSpPr>
          <p:cNvPr id="89" name="Shape 22"/>
          <p:cNvSpPr/>
          <p:nvPr/>
        </p:nvSpPr>
        <p:spPr>
          <a:xfrm>
            <a:off x="3628800" y="3225600"/>
            <a:ext cx="2821320" cy="905760"/>
          </a:xfrm>
          <a:prstGeom prst="roundRect">
            <a:avLst>
              <a:gd name="adj" fmla="val 11111"/>
            </a:avLst>
          </a:prstGeom>
          <a:solidFill>
            <a:srgbClr val="FFFFFF"/>
          </a:solidFill>
          <a:ln w="0">
            <a:noFill/>
          </a:ln>
          <a:effectLst>
            <a:outerShdw blurRad="101520" dist="37674"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90" name="Shape 24"/>
          <p:cNvSpPr/>
          <p:nvPr/>
        </p:nvSpPr>
        <p:spPr>
          <a:xfrm>
            <a:off x="3750120" y="3528000"/>
            <a:ext cx="180000" cy="180000"/>
          </a:xfrm>
          <a:prstGeom prst="ellipse">
            <a:avLst/>
          </a:prstGeom>
          <a:solidFill>
            <a:srgbClr val="5B8FF9"/>
          </a:solidFill>
          <a:ln w="12700">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91" name="Text 33"/>
          <p:cNvSpPr/>
          <p:nvPr/>
        </p:nvSpPr>
        <p:spPr>
          <a:xfrm>
            <a:off x="4011840" y="3234240"/>
            <a:ext cx="2316960" cy="421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defTabSz="914400">
              <a:lnSpc>
                <a:spcPct val="100000"/>
              </a:lnSpc>
              <a:tabLst>
                <a:tab pos="0" algn="l"/>
              </a:tabLst>
            </a:pPr>
            <a:r>
              <a:rPr lang="pl-PL" sz="2100" b="1" u="none" strike="noStrike">
                <a:solidFill>
                  <a:srgbClr val="1A1F3C"/>
                </a:solidFill>
                <a:effectLst/>
                <a:uFillTx/>
                <a:latin typeface="Cambria"/>
                <a:ea typeface="Cambria"/>
              </a:rPr>
              <a:t>Ruch oczu</a:t>
            </a:r>
            <a:endParaRPr lang="pl-PL" sz="2100" b="0" u="none" strike="noStrike">
              <a:solidFill>
                <a:srgbClr val="000000"/>
              </a:solidFill>
              <a:effectLst/>
              <a:uFillTx/>
              <a:latin typeface="Arial"/>
            </a:endParaRPr>
          </a:p>
        </p:txBody>
      </p:sp>
      <p:sp>
        <p:nvSpPr>
          <p:cNvPr id="92" name="Text 34"/>
          <p:cNvSpPr/>
          <p:nvPr/>
        </p:nvSpPr>
        <p:spPr>
          <a:xfrm>
            <a:off x="4011840" y="3729600"/>
            <a:ext cx="2316960" cy="321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0" i="1" u="none" strike="noStrike">
                <a:solidFill>
                  <a:srgbClr val="4A5280"/>
                </a:solidFill>
                <a:effectLst/>
                <a:uFillTx/>
                <a:latin typeface="Calibri"/>
                <a:ea typeface="Calibri"/>
              </a:rPr>
              <a:t>fiksacje, sakkady</a:t>
            </a:r>
            <a:endParaRPr lang="pl-PL" sz="1600" b="0" u="none" strike="noStrike">
              <a:solidFill>
                <a:srgbClr val="000000"/>
              </a:solidFill>
              <a:effectLst/>
              <a:uFillTx/>
              <a:latin typeface="Arial"/>
            </a:endParaRPr>
          </a:p>
        </p:txBody>
      </p:sp>
      <p:sp>
        <p:nvSpPr>
          <p:cNvPr id="93" name="Shape 25"/>
          <p:cNvSpPr/>
          <p:nvPr/>
        </p:nvSpPr>
        <p:spPr>
          <a:xfrm>
            <a:off x="6703200" y="3225600"/>
            <a:ext cx="2821320" cy="905760"/>
          </a:xfrm>
          <a:prstGeom prst="roundRect">
            <a:avLst>
              <a:gd name="adj" fmla="val 11111"/>
            </a:avLst>
          </a:prstGeom>
          <a:solidFill>
            <a:srgbClr val="FFFFFF"/>
          </a:solidFill>
          <a:ln w="0">
            <a:noFill/>
          </a:ln>
          <a:effectLst>
            <a:outerShdw blurRad="101520" dist="37674"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94" name="Shape 28"/>
          <p:cNvSpPr/>
          <p:nvPr/>
        </p:nvSpPr>
        <p:spPr>
          <a:xfrm>
            <a:off x="6824520" y="3528000"/>
            <a:ext cx="180000" cy="180000"/>
          </a:xfrm>
          <a:prstGeom prst="ellipse">
            <a:avLst/>
          </a:prstGeom>
          <a:solidFill>
            <a:srgbClr val="5B8FF9"/>
          </a:solidFill>
          <a:ln w="12700">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95" name="Text 35"/>
          <p:cNvSpPr/>
          <p:nvPr/>
        </p:nvSpPr>
        <p:spPr>
          <a:xfrm>
            <a:off x="7086600" y="3234240"/>
            <a:ext cx="2316960" cy="421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defTabSz="914400">
              <a:lnSpc>
                <a:spcPct val="100000"/>
              </a:lnSpc>
              <a:tabLst>
                <a:tab pos="0" algn="l"/>
              </a:tabLst>
            </a:pPr>
            <a:r>
              <a:rPr lang="pl-PL" sz="2100" b="1" u="none" strike="noStrike">
                <a:solidFill>
                  <a:srgbClr val="1A1F3C"/>
                </a:solidFill>
                <a:effectLst/>
                <a:uFillTx/>
                <a:latin typeface="Cambria"/>
                <a:ea typeface="Cambria"/>
              </a:rPr>
              <a:t>Mimika</a:t>
            </a:r>
            <a:endParaRPr lang="pl-PL" sz="2100" b="0" u="none" strike="noStrike">
              <a:solidFill>
                <a:srgbClr val="000000"/>
              </a:solidFill>
              <a:effectLst/>
              <a:uFillTx/>
              <a:latin typeface="Arial"/>
            </a:endParaRPr>
          </a:p>
        </p:txBody>
      </p:sp>
      <p:sp>
        <p:nvSpPr>
          <p:cNvPr id="96" name="Text 36"/>
          <p:cNvSpPr/>
          <p:nvPr/>
        </p:nvSpPr>
        <p:spPr>
          <a:xfrm>
            <a:off x="7086600" y="3729600"/>
            <a:ext cx="2316960" cy="321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0" i="1" u="none" strike="noStrike">
                <a:solidFill>
                  <a:srgbClr val="4A5280"/>
                </a:solidFill>
                <a:effectLst/>
                <a:uFillTx/>
                <a:latin typeface="Calibri"/>
                <a:ea typeface="Calibri"/>
              </a:rPr>
              <a:t>AU, FACS, landmarki</a:t>
            </a:r>
            <a:endParaRPr lang="pl-PL" sz="1600" b="0" u="none" strike="noStrike">
              <a:solidFill>
                <a:srgbClr val="000000"/>
              </a:solidFill>
              <a:effectLst/>
              <a:uFillTx/>
              <a:latin typeface="Arial"/>
            </a:endParaRPr>
          </a:p>
        </p:txBody>
      </p:sp>
      <p:sp>
        <p:nvSpPr>
          <p:cNvPr id="97" name="Shape 30"/>
          <p:cNvSpPr/>
          <p:nvPr/>
        </p:nvSpPr>
        <p:spPr>
          <a:xfrm>
            <a:off x="554040" y="4314240"/>
            <a:ext cx="2821320" cy="905760"/>
          </a:xfrm>
          <a:prstGeom prst="roundRect">
            <a:avLst>
              <a:gd name="adj" fmla="val 11111"/>
            </a:avLst>
          </a:prstGeom>
          <a:solidFill>
            <a:srgbClr val="FFFFFF"/>
          </a:solidFill>
          <a:ln w="0">
            <a:noFill/>
          </a:ln>
          <a:effectLst>
            <a:outerShdw blurRad="101520" dist="37674"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98" name="Shape 31"/>
          <p:cNvSpPr/>
          <p:nvPr/>
        </p:nvSpPr>
        <p:spPr>
          <a:xfrm>
            <a:off x="675360" y="4617000"/>
            <a:ext cx="180000" cy="180000"/>
          </a:xfrm>
          <a:prstGeom prst="ellipse">
            <a:avLst/>
          </a:prstGeom>
          <a:solidFill>
            <a:srgbClr val="5B8FF9"/>
          </a:solidFill>
          <a:ln w="12700">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99" name="Text 37"/>
          <p:cNvSpPr/>
          <p:nvPr/>
        </p:nvSpPr>
        <p:spPr>
          <a:xfrm>
            <a:off x="937080" y="4322880"/>
            <a:ext cx="2316960" cy="421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defTabSz="914400">
              <a:lnSpc>
                <a:spcPct val="100000"/>
              </a:lnSpc>
              <a:tabLst>
                <a:tab pos="0" algn="l"/>
              </a:tabLst>
            </a:pPr>
            <a:r>
              <a:rPr lang="pl-PL" sz="2100" b="1" u="none" strike="noStrike">
                <a:solidFill>
                  <a:srgbClr val="1A1F3C"/>
                </a:solidFill>
                <a:effectLst/>
                <a:uFillTx/>
                <a:latin typeface="Cambria"/>
                <a:ea typeface="Cambria"/>
              </a:rPr>
              <a:t>Głos i mowa</a:t>
            </a:r>
            <a:endParaRPr lang="pl-PL" sz="2100" b="0" u="none" strike="noStrike">
              <a:solidFill>
                <a:srgbClr val="000000"/>
              </a:solidFill>
              <a:effectLst/>
              <a:uFillTx/>
              <a:latin typeface="Arial"/>
            </a:endParaRPr>
          </a:p>
        </p:txBody>
      </p:sp>
      <p:sp>
        <p:nvSpPr>
          <p:cNvPr id="100" name="Text 38"/>
          <p:cNvSpPr/>
          <p:nvPr/>
        </p:nvSpPr>
        <p:spPr>
          <a:xfrm>
            <a:off x="937080" y="4818240"/>
            <a:ext cx="2316960" cy="321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0" i="1" u="none" strike="noStrike">
                <a:solidFill>
                  <a:srgbClr val="4A5280"/>
                </a:solidFill>
                <a:effectLst/>
                <a:uFillTx/>
                <a:latin typeface="Calibri"/>
                <a:ea typeface="Calibri"/>
              </a:rPr>
              <a:t>prozodia, MFCC</a:t>
            </a:r>
            <a:endParaRPr lang="pl-PL" sz="1600" b="0" u="none" strike="noStrike">
              <a:solidFill>
                <a:srgbClr val="000000"/>
              </a:solidFill>
              <a:effectLst/>
              <a:uFillTx/>
              <a:latin typeface="Arial"/>
            </a:endParaRPr>
          </a:p>
        </p:txBody>
      </p:sp>
      <p:sp>
        <p:nvSpPr>
          <p:cNvPr id="101" name="Shape 41"/>
          <p:cNvSpPr/>
          <p:nvPr/>
        </p:nvSpPr>
        <p:spPr>
          <a:xfrm>
            <a:off x="3628800" y="4314240"/>
            <a:ext cx="2821320" cy="905760"/>
          </a:xfrm>
          <a:prstGeom prst="roundRect">
            <a:avLst>
              <a:gd name="adj" fmla="val 11111"/>
            </a:avLst>
          </a:prstGeom>
          <a:solidFill>
            <a:srgbClr val="FFFFFF"/>
          </a:solidFill>
          <a:ln w="0">
            <a:noFill/>
          </a:ln>
          <a:effectLst>
            <a:outerShdw blurRad="101520" dist="37674"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102" name="Shape 42"/>
          <p:cNvSpPr/>
          <p:nvPr/>
        </p:nvSpPr>
        <p:spPr>
          <a:xfrm>
            <a:off x="3750120" y="4617000"/>
            <a:ext cx="180000" cy="180000"/>
          </a:xfrm>
          <a:prstGeom prst="ellipse">
            <a:avLst/>
          </a:prstGeom>
          <a:solidFill>
            <a:srgbClr val="5B8FF9"/>
          </a:solidFill>
          <a:ln w="12700">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03" name="Text 39"/>
          <p:cNvSpPr/>
          <p:nvPr/>
        </p:nvSpPr>
        <p:spPr>
          <a:xfrm>
            <a:off x="4011840" y="4322880"/>
            <a:ext cx="2316960" cy="421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defTabSz="914400">
              <a:lnSpc>
                <a:spcPct val="100000"/>
              </a:lnSpc>
              <a:tabLst>
                <a:tab pos="0" algn="l"/>
              </a:tabLst>
            </a:pPr>
            <a:r>
              <a:rPr lang="pl-PL" sz="2100" b="1" u="none" strike="noStrike">
                <a:solidFill>
                  <a:srgbClr val="1A1F3C"/>
                </a:solidFill>
                <a:effectLst/>
                <a:uFillTx/>
                <a:latin typeface="Cambria"/>
                <a:ea typeface="Cambria"/>
              </a:rPr>
              <a:t>Fizjologia</a:t>
            </a:r>
            <a:endParaRPr lang="pl-PL" sz="2100" b="0" u="none" strike="noStrike">
              <a:solidFill>
                <a:srgbClr val="000000"/>
              </a:solidFill>
              <a:effectLst/>
              <a:uFillTx/>
              <a:latin typeface="Arial"/>
            </a:endParaRPr>
          </a:p>
        </p:txBody>
      </p:sp>
      <p:sp>
        <p:nvSpPr>
          <p:cNvPr id="104" name="Text 52"/>
          <p:cNvSpPr/>
          <p:nvPr/>
        </p:nvSpPr>
        <p:spPr>
          <a:xfrm>
            <a:off x="4011840" y="4818240"/>
            <a:ext cx="2316960" cy="321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0" i="1" u="none" strike="noStrike">
                <a:solidFill>
                  <a:srgbClr val="4A5280"/>
                </a:solidFill>
                <a:effectLst/>
                <a:uFillTx/>
                <a:latin typeface="Calibri"/>
                <a:ea typeface="Calibri"/>
              </a:rPr>
              <a:t>EDA, HRV, EEG</a:t>
            </a:r>
            <a:endParaRPr lang="pl-PL" sz="1600" b="0" u="none" strike="noStrike">
              <a:solidFill>
                <a:srgbClr val="000000"/>
              </a:solidFill>
              <a:effectLst/>
              <a:uFillTx/>
              <a:latin typeface="Arial"/>
            </a:endParaRPr>
          </a:p>
        </p:txBody>
      </p:sp>
      <p:sp>
        <p:nvSpPr>
          <p:cNvPr id="105" name="Shape 43"/>
          <p:cNvSpPr/>
          <p:nvPr/>
        </p:nvSpPr>
        <p:spPr>
          <a:xfrm>
            <a:off x="6703200" y="4314240"/>
            <a:ext cx="2821320" cy="905760"/>
          </a:xfrm>
          <a:prstGeom prst="roundRect">
            <a:avLst>
              <a:gd name="adj" fmla="val 11111"/>
            </a:avLst>
          </a:prstGeom>
          <a:solidFill>
            <a:srgbClr val="FFFFFF"/>
          </a:solidFill>
          <a:ln w="0">
            <a:noFill/>
          </a:ln>
          <a:effectLst>
            <a:outerShdw blurRad="101520" dist="37674"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106" name="Shape 44"/>
          <p:cNvSpPr/>
          <p:nvPr/>
        </p:nvSpPr>
        <p:spPr>
          <a:xfrm>
            <a:off x="6824520" y="4617000"/>
            <a:ext cx="180000" cy="180000"/>
          </a:xfrm>
          <a:prstGeom prst="ellipse">
            <a:avLst/>
          </a:prstGeom>
          <a:solidFill>
            <a:srgbClr val="5B8FF9"/>
          </a:solidFill>
          <a:ln w="12700">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07" name="Text 53"/>
          <p:cNvSpPr/>
          <p:nvPr/>
        </p:nvSpPr>
        <p:spPr>
          <a:xfrm>
            <a:off x="7050600" y="4322880"/>
            <a:ext cx="2508840" cy="421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defTabSz="914400">
              <a:lnSpc>
                <a:spcPct val="100000"/>
              </a:lnSpc>
              <a:tabLst>
                <a:tab pos="0" algn="l"/>
              </a:tabLst>
            </a:pPr>
            <a:r>
              <a:rPr lang="pl-PL" sz="2100" b="1" u="none" strike="noStrike">
                <a:solidFill>
                  <a:srgbClr val="1A1F3C"/>
                </a:solidFill>
                <a:effectLst/>
                <a:uFillTx/>
                <a:latin typeface="Cambria"/>
                <a:ea typeface="Cambria"/>
              </a:rPr>
              <a:t>Dane kontekstowe</a:t>
            </a:r>
            <a:endParaRPr lang="pl-PL" sz="2100" b="0" u="none" strike="noStrike">
              <a:solidFill>
                <a:srgbClr val="000000"/>
              </a:solidFill>
              <a:effectLst/>
              <a:uFillTx/>
              <a:latin typeface="Arial"/>
            </a:endParaRPr>
          </a:p>
        </p:txBody>
      </p:sp>
      <p:sp>
        <p:nvSpPr>
          <p:cNvPr id="108" name="Text 54"/>
          <p:cNvSpPr/>
          <p:nvPr/>
        </p:nvSpPr>
        <p:spPr>
          <a:xfrm>
            <a:off x="7086600" y="4818240"/>
            <a:ext cx="2316960" cy="321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0" i="1" u="none" strike="noStrike">
                <a:solidFill>
                  <a:srgbClr val="4A5280"/>
                </a:solidFill>
                <a:effectLst/>
                <a:uFillTx/>
                <a:latin typeface="Calibri"/>
                <a:ea typeface="Calibri"/>
              </a:rPr>
              <a:t>lokalizacja, aktywność</a:t>
            </a:r>
            <a:endParaRPr lang="pl-PL" sz="1600" b="0" u="none" strike="noStrike">
              <a:solidFill>
                <a:srgbClr val="000000"/>
              </a:solidFill>
              <a:effectLst/>
              <a:uFillTx/>
              <a:latin typeface="Arial"/>
            </a:endParaRPr>
          </a:p>
        </p:txBody>
      </p:sp>
      <p:sp>
        <p:nvSpPr>
          <p:cNvPr id="109" name="Text 55"/>
          <p:cNvSpPr/>
          <p:nvPr/>
        </p:nvSpPr>
        <p:spPr>
          <a:xfrm>
            <a:off x="504000" y="5301720"/>
            <a:ext cx="9071280" cy="35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000" b="1" i="1" u="none" strike="noStrike">
                <a:solidFill>
                  <a:srgbClr val="1E2761"/>
                </a:solidFill>
                <a:effectLst/>
                <a:uFillTx/>
                <a:latin typeface="Calibri"/>
                <a:ea typeface="Calibri"/>
              </a:rPr>
              <a:t>Wybór miary to decyzja teoretyczna, nie tylko techniczna.</a:t>
            </a:r>
            <a:endParaRPr lang="pl-PL" sz="2000" b="0" u="none" strike="noStrike">
              <a:solidFill>
                <a:srgbClr val="000000"/>
              </a:solidFill>
              <a:effectLst/>
              <a:uFillTx/>
              <a:latin typeface="Arial"/>
            </a:endParaRPr>
          </a:p>
        </p:txBody>
      </p:sp>
      <p:sp>
        <p:nvSpPr>
          <p:cNvPr id="110" name="Prostokąt zaokrąglony 109"/>
          <p:cNvSpPr/>
          <p:nvPr/>
        </p:nvSpPr>
        <p:spPr>
          <a:xfrm>
            <a:off x="2422440" y="1228680"/>
            <a:ext cx="5296320" cy="1088280"/>
          </a:xfrm>
          <a:prstGeom prst="roundRect">
            <a:avLst>
              <a:gd name="adj" fmla="val 16667"/>
            </a:avLst>
          </a:prstGeom>
          <a:solidFill>
            <a:srgbClr val="A9D18E"/>
          </a:solidFill>
          <a:ln w="0">
            <a:solidFill>
              <a:srgbClr val="3465A4"/>
            </a:solidFill>
          </a:ln>
        </p:spPr>
        <p:style>
          <a:lnRef idx="0">
            <a:scrgbClr r="0" g="0" b="0"/>
          </a:lnRef>
          <a:fillRef idx="0">
            <a:scrgbClr r="0" g="0" b="0"/>
          </a:fillRef>
          <a:effectRef idx="0">
            <a:scrgbClr r="0" g="0" b="0"/>
          </a:effectRef>
          <a:fontRef idx="minor"/>
        </p:style>
        <p:txBody>
          <a:bodyPr lIns="0" tIns="36000" rIns="0" bIns="36000" anchor="ctr">
            <a:noAutofit/>
          </a:bodyPr>
          <a:lstStyle/>
          <a:p>
            <a:pPr algn="ctr" defTabSz="914400">
              <a:lnSpc>
                <a:spcPct val="100000"/>
              </a:lnSpc>
              <a:tabLst>
                <a:tab pos="0" algn="l"/>
              </a:tabLst>
            </a:pPr>
            <a:r>
              <a:rPr lang="pl-PL" sz="3200" b="1" u="none" strike="noStrike">
                <a:solidFill>
                  <a:srgbClr val="000000"/>
                </a:solidFill>
                <a:effectLst/>
                <a:uFillTx/>
                <a:latin typeface="Cambria"/>
                <a:ea typeface="Cambria"/>
              </a:rPr>
              <a:t>KONSTRUKT</a:t>
            </a:r>
            <a:endParaRPr lang="pl-PL" sz="3200" b="0" u="none" strike="noStrike">
              <a:solidFill>
                <a:srgbClr val="000000"/>
              </a:solidFill>
              <a:effectLst/>
              <a:uFillTx/>
              <a:latin typeface="Arial"/>
            </a:endParaRPr>
          </a:p>
          <a:p>
            <a:pPr algn="ctr" defTabSz="914400">
              <a:lnSpc>
                <a:spcPct val="100000"/>
              </a:lnSpc>
              <a:tabLst>
                <a:tab pos="0" algn="l"/>
              </a:tabLst>
            </a:pPr>
            <a:r>
              <a:rPr lang="pl-PL" sz="3200" b="1" u="none" strike="noStrike">
                <a:solidFill>
                  <a:srgbClr val="000000"/>
                </a:solidFill>
                <a:effectLst/>
                <a:uFillTx/>
                <a:latin typeface="Cambria"/>
                <a:ea typeface="Cambria"/>
              </a:rPr>
              <a:t>psychologiczny</a:t>
            </a:r>
            <a:endParaRPr lang="pl-PL" sz="3200" b="0" u="none" strike="noStrike">
              <a:solidFill>
                <a:srgbClr val="000000"/>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111" name="Shape 713"/>
          <p:cNvSpPr/>
          <p:nvPr/>
        </p:nvSpPr>
        <p:spPr>
          <a:xfrm>
            <a:off x="360" y="360"/>
            <a:ext cx="10079640" cy="1107720"/>
          </a:xfrm>
          <a:prstGeom prst="rect">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12" name="Text 795"/>
          <p:cNvSpPr/>
          <p:nvPr/>
        </p:nvSpPr>
        <p:spPr>
          <a:xfrm>
            <a:off x="503640" y="100800"/>
            <a:ext cx="9071640" cy="583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defTabSz="914400">
              <a:lnSpc>
                <a:spcPct val="100000"/>
              </a:lnSpc>
              <a:tabLst>
                <a:tab pos="0" algn="l"/>
              </a:tabLst>
            </a:pPr>
            <a:r>
              <a:rPr lang="pl-PL" sz="2200" b="1" u="none" strike="noStrike">
                <a:solidFill>
                  <a:srgbClr val="FFFFFF"/>
                </a:solidFill>
                <a:effectLst/>
                <a:uFillTx/>
                <a:latin typeface="Cambria"/>
                <a:ea typeface="Cambria"/>
              </a:rPr>
              <a:t>CZEGO DZIŚ BRAKUJE W WIELU BADANIACH?</a:t>
            </a:r>
            <a:endParaRPr lang="pl-PL" sz="2200" b="0" u="none" strike="noStrike">
              <a:solidFill>
                <a:srgbClr val="000000"/>
              </a:solidFill>
              <a:effectLst/>
              <a:uFillTx/>
              <a:latin typeface="Arial"/>
            </a:endParaRPr>
          </a:p>
        </p:txBody>
      </p:sp>
      <p:sp>
        <p:nvSpPr>
          <p:cNvPr id="113" name="Text 796"/>
          <p:cNvSpPr/>
          <p:nvPr/>
        </p:nvSpPr>
        <p:spPr>
          <a:xfrm>
            <a:off x="503640" y="705600"/>
            <a:ext cx="9071640" cy="342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pl-PL" sz="1400" b="0" i="1" u="none" strike="noStrike">
                <a:solidFill>
                  <a:srgbClr val="CADCFC"/>
                </a:solidFill>
                <a:effectLst/>
                <a:uFillTx/>
                <a:latin typeface="Calibri"/>
                <a:ea typeface="Calibri"/>
              </a:rPr>
              <a:t>Sześć powtarzających się problemów metodologicznych</a:t>
            </a:r>
            <a:endParaRPr lang="pl-PL" sz="1400" b="0" u="none" strike="noStrike">
              <a:solidFill>
                <a:srgbClr val="000000"/>
              </a:solidFill>
              <a:effectLst/>
              <a:uFillTx/>
              <a:latin typeface="Arial"/>
            </a:endParaRPr>
          </a:p>
        </p:txBody>
      </p:sp>
      <p:sp>
        <p:nvSpPr>
          <p:cNvPr id="114" name="Shape 714"/>
          <p:cNvSpPr/>
          <p:nvPr/>
        </p:nvSpPr>
        <p:spPr>
          <a:xfrm>
            <a:off x="453240" y="1310040"/>
            <a:ext cx="2872080" cy="1561680"/>
          </a:xfrm>
          <a:prstGeom prst="roundRect">
            <a:avLst>
              <a:gd name="adj" fmla="val 6452"/>
            </a:avLst>
          </a:prstGeom>
          <a:solidFill>
            <a:srgbClr val="2D3B8E"/>
          </a:solidFill>
          <a:ln w="0">
            <a:noFill/>
          </a:ln>
          <a:effectLst>
            <a:outerShdw blurRad="101520" dist="37674"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15" name="Shape 715"/>
          <p:cNvSpPr/>
          <p:nvPr/>
        </p:nvSpPr>
        <p:spPr>
          <a:xfrm>
            <a:off x="604800" y="1461600"/>
            <a:ext cx="502920" cy="502920"/>
          </a:xfrm>
          <a:prstGeom prst="ellipse">
            <a:avLst/>
          </a:prstGeom>
          <a:solidFill>
            <a:srgbClr val="E05C5C"/>
          </a:solidFill>
          <a:ln w="12700">
            <a:solidFill>
              <a:srgbClr val="E05C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16" name="Text 797"/>
          <p:cNvSpPr/>
          <p:nvPr/>
        </p:nvSpPr>
        <p:spPr>
          <a:xfrm>
            <a:off x="604800" y="1461600"/>
            <a:ext cx="50292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400" b="1" u="none" strike="noStrike">
                <a:solidFill>
                  <a:srgbClr val="FFFFFF"/>
                </a:solidFill>
                <a:effectLst/>
                <a:uFillTx/>
                <a:latin typeface="Cambria"/>
                <a:ea typeface="Cambria"/>
              </a:rPr>
              <a:t>1</a:t>
            </a:r>
            <a:endParaRPr lang="pl-PL" sz="1400" b="0" u="none" strike="noStrike">
              <a:solidFill>
                <a:srgbClr val="000000"/>
              </a:solidFill>
              <a:effectLst/>
              <a:uFillTx/>
              <a:latin typeface="Arial"/>
            </a:endParaRPr>
          </a:p>
        </p:txBody>
      </p:sp>
      <p:sp>
        <p:nvSpPr>
          <p:cNvPr id="117" name="Text 798"/>
          <p:cNvSpPr/>
          <p:nvPr/>
        </p:nvSpPr>
        <p:spPr>
          <a:xfrm>
            <a:off x="1179360" y="1431360"/>
            <a:ext cx="201492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2000" b="1" u="none" strike="noStrike">
                <a:solidFill>
                  <a:srgbClr val="FFFFFF"/>
                </a:solidFill>
                <a:effectLst/>
                <a:uFillTx/>
                <a:latin typeface="Cambria"/>
                <a:ea typeface="Cambria"/>
              </a:rPr>
              <a:t>Małe próby</a:t>
            </a:r>
            <a:endParaRPr lang="pl-PL" sz="2000" b="0" u="none" strike="noStrike">
              <a:solidFill>
                <a:srgbClr val="000000"/>
              </a:solidFill>
              <a:effectLst/>
              <a:uFillTx/>
              <a:latin typeface="Arial"/>
            </a:endParaRPr>
          </a:p>
        </p:txBody>
      </p:sp>
      <p:sp>
        <p:nvSpPr>
          <p:cNvPr id="118" name="Text 799"/>
          <p:cNvSpPr/>
          <p:nvPr/>
        </p:nvSpPr>
        <p:spPr>
          <a:xfrm>
            <a:off x="604800" y="2066400"/>
            <a:ext cx="2569320" cy="704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20000"/>
              </a:lnSpc>
              <a:tabLst>
                <a:tab pos="0" algn="l"/>
              </a:tabLst>
            </a:pPr>
            <a:r>
              <a:rPr lang="pl-PL" sz="1600" b="0" u="none" strike="noStrike">
                <a:solidFill>
                  <a:srgbClr val="CADCFC"/>
                </a:solidFill>
                <a:effectLst/>
                <a:uFillTx/>
                <a:latin typeface="Calibri"/>
                <a:ea typeface="Calibri"/>
              </a:rPr>
              <a:t>Niska moc statystyczna,</a:t>
            </a:r>
            <a:endParaRPr lang="pl-PL" sz="1600" b="0" u="none" strike="noStrike">
              <a:solidFill>
                <a:srgbClr val="000000"/>
              </a:solidFill>
              <a:effectLst/>
              <a:uFillTx/>
              <a:latin typeface="Arial"/>
            </a:endParaRPr>
          </a:p>
          <a:p>
            <a:pPr defTabSz="914400">
              <a:lnSpc>
                <a:spcPct val="120000"/>
              </a:lnSpc>
              <a:tabLst>
                <a:tab pos="0" algn="l"/>
              </a:tabLst>
            </a:pPr>
            <a:r>
              <a:rPr lang="pl-PL" sz="1600" b="0" u="none" strike="noStrike">
                <a:solidFill>
                  <a:srgbClr val="CADCFC"/>
                </a:solidFill>
                <a:effectLst/>
                <a:uFillTx/>
                <a:latin typeface="Calibri"/>
                <a:ea typeface="Calibri"/>
              </a:rPr>
              <a:t>zawyżone efekty</a:t>
            </a:r>
            <a:endParaRPr lang="pl-PL" sz="1600" b="0" u="none" strike="noStrike">
              <a:solidFill>
                <a:srgbClr val="000000"/>
              </a:solidFill>
              <a:effectLst/>
              <a:uFillTx/>
              <a:latin typeface="Arial"/>
            </a:endParaRPr>
          </a:p>
        </p:txBody>
      </p:sp>
      <p:sp>
        <p:nvSpPr>
          <p:cNvPr id="119" name="Shape 716"/>
          <p:cNvSpPr/>
          <p:nvPr/>
        </p:nvSpPr>
        <p:spPr>
          <a:xfrm>
            <a:off x="3528000" y="1310040"/>
            <a:ext cx="2872080" cy="1561680"/>
          </a:xfrm>
          <a:prstGeom prst="roundRect">
            <a:avLst>
              <a:gd name="adj" fmla="val 6452"/>
            </a:avLst>
          </a:prstGeom>
          <a:solidFill>
            <a:srgbClr val="2D3B8E"/>
          </a:solidFill>
          <a:ln w="0">
            <a:noFill/>
          </a:ln>
          <a:effectLst>
            <a:outerShdw blurRad="101520" dist="37674"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20" name="Shape 717"/>
          <p:cNvSpPr/>
          <p:nvPr/>
        </p:nvSpPr>
        <p:spPr>
          <a:xfrm>
            <a:off x="3679200" y="1461600"/>
            <a:ext cx="502920" cy="502920"/>
          </a:xfrm>
          <a:prstGeom prst="ellipse">
            <a:avLst/>
          </a:prstGeom>
          <a:solidFill>
            <a:srgbClr val="E05C5C"/>
          </a:solidFill>
          <a:ln w="12700">
            <a:solidFill>
              <a:srgbClr val="E05C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21" name="Text 800"/>
          <p:cNvSpPr/>
          <p:nvPr/>
        </p:nvSpPr>
        <p:spPr>
          <a:xfrm>
            <a:off x="3679200" y="1461600"/>
            <a:ext cx="50292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400" b="1" u="none" strike="noStrike">
                <a:solidFill>
                  <a:srgbClr val="FFFFFF"/>
                </a:solidFill>
                <a:effectLst/>
                <a:uFillTx/>
                <a:latin typeface="Cambria"/>
                <a:ea typeface="Cambria"/>
              </a:rPr>
              <a:t>2</a:t>
            </a:r>
            <a:endParaRPr lang="pl-PL" sz="1400" b="0" u="none" strike="noStrike">
              <a:solidFill>
                <a:srgbClr val="000000"/>
              </a:solidFill>
              <a:effectLst/>
              <a:uFillTx/>
              <a:latin typeface="Arial"/>
            </a:endParaRPr>
          </a:p>
        </p:txBody>
      </p:sp>
      <p:sp>
        <p:nvSpPr>
          <p:cNvPr id="122" name="Text 801"/>
          <p:cNvSpPr/>
          <p:nvPr/>
        </p:nvSpPr>
        <p:spPr>
          <a:xfrm>
            <a:off x="4253760" y="1431360"/>
            <a:ext cx="201492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2000" b="1" u="none" strike="noStrike">
                <a:solidFill>
                  <a:srgbClr val="FFFFFF"/>
                </a:solidFill>
                <a:effectLst/>
                <a:uFillTx/>
                <a:latin typeface="Cambria"/>
                <a:ea typeface="Cambria"/>
              </a:rPr>
              <a:t>Słaba replikowalność</a:t>
            </a:r>
            <a:endParaRPr lang="pl-PL" sz="2000" b="0" u="none" strike="noStrike">
              <a:solidFill>
                <a:srgbClr val="000000"/>
              </a:solidFill>
              <a:effectLst/>
              <a:uFillTx/>
              <a:latin typeface="Arial"/>
            </a:endParaRPr>
          </a:p>
        </p:txBody>
      </p:sp>
      <p:sp>
        <p:nvSpPr>
          <p:cNvPr id="123" name="Text 802"/>
          <p:cNvSpPr/>
          <p:nvPr/>
        </p:nvSpPr>
        <p:spPr>
          <a:xfrm>
            <a:off x="3679200" y="2066400"/>
            <a:ext cx="2569320" cy="704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20000"/>
              </a:lnSpc>
              <a:tabLst>
                <a:tab pos="0" algn="l"/>
              </a:tabLst>
            </a:pPr>
            <a:r>
              <a:rPr lang="pl-PL" sz="1600" b="0" u="none" strike="noStrike">
                <a:solidFill>
                  <a:srgbClr val="CADCFC"/>
                </a:solidFill>
                <a:effectLst/>
                <a:uFillTx/>
                <a:latin typeface="Calibri"/>
                <a:ea typeface="Calibri"/>
              </a:rPr>
              <a:t>Wyniki trudne</a:t>
            </a:r>
            <a:endParaRPr lang="pl-PL" sz="1600" b="0" u="none" strike="noStrike">
              <a:solidFill>
                <a:srgbClr val="000000"/>
              </a:solidFill>
              <a:effectLst/>
              <a:uFillTx/>
              <a:latin typeface="Arial"/>
            </a:endParaRPr>
          </a:p>
          <a:p>
            <a:pPr defTabSz="914400">
              <a:lnSpc>
                <a:spcPct val="120000"/>
              </a:lnSpc>
              <a:tabLst>
                <a:tab pos="0" algn="l"/>
              </a:tabLst>
            </a:pPr>
            <a:r>
              <a:rPr lang="pl-PL" sz="1600" b="0" u="none" strike="noStrike">
                <a:solidFill>
                  <a:srgbClr val="CADCFC"/>
                </a:solidFill>
                <a:effectLst/>
                <a:uFillTx/>
                <a:latin typeface="Calibri"/>
                <a:ea typeface="Calibri"/>
              </a:rPr>
              <a:t>do powtórzenia</a:t>
            </a:r>
            <a:endParaRPr lang="pl-PL" sz="1600" b="0" u="none" strike="noStrike">
              <a:solidFill>
                <a:srgbClr val="000000"/>
              </a:solidFill>
              <a:effectLst/>
              <a:uFillTx/>
              <a:latin typeface="Arial"/>
            </a:endParaRPr>
          </a:p>
        </p:txBody>
      </p:sp>
      <p:sp>
        <p:nvSpPr>
          <p:cNvPr id="124" name="Shape 718"/>
          <p:cNvSpPr/>
          <p:nvPr/>
        </p:nvSpPr>
        <p:spPr>
          <a:xfrm>
            <a:off x="6602400" y="1310040"/>
            <a:ext cx="2872080" cy="1561680"/>
          </a:xfrm>
          <a:prstGeom prst="roundRect">
            <a:avLst>
              <a:gd name="adj" fmla="val 6452"/>
            </a:avLst>
          </a:prstGeom>
          <a:solidFill>
            <a:srgbClr val="2D3B8E"/>
          </a:solidFill>
          <a:ln w="0">
            <a:noFill/>
          </a:ln>
          <a:effectLst>
            <a:outerShdw blurRad="101520" dist="37674"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25" name="Shape 719"/>
          <p:cNvSpPr/>
          <p:nvPr/>
        </p:nvSpPr>
        <p:spPr>
          <a:xfrm>
            <a:off x="6753960" y="1461600"/>
            <a:ext cx="502920" cy="502920"/>
          </a:xfrm>
          <a:prstGeom prst="ellipse">
            <a:avLst/>
          </a:prstGeom>
          <a:solidFill>
            <a:srgbClr val="E05C5C"/>
          </a:solidFill>
          <a:ln w="12700">
            <a:solidFill>
              <a:srgbClr val="E05C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26" name="Text 803"/>
          <p:cNvSpPr/>
          <p:nvPr/>
        </p:nvSpPr>
        <p:spPr>
          <a:xfrm>
            <a:off x="6753960" y="1461600"/>
            <a:ext cx="50292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400" b="1" u="none" strike="noStrike">
                <a:solidFill>
                  <a:srgbClr val="FFFFFF"/>
                </a:solidFill>
                <a:effectLst/>
                <a:uFillTx/>
                <a:latin typeface="Cambria"/>
                <a:ea typeface="Cambria"/>
              </a:rPr>
              <a:t>3</a:t>
            </a:r>
            <a:endParaRPr lang="pl-PL" sz="1400" b="0" u="none" strike="noStrike">
              <a:solidFill>
                <a:srgbClr val="000000"/>
              </a:solidFill>
              <a:effectLst/>
              <a:uFillTx/>
              <a:latin typeface="Arial"/>
            </a:endParaRPr>
          </a:p>
        </p:txBody>
      </p:sp>
      <p:sp>
        <p:nvSpPr>
          <p:cNvPr id="127" name="Text 804"/>
          <p:cNvSpPr/>
          <p:nvPr/>
        </p:nvSpPr>
        <p:spPr>
          <a:xfrm>
            <a:off x="7328520" y="1431360"/>
            <a:ext cx="201492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2000" b="1" u="none" strike="noStrike">
                <a:solidFill>
                  <a:srgbClr val="FFFFFF"/>
                </a:solidFill>
                <a:effectLst/>
                <a:uFillTx/>
                <a:latin typeface="Cambria"/>
                <a:ea typeface="Cambria"/>
              </a:rPr>
              <a:t>Brak prerejestracji</a:t>
            </a:r>
            <a:endParaRPr lang="pl-PL" sz="2000" b="0" u="none" strike="noStrike">
              <a:solidFill>
                <a:srgbClr val="000000"/>
              </a:solidFill>
              <a:effectLst/>
              <a:uFillTx/>
              <a:latin typeface="Arial"/>
            </a:endParaRPr>
          </a:p>
        </p:txBody>
      </p:sp>
      <p:sp>
        <p:nvSpPr>
          <p:cNvPr id="128" name="Text 805"/>
          <p:cNvSpPr/>
          <p:nvPr/>
        </p:nvSpPr>
        <p:spPr>
          <a:xfrm>
            <a:off x="6753960" y="2066400"/>
            <a:ext cx="2569320" cy="704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20000"/>
              </a:lnSpc>
              <a:tabLst>
                <a:tab pos="0" algn="l"/>
              </a:tabLst>
            </a:pPr>
            <a:r>
              <a:rPr lang="pl-PL" sz="1600" b="0" u="none" strike="noStrike">
                <a:solidFill>
                  <a:srgbClr val="CADCFC"/>
                </a:solidFill>
                <a:effectLst/>
                <a:uFillTx/>
                <a:latin typeface="Calibri"/>
                <a:ea typeface="Calibri"/>
              </a:rPr>
              <a:t>Hipotezy formułowane</a:t>
            </a:r>
            <a:endParaRPr lang="pl-PL" sz="1600" b="0" u="none" strike="noStrike">
              <a:solidFill>
                <a:srgbClr val="000000"/>
              </a:solidFill>
              <a:effectLst/>
              <a:uFillTx/>
              <a:latin typeface="Arial"/>
            </a:endParaRPr>
          </a:p>
          <a:p>
            <a:pPr defTabSz="914400">
              <a:lnSpc>
                <a:spcPct val="120000"/>
              </a:lnSpc>
              <a:tabLst>
                <a:tab pos="0" algn="l"/>
              </a:tabLst>
            </a:pPr>
            <a:r>
              <a:rPr lang="pl-PL" sz="1600" b="0" u="none" strike="noStrike">
                <a:solidFill>
                  <a:srgbClr val="CADCFC"/>
                </a:solidFill>
                <a:effectLst/>
                <a:uFillTx/>
                <a:latin typeface="Calibri"/>
                <a:ea typeface="Calibri"/>
              </a:rPr>
              <a:t>post hoc</a:t>
            </a:r>
            <a:endParaRPr lang="pl-PL" sz="1600" b="0" u="none" strike="noStrike">
              <a:solidFill>
                <a:srgbClr val="000000"/>
              </a:solidFill>
              <a:effectLst/>
              <a:uFillTx/>
              <a:latin typeface="Arial"/>
            </a:endParaRPr>
          </a:p>
        </p:txBody>
      </p:sp>
      <p:sp>
        <p:nvSpPr>
          <p:cNvPr id="129" name="Shape 720"/>
          <p:cNvSpPr/>
          <p:nvPr/>
        </p:nvSpPr>
        <p:spPr>
          <a:xfrm>
            <a:off x="453240" y="3094560"/>
            <a:ext cx="2872080" cy="1561680"/>
          </a:xfrm>
          <a:prstGeom prst="roundRect">
            <a:avLst>
              <a:gd name="adj" fmla="val 6452"/>
            </a:avLst>
          </a:prstGeom>
          <a:solidFill>
            <a:srgbClr val="2D3B8E"/>
          </a:solidFill>
          <a:ln w="0">
            <a:noFill/>
          </a:ln>
          <a:effectLst>
            <a:outerShdw blurRad="101520" dist="37674"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30" name="Shape 721"/>
          <p:cNvSpPr/>
          <p:nvPr/>
        </p:nvSpPr>
        <p:spPr>
          <a:xfrm>
            <a:off x="604800" y="3246120"/>
            <a:ext cx="502920" cy="502920"/>
          </a:xfrm>
          <a:prstGeom prst="ellipse">
            <a:avLst/>
          </a:prstGeom>
          <a:solidFill>
            <a:srgbClr val="E05C5C"/>
          </a:solidFill>
          <a:ln w="12700">
            <a:solidFill>
              <a:srgbClr val="E05C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31" name="Text 806"/>
          <p:cNvSpPr/>
          <p:nvPr/>
        </p:nvSpPr>
        <p:spPr>
          <a:xfrm>
            <a:off x="604800" y="3245760"/>
            <a:ext cx="50292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400" b="1" u="none" strike="noStrike">
                <a:solidFill>
                  <a:srgbClr val="FFFFFF"/>
                </a:solidFill>
                <a:effectLst/>
                <a:uFillTx/>
                <a:latin typeface="Cambria"/>
                <a:ea typeface="Cambria"/>
              </a:rPr>
              <a:t>4</a:t>
            </a:r>
            <a:endParaRPr lang="pl-PL" sz="1400" b="0" u="none" strike="noStrike">
              <a:solidFill>
                <a:srgbClr val="000000"/>
              </a:solidFill>
              <a:effectLst/>
              <a:uFillTx/>
              <a:latin typeface="Arial"/>
            </a:endParaRPr>
          </a:p>
        </p:txBody>
      </p:sp>
      <p:sp>
        <p:nvSpPr>
          <p:cNvPr id="132" name="Text 807"/>
          <p:cNvSpPr/>
          <p:nvPr/>
        </p:nvSpPr>
        <p:spPr>
          <a:xfrm>
            <a:off x="1179360" y="3215880"/>
            <a:ext cx="201492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2000" b="1" u="none" strike="noStrike">
                <a:solidFill>
                  <a:srgbClr val="FFFFFF"/>
                </a:solidFill>
                <a:effectLst/>
                <a:uFillTx/>
                <a:latin typeface="Cambria"/>
                <a:ea typeface="Cambria"/>
              </a:rPr>
              <a:t>Niejawne decyzje</a:t>
            </a:r>
            <a:endParaRPr lang="pl-PL" sz="2000" b="0" u="none" strike="noStrike">
              <a:solidFill>
                <a:srgbClr val="000000"/>
              </a:solidFill>
              <a:effectLst/>
              <a:uFillTx/>
              <a:latin typeface="Arial"/>
            </a:endParaRPr>
          </a:p>
        </p:txBody>
      </p:sp>
      <p:sp>
        <p:nvSpPr>
          <p:cNvPr id="133" name="Text 808"/>
          <p:cNvSpPr/>
          <p:nvPr/>
        </p:nvSpPr>
        <p:spPr>
          <a:xfrm>
            <a:off x="604800" y="3850920"/>
            <a:ext cx="2569320" cy="704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20000"/>
              </a:lnSpc>
              <a:tabLst>
                <a:tab pos="0" algn="l"/>
              </a:tabLst>
            </a:pPr>
            <a:r>
              <a:rPr lang="pl-PL" sz="1600" b="0" u="none" strike="noStrike">
                <a:solidFill>
                  <a:srgbClr val="CADCFC"/>
                </a:solidFill>
                <a:effectLst/>
                <a:uFillTx/>
                <a:latin typeface="Calibri"/>
                <a:ea typeface="Calibri"/>
              </a:rPr>
              <a:t>Researcher degrees</a:t>
            </a:r>
            <a:endParaRPr lang="pl-PL" sz="1600" b="0" u="none" strike="noStrike">
              <a:solidFill>
                <a:srgbClr val="000000"/>
              </a:solidFill>
              <a:effectLst/>
              <a:uFillTx/>
              <a:latin typeface="Arial"/>
            </a:endParaRPr>
          </a:p>
          <a:p>
            <a:pPr defTabSz="914400">
              <a:lnSpc>
                <a:spcPct val="120000"/>
              </a:lnSpc>
              <a:tabLst>
                <a:tab pos="0" algn="l"/>
              </a:tabLst>
            </a:pPr>
            <a:r>
              <a:rPr lang="pl-PL" sz="1600" b="0" u="none" strike="noStrike">
                <a:solidFill>
                  <a:srgbClr val="CADCFC"/>
                </a:solidFill>
                <a:effectLst/>
                <a:uFillTx/>
                <a:latin typeface="Calibri"/>
                <a:ea typeface="Calibri"/>
              </a:rPr>
              <a:t>of freedom</a:t>
            </a:r>
            <a:endParaRPr lang="pl-PL" sz="1600" b="0" u="none" strike="noStrike">
              <a:solidFill>
                <a:srgbClr val="000000"/>
              </a:solidFill>
              <a:effectLst/>
              <a:uFillTx/>
              <a:latin typeface="Arial"/>
            </a:endParaRPr>
          </a:p>
        </p:txBody>
      </p:sp>
      <p:sp>
        <p:nvSpPr>
          <p:cNvPr id="134" name="Shape 722"/>
          <p:cNvSpPr/>
          <p:nvPr/>
        </p:nvSpPr>
        <p:spPr>
          <a:xfrm>
            <a:off x="3528000" y="3094560"/>
            <a:ext cx="2872080" cy="1561680"/>
          </a:xfrm>
          <a:prstGeom prst="roundRect">
            <a:avLst>
              <a:gd name="adj" fmla="val 6452"/>
            </a:avLst>
          </a:prstGeom>
          <a:solidFill>
            <a:srgbClr val="2D3B8E"/>
          </a:solidFill>
          <a:ln w="0">
            <a:noFill/>
          </a:ln>
          <a:effectLst>
            <a:outerShdw blurRad="101520" dist="37674"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35" name="Shape 723"/>
          <p:cNvSpPr/>
          <p:nvPr/>
        </p:nvSpPr>
        <p:spPr>
          <a:xfrm>
            <a:off x="3679200" y="3246120"/>
            <a:ext cx="502920" cy="502920"/>
          </a:xfrm>
          <a:prstGeom prst="ellipse">
            <a:avLst/>
          </a:prstGeom>
          <a:solidFill>
            <a:srgbClr val="E05C5C"/>
          </a:solidFill>
          <a:ln w="12700">
            <a:solidFill>
              <a:srgbClr val="E05C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36" name="Text 809"/>
          <p:cNvSpPr/>
          <p:nvPr/>
        </p:nvSpPr>
        <p:spPr>
          <a:xfrm>
            <a:off x="3679200" y="3245760"/>
            <a:ext cx="50292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400" b="1" u="none" strike="noStrike">
                <a:solidFill>
                  <a:srgbClr val="FFFFFF"/>
                </a:solidFill>
                <a:effectLst/>
                <a:uFillTx/>
                <a:latin typeface="Cambria"/>
                <a:ea typeface="Cambria"/>
              </a:rPr>
              <a:t>5</a:t>
            </a:r>
            <a:endParaRPr lang="pl-PL" sz="1400" b="0" u="none" strike="noStrike">
              <a:solidFill>
                <a:srgbClr val="000000"/>
              </a:solidFill>
              <a:effectLst/>
              <a:uFillTx/>
              <a:latin typeface="Arial"/>
            </a:endParaRPr>
          </a:p>
        </p:txBody>
      </p:sp>
      <p:sp>
        <p:nvSpPr>
          <p:cNvPr id="137" name="Text 810"/>
          <p:cNvSpPr/>
          <p:nvPr/>
        </p:nvSpPr>
        <p:spPr>
          <a:xfrm>
            <a:off x="4253760" y="3215880"/>
            <a:ext cx="201492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2000" b="1" u="none" strike="noStrike">
                <a:solidFill>
                  <a:srgbClr val="FFFFFF"/>
                </a:solidFill>
                <a:effectLst/>
                <a:uFillTx/>
                <a:latin typeface="Cambria"/>
                <a:ea typeface="Cambria"/>
              </a:rPr>
              <a:t>Niska jakość danych</a:t>
            </a:r>
            <a:endParaRPr lang="pl-PL" sz="2000" b="0" u="none" strike="noStrike">
              <a:solidFill>
                <a:srgbClr val="000000"/>
              </a:solidFill>
              <a:effectLst/>
              <a:uFillTx/>
              <a:latin typeface="Arial"/>
            </a:endParaRPr>
          </a:p>
        </p:txBody>
      </p:sp>
      <p:sp>
        <p:nvSpPr>
          <p:cNvPr id="138" name="Text 811"/>
          <p:cNvSpPr/>
          <p:nvPr/>
        </p:nvSpPr>
        <p:spPr>
          <a:xfrm>
            <a:off x="3679200" y="3850920"/>
            <a:ext cx="2569320" cy="704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20000"/>
              </a:lnSpc>
              <a:tabLst>
                <a:tab pos="0" algn="l"/>
              </a:tabLst>
            </a:pPr>
            <a:r>
              <a:rPr lang="pl-PL" sz="1600" b="0" u="none" strike="noStrike">
                <a:solidFill>
                  <a:srgbClr val="CADCFC"/>
                </a:solidFill>
                <a:effectLst/>
                <a:uFillTx/>
                <a:latin typeface="Calibri"/>
                <a:ea typeface="Calibri"/>
              </a:rPr>
              <a:t>Brak kontroli uwagi,</a:t>
            </a:r>
            <a:endParaRPr lang="pl-PL" sz="1600" b="0" u="none" strike="noStrike">
              <a:solidFill>
                <a:srgbClr val="000000"/>
              </a:solidFill>
              <a:effectLst/>
              <a:uFillTx/>
              <a:latin typeface="Arial"/>
            </a:endParaRPr>
          </a:p>
          <a:p>
            <a:pPr defTabSz="914400">
              <a:lnSpc>
                <a:spcPct val="120000"/>
              </a:lnSpc>
              <a:tabLst>
                <a:tab pos="0" algn="l"/>
              </a:tabLst>
            </a:pPr>
            <a:r>
              <a:rPr lang="pl-PL" sz="1600" b="0" u="none" strike="noStrike">
                <a:solidFill>
                  <a:srgbClr val="CADCFC"/>
                </a:solidFill>
                <a:effectLst/>
                <a:uFillTx/>
                <a:latin typeface="Calibri"/>
                <a:ea typeface="Calibri"/>
              </a:rPr>
              <a:t>zakłócenia środowisk.</a:t>
            </a:r>
            <a:endParaRPr lang="pl-PL" sz="1600" b="0" u="none" strike="noStrike">
              <a:solidFill>
                <a:srgbClr val="000000"/>
              </a:solidFill>
              <a:effectLst/>
              <a:uFillTx/>
              <a:latin typeface="Arial"/>
            </a:endParaRPr>
          </a:p>
        </p:txBody>
      </p:sp>
      <p:sp>
        <p:nvSpPr>
          <p:cNvPr id="139" name="Shape 724"/>
          <p:cNvSpPr/>
          <p:nvPr/>
        </p:nvSpPr>
        <p:spPr>
          <a:xfrm>
            <a:off x="6602400" y="3094560"/>
            <a:ext cx="2872080" cy="1561680"/>
          </a:xfrm>
          <a:prstGeom prst="roundRect">
            <a:avLst>
              <a:gd name="adj" fmla="val 6452"/>
            </a:avLst>
          </a:prstGeom>
          <a:solidFill>
            <a:srgbClr val="2D3B8E"/>
          </a:solidFill>
          <a:ln w="0">
            <a:noFill/>
          </a:ln>
          <a:effectLst>
            <a:outerShdw blurRad="101520" dist="37674"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40" name="Shape 725"/>
          <p:cNvSpPr/>
          <p:nvPr/>
        </p:nvSpPr>
        <p:spPr>
          <a:xfrm>
            <a:off x="6753960" y="3246120"/>
            <a:ext cx="502920" cy="502920"/>
          </a:xfrm>
          <a:prstGeom prst="ellipse">
            <a:avLst/>
          </a:prstGeom>
          <a:solidFill>
            <a:srgbClr val="E05C5C"/>
          </a:solidFill>
          <a:ln w="12700">
            <a:solidFill>
              <a:srgbClr val="E05C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41" name="Text 812"/>
          <p:cNvSpPr/>
          <p:nvPr/>
        </p:nvSpPr>
        <p:spPr>
          <a:xfrm>
            <a:off x="6753960" y="3245760"/>
            <a:ext cx="50292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400" b="1" u="none" strike="noStrike">
                <a:solidFill>
                  <a:srgbClr val="FFFFFF"/>
                </a:solidFill>
                <a:effectLst/>
                <a:uFillTx/>
                <a:latin typeface="Cambria"/>
                <a:ea typeface="Cambria"/>
              </a:rPr>
              <a:t>6</a:t>
            </a:r>
            <a:endParaRPr lang="pl-PL" sz="1400" b="0" u="none" strike="noStrike">
              <a:solidFill>
                <a:srgbClr val="000000"/>
              </a:solidFill>
              <a:effectLst/>
              <a:uFillTx/>
              <a:latin typeface="Arial"/>
            </a:endParaRPr>
          </a:p>
        </p:txBody>
      </p:sp>
      <p:sp>
        <p:nvSpPr>
          <p:cNvPr id="142" name="Text 813"/>
          <p:cNvSpPr/>
          <p:nvPr/>
        </p:nvSpPr>
        <p:spPr>
          <a:xfrm>
            <a:off x="7328520" y="3215880"/>
            <a:ext cx="201492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2000" b="1" u="none" strike="noStrike">
                <a:solidFill>
                  <a:srgbClr val="FFFFFF"/>
                </a:solidFill>
                <a:effectLst/>
                <a:uFillTx/>
                <a:latin typeface="Cambria"/>
                <a:ea typeface="Cambria"/>
              </a:rPr>
              <a:t>Zamknięty pipeline</a:t>
            </a:r>
            <a:endParaRPr lang="pl-PL" sz="2000" b="0" u="none" strike="noStrike">
              <a:solidFill>
                <a:srgbClr val="000000"/>
              </a:solidFill>
              <a:effectLst/>
              <a:uFillTx/>
              <a:latin typeface="Arial"/>
            </a:endParaRPr>
          </a:p>
        </p:txBody>
      </p:sp>
      <p:sp>
        <p:nvSpPr>
          <p:cNvPr id="143" name="Text 814"/>
          <p:cNvSpPr/>
          <p:nvPr/>
        </p:nvSpPr>
        <p:spPr>
          <a:xfrm>
            <a:off x="6753960" y="3850920"/>
            <a:ext cx="2569320" cy="704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20000"/>
              </a:lnSpc>
              <a:tabLst>
                <a:tab pos="0" algn="l"/>
              </a:tabLst>
            </a:pPr>
            <a:r>
              <a:rPr lang="pl-PL" sz="1600" b="0" u="none" strike="noStrike">
                <a:solidFill>
                  <a:srgbClr val="CADCFC"/>
                </a:solidFill>
                <a:effectLst/>
                <a:uFillTx/>
                <a:latin typeface="Calibri"/>
                <a:ea typeface="Calibri"/>
              </a:rPr>
              <a:t>Brak dostępu do danych,</a:t>
            </a:r>
            <a:endParaRPr lang="pl-PL" sz="1600" b="0" u="none" strike="noStrike">
              <a:solidFill>
                <a:srgbClr val="000000"/>
              </a:solidFill>
              <a:effectLst/>
              <a:uFillTx/>
              <a:latin typeface="Arial"/>
            </a:endParaRPr>
          </a:p>
          <a:p>
            <a:pPr defTabSz="914400">
              <a:lnSpc>
                <a:spcPct val="120000"/>
              </a:lnSpc>
              <a:tabLst>
                <a:tab pos="0" algn="l"/>
              </a:tabLst>
            </a:pPr>
            <a:r>
              <a:rPr lang="pl-PL" sz="1600" b="0" u="none" strike="noStrike">
                <a:solidFill>
                  <a:srgbClr val="CADCFC"/>
                </a:solidFill>
                <a:effectLst/>
                <a:uFillTx/>
                <a:latin typeface="Calibri"/>
                <a:ea typeface="Calibri"/>
              </a:rPr>
              <a:t>kodu i materiałów</a:t>
            </a:r>
            <a:endParaRPr lang="pl-PL" sz="1600" b="0" u="none" strike="noStrike">
              <a:solidFill>
                <a:srgbClr val="000000"/>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111" name="Shape 713"/>
          <p:cNvSpPr/>
          <p:nvPr/>
        </p:nvSpPr>
        <p:spPr>
          <a:xfrm>
            <a:off x="360" y="360"/>
            <a:ext cx="10079640" cy="1107720"/>
          </a:xfrm>
          <a:prstGeom prst="rect">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12" name="Text 795"/>
          <p:cNvSpPr/>
          <p:nvPr/>
        </p:nvSpPr>
        <p:spPr>
          <a:xfrm>
            <a:off x="503640" y="100800"/>
            <a:ext cx="9071640" cy="583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defTabSz="914400">
              <a:lnSpc>
                <a:spcPct val="100000"/>
              </a:lnSpc>
              <a:tabLst>
                <a:tab pos="0" algn="l"/>
              </a:tabLst>
            </a:pPr>
            <a:r>
              <a:rPr lang="pl-PL" sz="2200" b="1" u="none" strike="noStrike">
                <a:solidFill>
                  <a:srgbClr val="FFFFFF"/>
                </a:solidFill>
                <a:effectLst/>
                <a:uFillTx/>
                <a:latin typeface="Cambria"/>
                <a:ea typeface="Cambria"/>
              </a:rPr>
              <a:t>CZEGO DZIŚ BRAKUJE W WIELU BADANIACH?</a:t>
            </a:r>
            <a:endParaRPr lang="pl-PL" sz="2200" b="0" u="none" strike="noStrike">
              <a:solidFill>
                <a:srgbClr val="000000"/>
              </a:solidFill>
              <a:effectLst/>
              <a:uFillTx/>
              <a:latin typeface="Arial"/>
            </a:endParaRPr>
          </a:p>
        </p:txBody>
      </p:sp>
      <p:sp>
        <p:nvSpPr>
          <p:cNvPr id="113" name="Text 796"/>
          <p:cNvSpPr/>
          <p:nvPr/>
        </p:nvSpPr>
        <p:spPr>
          <a:xfrm>
            <a:off x="503640" y="705600"/>
            <a:ext cx="9071640" cy="342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pl-PL" sz="1400" b="0" i="1" u="none" strike="noStrike">
                <a:solidFill>
                  <a:srgbClr val="CADCFC"/>
                </a:solidFill>
                <a:effectLst/>
                <a:uFillTx/>
                <a:latin typeface="Calibri"/>
                <a:ea typeface="Calibri"/>
              </a:rPr>
              <a:t>Sześć powtarzających się problemów metodologicznych</a:t>
            </a:r>
            <a:endParaRPr lang="pl-PL" sz="1400" b="0" u="none" strike="noStrike">
              <a:solidFill>
                <a:srgbClr val="000000"/>
              </a:solidFill>
              <a:effectLst/>
              <a:uFillTx/>
              <a:latin typeface="Arial"/>
            </a:endParaRPr>
          </a:p>
        </p:txBody>
      </p:sp>
      <p:pic>
        <p:nvPicPr>
          <p:cNvPr id="144" name="Obraz 143"/>
          <p:cNvPicPr/>
          <p:nvPr/>
        </p:nvPicPr>
        <p:blipFill>
          <a:blip r:embed="rId3"/>
          <a:stretch/>
        </p:blipFill>
        <p:spPr>
          <a:xfrm>
            <a:off x="561382" y="1208520"/>
            <a:ext cx="8956156" cy="4287405"/>
          </a:xfrm>
          <a:prstGeom prst="rect">
            <a:avLst/>
          </a:prstGeom>
          <a:noFill/>
          <a:ln w="0">
            <a:noFill/>
          </a:ln>
        </p:spPr>
      </p:pic>
    </p:spTree>
    <p:extLst>
      <p:ext uri="{BB962C8B-B14F-4D97-AF65-F5344CB8AC3E}">
        <p14:creationId xmlns:p14="http://schemas.microsoft.com/office/powerpoint/2010/main" val="601422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145" name="Shape 45"/>
          <p:cNvSpPr/>
          <p:nvPr/>
        </p:nvSpPr>
        <p:spPr>
          <a:xfrm>
            <a:off x="360" y="360"/>
            <a:ext cx="10079280" cy="1107360"/>
          </a:xfrm>
          <a:prstGeom prst="rect">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46" name="Text 56"/>
          <p:cNvSpPr/>
          <p:nvPr/>
        </p:nvSpPr>
        <p:spPr>
          <a:xfrm>
            <a:off x="504000" y="0"/>
            <a:ext cx="9071280" cy="1107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2200" b="1" u="none" strike="noStrike">
                <a:solidFill>
                  <a:srgbClr val="FFFFFF"/>
                </a:solidFill>
                <a:effectLst/>
                <a:uFillTx/>
                <a:latin typeface="Cambria"/>
                <a:ea typeface="Cambria"/>
              </a:rPr>
              <a:t>NOWY PARADYGMAT: LABORATORIUM HYBRYDOWE</a:t>
            </a:r>
            <a:endParaRPr lang="pl-PL" sz="2200" b="0" u="none" strike="noStrike">
              <a:solidFill>
                <a:srgbClr val="000000"/>
              </a:solidFill>
              <a:effectLst/>
              <a:uFillTx/>
              <a:latin typeface="Arial"/>
            </a:endParaRPr>
          </a:p>
        </p:txBody>
      </p:sp>
      <p:sp>
        <p:nvSpPr>
          <p:cNvPr id="149" name="Shape 47"/>
          <p:cNvSpPr/>
          <p:nvPr/>
        </p:nvSpPr>
        <p:spPr>
          <a:xfrm flipV="1">
            <a:off x="5040000" y="1965600"/>
            <a:ext cx="360" cy="735840"/>
          </a:xfrm>
          <a:prstGeom prst="line">
            <a:avLst/>
          </a:prstGeom>
          <a:ln w="15240">
            <a:solidFill>
              <a:srgbClr val="7A83B0"/>
            </a:solidFill>
            <a:prstDash val="sysDot"/>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pl-PL" sz="1800" b="0" u="none" strike="noStrike">
              <a:solidFill>
                <a:srgbClr val="000000"/>
              </a:solidFill>
              <a:effectLst/>
              <a:uFillTx/>
              <a:latin typeface="Arial"/>
            </a:endParaRPr>
          </a:p>
        </p:txBody>
      </p:sp>
      <p:sp>
        <p:nvSpPr>
          <p:cNvPr id="150" name="Shape 48"/>
          <p:cNvSpPr/>
          <p:nvPr/>
        </p:nvSpPr>
        <p:spPr>
          <a:xfrm>
            <a:off x="3931560" y="1206165"/>
            <a:ext cx="2216520" cy="1025640"/>
          </a:xfrm>
          <a:prstGeom prst="roundRect">
            <a:avLst>
              <a:gd name="adj" fmla="val 10000"/>
            </a:avLst>
          </a:prstGeom>
          <a:solidFill>
            <a:schemeClr val="tx2">
              <a:lumMod val="50000"/>
            </a:schemeClr>
          </a:solidFill>
          <a:ln w="0">
            <a:noFill/>
          </a:ln>
          <a:effectLst>
            <a:outerShdw blurRad="101520" dist="37674"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51" name="Text 58"/>
          <p:cNvSpPr/>
          <p:nvPr/>
        </p:nvSpPr>
        <p:spPr>
          <a:xfrm>
            <a:off x="3931560" y="1212840"/>
            <a:ext cx="2216160" cy="45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000" b="1" u="none" strike="noStrike" dirty="0">
                <a:solidFill>
                  <a:srgbClr val="FFFFFF"/>
                </a:solidFill>
                <a:effectLst/>
                <a:uFillTx/>
                <a:latin typeface="Cambria"/>
                <a:ea typeface="Cambria"/>
              </a:rPr>
              <a:t>Stacjonarne</a:t>
            </a:r>
            <a:endParaRPr lang="pl-PL" sz="2000" b="0" u="none" strike="noStrike" dirty="0">
              <a:solidFill>
                <a:srgbClr val="000000"/>
              </a:solidFill>
              <a:effectLst/>
              <a:uFillTx/>
              <a:latin typeface="Arial"/>
            </a:endParaRPr>
          </a:p>
        </p:txBody>
      </p:sp>
      <p:sp>
        <p:nvSpPr>
          <p:cNvPr id="152" name="Text 59"/>
          <p:cNvSpPr/>
          <p:nvPr/>
        </p:nvSpPr>
        <p:spPr>
          <a:xfrm>
            <a:off x="4032360" y="1641300"/>
            <a:ext cx="2014560" cy="46928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tabLst>
                <a:tab pos="0" algn="l"/>
              </a:tabLst>
            </a:pPr>
            <a:r>
              <a:rPr lang="pl-PL" sz="1400" b="0" u="none" strike="noStrike" dirty="0">
                <a:solidFill>
                  <a:srgbClr val="FFFFFF"/>
                </a:solidFill>
                <a:effectLst/>
                <a:uFillTx/>
                <a:latin typeface="Calibri"/>
                <a:ea typeface="Calibri"/>
              </a:rPr>
              <a:t>Pełna kontrola</a:t>
            </a:r>
            <a:endParaRPr lang="pl-PL" sz="1400" b="0" u="none" strike="noStrike" dirty="0">
              <a:solidFill>
                <a:srgbClr val="000000"/>
              </a:solidFill>
              <a:effectLst/>
              <a:uFillTx/>
              <a:latin typeface="Arial"/>
            </a:endParaRPr>
          </a:p>
          <a:p>
            <a:pPr algn="ctr" defTabSz="914400">
              <a:tabLst>
                <a:tab pos="0" algn="l"/>
              </a:tabLst>
            </a:pPr>
            <a:r>
              <a:rPr lang="pl-PL" sz="1400" b="0" u="none" strike="noStrike" dirty="0">
                <a:solidFill>
                  <a:srgbClr val="FFFFFF"/>
                </a:solidFill>
                <a:effectLst/>
                <a:uFillTx/>
                <a:latin typeface="Calibri"/>
                <a:ea typeface="Calibri"/>
              </a:rPr>
              <a:t>precyzyjny sprzęt</a:t>
            </a:r>
            <a:endParaRPr lang="pl-PL" sz="1400" b="0" u="none" strike="noStrike" dirty="0">
              <a:solidFill>
                <a:srgbClr val="000000"/>
              </a:solidFill>
              <a:effectLst/>
              <a:uFillTx/>
              <a:latin typeface="Arial"/>
            </a:endParaRPr>
          </a:p>
        </p:txBody>
      </p:sp>
      <p:sp>
        <p:nvSpPr>
          <p:cNvPr id="153" name="Shape 49"/>
          <p:cNvSpPr/>
          <p:nvPr/>
        </p:nvSpPr>
        <p:spPr>
          <a:xfrm flipV="1">
            <a:off x="5855040" y="2799720"/>
            <a:ext cx="1348200" cy="263520"/>
          </a:xfrm>
          <a:prstGeom prst="line">
            <a:avLst/>
          </a:prstGeom>
          <a:ln w="15240">
            <a:solidFill>
              <a:srgbClr val="7A83B0"/>
            </a:solidFill>
            <a:prstDash val="sysDot"/>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pl-PL" sz="1800" b="0" u="none" strike="noStrike">
              <a:solidFill>
                <a:srgbClr val="000000"/>
              </a:solidFill>
              <a:effectLst/>
              <a:uFillTx/>
              <a:latin typeface="Arial"/>
            </a:endParaRPr>
          </a:p>
        </p:txBody>
      </p:sp>
      <p:sp>
        <p:nvSpPr>
          <p:cNvPr id="154" name="Shape 61"/>
          <p:cNvSpPr/>
          <p:nvPr/>
        </p:nvSpPr>
        <p:spPr>
          <a:xfrm>
            <a:off x="6985800" y="2145240"/>
            <a:ext cx="2216520" cy="1055160"/>
          </a:xfrm>
          <a:prstGeom prst="roundRect">
            <a:avLst>
              <a:gd name="adj" fmla="val 10000"/>
            </a:avLst>
          </a:prstGeom>
          <a:solidFill>
            <a:srgbClr val="5B8FF9"/>
          </a:solidFill>
          <a:ln w="0">
            <a:noFill/>
          </a:ln>
          <a:effectLst>
            <a:outerShdw blurRad="101520" dist="37674"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55" name="Text 60"/>
          <p:cNvSpPr/>
          <p:nvPr/>
        </p:nvSpPr>
        <p:spPr>
          <a:xfrm>
            <a:off x="6986160" y="2161080"/>
            <a:ext cx="2216160" cy="45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000" b="1" u="none" strike="noStrike">
                <a:solidFill>
                  <a:srgbClr val="FFFFFF"/>
                </a:solidFill>
                <a:effectLst/>
                <a:uFillTx/>
                <a:latin typeface="Cambria"/>
                <a:ea typeface="Cambria"/>
              </a:rPr>
              <a:t>Online</a:t>
            </a:r>
            <a:endParaRPr lang="pl-PL" sz="2000" b="0" u="none" strike="noStrike">
              <a:solidFill>
                <a:srgbClr val="000000"/>
              </a:solidFill>
              <a:effectLst/>
              <a:uFillTx/>
              <a:latin typeface="Arial"/>
            </a:endParaRPr>
          </a:p>
        </p:txBody>
      </p:sp>
      <p:sp>
        <p:nvSpPr>
          <p:cNvPr id="156" name="Text 61"/>
          <p:cNvSpPr/>
          <p:nvPr/>
        </p:nvSpPr>
        <p:spPr>
          <a:xfrm>
            <a:off x="7086960" y="2613915"/>
            <a:ext cx="2014560" cy="48279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tabLst>
                <a:tab pos="0" algn="l"/>
              </a:tabLst>
            </a:pPr>
            <a:r>
              <a:rPr lang="pl-PL" sz="1400" b="0" u="none" strike="noStrike" dirty="0">
                <a:solidFill>
                  <a:srgbClr val="FFFFFF"/>
                </a:solidFill>
                <a:effectLst/>
                <a:uFillTx/>
                <a:latin typeface="Calibri"/>
                <a:ea typeface="Calibri"/>
              </a:rPr>
              <a:t>Duże próby</a:t>
            </a:r>
            <a:endParaRPr lang="pl-PL" sz="1400" b="0" u="none" strike="noStrike" dirty="0">
              <a:solidFill>
                <a:srgbClr val="000000"/>
              </a:solidFill>
              <a:effectLst/>
              <a:uFillTx/>
              <a:latin typeface="Arial"/>
            </a:endParaRPr>
          </a:p>
          <a:p>
            <a:pPr algn="ctr" defTabSz="914400">
              <a:tabLst>
                <a:tab pos="0" algn="l"/>
              </a:tabLst>
            </a:pPr>
            <a:r>
              <a:rPr lang="pl-PL" sz="1400" b="0" u="none" strike="noStrike" dirty="0">
                <a:solidFill>
                  <a:srgbClr val="FFFFFF"/>
                </a:solidFill>
                <a:effectLst/>
                <a:uFillTx/>
                <a:latin typeface="Calibri"/>
                <a:ea typeface="Calibri"/>
              </a:rPr>
              <a:t>niższy koszt</a:t>
            </a:r>
            <a:endParaRPr lang="pl-PL" sz="1400" b="0" u="none" strike="noStrike" dirty="0">
              <a:solidFill>
                <a:srgbClr val="000000"/>
              </a:solidFill>
              <a:effectLst/>
              <a:uFillTx/>
              <a:latin typeface="Arial"/>
            </a:endParaRPr>
          </a:p>
        </p:txBody>
      </p:sp>
      <p:sp>
        <p:nvSpPr>
          <p:cNvPr id="157" name="Shape 62"/>
          <p:cNvSpPr/>
          <p:nvPr/>
        </p:nvSpPr>
        <p:spPr>
          <a:xfrm>
            <a:off x="5543640" y="3649680"/>
            <a:ext cx="1161960" cy="526740"/>
          </a:xfrm>
          <a:prstGeom prst="line">
            <a:avLst/>
          </a:prstGeom>
          <a:ln w="15240">
            <a:solidFill>
              <a:srgbClr val="7A83B0"/>
            </a:solidFill>
            <a:prstDash val="sysDot"/>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pl-PL" sz="1800" b="0" u="none" strike="noStrike">
              <a:solidFill>
                <a:srgbClr val="000000"/>
              </a:solidFill>
              <a:effectLst/>
              <a:uFillTx/>
              <a:latin typeface="Arial"/>
            </a:endParaRPr>
          </a:p>
        </p:txBody>
      </p:sp>
      <p:sp>
        <p:nvSpPr>
          <p:cNvPr id="158" name="Shape 63"/>
          <p:cNvSpPr/>
          <p:nvPr/>
        </p:nvSpPr>
        <p:spPr>
          <a:xfrm>
            <a:off x="6178740" y="3887969"/>
            <a:ext cx="2216520" cy="900735"/>
          </a:xfrm>
          <a:prstGeom prst="roundRect">
            <a:avLst>
              <a:gd name="adj" fmla="val 10000"/>
            </a:avLst>
          </a:prstGeom>
          <a:solidFill>
            <a:schemeClr val="accent6">
              <a:lumMod val="75000"/>
            </a:schemeClr>
          </a:solidFill>
          <a:ln w="0">
            <a:noFill/>
          </a:ln>
          <a:effectLst>
            <a:outerShdw blurRad="101520" dist="37674"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159" name="Text 62"/>
          <p:cNvSpPr/>
          <p:nvPr/>
        </p:nvSpPr>
        <p:spPr>
          <a:xfrm>
            <a:off x="6178740" y="3904530"/>
            <a:ext cx="2216160" cy="317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000" b="1" u="none" strike="noStrike" dirty="0">
                <a:solidFill>
                  <a:srgbClr val="FFFFFF"/>
                </a:solidFill>
                <a:effectLst/>
                <a:uFillTx/>
                <a:latin typeface="Cambria"/>
                <a:ea typeface="Cambria"/>
              </a:rPr>
              <a:t>Mobilne </a:t>
            </a:r>
            <a:r>
              <a:rPr lang="pl-PL" sz="2000" u="none" strike="noStrike" dirty="0">
                <a:solidFill>
                  <a:srgbClr val="FFFFFF"/>
                </a:solidFill>
                <a:effectLst/>
                <a:uFillTx/>
                <a:latin typeface="Cambria"/>
                <a:ea typeface="Cambria"/>
              </a:rPr>
              <a:t>(EMA)</a:t>
            </a:r>
            <a:endParaRPr lang="pl-PL" sz="2000" u="none" strike="noStrike" dirty="0">
              <a:solidFill>
                <a:srgbClr val="000000"/>
              </a:solidFill>
              <a:effectLst/>
              <a:uFillTx/>
              <a:latin typeface="Arial"/>
            </a:endParaRPr>
          </a:p>
        </p:txBody>
      </p:sp>
      <p:sp>
        <p:nvSpPr>
          <p:cNvPr id="160" name="Text 63"/>
          <p:cNvSpPr/>
          <p:nvPr/>
        </p:nvSpPr>
        <p:spPr>
          <a:xfrm>
            <a:off x="6279900" y="4337220"/>
            <a:ext cx="2014560" cy="317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tabLst>
                <a:tab pos="0" algn="l"/>
              </a:tabLst>
            </a:pPr>
            <a:r>
              <a:rPr lang="pl-PL" sz="1400" b="0" u="none" strike="noStrike" dirty="0">
                <a:solidFill>
                  <a:srgbClr val="FFFFFF"/>
                </a:solidFill>
                <a:effectLst/>
                <a:uFillTx/>
                <a:latin typeface="Calibri"/>
                <a:ea typeface="Calibri"/>
              </a:rPr>
              <a:t>Środowisko naturalne</a:t>
            </a:r>
            <a:endParaRPr lang="pl-PL" sz="1400" b="0" u="none" strike="noStrike" dirty="0">
              <a:solidFill>
                <a:srgbClr val="000000"/>
              </a:solidFill>
              <a:effectLst/>
              <a:uFillTx/>
              <a:latin typeface="Arial"/>
            </a:endParaRPr>
          </a:p>
          <a:p>
            <a:pPr algn="ctr" defTabSz="914400">
              <a:tabLst>
                <a:tab pos="0" algn="l"/>
              </a:tabLst>
            </a:pPr>
            <a:r>
              <a:rPr lang="pl-PL" sz="1400" b="0" u="none" strike="noStrike" dirty="0">
                <a:solidFill>
                  <a:srgbClr val="FFFFFF"/>
                </a:solidFill>
                <a:effectLst/>
                <a:uFillTx/>
                <a:latin typeface="Calibri"/>
                <a:ea typeface="Calibri"/>
              </a:rPr>
              <a:t>dane podłużne</a:t>
            </a:r>
            <a:endParaRPr lang="pl-PL" sz="1400" b="0" u="none" strike="noStrike" dirty="0">
              <a:solidFill>
                <a:srgbClr val="000000"/>
              </a:solidFill>
              <a:effectLst/>
              <a:uFillTx/>
              <a:latin typeface="Arial"/>
            </a:endParaRPr>
          </a:p>
        </p:txBody>
      </p:sp>
      <p:sp>
        <p:nvSpPr>
          <p:cNvPr id="161" name="Shape 64"/>
          <p:cNvSpPr/>
          <p:nvPr/>
        </p:nvSpPr>
        <p:spPr>
          <a:xfrm flipH="1">
            <a:off x="3373320" y="3649320"/>
            <a:ext cx="1162680" cy="474120"/>
          </a:xfrm>
          <a:prstGeom prst="line">
            <a:avLst/>
          </a:prstGeom>
          <a:ln w="15240">
            <a:solidFill>
              <a:srgbClr val="7A83B0"/>
            </a:solidFill>
            <a:prstDash val="sysDot"/>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pl-PL" sz="1800" b="0" u="none" strike="noStrike">
              <a:solidFill>
                <a:srgbClr val="000000"/>
              </a:solidFill>
              <a:effectLst/>
              <a:uFillTx/>
              <a:latin typeface="Arial"/>
            </a:endParaRPr>
          </a:p>
        </p:txBody>
      </p:sp>
      <p:sp>
        <p:nvSpPr>
          <p:cNvPr id="162" name="Shape 65"/>
          <p:cNvSpPr/>
          <p:nvPr/>
        </p:nvSpPr>
        <p:spPr>
          <a:xfrm>
            <a:off x="1812360" y="3907935"/>
            <a:ext cx="2216520" cy="890640"/>
          </a:xfrm>
          <a:prstGeom prst="roundRect">
            <a:avLst>
              <a:gd name="adj" fmla="val 10000"/>
            </a:avLst>
          </a:prstGeom>
          <a:solidFill>
            <a:schemeClr val="accent2">
              <a:lumMod val="50000"/>
            </a:schemeClr>
          </a:solidFill>
          <a:ln w="0">
            <a:noFill/>
          </a:ln>
          <a:effectLst>
            <a:outerShdw blurRad="101520" dist="37674"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63" name="Text 64"/>
          <p:cNvSpPr/>
          <p:nvPr/>
        </p:nvSpPr>
        <p:spPr>
          <a:xfrm>
            <a:off x="1812360" y="3949628"/>
            <a:ext cx="2216160" cy="317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000" b="1" u="none" strike="noStrike" dirty="0" err="1">
                <a:solidFill>
                  <a:srgbClr val="FFFFFF"/>
                </a:solidFill>
                <a:effectLst/>
                <a:uFillTx/>
                <a:latin typeface="Cambria"/>
                <a:ea typeface="Cambria"/>
              </a:rPr>
              <a:t>Wearables</a:t>
            </a:r>
            <a:endParaRPr lang="pl-PL" sz="2000" b="0" u="none" strike="noStrike" dirty="0">
              <a:solidFill>
                <a:srgbClr val="000000"/>
              </a:solidFill>
              <a:effectLst/>
              <a:uFillTx/>
              <a:latin typeface="Arial"/>
            </a:endParaRPr>
          </a:p>
        </p:txBody>
      </p:sp>
      <p:sp>
        <p:nvSpPr>
          <p:cNvPr id="164" name="Text 65"/>
          <p:cNvSpPr/>
          <p:nvPr/>
        </p:nvSpPr>
        <p:spPr>
          <a:xfrm>
            <a:off x="1919400" y="4376888"/>
            <a:ext cx="2008320" cy="30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tabLst>
                <a:tab pos="0" algn="l"/>
              </a:tabLst>
            </a:pPr>
            <a:r>
              <a:rPr lang="pl-PL" sz="1400" b="0" u="none" strike="noStrike" dirty="0">
                <a:solidFill>
                  <a:srgbClr val="FFFFFF"/>
                </a:solidFill>
                <a:effectLst/>
                <a:uFillTx/>
                <a:latin typeface="Calibri"/>
                <a:ea typeface="Calibri"/>
              </a:rPr>
              <a:t>Dane fizjologiczne</a:t>
            </a:r>
            <a:endParaRPr lang="pl-PL" sz="1400" b="0" u="none" strike="noStrike" dirty="0">
              <a:solidFill>
                <a:srgbClr val="000000"/>
              </a:solidFill>
              <a:effectLst/>
              <a:uFillTx/>
              <a:latin typeface="Arial"/>
            </a:endParaRPr>
          </a:p>
          <a:p>
            <a:pPr algn="ctr" defTabSz="914400">
              <a:tabLst>
                <a:tab pos="0" algn="l"/>
              </a:tabLst>
            </a:pPr>
            <a:r>
              <a:rPr lang="pl-PL" sz="1400" b="0" u="none" strike="noStrike" dirty="0">
                <a:solidFill>
                  <a:srgbClr val="FFFFFF"/>
                </a:solidFill>
                <a:effectLst/>
                <a:uFillTx/>
                <a:latin typeface="Calibri"/>
                <a:ea typeface="Calibri"/>
              </a:rPr>
              <a:t>en </a:t>
            </a:r>
            <a:r>
              <a:rPr lang="pl-PL" sz="1400" b="0" u="none" strike="noStrike" dirty="0" err="1">
                <a:solidFill>
                  <a:srgbClr val="FFFFFF"/>
                </a:solidFill>
                <a:effectLst/>
                <a:uFillTx/>
                <a:latin typeface="Calibri"/>
                <a:ea typeface="Calibri"/>
              </a:rPr>
              <a:t>naturel</a:t>
            </a:r>
            <a:endParaRPr lang="pl-PL" sz="1400" b="0" u="none" strike="noStrike" dirty="0">
              <a:solidFill>
                <a:srgbClr val="000000"/>
              </a:solidFill>
              <a:effectLst/>
              <a:uFillTx/>
              <a:latin typeface="Arial"/>
            </a:endParaRPr>
          </a:p>
        </p:txBody>
      </p:sp>
      <p:sp>
        <p:nvSpPr>
          <p:cNvPr id="165" name="Shape 66"/>
          <p:cNvSpPr/>
          <p:nvPr/>
        </p:nvSpPr>
        <p:spPr>
          <a:xfrm flipH="1" flipV="1">
            <a:off x="2931480" y="2814480"/>
            <a:ext cx="1293480" cy="248760"/>
          </a:xfrm>
          <a:prstGeom prst="line">
            <a:avLst/>
          </a:prstGeom>
          <a:ln w="15240">
            <a:solidFill>
              <a:srgbClr val="7A83B0"/>
            </a:solidFill>
            <a:prstDash val="sysDot"/>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pl-PL" sz="1800" b="0" u="none" strike="noStrike">
              <a:solidFill>
                <a:srgbClr val="000000"/>
              </a:solidFill>
              <a:effectLst/>
              <a:uFillTx/>
              <a:latin typeface="Arial"/>
            </a:endParaRPr>
          </a:p>
        </p:txBody>
      </p:sp>
      <p:sp>
        <p:nvSpPr>
          <p:cNvPr id="166" name="Shape 67"/>
          <p:cNvSpPr/>
          <p:nvPr/>
        </p:nvSpPr>
        <p:spPr>
          <a:xfrm>
            <a:off x="952920" y="2202840"/>
            <a:ext cx="2216520" cy="1114245"/>
          </a:xfrm>
          <a:prstGeom prst="roundRect">
            <a:avLst>
              <a:gd name="adj" fmla="val 10000"/>
            </a:avLst>
          </a:prstGeom>
          <a:solidFill>
            <a:srgbClr val="7B5EA7"/>
          </a:solidFill>
          <a:ln w="0">
            <a:noFill/>
          </a:ln>
          <a:effectLst>
            <a:outerShdw blurRad="101520" dist="37674"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67" name="Text 66"/>
          <p:cNvSpPr/>
          <p:nvPr/>
        </p:nvSpPr>
        <p:spPr>
          <a:xfrm>
            <a:off x="953280" y="2218680"/>
            <a:ext cx="2216160" cy="45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000" b="1" u="none" strike="noStrike" dirty="0">
                <a:solidFill>
                  <a:srgbClr val="FFFFFF"/>
                </a:solidFill>
                <a:effectLst/>
                <a:uFillTx/>
                <a:latin typeface="Cambria"/>
                <a:ea typeface="Cambria"/>
              </a:rPr>
              <a:t>VR / AR</a:t>
            </a:r>
            <a:endParaRPr lang="pl-PL" sz="2000" b="0" u="none" strike="noStrike" dirty="0">
              <a:solidFill>
                <a:srgbClr val="000000"/>
              </a:solidFill>
              <a:effectLst/>
              <a:uFillTx/>
              <a:latin typeface="Arial"/>
            </a:endParaRPr>
          </a:p>
        </p:txBody>
      </p:sp>
      <p:sp>
        <p:nvSpPr>
          <p:cNvPr id="168" name="Text 67"/>
          <p:cNvSpPr/>
          <p:nvPr/>
        </p:nvSpPr>
        <p:spPr>
          <a:xfrm>
            <a:off x="1054080" y="2671515"/>
            <a:ext cx="2014560" cy="552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tabLst>
                <a:tab pos="0" algn="l"/>
              </a:tabLst>
            </a:pPr>
            <a:r>
              <a:rPr lang="pl-PL" sz="1400" b="0" u="none" strike="noStrike" dirty="0">
                <a:solidFill>
                  <a:srgbClr val="FFFFFF"/>
                </a:solidFill>
                <a:effectLst/>
                <a:uFillTx/>
                <a:latin typeface="Calibri"/>
                <a:ea typeface="Calibri"/>
              </a:rPr>
              <a:t>Immersja + kontrola</a:t>
            </a:r>
            <a:endParaRPr lang="pl-PL" sz="1400" b="0" u="none" strike="noStrike" dirty="0">
              <a:solidFill>
                <a:srgbClr val="000000"/>
              </a:solidFill>
              <a:effectLst/>
              <a:uFillTx/>
              <a:latin typeface="Arial"/>
            </a:endParaRPr>
          </a:p>
          <a:p>
            <a:pPr algn="ctr" defTabSz="914400">
              <a:tabLst>
                <a:tab pos="0" algn="l"/>
              </a:tabLst>
            </a:pPr>
            <a:r>
              <a:rPr lang="pl-PL" sz="1400" b="0" u="none" strike="noStrike" dirty="0">
                <a:solidFill>
                  <a:srgbClr val="FFFFFF"/>
                </a:solidFill>
                <a:effectLst/>
                <a:uFillTx/>
                <a:latin typeface="Calibri"/>
                <a:ea typeface="Calibri"/>
              </a:rPr>
              <a:t>środowiska</a:t>
            </a:r>
            <a:endParaRPr lang="pl-PL" sz="1400" b="0" u="none" strike="noStrike" dirty="0">
              <a:solidFill>
                <a:srgbClr val="000000"/>
              </a:solidFill>
              <a:effectLst/>
              <a:uFillTx/>
              <a:latin typeface="Arial"/>
            </a:endParaRPr>
          </a:p>
        </p:txBody>
      </p:sp>
      <p:sp>
        <p:nvSpPr>
          <p:cNvPr id="169" name="Text 68"/>
          <p:cNvSpPr/>
          <p:nvPr/>
        </p:nvSpPr>
        <p:spPr>
          <a:xfrm>
            <a:off x="504360" y="5255700"/>
            <a:ext cx="9071280" cy="289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000" u="none" strike="noStrike" dirty="0">
                <a:solidFill>
                  <a:srgbClr val="1E2761"/>
                </a:solidFill>
                <a:effectLst/>
                <a:uFillTx/>
                <a:latin typeface="Cambria Math" panose="02040503050406030204" pitchFamily="18" charset="0"/>
                <a:ea typeface="Cambria Math" panose="02040503050406030204" pitchFamily="18" charset="0"/>
              </a:rPr>
              <a:t>Wybór trybu ma wynikać z pytania badawczego, a nie z dostępności sprzętu</a:t>
            </a:r>
            <a:endParaRPr lang="pl-PL" sz="2000" u="none" strike="noStrike" dirty="0">
              <a:solidFill>
                <a:srgbClr val="000000"/>
              </a:solidFill>
              <a:effectLst/>
              <a:uFillTx/>
              <a:latin typeface="Cambria Math" panose="02040503050406030204" pitchFamily="18" charset="0"/>
              <a:ea typeface="Cambria Math" panose="02040503050406030204" pitchFamily="18" charset="0"/>
            </a:endParaRPr>
          </a:p>
        </p:txBody>
      </p:sp>
      <p:sp>
        <p:nvSpPr>
          <p:cNvPr id="147" name="Shape 46"/>
          <p:cNvSpPr/>
          <p:nvPr/>
        </p:nvSpPr>
        <p:spPr>
          <a:xfrm>
            <a:off x="4032000" y="2570400"/>
            <a:ext cx="2014920" cy="1309320"/>
          </a:xfrm>
          <a:prstGeom prst="ellipse">
            <a:avLst/>
          </a:prstGeom>
          <a:solidFill>
            <a:srgbClr val="1E2761"/>
          </a:solidFill>
          <a:ln w="0">
            <a:noFill/>
          </a:ln>
          <a:effectLst>
            <a:outerShdw blurRad="101520" dist="37674"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48" name="Text 57"/>
          <p:cNvSpPr/>
          <p:nvPr/>
        </p:nvSpPr>
        <p:spPr>
          <a:xfrm>
            <a:off x="4028520" y="2524740"/>
            <a:ext cx="2014560" cy="1308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400" b="1" u="none" strike="noStrike" dirty="0">
                <a:solidFill>
                  <a:srgbClr val="FFFFFF"/>
                </a:solidFill>
                <a:effectLst/>
                <a:uFillTx/>
                <a:latin typeface="Cambria"/>
                <a:ea typeface="Cambria"/>
              </a:rPr>
              <a:t>Pytanie</a:t>
            </a:r>
            <a:endParaRPr lang="pl-PL" sz="2400" b="0" u="none" strike="noStrike" dirty="0">
              <a:solidFill>
                <a:srgbClr val="000000"/>
              </a:solidFill>
              <a:effectLst/>
              <a:uFillTx/>
              <a:latin typeface="Arial"/>
            </a:endParaRPr>
          </a:p>
          <a:p>
            <a:pPr algn="ctr" defTabSz="914400">
              <a:lnSpc>
                <a:spcPct val="100000"/>
              </a:lnSpc>
              <a:tabLst>
                <a:tab pos="0" algn="l"/>
              </a:tabLst>
            </a:pPr>
            <a:r>
              <a:rPr lang="pl-PL" sz="2400" b="1" u="none" strike="noStrike" dirty="0">
                <a:solidFill>
                  <a:srgbClr val="FFFFFF"/>
                </a:solidFill>
                <a:effectLst/>
                <a:uFillTx/>
                <a:latin typeface="Cambria"/>
                <a:ea typeface="Cambria"/>
              </a:rPr>
              <a:t>badawcze</a:t>
            </a:r>
            <a:endParaRPr lang="pl-PL" sz="2400" b="0" u="none" strike="noStrike" dirty="0">
              <a:solidFill>
                <a:srgbClr val="000000"/>
              </a:solidFill>
              <a:effectLst/>
              <a:uFillTx/>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170" name="Shape 738"/>
          <p:cNvSpPr/>
          <p:nvPr/>
        </p:nvSpPr>
        <p:spPr>
          <a:xfrm>
            <a:off x="360" y="360"/>
            <a:ext cx="10079640" cy="1107720"/>
          </a:xfrm>
          <a:prstGeom prst="rect">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71" name="Text 828"/>
          <p:cNvSpPr/>
          <p:nvPr/>
        </p:nvSpPr>
        <p:spPr>
          <a:xfrm>
            <a:off x="503640" y="0"/>
            <a:ext cx="9071640" cy="1107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2200" b="1" u="none" strike="noStrike">
                <a:solidFill>
                  <a:srgbClr val="FFFFFF"/>
                </a:solidFill>
                <a:effectLst/>
                <a:uFillTx/>
                <a:latin typeface="Cambria"/>
                <a:ea typeface="Cambria"/>
              </a:rPr>
              <a:t>MINIMALNY CYFROWY WORKFLOW BADACZA</a:t>
            </a:r>
            <a:endParaRPr lang="pl-PL" sz="2200" b="0" u="none" strike="noStrike">
              <a:solidFill>
                <a:srgbClr val="000000"/>
              </a:solidFill>
              <a:effectLst/>
              <a:uFillTx/>
              <a:latin typeface="Arial"/>
            </a:endParaRPr>
          </a:p>
        </p:txBody>
      </p:sp>
      <p:sp>
        <p:nvSpPr>
          <p:cNvPr id="172" name="Shape 739"/>
          <p:cNvSpPr/>
          <p:nvPr/>
        </p:nvSpPr>
        <p:spPr>
          <a:xfrm>
            <a:off x="403200" y="1335840"/>
            <a:ext cx="4434120" cy="687041"/>
          </a:xfrm>
          <a:prstGeom prst="roundRect">
            <a:avLst>
              <a:gd name="adj" fmla="val 12903"/>
            </a:avLst>
          </a:prstGeom>
          <a:solidFill>
            <a:srgbClr val="FFFFFF"/>
          </a:solidFill>
          <a:ln w="0">
            <a:noFill/>
          </a:ln>
          <a:effectLst>
            <a:outerShdw blurRad="101520" dist="37674"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173" name="Shape 740"/>
          <p:cNvSpPr/>
          <p:nvPr/>
        </p:nvSpPr>
        <p:spPr>
          <a:xfrm>
            <a:off x="503640" y="1447177"/>
            <a:ext cx="422280" cy="464763"/>
          </a:xfrm>
          <a:prstGeom prst="roundRect">
            <a:avLst>
              <a:gd name="adj" fmla="val 14286"/>
            </a:avLst>
          </a:prstGeom>
          <a:solidFill>
            <a:srgbClr val="1E276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74" name="Text 829"/>
          <p:cNvSpPr/>
          <p:nvPr/>
        </p:nvSpPr>
        <p:spPr>
          <a:xfrm>
            <a:off x="504000" y="1447177"/>
            <a:ext cx="422280" cy="46476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500" b="1" u="none" strike="noStrike">
                <a:solidFill>
                  <a:srgbClr val="FFFFFF"/>
                </a:solidFill>
                <a:effectLst/>
                <a:uFillTx/>
                <a:latin typeface="Cambria"/>
                <a:ea typeface="Cambria"/>
              </a:rPr>
              <a:t>1</a:t>
            </a:r>
            <a:endParaRPr lang="pl-PL" sz="1500" b="0" u="none" strike="noStrike">
              <a:solidFill>
                <a:srgbClr val="000000"/>
              </a:solidFill>
              <a:effectLst/>
              <a:uFillTx/>
              <a:latin typeface="Arial"/>
            </a:endParaRPr>
          </a:p>
        </p:txBody>
      </p:sp>
      <p:sp>
        <p:nvSpPr>
          <p:cNvPr id="175" name="Text 830"/>
          <p:cNvSpPr/>
          <p:nvPr/>
        </p:nvSpPr>
        <p:spPr>
          <a:xfrm>
            <a:off x="988950" y="1336236"/>
            <a:ext cx="3811650" cy="68664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b="0" u="none" strike="noStrike" dirty="0">
                <a:solidFill>
                  <a:srgbClr val="1A1F3C"/>
                </a:solidFill>
                <a:effectLst/>
                <a:uFillTx/>
                <a:latin typeface="Calibri"/>
                <a:ea typeface="Calibri"/>
              </a:rPr>
              <a:t>Hipoteza i pytanie badawcze</a:t>
            </a:r>
            <a:endParaRPr lang="pl-PL" b="0" u="none" strike="noStrike" dirty="0">
              <a:solidFill>
                <a:srgbClr val="000000"/>
              </a:solidFill>
              <a:effectLst/>
              <a:uFillTx/>
              <a:latin typeface="Arial"/>
            </a:endParaRPr>
          </a:p>
        </p:txBody>
      </p:sp>
      <p:sp>
        <p:nvSpPr>
          <p:cNvPr id="176" name="Shape 741"/>
          <p:cNvSpPr/>
          <p:nvPr/>
        </p:nvSpPr>
        <p:spPr>
          <a:xfrm>
            <a:off x="2620800" y="2035164"/>
            <a:ext cx="360" cy="99451"/>
          </a:xfrm>
          <a:prstGeom prst="line">
            <a:avLst/>
          </a:prstGeom>
          <a:ln w="12700">
            <a:solidFill>
              <a:srgbClr val="7A83B0"/>
            </a:solidFill>
            <a:prstDash val="sysDot"/>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pl-PL" sz="1800" b="0" u="none" strike="noStrike">
              <a:solidFill>
                <a:srgbClr val="000000"/>
              </a:solidFill>
              <a:effectLst/>
              <a:uFillTx/>
              <a:latin typeface="Arial"/>
            </a:endParaRPr>
          </a:p>
        </p:txBody>
      </p:sp>
      <p:sp>
        <p:nvSpPr>
          <p:cNvPr id="177" name="Shape 742"/>
          <p:cNvSpPr/>
          <p:nvPr/>
        </p:nvSpPr>
        <p:spPr>
          <a:xfrm>
            <a:off x="403200" y="2135010"/>
            <a:ext cx="4434120" cy="687041"/>
          </a:xfrm>
          <a:prstGeom prst="roundRect">
            <a:avLst>
              <a:gd name="adj" fmla="val 12903"/>
            </a:avLst>
          </a:prstGeom>
          <a:solidFill>
            <a:srgbClr val="FFFFFF"/>
          </a:solidFill>
          <a:ln w="0">
            <a:noFill/>
          </a:ln>
          <a:effectLst>
            <a:outerShdw blurRad="101520" dist="37674"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178" name="Shape 743"/>
          <p:cNvSpPr/>
          <p:nvPr/>
        </p:nvSpPr>
        <p:spPr>
          <a:xfrm>
            <a:off x="503640" y="2245951"/>
            <a:ext cx="422280" cy="464763"/>
          </a:xfrm>
          <a:prstGeom prst="roundRect">
            <a:avLst>
              <a:gd name="adj" fmla="val 14286"/>
            </a:avLst>
          </a:prstGeom>
          <a:solidFill>
            <a:srgbClr val="2D3B8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79" name="Text 831"/>
          <p:cNvSpPr/>
          <p:nvPr/>
        </p:nvSpPr>
        <p:spPr>
          <a:xfrm>
            <a:off x="504000" y="2245951"/>
            <a:ext cx="422280" cy="46476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500" b="1" u="none" strike="noStrike">
                <a:solidFill>
                  <a:srgbClr val="FFFFFF"/>
                </a:solidFill>
                <a:effectLst/>
                <a:uFillTx/>
                <a:latin typeface="Cambria"/>
                <a:ea typeface="Cambria"/>
              </a:rPr>
              <a:t>2</a:t>
            </a:r>
            <a:endParaRPr lang="pl-PL" sz="1500" b="0" u="none" strike="noStrike">
              <a:solidFill>
                <a:srgbClr val="000000"/>
              </a:solidFill>
              <a:effectLst/>
              <a:uFillTx/>
              <a:latin typeface="Arial"/>
            </a:endParaRPr>
          </a:p>
        </p:txBody>
      </p:sp>
      <p:sp>
        <p:nvSpPr>
          <p:cNvPr id="180" name="Text 832"/>
          <p:cNvSpPr/>
          <p:nvPr/>
        </p:nvSpPr>
        <p:spPr>
          <a:xfrm>
            <a:off x="988950" y="2135010"/>
            <a:ext cx="3811650" cy="68664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b="0" u="none" strike="noStrike">
                <a:solidFill>
                  <a:srgbClr val="1A1F3C"/>
                </a:solidFill>
                <a:effectLst/>
                <a:uFillTx/>
                <a:latin typeface="Calibri"/>
                <a:ea typeface="Calibri"/>
              </a:rPr>
              <a:t>Prerejestracja (OSF / AsPredicted)</a:t>
            </a:r>
            <a:endParaRPr lang="pl-PL" b="0" u="none" strike="noStrike">
              <a:solidFill>
                <a:srgbClr val="000000"/>
              </a:solidFill>
              <a:effectLst/>
              <a:uFillTx/>
              <a:latin typeface="Arial"/>
            </a:endParaRPr>
          </a:p>
        </p:txBody>
      </p:sp>
      <p:sp>
        <p:nvSpPr>
          <p:cNvPr id="181" name="Shape 744"/>
          <p:cNvSpPr/>
          <p:nvPr/>
        </p:nvSpPr>
        <p:spPr>
          <a:xfrm>
            <a:off x="2620800" y="2833938"/>
            <a:ext cx="360" cy="99451"/>
          </a:xfrm>
          <a:prstGeom prst="line">
            <a:avLst/>
          </a:prstGeom>
          <a:ln w="12700">
            <a:solidFill>
              <a:srgbClr val="7A83B0"/>
            </a:solidFill>
            <a:prstDash val="sysDot"/>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pl-PL" sz="1800" b="0" u="none" strike="noStrike">
              <a:solidFill>
                <a:srgbClr val="000000"/>
              </a:solidFill>
              <a:effectLst/>
              <a:uFillTx/>
              <a:latin typeface="Arial"/>
            </a:endParaRPr>
          </a:p>
        </p:txBody>
      </p:sp>
      <p:sp>
        <p:nvSpPr>
          <p:cNvPr id="182" name="Shape 745"/>
          <p:cNvSpPr/>
          <p:nvPr/>
        </p:nvSpPr>
        <p:spPr>
          <a:xfrm>
            <a:off x="403200" y="2933785"/>
            <a:ext cx="4434120" cy="687041"/>
          </a:xfrm>
          <a:prstGeom prst="roundRect">
            <a:avLst>
              <a:gd name="adj" fmla="val 12903"/>
            </a:avLst>
          </a:prstGeom>
          <a:solidFill>
            <a:srgbClr val="FFFFFF"/>
          </a:solidFill>
          <a:ln w="0">
            <a:noFill/>
          </a:ln>
          <a:effectLst>
            <a:outerShdw blurRad="101520" dist="37674"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183" name="Shape 746"/>
          <p:cNvSpPr/>
          <p:nvPr/>
        </p:nvSpPr>
        <p:spPr>
          <a:xfrm>
            <a:off x="503640" y="3045122"/>
            <a:ext cx="422280" cy="464763"/>
          </a:xfrm>
          <a:prstGeom prst="roundRect">
            <a:avLst>
              <a:gd name="adj" fmla="val 14286"/>
            </a:avLst>
          </a:prstGeom>
          <a:solidFill>
            <a:srgbClr val="5B8FF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84" name="Text 833"/>
          <p:cNvSpPr/>
          <p:nvPr/>
        </p:nvSpPr>
        <p:spPr>
          <a:xfrm>
            <a:off x="504000" y="3045122"/>
            <a:ext cx="422280" cy="46476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500" b="1" u="none" strike="noStrike">
                <a:solidFill>
                  <a:srgbClr val="FFFFFF"/>
                </a:solidFill>
                <a:effectLst/>
                <a:uFillTx/>
                <a:latin typeface="Cambria"/>
                <a:ea typeface="Cambria"/>
              </a:rPr>
              <a:t>3</a:t>
            </a:r>
            <a:endParaRPr lang="pl-PL" sz="1500" b="0" u="none" strike="noStrike">
              <a:solidFill>
                <a:srgbClr val="000000"/>
              </a:solidFill>
              <a:effectLst/>
              <a:uFillTx/>
              <a:latin typeface="Arial"/>
            </a:endParaRPr>
          </a:p>
        </p:txBody>
      </p:sp>
      <p:sp>
        <p:nvSpPr>
          <p:cNvPr id="185" name="Text 834"/>
          <p:cNvSpPr/>
          <p:nvPr/>
        </p:nvSpPr>
        <p:spPr>
          <a:xfrm>
            <a:off x="988950" y="2934181"/>
            <a:ext cx="3811650" cy="68664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b="0" u="none" strike="noStrike">
                <a:solidFill>
                  <a:srgbClr val="1A1F3C"/>
                </a:solidFill>
                <a:effectLst/>
                <a:uFillTx/>
                <a:latin typeface="Calibri"/>
                <a:ea typeface="Calibri"/>
              </a:rPr>
              <a:t>Protokół eksperymentu</a:t>
            </a:r>
            <a:endParaRPr lang="pl-PL" b="0" u="none" strike="noStrike">
              <a:solidFill>
                <a:srgbClr val="000000"/>
              </a:solidFill>
              <a:effectLst/>
              <a:uFillTx/>
              <a:latin typeface="Arial"/>
            </a:endParaRPr>
          </a:p>
        </p:txBody>
      </p:sp>
      <p:sp>
        <p:nvSpPr>
          <p:cNvPr id="186" name="Shape 747"/>
          <p:cNvSpPr/>
          <p:nvPr/>
        </p:nvSpPr>
        <p:spPr>
          <a:xfrm>
            <a:off x="2620800" y="3632712"/>
            <a:ext cx="360" cy="99847"/>
          </a:xfrm>
          <a:prstGeom prst="line">
            <a:avLst/>
          </a:prstGeom>
          <a:ln w="12700">
            <a:solidFill>
              <a:srgbClr val="7A83B0"/>
            </a:solidFill>
            <a:prstDash val="sysDot"/>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pl-PL" sz="1800" b="0" u="none" strike="noStrike">
              <a:solidFill>
                <a:srgbClr val="000000"/>
              </a:solidFill>
              <a:effectLst/>
              <a:uFillTx/>
              <a:latin typeface="Arial"/>
            </a:endParaRPr>
          </a:p>
        </p:txBody>
      </p:sp>
      <p:sp>
        <p:nvSpPr>
          <p:cNvPr id="187" name="Shape 748"/>
          <p:cNvSpPr/>
          <p:nvPr/>
        </p:nvSpPr>
        <p:spPr>
          <a:xfrm>
            <a:off x="403200" y="3732559"/>
            <a:ext cx="4434120" cy="687041"/>
          </a:xfrm>
          <a:prstGeom prst="roundRect">
            <a:avLst>
              <a:gd name="adj" fmla="val 12903"/>
            </a:avLst>
          </a:prstGeom>
          <a:solidFill>
            <a:srgbClr val="FFFFFF"/>
          </a:solidFill>
          <a:ln w="0">
            <a:noFill/>
          </a:ln>
          <a:effectLst>
            <a:outerShdw blurRad="101520" dist="37674"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188" name="Shape 749"/>
          <p:cNvSpPr/>
          <p:nvPr/>
        </p:nvSpPr>
        <p:spPr>
          <a:xfrm>
            <a:off x="503640" y="3843500"/>
            <a:ext cx="422280" cy="464763"/>
          </a:xfrm>
          <a:prstGeom prst="roundRect">
            <a:avLst>
              <a:gd name="adj" fmla="val 14286"/>
            </a:avLst>
          </a:prstGeom>
          <a:solidFill>
            <a:srgbClr val="2D7DD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89" name="Text 835"/>
          <p:cNvSpPr/>
          <p:nvPr/>
        </p:nvSpPr>
        <p:spPr>
          <a:xfrm>
            <a:off x="504000" y="3843500"/>
            <a:ext cx="422280" cy="46476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500" b="1" u="none" strike="noStrike">
                <a:solidFill>
                  <a:srgbClr val="FFFFFF"/>
                </a:solidFill>
                <a:effectLst/>
                <a:uFillTx/>
                <a:latin typeface="Cambria"/>
                <a:ea typeface="Cambria"/>
              </a:rPr>
              <a:t>4</a:t>
            </a:r>
            <a:endParaRPr lang="pl-PL" sz="1500" b="0" u="none" strike="noStrike">
              <a:solidFill>
                <a:srgbClr val="000000"/>
              </a:solidFill>
              <a:effectLst/>
              <a:uFillTx/>
              <a:latin typeface="Arial"/>
            </a:endParaRPr>
          </a:p>
        </p:txBody>
      </p:sp>
      <p:sp>
        <p:nvSpPr>
          <p:cNvPr id="190" name="Text 836"/>
          <p:cNvSpPr/>
          <p:nvPr/>
        </p:nvSpPr>
        <p:spPr>
          <a:xfrm>
            <a:off x="988950" y="3732559"/>
            <a:ext cx="3811650" cy="68664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b="0" u="none" strike="noStrike" dirty="0">
                <a:solidFill>
                  <a:srgbClr val="1A1F3C"/>
                </a:solidFill>
                <a:effectLst/>
                <a:uFillTx/>
                <a:latin typeface="Calibri"/>
                <a:ea typeface="Calibri"/>
              </a:rPr>
              <a:t>Realizacja i zbieranie danych</a:t>
            </a:r>
            <a:endParaRPr lang="pl-PL" b="0" u="none" strike="noStrike" dirty="0">
              <a:solidFill>
                <a:srgbClr val="000000"/>
              </a:solidFill>
              <a:effectLst/>
              <a:uFillTx/>
              <a:latin typeface="Arial"/>
            </a:endParaRPr>
          </a:p>
        </p:txBody>
      </p:sp>
      <p:sp>
        <p:nvSpPr>
          <p:cNvPr id="191" name="Shape 750"/>
          <p:cNvSpPr/>
          <p:nvPr/>
        </p:nvSpPr>
        <p:spPr>
          <a:xfrm>
            <a:off x="5271210" y="1335840"/>
            <a:ext cx="4434120" cy="687041"/>
          </a:xfrm>
          <a:prstGeom prst="roundRect">
            <a:avLst>
              <a:gd name="adj" fmla="val 12903"/>
            </a:avLst>
          </a:prstGeom>
          <a:solidFill>
            <a:srgbClr val="FFFFFF"/>
          </a:solidFill>
          <a:ln w="0">
            <a:noFill/>
          </a:ln>
          <a:effectLst>
            <a:outerShdw blurRad="101520" dist="37674"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192" name="Shape 751"/>
          <p:cNvSpPr/>
          <p:nvPr/>
        </p:nvSpPr>
        <p:spPr>
          <a:xfrm>
            <a:off x="5372010" y="1447177"/>
            <a:ext cx="422280" cy="464763"/>
          </a:xfrm>
          <a:prstGeom prst="roundRect">
            <a:avLst>
              <a:gd name="adj" fmla="val 14286"/>
            </a:avLst>
          </a:prstGeom>
          <a:solidFill>
            <a:srgbClr val="3A9F6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93" name="Text 837"/>
          <p:cNvSpPr/>
          <p:nvPr/>
        </p:nvSpPr>
        <p:spPr>
          <a:xfrm>
            <a:off x="5372010" y="1447177"/>
            <a:ext cx="422280" cy="46476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500" b="1" u="none" strike="noStrike">
                <a:solidFill>
                  <a:srgbClr val="FFFFFF"/>
                </a:solidFill>
                <a:effectLst/>
                <a:uFillTx/>
                <a:latin typeface="Cambria"/>
                <a:ea typeface="Cambria"/>
              </a:rPr>
              <a:t>5</a:t>
            </a:r>
            <a:endParaRPr lang="pl-PL" sz="1500" b="0" u="none" strike="noStrike">
              <a:solidFill>
                <a:srgbClr val="000000"/>
              </a:solidFill>
              <a:effectLst/>
              <a:uFillTx/>
              <a:latin typeface="Arial"/>
            </a:endParaRPr>
          </a:p>
        </p:txBody>
      </p:sp>
      <p:sp>
        <p:nvSpPr>
          <p:cNvPr id="194" name="Text 838"/>
          <p:cNvSpPr/>
          <p:nvPr/>
        </p:nvSpPr>
        <p:spPr>
          <a:xfrm>
            <a:off x="5856960" y="1336236"/>
            <a:ext cx="3811650" cy="68664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b="1" u="none" strike="noStrike" dirty="0">
                <a:solidFill>
                  <a:srgbClr val="1A1F3C"/>
                </a:solidFill>
                <a:effectLst/>
                <a:uFillTx/>
                <a:latin typeface="Calibri"/>
                <a:ea typeface="Calibri"/>
              </a:rPr>
              <a:t>Dane surowe</a:t>
            </a:r>
            <a:r>
              <a:rPr lang="pl-PL" b="0" u="none" strike="noStrike" dirty="0">
                <a:solidFill>
                  <a:srgbClr val="1A1F3C"/>
                </a:solidFill>
                <a:effectLst/>
                <a:uFillTx/>
                <a:latin typeface="Calibri"/>
                <a:ea typeface="Calibri"/>
              </a:rPr>
              <a:t>: wersjonowanie, backup</a:t>
            </a:r>
            <a:endParaRPr lang="pl-PL" b="0" u="none" strike="noStrike" dirty="0">
              <a:solidFill>
                <a:srgbClr val="000000"/>
              </a:solidFill>
              <a:effectLst/>
              <a:uFillTx/>
              <a:latin typeface="Arial"/>
            </a:endParaRPr>
          </a:p>
        </p:txBody>
      </p:sp>
      <p:sp>
        <p:nvSpPr>
          <p:cNvPr id="195" name="Shape 752"/>
          <p:cNvSpPr/>
          <p:nvPr/>
        </p:nvSpPr>
        <p:spPr>
          <a:xfrm>
            <a:off x="7488810" y="2035164"/>
            <a:ext cx="360" cy="99451"/>
          </a:xfrm>
          <a:prstGeom prst="line">
            <a:avLst/>
          </a:prstGeom>
          <a:ln w="12700">
            <a:solidFill>
              <a:srgbClr val="7A83B0"/>
            </a:solidFill>
            <a:prstDash val="sysDot"/>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pl-PL" sz="1800" b="0" u="none" strike="noStrike">
              <a:solidFill>
                <a:srgbClr val="000000"/>
              </a:solidFill>
              <a:effectLst/>
              <a:uFillTx/>
              <a:latin typeface="Arial"/>
            </a:endParaRPr>
          </a:p>
        </p:txBody>
      </p:sp>
      <p:sp>
        <p:nvSpPr>
          <p:cNvPr id="196" name="Shape 753"/>
          <p:cNvSpPr/>
          <p:nvPr/>
        </p:nvSpPr>
        <p:spPr>
          <a:xfrm>
            <a:off x="5271210" y="2135010"/>
            <a:ext cx="4434120" cy="687041"/>
          </a:xfrm>
          <a:prstGeom prst="roundRect">
            <a:avLst>
              <a:gd name="adj" fmla="val 12903"/>
            </a:avLst>
          </a:prstGeom>
          <a:solidFill>
            <a:srgbClr val="FFFFFF"/>
          </a:solidFill>
          <a:ln w="0">
            <a:noFill/>
          </a:ln>
          <a:effectLst>
            <a:outerShdw blurRad="101520" dist="37674"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197" name="Shape 754"/>
          <p:cNvSpPr/>
          <p:nvPr/>
        </p:nvSpPr>
        <p:spPr>
          <a:xfrm>
            <a:off x="5372010" y="2245951"/>
            <a:ext cx="422280" cy="464763"/>
          </a:xfrm>
          <a:prstGeom prst="roundRect">
            <a:avLst>
              <a:gd name="adj" fmla="val 14286"/>
            </a:avLst>
          </a:prstGeom>
          <a:solidFill>
            <a:srgbClr val="7B5EA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98" name="Text 839"/>
          <p:cNvSpPr/>
          <p:nvPr/>
        </p:nvSpPr>
        <p:spPr>
          <a:xfrm>
            <a:off x="5372010" y="2245951"/>
            <a:ext cx="422280" cy="46476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500" b="1" u="none" strike="noStrike">
                <a:solidFill>
                  <a:srgbClr val="FFFFFF"/>
                </a:solidFill>
                <a:effectLst/>
                <a:uFillTx/>
                <a:latin typeface="Cambria"/>
                <a:ea typeface="Cambria"/>
              </a:rPr>
              <a:t>6</a:t>
            </a:r>
            <a:endParaRPr lang="pl-PL" sz="1500" b="0" u="none" strike="noStrike">
              <a:solidFill>
                <a:srgbClr val="000000"/>
              </a:solidFill>
              <a:effectLst/>
              <a:uFillTx/>
              <a:latin typeface="Arial"/>
            </a:endParaRPr>
          </a:p>
        </p:txBody>
      </p:sp>
      <p:sp>
        <p:nvSpPr>
          <p:cNvPr id="199" name="Text 840"/>
          <p:cNvSpPr/>
          <p:nvPr/>
        </p:nvSpPr>
        <p:spPr>
          <a:xfrm>
            <a:off x="5856960" y="2135010"/>
            <a:ext cx="3811650" cy="68664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b="1" u="none" strike="noStrike" dirty="0">
                <a:solidFill>
                  <a:srgbClr val="1A1F3C"/>
                </a:solidFill>
                <a:effectLst/>
                <a:uFillTx/>
                <a:latin typeface="Calibri"/>
                <a:ea typeface="Calibri"/>
              </a:rPr>
              <a:t>Analiza</a:t>
            </a:r>
            <a:r>
              <a:rPr lang="pl-PL" b="0" u="none" strike="noStrike" dirty="0">
                <a:solidFill>
                  <a:srgbClr val="1A1F3C"/>
                </a:solidFill>
                <a:effectLst/>
                <a:uFillTx/>
                <a:latin typeface="Calibri"/>
                <a:ea typeface="Calibri"/>
              </a:rPr>
              <a:t>: autom. skrypty, a nie klikanie</a:t>
            </a:r>
            <a:endParaRPr lang="pl-PL" b="0" u="none" strike="noStrike" dirty="0">
              <a:solidFill>
                <a:srgbClr val="000000"/>
              </a:solidFill>
              <a:effectLst/>
              <a:uFillTx/>
              <a:latin typeface="Arial"/>
            </a:endParaRPr>
          </a:p>
        </p:txBody>
      </p:sp>
      <p:sp>
        <p:nvSpPr>
          <p:cNvPr id="200" name="Shape 755"/>
          <p:cNvSpPr/>
          <p:nvPr/>
        </p:nvSpPr>
        <p:spPr>
          <a:xfrm>
            <a:off x="7488810" y="2833938"/>
            <a:ext cx="360" cy="99451"/>
          </a:xfrm>
          <a:prstGeom prst="line">
            <a:avLst/>
          </a:prstGeom>
          <a:ln w="12700">
            <a:solidFill>
              <a:srgbClr val="7A83B0"/>
            </a:solidFill>
            <a:prstDash val="sysDot"/>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pl-PL" sz="1800" b="0" u="none" strike="noStrike">
              <a:solidFill>
                <a:srgbClr val="000000"/>
              </a:solidFill>
              <a:effectLst/>
              <a:uFillTx/>
              <a:latin typeface="Arial"/>
            </a:endParaRPr>
          </a:p>
        </p:txBody>
      </p:sp>
      <p:sp>
        <p:nvSpPr>
          <p:cNvPr id="201" name="Shape 756"/>
          <p:cNvSpPr/>
          <p:nvPr/>
        </p:nvSpPr>
        <p:spPr>
          <a:xfrm>
            <a:off x="5271210" y="2933785"/>
            <a:ext cx="4434120" cy="687041"/>
          </a:xfrm>
          <a:prstGeom prst="roundRect">
            <a:avLst>
              <a:gd name="adj" fmla="val 12903"/>
            </a:avLst>
          </a:prstGeom>
          <a:solidFill>
            <a:srgbClr val="FFFFFF"/>
          </a:solidFill>
          <a:ln w="0">
            <a:noFill/>
          </a:ln>
          <a:effectLst>
            <a:outerShdw blurRad="101520" dist="37674"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202" name="Shape 757"/>
          <p:cNvSpPr/>
          <p:nvPr/>
        </p:nvSpPr>
        <p:spPr>
          <a:xfrm>
            <a:off x="5372010" y="3045122"/>
            <a:ext cx="422280" cy="464763"/>
          </a:xfrm>
          <a:prstGeom prst="roundRect">
            <a:avLst>
              <a:gd name="adj" fmla="val 14286"/>
            </a:avLst>
          </a:prstGeom>
          <a:solidFill>
            <a:srgbClr val="C07B2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03" name="Text 841"/>
          <p:cNvSpPr/>
          <p:nvPr/>
        </p:nvSpPr>
        <p:spPr>
          <a:xfrm>
            <a:off x="5372010" y="3045122"/>
            <a:ext cx="422280" cy="46476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500" b="1" u="none" strike="noStrike">
                <a:solidFill>
                  <a:srgbClr val="FFFFFF"/>
                </a:solidFill>
                <a:effectLst/>
                <a:uFillTx/>
                <a:latin typeface="Cambria"/>
                <a:ea typeface="Cambria"/>
              </a:rPr>
              <a:t>7</a:t>
            </a:r>
            <a:endParaRPr lang="pl-PL" sz="1500" b="0" u="none" strike="noStrike">
              <a:solidFill>
                <a:srgbClr val="000000"/>
              </a:solidFill>
              <a:effectLst/>
              <a:uFillTx/>
              <a:latin typeface="Arial"/>
            </a:endParaRPr>
          </a:p>
        </p:txBody>
      </p:sp>
      <p:sp>
        <p:nvSpPr>
          <p:cNvPr id="204" name="Text 842"/>
          <p:cNvSpPr/>
          <p:nvPr/>
        </p:nvSpPr>
        <p:spPr>
          <a:xfrm>
            <a:off x="5856960" y="2934181"/>
            <a:ext cx="3811650" cy="68664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b="1" u="none" strike="noStrike" dirty="0">
                <a:solidFill>
                  <a:srgbClr val="1A1F3C"/>
                </a:solidFill>
                <a:effectLst/>
                <a:uFillTx/>
                <a:latin typeface="Calibri"/>
                <a:ea typeface="Calibri"/>
              </a:rPr>
              <a:t>Repozytorium</a:t>
            </a:r>
            <a:r>
              <a:rPr lang="pl-PL" b="0" u="none" strike="noStrike" dirty="0">
                <a:solidFill>
                  <a:srgbClr val="1A1F3C"/>
                </a:solidFill>
                <a:effectLst/>
                <a:uFillTx/>
                <a:latin typeface="Calibri"/>
                <a:ea typeface="Calibri"/>
              </a:rPr>
              <a:t>: dane, kod, materiały</a:t>
            </a:r>
            <a:endParaRPr lang="pl-PL" b="0" u="none" strike="noStrike" dirty="0">
              <a:solidFill>
                <a:srgbClr val="000000"/>
              </a:solidFill>
              <a:effectLst/>
              <a:uFillTx/>
              <a:latin typeface="Arial"/>
            </a:endParaRPr>
          </a:p>
        </p:txBody>
      </p:sp>
      <p:sp>
        <p:nvSpPr>
          <p:cNvPr id="205" name="Shape 758"/>
          <p:cNvSpPr/>
          <p:nvPr/>
        </p:nvSpPr>
        <p:spPr>
          <a:xfrm>
            <a:off x="7488810" y="3632712"/>
            <a:ext cx="360" cy="99847"/>
          </a:xfrm>
          <a:prstGeom prst="line">
            <a:avLst/>
          </a:prstGeom>
          <a:ln w="12700">
            <a:solidFill>
              <a:srgbClr val="7A83B0"/>
            </a:solidFill>
            <a:prstDash val="sysDot"/>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pl-PL" sz="1800" b="0" u="none" strike="noStrike">
              <a:solidFill>
                <a:srgbClr val="000000"/>
              </a:solidFill>
              <a:effectLst/>
              <a:uFillTx/>
              <a:latin typeface="Arial"/>
            </a:endParaRPr>
          </a:p>
        </p:txBody>
      </p:sp>
      <p:sp>
        <p:nvSpPr>
          <p:cNvPr id="206" name="Shape 759"/>
          <p:cNvSpPr/>
          <p:nvPr/>
        </p:nvSpPr>
        <p:spPr>
          <a:xfrm>
            <a:off x="5271210" y="3732559"/>
            <a:ext cx="4434120" cy="687041"/>
          </a:xfrm>
          <a:prstGeom prst="roundRect">
            <a:avLst>
              <a:gd name="adj" fmla="val 12903"/>
            </a:avLst>
          </a:prstGeom>
          <a:solidFill>
            <a:srgbClr val="FFFFFF"/>
          </a:solidFill>
          <a:ln w="0">
            <a:noFill/>
          </a:ln>
          <a:effectLst>
            <a:outerShdw blurRad="101520" dist="37674"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207" name="Shape 760"/>
          <p:cNvSpPr/>
          <p:nvPr/>
        </p:nvSpPr>
        <p:spPr>
          <a:xfrm>
            <a:off x="5372010" y="3843500"/>
            <a:ext cx="422280" cy="464763"/>
          </a:xfrm>
          <a:prstGeom prst="roundRect">
            <a:avLst>
              <a:gd name="adj" fmla="val 14286"/>
            </a:avLst>
          </a:prstGeom>
          <a:solidFill>
            <a:srgbClr val="3ECFB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208" name="Text 843"/>
          <p:cNvSpPr/>
          <p:nvPr/>
        </p:nvSpPr>
        <p:spPr>
          <a:xfrm>
            <a:off x="5372010" y="3843500"/>
            <a:ext cx="422280" cy="46476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500" b="1" u="none" strike="noStrike">
                <a:solidFill>
                  <a:srgbClr val="FFFFFF"/>
                </a:solidFill>
                <a:effectLst/>
                <a:uFillTx/>
                <a:latin typeface="Cambria"/>
                <a:ea typeface="Cambria"/>
              </a:rPr>
              <a:t>8</a:t>
            </a:r>
            <a:endParaRPr lang="pl-PL" sz="1500" b="0" u="none" strike="noStrike">
              <a:solidFill>
                <a:srgbClr val="000000"/>
              </a:solidFill>
              <a:effectLst/>
              <a:uFillTx/>
              <a:latin typeface="Arial"/>
            </a:endParaRPr>
          </a:p>
        </p:txBody>
      </p:sp>
      <p:sp>
        <p:nvSpPr>
          <p:cNvPr id="209" name="Text 844"/>
          <p:cNvSpPr/>
          <p:nvPr/>
        </p:nvSpPr>
        <p:spPr>
          <a:xfrm>
            <a:off x="5856960" y="3732559"/>
            <a:ext cx="3811650" cy="68664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b="1" u="none" strike="noStrike" dirty="0">
                <a:solidFill>
                  <a:srgbClr val="1A1F3C"/>
                </a:solidFill>
                <a:effectLst/>
                <a:uFillTx/>
                <a:latin typeface="Calibri"/>
                <a:ea typeface="Calibri"/>
              </a:rPr>
              <a:t>Publikacja</a:t>
            </a:r>
            <a:r>
              <a:rPr lang="pl-PL" b="0" u="none" strike="noStrike" dirty="0">
                <a:solidFill>
                  <a:srgbClr val="1A1F3C"/>
                </a:solidFill>
                <a:effectLst/>
                <a:uFillTx/>
                <a:latin typeface="Calibri"/>
                <a:ea typeface="Calibri"/>
              </a:rPr>
              <a:t> z dostępem do </a:t>
            </a:r>
            <a:r>
              <a:rPr lang="pl-PL" b="0" u="none" strike="noStrike" dirty="0" err="1">
                <a:solidFill>
                  <a:srgbClr val="1A1F3C"/>
                </a:solidFill>
                <a:effectLst/>
                <a:uFillTx/>
                <a:latin typeface="Calibri"/>
                <a:ea typeface="Calibri"/>
              </a:rPr>
              <a:t>pipeline'u</a:t>
            </a:r>
            <a:endParaRPr lang="pl-PL" b="0" u="none" strike="noStrike" dirty="0">
              <a:solidFill>
                <a:srgbClr val="000000"/>
              </a:solidFill>
              <a:effectLst/>
              <a:uFillTx/>
              <a:latin typeface="Arial"/>
            </a:endParaRPr>
          </a:p>
        </p:txBody>
      </p:sp>
      <p:sp>
        <p:nvSpPr>
          <p:cNvPr id="210" name="Text 845"/>
          <p:cNvSpPr/>
          <p:nvPr/>
        </p:nvSpPr>
        <p:spPr>
          <a:xfrm>
            <a:off x="503640" y="5141160"/>
            <a:ext cx="9071640" cy="351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tabLst>
                <a:tab pos="0" algn="l"/>
              </a:tabLst>
            </a:pPr>
            <a:r>
              <a:rPr lang="pl-PL" sz="2000" dirty="0">
                <a:solidFill>
                  <a:srgbClr val="1E2761"/>
                </a:solidFill>
                <a:latin typeface="Cambria Math" panose="02040503050406030204" pitchFamily="18" charset="0"/>
                <a:ea typeface="Cambria Math" panose="02040503050406030204" pitchFamily="18" charset="0"/>
              </a:rPr>
              <a:t>Dobry </a:t>
            </a:r>
            <a:r>
              <a:rPr lang="pl-PL" sz="2000" dirty="0" err="1">
                <a:solidFill>
                  <a:srgbClr val="1E2761"/>
                </a:solidFill>
                <a:latin typeface="Cambria Math" panose="02040503050406030204" pitchFamily="18" charset="0"/>
                <a:ea typeface="Cambria Math" panose="02040503050406030204" pitchFamily="18" charset="0"/>
              </a:rPr>
              <a:t>workflow</a:t>
            </a:r>
            <a:r>
              <a:rPr lang="pl-PL" sz="2000" dirty="0">
                <a:solidFill>
                  <a:srgbClr val="1E2761"/>
                </a:solidFill>
                <a:latin typeface="Cambria Math" panose="02040503050406030204" pitchFamily="18" charset="0"/>
                <a:ea typeface="Cambria Math" panose="02040503050406030204" pitchFamily="18" charset="0"/>
              </a:rPr>
              <a:t> ogranicza błędy i zwiększa </a:t>
            </a:r>
            <a:r>
              <a:rPr lang="pl-PL" sz="2000" dirty="0" err="1">
                <a:solidFill>
                  <a:srgbClr val="1E2761"/>
                </a:solidFill>
                <a:latin typeface="Cambria Math" panose="02040503050406030204" pitchFamily="18" charset="0"/>
                <a:ea typeface="Cambria Math" panose="02040503050406030204" pitchFamily="18" charset="0"/>
              </a:rPr>
              <a:t>replikowalność</a:t>
            </a:r>
            <a:r>
              <a:rPr lang="pl-PL" sz="2000" dirty="0">
                <a:solidFill>
                  <a:srgbClr val="1E2761"/>
                </a:solidFill>
                <a:latin typeface="Cambria Math" panose="02040503050406030204" pitchFamily="18" charset="0"/>
                <a:ea typeface="Cambria Math" panose="02040503050406030204" pitchFamily="18" charset="0"/>
              </a:rPr>
              <a:t> badania.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11" name="Shape 761"/>
          <p:cNvSpPr/>
          <p:nvPr/>
        </p:nvSpPr>
        <p:spPr>
          <a:xfrm>
            <a:off x="360" y="360"/>
            <a:ext cx="10079640" cy="1107720"/>
          </a:xfrm>
          <a:prstGeom prst="rect">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212" name="Text 846"/>
          <p:cNvSpPr/>
          <p:nvPr/>
        </p:nvSpPr>
        <p:spPr>
          <a:xfrm>
            <a:off x="503640" y="100800"/>
            <a:ext cx="9071640" cy="583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defTabSz="914400">
              <a:lnSpc>
                <a:spcPct val="100000"/>
              </a:lnSpc>
              <a:tabLst>
                <a:tab pos="0" algn="l"/>
              </a:tabLst>
            </a:pPr>
            <a:r>
              <a:rPr lang="pl-PL" sz="2200" b="1" u="none" strike="noStrike">
                <a:solidFill>
                  <a:srgbClr val="FFFFFF"/>
                </a:solidFill>
                <a:effectLst/>
                <a:uFillTx/>
                <a:latin typeface="Cambria"/>
                <a:ea typeface="Cambria"/>
              </a:rPr>
              <a:t>PROJEKTOWANIE PYTAŃ BADAWCZYCH Z POMOCĄ AI</a:t>
            </a:r>
            <a:endParaRPr lang="pl-PL" sz="2200" b="0" u="none" strike="noStrike">
              <a:solidFill>
                <a:srgbClr val="000000"/>
              </a:solidFill>
              <a:effectLst/>
              <a:uFillTx/>
              <a:latin typeface="Arial"/>
            </a:endParaRPr>
          </a:p>
        </p:txBody>
      </p:sp>
      <p:sp>
        <p:nvSpPr>
          <p:cNvPr id="213" name="Text 847"/>
          <p:cNvSpPr/>
          <p:nvPr/>
        </p:nvSpPr>
        <p:spPr>
          <a:xfrm>
            <a:off x="503640" y="705600"/>
            <a:ext cx="9071640" cy="342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pl-PL" sz="1400" b="0" i="1" u="none" strike="noStrike">
                <a:solidFill>
                  <a:srgbClr val="CADCFC"/>
                </a:solidFill>
                <a:effectLst/>
                <a:uFillTx/>
                <a:latin typeface="Calibri"/>
                <a:ea typeface="Calibri"/>
              </a:rPr>
              <a:t>Modele językowe jako narzędzie konceptualne, nie wyrocznia</a:t>
            </a:r>
            <a:endParaRPr lang="pl-PL" sz="1400" b="0" u="none" strike="noStrike">
              <a:solidFill>
                <a:srgbClr val="000000"/>
              </a:solidFill>
              <a:effectLst/>
              <a:uFillTx/>
              <a:latin typeface="Arial"/>
            </a:endParaRPr>
          </a:p>
        </p:txBody>
      </p:sp>
      <p:sp>
        <p:nvSpPr>
          <p:cNvPr id="214" name="Shape 762"/>
          <p:cNvSpPr/>
          <p:nvPr/>
        </p:nvSpPr>
        <p:spPr>
          <a:xfrm>
            <a:off x="403200" y="1310400"/>
            <a:ext cx="2720520" cy="3123720"/>
          </a:xfrm>
          <a:prstGeom prst="roundRect">
            <a:avLst>
              <a:gd name="adj" fmla="val 4444"/>
            </a:avLst>
          </a:prstGeom>
          <a:solidFill>
            <a:srgbClr val="2D3B8E"/>
          </a:solidFill>
          <a:ln w="0">
            <a:noFill/>
          </a:ln>
          <a:effectLst>
            <a:outerShdw blurRad="101520" dist="37674"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215" name="Text 848"/>
          <p:cNvSpPr/>
          <p:nvPr/>
        </p:nvSpPr>
        <p:spPr>
          <a:xfrm>
            <a:off x="402840" y="1360800"/>
            <a:ext cx="272088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200" b="1" u="none" strike="noStrike">
                <a:solidFill>
                  <a:srgbClr val="FFFFFF"/>
                </a:solidFill>
                <a:effectLst/>
                <a:uFillTx/>
                <a:latin typeface="Cambria"/>
                <a:ea typeface="Cambria"/>
              </a:rPr>
              <a:t>BADACZ</a:t>
            </a:r>
            <a:endParaRPr lang="pl-PL" sz="2200" b="0" u="none" strike="noStrike">
              <a:solidFill>
                <a:srgbClr val="000000"/>
              </a:solidFill>
              <a:effectLst/>
              <a:uFillTx/>
              <a:latin typeface="Arial"/>
            </a:endParaRPr>
          </a:p>
        </p:txBody>
      </p:sp>
      <p:sp>
        <p:nvSpPr>
          <p:cNvPr id="216" name="Shape 763"/>
          <p:cNvSpPr/>
          <p:nvPr/>
        </p:nvSpPr>
        <p:spPr>
          <a:xfrm>
            <a:off x="604800" y="1985760"/>
            <a:ext cx="180360" cy="180360"/>
          </a:xfrm>
          <a:prstGeom prst="ellipse">
            <a:avLst/>
          </a:prstGeom>
          <a:solidFill>
            <a:srgbClr val="F0C040"/>
          </a:solidFill>
          <a:ln w="12700">
            <a:solidFill>
              <a:srgbClr val="F0C04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217" name="Text 849"/>
          <p:cNvSpPr/>
          <p:nvPr/>
        </p:nvSpPr>
        <p:spPr>
          <a:xfrm>
            <a:off x="856800" y="1915200"/>
            <a:ext cx="2115720" cy="381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0" u="none" strike="noStrike" dirty="0">
                <a:solidFill>
                  <a:srgbClr val="CADCFC"/>
                </a:solidFill>
                <a:effectLst/>
                <a:uFillTx/>
                <a:latin typeface="Calibri"/>
                <a:ea typeface="Calibri"/>
              </a:rPr>
              <a:t>Wiedza dziedzinowa</a:t>
            </a:r>
            <a:endParaRPr lang="pl-PL" sz="1600" b="0" u="none" strike="noStrike" dirty="0">
              <a:solidFill>
                <a:srgbClr val="000000"/>
              </a:solidFill>
              <a:effectLst/>
              <a:uFillTx/>
              <a:latin typeface="Arial"/>
            </a:endParaRPr>
          </a:p>
        </p:txBody>
      </p:sp>
      <p:sp>
        <p:nvSpPr>
          <p:cNvPr id="218" name="Shape 764"/>
          <p:cNvSpPr/>
          <p:nvPr/>
        </p:nvSpPr>
        <p:spPr>
          <a:xfrm>
            <a:off x="604800" y="2510280"/>
            <a:ext cx="180360" cy="180360"/>
          </a:xfrm>
          <a:prstGeom prst="ellipse">
            <a:avLst/>
          </a:prstGeom>
          <a:solidFill>
            <a:srgbClr val="F0C040"/>
          </a:solidFill>
          <a:ln w="12700">
            <a:solidFill>
              <a:srgbClr val="F0C04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219" name="Text 850"/>
          <p:cNvSpPr/>
          <p:nvPr/>
        </p:nvSpPr>
        <p:spPr>
          <a:xfrm>
            <a:off x="856800" y="2439360"/>
            <a:ext cx="2115720" cy="381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0" u="none" strike="noStrike">
                <a:solidFill>
                  <a:srgbClr val="CADCFC"/>
                </a:solidFill>
                <a:effectLst/>
                <a:uFillTx/>
                <a:latin typeface="Calibri"/>
                <a:ea typeface="Calibri"/>
              </a:rPr>
              <a:t>Trafność konstruktowa</a:t>
            </a:r>
            <a:endParaRPr lang="pl-PL" sz="1600" b="0" u="none" strike="noStrike">
              <a:solidFill>
                <a:srgbClr val="000000"/>
              </a:solidFill>
              <a:effectLst/>
              <a:uFillTx/>
              <a:latin typeface="Arial"/>
            </a:endParaRPr>
          </a:p>
        </p:txBody>
      </p:sp>
      <p:sp>
        <p:nvSpPr>
          <p:cNvPr id="220" name="Shape 765"/>
          <p:cNvSpPr/>
          <p:nvPr/>
        </p:nvSpPr>
        <p:spPr>
          <a:xfrm>
            <a:off x="604800" y="3034080"/>
            <a:ext cx="180360" cy="180360"/>
          </a:xfrm>
          <a:prstGeom prst="ellipse">
            <a:avLst/>
          </a:prstGeom>
          <a:solidFill>
            <a:srgbClr val="F0C040"/>
          </a:solidFill>
          <a:ln w="12700">
            <a:solidFill>
              <a:srgbClr val="F0C04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221" name="Text 851"/>
          <p:cNvSpPr/>
          <p:nvPr/>
        </p:nvSpPr>
        <p:spPr>
          <a:xfrm>
            <a:off x="856800" y="2963880"/>
            <a:ext cx="2115720" cy="381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0" u="none" strike="noStrike">
                <a:solidFill>
                  <a:srgbClr val="CADCFC"/>
                </a:solidFill>
                <a:effectLst/>
                <a:uFillTx/>
                <a:latin typeface="Calibri"/>
                <a:ea typeface="Calibri"/>
              </a:rPr>
              <a:t>Odpowiedzialność</a:t>
            </a:r>
            <a:endParaRPr lang="pl-PL" sz="1600" b="0" u="none" strike="noStrike">
              <a:solidFill>
                <a:srgbClr val="000000"/>
              </a:solidFill>
              <a:effectLst/>
              <a:uFillTx/>
              <a:latin typeface="Arial"/>
            </a:endParaRPr>
          </a:p>
        </p:txBody>
      </p:sp>
      <p:sp>
        <p:nvSpPr>
          <p:cNvPr id="222" name="Shape 766"/>
          <p:cNvSpPr/>
          <p:nvPr/>
        </p:nvSpPr>
        <p:spPr>
          <a:xfrm>
            <a:off x="604800" y="3558240"/>
            <a:ext cx="180360" cy="180360"/>
          </a:xfrm>
          <a:prstGeom prst="ellipse">
            <a:avLst/>
          </a:prstGeom>
          <a:solidFill>
            <a:srgbClr val="F0C040"/>
          </a:solidFill>
          <a:ln w="12700">
            <a:solidFill>
              <a:srgbClr val="F0C04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223" name="Text 852"/>
          <p:cNvSpPr/>
          <p:nvPr/>
        </p:nvSpPr>
        <p:spPr>
          <a:xfrm>
            <a:off x="837750" y="3487680"/>
            <a:ext cx="2256840" cy="381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0" u="none" strike="noStrike" dirty="0">
                <a:solidFill>
                  <a:srgbClr val="CADCFC"/>
                </a:solidFill>
                <a:effectLst/>
                <a:uFillTx/>
                <a:latin typeface="Calibri"/>
                <a:ea typeface="Calibri"/>
              </a:rPr>
              <a:t>Decyzje metodologiczne</a:t>
            </a:r>
            <a:endParaRPr lang="pl-PL" sz="1600" b="0" u="none" strike="noStrike" dirty="0">
              <a:solidFill>
                <a:srgbClr val="000000"/>
              </a:solidFill>
              <a:effectLst/>
              <a:uFillTx/>
              <a:latin typeface="Arial"/>
            </a:endParaRPr>
          </a:p>
        </p:txBody>
      </p:sp>
      <p:sp>
        <p:nvSpPr>
          <p:cNvPr id="224" name="Shape 767"/>
          <p:cNvSpPr/>
          <p:nvPr/>
        </p:nvSpPr>
        <p:spPr>
          <a:xfrm>
            <a:off x="6955560" y="1310400"/>
            <a:ext cx="2720520" cy="3123720"/>
          </a:xfrm>
          <a:prstGeom prst="roundRect">
            <a:avLst>
              <a:gd name="adj" fmla="val 4444"/>
            </a:avLst>
          </a:prstGeom>
          <a:solidFill>
            <a:srgbClr val="2D3B8E"/>
          </a:solidFill>
          <a:ln w="0">
            <a:noFill/>
          </a:ln>
          <a:effectLst>
            <a:outerShdw blurRad="101520" dist="37674"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225" name="Text 853"/>
          <p:cNvSpPr/>
          <p:nvPr/>
        </p:nvSpPr>
        <p:spPr>
          <a:xfrm>
            <a:off x="6955560" y="1360800"/>
            <a:ext cx="272088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200" b="1" u="none" strike="noStrike">
                <a:solidFill>
                  <a:srgbClr val="FFFFFF"/>
                </a:solidFill>
                <a:effectLst/>
                <a:uFillTx/>
                <a:latin typeface="Cambria"/>
                <a:ea typeface="Cambria"/>
              </a:rPr>
              <a:t>MODEL AI</a:t>
            </a:r>
            <a:endParaRPr lang="pl-PL" sz="2200" b="0" u="none" strike="noStrike">
              <a:solidFill>
                <a:srgbClr val="000000"/>
              </a:solidFill>
              <a:effectLst/>
              <a:uFillTx/>
              <a:latin typeface="Arial"/>
            </a:endParaRPr>
          </a:p>
        </p:txBody>
      </p:sp>
      <p:sp>
        <p:nvSpPr>
          <p:cNvPr id="226" name="Shape 768"/>
          <p:cNvSpPr/>
          <p:nvPr/>
        </p:nvSpPr>
        <p:spPr>
          <a:xfrm>
            <a:off x="7157160" y="1985760"/>
            <a:ext cx="180360" cy="180360"/>
          </a:xfrm>
          <a:prstGeom prst="ellipse">
            <a:avLst/>
          </a:prstGeom>
          <a:solidFill>
            <a:srgbClr val="3ECFB2"/>
          </a:solidFill>
          <a:ln w="12700">
            <a:solidFill>
              <a:srgbClr val="3ECFB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227" name="Text 854"/>
          <p:cNvSpPr/>
          <p:nvPr/>
        </p:nvSpPr>
        <p:spPr>
          <a:xfrm>
            <a:off x="7409160" y="1915200"/>
            <a:ext cx="2115720" cy="381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0" u="none" strike="noStrike" dirty="0">
                <a:solidFill>
                  <a:srgbClr val="CADCFC"/>
                </a:solidFill>
                <a:effectLst/>
                <a:uFillTx/>
                <a:latin typeface="Calibri"/>
                <a:ea typeface="Calibri"/>
              </a:rPr>
              <a:t>Mapowanie literatury</a:t>
            </a:r>
            <a:endParaRPr lang="pl-PL" sz="1600" b="0" u="none" strike="noStrike" dirty="0">
              <a:solidFill>
                <a:srgbClr val="000000"/>
              </a:solidFill>
              <a:effectLst/>
              <a:uFillTx/>
              <a:latin typeface="Arial"/>
            </a:endParaRPr>
          </a:p>
        </p:txBody>
      </p:sp>
      <p:sp>
        <p:nvSpPr>
          <p:cNvPr id="228" name="Shape 769"/>
          <p:cNvSpPr/>
          <p:nvPr/>
        </p:nvSpPr>
        <p:spPr>
          <a:xfrm>
            <a:off x="7157160" y="2510280"/>
            <a:ext cx="180360" cy="180360"/>
          </a:xfrm>
          <a:prstGeom prst="ellipse">
            <a:avLst/>
          </a:prstGeom>
          <a:solidFill>
            <a:srgbClr val="3ECFB2"/>
          </a:solidFill>
          <a:ln w="12700">
            <a:solidFill>
              <a:srgbClr val="3ECFB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229" name="Text 855"/>
          <p:cNvSpPr/>
          <p:nvPr/>
        </p:nvSpPr>
        <p:spPr>
          <a:xfrm>
            <a:off x="7409160" y="2439360"/>
            <a:ext cx="2115720" cy="381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0" u="none" strike="noStrike">
                <a:solidFill>
                  <a:srgbClr val="CADCFC"/>
                </a:solidFill>
                <a:effectLst/>
                <a:uFillTx/>
                <a:latin typeface="Calibri"/>
                <a:ea typeface="Calibri"/>
              </a:rPr>
              <a:t>Hipotezy alternatywne</a:t>
            </a:r>
            <a:endParaRPr lang="pl-PL" sz="1600" b="0" u="none" strike="noStrike">
              <a:solidFill>
                <a:srgbClr val="000000"/>
              </a:solidFill>
              <a:effectLst/>
              <a:uFillTx/>
              <a:latin typeface="Arial"/>
            </a:endParaRPr>
          </a:p>
        </p:txBody>
      </p:sp>
      <p:sp>
        <p:nvSpPr>
          <p:cNvPr id="230" name="Shape 770"/>
          <p:cNvSpPr/>
          <p:nvPr/>
        </p:nvSpPr>
        <p:spPr>
          <a:xfrm>
            <a:off x="7157160" y="3034080"/>
            <a:ext cx="180360" cy="180360"/>
          </a:xfrm>
          <a:prstGeom prst="ellipse">
            <a:avLst/>
          </a:prstGeom>
          <a:solidFill>
            <a:srgbClr val="3ECFB2"/>
          </a:solidFill>
          <a:ln w="12700">
            <a:solidFill>
              <a:srgbClr val="3ECFB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231" name="Text 856"/>
          <p:cNvSpPr/>
          <p:nvPr/>
        </p:nvSpPr>
        <p:spPr>
          <a:xfrm>
            <a:off x="7409160" y="2963880"/>
            <a:ext cx="2115720" cy="381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0" u="none" strike="noStrike" dirty="0">
                <a:solidFill>
                  <a:srgbClr val="CADCFC"/>
                </a:solidFill>
                <a:effectLst/>
                <a:uFillTx/>
                <a:latin typeface="Calibri"/>
                <a:ea typeface="Calibri"/>
              </a:rPr>
              <a:t>Kontr-hipotezy</a:t>
            </a:r>
            <a:endParaRPr lang="pl-PL" sz="1600" b="0" u="none" strike="noStrike" dirty="0">
              <a:solidFill>
                <a:srgbClr val="000000"/>
              </a:solidFill>
              <a:effectLst/>
              <a:uFillTx/>
              <a:latin typeface="Arial"/>
            </a:endParaRPr>
          </a:p>
        </p:txBody>
      </p:sp>
      <p:sp>
        <p:nvSpPr>
          <p:cNvPr id="232" name="Shape 771"/>
          <p:cNvSpPr/>
          <p:nvPr/>
        </p:nvSpPr>
        <p:spPr>
          <a:xfrm>
            <a:off x="7157160" y="3558240"/>
            <a:ext cx="180360" cy="180360"/>
          </a:xfrm>
          <a:prstGeom prst="ellipse">
            <a:avLst/>
          </a:prstGeom>
          <a:solidFill>
            <a:srgbClr val="3ECFB2"/>
          </a:solidFill>
          <a:ln w="12700">
            <a:solidFill>
              <a:srgbClr val="3ECFB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233" name="Text 857"/>
          <p:cNvSpPr/>
          <p:nvPr/>
        </p:nvSpPr>
        <p:spPr>
          <a:xfrm>
            <a:off x="7409160" y="3487680"/>
            <a:ext cx="2115720" cy="381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0" u="none" strike="noStrike">
                <a:solidFill>
                  <a:srgbClr val="CADCFC"/>
                </a:solidFill>
                <a:effectLst/>
                <a:uFillTx/>
                <a:latin typeface="Calibri"/>
                <a:ea typeface="Calibri"/>
              </a:rPr>
              <a:t>Zmienne zakłócające</a:t>
            </a:r>
            <a:endParaRPr lang="pl-PL" sz="1600" b="0" u="none" strike="noStrike">
              <a:solidFill>
                <a:srgbClr val="000000"/>
              </a:solidFill>
              <a:effectLst/>
              <a:uFillTx/>
              <a:latin typeface="Arial"/>
            </a:endParaRPr>
          </a:p>
        </p:txBody>
      </p:sp>
      <p:sp>
        <p:nvSpPr>
          <p:cNvPr id="234" name="Shape 772"/>
          <p:cNvSpPr/>
          <p:nvPr/>
        </p:nvSpPr>
        <p:spPr>
          <a:xfrm>
            <a:off x="3175200" y="1713600"/>
            <a:ext cx="554400" cy="360"/>
          </a:xfrm>
          <a:prstGeom prst="line">
            <a:avLst/>
          </a:prstGeom>
          <a:ln w="19050">
            <a:solidFill>
              <a:srgbClr val="5B8FF9"/>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000000"/>
              </a:solidFill>
              <a:effectLst/>
              <a:uFillTx/>
              <a:latin typeface="Arial"/>
            </a:endParaRPr>
          </a:p>
        </p:txBody>
      </p:sp>
      <p:sp>
        <p:nvSpPr>
          <p:cNvPr id="235" name="Shape 773"/>
          <p:cNvSpPr/>
          <p:nvPr/>
        </p:nvSpPr>
        <p:spPr>
          <a:xfrm>
            <a:off x="6350760" y="1713600"/>
            <a:ext cx="554400" cy="360"/>
          </a:xfrm>
          <a:prstGeom prst="line">
            <a:avLst/>
          </a:prstGeom>
          <a:ln w="19050">
            <a:solidFill>
              <a:srgbClr val="3ECFB2"/>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000000"/>
              </a:solidFill>
              <a:effectLst/>
              <a:uFillTx/>
              <a:latin typeface="Arial"/>
            </a:endParaRPr>
          </a:p>
        </p:txBody>
      </p:sp>
      <p:sp>
        <p:nvSpPr>
          <p:cNvPr id="236" name="Shape 774"/>
          <p:cNvSpPr/>
          <p:nvPr/>
        </p:nvSpPr>
        <p:spPr>
          <a:xfrm>
            <a:off x="3749760" y="1423500"/>
            <a:ext cx="2569680" cy="623880"/>
          </a:xfrm>
          <a:prstGeom prst="roundRect">
            <a:avLst>
              <a:gd name="adj" fmla="val 12903"/>
            </a:avLst>
          </a:prstGeom>
          <a:solidFill>
            <a:srgbClr val="24347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37" name="Text 858"/>
          <p:cNvSpPr/>
          <p:nvPr/>
        </p:nvSpPr>
        <p:spPr>
          <a:xfrm>
            <a:off x="3749760" y="1423500"/>
            <a:ext cx="2569320" cy="623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15000"/>
              </a:lnSpc>
              <a:tabLst>
                <a:tab pos="0" algn="l"/>
              </a:tabLst>
            </a:pPr>
            <a:r>
              <a:rPr lang="pl-PL" sz="1600" b="0" u="none" strike="noStrike" dirty="0">
                <a:solidFill>
                  <a:srgbClr val="CADCFC"/>
                </a:solidFill>
                <a:effectLst/>
                <a:uFillTx/>
                <a:latin typeface="Calibri"/>
                <a:ea typeface="Calibri"/>
              </a:rPr>
              <a:t>Czy pominąłem</a:t>
            </a:r>
            <a:endParaRPr lang="pl-PL" sz="1600" b="0" u="none" strike="noStrike" dirty="0">
              <a:solidFill>
                <a:srgbClr val="000000"/>
              </a:solidFill>
              <a:effectLst/>
              <a:uFillTx/>
              <a:latin typeface="Arial"/>
            </a:endParaRPr>
          </a:p>
          <a:p>
            <a:pPr algn="ctr" defTabSz="914400">
              <a:lnSpc>
                <a:spcPct val="115000"/>
              </a:lnSpc>
              <a:tabLst>
                <a:tab pos="0" algn="l"/>
              </a:tabLst>
            </a:pPr>
            <a:r>
              <a:rPr lang="pl-PL" sz="1600" b="0" u="none" strike="noStrike" dirty="0">
                <a:solidFill>
                  <a:srgbClr val="CADCFC"/>
                </a:solidFill>
                <a:effectLst/>
                <a:uFillTx/>
                <a:latin typeface="Calibri"/>
                <a:ea typeface="Calibri"/>
              </a:rPr>
              <a:t>alternatywne wyjaśnienie?</a:t>
            </a:r>
            <a:endParaRPr lang="pl-PL" sz="1600" b="0" u="none" strike="noStrike" dirty="0">
              <a:solidFill>
                <a:srgbClr val="000000"/>
              </a:solidFill>
              <a:effectLst/>
              <a:uFillTx/>
              <a:latin typeface="Arial"/>
            </a:endParaRPr>
          </a:p>
        </p:txBody>
      </p:sp>
      <p:sp>
        <p:nvSpPr>
          <p:cNvPr id="238" name="Shape 775"/>
          <p:cNvSpPr/>
          <p:nvPr/>
        </p:nvSpPr>
        <p:spPr>
          <a:xfrm>
            <a:off x="3175200" y="2520000"/>
            <a:ext cx="554400" cy="360"/>
          </a:xfrm>
          <a:prstGeom prst="line">
            <a:avLst/>
          </a:prstGeom>
          <a:ln w="19050">
            <a:solidFill>
              <a:srgbClr val="5B8FF9"/>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000000"/>
              </a:solidFill>
              <a:effectLst/>
              <a:uFillTx/>
              <a:latin typeface="Arial"/>
            </a:endParaRPr>
          </a:p>
        </p:txBody>
      </p:sp>
      <p:sp>
        <p:nvSpPr>
          <p:cNvPr id="239" name="Shape 776"/>
          <p:cNvSpPr/>
          <p:nvPr/>
        </p:nvSpPr>
        <p:spPr>
          <a:xfrm>
            <a:off x="6350760" y="2520000"/>
            <a:ext cx="554400" cy="360"/>
          </a:xfrm>
          <a:prstGeom prst="line">
            <a:avLst/>
          </a:prstGeom>
          <a:ln w="19050">
            <a:solidFill>
              <a:srgbClr val="3ECFB2"/>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000000"/>
              </a:solidFill>
              <a:effectLst/>
              <a:uFillTx/>
              <a:latin typeface="Arial"/>
            </a:endParaRPr>
          </a:p>
        </p:txBody>
      </p:sp>
      <p:sp>
        <p:nvSpPr>
          <p:cNvPr id="240" name="Shape 777"/>
          <p:cNvSpPr/>
          <p:nvPr/>
        </p:nvSpPr>
        <p:spPr>
          <a:xfrm>
            <a:off x="3749760" y="2268000"/>
            <a:ext cx="2569680" cy="623880"/>
          </a:xfrm>
          <a:prstGeom prst="roundRect">
            <a:avLst>
              <a:gd name="adj" fmla="val 12903"/>
            </a:avLst>
          </a:prstGeom>
          <a:solidFill>
            <a:srgbClr val="24347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41" name="Text 859"/>
          <p:cNvSpPr/>
          <p:nvPr/>
        </p:nvSpPr>
        <p:spPr>
          <a:xfrm>
            <a:off x="3749760" y="2268000"/>
            <a:ext cx="2569320" cy="623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15000"/>
              </a:lnSpc>
              <a:tabLst>
                <a:tab pos="0" algn="l"/>
              </a:tabLst>
            </a:pPr>
            <a:r>
              <a:rPr lang="pl-PL" sz="1600" b="0" u="none" strike="noStrike">
                <a:solidFill>
                  <a:srgbClr val="CADCFC"/>
                </a:solidFill>
                <a:effectLst/>
                <a:uFillTx/>
                <a:latin typeface="Calibri"/>
                <a:ea typeface="Calibri"/>
              </a:rPr>
              <a:t>Jakie zmienne</a:t>
            </a:r>
            <a:endParaRPr lang="pl-PL" sz="1600" b="0" u="none" strike="noStrike">
              <a:solidFill>
                <a:srgbClr val="000000"/>
              </a:solidFill>
              <a:effectLst/>
              <a:uFillTx/>
              <a:latin typeface="Arial"/>
            </a:endParaRPr>
          </a:p>
          <a:p>
            <a:pPr algn="ctr" defTabSz="914400">
              <a:lnSpc>
                <a:spcPct val="115000"/>
              </a:lnSpc>
              <a:tabLst>
                <a:tab pos="0" algn="l"/>
              </a:tabLst>
            </a:pPr>
            <a:r>
              <a:rPr lang="pl-PL" sz="1600" b="0" u="none" strike="noStrike">
                <a:solidFill>
                  <a:srgbClr val="CADCFC"/>
                </a:solidFill>
                <a:effectLst/>
                <a:uFillTx/>
                <a:latin typeface="Calibri"/>
                <a:ea typeface="Calibri"/>
              </a:rPr>
              <a:t>zakłócające są możliwe?</a:t>
            </a:r>
            <a:endParaRPr lang="pl-PL" sz="1600" b="0" u="none" strike="noStrike">
              <a:solidFill>
                <a:srgbClr val="000000"/>
              </a:solidFill>
              <a:effectLst/>
              <a:uFillTx/>
              <a:latin typeface="Arial"/>
            </a:endParaRPr>
          </a:p>
        </p:txBody>
      </p:sp>
      <p:sp>
        <p:nvSpPr>
          <p:cNvPr id="242" name="Shape 778"/>
          <p:cNvSpPr/>
          <p:nvPr/>
        </p:nvSpPr>
        <p:spPr>
          <a:xfrm>
            <a:off x="3175200" y="3326760"/>
            <a:ext cx="554400" cy="360"/>
          </a:xfrm>
          <a:prstGeom prst="line">
            <a:avLst/>
          </a:prstGeom>
          <a:ln w="19050">
            <a:solidFill>
              <a:srgbClr val="5B8FF9"/>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000000"/>
              </a:solidFill>
              <a:effectLst/>
              <a:uFillTx/>
              <a:latin typeface="Arial"/>
            </a:endParaRPr>
          </a:p>
        </p:txBody>
      </p:sp>
      <p:sp>
        <p:nvSpPr>
          <p:cNvPr id="243" name="Shape 779"/>
          <p:cNvSpPr/>
          <p:nvPr/>
        </p:nvSpPr>
        <p:spPr>
          <a:xfrm>
            <a:off x="6350760" y="3326760"/>
            <a:ext cx="554400" cy="360"/>
          </a:xfrm>
          <a:prstGeom prst="line">
            <a:avLst/>
          </a:prstGeom>
          <a:ln w="19050">
            <a:solidFill>
              <a:srgbClr val="3ECFB2"/>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000000"/>
              </a:solidFill>
              <a:effectLst/>
              <a:uFillTx/>
              <a:latin typeface="Arial"/>
            </a:endParaRPr>
          </a:p>
        </p:txBody>
      </p:sp>
      <p:sp>
        <p:nvSpPr>
          <p:cNvPr id="244" name="Shape 780"/>
          <p:cNvSpPr/>
          <p:nvPr/>
        </p:nvSpPr>
        <p:spPr>
          <a:xfrm>
            <a:off x="3749760" y="3074400"/>
            <a:ext cx="2569680" cy="623880"/>
          </a:xfrm>
          <a:prstGeom prst="roundRect">
            <a:avLst>
              <a:gd name="adj" fmla="val 12903"/>
            </a:avLst>
          </a:prstGeom>
          <a:solidFill>
            <a:srgbClr val="24347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45" name="Text 860"/>
          <p:cNvSpPr/>
          <p:nvPr/>
        </p:nvSpPr>
        <p:spPr>
          <a:xfrm>
            <a:off x="3749760" y="3064875"/>
            <a:ext cx="2569320" cy="623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15000"/>
              </a:lnSpc>
              <a:tabLst>
                <a:tab pos="0" algn="l"/>
              </a:tabLst>
            </a:pPr>
            <a:r>
              <a:rPr lang="pl-PL" sz="1600" b="0" u="none" strike="noStrike" dirty="0">
                <a:solidFill>
                  <a:srgbClr val="CADCFC"/>
                </a:solidFill>
                <a:effectLst/>
                <a:uFillTx/>
                <a:latin typeface="Calibri"/>
                <a:ea typeface="Calibri"/>
              </a:rPr>
              <a:t>Zaproponuj</a:t>
            </a:r>
            <a:endParaRPr lang="pl-PL" sz="1600" b="0" u="none" strike="noStrike" dirty="0">
              <a:solidFill>
                <a:srgbClr val="000000"/>
              </a:solidFill>
              <a:effectLst/>
              <a:uFillTx/>
              <a:latin typeface="Arial"/>
            </a:endParaRPr>
          </a:p>
          <a:p>
            <a:pPr algn="ctr" defTabSz="914400">
              <a:lnSpc>
                <a:spcPct val="115000"/>
              </a:lnSpc>
              <a:tabLst>
                <a:tab pos="0" algn="l"/>
              </a:tabLst>
            </a:pPr>
            <a:r>
              <a:rPr lang="pl-PL" sz="1600" b="0" u="none" strike="noStrike" dirty="0">
                <a:solidFill>
                  <a:srgbClr val="CADCFC"/>
                </a:solidFill>
                <a:effectLst/>
                <a:uFillTx/>
                <a:latin typeface="Calibri"/>
                <a:ea typeface="Calibri"/>
              </a:rPr>
              <a:t>kontrargumentację</a:t>
            </a:r>
            <a:endParaRPr lang="pl-PL" sz="1600" b="0" u="none" strike="noStrike" dirty="0">
              <a:solidFill>
                <a:srgbClr val="000000"/>
              </a:solidFill>
              <a:effectLst/>
              <a:uFillTx/>
              <a:latin typeface="Arial"/>
            </a:endParaRPr>
          </a:p>
        </p:txBody>
      </p:sp>
      <p:sp>
        <p:nvSpPr>
          <p:cNvPr id="246" name="Text 861"/>
          <p:cNvSpPr/>
          <p:nvPr/>
        </p:nvSpPr>
        <p:spPr>
          <a:xfrm>
            <a:off x="503640" y="4903560"/>
            <a:ext cx="9071640" cy="351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400" u="none" strike="noStrike" dirty="0">
                <a:solidFill>
                  <a:srgbClr val="1E2761"/>
                </a:solidFill>
                <a:effectLst/>
                <a:uFillTx/>
                <a:latin typeface="Cambria Math" panose="02040503050406030204" pitchFamily="18" charset="0"/>
                <a:ea typeface="Cambria Math" panose="02040503050406030204" pitchFamily="18" charset="0"/>
              </a:rPr>
              <a:t>AI jako rozmówca krytyczny, a nie jako autorytet merytoryczny</a:t>
            </a:r>
            <a:endParaRPr lang="pl-PL" sz="2400" u="none" strike="noStrike" dirty="0">
              <a:solidFill>
                <a:srgbClr val="000000"/>
              </a:solidFill>
              <a:effectLst/>
              <a:uFillTx/>
              <a:latin typeface="Cambria Math" panose="02040503050406030204" pitchFamily="18" charset="0"/>
              <a:ea typeface="Cambria Math" panose="020405030504060302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99"/>
            <a:ext cx="10080625" cy="927418"/>
          </a:xfrm>
          <a:prstGeom prst="rect">
            <a:avLst/>
          </a:prstGeom>
          <a:solidFill>
            <a:srgbClr val="1E2761"/>
          </a:solidFill>
          <a:ln w="12700">
            <a:solidFill>
              <a:srgbClr val="1E2761">
                <a:alpha val="0"/>
              </a:srgbClr>
            </a:solidFill>
            <a:prstDash val="solid"/>
          </a:ln>
        </p:spPr>
      </p:sp>
      <p:sp>
        <p:nvSpPr>
          <p:cNvPr id="3" name="Text 1"/>
          <p:cNvSpPr/>
          <p:nvPr/>
        </p:nvSpPr>
        <p:spPr>
          <a:xfrm>
            <a:off x="453628" y="80744"/>
            <a:ext cx="9173369" cy="423386"/>
          </a:xfrm>
          <a:prstGeom prst="rect">
            <a:avLst/>
          </a:prstGeom>
          <a:noFill/>
          <a:ln/>
        </p:spPr>
        <p:txBody>
          <a:bodyPr wrap="square" lIns="0" tIns="0" rIns="0" bIns="0" rtlCol="0" anchor="ctr"/>
          <a:lstStyle/>
          <a:p>
            <a:r>
              <a:rPr lang="en-US" sz="2200" b="1" dirty="0">
                <a:solidFill>
                  <a:srgbClr val="FFFFFF"/>
                </a:solidFill>
                <a:latin typeface="Cambria" pitchFamily="34" charset="0"/>
                <a:ea typeface="Cambria" pitchFamily="34" charset="-122"/>
                <a:cs typeface="Cambria" pitchFamily="34" charset="-120"/>
              </a:rPr>
              <a:t>JAK POPRAWNIE FORMUŁOWAĆ PROMPTY DLA AI I LLM-ÓW</a:t>
            </a:r>
            <a:endParaRPr lang="en-US" sz="2200" dirty="0"/>
          </a:p>
        </p:txBody>
      </p:sp>
      <p:sp>
        <p:nvSpPr>
          <p:cNvPr id="4" name="Text 2"/>
          <p:cNvSpPr/>
          <p:nvPr/>
        </p:nvSpPr>
        <p:spPr>
          <a:xfrm>
            <a:off x="453628" y="554533"/>
            <a:ext cx="9173369" cy="252016"/>
          </a:xfrm>
          <a:prstGeom prst="rect">
            <a:avLst/>
          </a:prstGeom>
          <a:noFill/>
          <a:ln/>
        </p:spPr>
        <p:txBody>
          <a:bodyPr wrap="square" lIns="0" tIns="0" rIns="0" bIns="0" rtlCol="0" anchor="ctr"/>
          <a:lstStyle/>
          <a:p>
            <a:r>
              <a:rPr lang="en-US" sz="1400" i="1" dirty="0">
                <a:solidFill>
                  <a:srgbClr val="CADCFC"/>
                </a:solidFill>
                <a:latin typeface="Calibri" pitchFamily="34" charset="0"/>
                <a:ea typeface="Calibri" pitchFamily="34" charset="-122"/>
                <a:cs typeface="Calibri" pitchFamily="34" charset="-120"/>
              </a:rPr>
              <a:t>Precyzyjne polecenie redukuje niejednoznaczność, halucynacje i koszt weryfikacji odpowiedzi</a:t>
            </a:r>
            <a:endParaRPr lang="en-US" sz="1400" dirty="0"/>
          </a:p>
        </p:txBody>
      </p:sp>
      <p:sp>
        <p:nvSpPr>
          <p:cNvPr id="5" name="Shape 3"/>
          <p:cNvSpPr/>
          <p:nvPr/>
        </p:nvSpPr>
        <p:spPr>
          <a:xfrm>
            <a:off x="403225" y="1088807"/>
            <a:ext cx="2973784" cy="1229836"/>
          </a:xfrm>
          <a:prstGeom prst="roundRect">
            <a:avLst>
              <a:gd name="adj" fmla="val 6557"/>
            </a:avLst>
          </a:prstGeom>
          <a:solidFill>
            <a:srgbClr val="FFFFFF"/>
          </a:solidFill>
          <a:ln w="12700">
            <a:solidFill>
              <a:srgbClr val="FFFFFF">
                <a:alpha val="0"/>
              </a:srgbClr>
            </a:solidFill>
            <a:prstDash val="solid"/>
          </a:ln>
          <a:effectLst>
            <a:outerShdw blurRad="76200" dist="25400" dir="2700000" algn="bl" rotWithShape="0">
              <a:srgbClr val="000000">
                <a:alpha val="8000"/>
              </a:srgbClr>
            </a:outerShdw>
          </a:effectLst>
        </p:spPr>
      </p:sp>
      <p:sp>
        <p:nvSpPr>
          <p:cNvPr id="6" name="Shape 4"/>
          <p:cNvSpPr/>
          <p:nvPr/>
        </p:nvSpPr>
        <p:spPr>
          <a:xfrm>
            <a:off x="403225" y="1088806"/>
            <a:ext cx="2973784" cy="362903"/>
          </a:xfrm>
          <a:prstGeom prst="roundRect">
            <a:avLst>
              <a:gd name="adj" fmla="val 22222"/>
            </a:avLst>
          </a:prstGeom>
          <a:solidFill>
            <a:srgbClr val="1E2761"/>
          </a:solidFill>
          <a:ln w="12700">
            <a:solidFill>
              <a:srgbClr val="1E2761">
                <a:alpha val="0"/>
              </a:srgbClr>
            </a:solidFill>
            <a:prstDash val="solid"/>
          </a:ln>
        </p:spPr>
      </p:sp>
      <p:sp>
        <p:nvSpPr>
          <p:cNvPr id="7" name="Text 5"/>
          <p:cNvSpPr/>
          <p:nvPr/>
        </p:nvSpPr>
        <p:spPr>
          <a:xfrm>
            <a:off x="504031" y="1108968"/>
            <a:ext cx="2772172" cy="292338"/>
          </a:xfrm>
          <a:prstGeom prst="rect">
            <a:avLst/>
          </a:prstGeom>
          <a:noFill/>
          <a:ln/>
        </p:spPr>
        <p:txBody>
          <a:bodyPr wrap="square" lIns="0" tIns="0" rIns="0" bIns="0" rtlCol="0" anchor="ctr"/>
          <a:lstStyle/>
          <a:p>
            <a:r>
              <a:rPr lang="en-US" b="1" dirty="0" err="1">
                <a:solidFill>
                  <a:srgbClr val="FFFFFF"/>
                </a:solidFill>
                <a:latin typeface="Cambria"/>
                <a:ea typeface="Cambria"/>
                <a:cs typeface="Cambria" pitchFamily="34" charset="-120"/>
              </a:rPr>
              <a:t>Kontekst</a:t>
            </a:r>
            <a:r>
              <a:rPr lang="en-US" b="1" dirty="0">
                <a:solidFill>
                  <a:srgbClr val="FFFFFF"/>
                </a:solidFill>
                <a:latin typeface="Cambria"/>
                <a:ea typeface="Cambria"/>
                <a:cs typeface="Cambria" pitchFamily="34" charset="-120"/>
              </a:rPr>
              <a:t> </a:t>
            </a:r>
            <a:r>
              <a:rPr lang="en-US" b="1" dirty="0" err="1">
                <a:solidFill>
                  <a:srgbClr val="FFFFFF"/>
                </a:solidFill>
                <a:latin typeface="Cambria"/>
                <a:ea typeface="Cambria"/>
                <a:cs typeface="Cambria" pitchFamily="34" charset="-120"/>
              </a:rPr>
              <a:t>i</a:t>
            </a:r>
            <a:r>
              <a:rPr lang="en-US" b="1" dirty="0">
                <a:solidFill>
                  <a:srgbClr val="FFFFFF"/>
                </a:solidFill>
                <a:latin typeface="Cambria"/>
                <a:ea typeface="Cambria"/>
                <a:cs typeface="Cambria" pitchFamily="34" charset="-120"/>
              </a:rPr>
              <a:t> </a:t>
            </a:r>
            <a:r>
              <a:rPr lang="en-US" b="1" dirty="0" err="1">
                <a:solidFill>
                  <a:srgbClr val="FFFFFF"/>
                </a:solidFill>
                <a:latin typeface="Cambria"/>
                <a:ea typeface="Cambria"/>
                <a:cs typeface="Cambria" pitchFamily="34" charset="-120"/>
              </a:rPr>
              <a:t>rola</a:t>
            </a:r>
            <a:endParaRPr lang="en-US" err="1">
              <a:latin typeface="Cambria"/>
              <a:ea typeface="Cambria"/>
              <a:cs typeface="Calibri"/>
            </a:endParaRPr>
          </a:p>
        </p:txBody>
      </p:sp>
      <p:sp>
        <p:nvSpPr>
          <p:cNvPr id="8" name="Text 6"/>
          <p:cNvSpPr/>
          <p:nvPr/>
        </p:nvSpPr>
        <p:spPr>
          <a:xfrm>
            <a:off x="439653" y="1542435"/>
            <a:ext cx="2836550" cy="655241"/>
          </a:xfrm>
          <a:prstGeom prst="rect">
            <a:avLst/>
          </a:prstGeom>
          <a:noFill/>
          <a:ln/>
        </p:spPr>
        <p:txBody>
          <a:bodyPr wrap="square" lIns="280" tIns="280" rIns="280" bIns="280" rtlCol="0" anchor="ctr">
            <a:normAutofit/>
          </a:bodyPr>
          <a:lstStyle/>
          <a:p>
            <a:r>
              <a:rPr lang="pl-PL" sz="1400" dirty="0">
                <a:solidFill>
                  <a:srgbClr val="1A1F3C"/>
                </a:solidFill>
                <a:latin typeface="Calibri" pitchFamily="34" charset="0"/>
                <a:ea typeface="Calibri" pitchFamily="34" charset="-122"/>
                <a:cs typeface="Calibri" pitchFamily="34" charset="-120"/>
              </a:rPr>
              <a:t>Określ rolę modelu, odbiorcę, cel zadania oraz poziom specjalistyczności</a:t>
            </a:r>
          </a:p>
        </p:txBody>
      </p:sp>
      <p:sp>
        <p:nvSpPr>
          <p:cNvPr id="9" name="Shape 7"/>
          <p:cNvSpPr/>
          <p:nvPr/>
        </p:nvSpPr>
        <p:spPr>
          <a:xfrm>
            <a:off x="3558460" y="1088807"/>
            <a:ext cx="2973784" cy="1229836"/>
          </a:xfrm>
          <a:prstGeom prst="roundRect">
            <a:avLst>
              <a:gd name="adj" fmla="val 6557"/>
            </a:avLst>
          </a:prstGeom>
          <a:solidFill>
            <a:srgbClr val="FFFFFF"/>
          </a:solidFill>
          <a:ln w="12700">
            <a:solidFill>
              <a:srgbClr val="FFFFFF">
                <a:alpha val="0"/>
              </a:srgbClr>
            </a:solidFill>
            <a:prstDash val="solid"/>
          </a:ln>
          <a:effectLst>
            <a:outerShdw blurRad="76200" dist="25400" dir="2700000" algn="bl" rotWithShape="0">
              <a:srgbClr val="000000">
                <a:alpha val="8000"/>
              </a:srgbClr>
            </a:outerShdw>
          </a:effectLst>
        </p:spPr>
      </p:sp>
      <p:sp>
        <p:nvSpPr>
          <p:cNvPr id="10" name="Shape 8"/>
          <p:cNvSpPr/>
          <p:nvPr/>
        </p:nvSpPr>
        <p:spPr>
          <a:xfrm>
            <a:off x="3558460" y="1088806"/>
            <a:ext cx="2973784" cy="362903"/>
          </a:xfrm>
          <a:prstGeom prst="roundRect">
            <a:avLst>
              <a:gd name="adj" fmla="val 22222"/>
            </a:avLst>
          </a:prstGeom>
          <a:solidFill>
            <a:srgbClr val="2D3B8E"/>
          </a:solidFill>
          <a:ln w="12700">
            <a:solidFill>
              <a:srgbClr val="2D3B8E">
                <a:alpha val="0"/>
              </a:srgbClr>
            </a:solidFill>
            <a:prstDash val="solid"/>
          </a:ln>
        </p:spPr>
      </p:sp>
      <p:sp>
        <p:nvSpPr>
          <p:cNvPr id="11" name="Text 9"/>
          <p:cNvSpPr/>
          <p:nvPr/>
        </p:nvSpPr>
        <p:spPr>
          <a:xfrm>
            <a:off x="3659266" y="1108968"/>
            <a:ext cx="2772172" cy="292338"/>
          </a:xfrm>
          <a:prstGeom prst="rect">
            <a:avLst/>
          </a:prstGeom>
          <a:noFill/>
          <a:ln/>
        </p:spPr>
        <p:txBody>
          <a:bodyPr wrap="square" lIns="0" tIns="0" rIns="0" bIns="0" rtlCol="0" anchor="ctr"/>
          <a:lstStyle/>
          <a:p>
            <a:r>
              <a:rPr lang="en-US" b="1" dirty="0" err="1">
                <a:solidFill>
                  <a:srgbClr val="FFFFFF"/>
                </a:solidFill>
                <a:latin typeface="Cambria"/>
                <a:ea typeface="Cambria"/>
                <a:cs typeface="Cambria" pitchFamily="34" charset="-120"/>
              </a:rPr>
              <a:t>Konkretność</a:t>
            </a:r>
            <a:endParaRPr lang="en-US" err="1">
              <a:latin typeface="Cambria"/>
              <a:ea typeface="Cambria"/>
              <a:cs typeface="Calibri"/>
            </a:endParaRPr>
          </a:p>
        </p:txBody>
      </p:sp>
      <p:sp>
        <p:nvSpPr>
          <p:cNvPr id="12" name="Text 10"/>
          <p:cNvSpPr/>
          <p:nvPr/>
        </p:nvSpPr>
        <p:spPr>
          <a:xfrm>
            <a:off x="3671669" y="1542435"/>
            <a:ext cx="2624427" cy="655241"/>
          </a:xfrm>
          <a:prstGeom prst="rect">
            <a:avLst/>
          </a:prstGeom>
          <a:noFill/>
          <a:ln/>
        </p:spPr>
        <p:txBody>
          <a:bodyPr wrap="square" lIns="280" tIns="280" rIns="280" bIns="280" rtlCol="0" anchor="ctr">
            <a:normAutofit/>
          </a:bodyPr>
          <a:lstStyle/>
          <a:p>
            <a:r>
              <a:rPr lang="pl-PL" sz="1400" dirty="0">
                <a:solidFill>
                  <a:srgbClr val="1A1F3C"/>
                </a:solidFill>
                <a:latin typeface="Calibri" pitchFamily="34" charset="0"/>
                <a:ea typeface="Calibri" pitchFamily="34" charset="-122"/>
                <a:cs typeface="Calibri" pitchFamily="34" charset="-120"/>
              </a:rPr>
              <a:t>Podaj zakres, ograniczenia, definicje, liczbę przykładów </a:t>
            </a:r>
            <a:br>
              <a:rPr lang="pl-PL" sz="1400" dirty="0">
                <a:solidFill>
                  <a:srgbClr val="1A1F3C"/>
                </a:solidFill>
                <a:latin typeface="Calibri" pitchFamily="34" charset="0"/>
                <a:ea typeface="Calibri" pitchFamily="34" charset="-122"/>
                <a:cs typeface="Calibri" pitchFamily="34" charset="-120"/>
              </a:rPr>
            </a:br>
            <a:r>
              <a:rPr lang="pl-PL" sz="1400" dirty="0">
                <a:solidFill>
                  <a:srgbClr val="1A1F3C"/>
                </a:solidFill>
                <a:latin typeface="Calibri" pitchFamily="34" charset="0"/>
                <a:ea typeface="Calibri" pitchFamily="34" charset="-122"/>
                <a:cs typeface="Calibri" pitchFamily="34" charset="-120"/>
              </a:rPr>
              <a:t>i oczekiwaną głębokość analizy.</a:t>
            </a:r>
          </a:p>
        </p:txBody>
      </p:sp>
      <p:sp>
        <p:nvSpPr>
          <p:cNvPr id="13" name="Shape 11"/>
          <p:cNvSpPr/>
          <p:nvPr/>
        </p:nvSpPr>
        <p:spPr>
          <a:xfrm>
            <a:off x="6713696" y="1088807"/>
            <a:ext cx="2973784" cy="1229836"/>
          </a:xfrm>
          <a:prstGeom prst="roundRect">
            <a:avLst>
              <a:gd name="adj" fmla="val 6557"/>
            </a:avLst>
          </a:prstGeom>
          <a:solidFill>
            <a:srgbClr val="FFFFFF"/>
          </a:solidFill>
          <a:ln w="12700">
            <a:solidFill>
              <a:srgbClr val="FFFFFF">
                <a:alpha val="0"/>
              </a:srgbClr>
            </a:solidFill>
            <a:prstDash val="solid"/>
          </a:ln>
          <a:effectLst>
            <a:outerShdw blurRad="76200" dist="25400" dir="2700000" algn="bl" rotWithShape="0">
              <a:srgbClr val="000000">
                <a:alpha val="8000"/>
              </a:srgbClr>
            </a:outerShdw>
          </a:effectLst>
        </p:spPr>
      </p:sp>
      <p:sp>
        <p:nvSpPr>
          <p:cNvPr id="14" name="Shape 12"/>
          <p:cNvSpPr/>
          <p:nvPr/>
        </p:nvSpPr>
        <p:spPr>
          <a:xfrm>
            <a:off x="6713696" y="1088806"/>
            <a:ext cx="2973784" cy="362903"/>
          </a:xfrm>
          <a:prstGeom prst="roundRect">
            <a:avLst>
              <a:gd name="adj" fmla="val 22222"/>
            </a:avLst>
          </a:prstGeom>
          <a:solidFill>
            <a:srgbClr val="5B8FF9"/>
          </a:solidFill>
          <a:ln w="12700">
            <a:solidFill>
              <a:srgbClr val="5B8FF9">
                <a:alpha val="0"/>
              </a:srgbClr>
            </a:solidFill>
            <a:prstDash val="solid"/>
          </a:ln>
        </p:spPr>
      </p:sp>
      <p:sp>
        <p:nvSpPr>
          <p:cNvPr id="15" name="Text 13"/>
          <p:cNvSpPr/>
          <p:nvPr/>
        </p:nvSpPr>
        <p:spPr>
          <a:xfrm>
            <a:off x="6814502" y="1108968"/>
            <a:ext cx="2772172" cy="292338"/>
          </a:xfrm>
          <a:prstGeom prst="rect">
            <a:avLst/>
          </a:prstGeom>
          <a:noFill/>
          <a:ln/>
        </p:spPr>
        <p:txBody>
          <a:bodyPr wrap="square" lIns="0" tIns="0" rIns="0" bIns="0" rtlCol="0" anchor="ctr"/>
          <a:lstStyle/>
          <a:p>
            <a:r>
              <a:rPr lang="en-US" b="1" dirty="0">
                <a:solidFill>
                  <a:srgbClr val="FFFFFF"/>
                </a:solidFill>
                <a:latin typeface="Cambria"/>
                <a:ea typeface="Cambria"/>
                <a:cs typeface="Cambria" pitchFamily="34" charset="-120"/>
              </a:rPr>
              <a:t>Format </a:t>
            </a:r>
            <a:r>
              <a:rPr lang="en-US" b="1" dirty="0" err="1">
                <a:solidFill>
                  <a:srgbClr val="FFFFFF"/>
                </a:solidFill>
                <a:latin typeface="Cambria"/>
                <a:ea typeface="Cambria"/>
                <a:cs typeface="Cambria" pitchFamily="34" charset="-120"/>
              </a:rPr>
              <a:t>odpowiedzi</a:t>
            </a:r>
            <a:endParaRPr lang="en-US">
              <a:latin typeface="Calibri"/>
              <a:ea typeface="Calibri"/>
              <a:cs typeface="Calibri"/>
            </a:endParaRPr>
          </a:p>
        </p:txBody>
      </p:sp>
      <p:sp>
        <p:nvSpPr>
          <p:cNvPr id="16" name="Text 14"/>
          <p:cNvSpPr/>
          <p:nvPr/>
        </p:nvSpPr>
        <p:spPr>
          <a:xfrm>
            <a:off x="6785024" y="1542435"/>
            <a:ext cx="2836550" cy="655241"/>
          </a:xfrm>
          <a:prstGeom prst="rect">
            <a:avLst/>
          </a:prstGeom>
          <a:noFill/>
          <a:ln/>
        </p:spPr>
        <p:txBody>
          <a:bodyPr wrap="square" lIns="280" tIns="280" rIns="280" bIns="280" rtlCol="0" anchor="ctr">
            <a:normAutofit/>
          </a:bodyPr>
          <a:lstStyle/>
          <a:p>
            <a:r>
              <a:rPr lang="pl-PL" sz="1400" dirty="0">
                <a:solidFill>
                  <a:srgbClr val="1A1F3C"/>
                </a:solidFill>
                <a:latin typeface="Calibri" pitchFamily="34" charset="0"/>
                <a:ea typeface="Calibri" pitchFamily="34" charset="-122"/>
                <a:cs typeface="Calibri" pitchFamily="34" charset="-120"/>
              </a:rPr>
              <a:t>Wymuś strukturę: tabela, lista, sekcje, limit długości lub schemat pól</a:t>
            </a:r>
          </a:p>
        </p:txBody>
      </p:sp>
      <p:sp>
        <p:nvSpPr>
          <p:cNvPr id="17" name="Shape 15"/>
          <p:cNvSpPr/>
          <p:nvPr/>
        </p:nvSpPr>
        <p:spPr>
          <a:xfrm>
            <a:off x="403225" y="2469852"/>
            <a:ext cx="2973784" cy="1229836"/>
          </a:xfrm>
          <a:prstGeom prst="roundRect">
            <a:avLst>
              <a:gd name="adj" fmla="val 6557"/>
            </a:avLst>
          </a:prstGeom>
          <a:solidFill>
            <a:srgbClr val="FFFFFF"/>
          </a:solidFill>
          <a:ln w="12700">
            <a:solidFill>
              <a:srgbClr val="FFFFFF">
                <a:alpha val="0"/>
              </a:srgbClr>
            </a:solidFill>
            <a:prstDash val="solid"/>
          </a:ln>
          <a:effectLst>
            <a:outerShdw blurRad="76200" dist="25400" dir="2700000" algn="bl" rotWithShape="0">
              <a:srgbClr val="000000">
                <a:alpha val="8000"/>
              </a:srgbClr>
            </a:outerShdw>
          </a:effectLst>
        </p:spPr>
      </p:sp>
      <p:sp>
        <p:nvSpPr>
          <p:cNvPr id="18" name="Shape 16"/>
          <p:cNvSpPr/>
          <p:nvPr/>
        </p:nvSpPr>
        <p:spPr>
          <a:xfrm>
            <a:off x="403225" y="2469852"/>
            <a:ext cx="2973784" cy="362903"/>
          </a:xfrm>
          <a:prstGeom prst="roundRect">
            <a:avLst>
              <a:gd name="adj" fmla="val 22222"/>
            </a:avLst>
          </a:prstGeom>
          <a:solidFill>
            <a:srgbClr val="2D7DD2"/>
          </a:solidFill>
          <a:ln w="12700">
            <a:solidFill>
              <a:srgbClr val="2D7DD2">
                <a:alpha val="0"/>
              </a:srgbClr>
            </a:solidFill>
            <a:prstDash val="solid"/>
          </a:ln>
        </p:spPr>
      </p:sp>
      <p:sp>
        <p:nvSpPr>
          <p:cNvPr id="19" name="Text 17"/>
          <p:cNvSpPr/>
          <p:nvPr/>
        </p:nvSpPr>
        <p:spPr>
          <a:xfrm>
            <a:off x="504031" y="2490014"/>
            <a:ext cx="2772172" cy="292338"/>
          </a:xfrm>
          <a:prstGeom prst="rect">
            <a:avLst/>
          </a:prstGeom>
          <a:noFill/>
          <a:ln/>
        </p:spPr>
        <p:txBody>
          <a:bodyPr wrap="square" lIns="0" tIns="0" rIns="0" bIns="0" rtlCol="0" anchor="ctr"/>
          <a:lstStyle/>
          <a:p>
            <a:r>
              <a:rPr lang="en-US" b="1" dirty="0" err="1">
                <a:solidFill>
                  <a:srgbClr val="FFFFFF"/>
                </a:solidFill>
                <a:latin typeface="Cambria"/>
                <a:ea typeface="Cambria"/>
                <a:cs typeface="Cambria" pitchFamily="34" charset="-120"/>
              </a:rPr>
              <a:t>Jawne</a:t>
            </a:r>
            <a:r>
              <a:rPr lang="en-US" b="1" dirty="0">
                <a:solidFill>
                  <a:srgbClr val="FFFFFF"/>
                </a:solidFill>
                <a:latin typeface="Cambria"/>
                <a:ea typeface="Cambria"/>
                <a:cs typeface="Cambria" pitchFamily="34" charset="-120"/>
              </a:rPr>
              <a:t> </a:t>
            </a:r>
            <a:r>
              <a:rPr lang="en-US" b="1" dirty="0" err="1">
                <a:solidFill>
                  <a:srgbClr val="FFFFFF"/>
                </a:solidFill>
                <a:latin typeface="Cambria"/>
                <a:ea typeface="Cambria"/>
                <a:cs typeface="Cambria" pitchFamily="34" charset="-120"/>
              </a:rPr>
              <a:t>kryteria</a:t>
            </a:r>
            <a:endParaRPr lang="en-US" err="1">
              <a:latin typeface="Cambria"/>
              <a:ea typeface="Cambria"/>
              <a:cs typeface="Calibri"/>
            </a:endParaRPr>
          </a:p>
        </p:txBody>
      </p:sp>
      <p:sp>
        <p:nvSpPr>
          <p:cNvPr id="20" name="Text 18"/>
          <p:cNvSpPr/>
          <p:nvPr/>
        </p:nvSpPr>
        <p:spPr>
          <a:xfrm>
            <a:off x="474553" y="2923480"/>
            <a:ext cx="2836550" cy="655241"/>
          </a:xfrm>
          <a:prstGeom prst="rect">
            <a:avLst/>
          </a:prstGeom>
          <a:noFill/>
          <a:ln/>
        </p:spPr>
        <p:txBody>
          <a:bodyPr wrap="square" lIns="280" tIns="280" rIns="280" bIns="280" rtlCol="0" anchor="ctr">
            <a:normAutofit/>
          </a:bodyPr>
          <a:lstStyle/>
          <a:p>
            <a:r>
              <a:rPr lang="pl-PL" sz="1400" dirty="0">
                <a:solidFill>
                  <a:srgbClr val="1A1F3C"/>
                </a:solidFill>
                <a:latin typeface="Calibri" pitchFamily="34" charset="0"/>
                <a:ea typeface="Calibri" pitchFamily="34" charset="-122"/>
                <a:cs typeface="Calibri" pitchFamily="34" charset="-120"/>
              </a:rPr>
              <a:t>Zamiast ogólnej prośby podaj kryteria oceny, priorytety i sposób weryfikacji</a:t>
            </a:r>
          </a:p>
        </p:txBody>
      </p:sp>
      <p:sp>
        <p:nvSpPr>
          <p:cNvPr id="21" name="Shape 19"/>
          <p:cNvSpPr/>
          <p:nvPr/>
        </p:nvSpPr>
        <p:spPr>
          <a:xfrm>
            <a:off x="3558460" y="2469852"/>
            <a:ext cx="2973784" cy="1229836"/>
          </a:xfrm>
          <a:prstGeom prst="roundRect">
            <a:avLst>
              <a:gd name="adj" fmla="val 6557"/>
            </a:avLst>
          </a:prstGeom>
          <a:solidFill>
            <a:srgbClr val="FFFFFF"/>
          </a:solidFill>
          <a:ln w="12700">
            <a:solidFill>
              <a:srgbClr val="FFFFFF">
                <a:alpha val="0"/>
              </a:srgbClr>
            </a:solidFill>
            <a:prstDash val="solid"/>
          </a:ln>
          <a:effectLst>
            <a:outerShdw blurRad="76200" dist="25400" dir="2700000" algn="bl" rotWithShape="0">
              <a:srgbClr val="000000">
                <a:alpha val="8000"/>
              </a:srgbClr>
            </a:outerShdw>
          </a:effectLst>
        </p:spPr>
      </p:sp>
      <p:sp>
        <p:nvSpPr>
          <p:cNvPr id="22" name="Shape 20"/>
          <p:cNvSpPr/>
          <p:nvPr/>
        </p:nvSpPr>
        <p:spPr>
          <a:xfrm>
            <a:off x="3558460" y="2469852"/>
            <a:ext cx="2973784" cy="362903"/>
          </a:xfrm>
          <a:prstGeom prst="roundRect">
            <a:avLst>
              <a:gd name="adj" fmla="val 22222"/>
            </a:avLst>
          </a:prstGeom>
          <a:solidFill>
            <a:schemeClr val="accent2"/>
          </a:solidFill>
          <a:ln w="12700">
            <a:solidFill>
              <a:srgbClr val="3ECFB2">
                <a:alpha val="0"/>
              </a:srgbClr>
            </a:solidFill>
            <a:prstDash val="solid"/>
          </a:ln>
        </p:spPr>
      </p:sp>
      <p:sp>
        <p:nvSpPr>
          <p:cNvPr id="23" name="Text 21"/>
          <p:cNvSpPr/>
          <p:nvPr/>
        </p:nvSpPr>
        <p:spPr>
          <a:xfrm>
            <a:off x="3659266" y="2490014"/>
            <a:ext cx="2772172" cy="292338"/>
          </a:xfrm>
          <a:prstGeom prst="rect">
            <a:avLst/>
          </a:prstGeom>
          <a:noFill/>
          <a:ln/>
        </p:spPr>
        <p:txBody>
          <a:bodyPr wrap="square" lIns="0" tIns="0" rIns="0" bIns="0" rtlCol="0" anchor="ctr"/>
          <a:lstStyle/>
          <a:p>
            <a:r>
              <a:rPr lang="en-US" b="1" dirty="0" err="1">
                <a:solidFill>
                  <a:srgbClr val="FFFFFF"/>
                </a:solidFill>
                <a:latin typeface="Cambria"/>
                <a:ea typeface="Cambria"/>
                <a:cs typeface="Cambria" pitchFamily="34" charset="-120"/>
              </a:rPr>
              <a:t>Przykłady</a:t>
            </a:r>
            <a:r>
              <a:rPr lang="en-US" b="1" dirty="0">
                <a:solidFill>
                  <a:srgbClr val="FFFFFF"/>
                </a:solidFill>
                <a:latin typeface="Cambria"/>
                <a:ea typeface="Cambria"/>
                <a:cs typeface="Cambria" pitchFamily="34" charset="-120"/>
              </a:rPr>
              <a:t> few-shot</a:t>
            </a:r>
            <a:endParaRPr lang="en-US">
              <a:latin typeface="Cambria"/>
              <a:ea typeface="Cambria"/>
              <a:cs typeface="Calibri"/>
            </a:endParaRPr>
          </a:p>
        </p:txBody>
      </p:sp>
      <p:sp>
        <p:nvSpPr>
          <p:cNvPr id="24" name="Text 22"/>
          <p:cNvSpPr/>
          <p:nvPr/>
        </p:nvSpPr>
        <p:spPr>
          <a:xfrm>
            <a:off x="3685521" y="2923480"/>
            <a:ext cx="2704037" cy="655241"/>
          </a:xfrm>
          <a:prstGeom prst="rect">
            <a:avLst/>
          </a:prstGeom>
          <a:noFill/>
          <a:ln/>
        </p:spPr>
        <p:txBody>
          <a:bodyPr wrap="square" lIns="280" tIns="280" rIns="280" bIns="280" rtlCol="0" anchor="ctr">
            <a:normAutofit/>
          </a:bodyPr>
          <a:lstStyle/>
          <a:p>
            <a:r>
              <a:rPr lang="en-US" sz="1400" dirty="0">
                <a:solidFill>
                  <a:srgbClr val="1A1F3C"/>
                </a:solidFill>
                <a:latin typeface="Calibri" pitchFamily="34" charset="0"/>
                <a:ea typeface="Calibri" pitchFamily="34" charset="-122"/>
                <a:cs typeface="Calibri" pitchFamily="34" charset="-120"/>
              </a:rPr>
              <a:t>Pokaż wzór wejścia i wyjścia, </a:t>
            </a:r>
            <a:br>
              <a:rPr lang="pl-PL" sz="1400" dirty="0">
                <a:solidFill>
                  <a:srgbClr val="1A1F3C"/>
                </a:solidFill>
                <a:latin typeface="Calibri" pitchFamily="34" charset="0"/>
                <a:ea typeface="Calibri" pitchFamily="34" charset="-122"/>
                <a:cs typeface="Calibri" pitchFamily="34" charset="-120"/>
              </a:rPr>
            </a:br>
            <a:r>
              <a:rPr lang="en-US" sz="1400" dirty="0" err="1">
                <a:solidFill>
                  <a:srgbClr val="1A1F3C"/>
                </a:solidFill>
                <a:latin typeface="Calibri" pitchFamily="34" charset="0"/>
                <a:ea typeface="Calibri" pitchFamily="34" charset="-122"/>
                <a:cs typeface="Calibri" pitchFamily="34" charset="-120"/>
              </a:rPr>
              <a:t>gdy</a:t>
            </a:r>
            <a:r>
              <a:rPr lang="en-US" sz="1400" dirty="0">
                <a:solidFill>
                  <a:srgbClr val="1A1F3C"/>
                </a:solidFill>
                <a:latin typeface="Calibri" pitchFamily="34" charset="0"/>
                <a:ea typeface="Calibri" pitchFamily="34" charset="-122"/>
                <a:cs typeface="Calibri" pitchFamily="34" charset="-120"/>
              </a:rPr>
              <a:t> potrzebny jest </a:t>
            </a:r>
            <a:r>
              <a:rPr lang="en-US" sz="1400" dirty="0" err="1">
                <a:solidFill>
                  <a:srgbClr val="1A1F3C"/>
                </a:solidFill>
                <a:latin typeface="Calibri" pitchFamily="34" charset="0"/>
                <a:ea typeface="Calibri" pitchFamily="34" charset="-122"/>
                <a:cs typeface="Calibri" pitchFamily="34" charset="-120"/>
              </a:rPr>
              <a:t>nietypowy</a:t>
            </a:r>
            <a:r>
              <a:rPr lang="en-US" sz="1400" dirty="0">
                <a:solidFill>
                  <a:srgbClr val="1A1F3C"/>
                </a:solidFill>
                <a:latin typeface="Calibri" pitchFamily="34" charset="0"/>
                <a:ea typeface="Calibri" pitchFamily="34" charset="-122"/>
                <a:cs typeface="Calibri" pitchFamily="34" charset="-120"/>
              </a:rPr>
              <a:t> </a:t>
            </a:r>
            <a:br>
              <a:rPr lang="pl-PL" sz="1400" dirty="0">
                <a:solidFill>
                  <a:srgbClr val="1A1F3C"/>
                </a:solidFill>
                <a:latin typeface="Calibri" pitchFamily="34" charset="0"/>
                <a:ea typeface="Calibri" pitchFamily="34" charset="-122"/>
                <a:cs typeface="Calibri" pitchFamily="34" charset="-120"/>
              </a:rPr>
            </a:br>
            <a:r>
              <a:rPr lang="en-US" sz="1400" dirty="0" err="1">
                <a:solidFill>
                  <a:srgbClr val="1A1F3C"/>
                </a:solidFill>
                <a:latin typeface="Calibri" pitchFamily="34" charset="0"/>
                <a:ea typeface="Calibri" pitchFamily="34" charset="-122"/>
                <a:cs typeface="Calibri" pitchFamily="34" charset="-120"/>
              </a:rPr>
              <a:t>lub</a:t>
            </a:r>
            <a:r>
              <a:rPr lang="en-US" sz="1400" dirty="0">
                <a:solidFill>
                  <a:srgbClr val="1A1F3C"/>
                </a:solidFill>
                <a:latin typeface="Calibri" pitchFamily="34" charset="0"/>
                <a:ea typeface="Calibri" pitchFamily="34" charset="-122"/>
                <a:cs typeface="Calibri" pitchFamily="34" charset="-120"/>
              </a:rPr>
              <a:t> sztywny format.</a:t>
            </a:r>
            <a:endParaRPr lang="en-US" sz="1400" dirty="0"/>
          </a:p>
        </p:txBody>
      </p:sp>
      <p:sp>
        <p:nvSpPr>
          <p:cNvPr id="25" name="Shape 23"/>
          <p:cNvSpPr/>
          <p:nvPr/>
        </p:nvSpPr>
        <p:spPr>
          <a:xfrm>
            <a:off x="6713696" y="2469852"/>
            <a:ext cx="2973784" cy="1229836"/>
          </a:xfrm>
          <a:prstGeom prst="roundRect">
            <a:avLst>
              <a:gd name="adj" fmla="val 6557"/>
            </a:avLst>
          </a:prstGeom>
          <a:solidFill>
            <a:srgbClr val="FFFFFF"/>
          </a:solidFill>
          <a:ln w="12700">
            <a:solidFill>
              <a:srgbClr val="FFFFFF">
                <a:alpha val="0"/>
              </a:srgbClr>
            </a:solidFill>
            <a:prstDash val="solid"/>
          </a:ln>
          <a:effectLst>
            <a:outerShdw blurRad="76200" dist="25400" dir="2700000" algn="bl" rotWithShape="0">
              <a:srgbClr val="000000">
                <a:alpha val="8000"/>
              </a:srgbClr>
            </a:outerShdw>
          </a:effectLst>
        </p:spPr>
      </p:sp>
      <p:sp>
        <p:nvSpPr>
          <p:cNvPr id="26" name="Shape 24"/>
          <p:cNvSpPr/>
          <p:nvPr/>
        </p:nvSpPr>
        <p:spPr>
          <a:xfrm>
            <a:off x="6713696" y="2469852"/>
            <a:ext cx="2973784" cy="362903"/>
          </a:xfrm>
          <a:prstGeom prst="roundRect">
            <a:avLst>
              <a:gd name="adj" fmla="val 22222"/>
            </a:avLst>
          </a:prstGeom>
          <a:solidFill>
            <a:srgbClr val="7B5EA7"/>
          </a:solidFill>
          <a:ln w="12700">
            <a:solidFill>
              <a:srgbClr val="7B5EA7">
                <a:alpha val="0"/>
              </a:srgbClr>
            </a:solidFill>
            <a:prstDash val="solid"/>
          </a:ln>
        </p:spPr>
      </p:sp>
      <p:sp>
        <p:nvSpPr>
          <p:cNvPr id="27" name="Text 25"/>
          <p:cNvSpPr/>
          <p:nvPr/>
        </p:nvSpPr>
        <p:spPr>
          <a:xfrm>
            <a:off x="6814502" y="2490014"/>
            <a:ext cx="2772172" cy="292338"/>
          </a:xfrm>
          <a:prstGeom prst="rect">
            <a:avLst/>
          </a:prstGeom>
          <a:noFill/>
          <a:ln/>
        </p:spPr>
        <p:txBody>
          <a:bodyPr wrap="square" lIns="0" tIns="0" rIns="0" bIns="0" rtlCol="0" anchor="ctr"/>
          <a:lstStyle/>
          <a:p>
            <a:r>
              <a:rPr lang="en-US" b="1" dirty="0" err="1">
                <a:solidFill>
                  <a:srgbClr val="FFFFFF"/>
                </a:solidFill>
                <a:latin typeface="Cambria"/>
                <a:ea typeface="Cambria"/>
                <a:cs typeface="Cambria" pitchFamily="34" charset="-120"/>
              </a:rPr>
              <a:t>Iteracja</a:t>
            </a:r>
            <a:r>
              <a:rPr lang="en-US" b="1" dirty="0">
                <a:solidFill>
                  <a:srgbClr val="FFFFFF"/>
                </a:solidFill>
                <a:latin typeface="Cambria"/>
                <a:ea typeface="Cambria"/>
                <a:cs typeface="Cambria" pitchFamily="34" charset="-120"/>
              </a:rPr>
              <a:t> </a:t>
            </a:r>
            <a:r>
              <a:rPr lang="en-US" b="1" dirty="0" err="1">
                <a:solidFill>
                  <a:srgbClr val="FFFFFF"/>
                </a:solidFill>
                <a:latin typeface="Cambria"/>
                <a:ea typeface="Cambria"/>
                <a:cs typeface="Cambria" pitchFamily="34" charset="-120"/>
              </a:rPr>
              <a:t>i</a:t>
            </a:r>
            <a:r>
              <a:rPr lang="en-US" b="1" dirty="0">
                <a:solidFill>
                  <a:srgbClr val="FFFFFF"/>
                </a:solidFill>
                <a:latin typeface="Cambria"/>
                <a:ea typeface="Cambria"/>
                <a:cs typeface="Cambria" pitchFamily="34" charset="-120"/>
              </a:rPr>
              <a:t> </a:t>
            </a:r>
            <a:r>
              <a:rPr lang="en-US" b="1" dirty="0" err="1">
                <a:solidFill>
                  <a:srgbClr val="FFFFFF"/>
                </a:solidFill>
                <a:latin typeface="Cambria"/>
                <a:ea typeface="Cambria"/>
                <a:cs typeface="Cambria" pitchFamily="34" charset="-120"/>
              </a:rPr>
              <a:t>kontrola</a:t>
            </a:r>
            <a:endParaRPr lang="en-US" err="1">
              <a:latin typeface="Cambria"/>
              <a:ea typeface="Cambria"/>
              <a:cs typeface="Calibri"/>
            </a:endParaRPr>
          </a:p>
        </p:txBody>
      </p:sp>
      <p:sp>
        <p:nvSpPr>
          <p:cNvPr id="28" name="Text 26"/>
          <p:cNvSpPr/>
          <p:nvPr/>
        </p:nvSpPr>
        <p:spPr>
          <a:xfrm>
            <a:off x="6814502" y="2923480"/>
            <a:ext cx="2772172" cy="655241"/>
          </a:xfrm>
          <a:prstGeom prst="rect">
            <a:avLst/>
          </a:prstGeom>
          <a:noFill/>
          <a:ln/>
        </p:spPr>
        <p:txBody>
          <a:bodyPr wrap="square" lIns="280" tIns="280" rIns="280" bIns="280" rtlCol="0" anchor="ctr">
            <a:normAutofit/>
          </a:bodyPr>
          <a:lstStyle/>
          <a:p>
            <a:r>
              <a:rPr lang="en-US" sz="1400" dirty="0">
                <a:solidFill>
                  <a:srgbClr val="1A1F3C"/>
                </a:solidFill>
                <a:latin typeface="Calibri" pitchFamily="34" charset="0"/>
                <a:ea typeface="Calibri" pitchFamily="34" charset="-122"/>
                <a:cs typeface="Calibri" pitchFamily="34" charset="-120"/>
              </a:rPr>
              <a:t>Traktuj wynik jako szkic: poprawiaj prompt, sprawdzaj fakty i wymagaj </a:t>
            </a:r>
            <a:r>
              <a:rPr lang="en-US" sz="1400" dirty="0" err="1">
                <a:solidFill>
                  <a:srgbClr val="1A1F3C"/>
                </a:solidFill>
                <a:latin typeface="Calibri" pitchFamily="34" charset="0"/>
                <a:ea typeface="Calibri" pitchFamily="34" charset="-122"/>
                <a:cs typeface="Calibri" pitchFamily="34" charset="-120"/>
              </a:rPr>
              <a:t>źródeł</a:t>
            </a:r>
            <a:r>
              <a:rPr lang="en-US" sz="1400" dirty="0">
                <a:solidFill>
                  <a:srgbClr val="1A1F3C"/>
                </a:solidFill>
                <a:latin typeface="Calibri" pitchFamily="34" charset="0"/>
                <a:ea typeface="Calibri" pitchFamily="34" charset="-122"/>
                <a:cs typeface="Calibri" pitchFamily="34" charset="-120"/>
              </a:rPr>
              <a:t> </a:t>
            </a:r>
            <a:r>
              <a:rPr lang="en-US" sz="1400" dirty="0" err="1">
                <a:solidFill>
                  <a:srgbClr val="1A1F3C"/>
                </a:solidFill>
                <a:latin typeface="Calibri" pitchFamily="34" charset="0"/>
                <a:ea typeface="Calibri" pitchFamily="34" charset="-122"/>
                <a:cs typeface="Calibri" pitchFamily="34" charset="-120"/>
              </a:rPr>
              <a:t>pierwotnych</a:t>
            </a:r>
            <a:endParaRPr lang="en-US" sz="1400" dirty="0"/>
          </a:p>
        </p:txBody>
      </p:sp>
      <p:sp>
        <p:nvSpPr>
          <p:cNvPr id="29" name="Shape 27"/>
          <p:cNvSpPr/>
          <p:nvPr/>
        </p:nvSpPr>
        <p:spPr>
          <a:xfrm>
            <a:off x="403225" y="3850898"/>
            <a:ext cx="3162197" cy="1088708"/>
          </a:xfrm>
          <a:prstGeom prst="roundRect">
            <a:avLst>
              <a:gd name="adj" fmla="val 7407"/>
            </a:avLst>
          </a:prstGeom>
          <a:solidFill>
            <a:srgbClr val="FBE7E7"/>
          </a:solidFill>
          <a:ln w="12700">
            <a:solidFill>
              <a:srgbClr val="FBE7E7">
                <a:alpha val="0"/>
              </a:srgbClr>
            </a:solidFill>
            <a:prstDash val="solid"/>
          </a:ln>
          <a:effectLst>
            <a:outerShdw blurRad="76200" dist="25400" dir="2700000" algn="bl" rotWithShape="0">
              <a:srgbClr val="000000">
                <a:alpha val="8000"/>
              </a:srgbClr>
            </a:outerShdw>
          </a:effectLst>
        </p:spPr>
      </p:sp>
      <p:sp>
        <p:nvSpPr>
          <p:cNvPr id="30" name="Shape 28"/>
          <p:cNvSpPr/>
          <p:nvPr/>
        </p:nvSpPr>
        <p:spPr>
          <a:xfrm>
            <a:off x="403225" y="3850898"/>
            <a:ext cx="3162197" cy="312499"/>
          </a:xfrm>
          <a:prstGeom prst="roundRect">
            <a:avLst>
              <a:gd name="adj" fmla="val 25806"/>
            </a:avLst>
          </a:prstGeom>
          <a:solidFill>
            <a:srgbClr val="D64045"/>
          </a:solidFill>
          <a:ln w="12700">
            <a:solidFill>
              <a:srgbClr val="D64045">
                <a:alpha val="0"/>
              </a:srgbClr>
            </a:solidFill>
            <a:prstDash val="solid"/>
          </a:ln>
        </p:spPr>
      </p:sp>
      <p:sp>
        <p:nvSpPr>
          <p:cNvPr id="31" name="Text 29"/>
          <p:cNvSpPr/>
          <p:nvPr/>
        </p:nvSpPr>
        <p:spPr>
          <a:xfrm>
            <a:off x="403225" y="3891220"/>
            <a:ext cx="3162197" cy="221774"/>
          </a:xfrm>
          <a:prstGeom prst="rect">
            <a:avLst/>
          </a:prstGeom>
          <a:noFill/>
          <a:ln/>
        </p:spPr>
        <p:txBody>
          <a:bodyPr wrap="square" lIns="0" tIns="0" rIns="0" bIns="0" rtlCol="0" anchor="ctr"/>
          <a:lstStyle/>
          <a:p>
            <a:pPr algn="ctr"/>
            <a:r>
              <a:rPr lang="en-US" b="1" dirty="0">
                <a:solidFill>
                  <a:srgbClr val="FFFFFF"/>
                </a:solidFill>
                <a:latin typeface="Cambria"/>
                <a:ea typeface="Cambria"/>
                <a:cs typeface="Cambria" pitchFamily="34" charset="-120"/>
              </a:rPr>
              <a:t>Słaby prompt</a:t>
            </a:r>
            <a:endParaRPr lang="en-US">
              <a:latin typeface="Calibri"/>
              <a:ea typeface="Calibri"/>
              <a:cs typeface="Calibri"/>
            </a:endParaRPr>
          </a:p>
        </p:txBody>
      </p:sp>
      <p:sp>
        <p:nvSpPr>
          <p:cNvPr id="32" name="Text 30"/>
          <p:cNvSpPr/>
          <p:nvPr/>
        </p:nvSpPr>
        <p:spPr>
          <a:xfrm>
            <a:off x="486030" y="4294446"/>
            <a:ext cx="3080118" cy="473789"/>
          </a:xfrm>
          <a:prstGeom prst="rect">
            <a:avLst/>
          </a:prstGeom>
          <a:noFill/>
          <a:ln/>
        </p:spPr>
        <p:txBody>
          <a:bodyPr wrap="square" lIns="0" tIns="0" rIns="0" bIns="0" rtlCol="0" anchor="ctr">
            <a:noAutofit/>
          </a:bodyPr>
          <a:lstStyle/>
          <a:p>
            <a:r>
              <a:rPr lang="en-US" i="1" dirty="0">
                <a:solidFill>
                  <a:srgbClr val="7B2020"/>
                </a:solidFill>
                <a:latin typeface="Calibri"/>
                <a:ea typeface="Calibri"/>
                <a:cs typeface="Calibri"/>
              </a:rPr>
              <a:t>„</a:t>
            </a:r>
            <a:r>
              <a:rPr lang="en-US" i="1" dirty="0" err="1">
                <a:solidFill>
                  <a:srgbClr val="7B2020"/>
                </a:solidFill>
                <a:latin typeface="Calibri"/>
                <a:ea typeface="Calibri"/>
                <a:cs typeface="Calibri"/>
              </a:rPr>
              <a:t>Napisz</a:t>
            </a:r>
            <a:r>
              <a:rPr lang="en-US" i="1" dirty="0">
                <a:solidFill>
                  <a:srgbClr val="7B2020"/>
                </a:solidFill>
                <a:latin typeface="Calibri"/>
                <a:ea typeface="Calibri"/>
                <a:cs typeface="Calibri"/>
              </a:rPr>
              <a:t> </a:t>
            </a:r>
            <a:r>
              <a:rPr lang="en-US" i="1" dirty="0" err="1">
                <a:solidFill>
                  <a:srgbClr val="7B2020"/>
                </a:solidFill>
                <a:latin typeface="Calibri"/>
                <a:ea typeface="Calibri"/>
                <a:cs typeface="Calibri"/>
              </a:rPr>
              <a:t>coś</a:t>
            </a:r>
            <a:r>
              <a:rPr lang="en-US" i="1" dirty="0">
                <a:solidFill>
                  <a:srgbClr val="7B2020"/>
                </a:solidFill>
                <a:latin typeface="Calibri"/>
                <a:ea typeface="Calibri"/>
                <a:cs typeface="Calibri"/>
              </a:rPr>
              <a:t> o </a:t>
            </a:r>
            <a:r>
              <a:rPr lang="en-US" i="1" dirty="0" err="1">
                <a:solidFill>
                  <a:srgbClr val="7B2020"/>
                </a:solidFill>
                <a:latin typeface="Calibri"/>
                <a:ea typeface="Calibri"/>
                <a:cs typeface="Calibri"/>
              </a:rPr>
              <a:t>lęku</a:t>
            </a:r>
            <a:r>
              <a:rPr lang="en-US" i="1" dirty="0">
                <a:solidFill>
                  <a:srgbClr val="7B2020"/>
                </a:solidFill>
                <a:latin typeface="Calibri"/>
                <a:ea typeface="Calibri"/>
                <a:cs typeface="Calibri"/>
              </a:rPr>
              <a:t> </a:t>
            </a:r>
            <a:r>
              <a:rPr lang="en-US" i="1" dirty="0" err="1">
                <a:solidFill>
                  <a:srgbClr val="7B2020"/>
                </a:solidFill>
                <a:latin typeface="Calibri"/>
                <a:ea typeface="Calibri"/>
                <a:cs typeface="Calibri"/>
              </a:rPr>
              <a:t>społecznym</a:t>
            </a:r>
            <a:r>
              <a:rPr lang="en-US" i="1" dirty="0">
                <a:solidFill>
                  <a:srgbClr val="7B2020"/>
                </a:solidFill>
                <a:latin typeface="Calibri"/>
                <a:ea typeface="Calibri"/>
                <a:cs typeface="Calibri"/>
              </a:rPr>
              <a:t> </a:t>
            </a:r>
            <a:br>
              <a:rPr lang="en-US" dirty="0"/>
            </a:br>
            <a:r>
              <a:rPr lang="en-US" i="1" dirty="0">
                <a:solidFill>
                  <a:srgbClr val="7B2020"/>
                </a:solidFill>
                <a:latin typeface="Calibri"/>
                <a:ea typeface="Calibri"/>
                <a:cs typeface="Calibri"/>
              </a:rPr>
              <a:t>w </a:t>
            </a:r>
            <a:r>
              <a:rPr lang="en-US" i="1" dirty="0" err="1">
                <a:solidFill>
                  <a:srgbClr val="7B2020"/>
                </a:solidFill>
                <a:latin typeface="Calibri"/>
                <a:ea typeface="Calibri"/>
                <a:cs typeface="Calibri"/>
              </a:rPr>
              <a:t>psychologii</a:t>
            </a:r>
            <a:r>
              <a:rPr lang="en-US" i="1" dirty="0">
                <a:solidFill>
                  <a:srgbClr val="7B2020"/>
                </a:solidFill>
                <a:latin typeface="Calibri"/>
                <a:ea typeface="Calibri"/>
                <a:cs typeface="Calibri"/>
              </a:rPr>
              <a:t>.”</a:t>
            </a:r>
            <a:endParaRPr lang="en-US" dirty="0">
              <a:latin typeface="Calibri"/>
              <a:ea typeface="Calibri"/>
              <a:cs typeface="Calibri"/>
            </a:endParaRPr>
          </a:p>
        </p:txBody>
      </p:sp>
      <p:sp>
        <p:nvSpPr>
          <p:cNvPr id="33" name="Shape 31"/>
          <p:cNvSpPr/>
          <p:nvPr/>
        </p:nvSpPr>
        <p:spPr>
          <a:xfrm>
            <a:off x="3821037" y="3874900"/>
            <a:ext cx="5868362" cy="1214720"/>
          </a:xfrm>
          <a:prstGeom prst="roundRect">
            <a:avLst>
              <a:gd name="adj" fmla="val 7407"/>
            </a:avLst>
          </a:prstGeom>
          <a:solidFill>
            <a:srgbClr val="E6F7EF"/>
          </a:solidFill>
          <a:ln w="12700">
            <a:solidFill>
              <a:srgbClr val="E6F7EF">
                <a:alpha val="0"/>
              </a:srgbClr>
            </a:solidFill>
            <a:prstDash val="solid"/>
          </a:ln>
          <a:effectLst>
            <a:outerShdw blurRad="76200" dist="25400" dir="2700000" algn="bl" rotWithShape="0">
              <a:srgbClr val="000000">
                <a:alpha val="8000"/>
              </a:srgbClr>
            </a:outerShdw>
          </a:effectLst>
        </p:spPr>
      </p:sp>
      <p:sp>
        <p:nvSpPr>
          <p:cNvPr id="34" name="Shape 32"/>
          <p:cNvSpPr/>
          <p:nvPr/>
        </p:nvSpPr>
        <p:spPr>
          <a:xfrm>
            <a:off x="3827038" y="3850898"/>
            <a:ext cx="5850361" cy="312499"/>
          </a:xfrm>
          <a:prstGeom prst="roundRect">
            <a:avLst>
              <a:gd name="adj" fmla="val 25806"/>
            </a:avLst>
          </a:prstGeom>
          <a:solidFill>
            <a:srgbClr val="3A9F6E"/>
          </a:solidFill>
          <a:ln w="12700">
            <a:solidFill>
              <a:srgbClr val="3A9F6E">
                <a:alpha val="0"/>
              </a:srgbClr>
            </a:solidFill>
            <a:prstDash val="solid"/>
          </a:ln>
        </p:spPr>
      </p:sp>
      <p:sp>
        <p:nvSpPr>
          <p:cNvPr id="35" name="Text 33"/>
          <p:cNvSpPr/>
          <p:nvPr/>
        </p:nvSpPr>
        <p:spPr>
          <a:xfrm>
            <a:off x="3827038" y="3891220"/>
            <a:ext cx="5850361" cy="221774"/>
          </a:xfrm>
          <a:prstGeom prst="rect">
            <a:avLst/>
          </a:prstGeom>
          <a:noFill/>
          <a:ln/>
        </p:spPr>
        <p:txBody>
          <a:bodyPr wrap="square" lIns="0" tIns="0" rIns="0" bIns="0" rtlCol="0" anchor="ctr"/>
          <a:lstStyle/>
          <a:p>
            <a:pPr algn="ctr"/>
            <a:r>
              <a:rPr lang="en-US" b="1" dirty="0">
                <a:solidFill>
                  <a:srgbClr val="FFFFFF"/>
                </a:solidFill>
                <a:latin typeface="Cambria"/>
                <a:ea typeface="Cambria"/>
                <a:cs typeface="Cambria" pitchFamily="34" charset="-120"/>
              </a:rPr>
              <a:t>Lepszy prompt</a:t>
            </a:r>
            <a:endParaRPr lang="en-US">
              <a:latin typeface="Cambria"/>
              <a:ea typeface="Cambria"/>
              <a:cs typeface="Calibri"/>
            </a:endParaRPr>
          </a:p>
        </p:txBody>
      </p:sp>
      <p:sp>
        <p:nvSpPr>
          <p:cNvPr id="36" name="Text 34"/>
          <p:cNvSpPr/>
          <p:nvPr/>
        </p:nvSpPr>
        <p:spPr>
          <a:xfrm>
            <a:off x="3954372" y="4170627"/>
            <a:ext cx="5591674" cy="764692"/>
          </a:xfrm>
          <a:prstGeom prst="rect">
            <a:avLst/>
          </a:prstGeom>
          <a:noFill/>
          <a:ln/>
        </p:spPr>
        <p:txBody>
          <a:bodyPr wrap="square" lIns="0" tIns="0" rIns="0" bIns="0" rtlCol="0" anchor="t">
            <a:noAutofit/>
          </a:bodyPr>
          <a:lstStyle/>
          <a:p>
            <a:r>
              <a:rPr lang="en-US" sz="1600" i="1" dirty="0">
                <a:solidFill>
                  <a:srgbClr val="1E5C3D"/>
                </a:solidFill>
                <a:latin typeface="Calibri"/>
                <a:ea typeface="Calibri"/>
                <a:cs typeface="Calibri"/>
              </a:rPr>
              <a:t>„</a:t>
            </a:r>
            <a:r>
              <a:rPr lang="en-US" sz="1600" i="1" dirty="0" err="1">
                <a:solidFill>
                  <a:srgbClr val="1E5C3D"/>
                </a:solidFill>
                <a:latin typeface="Calibri"/>
                <a:ea typeface="Calibri"/>
                <a:cs typeface="Calibri"/>
              </a:rPr>
              <a:t>Jesteś</a:t>
            </a:r>
            <a:r>
              <a:rPr lang="en-US" sz="1600" i="1" dirty="0">
                <a:solidFill>
                  <a:srgbClr val="1E5C3D"/>
                </a:solidFill>
                <a:latin typeface="Calibri"/>
                <a:ea typeface="Calibri"/>
                <a:cs typeface="Calibri"/>
              </a:rPr>
              <a:t> </a:t>
            </a:r>
            <a:r>
              <a:rPr lang="en-US" sz="1600" i="1" dirty="0" err="1">
                <a:solidFill>
                  <a:srgbClr val="1E5C3D"/>
                </a:solidFill>
                <a:latin typeface="Calibri"/>
                <a:ea typeface="Calibri"/>
                <a:cs typeface="Calibri"/>
              </a:rPr>
              <a:t>asystentem</a:t>
            </a:r>
            <a:r>
              <a:rPr lang="en-US" sz="1600" i="1" dirty="0">
                <a:solidFill>
                  <a:srgbClr val="1E5C3D"/>
                </a:solidFill>
                <a:latin typeface="Calibri"/>
                <a:ea typeface="Calibri"/>
                <a:cs typeface="Calibri"/>
              </a:rPr>
              <a:t> </a:t>
            </a:r>
            <a:r>
              <a:rPr lang="en-US" sz="1600" i="1" dirty="0" err="1">
                <a:solidFill>
                  <a:srgbClr val="1E5C3D"/>
                </a:solidFill>
                <a:latin typeface="Calibri"/>
                <a:ea typeface="Calibri"/>
                <a:cs typeface="Calibri"/>
              </a:rPr>
              <a:t>badawczym</a:t>
            </a:r>
            <a:r>
              <a:rPr lang="en-US" sz="1600" i="1" dirty="0">
                <a:solidFill>
                  <a:srgbClr val="1E5C3D"/>
                </a:solidFill>
                <a:latin typeface="Calibri"/>
                <a:ea typeface="Calibri"/>
                <a:cs typeface="Calibri"/>
              </a:rPr>
              <a:t>. </a:t>
            </a:r>
            <a:r>
              <a:rPr lang="en-US" sz="1600" i="1" dirty="0" err="1">
                <a:solidFill>
                  <a:srgbClr val="1E5C3D"/>
                </a:solidFill>
                <a:latin typeface="Calibri"/>
                <a:ea typeface="Calibri"/>
                <a:cs typeface="Calibri"/>
              </a:rPr>
              <a:t>Wymień</a:t>
            </a:r>
            <a:r>
              <a:rPr lang="en-US" sz="1600" i="1" dirty="0">
                <a:solidFill>
                  <a:srgbClr val="1E5C3D"/>
                </a:solidFill>
                <a:latin typeface="Calibri"/>
                <a:ea typeface="Calibri"/>
                <a:cs typeface="Calibri"/>
              </a:rPr>
              <a:t> 5 </a:t>
            </a:r>
            <a:r>
              <a:rPr lang="en-US" sz="1600" i="1" dirty="0" err="1">
                <a:solidFill>
                  <a:srgbClr val="1E5C3D"/>
                </a:solidFill>
                <a:latin typeface="Calibri"/>
                <a:ea typeface="Calibri"/>
                <a:cs typeface="Calibri"/>
              </a:rPr>
              <a:t>operacjonalizacji</a:t>
            </a:r>
            <a:r>
              <a:rPr lang="en-US" sz="1600" i="1" dirty="0">
                <a:solidFill>
                  <a:srgbClr val="1E5C3D"/>
                </a:solidFill>
                <a:latin typeface="Calibri"/>
                <a:ea typeface="Calibri"/>
                <a:cs typeface="Calibri"/>
              </a:rPr>
              <a:t> </a:t>
            </a:r>
            <a:r>
              <a:rPr lang="en-US" sz="1600" i="1" dirty="0" err="1">
                <a:solidFill>
                  <a:srgbClr val="1E5C3D"/>
                </a:solidFill>
                <a:latin typeface="Calibri"/>
                <a:ea typeface="Calibri"/>
                <a:cs typeface="Calibri"/>
              </a:rPr>
              <a:t>lęku</a:t>
            </a:r>
            <a:r>
              <a:rPr lang="en-US" sz="1600" i="1" dirty="0">
                <a:solidFill>
                  <a:srgbClr val="1E5C3D"/>
                </a:solidFill>
                <a:latin typeface="Calibri"/>
                <a:ea typeface="Calibri"/>
                <a:cs typeface="Calibri"/>
              </a:rPr>
              <a:t> </a:t>
            </a:r>
            <a:r>
              <a:rPr lang="en-US" sz="1600" i="1" dirty="0" err="1">
                <a:solidFill>
                  <a:srgbClr val="1E5C3D"/>
                </a:solidFill>
                <a:latin typeface="Calibri"/>
                <a:ea typeface="Calibri"/>
                <a:cs typeface="Calibri"/>
              </a:rPr>
              <a:t>społecznego</a:t>
            </a:r>
            <a:r>
              <a:rPr lang="en-US" sz="1600" i="1" dirty="0">
                <a:solidFill>
                  <a:srgbClr val="1E5C3D"/>
                </a:solidFill>
                <a:latin typeface="Calibri"/>
                <a:ea typeface="Calibri"/>
                <a:cs typeface="Calibri"/>
              </a:rPr>
              <a:t> z </a:t>
            </a:r>
            <a:r>
              <a:rPr lang="en-US" sz="1600" i="1" dirty="0" err="1">
                <a:solidFill>
                  <a:srgbClr val="1E5C3D"/>
                </a:solidFill>
                <a:latin typeface="Calibri"/>
                <a:ea typeface="Calibri"/>
                <a:cs typeface="Calibri"/>
              </a:rPr>
              <a:t>badań</a:t>
            </a:r>
            <a:r>
              <a:rPr lang="en-US" sz="1600" i="1" dirty="0">
                <a:solidFill>
                  <a:srgbClr val="1E5C3D"/>
                </a:solidFill>
                <a:latin typeface="Calibri"/>
                <a:ea typeface="Calibri"/>
                <a:cs typeface="Calibri"/>
              </a:rPr>
              <a:t> 2020–2025. </a:t>
            </a:r>
            <a:r>
              <a:rPr lang="en-US" sz="1600" i="1" dirty="0" err="1">
                <a:solidFill>
                  <a:srgbClr val="1E5C3D"/>
                </a:solidFill>
                <a:latin typeface="Calibri"/>
                <a:ea typeface="Calibri"/>
                <a:cs typeface="Calibri"/>
              </a:rPr>
              <a:t>Dla</a:t>
            </a:r>
            <a:r>
              <a:rPr lang="en-US" sz="1600" i="1" dirty="0">
                <a:solidFill>
                  <a:srgbClr val="1E5C3D"/>
                </a:solidFill>
                <a:latin typeface="Calibri"/>
                <a:ea typeface="Calibri"/>
                <a:cs typeface="Calibri"/>
              </a:rPr>
              <a:t> </a:t>
            </a:r>
            <a:r>
              <a:rPr lang="en-US" sz="1600" i="1" dirty="0" err="1">
                <a:solidFill>
                  <a:srgbClr val="1E5C3D"/>
                </a:solidFill>
                <a:latin typeface="Calibri"/>
                <a:ea typeface="Calibri"/>
                <a:cs typeface="Calibri"/>
              </a:rPr>
              <a:t>każdej</a:t>
            </a:r>
            <a:r>
              <a:rPr lang="en-US" sz="1600" i="1" dirty="0">
                <a:solidFill>
                  <a:srgbClr val="1E5C3D"/>
                </a:solidFill>
                <a:latin typeface="Calibri"/>
                <a:ea typeface="Calibri"/>
                <a:cs typeface="Calibri"/>
              </a:rPr>
              <a:t>: </a:t>
            </a:r>
            <a:r>
              <a:rPr lang="en-US" sz="1600" i="1" dirty="0" err="1">
                <a:solidFill>
                  <a:srgbClr val="1E5C3D"/>
                </a:solidFill>
                <a:latin typeface="Calibri"/>
                <a:ea typeface="Calibri"/>
                <a:cs typeface="Calibri"/>
              </a:rPr>
              <a:t>miara</a:t>
            </a:r>
            <a:r>
              <a:rPr lang="en-US" sz="1600" i="1" dirty="0">
                <a:solidFill>
                  <a:srgbClr val="1E5C3D"/>
                </a:solidFill>
                <a:latin typeface="Calibri"/>
                <a:ea typeface="Calibri"/>
                <a:cs typeface="Calibri"/>
              </a:rPr>
              <a:t>, </a:t>
            </a:r>
            <a:r>
              <a:rPr lang="en-US" sz="1600" i="1" dirty="0" err="1">
                <a:solidFill>
                  <a:srgbClr val="1E5C3D"/>
                </a:solidFill>
                <a:latin typeface="Calibri"/>
                <a:ea typeface="Calibri"/>
                <a:cs typeface="Calibri"/>
              </a:rPr>
              <a:t>typ</a:t>
            </a:r>
            <a:r>
              <a:rPr lang="en-US" sz="1600" i="1" dirty="0">
                <a:solidFill>
                  <a:srgbClr val="1E5C3D"/>
                </a:solidFill>
                <a:latin typeface="Calibri"/>
                <a:ea typeface="Calibri"/>
                <a:cs typeface="Calibri"/>
              </a:rPr>
              <a:t> </a:t>
            </a:r>
            <a:r>
              <a:rPr lang="en-US" sz="1600" i="1" dirty="0" err="1">
                <a:solidFill>
                  <a:srgbClr val="1E5C3D"/>
                </a:solidFill>
                <a:latin typeface="Calibri"/>
                <a:ea typeface="Calibri"/>
                <a:cs typeface="Calibri"/>
              </a:rPr>
              <a:t>danych</a:t>
            </a:r>
            <a:r>
              <a:rPr lang="en-US" sz="1600" i="1" dirty="0">
                <a:solidFill>
                  <a:srgbClr val="1E5C3D"/>
                </a:solidFill>
                <a:latin typeface="Calibri"/>
                <a:ea typeface="Calibri"/>
                <a:cs typeface="Calibri"/>
              </a:rPr>
              <a:t>, </a:t>
            </a:r>
            <a:r>
              <a:rPr lang="en-US" sz="1600" i="1" dirty="0" err="1">
                <a:solidFill>
                  <a:srgbClr val="1E5C3D"/>
                </a:solidFill>
                <a:latin typeface="Calibri"/>
                <a:ea typeface="Calibri"/>
                <a:cs typeface="Calibri"/>
              </a:rPr>
              <a:t>ograniczenie</a:t>
            </a:r>
            <a:r>
              <a:rPr lang="en-US" sz="1600" i="1" dirty="0">
                <a:solidFill>
                  <a:srgbClr val="1E5C3D"/>
                </a:solidFill>
                <a:latin typeface="Calibri"/>
                <a:ea typeface="Calibri"/>
                <a:cs typeface="Calibri"/>
              </a:rPr>
              <a:t>. Format: </a:t>
            </a:r>
            <a:r>
              <a:rPr lang="en-US" sz="1600" i="1" dirty="0" err="1">
                <a:solidFill>
                  <a:srgbClr val="1E5C3D"/>
                </a:solidFill>
                <a:latin typeface="Calibri"/>
                <a:ea typeface="Calibri"/>
                <a:cs typeface="Calibri"/>
              </a:rPr>
              <a:t>lista</a:t>
            </a:r>
            <a:r>
              <a:rPr lang="en-US" sz="1600" i="1" dirty="0">
                <a:solidFill>
                  <a:srgbClr val="1E5C3D"/>
                </a:solidFill>
                <a:latin typeface="Calibri"/>
                <a:ea typeface="Calibri"/>
                <a:cs typeface="Calibri"/>
              </a:rPr>
              <a:t>.”</a:t>
            </a:r>
            <a:endParaRPr lang="en-US" sz="1600">
              <a:latin typeface="Calibri"/>
              <a:ea typeface="Calibri"/>
              <a:cs typeface="Calibri"/>
            </a:endParaRPr>
          </a:p>
        </p:txBody>
      </p:sp>
      <p:sp>
        <p:nvSpPr>
          <p:cNvPr id="37" name="Text 35"/>
          <p:cNvSpPr/>
          <p:nvPr/>
        </p:nvSpPr>
        <p:spPr>
          <a:xfrm>
            <a:off x="403225" y="5186662"/>
            <a:ext cx="9122965" cy="342741"/>
          </a:xfrm>
          <a:prstGeom prst="rect">
            <a:avLst/>
          </a:prstGeom>
          <a:noFill/>
          <a:ln/>
        </p:spPr>
        <p:txBody>
          <a:bodyPr wrap="square" lIns="0" tIns="0" rIns="0" bIns="0" rtlCol="0" anchor="ctr">
            <a:noAutofit/>
          </a:bodyPr>
          <a:lstStyle/>
          <a:p>
            <a:pPr algn="ctr"/>
            <a:r>
              <a:rPr lang="pl-PL" sz="1600" dirty="0">
                <a:solidFill>
                  <a:srgbClr val="1E2761"/>
                </a:solidFill>
                <a:latin typeface="Cambria Math" panose="02040503050406030204" pitchFamily="18" charset="0"/>
                <a:ea typeface="Cambria Math" panose="02040503050406030204" pitchFamily="18" charset="0"/>
                <a:cs typeface="Calibri" pitchFamily="34" charset="-120"/>
              </a:rPr>
              <a:t>P</a:t>
            </a:r>
            <a:r>
              <a:rPr lang="en-US" sz="1600" dirty="0" err="1">
                <a:solidFill>
                  <a:srgbClr val="1E2761"/>
                </a:solidFill>
                <a:latin typeface="Cambria Math" panose="02040503050406030204" pitchFamily="18" charset="0"/>
                <a:ea typeface="Cambria Math" panose="02040503050406030204" pitchFamily="18" charset="0"/>
                <a:cs typeface="Calibri" pitchFamily="34" charset="-120"/>
              </a:rPr>
              <a:t>rompt</a:t>
            </a:r>
            <a:r>
              <a:rPr lang="en-US" sz="1600" dirty="0">
                <a:solidFill>
                  <a:srgbClr val="1E2761"/>
                </a:solidFill>
                <a:latin typeface="Cambria Math" panose="02040503050406030204" pitchFamily="18" charset="0"/>
                <a:ea typeface="Cambria Math" panose="02040503050406030204" pitchFamily="18" charset="0"/>
                <a:cs typeface="Calibri" pitchFamily="34" charset="-120"/>
              </a:rPr>
              <a:t> powinien określać rolę, dane wejściowe, kryteria jakości, format wyjścia i sposób </a:t>
            </a:r>
            <a:r>
              <a:rPr lang="en-US" sz="1600" dirty="0" err="1">
                <a:solidFill>
                  <a:srgbClr val="1E2761"/>
                </a:solidFill>
                <a:latin typeface="Cambria Math" panose="02040503050406030204" pitchFamily="18" charset="0"/>
                <a:ea typeface="Cambria Math" panose="02040503050406030204" pitchFamily="18" charset="0"/>
                <a:cs typeface="Calibri" pitchFamily="34" charset="-120"/>
              </a:rPr>
              <a:t>kontroli</a:t>
            </a:r>
            <a:r>
              <a:rPr lang="en-US" sz="1600" dirty="0">
                <a:solidFill>
                  <a:srgbClr val="1E2761"/>
                </a:solidFill>
                <a:latin typeface="Cambria Math" panose="02040503050406030204" pitchFamily="18" charset="0"/>
                <a:ea typeface="Cambria Math" panose="02040503050406030204" pitchFamily="18" charset="0"/>
                <a:cs typeface="Calibri" pitchFamily="34" charset="-120"/>
              </a:rPr>
              <a:t> </a:t>
            </a:r>
            <a:r>
              <a:rPr lang="en-US" sz="1600" dirty="0" err="1">
                <a:solidFill>
                  <a:srgbClr val="1E2761"/>
                </a:solidFill>
                <a:latin typeface="Cambria Math" panose="02040503050406030204" pitchFamily="18" charset="0"/>
                <a:ea typeface="Cambria Math" panose="02040503050406030204" pitchFamily="18" charset="0"/>
                <a:cs typeface="Calibri" pitchFamily="34" charset="-120"/>
              </a:rPr>
              <a:t>faktów</a:t>
            </a:r>
            <a:endParaRPr lang="en-US" sz="16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7126555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47" name="Shape 781"/>
          <p:cNvSpPr/>
          <p:nvPr/>
        </p:nvSpPr>
        <p:spPr>
          <a:xfrm>
            <a:off x="360" y="360"/>
            <a:ext cx="10079640" cy="1107720"/>
          </a:xfrm>
          <a:prstGeom prst="rect">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248" name="Text 862"/>
          <p:cNvSpPr/>
          <p:nvPr/>
        </p:nvSpPr>
        <p:spPr>
          <a:xfrm>
            <a:off x="503640" y="0"/>
            <a:ext cx="9071640" cy="1107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2600" b="1" u="none" strike="noStrike">
                <a:solidFill>
                  <a:srgbClr val="FFFFFF"/>
                </a:solidFill>
                <a:effectLst/>
                <a:uFillTx/>
                <a:latin typeface="Cambria"/>
                <a:ea typeface="Cambria"/>
              </a:rPr>
              <a:t>AI NIE ZASTĘPUJE TEORII</a:t>
            </a:r>
            <a:endParaRPr lang="pl-PL" sz="2600" b="0" u="none" strike="noStrike">
              <a:solidFill>
                <a:srgbClr val="000000"/>
              </a:solidFill>
              <a:effectLst/>
              <a:uFillTx/>
              <a:latin typeface="Arial"/>
            </a:endParaRPr>
          </a:p>
        </p:txBody>
      </p:sp>
      <p:sp>
        <p:nvSpPr>
          <p:cNvPr id="249" name="Shape 782"/>
          <p:cNvSpPr/>
          <p:nvPr/>
        </p:nvSpPr>
        <p:spPr>
          <a:xfrm>
            <a:off x="403200" y="1260000"/>
            <a:ext cx="4333320" cy="3438360"/>
          </a:xfrm>
          <a:prstGeom prst="roundRect">
            <a:avLst>
              <a:gd name="adj" fmla="val 3158"/>
            </a:avLst>
          </a:prstGeom>
          <a:solidFill>
            <a:srgbClr val="EEF3FF"/>
          </a:solidFill>
          <a:ln w="0">
            <a:solidFill>
              <a:schemeClr val="accent1"/>
            </a:solidFill>
          </a:ln>
          <a:effectLst>
            <a:outerShdw blurRad="101520" dist="37674"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250" name="Text 863"/>
          <p:cNvSpPr/>
          <p:nvPr/>
        </p:nvSpPr>
        <p:spPr>
          <a:xfrm>
            <a:off x="402840" y="1310400"/>
            <a:ext cx="433368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100" b="1" u="none" strike="noStrike">
                <a:solidFill>
                  <a:srgbClr val="1E2761"/>
                </a:solidFill>
                <a:effectLst/>
                <a:uFillTx/>
                <a:latin typeface="Cambria"/>
                <a:ea typeface="Cambria"/>
              </a:rPr>
              <a:t>CO AI MOŻE WSPIERAĆ</a:t>
            </a:r>
            <a:endParaRPr lang="pl-PL" sz="2100" b="0" u="none" strike="noStrike">
              <a:solidFill>
                <a:srgbClr val="000000"/>
              </a:solidFill>
              <a:effectLst/>
              <a:uFillTx/>
              <a:latin typeface="Arial"/>
            </a:endParaRPr>
          </a:p>
        </p:txBody>
      </p:sp>
      <p:sp>
        <p:nvSpPr>
          <p:cNvPr id="251" name="Shape 783"/>
          <p:cNvSpPr/>
          <p:nvPr/>
        </p:nvSpPr>
        <p:spPr>
          <a:xfrm>
            <a:off x="655200" y="1985760"/>
            <a:ext cx="220680" cy="220680"/>
          </a:xfrm>
          <a:prstGeom prst="ellipse">
            <a:avLst/>
          </a:prstGeom>
          <a:solidFill>
            <a:srgbClr val="5B8FF9"/>
          </a:solidFill>
          <a:ln w="12700">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52" name="Text 864"/>
          <p:cNvSpPr/>
          <p:nvPr/>
        </p:nvSpPr>
        <p:spPr>
          <a:xfrm>
            <a:off x="957600" y="1915200"/>
            <a:ext cx="3577680" cy="45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800" b="0" u="none" strike="noStrike">
                <a:solidFill>
                  <a:srgbClr val="1A1F3C"/>
                </a:solidFill>
                <a:effectLst/>
                <a:uFillTx/>
                <a:latin typeface="Calibri"/>
                <a:ea typeface="Calibri"/>
              </a:rPr>
              <a:t>Przegląd terminologii i pojęć</a:t>
            </a:r>
            <a:endParaRPr lang="pl-PL" sz="1800" b="0" u="none" strike="noStrike">
              <a:solidFill>
                <a:srgbClr val="000000"/>
              </a:solidFill>
              <a:effectLst/>
              <a:uFillTx/>
              <a:latin typeface="Arial"/>
            </a:endParaRPr>
          </a:p>
        </p:txBody>
      </p:sp>
      <p:sp>
        <p:nvSpPr>
          <p:cNvPr id="253" name="Shape 784"/>
          <p:cNvSpPr/>
          <p:nvPr/>
        </p:nvSpPr>
        <p:spPr>
          <a:xfrm>
            <a:off x="655200" y="2520000"/>
            <a:ext cx="220680" cy="220680"/>
          </a:xfrm>
          <a:prstGeom prst="ellipse">
            <a:avLst/>
          </a:prstGeom>
          <a:solidFill>
            <a:srgbClr val="5B8FF9"/>
          </a:solidFill>
          <a:ln w="12700">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54" name="Text 865"/>
          <p:cNvSpPr/>
          <p:nvPr/>
        </p:nvSpPr>
        <p:spPr>
          <a:xfrm>
            <a:off x="957600" y="2449440"/>
            <a:ext cx="3577680" cy="45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800" b="0" u="none" strike="noStrike">
                <a:solidFill>
                  <a:srgbClr val="1A1F3C"/>
                </a:solidFill>
                <a:effectLst/>
                <a:uFillTx/>
                <a:latin typeface="Calibri"/>
                <a:ea typeface="Calibri"/>
              </a:rPr>
              <a:t>Generowanie hipotez alter.</a:t>
            </a:r>
            <a:endParaRPr lang="pl-PL" sz="1800" b="0" u="none" strike="noStrike">
              <a:solidFill>
                <a:srgbClr val="000000"/>
              </a:solidFill>
              <a:effectLst/>
              <a:uFillTx/>
              <a:latin typeface="Arial"/>
            </a:endParaRPr>
          </a:p>
        </p:txBody>
      </p:sp>
      <p:sp>
        <p:nvSpPr>
          <p:cNvPr id="255" name="Shape 785"/>
          <p:cNvSpPr/>
          <p:nvPr/>
        </p:nvSpPr>
        <p:spPr>
          <a:xfrm>
            <a:off x="655200" y="3054240"/>
            <a:ext cx="220680" cy="220680"/>
          </a:xfrm>
          <a:prstGeom prst="ellipse">
            <a:avLst/>
          </a:prstGeom>
          <a:solidFill>
            <a:srgbClr val="5B8FF9"/>
          </a:solidFill>
          <a:ln w="12700">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56" name="Text 866"/>
          <p:cNvSpPr/>
          <p:nvPr/>
        </p:nvSpPr>
        <p:spPr>
          <a:xfrm>
            <a:off x="957600" y="2983680"/>
            <a:ext cx="3577680" cy="45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800" b="0" u="none" strike="noStrike">
                <a:solidFill>
                  <a:srgbClr val="1A1F3C"/>
                </a:solidFill>
                <a:effectLst/>
                <a:uFillTx/>
                <a:latin typeface="Calibri"/>
                <a:ea typeface="Calibri"/>
              </a:rPr>
              <a:t>Strukturyzacja tekstu i argumentacji</a:t>
            </a:r>
            <a:endParaRPr lang="pl-PL" sz="1800" b="0" u="none" strike="noStrike">
              <a:solidFill>
                <a:srgbClr val="000000"/>
              </a:solidFill>
              <a:effectLst/>
              <a:uFillTx/>
              <a:latin typeface="Arial"/>
            </a:endParaRPr>
          </a:p>
        </p:txBody>
      </p:sp>
      <p:sp>
        <p:nvSpPr>
          <p:cNvPr id="257" name="Shape 786"/>
          <p:cNvSpPr/>
          <p:nvPr/>
        </p:nvSpPr>
        <p:spPr>
          <a:xfrm>
            <a:off x="655200" y="3588480"/>
            <a:ext cx="220680" cy="220680"/>
          </a:xfrm>
          <a:prstGeom prst="ellipse">
            <a:avLst/>
          </a:prstGeom>
          <a:solidFill>
            <a:srgbClr val="5B8FF9"/>
          </a:solidFill>
          <a:ln w="12700">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58" name="Text 867"/>
          <p:cNvSpPr/>
          <p:nvPr/>
        </p:nvSpPr>
        <p:spPr>
          <a:xfrm>
            <a:off x="957600" y="3518280"/>
            <a:ext cx="3577680" cy="45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800" b="0" u="none" strike="noStrike">
                <a:solidFill>
                  <a:srgbClr val="1A1F3C"/>
                </a:solidFill>
                <a:effectLst/>
                <a:uFillTx/>
                <a:latin typeface="Calibri"/>
                <a:ea typeface="Calibri"/>
              </a:rPr>
              <a:t>Szybkie podsumowania literatury</a:t>
            </a:r>
            <a:endParaRPr lang="pl-PL" sz="1800" b="0" u="none" strike="noStrike">
              <a:solidFill>
                <a:srgbClr val="000000"/>
              </a:solidFill>
              <a:effectLst/>
              <a:uFillTx/>
              <a:latin typeface="Arial"/>
            </a:endParaRPr>
          </a:p>
        </p:txBody>
      </p:sp>
      <p:sp>
        <p:nvSpPr>
          <p:cNvPr id="259" name="Shape 787"/>
          <p:cNvSpPr/>
          <p:nvPr/>
        </p:nvSpPr>
        <p:spPr>
          <a:xfrm>
            <a:off x="655200" y="4123080"/>
            <a:ext cx="220680" cy="220680"/>
          </a:xfrm>
          <a:prstGeom prst="ellipse">
            <a:avLst/>
          </a:prstGeom>
          <a:solidFill>
            <a:srgbClr val="5B8FF9"/>
          </a:solidFill>
          <a:ln w="12700">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60" name="Text 868"/>
          <p:cNvSpPr/>
          <p:nvPr/>
        </p:nvSpPr>
        <p:spPr>
          <a:xfrm>
            <a:off x="957600" y="4052520"/>
            <a:ext cx="3577680" cy="45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800" b="0" u="none" strike="noStrike">
                <a:solidFill>
                  <a:srgbClr val="1A1F3C"/>
                </a:solidFill>
                <a:effectLst/>
                <a:uFillTx/>
                <a:latin typeface="Calibri"/>
                <a:ea typeface="Calibri"/>
              </a:rPr>
              <a:t>Tworzenie roboczych konspektów</a:t>
            </a:r>
            <a:endParaRPr lang="pl-PL" sz="1800" b="0" u="none" strike="noStrike">
              <a:solidFill>
                <a:srgbClr val="000000"/>
              </a:solidFill>
              <a:effectLst/>
              <a:uFillTx/>
              <a:latin typeface="Arial"/>
            </a:endParaRPr>
          </a:p>
        </p:txBody>
      </p:sp>
      <p:sp>
        <p:nvSpPr>
          <p:cNvPr id="261" name="Shape 788"/>
          <p:cNvSpPr/>
          <p:nvPr/>
        </p:nvSpPr>
        <p:spPr>
          <a:xfrm>
            <a:off x="5342760" y="1260000"/>
            <a:ext cx="4333320" cy="3438360"/>
          </a:xfrm>
          <a:prstGeom prst="roundRect">
            <a:avLst>
              <a:gd name="adj" fmla="val 3158"/>
            </a:avLst>
          </a:prstGeom>
          <a:solidFill>
            <a:srgbClr val="FFF0F0"/>
          </a:solidFill>
          <a:ln w="0">
            <a:solidFill>
              <a:schemeClr val="accent2"/>
            </a:solidFill>
          </a:ln>
          <a:effectLst>
            <a:outerShdw blurRad="101520" dist="37674"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262" name="Text 869"/>
          <p:cNvSpPr/>
          <p:nvPr/>
        </p:nvSpPr>
        <p:spPr>
          <a:xfrm>
            <a:off x="5342400" y="1310400"/>
            <a:ext cx="433368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100" b="1" u="none" strike="noStrike" dirty="0">
                <a:solidFill>
                  <a:srgbClr val="E05C5C"/>
                </a:solidFill>
                <a:effectLst/>
                <a:uFillTx/>
                <a:latin typeface="Cambria"/>
                <a:ea typeface="Cambria"/>
              </a:rPr>
              <a:t>CZEGO AI NIE ZASTĄPI</a:t>
            </a:r>
            <a:endParaRPr lang="pl-PL" sz="2100" b="0" u="none" strike="noStrike" dirty="0">
              <a:solidFill>
                <a:srgbClr val="000000"/>
              </a:solidFill>
              <a:effectLst/>
              <a:uFillTx/>
              <a:latin typeface="Arial"/>
            </a:endParaRPr>
          </a:p>
        </p:txBody>
      </p:sp>
      <p:sp>
        <p:nvSpPr>
          <p:cNvPr id="263" name="Shape 789"/>
          <p:cNvSpPr/>
          <p:nvPr/>
        </p:nvSpPr>
        <p:spPr>
          <a:xfrm>
            <a:off x="5594760" y="1985760"/>
            <a:ext cx="220680" cy="220680"/>
          </a:xfrm>
          <a:prstGeom prst="ellipse">
            <a:avLst/>
          </a:prstGeom>
          <a:solidFill>
            <a:srgbClr val="E05C5C"/>
          </a:solidFill>
          <a:ln w="12700">
            <a:solidFill>
              <a:srgbClr val="E05C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64" name="Text 870"/>
          <p:cNvSpPr/>
          <p:nvPr/>
        </p:nvSpPr>
        <p:spPr>
          <a:xfrm>
            <a:off x="5897160" y="1915200"/>
            <a:ext cx="3577680" cy="45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800" b="0" u="none" strike="noStrike" dirty="0">
                <a:solidFill>
                  <a:srgbClr val="1A1F3C"/>
                </a:solidFill>
                <a:effectLst/>
                <a:uFillTx/>
                <a:latin typeface="Calibri"/>
                <a:ea typeface="Calibri"/>
              </a:rPr>
              <a:t>Trafność </a:t>
            </a:r>
            <a:r>
              <a:rPr lang="pl-PL" sz="1800" b="0" u="none" strike="noStrike" dirty="0" err="1">
                <a:solidFill>
                  <a:srgbClr val="1A1F3C"/>
                </a:solidFill>
                <a:effectLst/>
                <a:uFillTx/>
                <a:latin typeface="Calibri"/>
                <a:ea typeface="Calibri"/>
              </a:rPr>
              <a:t>konstruktowa</a:t>
            </a:r>
            <a:endParaRPr lang="pl-PL" sz="1800" b="0" u="none" strike="noStrike" dirty="0">
              <a:solidFill>
                <a:srgbClr val="000000"/>
              </a:solidFill>
              <a:effectLst/>
              <a:uFillTx/>
              <a:latin typeface="Arial"/>
            </a:endParaRPr>
          </a:p>
        </p:txBody>
      </p:sp>
      <p:sp>
        <p:nvSpPr>
          <p:cNvPr id="265" name="Shape 790"/>
          <p:cNvSpPr/>
          <p:nvPr/>
        </p:nvSpPr>
        <p:spPr>
          <a:xfrm>
            <a:off x="5594760" y="2520000"/>
            <a:ext cx="220680" cy="220680"/>
          </a:xfrm>
          <a:prstGeom prst="ellipse">
            <a:avLst/>
          </a:prstGeom>
          <a:solidFill>
            <a:srgbClr val="E05C5C"/>
          </a:solidFill>
          <a:ln w="12700">
            <a:solidFill>
              <a:srgbClr val="E05C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66" name="Text 871"/>
          <p:cNvSpPr/>
          <p:nvPr/>
        </p:nvSpPr>
        <p:spPr>
          <a:xfrm>
            <a:off x="5897160" y="2449440"/>
            <a:ext cx="3577680" cy="45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800" b="0" u="none" strike="noStrike">
                <a:solidFill>
                  <a:srgbClr val="1A1F3C"/>
                </a:solidFill>
                <a:effectLst/>
                <a:uFillTx/>
                <a:latin typeface="Calibri"/>
                <a:ea typeface="Calibri"/>
              </a:rPr>
              <a:t>Wiedza metodologiczna badacza</a:t>
            </a:r>
            <a:endParaRPr lang="pl-PL" sz="1800" b="0" u="none" strike="noStrike">
              <a:solidFill>
                <a:srgbClr val="000000"/>
              </a:solidFill>
              <a:effectLst/>
              <a:uFillTx/>
              <a:latin typeface="Arial"/>
            </a:endParaRPr>
          </a:p>
        </p:txBody>
      </p:sp>
      <p:sp>
        <p:nvSpPr>
          <p:cNvPr id="267" name="Shape 791"/>
          <p:cNvSpPr/>
          <p:nvPr/>
        </p:nvSpPr>
        <p:spPr>
          <a:xfrm>
            <a:off x="5594760" y="3054240"/>
            <a:ext cx="220680" cy="220680"/>
          </a:xfrm>
          <a:prstGeom prst="ellipse">
            <a:avLst/>
          </a:prstGeom>
          <a:solidFill>
            <a:srgbClr val="E05C5C"/>
          </a:solidFill>
          <a:ln w="12700">
            <a:solidFill>
              <a:srgbClr val="E05C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68" name="Text 872"/>
          <p:cNvSpPr/>
          <p:nvPr/>
        </p:nvSpPr>
        <p:spPr>
          <a:xfrm>
            <a:off x="5897160" y="2983680"/>
            <a:ext cx="3577680" cy="45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800" b="0" u="none" strike="noStrike" dirty="0">
                <a:solidFill>
                  <a:srgbClr val="1A1F3C"/>
                </a:solidFill>
                <a:effectLst/>
                <a:uFillTx/>
                <a:latin typeface="Calibri"/>
                <a:ea typeface="Calibri"/>
              </a:rPr>
              <a:t>Weryfikacja empiryczna twierdzeń</a:t>
            </a:r>
            <a:endParaRPr lang="pl-PL" sz="1800" b="0" u="none" strike="noStrike" dirty="0">
              <a:solidFill>
                <a:srgbClr val="000000"/>
              </a:solidFill>
              <a:effectLst/>
              <a:uFillTx/>
              <a:latin typeface="Arial"/>
            </a:endParaRPr>
          </a:p>
        </p:txBody>
      </p:sp>
      <p:sp>
        <p:nvSpPr>
          <p:cNvPr id="269" name="Shape 792"/>
          <p:cNvSpPr/>
          <p:nvPr/>
        </p:nvSpPr>
        <p:spPr>
          <a:xfrm>
            <a:off x="5594760" y="3588480"/>
            <a:ext cx="220680" cy="220680"/>
          </a:xfrm>
          <a:prstGeom prst="ellipse">
            <a:avLst/>
          </a:prstGeom>
          <a:solidFill>
            <a:srgbClr val="E05C5C"/>
          </a:solidFill>
          <a:ln w="12700">
            <a:solidFill>
              <a:srgbClr val="E05C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70" name="Text 873"/>
          <p:cNvSpPr/>
          <p:nvPr/>
        </p:nvSpPr>
        <p:spPr>
          <a:xfrm>
            <a:off x="5897160" y="3518280"/>
            <a:ext cx="3577680" cy="45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800" b="0" u="none" strike="noStrike">
                <a:solidFill>
                  <a:srgbClr val="1A1F3C"/>
                </a:solidFill>
                <a:effectLst/>
                <a:uFillTx/>
                <a:latin typeface="Calibri"/>
                <a:ea typeface="Calibri"/>
              </a:rPr>
              <a:t>Odpowiedzialność naukowa</a:t>
            </a:r>
            <a:endParaRPr lang="pl-PL" sz="1800" b="0" u="none" strike="noStrike">
              <a:solidFill>
                <a:srgbClr val="000000"/>
              </a:solidFill>
              <a:effectLst/>
              <a:uFillTx/>
              <a:latin typeface="Arial"/>
            </a:endParaRPr>
          </a:p>
        </p:txBody>
      </p:sp>
      <p:sp>
        <p:nvSpPr>
          <p:cNvPr id="271" name="Shape 793"/>
          <p:cNvSpPr/>
          <p:nvPr/>
        </p:nvSpPr>
        <p:spPr>
          <a:xfrm>
            <a:off x="5594760" y="4123080"/>
            <a:ext cx="220680" cy="220680"/>
          </a:xfrm>
          <a:prstGeom prst="ellipse">
            <a:avLst/>
          </a:prstGeom>
          <a:solidFill>
            <a:srgbClr val="E05C5C"/>
          </a:solidFill>
          <a:ln w="12700">
            <a:solidFill>
              <a:srgbClr val="E05C5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72" name="Text 874"/>
          <p:cNvSpPr/>
          <p:nvPr/>
        </p:nvSpPr>
        <p:spPr>
          <a:xfrm>
            <a:off x="5897160" y="4052520"/>
            <a:ext cx="3577680" cy="45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800" b="1" u="none" strike="noStrike">
                <a:solidFill>
                  <a:srgbClr val="E05C5C"/>
                </a:solidFill>
                <a:effectLst/>
                <a:uFillTx/>
                <a:latin typeface="Calibri"/>
                <a:ea typeface="Calibri"/>
              </a:rPr>
              <a:t>Weryfikacja cytowań (!)</a:t>
            </a:r>
            <a:endParaRPr lang="pl-PL" sz="1800" b="0" u="none" strike="noStrike">
              <a:solidFill>
                <a:srgbClr val="000000"/>
              </a:solidFill>
              <a:effectLst/>
              <a:uFillTx/>
              <a:latin typeface="Arial"/>
            </a:endParaRPr>
          </a:p>
        </p:txBody>
      </p:sp>
      <p:sp>
        <p:nvSpPr>
          <p:cNvPr id="273" name="Shape 794"/>
          <p:cNvSpPr/>
          <p:nvPr/>
        </p:nvSpPr>
        <p:spPr>
          <a:xfrm>
            <a:off x="402840" y="5011920"/>
            <a:ext cx="9273240" cy="501120"/>
          </a:xfrm>
          <a:prstGeom prst="roundRect">
            <a:avLst>
              <a:gd name="adj" fmla="val 14286"/>
            </a:avLst>
          </a:prstGeom>
          <a:solidFill>
            <a:srgbClr val="FFF3CD"/>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600" b="1" u="none" strike="noStrike" dirty="0">
                <a:solidFill>
                  <a:srgbClr val="7B4F00"/>
                </a:solidFill>
                <a:effectLst/>
                <a:uFillTx/>
                <a:latin typeface="Cambria Math" panose="02040503050406030204" pitchFamily="18" charset="0"/>
                <a:ea typeface="Cambria Math" panose="02040503050406030204" pitchFamily="18" charset="0"/>
              </a:rPr>
              <a:t>Halucynacje </a:t>
            </a:r>
            <a:r>
              <a:rPr lang="pl-PL" sz="1600" b="1" u="none" strike="noStrike" dirty="0" err="1">
                <a:solidFill>
                  <a:srgbClr val="7B4F00"/>
                </a:solidFill>
                <a:effectLst/>
                <a:uFillTx/>
                <a:latin typeface="Cambria Math" panose="02040503050406030204" pitchFamily="18" charset="0"/>
                <a:ea typeface="Cambria Math" panose="02040503050406030204" pitchFamily="18" charset="0"/>
              </a:rPr>
              <a:t>cytowań</a:t>
            </a:r>
            <a:r>
              <a:rPr lang="pl-PL" sz="1600" u="none" strike="noStrike" dirty="0">
                <a:solidFill>
                  <a:srgbClr val="7B4F00"/>
                </a:solidFill>
                <a:effectLst/>
                <a:uFillTx/>
                <a:latin typeface="Cambria Math" panose="02040503050406030204" pitchFamily="18" charset="0"/>
                <a:ea typeface="Cambria Math" panose="02040503050406030204" pitchFamily="18" charset="0"/>
              </a:rPr>
              <a:t>: modele generują nieistniejące artykuły z pełną precyzją. Weryfikuj każde źródło.</a:t>
            </a:r>
            <a:endParaRPr lang="pl-PL" sz="1600" u="none" strike="noStrike" dirty="0">
              <a:solidFill>
                <a:srgbClr val="000000"/>
              </a:solidFill>
              <a:effectLst/>
              <a:uFillTx/>
              <a:latin typeface="Cambria Math" panose="02040503050406030204" pitchFamily="18" charset="0"/>
              <a:ea typeface="Cambria Math" panose="020405030504060302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74" name="Shape 795"/>
          <p:cNvSpPr/>
          <p:nvPr/>
        </p:nvSpPr>
        <p:spPr>
          <a:xfrm>
            <a:off x="360" y="360"/>
            <a:ext cx="10079640" cy="1107720"/>
          </a:xfrm>
          <a:prstGeom prst="rect">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275" name="Text 876"/>
          <p:cNvSpPr/>
          <p:nvPr/>
        </p:nvSpPr>
        <p:spPr>
          <a:xfrm>
            <a:off x="503640" y="0"/>
            <a:ext cx="9071640" cy="1107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2200" b="1" u="none" strike="noStrike">
                <a:solidFill>
                  <a:srgbClr val="FFFFFF"/>
                </a:solidFill>
                <a:effectLst/>
                <a:uFillTx/>
                <a:latin typeface="Cambria"/>
                <a:ea typeface="Cambria"/>
              </a:rPr>
              <a:t>PRZEGLĄD LITERATURY: NARZĘDZIA PRAKTYCZNE</a:t>
            </a:r>
            <a:endParaRPr lang="pl-PL" sz="2200" b="0" u="none" strike="noStrike">
              <a:solidFill>
                <a:srgbClr val="000000"/>
              </a:solidFill>
              <a:effectLst/>
              <a:uFillTx/>
              <a:latin typeface="Arial"/>
            </a:endParaRPr>
          </a:p>
        </p:txBody>
      </p:sp>
      <p:sp>
        <p:nvSpPr>
          <p:cNvPr id="276" name="Shape 796"/>
          <p:cNvSpPr/>
          <p:nvPr/>
        </p:nvSpPr>
        <p:spPr>
          <a:xfrm>
            <a:off x="503640" y="1360800"/>
            <a:ext cx="2620080" cy="704520"/>
          </a:xfrm>
          <a:prstGeom prst="roundRect">
            <a:avLst>
              <a:gd name="adj" fmla="val 11429"/>
            </a:avLst>
          </a:prstGeom>
          <a:solidFill>
            <a:schemeClr val="accent5">
              <a:lumMod val="20000"/>
              <a:lumOff val="80000"/>
              <a:alpha val="85000"/>
            </a:schemeClr>
          </a:solidFill>
          <a:ln w="0">
            <a:solidFill>
              <a:srgbClr val="3465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277" name="Text 877"/>
          <p:cNvSpPr/>
          <p:nvPr/>
        </p:nvSpPr>
        <p:spPr>
          <a:xfrm>
            <a:off x="503640" y="1382625"/>
            <a:ext cx="2620080" cy="351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000" b="1" u="none" strike="noStrike" dirty="0">
                <a:solidFill>
                  <a:srgbClr val="1E2761"/>
                </a:solidFill>
                <a:effectLst/>
                <a:uFillTx/>
                <a:latin typeface="Cambria"/>
                <a:ea typeface="Cambria"/>
              </a:rPr>
              <a:t>1. Eksploracja</a:t>
            </a:r>
            <a:endParaRPr lang="pl-PL" sz="2000" b="0" u="none" strike="noStrike" dirty="0">
              <a:solidFill>
                <a:srgbClr val="000000"/>
              </a:solidFill>
              <a:effectLst/>
              <a:uFillTx/>
              <a:latin typeface="Arial"/>
            </a:endParaRPr>
          </a:p>
        </p:txBody>
      </p:sp>
      <p:sp>
        <p:nvSpPr>
          <p:cNvPr id="278" name="Text 878"/>
          <p:cNvSpPr/>
          <p:nvPr/>
        </p:nvSpPr>
        <p:spPr>
          <a:xfrm>
            <a:off x="503640" y="1743840"/>
            <a:ext cx="2620080" cy="30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600" b="0" u="none" strike="noStrike">
                <a:solidFill>
                  <a:srgbClr val="4A5280"/>
                </a:solidFill>
                <a:effectLst/>
                <a:uFillTx/>
                <a:latin typeface="Calibri"/>
                <a:ea typeface="Calibri"/>
              </a:rPr>
              <a:t>Szerokie wyszukiwanie</a:t>
            </a:r>
            <a:endParaRPr lang="pl-PL" sz="1600" b="0" u="none" strike="noStrike">
              <a:solidFill>
                <a:srgbClr val="000000"/>
              </a:solidFill>
              <a:effectLst/>
              <a:uFillTx/>
              <a:latin typeface="Arial"/>
            </a:endParaRPr>
          </a:p>
        </p:txBody>
      </p:sp>
      <p:sp>
        <p:nvSpPr>
          <p:cNvPr id="279" name="Shape 797"/>
          <p:cNvSpPr/>
          <p:nvPr/>
        </p:nvSpPr>
        <p:spPr>
          <a:xfrm>
            <a:off x="3144600" y="1713600"/>
            <a:ext cx="473760" cy="360"/>
          </a:xfrm>
          <a:prstGeom prst="line">
            <a:avLst/>
          </a:prstGeom>
          <a:ln w="19050">
            <a:solidFill>
              <a:srgbClr val="7A83B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000000"/>
              </a:solidFill>
              <a:effectLst/>
              <a:uFillTx/>
              <a:latin typeface="Arial"/>
            </a:endParaRPr>
          </a:p>
        </p:txBody>
      </p:sp>
      <p:sp>
        <p:nvSpPr>
          <p:cNvPr id="280" name="Shape 798"/>
          <p:cNvSpPr/>
          <p:nvPr/>
        </p:nvSpPr>
        <p:spPr>
          <a:xfrm>
            <a:off x="3628800" y="1360800"/>
            <a:ext cx="2620080" cy="704520"/>
          </a:xfrm>
          <a:prstGeom prst="roundRect">
            <a:avLst>
              <a:gd name="adj" fmla="val 11429"/>
            </a:avLst>
          </a:prstGeom>
          <a:solidFill>
            <a:schemeClr val="accent5">
              <a:lumMod val="20000"/>
              <a:lumOff val="80000"/>
              <a:alpha val="85000"/>
            </a:schemeClr>
          </a:solidFill>
          <a:ln w="0">
            <a:solidFill>
              <a:srgbClr val="3465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281" name="Text 879"/>
          <p:cNvSpPr/>
          <p:nvPr/>
        </p:nvSpPr>
        <p:spPr>
          <a:xfrm>
            <a:off x="3628800" y="1382625"/>
            <a:ext cx="2620080" cy="351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000" b="1" u="none" strike="noStrike" dirty="0">
                <a:solidFill>
                  <a:srgbClr val="1E2761"/>
                </a:solidFill>
                <a:effectLst/>
                <a:uFillTx/>
                <a:latin typeface="Cambria"/>
                <a:ea typeface="Cambria"/>
              </a:rPr>
              <a:t>2. Mapowanie</a:t>
            </a:r>
            <a:endParaRPr lang="pl-PL" sz="2000" b="0" u="none" strike="noStrike" dirty="0">
              <a:solidFill>
                <a:srgbClr val="000000"/>
              </a:solidFill>
              <a:effectLst/>
              <a:uFillTx/>
              <a:latin typeface="Arial"/>
            </a:endParaRPr>
          </a:p>
        </p:txBody>
      </p:sp>
      <p:sp>
        <p:nvSpPr>
          <p:cNvPr id="282" name="Text 880"/>
          <p:cNvSpPr/>
          <p:nvPr/>
        </p:nvSpPr>
        <p:spPr>
          <a:xfrm>
            <a:off x="3628800" y="1743840"/>
            <a:ext cx="2620080" cy="30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600" b="0" u="none" strike="noStrike">
                <a:solidFill>
                  <a:srgbClr val="4A5280"/>
                </a:solidFill>
                <a:effectLst/>
                <a:uFillTx/>
                <a:latin typeface="Calibri"/>
                <a:ea typeface="Calibri"/>
              </a:rPr>
              <a:t>Struktura pola badawczego</a:t>
            </a:r>
            <a:endParaRPr lang="pl-PL" sz="1600" b="0" u="none" strike="noStrike">
              <a:solidFill>
                <a:srgbClr val="000000"/>
              </a:solidFill>
              <a:effectLst/>
              <a:uFillTx/>
              <a:latin typeface="Arial"/>
            </a:endParaRPr>
          </a:p>
        </p:txBody>
      </p:sp>
      <p:sp>
        <p:nvSpPr>
          <p:cNvPr id="283" name="Shape 799"/>
          <p:cNvSpPr/>
          <p:nvPr/>
        </p:nvSpPr>
        <p:spPr>
          <a:xfrm>
            <a:off x="6269760" y="1713600"/>
            <a:ext cx="473760" cy="360"/>
          </a:xfrm>
          <a:prstGeom prst="line">
            <a:avLst/>
          </a:prstGeom>
          <a:ln w="19050">
            <a:solidFill>
              <a:srgbClr val="7A83B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000000"/>
              </a:solidFill>
              <a:effectLst/>
              <a:uFillTx/>
              <a:latin typeface="Arial"/>
            </a:endParaRPr>
          </a:p>
        </p:txBody>
      </p:sp>
      <p:sp>
        <p:nvSpPr>
          <p:cNvPr id="284" name="Shape 800"/>
          <p:cNvSpPr/>
          <p:nvPr/>
        </p:nvSpPr>
        <p:spPr>
          <a:xfrm>
            <a:off x="6753960" y="1360800"/>
            <a:ext cx="2620080" cy="704520"/>
          </a:xfrm>
          <a:prstGeom prst="roundRect">
            <a:avLst>
              <a:gd name="adj" fmla="val 11429"/>
            </a:avLst>
          </a:prstGeom>
          <a:solidFill>
            <a:schemeClr val="accent5">
              <a:lumMod val="20000"/>
              <a:lumOff val="80000"/>
              <a:alpha val="85000"/>
            </a:schemeClr>
          </a:solidFill>
          <a:ln w="0">
            <a:solidFill>
              <a:srgbClr val="3465A4"/>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285" name="Text 881"/>
          <p:cNvSpPr/>
          <p:nvPr/>
        </p:nvSpPr>
        <p:spPr>
          <a:xfrm>
            <a:off x="6753960" y="1382625"/>
            <a:ext cx="2620080" cy="351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000" b="1" u="none" strike="noStrike" dirty="0">
                <a:solidFill>
                  <a:srgbClr val="1E2761"/>
                </a:solidFill>
                <a:effectLst/>
                <a:uFillTx/>
                <a:latin typeface="Cambria"/>
                <a:ea typeface="Cambria"/>
              </a:rPr>
              <a:t>3. Zarządzanie</a:t>
            </a:r>
            <a:endParaRPr lang="pl-PL" sz="2000" b="0" u="none" strike="noStrike" dirty="0">
              <a:solidFill>
                <a:srgbClr val="000000"/>
              </a:solidFill>
              <a:effectLst/>
              <a:uFillTx/>
              <a:latin typeface="Arial"/>
            </a:endParaRPr>
          </a:p>
        </p:txBody>
      </p:sp>
      <p:sp>
        <p:nvSpPr>
          <p:cNvPr id="286" name="Text 882"/>
          <p:cNvSpPr/>
          <p:nvPr/>
        </p:nvSpPr>
        <p:spPr>
          <a:xfrm>
            <a:off x="6753960" y="1743840"/>
            <a:ext cx="2620080" cy="30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600" b="0" u="none" strike="noStrike" dirty="0">
                <a:solidFill>
                  <a:srgbClr val="4A5280"/>
                </a:solidFill>
                <a:effectLst/>
                <a:uFillTx/>
                <a:latin typeface="Calibri"/>
                <a:ea typeface="Calibri"/>
              </a:rPr>
              <a:t>Biblioteka + cytowania</a:t>
            </a:r>
            <a:endParaRPr lang="pl-PL" sz="1600" b="0" u="none" strike="noStrike" dirty="0">
              <a:solidFill>
                <a:srgbClr val="000000"/>
              </a:solidFill>
              <a:effectLst/>
              <a:uFillTx/>
              <a:latin typeface="Arial"/>
            </a:endParaRPr>
          </a:p>
        </p:txBody>
      </p:sp>
      <p:sp>
        <p:nvSpPr>
          <p:cNvPr id="287" name="Shape 801"/>
          <p:cNvSpPr/>
          <p:nvPr/>
        </p:nvSpPr>
        <p:spPr>
          <a:xfrm>
            <a:off x="453240" y="2318400"/>
            <a:ext cx="2872080" cy="1158480"/>
          </a:xfrm>
          <a:prstGeom prst="roundRect">
            <a:avLst>
              <a:gd name="adj" fmla="val 8696"/>
            </a:avLst>
          </a:prstGeom>
          <a:solidFill>
            <a:srgbClr val="2D3B8E"/>
          </a:solidFill>
          <a:ln w="0">
            <a:noFill/>
          </a:ln>
          <a:effectLst>
            <a:outerShdw blurRad="101520" dist="37674"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88" name="Shape 802"/>
          <p:cNvSpPr/>
          <p:nvPr/>
        </p:nvSpPr>
        <p:spPr>
          <a:xfrm>
            <a:off x="604800" y="2459880"/>
            <a:ext cx="200520" cy="200520"/>
          </a:xfrm>
          <a:prstGeom prst="ellipse">
            <a:avLst/>
          </a:prstGeom>
          <a:solidFill>
            <a:srgbClr val="5B8FF9"/>
          </a:solidFill>
          <a:ln w="12700">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89" name="Text 883"/>
          <p:cNvSpPr/>
          <p:nvPr/>
        </p:nvSpPr>
        <p:spPr>
          <a:xfrm>
            <a:off x="876960" y="2350860"/>
            <a:ext cx="2317320" cy="422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2000" b="1" u="none" strike="noStrike">
                <a:solidFill>
                  <a:srgbClr val="FFFFFF"/>
                </a:solidFill>
                <a:effectLst/>
                <a:uFillTx/>
                <a:latin typeface="Cambria"/>
                <a:ea typeface="Cambria"/>
              </a:rPr>
              <a:t>Semantic Scholar</a:t>
            </a:r>
            <a:endParaRPr lang="pl-PL" sz="2000" b="0" u="none" strike="noStrike">
              <a:solidFill>
                <a:srgbClr val="000000"/>
              </a:solidFill>
              <a:effectLst/>
              <a:uFillTx/>
              <a:latin typeface="Arial"/>
            </a:endParaRPr>
          </a:p>
        </p:txBody>
      </p:sp>
      <p:sp>
        <p:nvSpPr>
          <p:cNvPr id="290" name="Text 884"/>
          <p:cNvSpPr/>
          <p:nvPr/>
        </p:nvSpPr>
        <p:spPr>
          <a:xfrm>
            <a:off x="604800" y="2822400"/>
            <a:ext cx="2569320" cy="573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20000"/>
              </a:lnSpc>
              <a:tabLst>
                <a:tab pos="0" algn="l"/>
              </a:tabLst>
            </a:pPr>
            <a:r>
              <a:rPr lang="pl-PL" sz="1400" b="0" u="none" strike="noStrike" dirty="0">
                <a:solidFill>
                  <a:srgbClr val="CADCFC"/>
                </a:solidFill>
                <a:effectLst/>
                <a:uFillTx/>
                <a:latin typeface="Calibri"/>
                <a:ea typeface="Calibri"/>
              </a:rPr>
              <a:t>Semantyczne wyszukiwanie,</a:t>
            </a:r>
            <a:endParaRPr lang="pl-PL" sz="1400" b="0" u="none" strike="noStrike" dirty="0">
              <a:solidFill>
                <a:srgbClr val="000000"/>
              </a:solidFill>
              <a:effectLst/>
              <a:uFillTx/>
              <a:latin typeface="Arial"/>
            </a:endParaRPr>
          </a:p>
          <a:p>
            <a:pPr defTabSz="914400">
              <a:lnSpc>
                <a:spcPct val="120000"/>
              </a:lnSpc>
              <a:tabLst>
                <a:tab pos="0" algn="l"/>
              </a:tabLst>
            </a:pPr>
            <a:r>
              <a:rPr lang="pl-PL" sz="1400" b="0" u="none" strike="noStrike" dirty="0">
                <a:solidFill>
                  <a:srgbClr val="CADCFC"/>
                </a:solidFill>
                <a:effectLst/>
                <a:uFillTx/>
                <a:latin typeface="Calibri"/>
                <a:ea typeface="Calibri"/>
              </a:rPr>
              <a:t>cytowania, </a:t>
            </a:r>
            <a:r>
              <a:rPr lang="pl-PL" sz="1400" b="0" u="none" strike="noStrike" dirty="0" err="1">
                <a:solidFill>
                  <a:srgbClr val="CADCFC"/>
                </a:solidFill>
                <a:effectLst/>
                <a:uFillTx/>
                <a:latin typeface="Calibri"/>
                <a:ea typeface="Calibri"/>
              </a:rPr>
              <a:t>impact</a:t>
            </a:r>
            <a:r>
              <a:rPr lang="pl-PL" sz="1400" b="0" u="none" strike="noStrike" dirty="0">
                <a:solidFill>
                  <a:srgbClr val="CADCFC"/>
                </a:solidFill>
                <a:effectLst/>
                <a:uFillTx/>
                <a:latin typeface="Calibri"/>
                <a:ea typeface="Calibri"/>
              </a:rPr>
              <a:t> </a:t>
            </a:r>
            <a:r>
              <a:rPr lang="pl-PL" sz="1400" b="0" u="none" strike="noStrike" dirty="0" err="1">
                <a:solidFill>
                  <a:srgbClr val="CADCFC"/>
                </a:solidFill>
                <a:effectLst/>
                <a:uFillTx/>
                <a:latin typeface="Calibri"/>
                <a:ea typeface="Calibri"/>
              </a:rPr>
              <a:t>factor</a:t>
            </a:r>
            <a:r>
              <a:rPr lang="pl-PL" sz="1400" b="0" u="none" strike="noStrike" dirty="0">
                <a:solidFill>
                  <a:srgbClr val="CADCFC"/>
                </a:solidFill>
                <a:effectLst/>
                <a:uFillTx/>
                <a:latin typeface="Calibri"/>
                <a:ea typeface="Calibri"/>
              </a:rPr>
              <a:t>.</a:t>
            </a:r>
            <a:endParaRPr lang="pl-PL" sz="1400" b="0" u="none" strike="noStrike" dirty="0">
              <a:solidFill>
                <a:srgbClr val="000000"/>
              </a:solidFill>
              <a:effectLst/>
              <a:uFillTx/>
              <a:latin typeface="Arial"/>
            </a:endParaRPr>
          </a:p>
        </p:txBody>
      </p:sp>
      <p:sp>
        <p:nvSpPr>
          <p:cNvPr id="291" name="Shape 803"/>
          <p:cNvSpPr/>
          <p:nvPr/>
        </p:nvSpPr>
        <p:spPr>
          <a:xfrm>
            <a:off x="3548160" y="2318400"/>
            <a:ext cx="2872080" cy="1158480"/>
          </a:xfrm>
          <a:prstGeom prst="roundRect">
            <a:avLst>
              <a:gd name="adj" fmla="val 8696"/>
            </a:avLst>
          </a:prstGeom>
          <a:solidFill>
            <a:srgbClr val="2D3B8E"/>
          </a:solidFill>
          <a:ln w="0">
            <a:noFill/>
          </a:ln>
          <a:effectLst>
            <a:outerShdw blurRad="101520" dist="37674"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92" name="Shape 804"/>
          <p:cNvSpPr/>
          <p:nvPr/>
        </p:nvSpPr>
        <p:spPr>
          <a:xfrm>
            <a:off x="3699720" y="2459880"/>
            <a:ext cx="200520" cy="200520"/>
          </a:xfrm>
          <a:prstGeom prst="ellipse">
            <a:avLst/>
          </a:prstGeom>
          <a:solidFill>
            <a:srgbClr val="5B8FF9"/>
          </a:solidFill>
          <a:ln w="12700">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93" name="Text 885"/>
          <p:cNvSpPr/>
          <p:nvPr/>
        </p:nvSpPr>
        <p:spPr>
          <a:xfrm>
            <a:off x="3971880" y="2350860"/>
            <a:ext cx="2317320" cy="422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2000" b="1" u="none" strike="noStrike">
                <a:solidFill>
                  <a:srgbClr val="FFFFFF"/>
                </a:solidFill>
                <a:effectLst/>
                <a:uFillTx/>
                <a:latin typeface="Cambria"/>
                <a:ea typeface="Cambria"/>
              </a:rPr>
              <a:t>Elicit</a:t>
            </a:r>
            <a:endParaRPr lang="pl-PL" sz="2000" b="0" u="none" strike="noStrike">
              <a:solidFill>
                <a:srgbClr val="000000"/>
              </a:solidFill>
              <a:effectLst/>
              <a:uFillTx/>
              <a:latin typeface="Arial"/>
            </a:endParaRPr>
          </a:p>
        </p:txBody>
      </p:sp>
      <p:sp>
        <p:nvSpPr>
          <p:cNvPr id="294" name="Text 886"/>
          <p:cNvSpPr/>
          <p:nvPr/>
        </p:nvSpPr>
        <p:spPr>
          <a:xfrm>
            <a:off x="3699360" y="2822400"/>
            <a:ext cx="2569320" cy="573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20000"/>
              </a:lnSpc>
              <a:tabLst>
                <a:tab pos="0" algn="l"/>
              </a:tabLst>
            </a:pPr>
            <a:r>
              <a:rPr lang="pl-PL" sz="1400" b="0" u="none" strike="noStrike">
                <a:solidFill>
                  <a:srgbClr val="CADCFC"/>
                </a:solidFill>
                <a:effectLst/>
                <a:uFillTx/>
                <a:latin typeface="Calibri"/>
                <a:ea typeface="Calibri"/>
              </a:rPr>
              <a:t>Ekstrakcja twierdzeń</a:t>
            </a:r>
            <a:endParaRPr lang="pl-PL" sz="1400" b="0" u="none" strike="noStrike">
              <a:solidFill>
                <a:srgbClr val="000000"/>
              </a:solidFill>
              <a:effectLst/>
              <a:uFillTx/>
              <a:latin typeface="Arial"/>
            </a:endParaRPr>
          </a:p>
          <a:p>
            <a:pPr defTabSz="914400">
              <a:lnSpc>
                <a:spcPct val="120000"/>
              </a:lnSpc>
              <a:tabLst>
                <a:tab pos="0" algn="l"/>
              </a:tabLst>
            </a:pPr>
            <a:r>
              <a:rPr lang="pl-PL" sz="1400" b="0" u="none" strike="noStrike">
                <a:solidFill>
                  <a:srgbClr val="CADCFC"/>
                </a:solidFill>
                <a:effectLst/>
                <a:uFillTx/>
                <a:latin typeface="Calibri"/>
                <a:ea typeface="Calibri"/>
              </a:rPr>
              <a:t>z artykułów, porównanie badań</a:t>
            </a:r>
            <a:endParaRPr lang="pl-PL" sz="1400" b="0" u="none" strike="noStrike">
              <a:solidFill>
                <a:srgbClr val="000000"/>
              </a:solidFill>
              <a:effectLst/>
              <a:uFillTx/>
              <a:latin typeface="Arial"/>
            </a:endParaRPr>
          </a:p>
        </p:txBody>
      </p:sp>
      <p:sp>
        <p:nvSpPr>
          <p:cNvPr id="295" name="Shape 805"/>
          <p:cNvSpPr/>
          <p:nvPr/>
        </p:nvSpPr>
        <p:spPr>
          <a:xfrm>
            <a:off x="6643080" y="2318400"/>
            <a:ext cx="2872080" cy="1158480"/>
          </a:xfrm>
          <a:prstGeom prst="roundRect">
            <a:avLst>
              <a:gd name="adj" fmla="val 8696"/>
            </a:avLst>
          </a:prstGeom>
          <a:solidFill>
            <a:srgbClr val="2D3B8E"/>
          </a:solidFill>
          <a:ln w="0">
            <a:noFill/>
          </a:ln>
          <a:effectLst>
            <a:outerShdw blurRad="101520" dist="37674"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96" name="Shape 806"/>
          <p:cNvSpPr/>
          <p:nvPr/>
        </p:nvSpPr>
        <p:spPr>
          <a:xfrm>
            <a:off x="6794280" y="2459880"/>
            <a:ext cx="200520" cy="200520"/>
          </a:xfrm>
          <a:prstGeom prst="ellipse">
            <a:avLst/>
          </a:prstGeom>
          <a:solidFill>
            <a:srgbClr val="2D7DD2"/>
          </a:solidFill>
          <a:ln w="12700">
            <a:solidFill>
              <a:srgbClr val="2D7DD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97" name="Text 887"/>
          <p:cNvSpPr/>
          <p:nvPr/>
        </p:nvSpPr>
        <p:spPr>
          <a:xfrm>
            <a:off x="7066080" y="2350860"/>
            <a:ext cx="2317320" cy="422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2000" b="1" u="none" strike="noStrike">
                <a:solidFill>
                  <a:srgbClr val="FFFFFF"/>
                </a:solidFill>
                <a:effectLst/>
                <a:uFillTx/>
                <a:latin typeface="Cambria"/>
                <a:ea typeface="Cambria"/>
              </a:rPr>
              <a:t>ResearchRabbit</a:t>
            </a:r>
            <a:endParaRPr lang="pl-PL" sz="2000" b="0" u="none" strike="noStrike">
              <a:solidFill>
                <a:srgbClr val="000000"/>
              </a:solidFill>
              <a:effectLst/>
              <a:uFillTx/>
              <a:latin typeface="Arial"/>
            </a:endParaRPr>
          </a:p>
        </p:txBody>
      </p:sp>
      <p:sp>
        <p:nvSpPr>
          <p:cNvPr id="298" name="Text 888"/>
          <p:cNvSpPr/>
          <p:nvPr/>
        </p:nvSpPr>
        <p:spPr>
          <a:xfrm>
            <a:off x="6794280" y="2822400"/>
            <a:ext cx="2569320" cy="573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20000"/>
              </a:lnSpc>
              <a:tabLst>
                <a:tab pos="0" algn="l"/>
              </a:tabLst>
            </a:pPr>
            <a:r>
              <a:rPr lang="pl-PL" sz="1400" b="0" u="none" strike="noStrike">
                <a:solidFill>
                  <a:srgbClr val="CADCFC"/>
                </a:solidFill>
                <a:effectLst/>
                <a:uFillTx/>
                <a:latin typeface="Calibri"/>
                <a:ea typeface="Calibri"/>
              </a:rPr>
              <a:t>Sieć cytowań, artykuły powiązane tematycznie</a:t>
            </a:r>
            <a:endParaRPr lang="pl-PL" sz="1400" b="0" u="none" strike="noStrike">
              <a:solidFill>
                <a:srgbClr val="000000"/>
              </a:solidFill>
              <a:effectLst/>
              <a:uFillTx/>
              <a:latin typeface="Arial"/>
            </a:endParaRPr>
          </a:p>
        </p:txBody>
      </p:sp>
      <p:sp>
        <p:nvSpPr>
          <p:cNvPr id="299" name="Shape 807"/>
          <p:cNvSpPr/>
          <p:nvPr/>
        </p:nvSpPr>
        <p:spPr>
          <a:xfrm>
            <a:off x="453240" y="3659040"/>
            <a:ext cx="2872080" cy="1158480"/>
          </a:xfrm>
          <a:prstGeom prst="roundRect">
            <a:avLst>
              <a:gd name="adj" fmla="val 8696"/>
            </a:avLst>
          </a:prstGeom>
          <a:solidFill>
            <a:srgbClr val="2D3B8E"/>
          </a:solidFill>
          <a:ln w="0">
            <a:noFill/>
          </a:ln>
          <a:effectLst>
            <a:outerShdw blurRad="101520" dist="37674"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300" name="Shape 808"/>
          <p:cNvSpPr/>
          <p:nvPr/>
        </p:nvSpPr>
        <p:spPr>
          <a:xfrm>
            <a:off x="604800" y="3800520"/>
            <a:ext cx="200520" cy="200520"/>
          </a:xfrm>
          <a:prstGeom prst="ellipse">
            <a:avLst/>
          </a:prstGeom>
          <a:solidFill>
            <a:srgbClr val="2D7DD2"/>
          </a:solidFill>
          <a:ln w="12700">
            <a:solidFill>
              <a:srgbClr val="2D7DD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301" name="Text 889"/>
          <p:cNvSpPr/>
          <p:nvPr/>
        </p:nvSpPr>
        <p:spPr>
          <a:xfrm>
            <a:off x="876960" y="3691500"/>
            <a:ext cx="2317320" cy="422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2000" b="1" u="none" strike="noStrike">
                <a:solidFill>
                  <a:srgbClr val="FFFFFF"/>
                </a:solidFill>
                <a:effectLst/>
                <a:uFillTx/>
                <a:latin typeface="Cambria"/>
                <a:ea typeface="Cambria"/>
              </a:rPr>
              <a:t>Connected Papers</a:t>
            </a:r>
            <a:endParaRPr lang="pl-PL" sz="2000" b="0" u="none" strike="noStrike">
              <a:solidFill>
                <a:srgbClr val="000000"/>
              </a:solidFill>
              <a:effectLst/>
              <a:uFillTx/>
              <a:latin typeface="Arial"/>
            </a:endParaRPr>
          </a:p>
        </p:txBody>
      </p:sp>
      <p:sp>
        <p:nvSpPr>
          <p:cNvPr id="302" name="Text 890"/>
          <p:cNvSpPr/>
          <p:nvPr/>
        </p:nvSpPr>
        <p:spPr>
          <a:xfrm>
            <a:off x="604800" y="4163040"/>
            <a:ext cx="2569320" cy="573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20000"/>
              </a:lnSpc>
              <a:tabLst>
                <a:tab pos="0" algn="l"/>
              </a:tabLst>
            </a:pPr>
            <a:r>
              <a:rPr lang="pl-PL" sz="1400" b="0" u="none" strike="noStrike" dirty="0">
                <a:solidFill>
                  <a:srgbClr val="CADCFC"/>
                </a:solidFill>
                <a:effectLst/>
                <a:uFillTx/>
                <a:latin typeface="Calibri"/>
                <a:ea typeface="Calibri"/>
              </a:rPr>
              <a:t>Graf podobieństwa</a:t>
            </a:r>
            <a:endParaRPr lang="pl-PL" sz="1400" b="0" u="none" strike="noStrike" dirty="0">
              <a:solidFill>
                <a:srgbClr val="000000"/>
              </a:solidFill>
              <a:effectLst/>
              <a:uFillTx/>
              <a:latin typeface="Arial"/>
            </a:endParaRPr>
          </a:p>
          <a:p>
            <a:pPr defTabSz="914400">
              <a:lnSpc>
                <a:spcPct val="120000"/>
              </a:lnSpc>
              <a:tabLst>
                <a:tab pos="0" algn="l"/>
              </a:tabLst>
            </a:pPr>
            <a:r>
              <a:rPr lang="pl-PL" sz="1400" b="0" u="none" strike="noStrike" dirty="0">
                <a:solidFill>
                  <a:srgbClr val="CADCFC"/>
                </a:solidFill>
                <a:effectLst/>
                <a:uFillTx/>
                <a:latin typeface="Calibri"/>
                <a:ea typeface="Calibri"/>
              </a:rPr>
              <a:t>między artykułami (wizualny)</a:t>
            </a:r>
            <a:endParaRPr lang="pl-PL" sz="1400" b="0" u="none" strike="noStrike" dirty="0">
              <a:solidFill>
                <a:srgbClr val="000000"/>
              </a:solidFill>
              <a:effectLst/>
              <a:uFillTx/>
              <a:latin typeface="Arial"/>
            </a:endParaRPr>
          </a:p>
        </p:txBody>
      </p:sp>
      <p:sp>
        <p:nvSpPr>
          <p:cNvPr id="303" name="Shape 809"/>
          <p:cNvSpPr/>
          <p:nvPr/>
        </p:nvSpPr>
        <p:spPr>
          <a:xfrm>
            <a:off x="3548160" y="3659040"/>
            <a:ext cx="2872080" cy="1158480"/>
          </a:xfrm>
          <a:prstGeom prst="roundRect">
            <a:avLst>
              <a:gd name="adj" fmla="val 8696"/>
            </a:avLst>
          </a:prstGeom>
          <a:solidFill>
            <a:srgbClr val="2D3B8E"/>
          </a:solidFill>
          <a:ln w="0">
            <a:noFill/>
          </a:ln>
          <a:effectLst>
            <a:outerShdw blurRad="101520" dist="37674"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304" name="Shape 810"/>
          <p:cNvSpPr/>
          <p:nvPr/>
        </p:nvSpPr>
        <p:spPr>
          <a:xfrm>
            <a:off x="3699720" y="3800520"/>
            <a:ext cx="200520" cy="200520"/>
          </a:xfrm>
          <a:prstGeom prst="ellipse">
            <a:avLst/>
          </a:prstGeom>
          <a:solidFill>
            <a:srgbClr val="2D7DD2"/>
          </a:solidFill>
          <a:ln w="12700">
            <a:solidFill>
              <a:srgbClr val="2D7DD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305" name="Text 891"/>
          <p:cNvSpPr/>
          <p:nvPr/>
        </p:nvSpPr>
        <p:spPr>
          <a:xfrm>
            <a:off x="3971880" y="3691500"/>
            <a:ext cx="2317320" cy="422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2000" b="1" u="none" strike="noStrike">
                <a:solidFill>
                  <a:srgbClr val="FFFFFF"/>
                </a:solidFill>
                <a:effectLst/>
                <a:uFillTx/>
                <a:latin typeface="Cambria"/>
                <a:ea typeface="Cambria"/>
              </a:rPr>
              <a:t>Litmaps</a:t>
            </a:r>
            <a:endParaRPr lang="pl-PL" sz="2000" b="0" u="none" strike="noStrike">
              <a:solidFill>
                <a:srgbClr val="000000"/>
              </a:solidFill>
              <a:effectLst/>
              <a:uFillTx/>
              <a:latin typeface="Arial"/>
            </a:endParaRPr>
          </a:p>
        </p:txBody>
      </p:sp>
      <p:sp>
        <p:nvSpPr>
          <p:cNvPr id="306" name="Text 892"/>
          <p:cNvSpPr/>
          <p:nvPr/>
        </p:nvSpPr>
        <p:spPr>
          <a:xfrm>
            <a:off x="3699360" y="4163040"/>
            <a:ext cx="2569320" cy="573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20000"/>
              </a:lnSpc>
              <a:tabLst>
                <a:tab pos="0" algn="l"/>
              </a:tabLst>
            </a:pPr>
            <a:r>
              <a:rPr lang="pl-PL" sz="1400" b="0" u="none" strike="noStrike">
                <a:solidFill>
                  <a:srgbClr val="CADCFC"/>
                </a:solidFill>
                <a:effectLst/>
                <a:uFillTx/>
                <a:latin typeface="Calibri"/>
                <a:ea typeface="Calibri"/>
              </a:rPr>
              <a:t>Mapa czasowa</a:t>
            </a:r>
            <a:endParaRPr lang="pl-PL" sz="1400" b="0" u="none" strike="noStrike">
              <a:solidFill>
                <a:srgbClr val="000000"/>
              </a:solidFill>
              <a:effectLst/>
              <a:uFillTx/>
              <a:latin typeface="Arial"/>
            </a:endParaRPr>
          </a:p>
          <a:p>
            <a:pPr defTabSz="914400">
              <a:lnSpc>
                <a:spcPct val="120000"/>
              </a:lnSpc>
              <a:tabLst>
                <a:tab pos="0" algn="l"/>
              </a:tabLst>
            </a:pPr>
            <a:r>
              <a:rPr lang="pl-PL" sz="1400" b="0" u="none" strike="noStrike">
                <a:solidFill>
                  <a:srgbClr val="CADCFC"/>
                </a:solidFill>
                <a:effectLst/>
                <a:uFillTx/>
                <a:latin typeface="Calibri"/>
                <a:ea typeface="Calibri"/>
              </a:rPr>
              <a:t>rozwoju pola badawczego</a:t>
            </a:r>
            <a:endParaRPr lang="pl-PL" sz="1400" b="0" u="none" strike="noStrike">
              <a:solidFill>
                <a:srgbClr val="000000"/>
              </a:solidFill>
              <a:effectLst/>
              <a:uFillTx/>
              <a:latin typeface="Arial"/>
            </a:endParaRPr>
          </a:p>
        </p:txBody>
      </p:sp>
      <p:sp>
        <p:nvSpPr>
          <p:cNvPr id="307" name="Shape 811"/>
          <p:cNvSpPr/>
          <p:nvPr/>
        </p:nvSpPr>
        <p:spPr>
          <a:xfrm>
            <a:off x="6643080" y="3659040"/>
            <a:ext cx="2872080" cy="1158480"/>
          </a:xfrm>
          <a:prstGeom prst="roundRect">
            <a:avLst>
              <a:gd name="adj" fmla="val 8696"/>
            </a:avLst>
          </a:prstGeom>
          <a:solidFill>
            <a:srgbClr val="2D3B8E"/>
          </a:solidFill>
          <a:ln w="0">
            <a:noFill/>
          </a:ln>
          <a:effectLst>
            <a:outerShdw blurRad="101520" dist="37674"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308" name="Shape 812"/>
          <p:cNvSpPr/>
          <p:nvPr/>
        </p:nvSpPr>
        <p:spPr>
          <a:xfrm>
            <a:off x="6794280" y="3800520"/>
            <a:ext cx="200520" cy="200520"/>
          </a:xfrm>
          <a:prstGeom prst="ellipse">
            <a:avLst/>
          </a:prstGeom>
          <a:solidFill>
            <a:srgbClr val="3ECFB2"/>
          </a:solidFill>
          <a:ln w="12700">
            <a:solidFill>
              <a:srgbClr val="3ECFB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309" name="Text 893"/>
          <p:cNvSpPr/>
          <p:nvPr/>
        </p:nvSpPr>
        <p:spPr>
          <a:xfrm>
            <a:off x="7066080" y="3691500"/>
            <a:ext cx="2317320" cy="422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2000" b="1" u="none" strike="noStrike" dirty="0" err="1">
                <a:solidFill>
                  <a:srgbClr val="FFFFFF"/>
                </a:solidFill>
                <a:effectLst/>
                <a:uFillTx/>
                <a:latin typeface="Cambria"/>
                <a:ea typeface="Cambria"/>
              </a:rPr>
              <a:t>Zotero</a:t>
            </a:r>
            <a:endParaRPr lang="pl-PL" sz="2000" b="0" u="none" strike="noStrike" dirty="0">
              <a:solidFill>
                <a:srgbClr val="000000"/>
              </a:solidFill>
              <a:effectLst/>
              <a:uFillTx/>
              <a:latin typeface="Arial"/>
            </a:endParaRPr>
          </a:p>
        </p:txBody>
      </p:sp>
      <p:sp>
        <p:nvSpPr>
          <p:cNvPr id="310" name="Text 894"/>
          <p:cNvSpPr/>
          <p:nvPr/>
        </p:nvSpPr>
        <p:spPr>
          <a:xfrm>
            <a:off x="6794280" y="4163040"/>
            <a:ext cx="2569320" cy="573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20000"/>
              </a:lnSpc>
              <a:tabLst>
                <a:tab pos="0" algn="l"/>
              </a:tabLst>
            </a:pPr>
            <a:r>
              <a:rPr lang="pl-PL" sz="1400" b="0" u="none" strike="noStrike">
                <a:solidFill>
                  <a:srgbClr val="CADCFC"/>
                </a:solidFill>
                <a:effectLst/>
                <a:uFillTx/>
                <a:latin typeface="Calibri"/>
                <a:ea typeface="Calibri"/>
              </a:rPr>
              <a:t>Zarządzanie bibliografią,</a:t>
            </a:r>
            <a:endParaRPr lang="pl-PL" sz="1400" b="0" u="none" strike="noStrike">
              <a:solidFill>
                <a:srgbClr val="000000"/>
              </a:solidFill>
              <a:effectLst/>
              <a:uFillTx/>
              <a:latin typeface="Arial"/>
            </a:endParaRPr>
          </a:p>
          <a:p>
            <a:pPr defTabSz="914400">
              <a:lnSpc>
                <a:spcPct val="120000"/>
              </a:lnSpc>
              <a:tabLst>
                <a:tab pos="0" algn="l"/>
              </a:tabLst>
            </a:pPr>
            <a:r>
              <a:rPr lang="pl-PL" sz="1400" b="0" u="none" strike="noStrike">
                <a:solidFill>
                  <a:srgbClr val="CADCFC"/>
                </a:solidFill>
                <a:effectLst/>
                <a:uFillTx/>
                <a:latin typeface="Calibri"/>
                <a:ea typeface="Calibri"/>
              </a:rPr>
              <a:t>adnotacje, współpraca</a:t>
            </a:r>
            <a:endParaRPr lang="pl-PL" sz="1400" b="0" u="none" strike="noStrike">
              <a:solidFill>
                <a:srgbClr val="000000"/>
              </a:solidFill>
              <a:effectLst/>
              <a:uFillTx/>
              <a:latin typeface="Arial"/>
            </a:endParaRPr>
          </a:p>
        </p:txBody>
      </p:sp>
      <p:sp>
        <p:nvSpPr>
          <p:cNvPr id="311" name="Text 895"/>
          <p:cNvSpPr/>
          <p:nvPr/>
        </p:nvSpPr>
        <p:spPr>
          <a:xfrm>
            <a:off x="503640" y="5044095"/>
            <a:ext cx="9071640" cy="39285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000" u="none" strike="noStrike" dirty="0">
                <a:solidFill>
                  <a:srgbClr val="1E2761"/>
                </a:solidFill>
                <a:effectLst/>
                <a:uFillTx/>
                <a:latin typeface="Cambria Math" panose="02040503050406030204" pitchFamily="18" charset="0"/>
                <a:ea typeface="Cambria Math" panose="02040503050406030204" pitchFamily="18" charset="0"/>
              </a:rPr>
              <a:t>Celem nie jest „szybciej cytować”, ale rozumieć strukturę pola badawczego</a:t>
            </a:r>
            <a:endParaRPr lang="pl-PL" sz="2000" u="none" strike="noStrike" dirty="0">
              <a:solidFill>
                <a:srgbClr val="000000"/>
              </a:solidFill>
              <a:effectLst/>
              <a:uFillTx/>
              <a:latin typeface="Cambria Math" panose="02040503050406030204" pitchFamily="18" charset="0"/>
              <a:ea typeface="Cambria Math" panose="020405030504060302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312" name="Shape 813"/>
          <p:cNvSpPr/>
          <p:nvPr/>
        </p:nvSpPr>
        <p:spPr>
          <a:xfrm>
            <a:off x="360" y="360"/>
            <a:ext cx="10079640" cy="1107720"/>
          </a:xfrm>
          <a:prstGeom prst="rect">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313" name="Text 896"/>
          <p:cNvSpPr/>
          <p:nvPr/>
        </p:nvSpPr>
        <p:spPr>
          <a:xfrm>
            <a:off x="503640" y="0"/>
            <a:ext cx="9071640" cy="1107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2200" b="1" u="none" strike="noStrike">
                <a:solidFill>
                  <a:srgbClr val="FFFFFF"/>
                </a:solidFill>
                <a:effectLst/>
                <a:uFillTx/>
                <a:latin typeface="Cambria"/>
                <a:ea typeface="Cambria"/>
              </a:rPr>
              <a:t>PREREJESTRACJA I TRANSPARENTNOŚĆ</a:t>
            </a:r>
            <a:endParaRPr lang="pl-PL" sz="2200" b="0" u="none" strike="noStrike">
              <a:solidFill>
                <a:srgbClr val="000000"/>
              </a:solidFill>
              <a:effectLst/>
              <a:uFillTx/>
              <a:latin typeface="Arial"/>
            </a:endParaRPr>
          </a:p>
        </p:txBody>
      </p:sp>
      <p:sp>
        <p:nvSpPr>
          <p:cNvPr id="314" name="Shape 814"/>
          <p:cNvSpPr/>
          <p:nvPr/>
        </p:nvSpPr>
        <p:spPr>
          <a:xfrm>
            <a:off x="1086840" y="2066760"/>
            <a:ext cx="7788240" cy="360"/>
          </a:xfrm>
          <a:prstGeom prst="line">
            <a:avLst/>
          </a:prstGeom>
          <a:ln w="3175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pl-PL" sz="1800" b="0" u="none" strike="noStrike">
              <a:solidFill>
                <a:srgbClr val="000000"/>
              </a:solidFill>
              <a:effectLst/>
              <a:uFillTx/>
              <a:latin typeface="Arial"/>
            </a:endParaRPr>
          </a:p>
        </p:txBody>
      </p:sp>
      <p:sp>
        <p:nvSpPr>
          <p:cNvPr id="315" name="Shape 815"/>
          <p:cNvSpPr/>
          <p:nvPr/>
        </p:nvSpPr>
        <p:spPr>
          <a:xfrm>
            <a:off x="864720" y="1844280"/>
            <a:ext cx="442800" cy="442800"/>
          </a:xfrm>
          <a:prstGeom prst="ellipse">
            <a:avLst/>
          </a:prstGeom>
          <a:solidFill>
            <a:srgbClr val="5B8FF9"/>
          </a:solidFill>
          <a:ln w="0">
            <a:noFill/>
          </a:ln>
          <a:effectLst>
            <a:outerShdw blurRad="101520" dist="37674"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316" name="Shape 816"/>
          <p:cNvSpPr/>
          <p:nvPr/>
        </p:nvSpPr>
        <p:spPr>
          <a:xfrm>
            <a:off x="1086840" y="2287800"/>
            <a:ext cx="360" cy="504000"/>
          </a:xfrm>
          <a:prstGeom prst="line">
            <a:avLst/>
          </a:prstGeom>
          <a:ln w="12700">
            <a:solidFill>
              <a:srgbClr val="7A83B0"/>
            </a:solidFill>
            <a:prstDash val="sysDot"/>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pl-PL" sz="1800" b="0" u="none" strike="noStrike">
              <a:solidFill>
                <a:srgbClr val="000000"/>
              </a:solidFill>
              <a:effectLst/>
              <a:uFillTx/>
              <a:latin typeface="Arial"/>
            </a:endParaRPr>
          </a:p>
        </p:txBody>
      </p:sp>
      <p:sp>
        <p:nvSpPr>
          <p:cNvPr id="317" name="Shape 817"/>
          <p:cNvSpPr/>
          <p:nvPr/>
        </p:nvSpPr>
        <p:spPr>
          <a:xfrm>
            <a:off x="257760" y="2792520"/>
            <a:ext cx="1699920" cy="1098360"/>
          </a:xfrm>
          <a:prstGeom prst="roundRect">
            <a:avLst>
              <a:gd name="adj" fmla="val 8000"/>
            </a:avLst>
          </a:prstGeom>
          <a:solidFill>
            <a:srgbClr val="FFFFFF"/>
          </a:solidFill>
          <a:ln w="0">
            <a:solidFill>
              <a:schemeClr val="tx2"/>
            </a:solidFill>
          </a:ln>
          <a:effectLst>
            <a:outerShdw blurRad="101520" dist="37674"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318" name="Text 897"/>
          <p:cNvSpPr/>
          <p:nvPr/>
        </p:nvSpPr>
        <p:spPr>
          <a:xfrm>
            <a:off x="185760" y="2805255"/>
            <a:ext cx="183672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600" b="1" u="none" strike="noStrike" dirty="0" err="1">
                <a:solidFill>
                  <a:srgbClr val="0070C0"/>
                </a:solidFill>
                <a:effectLst/>
                <a:uFillTx/>
                <a:latin typeface="Cambria"/>
                <a:ea typeface="Cambria"/>
              </a:rPr>
              <a:t>Prerejestracja</a:t>
            </a:r>
            <a:endParaRPr lang="pl-PL" sz="1600" b="0" u="none" strike="noStrike" dirty="0">
              <a:solidFill>
                <a:srgbClr val="0070C0"/>
              </a:solidFill>
              <a:effectLst/>
              <a:uFillTx/>
              <a:latin typeface="Arial"/>
            </a:endParaRPr>
          </a:p>
          <a:p>
            <a:pPr algn="ctr" defTabSz="914400">
              <a:lnSpc>
                <a:spcPct val="100000"/>
              </a:lnSpc>
              <a:tabLst>
                <a:tab pos="0" algn="l"/>
              </a:tabLst>
            </a:pPr>
            <a:r>
              <a:rPr lang="pl-PL" sz="1400" u="none" strike="noStrike" dirty="0">
                <a:solidFill>
                  <a:srgbClr val="0070C0"/>
                </a:solidFill>
                <a:effectLst/>
                <a:uFillTx/>
                <a:latin typeface="Cambria"/>
                <a:ea typeface="Cambria"/>
              </a:rPr>
              <a:t>(OSF/</a:t>
            </a:r>
            <a:r>
              <a:rPr lang="pl-PL" sz="1400" u="none" strike="noStrike" dirty="0" err="1">
                <a:solidFill>
                  <a:srgbClr val="0070C0"/>
                </a:solidFill>
                <a:effectLst/>
                <a:uFillTx/>
                <a:latin typeface="Cambria"/>
                <a:ea typeface="Cambria"/>
              </a:rPr>
              <a:t>AsPredicted</a:t>
            </a:r>
            <a:r>
              <a:rPr lang="pl-PL" sz="1400" u="none" strike="noStrike" dirty="0">
                <a:solidFill>
                  <a:srgbClr val="0070C0"/>
                </a:solidFill>
                <a:effectLst/>
                <a:uFillTx/>
                <a:latin typeface="Cambria"/>
                <a:ea typeface="Cambria"/>
              </a:rPr>
              <a:t>)</a:t>
            </a:r>
            <a:endParaRPr lang="pl-PL" sz="1400" u="none" strike="noStrike" dirty="0">
              <a:solidFill>
                <a:srgbClr val="0070C0"/>
              </a:solidFill>
              <a:effectLst/>
              <a:uFillTx/>
              <a:latin typeface="Arial"/>
            </a:endParaRPr>
          </a:p>
        </p:txBody>
      </p:sp>
      <p:sp>
        <p:nvSpPr>
          <p:cNvPr id="319" name="Text 898"/>
          <p:cNvSpPr/>
          <p:nvPr/>
        </p:nvSpPr>
        <p:spPr>
          <a:xfrm>
            <a:off x="257760" y="3364935"/>
            <a:ext cx="169992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tabLst>
                <a:tab pos="0" algn="l"/>
              </a:tabLst>
            </a:pPr>
            <a:r>
              <a:rPr lang="pl-PL" sz="1400" b="0" u="none" strike="noStrike" dirty="0">
                <a:solidFill>
                  <a:srgbClr val="4A5280"/>
                </a:solidFill>
                <a:effectLst/>
                <a:uFillTx/>
                <a:latin typeface="Calibri"/>
                <a:ea typeface="Calibri"/>
              </a:rPr>
              <a:t>Hipotezy, plan analizy, kryteria</a:t>
            </a:r>
            <a:endParaRPr lang="pl-PL" sz="1400" b="0" u="none" strike="noStrike" dirty="0">
              <a:solidFill>
                <a:srgbClr val="000000"/>
              </a:solidFill>
              <a:effectLst/>
              <a:uFillTx/>
              <a:latin typeface="Arial"/>
            </a:endParaRPr>
          </a:p>
        </p:txBody>
      </p:sp>
      <p:sp>
        <p:nvSpPr>
          <p:cNvPr id="320" name="Shape 818"/>
          <p:cNvSpPr/>
          <p:nvPr/>
        </p:nvSpPr>
        <p:spPr>
          <a:xfrm>
            <a:off x="3356640" y="1844280"/>
            <a:ext cx="442800" cy="442800"/>
          </a:xfrm>
          <a:prstGeom prst="ellipse">
            <a:avLst/>
          </a:prstGeom>
          <a:solidFill>
            <a:srgbClr val="2D7DD2"/>
          </a:solidFill>
          <a:ln w="0">
            <a:noFill/>
          </a:ln>
          <a:effectLst>
            <a:outerShdw blurRad="101520" dist="37674"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321" name="Shape 819"/>
          <p:cNvSpPr/>
          <p:nvPr/>
        </p:nvSpPr>
        <p:spPr>
          <a:xfrm flipV="1">
            <a:off x="3578400" y="1340640"/>
            <a:ext cx="360" cy="504000"/>
          </a:xfrm>
          <a:prstGeom prst="line">
            <a:avLst/>
          </a:prstGeom>
          <a:ln w="12700">
            <a:solidFill>
              <a:srgbClr val="7A83B0"/>
            </a:solidFill>
            <a:prstDash val="sysDot"/>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pl-PL" sz="1800" b="0" u="none" strike="noStrike">
              <a:solidFill>
                <a:srgbClr val="000000"/>
              </a:solidFill>
              <a:effectLst/>
              <a:uFillTx/>
              <a:latin typeface="Arial"/>
            </a:endParaRPr>
          </a:p>
        </p:txBody>
      </p:sp>
      <p:sp>
        <p:nvSpPr>
          <p:cNvPr id="322" name="Shape 820"/>
          <p:cNvSpPr/>
          <p:nvPr/>
        </p:nvSpPr>
        <p:spPr>
          <a:xfrm>
            <a:off x="2252160" y="866775"/>
            <a:ext cx="2655000" cy="629745"/>
          </a:xfrm>
          <a:prstGeom prst="roundRect">
            <a:avLst>
              <a:gd name="adj" fmla="val 8000"/>
            </a:avLst>
          </a:prstGeom>
          <a:solidFill>
            <a:srgbClr val="FFFFFF"/>
          </a:solidFill>
          <a:ln w="0">
            <a:solidFill>
              <a:schemeClr val="tx2"/>
            </a:solidFill>
          </a:ln>
          <a:effectLst>
            <a:outerShdw blurRad="101520" dist="37674"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323" name="Text 899"/>
          <p:cNvSpPr/>
          <p:nvPr/>
        </p:nvSpPr>
        <p:spPr>
          <a:xfrm>
            <a:off x="2286000" y="907064"/>
            <a:ext cx="2621160" cy="31261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600" b="1" u="none" strike="noStrike" dirty="0">
                <a:solidFill>
                  <a:srgbClr val="0070C0"/>
                </a:solidFill>
                <a:effectLst/>
                <a:uFillTx/>
                <a:latin typeface="Cambria"/>
                <a:ea typeface="Cambria"/>
              </a:rPr>
              <a:t>Zbieranie danych</a:t>
            </a:r>
            <a:endParaRPr lang="pl-PL" sz="1600" b="0" u="none" strike="noStrike" dirty="0">
              <a:solidFill>
                <a:srgbClr val="0070C0"/>
              </a:solidFill>
              <a:effectLst/>
              <a:uFillTx/>
              <a:latin typeface="Arial"/>
            </a:endParaRPr>
          </a:p>
        </p:txBody>
      </p:sp>
      <p:sp>
        <p:nvSpPr>
          <p:cNvPr id="324" name="Text 900"/>
          <p:cNvSpPr/>
          <p:nvPr/>
        </p:nvSpPr>
        <p:spPr>
          <a:xfrm>
            <a:off x="2520000" y="1228680"/>
            <a:ext cx="2115720" cy="267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15000"/>
              </a:lnSpc>
              <a:tabLst>
                <a:tab pos="0" algn="l"/>
              </a:tabLst>
            </a:pPr>
            <a:r>
              <a:rPr lang="pl-PL" sz="1400" b="0" u="none" strike="noStrike" dirty="0">
                <a:solidFill>
                  <a:srgbClr val="4A5280"/>
                </a:solidFill>
                <a:effectLst/>
                <a:uFillTx/>
                <a:latin typeface="Calibri"/>
                <a:ea typeface="Calibri"/>
              </a:rPr>
              <a:t>Protokół zrealizowany</a:t>
            </a:r>
            <a:endParaRPr lang="pl-PL" sz="1400" b="0" u="none" strike="noStrike" dirty="0">
              <a:solidFill>
                <a:srgbClr val="000000"/>
              </a:solidFill>
              <a:effectLst/>
              <a:uFillTx/>
              <a:latin typeface="Arial"/>
            </a:endParaRPr>
          </a:p>
        </p:txBody>
      </p:sp>
      <p:sp>
        <p:nvSpPr>
          <p:cNvPr id="325" name="Shape 821"/>
          <p:cNvSpPr/>
          <p:nvPr/>
        </p:nvSpPr>
        <p:spPr>
          <a:xfrm>
            <a:off x="6330240" y="1844280"/>
            <a:ext cx="442800" cy="442800"/>
          </a:xfrm>
          <a:prstGeom prst="ellipse">
            <a:avLst/>
          </a:prstGeom>
          <a:solidFill>
            <a:srgbClr val="3A9F6E"/>
          </a:solidFill>
          <a:ln w="0">
            <a:noFill/>
          </a:ln>
          <a:effectLst>
            <a:outerShdw blurRad="101520" dist="37674"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326" name="Shape 822"/>
          <p:cNvSpPr/>
          <p:nvPr/>
        </p:nvSpPr>
        <p:spPr>
          <a:xfrm>
            <a:off x="6552360" y="2287800"/>
            <a:ext cx="360" cy="504000"/>
          </a:xfrm>
          <a:prstGeom prst="line">
            <a:avLst/>
          </a:prstGeom>
          <a:ln w="12700">
            <a:solidFill>
              <a:srgbClr val="7A83B0"/>
            </a:solidFill>
            <a:prstDash val="sysDot"/>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pl-PL" sz="1800" b="0" u="none" strike="noStrike">
              <a:solidFill>
                <a:srgbClr val="000000"/>
              </a:solidFill>
              <a:effectLst/>
              <a:uFillTx/>
              <a:latin typeface="Arial"/>
            </a:endParaRPr>
          </a:p>
        </p:txBody>
      </p:sp>
      <p:sp>
        <p:nvSpPr>
          <p:cNvPr id="327" name="Shape 823"/>
          <p:cNvSpPr/>
          <p:nvPr/>
        </p:nvSpPr>
        <p:spPr>
          <a:xfrm>
            <a:off x="5446080" y="2792520"/>
            <a:ext cx="2337840" cy="854280"/>
          </a:xfrm>
          <a:prstGeom prst="roundRect">
            <a:avLst>
              <a:gd name="adj" fmla="val 8000"/>
            </a:avLst>
          </a:prstGeom>
          <a:solidFill>
            <a:srgbClr val="FFFFFF"/>
          </a:solidFill>
          <a:ln w="0">
            <a:solidFill>
              <a:schemeClr val="tx2"/>
            </a:solidFill>
          </a:ln>
          <a:effectLst>
            <a:outerShdw blurRad="101520" dist="37674"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328" name="Text 901"/>
          <p:cNvSpPr/>
          <p:nvPr/>
        </p:nvSpPr>
        <p:spPr>
          <a:xfrm>
            <a:off x="5398559" y="2812680"/>
            <a:ext cx="2459565"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600" b="1" u="none" strike="noStrike" dirty="0">
                <a:solidFill>
                  <a:srgbClr val="3A9F6E"/>
                </a:solidFill>
                <a:effectLst/>
                <a:uFillTx/>
                <a:latin typeface="Cambria"/>
                <a:ea typeface="Cambria"/>
              </a:rPr>
              <a:t>Analiza konfirmacyjna</a:t>
            </a:r>
            <a:endParaRPr lang="pl-PL" sz="1600" b="0" u="none" strike="noStrike" dirty="0">
              <a:solidFill>
                <a:srgbClr val="000000"/>
              </a:solidFill>
              <a:effectLst/>
              <a:uFillTx/>
              <a:latin typeface="Arial"/>
            </a:endParaRPr>
          </a:p>
        </p:txBody>
      </p:sp>
      <p:sp>
        <p:nvSpPr>
          <p:cNvPr id="329" name="Text 902"/>
          <p:cNvSpPr/>
          <p:nvPr/>
        </p:nvSpPr>
        <p:spPr>
          <a:xfrm>
            <a:off x="5493600" y="3259440"/>
            <a:ext cx="2254314" cy="29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15000"/>
              </a:lnSpc>
              <a:tabLst>
                <a:tab pos="0" algn="l"/>
              </a:tabLst>
            </a:pPr>
            <a:r>
              <a:rPr lang="pl-PL" sz="1400" b="0" u="none" strike="noStrike" dirty="0">
                <a:solidFill>
                  <a:srgbClr val="4A5280"/>
                </a:solidFill>
                <a:effectLst/>
                <a:uFillTx/>
                <a:latin typeface="Calibri"/>
                <a:ea typeface="Calibri"/>
              </a:rPr>
              <a:t>Zgodna z prerejestracją</a:t>
            </a:r>
            <a:endParaRPr lang="pl-PL" sz="1400" b="0" u="none" strike="noStrike" dirty="0">
              <a:solidFill>
                <a:srgbClr val="000000"/>
              </a:solidFill>
              <a:effectLst/>
              <a:uFillTx/>
              <a:latin typeface="Arial"/>
            </a:endParaRPr>
          </a:p>
        </p:txBody>
      </p:sp>
      <p:sp>
        <p:nvSpPr>
          <p:cNvPr id="330" name="Shape 824"/>
          <p:cNvSpPr/>
          <p:nvPr/>
        </p:nvSpPr>
        <p:spPr>
          <a:xfrm>
            <a:off x="8649000" y="1844280"/>
            <a:ext cx="442800" cy="442800"/>
          </a:xfrm>
          <a:prstGeom prst="ellipse">
            <a:avLst/>
          </a:prstGeom>
          <a:solidFill>
            <a:srgbClr val="3ECFB2"/>
          </a:solidFill>
          <a:ln w="0">
            <a:noFill/>
          </a:ln>
          <a:effectLst>
            <a:outerShdw blurRad="101520" dist="37674"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331" name="Shape 825"/>
          <p:cNvSpPr/>
          <p:nvPr/>
        </p:nvSpPr>
        <p:spPr>
          <a:xfrm flipV="1">
            <a:off x="8871120" y="1340640"/>
            <a:ext cx="360" cy="504000"/>
          </a:xfrm>
          <a:prstGeom prst="line">
            <a:avLst/>
          </a:prstGeom>
          <a:ln w="12700">
            <a:solidFill>
              <a:srgbClr val="7A83B0"/>
            </a:solidFill>
            <a:prstDash val="sysDot"/>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pl-PL" sz="1800" b="0" u="none" strike="noStrike">
              <a:solidFill>
                <a:srgbClr val="000000"/>
              </a:solidFill>
              <a:effectLst/>
              <a:uFillTx/>
              <a:latin typeface="Arial"/>
            </a:endParaRPr>
          </a:p>
        </p:txBody>
      </p:sp>
      <p:sp>
        <p:nvSpPr>
          <p:cNvPr id="332" name="Shape 826"/>
          <p:cNvSpPr/>
          <p:nvPr/>
        </p:nvSpPr>
        <p:spPr>
          <a:xfrm>
            <a:off x="7748280" y="787320"/>
            <a:ext cx="2288160" cy="637200"/>
          </a:xfrm>
          <a:prstGeom prst="roundRect">
            <a:avLst>
              <a:gd name="adj" fmla="val 8000"/>
            </a:avLst>
          </a:prstGeom>
          <a:solidFill>
            <a:srgbClr val="FFFFFF"/>
          </a:solidFill>
          <a:ln w="0">
            <a:solidFill>
              <a:schemeClr val="tx2"/>
            </a:solidFill>
          </a:ln>
          <a:effectLst>
            <a:outerShdw blurRad="101520" dist="37674"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333" name="Text 903"/>
          <p:cNvSpPr/>
          <p:nvPr/>
        </p:nvSpPr>
        <p:spPr>
          <a:xfrm>
            <a:off x="7748280" y="787320"/>
            <a:ext cx="2287800" cy="340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600" b="1" u="none" strike="noStrike" dirty="0">
                <a:solidFill>
                  <a:schemeClr val="accent6"/>
                </a:solidFill>
                <a:effectLst/>
                <a:uFillTx/>
                <a:latin typeface="Cambria"/>
                <a:ea typeface="Cambria"/>
              </a:rPr>
              <a:t>Analiza eksploracyjna</a:t>
            </a:r>
            <a:endParaRPr lang="pl-PL" sz="1600" b="0" u="none" strike="noStrike" dirty="0">
              <a:solidFill>
                <a:srgbClr val="000000"/>
              </a:solidFill>
              <a:effectLst/>
              <a:uFillTx/>
              <a:latin typeface="Arial"/>
            </a:endParaRPr>
          </a:p>
        </p:txBody>
      </p:sp>
      <p:sp>
        <p:nvSpPr>
          <p:cNvPr id="334" name="Text 904"/>
          <p:cNvSpPr/>
          <p:nvPr/>
        </p:nvSpPr>
        <p:spPr>
          <a:xfrm>
            <a:off x="7747914" y="1118520"/>
            <a:ext cx="2288166" cy="270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tabLst>
                <a:tab pos="0" algn="l"/>
              </a:tabLst>
            </a:pPr>
            <a:r>
              <a:rPr lang="pl-PL" sz="1400" b="0" u="none" strike="noStrike" dirty="0">
                <a:solidFill>
                  <a:srgbClr val="4A5280"/>
                </a:solidFill>
                <a:effectLst/>
                <a:uFillTx/>
                <a:latin typeface="Calibri"/>
                <a:ea typeface="Calibri"/>
              </a:rPr>
              <a:t>Opisana jako eksploracyjna</a:t>
            </a:r>
            <a:endParaRPr lang="pl-PL" sz="1400" b="0" u="none" strike="noStrike" dirty="0">
              <a:solidFill>
                <a:srgbClr val="000000"/>
              </a:solidFill>
              <a:effectLst/>
              <a:uFillTx/>
              <a:latin typeface="Arial"/>
            </a:endParaRPr>
          </a:p>
        </p:txBody>
      </p:sp>
      <p:sp>
        <p:nvSpPr>
          <p:cNvPr id="335" name="Shape 827"/>
          <p:cNvSpPr/>
          <p:nvPr/>
        </p:nvSpPr>
        <p:spPr>
          <a:xfrm>
            <a:off x="5070240" y="1360800"/>
            <a:ext cx="360" cy="3024360"/>
          </a:xfrm>
          <a:prstGeom prst="line">
            <a:avLst/>
          </a:prstGeom>
          <a:ln w="12700">
            <a:solidFill>
              <a:srgbClr val="7A83B0"/>
            </a:solidFill>
            <a:prstDash val="dash"/>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pl-PL" sz="1800" b="0" u="none" strike="noStrike">
              <a:solidFill>
                <a:srgbClr val="000000"/>
              </a:solidFill>
              <a:effectLst/>
              <a:uFillTx/>
              <a:latin typeface="Arial"/>
            </a:endParaRPr>
          </a:p>
        </p:txBody>
      </p:sp>
      <p:sp>
        <p:nvSpPr>
          <p:cNvPr id="336" name="Text 905"/>
          <p:cNvSpPr/>
          <p:nvPr/>
        </p:nvSpPr>
        <p:spPr>
          <a:xfrm>
            <a:off x="2822400" y="4334760"/>
            <a:ext cx="2115720" cy="30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400" b="0" i="1" u="none" strike="noStrike" dirty="0">
                <a:solidFill>
                  <a:srgbClr val="7A83B0"/>
                </a:solidFill>
                <a:effectLst/>
                <a:uFillTx/>
                <a:latin typeface="Book Antiqua" panose="02040602050305030304" pitchFamily="18" charset="0"/>
                <a:ea typeface="Calibri"/>
              </a:rPr>
              <a:t>konfirmacyjna</a:t>
            </a:r>
            <a:endParaRPr lang="pl-PL" sz="2400" b="0" i="1" u="none" strike="noStrike" dirty="0">
              <a:solidFill>
                <a:srgbClr val="000000"/>
              </a:solidFill>
              <a:effectLst/>
              <a:uFillTx/>
              <a:latin typeface="Book Antiqua" panose="02040602050305030304" pitchFamily="18" charset="0"/>
            </a:endParaRPr>
          </a:p>
        </p:txBody>
      </p:sp>
      <p:sp>
        <p:nvSpPr>
          <p:cNvPr id="337" name="Text 906"/>
          <p:cNvSpPr/>
          <p:nvPr/>
        </p:nvSpPr>
        <p:spPr>
          <a:xfrm>
            <a:off x="5241600" y="4334760"/>
            <a:ext cx="2115720" cy="30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400" b="0" i="1" u="none" strike="noStrike" dirty="0">
                <a:solidFill>
                  <a:srgbClr val="7A83B0"/>
                </a:solidFill>
                <a:effectLst/>
                <a:uFillTx/>
                <a:latin typeface="Book Antiqua" panose="02040602050305030304" pitchFamily="18" charset="0"/>
                <a:ea typeface="Calibri"/>
              </a:rPr>
              <a:t>eksploracyjna</a:t>
            </a:r>
            <a:endParaRPr lang="pl-PL" sz="2400" b="0" i="1" u="none" strike="noStrike" dirty="0">
              <a:solidFill>
                <a:srgbClr val="000000"/>
              </a:solidFill>
              <a:effectLst/>
              <a:uFillTx/>
              <a:latin typeface="Book Antiqua" panose="02040602050305030304" pitchFamily="18" charset="0"/>
            </a:endParaRPr>
          </a:p>
        </p:txBody>
      </p:sp>
      <p:sp>
        <p:nvSpPr>
          <p:cNvPr id="338" name="Shape 828"/>
          <p:cNvSpPr/>
          <p:nvPr/>
        </p:nvSpPr>
        <p:spPr>
          <a:xfrm>
            <a:off x="403200" y="4919400"/>
            <a:ext cx="9272880" cy="522720"/>
          </a:xfrm>
          <a:prstGeom prst="roundRect">
            <a:avLst>
              <a:gd name="adj" fmla="val 10256"/>
            </a:avLst>
          </a:prstGeom>
          <a:solidFill>
            <a:srgbClr val="EEF3FF"/>
          </a:solidFill>
          <a:ln w="0">
            <a:solidFill>
              <a:srgbClr val="B9BED9"/>
            </a:solidFill>
          </a:ln>
          <a:effectLst>
            <a:outerShdw blurRad="101520" dist="37674"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500" b="0" u="none" strike="noStrike" dirty="0" err="1">
                <a:solidFill>
                  <a:srgbClr val="1E2761"/>
                </a:solidFill>
                <a:effectLst/>
                <a:uFillTx/>
                <a:latin typeface="Calibri"/>
                <a:ea typeface="Calibri"/>
              </a:rPr>
              <a:t>Prerejestracja</a:t>
            </a:r>
            <a:r>
              <a:rPr lang="pl-PL" sz="1500" b="0" u="none" strike="noStrike" dirty="0">
                <a:solidFill>
                  <a:srgbClr val="1E2761"/>
                </a:solidFill>
                <a:effectLst/>
                <a:uFillTx/>
                <a:latin typeface="Calibri"/>
                <a:ea typeface="Calibri"/>
              </a:rPr>
              <a:t> zawiera</a:t>
            </a:r>
            <a:r>
              <a:rPr lang="pl-PL" sz="1500" b="0" u="none" strike="noStrike" spc="-60" dirty="0">
                <a:solidFill>
                  <a:srgbClr val="1E2761"/>
                </a:solidFill>
                <a:effectLst/>
                <a:uFillTx/>
                <a:latin typeface="Calibri"/>
                <a:ea typeface="Calibri"/>
              </a:rPr>
              <a:t>: </a:t>
            </a:r>
            <a:r>
              <a:rPr lang="pl-PL" sz="1500" b="0" u="none" strike="noStrike" dirty="0">
                <a:solidFill>
                  <a:srgbClr val="1E2761"/>
                </a:solidFill>
                <a:effectLst/>
                <a:uFillTx/>
                <a:latin typeface="Calibri"/>
                <a:ea typeface="Calibri"/>
              </a:rPr>
              <a:t>hipotezy</a:t>
            </a:r>
            <a:r>
              <a:rPr lang="pl-PL" sz="1500" b="0" u="none" strike="noStrike" spc="-200" dirty="0">
                <a:solidFill>
                  <a:srgbClr val="1E2761"/>
                </a:solidFill>
                <a:effectLst/>
                <a:uFillTx/>
                <a:latin typeface="Calibri"/>
                <a:ea typeface="Calibri"/>
              </a:rPr>
              <a:t>  ·  </a:t>
            </a:r>
            <a:r>
              <a:rPr lang="pl-PL" sz="1500" b="0" u="none" strike="noStrike" dirty="0">
                <a:solidFill>
                  <a:srgbClr val="1E2761"/>
                </a:solidFill>
                <a:effectLst/>
                <a:uFillTx/>
                <a:latin typeface="Calibri"/>
                <a:ea typeface="Calibri"/>
              </a:rPr>
              <a:t>plan analizy</a:t>
            </a:r>
            <a:r>
              <a:rPr lang="pl-PL" sz="1500" b="0" u="none" strike="noStrike" spc="-260" dirty="0">
                <a:solidFill>
                  <a:srgbClr val="1E2761"/>
                </a:solidFill>
                <a:effectLst/>
                <a:uFillTx/>
                <a:latin typeface="Calibri"/>
                <a:ea typeface="Calibri"/>
              </a:rPr>
              <a:t> </a:t>
            </a:r>
            <a:r>
              <a:rPr lang="pl-PL" sz="1500" b="0" u="none" strike="noStrike" spc="-160" dirty="0">
                <a:solidFill>
                  <a:srgbClr val="1E2761"/>
                </a:solidFill>
                <a:effectLst/>
                <a:uFillTx/>
                <a:latin typeface="Calibri"/>
                <a:ea typeface="Calibri"/>
              </a:rPr>
              <a:t> ·  </a:t>
            </a:r>
            <a:r>
              <a:rPr lang="pl-PL" sz="1500" b="0" u="none" strike="noStrike" dirty="0">
                <a:solidFill>
                  <a:srgbClr val="1E2761"/>
                </a:solidFill>
                <a:effectLst/>
                <a:uFillTx/>
                <a:latin typeface="Calibri"/>
                <a:ea typeface="Calibri"/>
              </a:rPr>
              <a:t>kryteria wykluczenia</a:t>
            </a:r>
            <a:r>
              <a:rPr lang="pl-PL" sz="1500" b="0" u="none" strike="noStrike" spc="-100" dirty="0">
                <a:solidFill>
                  <a:srgbClr val="1E2761"/>
                </a:solidFill>
                <a:effectLst/>
                <a:uFillTx/>
                <a:latin typeface="Calibri"/>
                <a:ea typeface="Calibri"/>
              </a:rPr>
              <a:t>  ·  </a:t>
            </a:r>
            <a:r>
              <a:rPr lang="pl-PL" sz="1500" b="0" u="none" strike="noStrike" dirty="0">
                <a:solidFill>
                  <a:srgbClr val="1E2761"/>
                </a:solidFill>
                <a:effectLst/>
                <a:uFillTx/>
                <a:latin typeface="Calibri"/>
                <a:ea typeface="Calibri"/>
              </a:rPr>
              <a:t>zmienne zależne i eksploracyjne</a:t>
            </a:r>
            <a:r>
              <a:rPr lang="pl-PL" sz="1500" b="0" u="none" strike="noStrike" spc="-100" dirty="0">
                <a:solidFill>
                  <a:srgbClr val="1E2761"/>
                </a:solidFill>
                <a:effectLst/>
                <a:uFillTx/>
                <a:latin typeface="Calibri"/>
                <a:ea typeface="Calibri"/>
              </a:rPr>
              <a:t>  ·  </a:t>
            </a:r>
            <a:r>
              <a:rPr lang="pl-PL" sz="1500" b="0" u="none" strike="noStrike" dirty="0">
                <a:solidFill>
                  <a:srgbClr val="1E2761"/>
                </a:solidFill>
                <a:effectLst/>
                <a:uFillTx/>
                <a:latin typeface="Calibri"/>
                <a:ea typeface="Calibri"/>
              </a:rPr>
              <a:t>wielkość próby</a:t>
            </a:r>
            <a:endParaRPr lang="pl-PL" sz="1500" b="0" u="none" strike="noStrike" dirty="0">
              <a:solidFill>
                <a:srgbClr val="000000"/>
              </a:solidFill>
              <a:effectLst/>
              <a:uFillTx/>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99"/>
            <a:ext cx="10080625" cy="1008063"/>
          </a:xfrm>
          <a:prstGeom prst="rect">
            <a:avLst/>
          </a:prstGeom>
          <a:solidFill>
            <a:srgbClr val="1E2761"/>
          </a:solidFill>
          <a:ln w="12700">
            <a:solidFill>
              <a:srgbClr val="1E2761"/>
            </a:solidFill>
            <a:prstDash val="solid"/>
          </a:ln>
        </p:spPr>
      </p:sp>
      <p:sp>
        <p:nvSpPr>
          <p:cNvPr id="3" name="Text 1"/>
          <p:cNvSpPr/>
          <p:nvPr/>
        </p:nvSpPr>
        <p:spPr>
          <a:xfrm>
            <a:off x="453628" y="70664"/>
            <a:ext cx="9173369" cy="504031"/>
          </a:xfrm>
          <a:prstGeom prst="rect">
            <a:avLst/>
          </a:prstGeom>
          <a:noFill/>
          <a:ln/>
        </p:spPr>
        <p:txBody>
          <a:bodyPr wrap="square" rtlCol="0" anchor="b"/>
          <a:lstStyle/>
          <a:p>
            <a:r>
              <a:rPr lang="en-US" sz="2200" b="1" dirty="0">
                <a:solidFill>
                  <a:srgbClr val="FFFFFF"/>
                </a:solidFill>
                <a:latin typeface="Cambria" pitchFamily="34" charset="0"/>
                <a:ea typeface="Cambria" pitchFamily="34" charset="-122"/>
                <a:cs typeface="Cambria" pitchFamily="34" charset="-120"/>
              </a:rPr>
              <a:t>DOBÓR PRÓBY I ANALIZA MOCY STATYSTYCZNEJ</a:t>
            </a:r>
            <a:endParaRPr lang="en-US" sz="2200" dirty="0"/>
          </a:p>
        </p:txBody>
      </p:sp>
      <p:sp>
        <p:nvSpPr>
          <p:cNvPr id="4" name="Text 2"/>
          <p:cNvSpPr/>
          <p:nvPr/>
        </p:nvSpPr>
        <p:spPr>
          <a:xfrm>
            <a:off x="453628" y="594856"/>
            <a:ext cx="9173369" cy="332661"/>
          </a:xfrm>
          <a:prstGeom prst="rect">
            <a:avLst/>
          </a:prstGeom>
          <a:noFill/>
          <a:ln/>
        </p:spPr>
        <p:txBody>
          <a:bodyPr wrap="square" rtlCol="0" anchor="t"/>
          <a:lstStyle/>
          <a:p>
            <a:r>
              <a:rPr lang="en-US" sz="1400" i="1" dirty="0">
                <a:solidFill>
                  <a:srgbClr val="CADCFC"/>
                </a:solidFill>
                <a:latin typeface="Calibri" pitchFamily="34" charset="0"/>
                <a:ea typeface="Calibri" pitchFamily="34" charset="-122"/>
                <a:cs typeface="Calibri" pitchFamily="34" charset="-120"/>
              </a:rPr>
              <a:t>Liczebność próby jako decyzja metodologiczna, nie logistyczna</a:t>
            </a:r>
            <a:endParaRPr lang="en-US" sz="1400" dirty="0"/>
          </a:p>
        </p:txBody>
      </p:sp>
      <p:sp>
        <p:nvSpPr>
          <p:cNvPr id="5" name="Shape 3"/>
          <p:cNvSpPr/>
          <p:nvPr/>
        </p:nvSpPr>
        <p:spPr>
          <a:xfrm>
            <a:off x="403225" y="1108968"/>
            <a:ext cx="4536281" cy="3615432"/>
          </a:xfrm>
          <a:prstGeom prst="roundRect">
            <a:avLst>
              <a:gd name="adj" fmla="val 2857"/>
            </a:avLst>
          </a:prstGeom>
          <a:solidFill>
            <a:srgbClr val="FFFFFF"/>
          </a:solidFill>
          <a:ln>
            <a:solidFill>
              <a:schemeClr val="bg2">
                <a:lumMod val="90000"/>
              </a:schemeClr>
            </a:solidFill>
          </a:ln>
          <a:effectLst>
            <a:outerShdw blurRad="76200" dist="25400" dir="2700000" algn="bl" rotWithShape="0">
              <a:srgbClr val="000000">
                <a:alpha val="8000"/>
              </a:srgbClr>
            </a:outerShdw>
          </a:effectLst>
        </p:spPr>
      </p:sp>
      <p:sp>
        <p:nvSpPr>
          <p:cNvPr id="6" name="Text 4"/>
          <p:cNvSpPr/>
          <p:nvPr/>
        </p:nvSpPr>
        <p:spPr>
          <a:xfrm>
            <a:off x="444103" y="1130241"/>
            <a:ext cx="4233863" cy="281146"/>
          </a:xfrm>
          <a:prstGeom prst="rect">
            <a:avLst/>
          </a:prstGeom>
          <a:noFill/>
          <a:ln/>
        </p:spPr>
        <p:txBody>
          <a:bodyPr wrap="square" rtlCol="0" anchor="ctr"/>
          <a:lstStyle/>
          <a:p>
            <a:r>
              <a:rPr lang="en-US" sz="1600" b="1" dirty="0">
                <a:solidFill>
                  <a:srgbClr val="1E2761"/>
                </a:solidFill>
                <a:latin typeface="Cambria" pitchFamily="34" charset="0"/>
                <a:ea typeface="Cambria" pitchFamily="34" charset="-122"/>
                <a:cs typeface="Cambria" pitchFamily="34" charset="-120"/>
              </a:rPr>
              <a:t>Cztery powiązane składowe</a:t>
            </a:r>
            <a:endParaRPr lang="en-US" sz="1600" dirty="0"/>
          </a:p>
        </p:txBody>
      </p:sp>
      <p:sp>
        <p:nvSpPr>
          <p:cNvPr id="7" name="Shape 5"/>
          <p:cNvSpPr/>
          <p:nvPr/>
        </p:nvSpPr>
        <p:spPr>
          <a:xfrm>
            <a:off x="2671365" y="1915418"/>
            <a:ext cx="1562497" cy="1058466"/>
          </a:xfrm>
          <a:prstGeom prst="line">
            <a:avLst/>
          </a:prstGeom>
          <a:noFill/>
          <a:ln w="15240">
            <a:solidFill>
              <a:srgbClr val="8A93C0"/>
            </a:solidFill>
            <a:prstDash val="sysDot"/>
          </a:ln>
        </p:spPr>
      </p:sp>
      <p:sp>
        <p:nvSpPr>
          <p:cNvPr id="8" name="Shape 6"/>
          <p:cNvSpPr/>
          <p:nvPr/>
        </p:nvSpPr>
        <p:spPr>
          <a:xfrm>
            <a:off x="2671365" y="2973883"/>
            <a:ext cx="1562497" cy="1058466"/>
          </a:xfrm>
          <a:prstGeom prst="line">
            <a:avLst/>
          </a:prstGeom>
          <a:noFill/>
          <a:ln w="15240">
            <a:solidFill>
              <a:srgbClr val="8A93C0"/>
            </a:solidFill>
            <a:prstDash val="sysDot"/>
          </a:ln>
        </p:spPr>
      </p:sp>
      <p:sp>
        <p:nvSpPr>
          <p:cNvPr id="9" name="Shape 7"/>
          <p:cNvSpPr/>
          <p:nvPr/>
        </p:nvSpPr>
        <p:spPr>
          <a:xfrm>
            <a:off x="1108868" y="2973883"/>
            <a:ext cx="1562497" cy="1058466"/>
          </a:xfrm>
          <a:prstGeom prst="line">
            <a:avLst/>
          </a:prstGeom>
          <a:noFill/>
          <a:ln w="15240">
            <a:solidFill>
              <a:srgbClr val="8A93C0"/>
            </a:solidFill>
            <a:prstDash val="sysDot"/>
          </a:ln>
        </p:spPr>
      </p:sp>
      <p:sp>
        <p:nvSpPr>
          <p:cNvPr id="10" name="Shape 8"/>
          <p:cNvSpPr/>
          <p:nvPr/>
        </p:nvSpPr>
        <p:spPr>
          <a:xfrm>
            <a:off x="1108868" y="1915418"/>
            <a:ext cx="1562497" cy="1058466"/>
          </a:xfrm>
          <a:prstGeom prst="line">
            <a:avLst/>
          </a:prstGeom>
          <a:noFill/>
          <a:ln w="15240">
            <a:solidFill>
              <a:srgbClr val="8A93C0"/>
            </a:solidFill>
            <a:prstDash val="sysDot"/>
          </a:ln>
        </p:spPr>
      </p:sp>
      <p:sp>
        <p:nvSpPr>
          <p:cNvPr id="11" name="Shape 9"/>
          <p:cNvSpPr/>
          <p:nvPr/>
        </p:nvSpPr>
        <p:spPr>
          <a:xfrm>
            <a:off x="1846974" y="2651304"/>
            <a:ext cx="1643143" cy="645160"/>
          </a:xfrm>
          <a:prstGeom prst="roundRect">
            <a:avLst>
              <a:gd name="adj" fmla="val 12500"/>
            </a:avLst>
          </a:prstGeom>
          <a:solidFill>
            <a:srgbClr val="FFF3CD"/>
          </a:solidFill>
          <a:ln/>
        </p:spPr>
      </p:sp>
      <p:sp>
        <p:nvSpPr>
          <p:cNvPr id="12" name="Text 10"/>
          <p:cNvSpPr/>
          <p:nvPr/>
        </p:nvSpPr>
        <p:spPr>
          <a:xfrm>
            <a:off x="1814512" y="2651304"/>
            <a:ext cx="1713706" cy="645160"/>
          </a:xfrm>
          <a:prstGeom prst="rect">
            <a:avLst/>
          </a:prstGeom>
          <a:noFill/>
          <a:ln/>
        </p:spPr>
        <p:txBody>
          <a:bodyPr wrap="square" rtlCol="0" anchor="ctr"/>
          <a:lstStyle/>
          <a:p>
            <a:pPr algn="ctr">
              <a:lnSpc>
                <a:spcPct val="110000"/>
              </a:lnSpc>
            </a:pPr>
            <a:r>
              <a:rPr lang="en-US" sz="1400" dirty="0">
                <a:solidFill>
                  <a:srgbClr val="7B4F00"/>
                </a:solidFill>
                <a:latin typeface="Calibri" pitchFamily="34" charset="0"/>
                <a:ea typeface="Calibri" pitchFamily="34" charset="-122"/>
                <a:cs typeface="Calibri" pitchFamily="34" charset="-120"/>
              </a:rPr>
              <a:t>znając trzy,</a:t>
            </a:r>
            <a:endParaRPr lang="en-US" sz="1400" dirty="0"/>
          </a:p>
          <a:p>
            <a:pPr algn="ctr">
              <a:lnSpc>
                <a:spcPct val="110000"/>
              </a:lnSpc>
            </a:pPr>
            <a:r>
              <a:rPr lang="en-US" sz="1400" dirty="0">
                <a:solidFill>
                  <a:srgbClr val="7B4F00"/>
                </a:solidFill>
                <a:latin typeface="Calibri" pitchFamily="34" charset="0"/>
                <a:ea typeface="Calibri" pitchFamily="34" charset="-122"/>
                <a:cs typeface="Calibri" pitchFamily="34" charset="-120"/>
              </a:rPr>
              <a:t>wyznaczamy czwarty</a:t>
            </a:r>
            <a:endParaRPr lang="en-US" sz="1400" dirty="0"/>
          </a:p>
        </p:txBody>
      </p:sp>
      <p:sp>
        <p:nvSpPr>
          <p:cNvPr id="13" name="Shape 11"/>
          <p:cNvSpPr/>
          <p:nvPr/>
        </p:nvSpPr>
        <p:spPr>
          <a:xfrm>
            <a:off x="2046366" y="1592836"/>
            <a:ext cx="1249998" cy="725806"/>
          </a:xfrm>
          <a:prstGeom prst="ellipse">
            <a:avLst/>
          </a:prstGeom>
          <a:solidFill>
            <a:srgbClr val="1E2761"/>
          </a:solidFill>
          <a:ln/>
          <a:effectLst>
            <a:outerShdw blurRad="76200" dist="25400" dir="2700000" algn="bl" rotWithShape="0">
              <a:srgbClr val="000000">
                <a:alpha val="8000"/>
              </a:srgbClr>
            </a:outerShdw>
          </a:effectLst>
        </p:spPr>
      </p:sp>
      <p:sp>
        <p:nvSpPr>
          <p:cNvPr id="14" name="Text 12"/>
          <p:cNvSpPr/>
          <p:nvPr/>
        </p:nvSpPr>
        <p:spPr>
          <a:xfrm>
            <a:off x="2046366" y="1592837"/>
            <a:ext cx="1249998" cy="725805"/>
          </a:xfrm>
          <a:prstGeom prst="rect">
            <a:avLst/>
          </a:prstGeom>
          <a:noFill/>
          <a:ln/>
        </p:spPr>
        <p:txBody>
          <a:bodyPr wrap="square" rtlCol="0" anchor="ctr"/>
          <a:lstStyle/>
          <a:p>
            <a:pPr algn="ctr">
              <a:lnSpc>
                <a:spcPct val="105000"/>
              </a:lnSpc>
            </a:pPr>
            <a:r>
              <a:rPr lang="en-US" sz="1400" b="1" dirty="0">
                <a:solidFill>
                  <a:srgbClr val="FFFFFF"/>
                </a:solidFill>
                <a:latin typeface="Cambria" pitchFamily="34" charset="0"/>
                <a:ea typeface="Cambria" pitchFamily="34" charset="-122"/>
                <a:cs typeface="Cambria" pitchFamily="34" charset="-120"/>
              </a:rPr>
              <a:t>Wielkość</a:t>
            </a:r>
            <a:endParaRPr lang="en-US" sz="1400" dirty="0"/>
          </a:p>
          <a:p>
            <a:pPr algn="ctr">
              <a:lnSpc>
                <a:spcPct val="105000"/>
              </a:lnSpc>
            </a:pPr>
            <a:r>
              <a:rPr lang="en-US" sz="1400" b="1" dirty="0">
                <a:solidFill>
                  <a:srgbClr val="FFFFFF"/>
                </a:solidFill>
                <a:latin typeface="Cambria" pitchFamily="34" charset="0"/>
                <a:ea typeface="Cambria" pitchFamily="34" charset="-122"/>
                <a:cs typeface="Cambria" pitchFamily="34" charset="-120"/>
              </a:rPr>
              <a:t>efektu</a:t>
            </a:r>
            <a:endParaRPr lang="en-US" sz="1400" dirty="0"/>
          </a:p>
        </p:txBody>
      </p:sp>
      <p:sp>
        <p:nvSpPr>
          <p:cNvPr id="15" name="Shape 13"/>
          <p:cNvSpPr/>
          <p:nvPr/>
        </p:nvSpPr>
        <p:spPr>
          <a:xfrm>
            <a:off x="3608863" y="2671465"/>
            <a:ext cx="1179433" cy="705644"/>
          </a:xfrm>
          <a:prstGeom prst="ellipse">
            <a:avLst/>
          </a:prstGeom>
          <a:solidFill>
            <a:srgbClr val="2D3B8E"/>
          </a:solidFill>
          <a:ln/>
          <a:effectLst>
            <a:outerShdw blurRad="76200" dist="25400" dir="2700000" algn="bl" rotWithShape="0">
              <a:srgbClr val="000000">
                <a:alpha val="8000"/>
              </a:srgbClr>
            </a:outerShdw>
          </a:effectLst>
        </p:spPr>
      </p:sp>
      <p:sp>
        <p:nvSpPr>
          <p:cNvPr id="16" name="Text 14"/>
          <p:cNvSpPr/>
          <p:nvPr/>
        </p:nvSpPr>
        <p:spPr>
          <a:xfrm>
            <a:off x="3608863" y="2664163"/>
            <a:ext cx="1249998" cy="712946"/>
          </a:xfrm>
          <a:prstGeom prst="rect">
            <a:avLst/>
          </a:prstGeom>
          <a:noFill/>
          <a:ln/>
        </p:spPr>
        <p:txBody>
          <a:bodyPr wrap="square" rtlCol="0" anchor="ctr"/>
          <a:lstStyle/>
          <a:p>
            <a:pPr algn="ctr">
              <a:lnSpc>
                <a:spcPct val="105000"/>
              </a:lnSpc>
            </a:pPr>
            <a:r>
              <a:rPr lang="en-US" sz="1400" b="1" dirty="0">
                <a:solidFill>
                  <a:srgbClr val="FFFFFF"/>
                </a:solidFill>
                <a:latin typeface="Cambria" pitchFamily="34" charset="0"/>
                <a:ea typeface="Cambria" pitchFamily="34" charset="-122"/>
                <a:cs typeface="Cambria" pitchFamily="34" charset="-120"/>
              </a:rPr>
              <a:t>Poziom α</a:t>
            </a:r>
            <a:endParaRPr lang="en-US" sz="1400" dirty="0"/>
          </a:p>
        </p:txBody>
      </p:sp>
      <p:sp>
        <p:nvSpPr>
          <p:cNvPr id="17" name="Shape 15"/>
          <p:cNvSpPr/>
          <p:nvPr/>
        </p:nvSpPr>
        <p:spPr>
          <a:xfrm>
            <a:off x="2046366" y="3629124"/>
            <a:ext cx="1249998" cy="735885"/>
          </a:xfrm>
          <a:prstGeom prst="ellipse">
            <a:avLst/>
          </a:prstGeom>
          <a:solidFill>
            <a:srgbClr val="5B8FF9"/>
          </a:solidFill>
          <a:ln/>
          <a:effectLst>
            <a:outerShdw blurRad="76200" dist="25400" dir="2700000" algn="bl" rotWithShape="0">
              <a:srgbClr val="000000">
                <a:alpha val="8000"/>
              </a:srgbClr>
            </a:outerShdw>
          </a:effectLst>
        </p:spPr>
      </p:sp>
      <p:sp>
        <p:nvSpPr>
          <p:cNvPr id="18" name="Text 16"/>
          <p:cNvSpPr/>
          <p:nvPr/>
        </p:nvSpPr>
        <p:spPr>
          <a:xfrm>
            <a:off x="2046366" y="3681195"/>
            <a:ext cx="1249998" cy="604836"/>
          </a:xfrm>
          <a:prstGeom prst="rect">
            <a:avLst/>
          </a:prstGeom>
          <a:noFill/>
          <a:ln/>
        </p:spPr>
        <p:txBody>
          <a:bodyPr wrap="square" rtlCol="0" anchor="ctr"/>
          <a:lstStyle/>
          <a:p>
            <a:pPr algn="ctr"/>
            <a:r>
              <a:rPr lang="en-US" sz="1600" b="1" dirty="0">
                <a:solidFill>
                  <a:srgbClr val="FFFFFF"/>
                </a:solidFill>
                <a:latin typeface="Cambria" pitchFamily="34" charset="0"/>
                <a:ea typeface="Cambria" pitchFamily="34" charset="-122"/>
                <a:cs typeface="Cambria" pitchFamily="34" charset="-120"/>
              </a:rPr>
              <a:t>Moc</a:t>
            </a:r>
            <a:endParaRPr lang="en-US" sz="1600" dirty="0"/>
          </a:p>
          <a:p>
            <a:pPr algn="ctr"/>
            <a:r>
              <a:rPr lang="en-US" sz="1600" dirty="0">
                <a:solidFill>
                  <a:srgbClr val="FFFFFF"/>
                </a:solidFill>
                <a:latin typeface="Cambria" pitchFamily="34" charset="0"/>
                <a:ea typeface="Cambria" pitchFamily="34" charset="-122"/>
                <a:cs typeface="Cambria" pitchFamily="34" charset="-120"/>
              </a:rPr>
              <a:t>(1</a:t>
            </a:r>
            <a:r>
              <a:rPr lang="pl-PL" sz="1600" dirty="0">
                <a:solidFill>
                  <a:srgbClr val="FFFFFF"/>
                </a:solidFill>
                <a:latin typeface="Cambria" pitchFamily="34" charset="0"/>
                <a:ea typeface="Cambria" pitchFamily="34" charset="-122"/>
                <a:cs typeface="Cambria" pitchFamily="34" charset="-120"/>
              </a:rPr>
              <a:t>-</a:t>
            </a:r>
            <a:r>
              <a:rPr lang="en-US" sz="1600" dirty="0">
                <a:solidFill>
                  <a:srgbClr val="FFFFFF"/>
                </a:solidFill>
                <a:latin typeface="Cambria" pitchFamily="34" charset="0"/>
                <a:ea typeface="Cambria" pitchFamily="34" charset="-122"/>
                <a:cs typeface="Cambria" pitchFamily="34" charset="-120"/>
              </a:rPr>
              <a:t>β)</a:t>
            </a:r>
            <a:endParaRPr lang="en-US" sz="1600" dirty="0"/>
          </a:p>
        </p:txBody>
      </p:sp>
      <p:sp>
        <p:nvSpPr>
          <p:cNvPr id="19" name="Shape 17"/>
          <p:cNvSpPr/>
          <p:nvPr/>
        </p:nvSpPr>
        <p:spPr>
          <a:xfrm>
            <a:off x="483869" y="2570659"/>
            <a:ext cx="1249998" cy="806450"/>
          </a:xfrm>
          <a:prstGeom prst="ellipse">
            <a:avLst/>
          </a:prstGeom>
          <a:solidFill>
            <a:srgbClr val="2D7DD2"/>
          </a:solidFill>
          <a:ln/>
          <a:effectLst>
            <a:outerShdw blurRad="76200" dist="25400" dir="2700000" algn="bl" rotWithShape="0">
              <a:srgbClr val="000000">
                <a:alpha val="8000"/>
              </a:srgbClr>
            </a:outerShdw>
          </a:effectLst>
        </p:spPr>
      </p:sp>
      <p:sp>
        <p:nvSpPr>
          <p:cNvPr id="20" name="Text 18"/>
          <p:cNvSpPr/>
          <p:nvPr/>
        </p:nvSpPr>
        <p:spPr>
          <a:xfrm>
            <a:off x="483869" y="2570659"/>
            <a:ext cx="1249998" cy="806450"/>
          </a:xfrm>
          <a:prstGeom prst="rect">
            <a:avLst/>
          </a:prstGeom>
          <a:noFill/>
          <a:ln/>
        </p:spPr>
        <p:txBody>
          <a:bodyPr wrap="square" rtlCol="0" anchor="ctr"/>
          <a:lstStyle/>
          <a:p>
            <a:pPr algn="ctr">
              <a:lnSpc>
                <a:spcPct val="105000"/>
              </a:lnSpc>
            </a:pPr>
            <a:r>
              <a:rPr lang="en-US" sz="1400" b="1" dirty="0">
                <a:solidFill>
                  <a:srgbClr val="FFFFFF"/>
                </a:solidFill>
                <a:latin typeface="Cambria" pitchFamily="34" charset="0"/>
                <a:ea typeface="Cambria" pitchFamily="34" charset="-122"/>
                <a:cs typeface="Cambria" pitchFamily="34" charset="-120"/>
              </a:rPr>
              <a:t>Liczebność</a:t>
            </a:r>
            <a:endParaRPr lang="en-US" sz="1400" dirty="0"/>
          </a:p>
          <a:p>
            <a:pPr algn="ctr">
              <a:lnSpc>
                <a:spcPct val="105000"/>
              </a:lnSpc>
            </a:pPr>
            <a:r>
              <a:rPr lang="en-US" sz="1400" b="1" dirty="0">
                <a:solidFill>
                  <a:srgbClr val="FFFFFF"/>
                </a:solidFill>
                <a:latin typeface="Cambria" pitchFamily="34" charset="0"/>
                <a:ea typeface="Cambria" pitchFamily="34" charset="-122"/>
                <a:cs typeface="Cambria" pitchFamily="34" charset="-120"/>
              </a:rPr>
              <a:t>próby n</a:t>
            </a:r>
            <a:endParaRPr lang="en-US" sz="1400" dirty="0"/>
          </a:p>
        </p:txBody>
      </p:sp>
      <p:sp>
        <p:nvSpPr>
          <p:cNvPr id="21" name="Text 19"/>
          <p:cNvSpPr/>
          <p:nvPr/>
        </p:nvSpPr>
        <p:spPr>
          <a:xfrm>
            <a:off x="403225" y="4428906"/>
            <a:ext cx="4536281" cy="282258"/>
          </a:xfrm>
          <a:prstGeom prst="rect">
            <a:avLst/>
          </a:prstGeom>
          <a:noFill/>
          <a:ln/>
        </p:spPr>
        <p:txBody>
          <a:bodyPr wrap="square" rtlCol="0" anchor="ctr"/>
          <a:lstStyle/>
          <a:p>
            <a:pPr algn="ctr"/>
            <a:r>
              <a:rPr lang="pl-PL" sz="1200" i="1" dirty="0">
                <a:solidFill>
                  <a:schemeClr val="tx2"/>
                </a:solidFill>
                <a:latin typeface="Calibri" pitchFamily="34" charset="0"/>
                <a:ea typeface="Calibri" pitchFamily="34" charset="-122"/>
                <a:cs typeface="Calibri" pitchFamily="34" charset="-120"/>
              </a:rPr>
              <a:t>Test jednostronny vs dwustronny zmienia wymaganą liczebność próby</a:t>
            </a:r>
            <a:endParaRPr lang="pl-PL" sz="1200" dirty="0">
              <a:solidFill>
                <a:schemeClr val="tx2"/>
              </a:solidFill>
            </a:endParaRPr>
          </a:p>
        </p:txBody>
      </p:sp>
      <p:sp>
        <p:nvSpPr>
          <p:cNvPr id="22" name="Shape 20"/>
          <p:cNvSpPr/>
          <p:nvPr/>
        </p:nvSpPr>
        <p:spPr>
          <a:xfrm>
            <a:off x="5090714" y="1108968"/>
            <a:ext cx="4586685" cy="2016125"/>
          </a:xfrm>
          <a:prstGeom prst="roundRect">
            <a:avLst>
              <a:gd name="adj" fmla="val 5000"/>
            </a:avLst>
          </a:prstGeom>
          <a:solidFill>
            <a:srgbClr val="FFFFFF"/>
          </a:solidFill>
          <a:ln>
            <a:solidFill>
              <a:schemeClr val="bg2">
                <a:lumMod val="90000"/>
              </a:schemeClr>
            </a:solidFill>
          </a:ln>
          <a:effectLst>
            <a:outerShdw blurRad="76200" dist="25400" dir="2700000" algn="bl" rotWithShape="0">
              <a:srgbClr val="000000">
                <a:alpha val="8000"/>
              </a:srgbClr>
            </a:outerShdw>
          </a:effectLst>
        </p:spPr>
      </p:sp>
      <p:sp>
        <p:nvSpPr>
          <p:cNvPr id="23" name="Text 21"/>
          <p:cNvSpPr/>
          <p:nvPr/>
        </p:nvSpPr>
        <p:spPr>
          <a:xfrm>
            <a:off x="5172471" y="1131352"/>
            <a:ext cx="4334669" cy="322580"/>
          </a:xfrm>
          <a:prstGeom prst="rect">
            <a:avLst/>
          </a:prstGeom>
          <a:noFill/>
          <a:ln/>
        </p:spPr>
        <p:txBody>
          <a:bodyPr wrap="square" rtlCol="0" anchor="ctr"/>
          <a:lstStyle/>
          <a:p>
            <a:r>
              <a:rPr lang="en-US" sz="1600" b="1" dirty="0">
                <a:solidFill>
                  <a:srgbClr val="1E2761"/>
                </a:solidFill>
                <a:latin typeface="Cambria" pitchFamily="34" charset="0"/>
                <a:ea typeface="Cambria" pitchFamily="34" charset="-122"/>
                <a:cs typeface="Cambria" pitchFamily="34" charset="-120"/>
              </a:rPr>
              <a:t>Mniejszy efekt → większa wymagana próba</a:t>
            </a:r>
            <a:endParaRPr lang="en-US" sz="1600" dirty="0"/>
          </a:p>
        </p:txBody>
      </p:sp>
      <p:sp>
        <p:nvSpPr>
          <p:cNvPr id="24" name="Shape 22"/>
          <p:cNvSpPr/>
          <p:nvPr/>
        </p:nvSpPr>
        <p:spPr>
          <a:xfrm>
            <a:off x="5393134" y="2873077"/>
            <a:ext cx="4133056" cy="0"/>
          </a:xfrm>
          <a:prstGeom prst="line">
            <a:avLst/>
          </a:prstGeom>
          <a:noFill/>
          <a:ln w="12700">
            <a:solidFill>
              <a:srgbClr val="1A1F3C"/>
            </a:solidFill>
            <a:prstDash val="solid"/>
          </a:ln>
        </p:spPr>
      </p:sp>
      <p:sp>
        <p:nvSpPr>
          <p:cNvPr id="25" name="Shape 23"/>
          <p:cNvSpPr/>
          <p:nvPr/>
        </p:nvSpPr>
        <p:spPr>
          <a:xfrm>
            <a:off x="5393134" y="1562596"/>
            <a:ext cx="0" cy="1310481"/>
          </a:xfrm>
          <a:prstGeom prst="line">
            <a:avLst/>
          </a:prstGeom>
          <a:noFill/>
          <a:ln w="12700">
            <a:solidFill>
              <a:srgbClr val="1A1F3C"/>
            </a:solidFill>
            <a:prstDash val="solid"/>
          </a:ln>
        </p:spPr>
      </p:sp>
      <p:sp>
        <p:nvSpPr>
          <p:cNvPr id="26" name="Shape 24"/>
          <p:cNvSpPr/>
          <p:nvPr/>
        </p:nvSpPr>
        <p:spPr>
          <a:xfrm>
            <a:off x="5493940" y="1633161"/>
            <a:ext cx="403225" cy="231854"/>
          </a:xfrm>
          <a:prstGeom prst="line">
            <a:avLst/>
          </a:prstGeom>
          <a:noFill/>
          <a:ln w="31750">
            <a:solidFill>
              <a:srgbClr val="5B8FF9"/>
            </a:solidFill>
            <a:prstDash val="solid"/>
          </a:ln>
        </p:spPr>
      </p:sp>
      <p:sp>
        <p:nvSpPr>
          <p:cNvPr id="27" name="Shape 25"/>
          <p:cNvSpPr/>
          <p:nvPr/>
        </p:nvSpPr>
        <p:spPr>
          <a:xfrm>
            <a:off x="5897165" y="1865015"/>
            <a:ext cx="504031" cy="302419"/>
          </a:xfrm>
          <a:prstGeom prst="line">
            <a:avLst/>
          </a:prstGeom>
          <a:noFill/>
          <a:ln w="31750">
            <a:solidFill>
              <a:srgbClr val="5B8FF9"/>
            </a:solidFill>
            <a:prstDash val="solid"/>
          </a:ln>
        </p:spPr>
      </p:sp>
      <p:sp>
        <p:nvSpPr>
          <p:cNvPr id="28" name="Shape 26"/>
          <p:cNvSpPr/>
          <p:nvPr/>
        </p:nvSpPr>
        <p:spPr>
          <a:xfrm>
            <a:off x="6401196" y="2167433"/>
            <a:ext cx="655241" cy="252016"/>
          </a:xfrm>
          <a:prstGeom prst="line">
            <a:avLst/>
          </a:prstGeom>
          <a:noFill/>
          <a:ln w="31750">
            <a:solidFill>
              <a:srgbClr val="5B8FF9"/>
            </a:solidFill>
            <a:prstDash val="solid"/>
          </a:ln>
        </p:spPr>
      </p:sp>
      <p:sp>
        <p:nvSpPr>
          <p:cNvPr id="29" name="Shape 27"/>
          <p:cNvSpPr/>
          <p:nvPr/>
        </p:nvSpPr>
        <p:spPr>
          <a:xfrm>
            <a:off x="7056437" y="2419449"/>
            <a:ext cx="806450" cy="181451"/>
          </a:xfrm>
          <a:prstGeom prst="line">
            <a:avLst/>
          </a:prstGeom>
          <a:noFill/>
          <a:ln w="31750">
            <a:solidFill>
              <a:srgbClr val="5B8FF9"/>
            </a:solidFill>
            <a:prstDash val="solid"/>
          </a:ln>
        </p:spPr>
      </p:sp>
      <p:sp>
        <p:nvSpPr>
          <p:cNvPr id="30" name="Shape 28"/>
          <p:cNvSpPr/>
          <p:nvPr/>
        </p:nvSpPr>
        <p:spPr>
          <a:xfrm>
            <a:off x="7862887" y="2600901"/>
            <a:ext cx="907256" cy="100806"/>
          </a:xfrm>
          <a:prstGeom prst="line">
            <a:avLst/>
          </a:prstGeom>
          <a:noFill/>
          <a:ln w="31750">
            <a:solidFill>
              <a:srgbClr val="5B8FF9"/>
            </a:solidFill>
            <a:prstDash val="solid"/>
          </a:ln>
        </p:spPr>
      </p:sp>
      <p:sp>
        <p:nvSpPr>
          <p:cNvPr id="31" name="Shape 29"/>
          <p:cNvSpPr/>
          <p:nvPr/>
        </p:nvSpPr>
        <p:spPr>
          <a:xfrm>
            <a:off x="8770143" y="2701706"/>
            <a:ext cx="604838" cy="40323"/>
          </a:xfrm>
          <a:prstGeom prst="line">
            <a:avLst/>
          </a:prstGeom>
          <a:noFill/>
          <a:ln w="31750">
            <a:solidFill>
              <a:srgbClr val="5B8FF9"/>
            </a:solidFill>
            <a:prstDash val="solid"/>
          </a:ln>
        </p:spPr>
      </p:sp>
      <p:sp>
        <p:nvSpPr>
          <p:cNvPr id="32" name="Text 30"/>
          <p:cNvSpPr/>
          <p:nvPr/>
        </p:nvSpPr>
        <p:spPr>
          <a:xfrm>
            <a:off x="5135562" y="1522829"/>
            <a:ext cx="302419" cy="221774"/>
          </a:xfrm>
          <a:prstGeom prst="rect">
            <a:avLst/>
          </a:prstGeom>
          <a:noFill/>
          <a:ln/>
        </p:spPr>
        <p:txBody>
          <a:bodyPr wrap="square" rtlCol="0" anchor="ctr"/>
          <a:lstStyle/>
          <a:p>
            <a:r>
              <a:rPr lang="en-US" sz="1600" dirty="0">
                <a:solidFill>
                  <a:srgbClr val="4A5280"/>
                </a:solidFill>
                <a:latin typeface="Calibri" pitchFamily="34" charset="0"/>
                <a:ea typeface="Calibri" pitchFamily="34" charset="-122"/>
                <a:cs typeface="Calibri" pitchFamily="34" charset="-120"/>
              </a:rPr>
              <a:t>n</a:t>
            </a:r>
            <a:endParaRPr lang="en-US" sz="1600" dirty="0"/>
          </a:p>
        </p:txBody>
      </p:sp>
      <p:sp>
        <p:nvSpPr>
          <p:cNvPr id="33" name="Text 31"/>
          <p:cNvSpPr/>
          <p:nvPr/>
        </p:nvSpPr>
        <p:spPr>
          <a:xfrm>
            <a:off x="8296275" y="2866925"/>
            <a:ext cx="1381126" cy="252016"/>
          </a:xfrm>
          <a:prstGeom prst="rect">
            <a:avLst/>
          </a:prstGeom>
          <a:noFill/>
          <a:ln/>
        </p:spPr>
        <p:txBody>
          <a:bodyPr wrap="square" rtlCol="0" anchor="ctr"/>
          <a:lstStyle/>
          <a:p>
            <a:r>
              <a:rPr lang="en-US" sz="1200" dirty="0">
                <a:solidFill>
                  <a:srgbClr val="4A5280"/>
                </a:solidFill>
                <a:latin typeface="Calibri" pitchFamily="34" charset="0"/>
                <a:ea typeface="Calibri" pitchFamily="34" charset="-122"/>
                <a:cs typeface="Calibri" pitchFamily="34" charset="-120"/>
              </a:rPr>
              <a:t>wielkość efektu →</a:t>
            </a:r>
            <a:endParaRPr lang="en-US" sz="1200" dirty="0"/>
          </a:p>
        </p:txBody>
      </p:sp>
      <p:sp>
        <p:nvSpPr>
          <p:cNvPr id="34" name="Shape 32"/>
          <p:cNvSpPr/>
          <p:nvPr/>
        </p:nvSpPr>
        <p:spPr>
          <a:xfrm>
            <a:off x="5090714" y="3276302"/>
            <a:ext cx="4586685" cy="1434861"/>
          </a:xfrm>
          <a:prstGeom prst="roundRect">
            <a:avLst>
              <a:gd name="adj" fmla="val 7407"/>
            </a:avLst>
          </a:prstGeom>
          <a:solidFill>
            <a:srgbClr val="FFFFFF"/>
          </a:solidFill>
          <a:ln>
            <a:solidFill>
              <a:schemeClr val="bg2">
                <a:lumMod val="90000"/>
              </a:schemeClr>
            </a:solidFill>
          </a:ln>
          <a:effectLst>
            <a:outerShdw blurRad="76200" dist="25400" dir="2700000" algn="bl" rotWithShape="0">
              <a:srgbClr val="000000">
                <a:alpha val="8000"/>
              </a:srgbClr>
            </a:outerShdw>
          </a:effectLst>
        </p:spPr>
      </p:sp>
      <p:sp>
        <p:nvSpPr>
          <p:cNvPr id="35" name="Text 33"/>
          <p:cNvSpPr/>
          <p:nvPr/>
        </p:nvSpPr>
        <p:spPr>
          <a:xfrm>
            <a:off x="5191521" y="3326705"/>
            <a:ext cx="4334669" cy="282258"/>
          </a:xfrm>
          <a:prstGeom prst="rect">
            <a:avLst/>
          </a:prstGeom>
          <a:noFill/>
          <a:ln/>
        </p:spPr>
        <p:txBody>
          <a:bodyPr wrap="square" rtlCol="0" anchor="ctr"/>
          <a:lstStyle/>
          <a:p>
            <a:r>
              <a:rPr lang="en-US" sz="1600" b="1" dirty="0">
                <a:solidFill>
                  <a:srgbClr val="1E2761"/>
                </a:solidFill>
                <a:latin typeface="Cambria" pitchFamily="34" charset="0"/>
                <a:ea typeface="Cambria" pitchFamily="34" charset="-122"/>
                <a:cs typeface="Cambria" pitchFamily="34" charset="-120"/>
              </a:rPr>
              <a:t>Narzędzia</a:t>
            </a:r>
            <a:endParaRPr lang="en-US" sz="1600" dirty="0"/>
          </a:p>
        </p:txBody>
      </p:sp>
      <p:sp>
        <p:nvSpPr>
          <p:cNvPr id="36" name="Text 34"/>
          <p:cNvSpPr/>
          <p:nvPr/>
        </p:nvSpPr>
        <p:spPr>
          <a:xfrm>
            <a:off x="5191521" y="3733899"/>
            <a:ext cx="4334669" cy="302419"/>
          </a:xfrm>
          <a:prstGeom prst="rect">
            <a:avLst/>
          </a:prstGeom>
          <a:noFill/>
          <a:ln/>
        </p:spPr>
        <p:txBody>
          <a:bodyPr wrap="square" rtlCol="0" anchor="ctr"/>
          <a:lstStyle/>
          <a:p>
            <a:r>
              <a:rPr lang="en-US" sz="1400" dirty="0">
                <a:solidFill>
                  <a:srgbClr val="1A1F3C"/>
                </a:solidFill>
                <a:latin typeface="Calibri" pitchFamily="34" charset="0"/>
                <a:ea typeface="Calibri" pitchFamily="34" charset="-122"/>
                <a:cs typeface="Calibri" pitchFamily="34" charset="-120"/>
              </a:rPr>
              <a:t>G*Power</a:t>
            </a:r>
            <a:r>
              <a:rPr lang="en-US" sz="1400" spc="-100" dirty="0">
                <a:solidFill>
                  <a:srgbClr val="1A1F3C"/>
                </a:solidFill>
                <a:latin typeface="Calibri" pitchFamily="34" charset="0"/>
                <a:ea typeface="Calibri" pitchFamily="34" charset="-122"/>
                <a:cs typeface="Calibri" pitchFamily="34" charset="-120"/>
              </a:rPr>
              <a:t>  ·  </a:t>
            </a:r>
            <a:r>
              <a:rPr lang="en-US" sz="1400" dirty="0">
                <a:solidFill>
                  <a:srgbClr val="1A1F3C"/>
                </a:solidFill>
                <a:latin typeface="Calibri" pitchFamily="34" charset="0"/>
                <a:ea typeface="Calibri" pitchFamily="34" charset="-122"/>
                <a:cs typeface="Calibri" pitchFamily="34" charset="-120"/>
              </a:rPr>
              <a:t>pwr (R)</a:t>
            </a:r>
            <a:r>
              <a:rPr lang="en-US" sz="1400" spc="-100" dirty="0">
                <a:solidFill>
                  <a:srgbClr val="1A1F3C"/>
                </a:solidFill>
                <a:latin typeface="Calibri" pitchFamily="34" charset="0"/>
                <a:ea typeface="Calibri" pitchFamily="34" charset="-122"/>
                <a:cs typeface="Calibri" pitchFamily="34" charset="-120"/>
              </a:rPr>
              <a:t>  ·  </a:t>
            </a:r>
            <a:r>
              <a:rPr lang="en-US" sz="1400" dirty="0">
                <a:solidFill>
                  <a:srgbClr val="1A1F3C"/>
                </a:solidFill>
                <a:latin typeface="Calibri" pitchFamily="34" charset="0"/>
                <a:ea typeface="Calibri" pitchFamily="34" charset="-122"/>
                <a:cs typeface="Calibri" pitchFamily="34" charset="-120"/>
              </a:rPr>
              <a:t>statsmodels.stats.power (Python)</a:t>
            </a:r>
            <a:endParaRPr lang="en-US" sz="1400" dirty="0"/>
          </a:p>
        </p:txBody>
      </p:sp>
      <p:sp>
        <p:nvSpPr>
          <p:cNvPr id="37" name="Shape 35"/>
          <p:cNvSpPr/>
          <p:nvPr/>
        </p:nvSpPr>
        <p:spPr>
          <a:xfrm>
            <a:off x="5191521" y="4068782"/>
            <a:ext cx="4334669" cy="0"/>
          </a:xfrm>
          <a:prstGeom prst="line">
            <a:avLst/>
          </a:prstGeom>
          <a:noFill/>
          <a:ln w="12700">
            <a:solidFill>
              <a:srgbClr val="E0E4F0"/>
            </a:solidFill>
            <a:prstDash val="solid"/>
          </a:ln>
        </p:spPr>
      </p:sp>
      <p:sp>
        <p:nvSpPr>
          <p:cNvPr id="38" name="Text 36"/>
          <p:cNvSpPr/>
          <p:nvPr/>
        </p:nvSpPr>
        <p:spPr>
          <a:xfrm>
            <a:off x="5191521" y="4089500"/>
            <a:ext cx="4334669" cy="554434"/>
          </a:xfrm>
          <a:prstGeom prst="rect">
            <a:avLst/>
          </a:prstGeom>
          <a:noFill/>
          <a:ln/>
        </p:spPr>
        <p:txBody>
          <a:bodyPr wrap="square" rtlCol="0" anchor="ctr"/>
          <a:lstStyle/>
          <a:p>
            <a:r>
              <a:rPr lang="en-US" sz="1400" dirty="0">
                <a:solidFill>
                  <a:srgbClr val="4A5280"/>
                </a:solidFill>
                <a:latin typeface="Calibri" pitchFamily="34" charset="0"/>
                <a:ea typeface="Calibri" pitchFamily="34" charset="-122"/>
                <a:cs typeface="Calibri" pitchFamily="34" charset="-120"/>
              </a:rPr>
              <a:t>Korekta </a:t>
            </a:r>
            <a:r>
              <a:rPr lang="en-US" sz="1400" dirty="0" err="1">
                <a:solidFill>
                  <a:srgbClr val="4A5280"/>
                </a:solidFill>
                <a:latin typeface="Calibri" pitchFamily="34" charset="0"/>
                <a:ea typeface="Calibri" pitchFamily="34" charset="-122"/>
                <a:cs typeface="Calibri" pitchFamily="34" charset="-120"/>
              </a:rPr>
              <a:t>na</a:t>
            </a:r>
            <a:r>
              <a:rPr lang="en-US" sz="1400" dirty="0">
                <a:solidFill>
                  <a:srgbClr val="4A5280"/>
                </a:solidFill>
                <a:latin typeface="Calibri" pitchFamily="34" charset="0"/>
                <a:ea typeface="Calibri" pitchFamily="34" charset="-122"/>
                <a:cs typeface="Calibri" pitchFamily="34" charset="-120"/>
              </a:rPr>
              <a:t> drop-out i wykluczenia: </a:t>
            </a:r>
            <a:br>
              <a:rPr lang="pl-PL" sz="1400" dirty="0">
                <a:solidFill>
                  <a:srgbClr val="4A5280"/>
                </a:solidFill>
                <a:latin typeface="Calibri" pitchFamily="34" charset="0"/>
                <a:ea typeface="Calibri" pitchFamily="34" charset="-122"/>
                <a:cs typeface="Calibri" pitchFamily="34" charset="-120"/>
              </a:rPr>
            </a:br>
            <a:r>
              <a:rPr lang="en-US" sz="1400" dirty="0">
                <a:solidFill>
                  <a:srgbClr val="4A5280"/>
                </a:solidFill>
                <a:latin typeface="Calibri" pitchFamily="34" charset="0"/>
                <a:ea typeface="Calibri" pitchFamily="34" charset="-122"/>
                <a:cs typeface="Calibri" pitchFamily="34" charset="-120"/>
              </a:rPr>
              <a:t>+15–20% rezerwy do </a:t>
            </a:r>
            <a:r>
              <a:rPr lang="pl-PL" sz="1400" dirty="0">
                <a:solidFill>
                  <a:srgbClr val="4A5280"/>
                </a:solidFill>
                <a:latin typeface="Calibri" pitchFamily="34" charset="0"/>
                <a:ea typeface="Calibri" pitchFamily="34" charset="-122"/>
                <a:cs typeface="Calibri" pitchFamily="34" charset="-120"/>
              </a:rPr>
              <a:t>planowanej</a:t>
            </a:r>
            <a:r>
              <a:rPr lang="en-US" sz="1400" dirty="0">
                <a:solidFill>
                  <a:srgbClr val="4A5280"/>
                </a:solidFill>
                <a:latin typeface="Calibri" pitchFamily="34" charset="0"/>
                <a:ea typeface="Calibri" pitchFamily="34" charset="-122"/>
                <a:cs typeface="Calibri" pitchFamily="34" charset="-120"/>
              </a:rPr>
              <a:t> </a:t>
            </a:r>
            <a:r>
              <a:rPr lang="pl-PL" sz="1400" dirty="0">
                <a:solidFill>
                  <a:srgbClr val="4A5280"/>
                </a:solidFill>
                <a:latin typeface="Calibri" pitchFamily="34" charset="0"/>
                <a:ea typeface="Calibri" pitchFamily="34" charset="-122"/>
                <a:cs typeface="Calibri" pitchFamily="34" charset="-120"/>
              </a:rPr>
              <a:t>liczebności</a:t>
            </a:r>
            <a:endParaRPr lang="pl-PL" sz="1400" dirty="0"/>
          </a:p>
        </p:txBody>
      </p:sp>
      <p:sp>
        <p:nvSpPr>
          <p:cNvPr id="39" name="Shape 37"/>
          <p:cNvSpPr/>
          <p:nvPr/>
        </p:nvSpPr>
        <p:spPr>
          <a:xfrm>
            <a:off x="403224" y="4895433"/>
            <a:ext cx="9274175" cy="534273"/>
          </a:xfrm>
          <a:prstGeom prst="roundRect">
            <a:avLst>
              <a:gd name="adj" fmla="val 18182"/>
            </a:avLst>
          </a:prstGeom>
          <a:solidFill>
            <a:srgbClr val="EEF3FF"/>
          </a:solidFill>
          <a:ln>
            <a:solidFill>
              <a:schemeClr val="tx2">
                <a:lumMod val="20000"/>
                <a:lumOff val="80000"/>
              </a:schemeClr>
            </a:solidFill>
          </a:ln>
          <a:effectLst>
            <a:outerShdw blurRad="76200" dist="25400" dir="2700000" algn="bl" rotWithShape="0">
              <a:srgbClr val="000000">
                <a:alpha val="8000"/>
              </a:srgbClr>
            </a:outerShdw>
          </a:effectLst>
        </p:spPr>
        <p:txBody>
          <a:bodyPr anchor="ctr"/>
          <a:lstStyle/>
          <a:p>
            <a:pPr algn="ctr"/>
            <a:r>
              <a:rPr lang="pl-PL" sz="1500" dirty="0">
                <a:solidFill>
                  <a:srgbClr val="1E2761"/>
                </a:solidFill>
                <a:latin typeface="Calibri" pitchFamily="34" charset="0"/>
                <a:ea typeface="Calibri" pitchFamily="34" charset="-122"/>
                <a:cs typeface="Calibri" pitchFamily="34" charset="-120"/>
              </a:rPr>
              <a:t>Liczebność próby nie powinna wynikać z dostępności uczestników, lecz z oczekiwanej wielkości efektu i planu analizy</a:t>
            </a:r>
            <a:endParaRPr lang="pl-PL" sz="1500" dirty="0"/>
          </a:p>
        </p:txBody>
      </p:sp>
      <p:cxnSp>
        <p:nvCxnSpPr>
          <p:cNvPr id="42" name="Łącznik prosty ze strzałką 41"/>
          <p:cNvCxnSpPr/>
          <p:nvPr/>
        </p:nvCxnSpPr>
        <p:spPr>
          <a:xfrm flipV="1">
            <a:off x="5393132" y="1516607"/>
            <a:ext cx="1" cy="9197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Łącznik prosty ze strzałką 43"/>
          <p:cNvCxnSpPr/>
          <p:nvPr/>
        </p:nvCxnSpPr>
        <p:spPr>
          <a:xfrm>
            <a:off x="9461699" y="2873077"/>
            <a:ext cx="107552" cy="3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65749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342" name="Shape 70"/>
          <p:cNvSpPr/>
          <p:nvPr/>
        </p:nvSpPr>
        <p:spPr>
          <a:xfrm>
            <a:off x="360" y="360"/>
            <a:ext cx="10079280" cy="1006560"/>
          </a:xfrm>
          <a:prstGeom prst="rect">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343" name="Text 81"/>
          <p:cNvSpPr/>
          <p:nvPr/>
        </p:nvSpPr>
        <p:spPr>
          <a:xfrm>
            <a:off x="453600" y="70560"/>
            <a:ext cx="9172080" cy="502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defTabSz="914400">
              <a:lnSpc>
                <a:spcPct val="100000"/>
              </a:lnSpc>
              <a:tabLst>
                <a:tab pos="0" algn="l"/>
              </a:tabLst>
            </a:pPr>
            <a:r>
              <a:rPr lang="pl-PL" sz="2200" b="1" u="none" strike="noStrike" dirty="0">
                <a:solidFill>
                  <a:srgbClr val="FFFFFF"/>
                </a:solidFill>
                <a:effectLst/>
                <a:uFillTx/>
                <a:latin typeface="Cambria"/>
                <a:ea typeface="Cambria"/>
              </a:rPr>
              <a:t>PROJEKT EKSPERYMENTU: OD PAPIERU DO PROTOKOŁU</a:t>
            </a:r>
            <a:endParaRPr lang="pl-PL" sz="2200" b="0" u="none" strike="noStrike" dirty="0">
              <a:solidFill>
                <a:srgbClr val="000000"/>
              </a:solidFill>
              <a:effectLst/>
              <a:uFillTx/>
              <a:latin typeface="Arial"/>
            </a:endParaRPr>
          </a:p>
        </p:txBody>
      </p:sp>
      <p:sp>
        <p:nvSpPr>
          <p:cNvPr id="344" name="Text 82"/>
          <p:cNvSpPr/>
          <p:nvPr/>
        </p:nvSpPr>
        <p:spPr>
          <a:xfrm>
            <a:off x="453600" y="594720"/>
            <a:ext cx="9172080" cy="331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pl-PL" sz="1400" b="0" i="1" u="none" strike="noStrike" dirty="0">
                <a:solidFill>
                  <a:srgbClr val="CADCFC"/>
                </a:solidFill>
                <a:effectLst/>
                <a:uFillTx/>
                <a:latin typeface="Calibri"/>
                <a:ea typeface="Calibri"/>
              </a:rPr>
              <a:t>Elementy protokołu eksperymentalnego</a:t>
            </a:r>
            <a:endParaRPr lang="pl-PL" sz="1400" b="0" u="none" strike="noStrike" dirty="0">
              <a:solidFill>
                <a:srgbClr val="000000"/>
              </a:solidFill>
              <a:effectLst/>
              <a:uFillTx/>
              <a:latin typeface="Arial"/>
            </a:endParaRPr>
          </a:p>
        </p:txBody>
      </p:sp>
      <p:sp>
        <p:nvSpPr>
          <p:cNvPr id="345" name="Shape 71"/>
          <p:cNvSpPr/>
          <p:nvPr/>
        </p:nvSpPr>
        <p:spPr>
          <a:xfrm>
            <a:off x="546075" y="1157535"/>
            <a:ext cx="4282560" cy="1108740"/>
          </a:xfrm>
          <a:prstGeom prst="roundRect">
            <a:avLst>
              <a:gd name="adj" fmla="val 8696"/>
            </a:avLst>
          </a:prstGeom>
          <a:solidFill>
            <a:srgbClr val="FFFFFF"/>
          </a:solidFill>
          <a:ln w="0">
            <a:solidFill>
              <a:schemeClr val="tx2">
                <a:lumMod val="20000"/>
                <a:lumOff val="80000"/>
              </a:schemeClr>
            </a:solid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346" name="Shape 72"/>
          <p:cNvSpPr/>
          <p:nvPr/>
        </p:nvSpPr>
        <p:spPr>
          <a:xfrm>
            <a:off x="646515" y="1249920"/>
            <a:ext cx="482400" cy="482400"/>
          </a:xfrm>
          <a:prstGeom prst="roundRect">
            <a:avLst>
              <a:gd name="adj" fmla="val 12500"/>
            </a:avLst>
          </a:prstGeom>
          <a:solidFill>
            <a:srgbClr val="1E276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347" name="Text 83"/>
          <p:cNvSpPr/>
          <p:nvPr/>
        </p:nvSpPr>
        <p:spPr>
          <a:xfrm>
            <a:off x="646515" y="1249920"/>
            <a:ext cx="482400" cy="482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000" b="1" u="none" strike="noStrike">
                <a:solidFill>
                  <a:srgbClr val="FFFFFF"/>
                </a:solidFill>
                <a:effectLst/>
                <a:uFillTx/>
                <a:latin typeface="Cambria"/>
                <a:ea typeface="Cambria"/>
              </a:rPr>
              <a:t>01</a:t>
            </a:r>
            <a:endParaRPr lang="pl-PL" sz="2000" b="0" u="none" strike="noStrike">
              <a:solidFill>
                <a:srgbClr val="000000"/>
              </a:solidFill>
              <a:effectLst/>
              <a:uFillTx/>
              <a:latin typeface="Arial"/>
            </a:endParaRPr>
          </a:p>
        </p:txBody>
      </p:sp>
      <p:sp>
        <p:nvSpPr>
          <p:cNvPr id="348" name="Text 84"/>
          <p:cNvSpPr/>
          <p:nvPr/>
        </p:nvSpPr>
        <p:spPr>
          <a:xfrm>
            <a:off x="1201275" y="1229760"/>
            <a:ext cx="3526560" cy="401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defTabSz="914400">
              <a:lnSpc>
                <a:spcPct val="100000"/>
              </a:lnSpc>
              <a:tabLst>
                <a:tab pos="0" algn="l"/>
              </a:tabLst>
            </a:pPr>
            <a:r>
              <a:rPr lang="pl-PL" sz="2000" b="1" u="none" strike="noStrike">
                <a:solidFill>
                  <a:srgbClr val="1A1F3C"/>
                </a:solidFill>
                <a:effectLst/>
                <a:uFillTx/>
                <a:latin typeface="Cambria"/>
                <a:ea typeface="Cambria"/>
              </a:rPr>
              <a:t>Warunki eksperymentalne</a:t>
            </a:r>
            <a:endParaRPr lang="pl-PL" sz="2000" b="0" u="none" strike="noStrike">
              <a:solidFill>
                <a:srgbClr val="000000"/>
              </a:solidFill>
              <a:effectLst/>
              <a:uFillTx/>
              <a:latin typeface="Arial"/>
            </a:endParaRPr>
          </a:p>
        </p:txBody>
      </p:sp>
      <p:sp>
        <p:nvSpPr>
          <p:cNvPr id="349" name="Text 85"/>
          <p:cNvSpPr/>
          <p:nvPr/>
        </p:nvSpPr>
        <p:spPr>
          <a:xfrm>
            <a:off x="1201275" y="1632960"/>
            <a:ext cx="3526560" cy="583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20000"/>
              </a:lnSpc>
              <a:tabLst>
                <a:tab pos="0" algn="l"/>
              </a:tabLst>
            </a:pPr>
            <a:r>
              <a:rPr lang="pl-PL" sz="1400" b="0" u="none" strike="noStrike" dirty="0">
                <a:solidFill>
                  <a:srgbClr val="4A5280"/>
                </a:solidFill>
                <a:effectLst/>
                <a:uFillTx/>
                <a:latin typeface="Calibri"/>
                <a:ea typeface="Calibri"/>
              </a:rPr>
              <a:t>Czym manipulujemy i ile grup. Definicja warunku kontrolnego i eksperymentalnego.</a:t>
            </a:r>
            <a:endParaRPr lang="pl-PL" sz="1400" b="0" u="none" strike="noStrike" dirty="0">
              <a:solidFill>
                <a:srgbClr val="000000"/>
              </a:solidFill>
              <a:effectLst/>
              <a:uFillTx/>
              <a:latin typeface="Arial"/>
            </a:endParaRPr>
          </a:p>
        </p:txBody>
      </p:sp>
      <p:sp>
        <p:nvSpPr>
          <p:cNvPr id="350" name="Shape 73"/>
          <p:cNvSpPr/>
          <p:nvPr/>
        </p:nvSpPr>
        <p:spPr>
          <a:xfrm>
            <a:off x="5230590" y="1157535"/>
            <a:ext cx="4282560" cy="1108740"/>
          </a:xfrm>
          <a:prstGeom prst="roundRect">
            <a:avLst>
              <a:gd name="adj" fmla="val 8696"/>
            </a:avLst>
          </a:prstGeom>
          <a:solidFill>
            <a:srgbClr val="FFFFFF"/>
          </a:solidFill>
          <a:ln w="0">
            <a:solidFill>
              <a:schemeClr val="tx2">
                <a:lumMod val="20000"/>
                <a:lumOff val="80000"/>
              </a:schemeClr>
            </a:solid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351" name="Shape 74"/>
          <p:cNvSpPr/>
          <p:nvPr/>
        </p:nvSpPr>
        <p:spPr>
          <a:xfrm>
            <a:off x="5331390" y="1249920"/>
            <a:ext cx="482400" cy="482400"/>
          </a:xfrm>
          <a:prstGeom prst="roundRect">
            <a:avLst>
              <a:gd name="adj" fmla="val 12500"/>
            </a:avLst>
          </a:prstGeom>
          <a:solidFill>
            <a:srgbClr val="2D3B8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352" name="Text 86"/>
          <p:cNvSpPr/>
          <p:nvPr/>
        </p:nvSpPr>
        <p:spPr>
          <a:xfrm>
            <a:off x="5331390" y="1249920"/>
            <a:ext cx="482400" cy="482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000" b="1" u="none" strike="noStrike">
                <a:solidFill>
                  <a:srgbClr val="FFFFFF"/>
                </a:solidFill>
                <a:effectLst/>
                <a:uFillTx/>
                <a:latin typeface="Cambria"/>
                <a:ea typeface="Cambria"/>
              </a:rPr>
              <a:t>02</a:t>
            </a:r>
            <a:endParaRPr lang="pl-PL" sz="2000" b="0" u="none" strike="noStrike">
              <a:solidFill>
                <a:srgbClr val="000000"/>
              </a:solidFill>
              <a:effectLst/>
              <a:uFillTx/>
              <a:latin typeface="Arial"/>
            </a:endParaRPr>
          </a:p>
        </p:txBody>
      </p:sp>
      <p:sp>
        <p:nvSpPr>
          <p:cNvPr id="353" name="Text 87"/>
          <p:cNvSpPr/>
          <p:nvPr/>
        </p:nvSpPr>
        <p:spPr>
          <a:xfrm>
            <a:off x="5885790" y="1229760"/>
            <a:ext cx="3526560" cy="401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defTabSz="914400">
              <a:lnSpc>
                <a:spcPct val="100000"/>
              </a:lnSpc>
              <a:tabLst>
                <a:tab pos="0" algn="l"/>
              </a:tabLst>
            </a:pPr>
            <a:r>
              <a:rPr lang="pl-PL" sz="2000" b="1" u="none" strike="noStrike">
                <a:solidFill>
                  <a:srgbClr val="1A1F3C"/>
                </a:solidFill>
                <a:effectLst/>
                <a:uFillTx/>
                <a:latin typeface="Cambria"/>
                <a:ea typeface="Cambria"/>
              </a:rPr>
              <a:t>Randomizacja</a:t>
            </a:r>
            <a:endParaRPr lang="pl-PL" sz="2000" b="0" u="none" strike="noStrike">
              <a:solidFill>
                <a:srgbClr val="000000"/>
              </a:solidFill>
              <a:effectLst/>
              <a:uFillTx/>
              <a:latin typeface="Arial"/>
            </a:endParaRPr>
          </a:p>
        </p:txBody>
      </p:sp>
      <p:sp>
        <p:nvSpPr>
          <p:cNvPr id="354" name="Text 88"/>
          <p:cNvSpPr/>
          <p:nvPr/>
        </p:nvSpPr>
        <p:spPr>
          <a:xfrm>
            <a:off x="5885790" y="1632960"/>
            <a:ext cx="3526560" cy="583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20000"/>
              </a:lnSpc>
              <a:tabLst>
                <a:tab pos="0" algn="l"/>
              </a:tabLst>
            </a:pPr>
            <a:r>
              <a:rPr lang="pl-PL" sz="1400" b="0" u="none" strike="noStrike">
                <a:solidFill>
                  <a:srgbClr val="4A5280"/>
                </a:solidFill>
                <a:effectLst/>
                <a:uFillTx/>
                <a:latin typeface="Calibri"/>
                <a:ea typeface="Calibri"/>
              </a:rPr>
              <a:t>Losowe przypisanie uczestników do warunków. Losowanie kolejności bodźców.</a:t>
            </a:r>
            <a:endParaRPr lang="pl-PL" sz="1400" b="0" u="none" strike="noStrike">
              <a:solidFill>
                <a:srgbClr val="000000"/>
              </a:solidFill>
              <a:effectLst/>
              <a:uFillTx/>
              <a:latin typeface="Arial"/>
            </a:endParaRPr>
          </a:p>
        </p:txBody>
      </p:sp>
      <p:sp>
        <p:nvSpPr>
          <p:cNvPr id="355" name="Shape 75"/>
          <p:cNvSpPr/>
          <p:nvPr/>
        </p:nvSpPr>
        <p:spPr>
          <a:xfrm>
            <a:off x="546075" y="2457855"/>
            <a:ext cx="4282560" cy="1108740"/>
          </a:xfrm>
          <a:prstGeom prst="roundRect">
            <a:avLst>
              <a:gd name="adj" fmla="val 8696"/>
            </a:avLst>
          </a:prstGeom>
          <a:solidFill>
            <a:srgbClr val="FFFFFF"/>
          </a:solidFill>
          <a:ln w="0">
            <a:solidFill>
              <a:schemeClr val="tx2">
                <a:lumMod val="20000"/>
                <a:lumOff val="80000"/>
              </a:schemeClr>
            </a:solid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356" name="Shape 76"/>
          <p:cNvSpPr/>
          <p:nvPr/>
        </p:nvSpPr>
        <p:spPr>
          <a:xfrm>
            <a:off x="646515" y="2550240"/>
            <a:ext cx="482400" cy="482400"/>
          </a:xfrm>
          <a:prstGeom prst="roundRect">
            <a:avLst>
              <a:gd name="adj" fmla="val 12500"/>
            </a:avLst>
          </a:prstGeom>
          <a:solidFill>
            <a:srgbClr val="5B8FF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357" name="Text 89"/>
          <p:cNvSpPr/>
          <p:nvPr/>
        </p:nvSpPr>
        <p:spPr>
          <a:xfrm>
            <a:off x="646515" y="2550240"/>
            <a:ext cx="482400" cy="482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000" b="1" u="none" strike="noStrike">
                <a:solidFill>
                  <a:srgbClr val="FFFFFF"/>
                </a:solidFill>
                <a:effectLst/>
                <a:uFillTx/>
                <a:latin typeface="Cambria"/>
                <a:ea typeface="Cambria"/>
              </a:rPr>
              <a:t>03</a:t>
            </a:r>
            <a:endParaRPr lang="pl-PL" sz="2000" b="0" u="none" strike="noStrike">
              <a:solidFill>
                <a:srgbClr val="000000"/>
              </a:solidFill>
              <a:effectLst/>
              <a:uFillTx/>
              <a:latin typeface="Arial"/>
            </a:endParaRPr>
          </a:p>
        </p:txBody>
      </p:sp>
      <p:sp>
        <p:nvSpPr>
          <p:cNvPr id="358" name="Text 90"/>
          <p:cNvSpPr/>
          <p:nvPr/>
        </p:nvSpPr>
        <p:spPr>
          <a:xfrm>
            <a:off x="1201275" y="2530080"/>
            <a:ext cx="3526560" cy="401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defTabSz="914400">
              <a:lnSpc>
                <a:spcPct val="100000"/>
              </a:lnSpc>
              <a:tabLst>
                <a:tab pos="0" algn="l"/>
              </a:tabLst>
            </a:pPr>
            <a:r>
              <a:rPr lang="pl-PL" sz="2000" b="1" u="none" strike="noStrike">
                <a:solidFill>
                  <a:srgbClr val="1A1F3C"/>
                </a:solidFill>
                <a:effectLst/>
                <a:uFillTx/>
                <a:latin typeface="Cambria"/>
                <a:ea typeface="Cambria"/>
              </a:rPr>
              <a:t>Kontrola kolejności</a:t>
            </a:r>
            <a:endParaRPr lang="pl-PL" sz="2000" b="0" u="none" strike="noStrike">
              <a:solidFill>
                <a:srgbClr val="000000"/>
              </a:solidFill>
              <a:effectLst/>
              <a:uFillTx/>
              <a:latin typeface="Arial"/>
            </a:endParaRPr>
          </a:p>
        </p:txBody>
      </p:sp>
      <p:sp>
        <p:nvSpPr>
          <p:cNvPr id="359" name="Text 91"/>
          <p:cNvSpPr/>
          <p:nvPr/>
        </p:nvSpPr>
        <p:spPr>
          <a:xfrm>
            <a:off x="1201275" y="2933280"/>
            <a:ext cx="3526560" cy="583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20000"/>
              </a:lnSpc>
              <a:tabLst>
                <a:tab pos="0" algn="l"/>
              </a:tabLst>
            </a:pPr>
            <a:r>
              <a:rPr lang="pl-PL" sz="1400" b="0" u="none" strike="noStrike" dirty="0" err="1">
                <a:solidFill>
                  <a:srgbClr val="4A5280"/>
                </a:solidFill>
                <a:effectLst/>
                <a:uFillTx/>
                <a:latin typeface="Calibri"/>
                <a:ea typeface="Calibri"/>
              </a:rPr>
              <a:t>Counterbalancing</a:t>
            </a:r>
            <a:r>
              <a:rPr lang="pl-PL" sz="1400" b="0" u="none" strike="noStrike" dirty="0">
                <a:solidFill>
                  <a:srgbClr val="4A5280"/>
                </a:solidFill>
                <a:effectLst/>
                <a:uFillTx/>
                <a:latin typeface="Calibri"/>
                <a:ea typeface="Calibri"/>
              </a:rPr>
              <a:t>, </a:t>
            </a:r>
            <a:r>
              <a:rPr lang="pl-PL" sz="1400" b="0" u="none" strike="noStrike" dirty="0" err="1">
                <a:solidFill>
                  <a:srgbClr val="4A5280"/>
                </a:solidFill>
                <a:effectLst/>
                <a:uFillTx/>
                <a:latin typeface="Calibri"/>
                <a:ea typeface="Calibri"/>
              </a:rPr>
              <a:t>Latin</a:t>
            </a:r>
            <a:r>
              <a:rPr lang="pl-PL" sz="1400" b="0" u="none" strike="noStrike" dirty="0">
                <a:solidFill>
                  <a:srgbClr val="4A5280"/>
                </a:solidFill>
                <a:effectLst/>
                <a:uFillTx/>
                <a:latin typeface="Calibri"/>
                <a:ea typeface="Calibri"/>
              </a:rPr>
              <a:t> </a:t>
            </a:r>
            <a:r>
              <a:rPr lang="pl-PL" sz="1400" b="0" u="none" strike="noStrike" dirty="0" err="1">
                <a:solidFill>
                  <a:srgbClr val="4A5280"/>
                </a:solidFill>
                <a:effectLst/>
                <a:uFillTx/>
                <a:latin typeface="Calibri"/>
                <a:ea typeface="Calibri"/>
              </a:rPr>
              <a:t>square</a:t>
            </a:r>
            <a:r>
              <a:rPr lang="pl-PL" sz="1400" dirty="0">
                <a:solidFill>
                  <a:srgbClr val="4A5280"/>
                </a:solidFill>
                <a:latin typeface="Calibri"/>
                <a:ea typeface="Calibri"/>
              </a:rPr>
              <a:t>:</a:t>
            </a:r>
            <a:r>
              <a:rPr lang="pl-PL" sz="1400" b="0" u="none" strike="noStrike" dirty="0">
                <a:solidFill>
                  <a:srgbClr val="4A5280"/>
                </a:solidFill>
                <a:effectLst/>
                <a:uFillTx/>
                <a:latin typeface="Calibri"/>
                <a:ea typeface="Calibri"/>
              </a:rPr>
              <a:t> neutralizacja efektów uczenia i zmęczenia.</a:t>
            </a:r>
            <a:endParaRPr lang="pl-PL" sz="1400" b="0" u="none" strike="noStrike" dirty="0">
              <a:solidFill>
                <a:srgbClr val="000000"/>
              </a:solidFill>
              <a:effectLst/>
              <a:uFillTx/>
              <a:latin typeface="Arial"/>
            </a:endParaRPr>
          </a:p>
        </p:txBody>
      </p:sp>
      <p:sp>
        <p:nvSpPr>
          <p:cNvPr id="360" name="Shape 77"/>
          <p:cNvSpPr/>
          <p:nvPr/>
        </p:nvSpPr>
        <p:spPr>
          <a:xfrm>
            <a:off x="5230590" y="2457855"/>
            <a:ext cx="4282560" cy="1108740"/>
          </a:xfrm>
          <a:prstGeom prst="roundRect">
            <a:avLst>
              <a:gd name="adj" fmla="val 8696"/>
            </a:avLst>
          </a:prstGeom>
          <a:solidFill>
            <a:srgbClr val="FFFFFF"/>
          </a:solidFill>
          <a:ln w="0">
            <a:solidFill>
              <a:schemeClr val="tx2">
                <a:lumMod val="20000"/>
                <a:lumOff val="80000"/>
              </a:schemeClr>
            </a:solid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361" name="Shape 78"/>
          <p:cNvSpPr/>
          <p:nvPr/>
        </p:nvSpPr>
        <p:spPr>
          <a:xfrm>
            <a:off x="5331390" y="2550240"/>
            <a:ext cx="482400" cy="482400"/>
          </a:xfrm>
          <a:prstGeom prst="roundRect">
            <a:avLst>
              <a:gd name="adj" fmla="val 12500"/>
            </a:avLst>
          </a:prstGeom>
          <a:solidFill>
            <a:srgbClr val="2D7DD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362" name="Text 92"/>
          <p:cNvSpPr/>
          <p:nvPr/>
        </p:nvSpPr>
        <p:spPr>
          <a:xfrm>
            <a:off x="5331390" y="2550240"/>
            <a:ext cx="482400" cy="482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000" b="1" u="none" strike="noStrike">
                <a:solidFill>
                  <a:srgbClr val="FFFFFF"/>
                </a:solidFill>
                <a:effectLst/>
                <a:uFillTx/>
                <a:latin typeface="Cambria"/>
                <a:ea typeface="Cambria"/>
              </a:rPr>
              <a:t>04</a:t>
            </a:r>
            <a:endParaRPr lang="pl-PL" sz="2000" b="0" u="none" strike="noStrike">
              <a:solidFill>
                <a:srgbClr val="000000"/>
              </a:solidFill>
              <a:effectLst/>
              <a:uFillTx/>
              <a:latin typeface="Arial"/>
            </a:endParaRPr>
          </a:p>
        </p:txBody>
      </p:sp>
      <p:sp>
        <p:nvSpPr>
          <p:cNvPr id="363" name="Text 93"/>
          <p:cNvSpPr/>
          <p:nvPr/>
        </p:nvSpPr>
        <p:spPr>
          <a:xfrm>
            <a:off x="5885790" y="2530080"/>
            <a:ext cx="3526560" cy="401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defTabSz="914400">
              <a:lnSpc>
                <a:spcPct val="100000"/>
              </a:lnSpc>
              <a:tabLst>
                <a:tab pos="0" algn="l"/>
              </a:tabLst>
            </a:pPr>
            <a:r>
              <a:rPr lang="pl-PL" sz="2000" b="1" u="none" strike="noStrike">
                <a:solidFill>
                  <a:srgbClr val="1A1F3C"/>
                </a:solidFill>
                <a:effectLst/>
                <a:uFillTx/>
                <a:latin typeface="Cambria"/>
                <a:ea typeface="Cambria"/>
              </a:rPr>
              <a:t>Manipulacja i check</a:t>
            </a:r>
            <a:endParaRPr lang="pl-PL" sz="2000" b="0" u="none" strike="noStrike">
              <a:solidFill>
                <a:srgbClr val="000000"/>
              </a:solidFill>
              <a:effectLst/>
              <a:uFillTx/>
              <a:latin typeface="Arial"/>
            </a:endParaRPr>
          </a:p>
        </p:txBody>
      </p:sp>
      <p:sp>
        <p:nvSpPr>
          <p:cNvPr id="364" name="Text 94"/>
          <p:cNvSpPr/>
          <p:nvPr/>
        </p:nvSpPr>
        <p:spPr>
          <a:xfrm>
            <a:off x="5885790" y="2933280"/>
            <a:ext cx="3526560" cy="583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20000"/>
              </a:lnSpc>
              <a:tabLst>
                <a:tab pos="0" algn="l"/>
              </a:tabLst>
            </a:pPr>
            <a:r>
              <a:rPr lang="pl-PL" sz="1400" b="0" u="none" strike="noStrike" dirty="0" err="1">
                <a:solidFill>
                  <a:srgbClr val="4A5280"/>
                </a:solidFill>
                <a:effectLst/>
                <a:uFillTx/>
                <a:latin typeface="Calibri"/>
                <a:ea typeface="Calibri"/>
              </a:rPr>
              <a:t>Check</a:t>
            </a:r>
            <a:r>
              <a:rPr lang="pl-PL" sz="1400" b="0" u="none" strike="noStrike" dirty="0">
                <a:solidFill>
                  <a:srgbClr val="4A5280"/>
                </a:solidFill>
                <a:effectLst/>
                <a:uFillTx/>
                <a:latin typeface="Calibri"/>
                <a:ea typeface="Calibri"/>
              </a:rPr>
              <a:t> manipulacyjny: potwierdzenie, </a:t>
            </a:r>
            <a:br>
              <a:rPr lang="pl-PL" sz="1400" b="0" u="none" strike="noStrike" dirty="0">
                <a:solidFill>
                  <a:srgbClr val="4A5280"/>
                </a:solidFill>
                <a:effectLst/>
                <a:uFillTx/>
                <a:latin typeface="Calibri"/>
                <a:ea typeface="Calibri"/>
              </a:rPr>
            </a:br>
            <a:r>
              <a:rPr lang="pl-PL" sz="1400" b="0" u="none" strike="noStrike" dirty="0">
                <a:solidFill>
                  <a:srgbClr val="4A5280"/>
                </a:solidFill>
                <a:effectLst/>
                <a:uFillTx/>
                <a:latin typeface="Calibri"/>
                <a:ea typeface="Calibri"/>
              </a:rPr>
              <a:t>że interwencja wywołała zamierzony efekt.</a:t>
            </a:r>
            <a:endParaRPr lang="pl-PL" sz="1400" b="0" u="none" strike="noStrike" dirty="0">
              <a:solidFill>
                <a:srgbClr val="000000"/>
              </a:solidFill>
              <a:effectLst/>
              <a:uFillTx/>
              <a:latin typeface="Arial"/>
            </a:endParaRPr>
          </a:p>
        </p:txBody>
      </p:sp>
      <p:sp>
        <p:nvSpPr>
          <p:cNvPr id="365" name="Shape 79"/>
          <p:cNvSpPr/>
          <p:nvPr/>
        </p:nvSpPr>
        <p:spPr>
          <a:xfrm>
            <a:off x="546075" y="3758535"/>
            <a:ext cx="4282560" cy="1108740"/>
          </a:xfrm>
          <a:prstGeom prst="roundRect">
            <a:avLst>
              <a:gd name="adj" fmla="val 8696"/>
            </a:avLst>
          </a:prstGeom>
          <a:solidFill>
            <a:srgbClr val="FFFFFF"/>
          </a:solidFill>
          <a:ln w="0">
            <a:solidFill>
              <a:schemeClr val="tx2">
                <a:lumMod val="20000"/>
                <a:lumOff val="80000"/>
              </a:schemeClr>
            </a:solid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366" name="Shape 80"/>
          <p:cNvSpPr/>
          <p:nvPr/>
        </p:nvSpPr>
        <p:spPr>
          <a:xfrm>
            <a:off x="646515" y="3850560"/>
            <a:ext cx="482400" cy="482400"/>
          </a:xfrm>
          <a:prstGeom prst="roundRect">
            <a:avLst>
              <a:gd name="adj" fmla="val 12500"/>
            </a:avLst>
          </a:prstGeom>
          <a:solidFill>
            <a:srgbClr val="3A9F6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367" name="Text 95"/>
          <p:cNvSpPr/>
          <p:nvPr/>
        </p:nvSpPr>
        <p:spPr>
          <a:xfrm>
            <a:off x="646515" y="3850920"/>
            <a:ext cx="482400" cy="482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000" b="1" u="none" strike="noStrike">
                <a:solidFill>
                  <a:srgbClr val="FFFFFF"/>
                </a:solidFill>
                <a:effectLst/>
                <a:uFillTx/>
                <a:latin typeface="Cambria"/>
                <a:ea typeface="Cambria"/>
              </a:rPr>
              <a:t>05</a:t>
            </a:r>
            <a:endParaRPr lang="pl-PL" sz="2000" b="0" u="none" strike="noStrike">
              <a:solidFill>
                <a:srgbClr val="000000"/>
              </a:solidFill>
              <a:effectLst/>
              <a:uFillTx/>
              <a:latin typeface="Arial"/>
            </a:endParaRPr>
          </a:p>
        </p:txBody>
      </p:sp>
      <p:sp>
        <p:nvSpPr>
          <p:cNvPr id="368" name="Text 96"/>
          <p:cNvSpPr/>
          <p:nvPr/>
        </p:nvSpPr>
        <p:spPr>
          <a:xfrm>
            <a:off x="1201275" y="3830400"/>
            <a:ext cx="3526560" cy="401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defTabSz="914400">
              <a:lnSpc>
                <a:spcPct val="100000"/>
              </a:lnSpc>
              <a:tabLst>
                <a:tab pos="0" algn="l"/>
              </a:tabLst>
            </a:pPr>
            <a:r>
              <a:rPr lang="pl-PL" sz="2000" b="1" u="none" strike="noStrike">
                <a:solidFill>
                  <a:srgbClr val="1A1F3C"/>
                </a:solidFill>
                <a:effectLst/>
                <a:uFillTx/>
                <a:latin typeface="Cambria"/>
                <a:ea typeface="Cambria"/>
              </a:rPr>
              <a:t>Zmienne zakłócające</a:t>
            </a:r>
            <a:endParaRPr lang="pl-PL" sz="2000" b="0" u="none" strike="noStrike">
              <a:solidFill>
                <a:srgbClr val="000000"/>
              </a:solidFill>
              <a:effectLst/>
              <a:uFillTx/>
              <a:latin typeface="Arial"/>
            </a:endParaRPr>
          </a:p>
        </p:txBody>
      </p:sp>
      <p:sp>
        <p:nvSpPr>
          <p:cNvPr id="369" name="Text 97"/>
          <p:cNvSpPr/>
          <p:nvPr/>
        </p:nvSpPr>
        <p:spPr>
          <a:xfrm>
            <a:off x="1201275" y="4233600"/>
            <a:ext cx="3526560" cy="583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20000"/>
              </a:lnSpc>
              <a:tabLst>
                <a:tab pos="0" algn="l"/>
              </a:tabLst>
            </a:pPr>
            <a:r>
              <a:rPr lang="pl-PL" sz="1400" b="0" u="none" strike="noStrike" dirty="0">
                <a:solidFill>
                  <a:srgbClr val="4A5280"/>
                </a:solidFill>
                <a:effectLst/>
                <a:uFillTx/>
                <a:latin typeface="Calibri"/>
                <a:ea typeface="Calibri"/>
              </a:rPr>
              <a:t>Identyfikacja i sposoby kontroli: randomizacja, pomiaru powtarzane, </a:t>
            </a:r>
            <a:r>
              <a:rPr lang="pl-PL" sz="1400" b="0" u="none" strike="noStrike" dirty="0" err="1">
                <a:solidFill>
                  <a:srgbClr val="4A5280"/>
                </a:solidFill>
                <a:effectLst/>
                <a:uFillTx/>
                <a:latin typeface="Calibri"/>
                <a:ea typeface="Calibri"/>
              </a:rPr>
              <a:t>kowariaty</a:t>
            </a:r>
            <a:r>
              <a:rPr lang="pl-PL" sz="1400" b="0" u="none" strike="noStrike" dirty="0">
                <a:solidFill>
                  <a:srgbClr val="4A5280"/>
                </a:solidFill>
                <a:effectLst/>
                <a:uFillTx/>
                <a:latin typeface="Calibri"/>
                <a:ea typeface="Calibri"/>
              </a:rPr>
              <a:t>.</a:t>
            </a:r>
            <a:endParaRPr lang="pl-PL" sz="1400" b="0" u="none" strike="noStrike" dirty="0">
              <a:solidFill>
                <a:srgbClr val="000000"/>
              </a:solidFill>
              <a:effectLst/>
              <a:uFillTx/>
              <a:latin typeface="Arial"/>
            </a:endParaRPr>
          </a:p>
        </p:txBody>
      </p:sp>
      <p:sp>
        <p:nvSpPr>
          <p:cNvPr id="370" name="Shape 81"/>
          <p:cNvSpPr/>
          <p:nvPr/>
        </p:nvSpPr>
        <p:spPr>
          <a:xfrm>
            <a:off x="5230590" y="3758535"/>
            <a:ext cx="4282560" cy="1108740"/>
          </a:xfrm>
          <a:prstGeom prst="roundRect">
            <a:avLst>
              <a:gd name="adj" fmla="val 8696"/>
            </a:avLst>
          </a:prstGeom>
          <a:solidFill>
            <a:srgbClr val="FFFFFF"/>
          </a:solidFill>
          <a:ln w="0">
            <a:solidFill>
              <a:schemeClr val="tx2">
                <a:lumMod val="20000"/>
                <a:lumOff val="80000"/>
              </a:schemeClr>
            </a:solid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371" name="Shape 82"/>
          <p:cNvSpPr/>
          <p:nvPr/>
        </p:nvSpPr>
        <p:spPr>
          <a:xfrm>
            <a:off x="5331390" y="3850560"/>
            <a:ext cx="482400" cy="482400"/>
          </a:xfrm>
          <a:prstGeom prst="roundRect">
            <a:avLst>
              <a:gd name="adj" fmla="val 12500"/>
            </a:avLst>
          </a:prstGeom>
          <a:solidFill>
            <a:srgbClr val="7B5EA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372" name="Text 98"/>
          <p:cNvSpPr/>
          <p:nvPr/>
        </p:nvSpPr>
        <p:spPr>
          <a:xfrm>
            <a:off x="5331390" y="3850920"/>
            <a:ext cx="482400" cy="482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000" b="1" u="none" strike="noStrike">
                <a:solidFill>
                  <a:srgbClr val="FFFFFF"/>
                </a:solidFill>
                <a:effectLst/>
                <a:uFillTx/>
                <a:latin typeface="Cambria"/>
                <a:ea typeface="Cambria"/>
              </a:rPr>
              <a:t>06</a:t>
            </a:r>
            <a:endParaRPr lang="pl-PL" sz="2000" b="0" u="none" strike="noStrike">
              <a:solidFill>
                <a:srgbClr val="000000"/>
              </a:solidFill>
              <a:effectLst/>
              <a:uFillTx/>
              <a:latin typeface="Arial"/>
            </a:endParaRPr>
          </a:p>
        </p:txBody>
      </p:sp>
      <p:sp>
        <p:nvSpPr>
          <p:cNvPr id="373" name="Text 99"/>
          <p:cNvSpPr/>
          <p:nvPr/>
        </p:nvSpPr>
        <p:spPr>
          <a:xfrm>
            <a:off x="5885790" y="3830400"/>
            <a:ext cx="3526560" cy="401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defTabSz="914400">
              <a:lnSpc>
                <a:spcPct val="100000"/>
              </a:lnSpc>
              <a:tabLst>
                <a:tab pos="0" algn="l"/>
              </a:tabLst>
            </a:pPr>
            <a:r>
              <a:rPr lang="pl-PL" sz="2000" b="1" u="none" strike="noStrike">
                <a:solidFill>
                  <a:srgbClr val="1A1F3C"/>
                </a:solidFill>
                <a:effectLst/>
                <a:uFillTx/>
                <a:latin typeface="Cambria"/>
                <a:ea typeface="Cambria"/>
              </a:rPr>
              <a:t>Kryteria wykluczenia</a:t>
            </a:r>
            <a:endParaRPr lang="pl-PL" sz="2000" b="0" u="none" strike="noStrike">
              <a:solidFill>
                <a:srgbClr val="000000"/>
              </a:solidFill>
              <a:effectLst/>
              <a:uFillTx/>
              <a:latin typeface="Arial"/>
            </a:endParaRPr>
          </a:p>
        </p:txBody>
      </p:sp>
      <p:sp>
        <p:nvSpPr>
          <p:cNvPr id="374" name="Text 100"/>
          <p:cNvSpPr/>
          <p:nvPr/>
        </p:nvSpPr>
        <p:spPr>
          <a:xfrm>
            <a:off x="5885790" y="4233600"/>
            <a:ext cx="3526560" cy="583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20000"/>
              </a:lnSpc>
              <a:tabLst>
                <a:tab pos="0" algn="l"/>
              </a:tabLst>
            </a:pPr>
            <a:r>
              <a:rPr lang="pl-PL" sz="1400" b="0" u="none" strike="noStrike">
                <a:solidFill>
                  <a:srgbClr val="4A5280"/>
                </a:solidFill>
                <a:effectLst/>
                <a:uFillTx/>
                <a:latin typeface="Calibri"/>
                <a:ea typeface="Calibri"/>
              </a:rPr>
              <a:t>Ustalone przed badaniem: czas reakcji, błędy, kompletność danych, zgodność z protokołem.</a:t>
            </a:r>
            <a:endParaRPr lang="pl-PL" sz="1400" b="0" u="none" strike="noStrike">
              <a:solidFill>
                <a:srgbClr val="000000"/>
              </a:solidFill>
              <a:effectLst/>
              <a:uFillTx/>
              <a:latin typeface="Arial"/>
            </a:endParaRPr>
          </a:p>
        </p:txBody>
      </p:sp>
      <p:sp>
        <p:nvSpPr>
          <p:cNvPr id="375" name="Text 101"/>
          <p:cNvSpPr/>
          <p:nvPr/>
        </p:nvSpPr>
        <p:spPr>
          <a:xfrm>
            <a:off x="247649" y="5161320"/>
            <a:ext cx="9515475" cy="35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600" b="0" u="none" strike="noStrike" dirty="0">
                <a:solidFill>
                  <a:srgbClr val="000000"/>
                </a:solidFill>
                <a:effectLst/>
                <a:uFillTx/>
                <a:latin typeface="Georgia Pro Light" panose="02040302050405020303" pitchFamily="18" charset="0"/>
                <a:ea typeface="Calibri"/>
              </a:rPr>
              <a:t>Dobry protokół pozwala innej osobie przeprowadzić dokładnie ten sam eksperyment bez kontaktu z autorem</a:t>
            </a:r>
            <a:endParaRPr lang="pl-PL" sz="1600" b="0" u="none" strike="noStrike" dirty="0">
              <a:solidFill>
                <a:srgbClr val="000000"/>
              </a:solidFill>
              <a:effectLst/>
              <a:uFillTx/>
              <a:latin typeface="Georgia Pro Light" panose="02040302050405020303"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99"/>
            <a:ext cx="10080625" cy="1008063"/>
          </a:xfrm>
          <a:prstGeom prst="rect">
            <a:avLst/>
          </a:prstGeom>
          <a:solidFill>
            <a:srgbClr val="1E2761"/>
          </a:solidFill>
          <a:ln w="12700">
            <a:solidFill>
              <a:srgbClr val="1E2761"/>
            </a:solidFill>
            <a:prstDash val="solid"/>
          </a:ln>
        </p:spPr>
      </p:sp>
      <p:sp>
        <p:nvSpPr>
          <p:cNvPr id="3" name="Text 1"/>
          <p:cNvSpPr/>
          <p:nvPr/>
        </p:nvSpPr>
        <p:spPr>
          <a:xfrm>
            <a:off x="453628" y="70664"/>
            <a:ext cx="9173369" cy="504031"/>
          </a:xfrm>
          <a:prstGeom prst="rect">
            <a:avLst/>
          </a:prstGeom>
          <a:noFill/>
          <a:ln/>
        </p:spPr>
        <p:txBody>
          <a:bodyPr wrap="square" rtlCol="0" anchor="b"/>
          <a:lstStyle/>
          <a:p>
            <a:r>
              <a:rPr lang="en-US" sz="1984" b="1" dirty="0">
                <a:solidFill>
                  <a:srgbClr val="FFFFFF"/>
                </a:solidFill>
                <a:latin typeface="Cambria" pitchFamily="34" charset="0"/>
                <a:ea typeface="Cambria" pitchFamily="34" charset="-122"/>
                <a:cs typeface="Cambria" pitchFamily="34" charset="-120"/>
              </a:rPr>
              <a:t>REKRUTACJA UCZESTNIKÓW I KONTROLA STRUKTURY PRÓBY</a:t>
            </a:r>
            <a:endParaRPr lang="en-US" sz="1984" dirty="0"/>
          </a:p>
        </p:txBody>
      </p:sp>
      <p:sp>
        <p:nvSpPr>
          <p:cNvPr id="4" name="Text 2"/>
          <p:cNvSpPr/>
          <p:nvPr/>
        </p:nvSpPr>
        <p:spPr>
          <a:xfrm>
            <a:off x="453628" y="594856"/>
            <a:ext cx="9173369" cy="332661"/>
          </a:xfrm>
          <a:prstGeom prst="rect">
            <a:avLst/>
          </a:prstGeom>
          <a:noFill/>
          <a:ln/>
        </p:spPr>
        <p:txBody>
          <a:bodyPr wrap="square" rtlCol="0" anchor="t"/>
          <a:lstStyle/>
          <a:p>
            <a:r>
              <a:rPr lang="en-US" sz="1158" i="1" dirty="0">
                <a:solidFill>
                  <a:srgbClr val="CADCFC"/>
                </a:solidFill>
                <a:latin typeface="Calibri" pitchFamily="34" charset="0"/>
                <a:ea typeface="Calibri" pitchFamily="34" charset="-122"/>
                <a:cs typeface="Calibri" pitchFamily="34" charset="-120"/>
              </a:rPr>
              <a:t>Skąd biorą się uczestnicy i jakie ograniczenia wprowadza kanał rekrutacji</a:t>
            </a:r>
            <a:endParaRPr lang="en-US" sz="1158" dirty="0"/>
          </a:p>
        </p:txBody>
      </p:sp>
      <p:sp>
        <p:nvSpPr>
          <p:cNvPr id="5" name="Shape 3"/>
          <p:cNvSpPr/>
          <p:nvPr/>
        </p:nvSpPr>
        <p:spPr>
          <a:xfrm>
            <a:off x="806450" y="1108968"/>
            <a:ext cx="8467725" cy="504031"/>
          </a:xfrm>
          <a:prstGeom prst="roundRect">
            <a:avLst>
              <a:gd name="adj" fmla="val 16000"/>
            </a:avLst>
          </a:prstGeom>
          <a:solidFill>
            <a:srgbClr val="1E2761"/>
          </a:solidFill>
          <a:ln/>
          <a:effectLst>
            <a:outerShdw blurRad="76200" dist="25400" dir="2700000" algn="bl" rotWithShape="0">
              <a:srgbClr val="000000">
                <a:alpha val="8000"/>
              </a:srgbClr>
            </a:outerShdw>
          </a:effectLst>
        </p:spPr>
      </p:sp>
      <p:sp>
        <p:nvSpPr>
          <p:cNvPr id="6" name="Text 4"/>
          <p:cNvSpPr/>
          <p:nvPr/>
        </p:nvSpPr>
        <p:spPr>
          <a:xfrm>
            <a:off x="806450" y="1108968"/>
            <a:ext cx="8467725" cy="504031"/>
          </a:xfrm>
          <a:prstGeom prst="rect">
            <a:avLst/>
          </a:prstGeom>
          <a:noFill/>
          <a:ln/>
        </p:spPr>
        <p:txBody>
          <a:bodyPr wrap="square" rtlCol="0" anchor="ctr"/>
          <a:lstStyle/>
          <a:p>
            <a:pPr algn="ctr"/>
            <a:r>
              <a:rPr lang="en-US" b="1" dirty="0">
                <a:solidFill>
                  <a:srgbClr val="FFFFFF"/>
                </a:solidFill>
                <a:latin typeface="Cambria" pitchFamily="34" charset="0"/>
                <a:ea typeface="Cambria" pitchFamily="34" charset="-122"/>
                <a:cs typeface="Cambria" pitchFamily="34" charset="-120"/>
              </a:rPr>
              <a:t>Populacja docelowa</a:t>
            </a:r>
            <a:endParaRPr lang="en-US" dirty="0"/>
          </a:p>
        </p:txBody>
      </p:sp>
      <p:sp>
        <p:nvSpPr>
          <p:cNvPr id="7" name="Shape 5"/>
          <p:cNvSpPr/>
          <p:nvPr/>
        </p:nvSpPr>
        <p:spPr>
          <a:xfrm>
            <a:off x="1814512" y="1693644"/>
            <a:ext cx="6451600" cy="504031"/>
          </a:xfrm>
          <a:prstGeom prst="roundRect">
            <a:avLst>
              <a:gd name="adj" fmla="val 16000"/>
            </a:avLst>
          </a:prstGeom>
          <a:solidFill>
            <a:srgbClr val="2D3B8E"/>
          </a:solidFill>
          <a:ln/>
          <a:effectLst>
            <a:outerShdw blurRad="76200" dist="25400" dir="2700000" algn="bl" rotWithShape="0">
              <a:srgbClr val="000000">
                <a:alpha val="8000"/>
              </a:srgbClr>
            </a:outerShdw>
          </a:effectLst>
        </p:spPr>
      </p:sp>
      <p:sp>
        <p:nvSpPr>
          <p:cNvPr id="8" name="Text 6"/>
          <p:cNvSpPr/>
          <p:nvPr/>
        </p:nvSpPr>
        <p:spPr>
          <a:xfrm>
            <a:off x="1814512" y="1693644"/>
            <a:ext cx="6451600" cy="504031"/>
          </a:xfrm>
          <a:prstGeom prst="rect">
            <a:avLst/>
          </a:prstGeom>
          <a:noFill/>
          <a:ln/>
        </p:spPr>
        <p:txBody>
          <a:bodyPr wrap="square" rtlCol="0" anchor="ctr"/>
          <a:lstStyle/>
          <a:p>
            <a:pPr algn="ctr"/>
            <a:r>
              <a:rPr lang="en-US" b="1" dirty="0">
                <a:solidFill>
                  <a:srgbClr val="FFFFFF"/>
                </a:solidFill>
                <a:latin typeface="Cambria" pitchFamily="34" charset="0"/>
                <a:ea typeface="Cambria" pitchFamily="34" charset="-122"/>
                <a:cs typeface="Cambria" pitchFamily="34" charset="-120"/>
              </a:rPr>
              <a:t>Kanał rekrutacji</a:t>
            </a:r>
            <a:endParaRPr lang="en-US" dirty="0"/>
          </a:p>
        </p:txBody>
      </p:sp>
      <p:sp>
        <p:nvSpPr>
          <p:cNvPr id="9" name="Text 7"/>
          <p:cNvSpPr/>
          <p:nvPr/>
        </p:nvSpPr>
        <p:spPr>
          <a:xfrm>
            <a:off x="8417321" y="1693644"/>
            <a:ext cx="2217738" cy="504031"/>
          </a:xfrm>
          <a:prstGeom prst="rect">
            <a:avLst/>
          </a:prstGeom>
          <a:noFill/>
          <a:ln/>
        </p:spPr>
        <p:txBody>
          <a:bodyPr wrap="square" rtlCol="0" anchor="ctr"/>
          <a:lstStyle/>
          <a:p>
            <a:r>
              <a:rPr lang="en-US" sz="1047" i="1" dirty="0">
                <a:solidFill>
                  <a:srgbClr val="D64045"/>
                </a:solidFill>
                <a:latin typeface="Calibri" pitchFamily="34" charset="0"/>
                <a:ea typeface="Calibri" pitchFamily="34" charset="-122"/>
                <a:cs typeface="Calibri" pitchFamily="34" charset="-120"/>
              </a:rPr>
              <a:t>← bias samoselekcji</a:t>
            </a:r>
            <a:endParaRPr lang="en-US" sz="1047" dirty="0"/>
          </a:p>
        </p:txBody>
      </p:sp>
      <p:sp>
        <p:nvSpPr>
          <p:cNvPr id="10" name="Shape 8"/>
          <p:cNvSpPr/>
          <p:nvPr/>
        </p:nvSpPr>
        <p:spPr>
          <a:xfrm>
            <a:off x="2822575" y="2278321"/>
            <a:ext cx="4435475" cy="504031"/>
          </a:xfrm>
          <a:prstGeom prst="roundRect">
            <a:avLst>
              <a:gd name="adj" fmla="val 16000"/>
            </a:avLst>
          </a:prstGeom>
          <a:solidFill>
            <a:srgbClr val="5B8FF9"/>
          </a:solidFill>
          <a:ln/>
          <a:effectLst>
            <a:outerShdw blurRad="76200" dist="25400" dir="2700000" algn="bl" rotWithShape="0">
              <a:srgbClr val="000000">
                <a:alpha val="8000"/>
              </a:srgbClr>
            </a:outerShdw>
          </a:effectLst>
        </p:spPr>
      </p:sp>
      <p:sp>
        <p:nvSpPr>
          <p:cNvPr id="11" name="Text 9"/>
          <p:cNvSpPr/>
          <p:nvPr/>
        </p:nvSpPr>
        <p:spPr>
          <a:xfrm>
            <a:off x="2822575" y="2278321"/>
            <a:ext cx="4435475" cy="504031"/>
          </a:xfrm>
          <a:prstGeom prst="rect">
            <a:avLst/>
          </a:prstGeom>
          <a:noFill/>
          <a:ln/>
        </p:spPr>
        <p:txBody>
          <a:bodyPr wrap="square" rtlCol="0" anchor="ctr"/>
          <a:lstStyle/>
          <a:p>
            <a:pPr algn="ctr"/>
            <a:r>
              <a:rPr lang="en-US" b="1" dirty="0">
                <a:solidFill>
                  <a:srgbClr val="FFFFFF"/>
                </a:solidFill>
                <a:latin typeface="Cambria" pitchFamily="34" charset="0"/>
                <a:ea typeface="Cambria" pitchFamily="34" charset="-122"/>
                <a:cs typeface="Cambria" pitchFamily="34" charset="-120"/>
              </a:rPr>
              <a:t>Screening / </a:t>
            </a:r>
            <a:r>
              <a:rPr lang="en-US" b="1" dirty="0" err="1">
                <a:solidFill>
                  <a:srgbClr val="FFFFFF"/>
                </a:solidFill>
                <a:latin typeface="Cambria" pitchFamily="34" charset="0"/>
                <a:ea typeface="Cambria" pitchFamily="34" charset="-122"/>
                <a:cs typeface="Cambria" pitchFamily="34" charset="-120"/>
              </a:rPr>
              <a:t>kryteria</a:t>
            </a:r>
            <a:endParaRPr lang="en-US" dirty="0"/>
          </a:p>
        </p:txBody>
      </p:sp>
      <p:sp>
        <p:nvSpPr>
          <p:cNvPr id="12" name="Text 10"/>
          <p:cNvSpPr/>
          <p:nvPr/>
        </p:nvSpPr>
        <p:spPr>
          <a:xfrm>
            <a:off x="7409259" y="2278321"/>
            <a:ext cx="2217738" cy="504031"/>
          </a:xfrm>
          <a:prstGeom prst="rect">
            <a:avLst/>
          </a:prstGeom>
          <a:noFill/>
          <a:ln/>
        </p:spPr>
        <p:txBody>
          <a:bodyPr wrap="square" rtlCol="0" anchor="ctr"/>
          <a:lstStyle/>
          <a:p>
            <a:r>
              <a:rPr lang="en-US" sz="1047" i="1" dirty="0">
                <a:solidFill>
                  <a:srgbClr val="D64045"/>
                </a:solidFill>
                <a:latin typeface="Calibri" pitchFamily="34" charset="0"/>
                <a:ea typeface="Calibri" pitchFamily="34" charset="-122"/>
                <a:cs typeface="Calibri" pitchFamily="34" charset="-120"/>
              </a:rPr>
              <a:t>← compensation bias</a:t>
            </a:r>
            <a:endParaRPr lang="en-US" sz="1047" dirty="0"/>
          </a:p>
        </p:txBody>
      </p:sp>
      <p:sp>
        <p:nvSpPr>
          <p:cNvPr id="13" name="Shape 11"/>
          <p:cNvSpPr/>
          <p:nvPr/>
        </p:nvSpPr>
        <p:spPr>
          <a:xfrm>
            <a:off x="3729831" y="2862997"/>
            <a:ext cx="2620963" cy="504031"/>
          </a:xfrm>
          <a:prstGeom prst="roundRect">
            <a:avLst>
              <a:gd name="adj" fmla="val 16000"/>
            </a:avLst>
          </a:prstGeom>
          <a:solidFill>
            <a:srgbClr val="3A9F6E"/>
          </a:solidFill>
          <a:ln/>
          <a:effectLst>
            <a:outerShdw blurRad="76200" dist="25400" dir="2700000" algn="bl" rotWithShape="0">
              <a:srgbClr val="000000">
                <a:alpha val="8000"/>
              </a:srgbClr>
            </a:outerShdw>
          </a:effectLst>
        </p:spPr>
      </p:sp>
      <p:sp>
        <p:nvSpPr>
          <p:cNvPr id="14" name="Text 12"/>
          <p:cNvSpPr/>
          <p:nvPr/>
        </p:nvSpPr>
        <p:spPr>
          <a:xfrm>
            <a:off x="3729831" y="2862997"/>
            <a:ext cx="2620963" cy="504031"/>
          </a:xfrm>
          <a:prstGeom prst="rect">
            <a:avLst/>
          </a:prstGeom>
          <a:noFill/>
          <a:ln/>
        </p:spPr>
        <p:txBody>
          <a:bodyPr wrap="square" rtlCol="0" anchor="ctr"/>
          <a:lstStyle/>
          <a:p>
            <a:pPr algn="ctr"/>
            <a:r>
              <a:rPr lang="en-US" b="1" dirty="0">
                <a:solidFill>
                  <a:srgbClr val="FFFFFF"/>
                </a:solidFill>
                <a:latin typeface="Cambria" pitchFamily="34" charset="0"/>
                <a:ea typeface="Cambria" pitchFamily="34" charset="-122"/>
                <a:cs typeface="Cambria" pitchFamily="34" charset="-120"/>
              </a:rPr>
              <a:t>Próba badawcza</a:t>
            </a:r>
            <a:endParaRPr lang="en-US" dirty="0"/>
          </a:p>
        </p:txBody>
      </p:sp>
      <p:sp>
        <p:nvSpPr>
          <p:cNvPr id="15" name="Shape 13"/>
          <p:cNvSpPr/>
          <p:nvPr/>
        </p:nvSpPr>
        <p:spPr>
          <a:xfrm>
            <a:off x="403225" y="3568640"/>
            <a:ext cx="4536281" cy="1058466"/>
          </a:xfrm>
          <a:prstGeom prst="roundRect">
            <a:avLst>
              <a:gd name="adj" fmla="val 9524"/>
            </a:avLst>
          </a:prstGeom>
          <a:solidFill>
            <a:srgbClr val="FFFFFF"/>
          </a:solidFill>
          <a:ln>
            <a:solidFill>
              <a:schemeClr val="bg2">
                <a:lumMod val="90000"/>
              </a:schemeClr>
            </a:solidFill>
          </a:ln>
          <a:effectLst>
            <a:outerShdw blurRad="76200" dist="25400" dir="2700000" algn="bl" rotWithShape="0">
              <a:srgbClr val="000000">
                <a:alpha val="8000"/>
              </a:srgbClr>
            </a:outerShdw>
          </a:effectLst>
        </p:spPr>
      </p:sp>
      <p:sp>
        <p:nvSpPr>
          <p:cNvPr id="16" name="Text 14"/>
          <p:cNvSpPr/>
          <p:nvPr/>
        </p:nvSpPr>
        <p:spPr>
          <a:xfrm>
            <a:off x="554434" y="3629124"/>
            <a:ext cx="4233863" cy="302419"/>
          </a:xfrm>
          <a:prstGeom prst="rect">
            <a:avLst/>
          </a:prstGeom>
          <a:noFill/>
          <a:ln/>
        </p:spPr>
        <p:txBody>
          <a:bodyPr wrap="square" rtlCol="0" anchor="ctr"/>
          <a:lstStyle/>
          <a:p>
            <a:r>
              <a:rPr lang="en-US" b="1" dirty="0">
                <a:solidFill>
                  <a:srgbClr val="1E2761"/>
                </a:solidFill>
                <a:latin typeface="Cambria" pitchFamily="34" charset="0"/>
                <a:ea typeface="Cambria" pitchFamily="34" charset="-122"/>
                <a:cs typeface="Cambria" pitchFamily="34" charset="-120"/>
              </a:rPr>
              <a:t>Źródła rekrutacji</a:t>
            </a:r>
            <a:endParaRPr lang="en-US" dirty="0"/>
          </a:p>
        </p:txBody>
      </p:sp>
      <p:sp>
        <p:nvSpPr>
          <p:cNvPr id="17" name="Shape 15"/>
          <p:cNvSpPr/>
          <p:nvPr/>
        </p:nvSpPr>
        <p:spPr>
          <a:xfrm>
            <a:off x="554434" y="3992026"/>
            <a:ext cx="201613" cy="201613"/>
          </a:xfrm>
          <a:prstGeom prst="ellipse">
            <a:avLst/>
          </a:prstGeom>
          <a:solidFill>
            <a:srgbClr val="5B8FF9"/>
          </a:solidFill>
          <a:ln w="12700">
            <a:solidFill>
              <a:srgbClr val="5B8FF9"/>
            </a:solidFill>
            <a:prstDash val="solid"/>
          </a:ln>
        </p:spPr>
      </p:sp>
      <p:sp>
        <p:nvSpPr>
          <p:cNvPr id="18" name="Text 16"/>
          <p:cNvSpPr/>
          <p:nvPr/>
        </p:nvSpPr>
        <p:spPr>
          <a:xfrm>
            <a:off x="816530" y="3931543"/>
            <a:ext cx="1965722" cy="302419"/>
          </a:xfrm>
          <a:prstGeom prst="rect">
            <a:avLst/>
          </a:prstGeom>
          <a:noFill/>
          <a:ln/>
        </p:spPr>
        <p:txBody>
          <a:bodyPr wrap="square" rtlCol="0" anchor="ctr"/>
          <a:lstStyle/>
          <a:p>
            <a:r>
              <a:rPr lang="en-US" sz="1200" dirty="0">
                <a:solidFill>
                  <a:srgbClr val="1A1F3C"/>
                </a:solidFill>
                <a:latin typeface="Calibri" pitchFamily="34" charset="0"/>
                <a:ea typeface="Calibri" pitchFamily="34" charset="-122"/>
                <a:cs typeface="Calibri" pitchFamily="34" charset="-120"/>
              </a:rPr>
              <a:t>Studenci</a:t>
            </a:r>
            <a:endParaRPr lang="en-US" sz="1200" dirty="0"/>
          </a:p>
        </p:txBody>
      </p:sp>
      <p:sp>
        <p:nvSpPr>
          <p:cNvPr id="19" name="Shape 17"/>
          <p:cNvSpPr/>
          <p:nvPr/>
        </p:nvSpPr>
        <p:spPr>
          <a:xfrm>
            <a:off x="2772171" y="3992026"/>
            <a:ext cx="201613" cy="201613"/>
          </a:xfrm>
          <a:prstGeom prst="ellipse">
            <a:avLst/>
          </a:prstGeom>
          <a:solidFill>
            <a:srgbClr val="5B8FF9"/>
          </a:solidFill>
          <a:ln w="12700">
            <a:solidFill>
              <a:srgbClr val="5B8FF9"/>
            </a:solidFill>
            <a:prstDash val="solid"/>
          </a:ln>
        </p:spPr>
      </p:sp>
      <p:sp>
        <p:nvSpPr>
          <p:cNvPr id="20" name="Text 18"/>
          <p:cNvSpPr/>
          <p:nvPr/>
        </p:nvSpPr>
        <p:spPr>
          <a:xfrm>
            <a:off x="3034268" y="3931543"/>
            <a:ext cx="1965722" cy="302419"/>
          </a:xfrm>
          <a:prstGeom prst="rect">
            <a:avLst/>
          </a:prstGeom>
          <a:noFill/>
          <a:ln/>
        </p:spPr>
        <p:txBody>
          <a:bodyPr wrap="square" rtlCol="0" anchor="ctr"/>
          <a:lstStyle/>
          <a:p>
            <a:r>
              <a:rPr lang="en-US" sz="1200" dirty="0">
                <a:solidFill>
                  <a:srgbClr val="1A1F3C"/>
                </a:solidFill>
                <a:latin typeface="Calibri" pitchFamily="34" charset="0"/>
                <a:ea typeface="Calibri" pitchFamily="34" charset="-122"/>
                <a:cs typeface="Calibri" pitchFamily="34" charset="-120"/>
              </a:rPr>
              <a:t>Prolific / MTurk</a:t>
            </a:r>
            <a:endParaRPr lang="en-US" sz="1200" dirty="0"/>
          </a:p>
        </p:txBody>
      </p:sp>
      <p:sp>
        <p:nvSpPr>
          <p:cNvPr id="21" name="Shape 19"/>
          <p:cNvSpPr/>
          <p:nvPr/>
        </p:nvSpPr>
        <p:spPr>
          <a:xfrm>
            <a:off x="554434" y="4314606"/>
            <a:ext cx="201613" cy="201613"/>
          </a:xfrm>
          <a:prstGeom prst="ellipse">
            <a:avLst/>
          </a:prstGeom>
          <a:solidFill>
            <a:srgbClr val="5B8FF9"/>
          </a:solidFill>
          <a:ln w="12700">
            <a:solidFill>
              <a:srgbClr val="5B8FF9"/>
            </a:solidFill>
            <a:prstDash val="solid"/>
          </a:ln>
        </p:spPr>
      </p:sp>
      <p:sp>
        <p:nvSpPr>
          <p:cNvPr id="22" name="Text 20"/>
          <p:cNvSpPr/>
          <p:nvPr/>
        </p:nvSpPr>
        <p:spPr>
          <a:xfrm>
            <a:off x="816530" y="4254123"/>
            <a:ext cx="1965722" cy="302419"/>
          </a:xfrm>
          <a:prstGeom prst="rect">
            <a:avLst/>
          </a:prstGeom>
          <a:noFill/>
          <a:ln/>
        </p:spPr>
        <p:txBody>
          <a:bodyPr wrap="square" rtlCol="0" anchor="ctr"/>
          <a:lstStyle/>
          <a:p>
            <a:r>
              <a:rPr lang="en-US" sz="1200" dirty="0">
                <a:solidFill>
                  <a:srgbClr val="1A1F3C"/>
                </a:solidFill>
                <a:latin typeface="Calibri" pitchFamily="34" charset="0"/>
                <a:ea typeface="Calibri" pitchFamily="34" charset="-122"/>
                <a:cs typeface="Calibri" pitchFamily="34" charset="-120"/>
              </a:rPr>
              <a:t>Populacja kliniczna</a:t>
            </a:r>
            <a:endParaRPr lang="en-US" sz="1200" dirty="0"/>
          </a:p>
        </p:txBody>
      </p:sp>
      <p:sp>
        <p:nvSpPr>
          <p:cNvPr id="23" name="Shape 21"/>
          <p:cNvSpPr/>
          <p:nvPr/>
        </p:nvSpPr>
        <p:spPr>
          <a:xfrm>
            <a:off x="2772171" y="4314606"/>
            <a:ext cx="201613" cy="201613"/>
          </a:xfrm>
          <a:prstGeom prst="ellipse">
            <a:avLst/>
          </a:prstGeom>
          <a:solidFill>
            <a:srgbClr val="5B8FF9"/>
          </a:solidFill>
          <a:ln w="12700">
            <a:solidFill>
              <a:srgbClr val="5B8FF9"/>
            </a:solidFill>
            <a:prstDash val="solid"/>
          </a:ln>
        </p:spPr>
      </p:sp>
      <p:sp>
        <p:nvSpPr>
          <p:cNvPr id="24" name="Text 22"/>
          <p:cNvSpPr/>
          <p:nvPr/>
        </p:nvSpPr>
        <p:spPr>
          <a:xfrm>
            <a:off x="3034268" y="4254123"/>
            <a:ext cx="1965722" cy="302419"/>
          </a:xfrm>
          <a:prstGeom prst="rect">
            <a:avLst/>
          </a:prstGeom>
          <a:noFill/>
          <a:ln/>
        </p:spPr>
        <p:txBody>
          <a:bodyPr wrap="square" rtlCol="0" anchor="ctr"/>
          <a:lstStyle/>
          <a:p>
            <a:r>
              <a:rPr lang="en-US" sz="1200" dirty="0">
                <a:solidFill>
                  <a:srgbClr val="1A1F3C"/>
                </a:solidFill>
                <a:latin typeface="Calibri" pitchFamily="34" charset="0"/>
                <a:ea typeface="Calibri" pitchFamily="34" charset="-122"/>
                <a:cs typeface="Calibri" pitchFamily="34" charset="-120"/>
              </a:rPr>
              <a:t>Media społecznościowe</a:t>
            </a:r>
            <a:endParaRPr lang="en-US" sz="1200" dirty="0"/>
          </a:p>
        </p:txBody>
      </p:sp>
      <p:sp>
        <p:nvSpPr>
          <p:cNvPr id="25" name="Shape 23"/>
          <p:cNvSpPr/>
          <p:nvPr/>
        </p:nvSpPr>
        <p:spPr>
          <a:xfrm>
            <a:off x="5141118" y="3568640"/>
            <a:ext cx="4536281" cy="1058466"/>
          </a:xfrm>
          <a:prstGeom prst="roundRect">
            <a:avLst>
              <a:gd name="adj" fmla="val 9524"/>
            </a:avLst>
          </a:prstGeom>
          <a:solidFill>
            <a:srgbClr val="FFFFFF"/>
          </a:solidFill>
          <a:ln>
            <a:solidFill>
              <a:schemeClr val="bg2">
                <a:lumMod val="90000"/>
              </a:schemeClr>
            </a:solidFill>
          </a:ln>
          <a:effectLst>
            <a:outerShdw blurRad="76200" dist="25400" dir="2700000" algn="bl" rotWithShape="0">
              <a:srgbClr val="000000">
                <a:alpha val="8000"/>
              </a:srgbClr>
            </a:outerShdw>
          </a:effectLst>
        </p:spPr>
      </p:sp>
      <p:sp>
        <p:nvSpPr>
          <p:cNvPr id="26" name="Text 24"/>
          <p:cNvSpPr/>
          <p:nvPr/>
        </p:nvSpPr>
        <p:spPr>
          <a:xfrm>
            <a:off x="5292327" y="3629124"/>
            <a:ext cx="4233863" cy="302419"/>
          </a:xfrm>
          <a:prstGeom prst="rect">
            <a:avLst/>
          </a:prstGeom>
          <a:noFill/>
          <a:ln/>
        </p:spPr>
        <p:txBody>
          <a:bodyPr wrap="square" rtlCol="0" anchor="ctr"/>
          <a:lstStyle/>
          <a:p>
            <a:r>
              <a:rPr lang="en-US" b="1" dirty="0">
                <a:solidFill>
                  <a:srgbClr val="1E2761"/>
                </a:solidFill>
                <a:latin typeface="Cambria" pitchFamily="34" charset="0"/>
                <a:ea typeface="Cambria" pitchFamily="34" charset="-122"/>
                <a:cs typeface="Cambria" pitchFamily="34" charset="-120"/>
              </a:rPr>
              <a:t>Na co zwrócić uwagę</a:t>
            </a:r>
            <a:endParaRPr lang="en-US" dirty="0"/>
          </a:p>
        </p:txBody>
      </p:sp>
      <p:sp>
        <p:nvSpPr>
          <p:cNvPr id="27" name="Shape 25"/>
          <p:cNvSpPr/>
          <p:nvPr/>
        </p:nvSpPr>
        <p:spPr>
          <a:xfrm>
            <a:off x="5292327" y="3992026"/>
            <a:ext cx="201613" cy="201613"/>
          </a:xfrm>
          <a:prstGeom prst="ellipse">
            <a:avLst/>
          </a:prstGeom>
          <a:solidFill>
            <a:srgbClr val="D64045"/>
          </a:solidFill>
          <a:ln w="12700">
            <a:solidFill>
              <a:srgbClr val="D64045"/>
            </a:solidFill>
            <a:prstDash val="solid"/>
          </a:ln>
        </p:spPr>
      </p:sp>
      <p:sp>
        <p:nvSpPr>
          <p:cNvPr id="28" name="Text 26"/>
          <p:cNvSpPr/>
          <p:nvPr/>
        </p:nvSpPr>
        <p:spPr>
          <a:xfrm>
            <a:off x="5554424" y="3931543"/>
            <a:ext cx="3931444" cy="302419"/>
          </a:xfrm>
          <a:prstGeom prst="rect">
            <a:avLst/>
          </a:prstGeom>
          <a:noFill/>
          <a:ln/>
        </p:spPr>
        <p:txBody>
          <a:bodyPr wrap="square" rtlCol="0" anchor="ctr"/>
          <a:lstStyle/>
          <a:p>
            <a:r>
              <a:rPr lang="en-US" sz="1200" dirty="0">
                <a:solidFill>
                  <a:srgbClr val="1A1F3C"/>
                </a:solidFill>
                <a:latin typeface="Calibri" pitchFamily="34" charset="0"/>
                <a:ea typeface="Calibri" pitchFamily="34" charset="-122"/>
                <a:cs typeface="Calibri" pitchFamily="34" charset="-120"/>
              </a:rPr>
              <a:t>Kryteria włączenia/wyłączenia</a:t>
            </a:r>
            <a:endParaRPr lang="en-US" sz="1200" dirty="0"/>
          </a:p>
        </p:txBody>
      </p:sp>
      <p:sp>
        <p:nvSpPr>
          <p:cNvPr id="29" name="Shape 27"/>
          <p:cNvSpPr/>
          <p:nvPr/>
        </p:nvSpPr>
        <p:spPr>
          <a:xfrm>
            <a:off x="5292327" y="4314606"/>
            <a:ext cx="201613" cy="201613"/>
          </a:xfrm>
          <a:prstGeom prst="ellipse">
            <a:avLst/>
          </a:prstGeom>
          <a:solidFill>
            <a:srgbClr val="D64045"/>
          </a:solidFill>
          <a:ln w="12700">
            <a:solidFill>
              <a:srgbClr val="D64045"/>
            </a:solidFill>
            <a:prstDash val="solid"/>
          </a:ln>
        </p:spPr>
      </p:sp>
      <p:sp>
        <p:nvSpPr>
          <p:cNvPr id="30" name="Text 28"/>
          <p:cNvSpPr/>
          <p:nvPr/>
        </p:nvSpPr>
        <p:spPr>
          <a:xfrm>
            <a:off x="5554424" y="4254123"/>
            <a:ext cx="3931444" cy="302419"/>
          </a:xfrm>
          <a:prstGeom prst="rect">
            <a:avLst/>
          </a:prstGeom>
          <a:noFill/>
          <a:ln/>
        </p:spPr>
        <p:txBody>
          <a:bodyPr wrap="square" rtlCol="0" anchor="ctr"/>
          <a:lstStyle/>
          <a:p>
            <a:r>
              <a:rPr lang="en-US" sz="1200" dirty="0">
                <a:solidFill>
                  <a:srgbClr val="1A1F3C"/>
                </a:solidFill>
                <a:latin typeface="Calibri" pitchFamily="34" charset="0"/>
                <a:ea typeface="Calibri" pitchFamily="34" charset="-122"/>
                <a:cs typeface="Calibri" pitchFamily="34" charset="-120"/>
              </a:rPr>
              <a:t>Reprezentatywność i balans grup</a:t>
            </a:r>
            <a:endParaRPr lang="en-US" sz="1200" dirty="0"/>
          </a:p>
        </p:txBody>
      </p:sp>
      <p:sp>
        <p:nvSpPr>
          <p:cNvPr id="31" name="Shape 29"/>
          <p:cNvSpPr/>
          <p:nvPr/>
        </p:nvSpPr>
        <p:spPr>
          <a:xfrm>
            <a:off x="403225" y="4758154"/>
            <a:ext cx="9274175" cy="655240"/>
          </a:xfrm>
          <a:prstGeom prst="roundRect">
            <a:avLst>
              <a:gd name="adj" fmla="val 18182"/>
            </a:avLst>
          </a:prstGeom>
          <a:solidFill>
            <a:srgbClr val="EEF3FF"/>
          </a:solidFill>
          <a:ln/>
          <a:effectLst>
            <a:outerShdw blurRad="76200" dist="25400" dir="2700000" algn="bl" rotWithShape="0">
              <a:srgbClr val="000000">
                <a:alpha val="8000"/>
              </a:srgbClr>
            </a:outerShdw>
          </a:effectLst>
        </p:spPr>
        <p:txBody>
          <a:bodyPr anchor="ctr"/>
          <a:lstStyle/>
          <a:p>
            <a:pPr algn="ctr"/>
            <a:r>
              <a:rPr lang="pl-PL" sz="2000" dirty="0">
                <a:solidFill>
                  <a:srgbClr val="1E2761"/>
                </a:solidFill>
                <a:latin typeface="Cambria Math" panose="02040503050406030204" pitchFamily="18" charset="0"/>
                <a:ea typeface="Cambria Math" panose="02040503050406030204" pitchFamily="18" charset="0"/>
                <a:cs typeface="Calibri" pitchFamily="34" charset="-120"/>
              </a:rPr>
              <a:t>Źródło rekrutacji jest elementem metody badawczej </a:t>
            </a:r>
          </a:p>
          <a:p>
            <a:pPr algn="ctr"/>
            <a:r>
              <a:rPr lang="pl-PL" sz="2000" dirty="0">
                <a:solidFill>
                  <a:srgbClr val="1E2761"/>
                </a:solidFill>
                <a:latin typeface="Cambria Math" panose="02040503050406030204" pitchFamily="18" charset="0"/>
                <a:ea typeface="Cambria Math" panose="02040503050406030204" pitchFamily="18" charset="0"/>
                <a:cs typeface="Calibri" pitchFamily="34" charset="-120"/>
              </a:rPr>
              <a:t>i musi być opisane równie precyzyjnie jak używana aparatura</a:t>
            </a:r>
          </a:p>
        </p:txBody>
      </p:sp>
    </p:spTree>
    <p:extLst>
      <p:ext uri="{BB962C8B-B14F-4D97-AF65-F5344CB8AC3E}">
        <p14:creationId xmlns:p14="http://schemas.microsoft.com/office/powerpoint/2010/main" val="5913390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379" name="Shape 6"/>
          <p:cNvSpPr/>
          <p:nvPr/>
        </p:nvSpPr>
        <p:spPr>
          <a:xfrm>
            <a:off x="360" y="360"/>
            <a:ext cx="10079280" cy="1006560"/>
          </a:xfrm>
          <a:prstGeom prst="rect">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380" name="Text 8"/>
          <p:cNvSpPr/>
          <p:nvPr/>
        </p:nvSpPr>
        <p:spPr>
          <a:xfrm>
            <a:off x="453600" y="70560"/>
            <a:ext cx="9172080" cy="502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defTabSz="914400">
              <a:lnSpc>
                <a:spcPct val="100000"/>
              </a:lnSpc>
              <a:tabLst>
                <a:tab pos="0" algn="l"/>
              </a:tabLst>
            </a:pPr>
            <a:r>
              <a:rPr lang="pl-PL" sz="2200" b="1" u="none" strike="noStrike">
                <a:solidFill>
                  <a:srgbClr val="FFFFFF"/>
                </a:solidFill>
                <a:effectLst/>
                <a:uFillTx/>
                <a:latin typeface="Cambria"/>
                <a:ea typeface="Cambria"/>
              </a:rPr>
              <a:t>PSYCHOPY JAKO NARZĘDZIE EKSPERYMENTALNE</a:t>
            </a:r>
            <a:endParaRPr lang="pl-PL" sz="2200" b="0" u="none" strike="noStrike">
              <a:solidFill>
                <a:srgbClr val="000000"/>
              </a:solidFill>
              <a:effectLst/>
              <a:uFillTx/>
              <a:latin typeface="Arial"/>
            </a:endParaRPr>
          </a:p>
        </p:txBody>
      </p:sp>
      <p:sp>
        <p:nvSpPr>
          <p:cNvPr id="381" name="Text 13"/>
          <p:cNvSpPr/>
          <p:nvPr/>
        </p:nvSpPr>
        <p:spPr>
          <a:xfrm>
            <a:off x="453600" y="594720"/>
            <a:ext cx="9172080" cy="331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pl-PL" sz="1400" b="0" i="1" u="none" strike="noStrike" dirty="0">
                <a:solidFill>
                  <a:srgbClr val="CADCFC"/>
                </a:solidFill>
                <a:effectLst/>
                <a:uFillTx/>
                <a:latin typeface="Calibri"/>
                <a:ea typeface="Calibri"/>
              </a:rPr>
              <a:t>Precyzja pomiaru behawioralnego - </a:t>
            </a:r>
            <a:r>
              <a:rPr lang="pl-PL" sz="1400" b="0" i="1" u="none" strike="noStrike" dirty="0" err="1">
                <a:solidFill>
                  <a:srgbClr val="CADCFC"/>
                </a:solidFill>
                <a:effectLst/>
                <a:uFillTx/>
                <a:latin typeface="Calibri"/>
                <a:ea typeface="Calibri"/>
              </a:rPr>
              <a:t>Python</a:t>
            </a:r>
            <a:endParaRPr lang="pl-PL" sz="1400" b="0" u="none" strike="noStrike" dirty="0">
              <a:solidFill>
                <a:srgbClr val="000000"/>
              </a:solidFill>
              <a:effectLst/>
              <a:uFillTx/>
              <a:latin typeface="Arial"/>
            </a:endParaRPr>
          </a:p>
        </p:txBody>
      </p:sp>
      <p:sp>
        <p:nvSpPr>
          <p:cNvPr id="382" name="Shape 7"/>
          <p:cNvSpPr/>
          <p:nvPr/>
        </p:nvSpPr>
        <p:spPr>
          <a:xfrm>
            <a:off x="403200" y="1128960"/>
            <a:ext cx="4282560" cy="3282496"/>
          </a:xfrm>
          <a:prstGeom prst="roundRect">
            <a:avLst>
              <a:gd name="adj" fmla="val 2817"/>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383" name="Shape 10"/>
          <p:cNvSpPr/>
          <p:nvPr/>
        </p:nvSpPr>
        <p:spPr>
          <a:xfrm>
            <a:off x="402840" y="1128960"/>
            <a:ext cx="4282920" cy="522720"/>
          </a:xfrm>
          <a:prstGeom prst="roundRect">
            <a:avLst>
              <a:gd name="adj" fmla="val 19231"/>
            </a:avLst>
          </a:prstGeom>
          <a:solidFill>
            <a:srgbClr val="1E276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384" name="Text 14"/>
          <p:cNvSpPr/>
          <p:nvPr/>
        </p:nvSpPr>
        <p:spPr>
          <a:xfrm>
            <a:off x="402840" y="1128960"/>
            <a:ext cx="428292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000" b="1" u="none" strike="noStrike">
                <a:solidFill>
                  <a:srgbClr val="FFFFFF"/>
                </a:solidFill>
                <a:effectLst/>
                <a:uFillTx/>
                <a:latin typeface="Cambria"/>
                <a:ea typeface="Cambria"/>
              </a:rPr>
              <a:t>TRYB BUILDER</a:t>
            </a:r>
            <a:endParaRPr lang="pl-PL" sz="2000" b="0" u="none" strike="noStrike">
              <a:solidFill>
                <a:srgbClr val="000000"/>
              </a:solidFill>
              <a:effectLst/>
              <a:uFillTx/>
              <a:latin typeface="Arial"/>
            </a:endParaRPr>
          </a:p>
        </p:txBody>
      </p:sp>
      <p:sp>
        <p:nvSpPr>
          <p:cNvPr id="385" name="Shape 11"/>
          <p:cNvSpPr/>
          <p:nvPr/>
        </p:nvSpPr>
        <p:spPr>
          <a:xfrm>
            <a:off x="584640" y="1855080"/>
            <a:ext cx="200160" cy="200160"/>
          </a:xfrm>
          <a:prstGeom prst="ellipse">
            <a:avLst/>
          </a:prstGeom>
          <a:solidFill>
            <a:srgbClr val="5B8FF9"/>
          </a:solidFill>
          <a:ln w="12700">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386" name="Text 175"/>
          <p:cNvSpPr/>
          <p:nvPr/>
        </p:nvSpPr>
        <p:spPr>
          <a:xfrm>
            <a:off x="866520" y="1784160"/>
            <a:ext cx="3647880" cy="442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0" u="none" strike="noStrike" dirty="0">
                <a:solidFill>
                  <a:srgbClr val="1A1F3C"/>
                </a:solidFill>
                <a:effectLst/>
                <a:uFillTx/>
                <a:latin typeface="Calibri"/>
                <a:ea typeface="Calibri"/>
              </a:rPr>
              <a:t>Interfejs graficzny, bez programowania</a:t>
            </a:r>
            <a:endParaRPr lang="pl-PL" sz="1600" b="0" u="none" strike="noStrike" dirty="0">
              <a:solidFill>
                <a:srgbClr val="000000"/>
              </a:solidFill>
              <a:effectLst/>
              <a:uFillTx/>
              <a:latin typeface="Arial"/>
            </a:endParaRPr>
          </a:p>
        </p:txBody>
      </p:sp>
      <p:sp>
        <p:nvSpPr>
          <p:cNvPr id="387" name="Shape 163"/>
          <p:cNvSpPr/>
          <p:nvPr/>
        </p:nvSpPr>
        <p:spPr>
          <a:xfrm>
            <a:off x="584640" y="2338560"/>
            <a:ext cx="200160" cy="200160"/>
          </a:xfrm>
          <a:prstGeom prst="ellipse">
            <a:avLst/>
          </a:prstGeom>
          <a:solidFill>
            <a:srgbClr val="5B8FF9"/>
          </a:solidFill>
          <a:ln w="12700">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388" name="Text 176"/>
          <p:cNvSpPr/>
          <p:nvPr/>
        </p:nvSpPr>
        <p:spPr>
          <a:xfrm>
            <a:off x="866520" y="2268000"/>
            <a:ext cx="3647880" cy="442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0" u="none" strike="noStrike">
                <a:solidFill>
                  <a:srgbClr val="1A1F3C"/>
                </a:solidFill>
                <a:effectLst/>
                <a:uFillTx/>
                <a:latin typeface="Calibri"/>
                <a:ea typeface="Calibri"/>
              </a:rPr>
              <a:t>Gotowe komponenty: tekst, obraz, dźwięk, klawiatura</a:t>
            </a:r>
            <a:endParaRPr lang="pl-PL" sz="1600" b="0" u="none" strike="noStrike">
              <a:solidFill>
                <a:srgbClr val="000000"/>
              </a:solidFill>
              <a:effectLst/>
              <a:uFillTx/>
              <a:latin typeface="Arial"/>
            </a:endParaRPr>
          </a:p>
        </p:txBody>
      </p:sp>
      <p:sp>
        <p:nvSpPr>
          <p:cNvPr id="389" name="Shape 164"/>
          <p:cNvSpPr/>
          <p:nvPr/>
        </p:nvSpPr>
        <p:spPr>
          <a:xfrm>
            <a:off x="584640" y="2822400"/>
            <a:ext cx="200160" cy="200160"/>
          </a:xfrm>
          <a:prstGeom prst="ellipse">
            <a:avLst/>
          </a:prstGeom>
          <a:solidFill>
            <a:srgbClr val="5B8FF9"/>
          </a:solidFill>
          <a:ln w="12700">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390" name="Text 177"/>
          <p:cNvSpPr/>
          <p:nvPr/>
        </p:nvSpPr>
        <p:spPr>
          <a:xfrm>
            <a:off x="866520" y="2751840"/>
            <a:ext cx="3647880" cy="442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0" u="none" strike="noStrike">
                <a:solidFill>
                  <a:srgbClr val="1A1F3C"/>
                </a:solidFill>
                <a:effectLst/>
                <a:uFillTx/>
                <a:latin typeface="Calibri"/>
                <a:ea typeface="Calibri"/>
              </a:rPr>
              <a:t>Wizualne budowanie prób i pętli</a:t>
            </a:r>
            <a:endParaRPr lang="pl-PL" sz="1600" b="0" u="none" strike="noStrike">
              <a:solidFill>
                <a:srgbClr val="000000"/>
              </a:solidFill>
              <a:effectLst/>
              <a:uFillTx/>
              <a:latin typeface="Arial"/>
            </a:endParaRPr>
          </a:p>
        </p:txBody>
      </p:sp>
      <p:sp>
        <p:nvSpPr>
          <p:cNvPr id="391" name="Shape 165"/>
          <p:cNvSpPr/>
          <p:nvPr/>
        </p:nvSpPr>
        <p:spPr>
          <a:xfrm>
            <a:off x="584640" y="3306240"/>
            <a:ext cx="200160" cy="200160"/>
          </a:xfrm>
          <a:prstGeom prst="ellipse">
            <a:avLst/>
          </a:prstGeom>
          <a:solidFill>
            <a:srgbClr val="5B8FF9"/>
          </a:solidFill>
          <a:ln w="12700">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392" name="Text 178"/>
          <p:cNvSpPr/>
          <p:nvPr/>
        </p:nvSpPr>
        <p:spPr>
          <a:xfrm>
            <a:off x="866520" y="3235680"/>
            <a:ext cx="3647880" cy="442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0" u="none" strike="noStrike">
                <a:solidFill>
                  <a:srgbClr val="1A1F3C"/>
                </a:solidFill>
                <a:effectLst/>
                <a:uFillTx/>
                <a:latin typeface="Calibri"/>
                <a:ea typeface="Calibri"/>
              </a:rPr>
              <a:t>Dostępny dla początkujących badaczy</a:t>
            </a:r>
            <a:endParaRPr lang="pl-PL" sz="1600" b="0" u="none" strike="noStrike">
              <a:solidFill>
                <a:srgbClr val="000000"/>
              </a:solidFill>
              <a:effectLst/>
              <a:uFillTx/>
              <a:latin typeface="Arial"/>
            </a:endParaRPr>
          </a:p>
        </p:txBody>
      </p:sp>
      <p:sp>
        <p:nvSpPr>
          <p:cNvPr id="393" name="Shape 166"/>
          <p:cNvSpPr/>
          <p:nvPr/>
        </p:nvSpPr>
        <p:spPr>
          <a:xfrm>
            <a:off x="584640" y="3790080"/>
            <a:ext cx="200160" cy="200160"/>
          </a:xfrm>
          <a:prstGeom prst="ellipse">
            <a:avLst/>
          </a:prstGeom>
          <a:solidFill>
            <a:srgbClr val="5B8FF9"/>
          </a:solidFill>
          <a:ln w="12700">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394" name="Text 179"/>
          <p:cNvSpPr/>
          <p:nvPr/>
        </p:nvSpPr>
        <p:spPr>
          <a:xfrm>
            <a:off x="866520" y="3719880"/>
            <a:ext cx="3647880" cy="442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0" u="none" strike="noStrike">
                <a:solidFill>
                  <a:srgbClr val="1A1F3C"/>
                </a:solidFill>
                <a:effectLst/>
                <a:uFillTx/>
                <a:latin typeface="Calibri"/>
                <a:ea typeface="Calibri"/>
              </a:rPr>
              <a:t>Eksport do Pythona w każdej chwili</a:t>
            </a:r>
            <a:endParaRPr lang="pl-PL" sz="1600" b="0" u="none" strike="noStrike">
              <a:solidFill>
                <a:srgbClr val="000000"/>
              </a:solidFill>
              <a:effectLst/>
              <a:uFillTx/>
              <a:latin typeface="Arial"/>
            </a:endParaRPr>
          </a:p>
        </p:txBody>
      </p:sp>
      <p:sp>
        <p:nvSpPr>
          <p:cNvPr id="395" name="Shape 167"/>
          <p:cNvSpPr/>
          <p:nvPr/>
        </p:nvSpPr>
        <p:spPr>
          <a:xfrm>
            <a:off x="5393160" y="1128960"/>
            <a:ext cx="4282560" cy="3282496"/>
          </a:xfrm>
          <a:prstGeom prst="roundRect">
            <a:avLst>
              <a:gd name="adj" fmla="val 2817"/>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396" name="Shape 168"/>
          <p:cNvSpPr/>
          <p:nvPr/>
        </p:nvSpPr>
        <p:spPr>
          <a:xfrm>
            <a:off x="5392800" y="1128960"/>
            <a:ext cx="4282920" cy="522720"/>
          </a:xfrm>
          <a:prstGeom prst="roundRect">
            <a:avLst>
              <a:gd name="adj" fmla="val 19231"/>
            </a:avLst>
          </a:prstGeom>
          <a:solidFill>
            <a:srgbClr val="2D3B8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397" name="Text 180"/>
          <p:cNvSpPr/>
          <p:nvPr/>
        </p:nvSpPr>
        <p:spPr>
          <a:xfrm>
            <a:off x="5392800" y="1128960"/>
            <a:ext cx="428292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000" b="1" u="none" strike="noStrike">
                <a:solidFill>
                  <a:srgbClr val="FFFFFF"/>
                </a:solidFill>
                <a:effectLst/>
                <a:uFillTx/>
                <a:latin typeface="Cambria"/>
                <a:ea typeface="Cambria"/>
              </a:rPr>
              <a:t>TRYB CODER (Python)</a:t>
            </a:r>
            <a:endParaRPr lang="pl-PL" sz="2000" b="0" u="none" strike="noStrike">
              <a:solidFill>
                <a:srgbClr val="000000"/>
              </a:solidFill>
              <a:effectLst/>
              <a:uFillTx/>
              <a:latin typeface="Arial"/>
            </a:endParaRPr>
          </a:p>
        </p:txBody>
      </p:sp>
      <p:sp>
        <p:nvSpPr>
          <p:cNvPr id="398" name="Shape 169"/>
          <p:cNvSpPr/>
          <p:nvPr/>
        </p:nvSpPr>
        <p:spPr>
          <a:xfrm>
            <a:off x="5574600" y="1855080"/>
            <a:ext cx="200160" cy="200160"/>
          </a:xfrm>
          <a:prstGeom prst="ellipse">
            <a:avLst/>
          </a:prstGeom>
          <a:solidFill>
            <a:srgbClr val="2D3B8E"/>
          </a:solidFill>
          <a:ln w="12700">
            <a:solidFill>
              <a:srgbClr val="2D3B8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399" name="Text 181"/>
          <p:cNvSpPr/>
          <p:nvPr/>
        </p:nvSpPr>
        <p:spPr>
          <a:xfrm>
            <a:off x="5856480" y="1784160"/>
            <a:ext cx="3647880" cy="442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0" u="none" strike="noStrike">
                <a:solidFill>
                  <a:srgbClr val="1A1F3C"/>
                </a:solidFill>
                <a:effectLst/>
                <a:uFillTx/>
                <a:latin typeface="Calibri"/>
                <a:ea typeface="Calibri"/>
              </a:rPr>
              <a:t>Pełna kontrola przez kod Python</a:t>
            </a:r>
            <a:endParaRPr lang="pl-PL" sz="1600" b="0" u="none" strike="noStrike">
              <a:solidFill>
                <a:srgbClr val="000000"/>
              </a:solidFill>
              <a:effectLst/>
              <a:uFillTx/>
              <a:latin typeface="Arial"/>
            </a:endParaRPr>
          </a:p>
        </p:txBody>
      </p:sp>
      <p:sp>
        <p:nvSpPr>
          <p:cNvPr id="400" name="Shape 170"/>
          <p:cNvSpPr/>
          <p:nvPr/>
        </p:nvSpPr>
        <p:spPr>
          <a:xfrm>
            <a:off x="5574600" y="2338560"/>
            <a:ext cx="200160" cy="200160"/>
          </a:xfrm>
          <a:prstGeom prst="ellipse">
            <a:avLst/>
          </a:prstGeom>
          <a:solidFill>
            <a:srgbClr val="2D3B8E"/>
          </a:solidFill>
          <a:ln w="12700">
            <a:solidFill>
              <a:srgbClr val="2D3B8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01" name="Text 182"/>
          <p:cNvSpPr/>
          <p:nvPr/>
        </p:nvSpPr>
        <p:spPr>
          <a:xfrm>
            <a:off x="5856480" y="2268000"/>
            <a:ext cx="3896280" cy="442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0" u="none" strike="noStrike">
                <a:solidFill>
                  <a:srgbClr val="1A1F3C"/>
                </a:solidFill>
                <a:effectLst/>
                <a:uFillTx/>
                <a:latin typeface="Calibri"/>
                <a:ea typeface="Calibri"/>
              </a:rPr>
              <a:t>Adaptacyjne procedury, dynamiczne bodźce</a:t>
            </a:r>
            <a:endParaRPr lang="pl-PL" sz="1600" b="0" u="none" strike="noStrike">
              <a:solidFill>
                <a:srgbClr val="000000"/>
              </a:solidFill>
              <a:effectLst/>
              <a:uFillTx/>
              <a:latin typeface="Arial"/>
            </a:endParaRPr>
          </a:p>
        </p:txBody>
      </p:sp>
      <p:sp>
        <p:nvSpPr>
          <p:cNvPr id="402" name="Shape 171"/>
          <p:cNvSpPr/>
          <p:nvPr/>
        </p:nvSpPr>
        <p:spPr>
          <a:xfrm>
            <a:off x="5574600" y="2822400"/>
            <a:ext cx="200160" cy="200160"/>
          </a:xfrm>
          <a:prstGeom prst="ellipse">
            <a:avLst/>
          </a:prstGeom>
          <a:solidFill>
            <a:srgbClr val="2D3B8E"/>
          </a:solidFill>
          <a:ln w="12700">
            <a:solidFill>
              <a:srgbClr val="2D3B8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03" name="Text 183"/>
          <p:cNvSpPr/>
          <p:nvPr/>
        </p:nvSpPr>
        <p:spPr>
          <a:xfrm>
            <a:off x="5856480" y="2751840"/>
            <a:ext cx="3647880" cy="442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0" u="none" strike="noStrike" dirty="0">
                <a:solidFill>
                  <a:srgbClr val="1A1F3C"/>
                </a:solidFill>
                <a:effectLst/>
                <a:uFillTx/>
                <a:latin typeface="Calibri"/>
                <a:ea typeface="Calibri"/>
              </a:rPr>
              <a:t>Integracja z EEG, </a:t>
            </a:r>
            <a:r>
              <a:rPr lang="pl-PL" sz="1600" b="0" u="none" strike="noStrike" dirty="0" err="1">
                <a:solidFill>
                  <a:srgbClr val="1A1F3C"/>
                </a:solidFill>
                <a:effectLst/>
                <a:uFillTx/>
                <a:latin typeface="Calibri"/>
                <a:ea typeface="Calibri"/>
              </a:rPr>
              <a:t>eye-trackerem</a:t>
            </a:r>
            <a:r>
              <a:rPr lang="pl-PL" sz="1600" b="0" u="none" strike="noStrike" dirty="0">
                <a:solidFill>
                  <a:srgbClr val="1A1F3C"/>
                </a:solidFill>
                <a:effectLst/>
                <a:uFillTx/>
                <a:latin typeface="Calibri"/>
                <a:ea typeface="Calibri"/>
              </a:rPr>
              <a:t>, EDA</a:t>
            </a:r>
            <a:endParaRPr lang="pl-PL" sz="1600" b="0" u="none" strike="noStrike" dirty="0">
              <a:solidFill>
                <a:srgbClr val="000000"/>
              </a:solidFill>
              <a:effectLst/>
              <a:uFillTx/>
              <a:latin typeface="Arial"/>
            </a:endParaRPr>
          </a:p>
        </p:txBody>
      </p:sp>
      <p:sp>
        <p:nvSpPr>
          <p:cNvPr id="404" name="Shape 172"/>
          <p:cNvSpPr/>
          <p:nvPr/>
        </p:nvSpPr>
        <p:spPr>
          <a:xfrm>
            <a:off x="5574600" y="3306240"/>
            <a:ext cx="200160" cy="200160"/>
          </a:xfrm>
          <a:prstGeom prst="ellipse">
            <a:avLst/>
          </a:prstGeom>
          <a:solidFill>
            <a:srgbClr val="2D3B8E"/>
          </a:solidFill>
          <a:ln w="12700">
            <a:solidFill>
              <a:srgbClr val="2D3B8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05" name="Text 184"/>
          <p:cNvSpPr/>
          <p:nvPr/>
        </p:nvSpPr>
        <p:spPr>
          <a:xfrm>
            <a:off x="5856480" y="3235680"/>
            <a:ext cx="3647880" cy="442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0" u="none" strike="noStrike">
                <a:solidFill>
                  <a:srgbClr val="1A1F3C"/>
                </a:solidFill>
                <a:effectLst/>
                <a:uFillTx/>
                <a:latin typeface="Calibri"/>
                <a:ea typeface="Calibri"/>
              </a:rPr>
              <a:t>Precyzja pomiaru czasu reakcji &lt; 1 ms</a:t>
            </a:r>
            <a:endParaRPr lang="pl-PL" sz="1600" b="0" u="none" strike="noStrike">
              <a:solidFill>
                <a:srgbClr val="000000"/>
              </a:solidFill>
              <a:effectLst/>
              <a:uFillTx/>
              <a:latin typeface="Arial"/>
            </a:endParaRPr>
          </a:p>
        </p:txBody>
      </p:sp>
      <p:sp>
        <p:nvSpPr>
          <p:cNvPr id="406" name="Shape 173"/>
          <p:cNvSpPr/>
          <p:nvPr/>
        </p:nvSpPr>
        <p:spPr>
          <a:xfrm>
            <a:off x="5574600" y="3790080"/>
            <a:ext cx="200160" cy="200160"/>
          </a:xfrm>
          <a:prstGeom prst="ellipse">
            <a:avLst/>
          </a:prstGeom>
          <a:solidFill>
            <a:srgbClr val="2D3B8E"/>
          </a:solidFill>
          <a:ln w="12700">
            <a:solidFill>
              <a:srgbClr val="2D3B8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07" name="Text 185"/>
          <p:cNvSpPr/>
          <p:nvPr/>
        </p:nvSpPr>
        <p:spPr>
          <a:xfrm>
            <a:off x="5856480" y="3719880"/>
            <a:ext cx="3647880" cy="442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0" u="none" strike="noStrike">
                <a:solidFill>
                  <a:srgbClr val="1A1F3C"/>
                </a:solidFill>
                <a:effectLst/>
                <a:uFillTx/>
                <a:latin typeface="Calibri"/>
                <a:ea typeface="Calibri"/>
              </a:rPr>
              <a:t>Dowolna logika eksperymentalna</a:t>
            </a:r>
            <a:endParaRPr lang="pl-PL" sz="1600" b="0" u="none" strike="noStrike">
              <a:solidFill>
                <a:srgbClr val="000000"/>
              </a:solidFill>
              <a:effectLst/>
              <a:uFillTx/>
              <a:latin typeface="Arial"/>
            </a:endParaRPr>
          </a:p>
        </p:txBody>
      </p:sp>
      <p:sp>
        <p:nvSpPr>
          <p:cNvPr id="408" name="Shape 174"/>
          <p:cNvSpPr/>
          <p:nvPr/>
        </p:nvSpPr>
        <p:spPr>
          <a:xfrm>
            <a:off x="403200" y="4788360"/>
            <a:ext cx="9272520" cy="724320"/>
          </a:xfrm>
          <a:prstGeom prst="roundRect">
            <a:avLst>
              <a:gd name="adj" fmla="val 13889"/>
            </a:avLst>
          </a:prstGeom>
          <a:solidFill>
            <a:srgbClr val="EEF3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409" name="Text 186"/>
          <p:cNvSpPr/>
          <p:nvPr/>
        </p:nvSpPr>
        <p:spPr>
          <a:xfrm>
            <a:off x="453600" y="4953411"/>
            <a:ext cx="1208160" cy="381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2000" b="1" u="none" strike="noStrike" dirty="0" err="1">
                <a:solidFill>
                  <a:srgbClr val="2D3B8E"/>
                </a:solidFill>
                <a:effectLst/>
                <a:uFillTx/>
                <a:latin typeface="Cambria"/>
                <a:ea typeface="Cambria"/>
              </a:rPr>
              <a:t>Pavlovia</a:t>
            </a:r>
            <a:endParaRPr lang="pl-PL" sz="2000" b="0" u="none" strike="noStrike" dirty="0">
              <a:solidFill>
                <a:srgbClr val="000000"/>
              </a:solidFill>
              <a:effectLst/>
              <a:uFillTx/>
              <a:latin typeface="Arial"/>
            </a:endParaRPr>
          </a:p>
        </p:txBody>
      </p:sp>
      <p:sp>
        <p:nvSpPr>
          <p:cNvPr id="410" name="Text 187"/>
          <p:cNvSpPr/>
          <p:nvPr/>
        </p:nvSpPr>
        <p:spPr>
          <a:xfrm>
            <a:off x="1661760" y="4909680"/>
            <a:ext cx="7963920" cy="523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0" u="none" strike="noStrike" dirty="0">
                <a:solidFill>
                  <a:srgbClr val="4A5280"/>
                </a:solidFill>
                <a:effectLst/>
                <a:uFillTx/>
                <a:latin typeface="Calibri"/>
                <a:ea typeface="Calibri"/>
              </a:rPr>
              <a:t>Platforma pozwalająca uruchamiać eksperymenty </a:t>
            </a:r>
            <a:r>
              <a:rPr lang="pl-PL" sz="1600" b="0" u="none" strike="noStrike" dirty="0" err="1">
                <a:solidFill>
                  <a:srgbClr val="4A5280"/>
                </a:solidFill>
                <a:effectLst/>
                <a:uFillTx/>
                <a:latin typeface="Calibri"/>
                <a:ea typeface="Calibri"/>
              </a:rPr>
              <a:t>PsychoPy</a:t>
            </a:r>
            <a:r>
              <a:rPr lang="pl-PL" sz="1600" b="0" u="none" strike="noStrike" dirty="0">
                <a:solidFill>
                  <a:srgbClr val="4A5280"/>
                </a:solidFill>
                <a:effectLst/>
                <a:uFillTx/>
                <a:latin typeface="Calibri"/>
                <a:ea typeface="Calibri"/>
              </a:rPr>
              <a:t> w przeglądarce. </a:t>
            </a:r>
          </a:p>
          <a:p>
            <a:pPr defTabSz="914400">
              <a:lnSpc>
                <a:spcPct val="100000"/>
              </a:lnSpc>
              <a:tabLst>
                <a:tab pos="0" algn="l"/>
              </a:tabLst>
            </a:pPr>
            <a:r>
              <a:rPr lang="pl-PL" sz="1600" b="0" u="none" strike="noStrike" dirty="0">
                <a:solidFill>
                  <a:srgbClr val="4A5280"/>
                </a:solidFill>
                <a:effectLst/>
                <a:uFillTx/>
                <a:latin typeface="Calibri"/>
                <a:ea typeface="Calibri"/>
              </a:rPr>
              <a:t>Ten sam kod działa więc i online i w laboratorium. Działa na modelu licencji: opłata za sesję</a:t>
            </a:r>
            <a:endParaRPr lang="pl-PL" sz="1600" b="0" u="none" strike="noStrike" dirty="0">
              <a:solidFill>
                <a:srgbClr val="000000"/>
              </a:solidFill>
              <a:effectLst/>
              <a:uFillTx/>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411" name="Shape 175"/>
          <p:cNvSpPr/>
          <p:nvPr/>
        </p:nvSpPr>
        <p:spPr>
          <a:xfrm>
            <a:off x="360" y="360"/>
            <a:ext cx="10079280" cy="1006560"/>
          </a:xfrm>
          <a:prstGeom prst="rect">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412" name="Text 188"/>
          <p:cNvSpPr/>
          <p:nvPr/>
        </p:nvSpPr>
        <p:spPr>
          <a:xfrm>
            <a:off x="453600" y="70560"/>
            <a:ext cx="9172080" cy="502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defTabSz="914400">
              <a:lnSpc>
                <a:spcPct val="100000"/>
              </a:lnSpc>
              <a:tabLst>
                <a:tab pos="0" algn="l"/>
              </a:tabLst>
            </a:pPr>
            <a:r>
              <a:rPr lang="pl-PL" sz="2200" b="1" u="none" strike="noStrike">
                <a:solidFill>
                  <a:srgbClr val="FFFFFF"/>
                </a:solidFill>
                <a:effectLst/>
                <a:uFillTx/>
                <a:latin typeface="Cambria"/>
                <a:ea typeface="Cambria"/>
              </a:rPr>
              <a:t>JSPSYCH I EKSPERYMENTY ONLINE</a:t>
            </a:r>
            <a:endParaRPr lang="pl-PL" sz="2200" b="0" u="none" strike="noStrike">
              <a:solidFill>
                <a:srgbClr val="000000"/>
              </a:solidFill>
              <a:effectLst/>
              <a:uFillTx/>
              <a:latin typeface="Arial"/>
            </a:endParaRPr>
          </a:p>
        </p:txBody>
      </p:sp>
      <p:sp>
        <p:nvSpPr>
          <p:cNvPr id="413" name="Text 189"/>
          <p:cNvSpPr/>
          <p:nvPr/>
        </p:nvSpPr>
        <p:spPr>
          <a:xfrm>
            <a:off x="453600" y="594720"/>
            <a:ext cx="9172080" cy="331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pl-PL" sz="1400" b="0" i="1" u="none" strike="noStrike" dirty="0">
                <a:solidFill>
                  <a:srgbClr val="CADCFC"/>
                </a:solidFill>
                <a:effectLst/>
                <a:uFillTx/>
                <a:latin typeface="Calibri"/>
                <a:ea typeface="Calibri"/>
              </a:rPr>
              <a:t>Badania behawioralne w przeglądarce - JavaScript</a:t>
            </a:r>
            <a:endParaRPr lang="pl-PL" sz="1400" b="0" u="none" strike="noStrike" dirty="0">
              <a:solidFill>
                <a:srgbClr val="000000"/>
              </a:solidFill>
              <a:effectLst/>
              <a:uFillTx/>
              <a:latin typeface="Arial"/>
            </a:endParaRPr>
          </a:p>
        </p:txBody>
      </p:sp>
      <p:sp>
        <p:nvSpPr>
          <p:cNvPr id="414" name="Shape 176"/>
          <p:cNvSpPr/>
          <p:nvPr/>
        </p:nvSpPr>
        <p:spPr>
          <a:xfrm>
            <a:off x="403200" y="1128960"/>
            <a:ext cx="5008142" cy="3854869"/>
          </a:xfrm>
          <a:prstGeom prst="roundRect">
            <a:avLst>
              <a:gd name="adj" fmla="val 2439"/>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415" name="Text 190"/>
          <p:cNvSpPr/>
          <p:nvPr/>
        </p:nvSpPr>
        <p:spPr>
          <a:xfrm>
            <a:off x="554400" y="1209600"/>
            <a:ext cx="4333320" cy="45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2000" b="1" u="none" strike="noStrike" dirty="0">
                <a:solidFill>
                  <a:srgbClr val="1E2761"/>
                </a:solidFill>
                <a:effectLst/>
                <a:uFillTx/>
                <a:latin typeface="Cambria"/>
                <a:ea typeface="Cambria"/>
              </a:rPr>
              <a:t>Biblioteka </a:t>
            </a:r>
            <a:r>
              <a:rPr lang="pl-PL" sz="2000" b="1" u="none" strike="noStrike" dirty="0" err="1">
                <a:solidFill>
                  <a:srgbClr val="1E2761"/>
                </a:solidFill>
                <a:effectLst/>
                <a:uFillTx/>
                <a:latin typeface="Cambria"/>
                <a:ea typeface="Cambria"/>
              </a:rPr>
              <a:t>jsPsych</a:t>
            </a:r>
            <a:endParaRPr lang="pl-PL" sz="2000" b="0" u="none" strike="noStrike" dirty="0">
              <a:solidFill>
                <a:srgbClr val="000000"/>
              </a:solidFill>
              <a:effectLst/>
              <a:uFillTx/>
              <a:latin typeface="Arial"/>
            </a:endParaRPr>
          </a:p>
        </p:txBody>
      </p:sp>
      <p:sp>
        <p:nvSpPr>
          <p:cNvPr id="416" name="Shape 177"/>
          <p:cNvSpPr/>
          <p:nvPr/>
        </p:nvSpPr>
        <p:spPr>
          <a:xfrm>
            <a:off x="584640" y="1855080"/>
            <a:ext cx="200160" cy="200160"/>
          </a:xfrm>
          <a:prstGeom prst="ellipse">
            <a:avLst/>
          </a:prstGeom>
          <a:solidFill>
            <a:srgbClr val="5B8FF9"/>
          </a:solidFill>
          <a:ln w="12700">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417" name="Text 191"/>
          <p:cNvSpPr/>
          <p:nvPr/>
        </p:nvSpPr>
        <p:spPr>
          <a:xfrm>
            <a:off x="866520" y="1735300"/>
            <a:ext cx="4180130" cy="461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0" u="none" strike="noStrike" dirty="0">
                <a:solidFill>
                  <a:srgbClr val="1A1F3C"/>
                </a:solidFill>
                <a:effectLst/>
                <a:uFillTx/>
                <a:latin typeface="Calibri"/>
                <a:ea typeface="Calibri"/>
              </a:rPr>
              <a:t>Eksperymenty uruchamiane w przeglądarce</a:t>
            </a:r>
            <a:endParaRPr lang="pl-PL" sz="1600" b="0" u="none" strike="noStrike" dirty="0">
              <a:solidFill>
                <a:srgbClr val="000000"/>
              </a:solidFill>
              <a:effectLst/>
              <a:uFillTx/>
              <a:latin typeface="Arial"/>
            </a:endParaRPr>
          </a:p>
        </p:txBody>
      </p:sp>
      <p:sp>
        <p:nvSpPr>
          <p:cNvPr id="418" name="Shape 178"/>
          <p:cNvSpPr/>
          <p:nvPr/>
        </p:nvSpPr>
        <p:spPr>
          <a:xfrm>
            <a:off x="584640" y="2359080"/>
            <a:ext cx="200160" cy="200160"/>
          </a:xfrm>
          <a:prstGeom prst="ellipse">
            <a:avLst/>
          </a:prstGeom>
          <a:solidFill>
            <a:srgbClr val="5B8FF9"/>
          </a:solidFill>
          <a:ln w="12700">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419" name="Text 192"/>
          <p:cNvSpPr/>
          <p:nvPr/>
        </p:nvSpPr>
        <p:spPr>
          <a:xfrm>
            <a:off x="866519" y="2239300"/>
            <a:ext cx="4348611" cy="461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0" u="none" strike="noStrike" dirty="0">
                <a:solidFill>
                  <a:srgbClr val="1A1F3C"/>
                </a:solidFill>
                <a:effectLst/>
                <a:uFillTx/>
                <a:latin typeface="Calibri"/>
                <a:ea typeface="Calibri"/>
              </a:rPr>
              <a:t>Gotowe </a:t>
            </a:r>
            <a:r>
              <a:rPr lang="pl-PL" sz="1600" b="0" u="none" strike="noStrike" dirty="0" err="1">
                <a:solidFill>
                  <a:srgbClr val="1A1F3C"/>
                </a:solidFill>
                <a:effectLst/>
                <a:uFillTx/>
                <a:latin typeface="Calibri"/>
                <a:ea typeface="Calibri"/>
              </a:rPr>
              <a:t>pluginy</a:t>
            </a:r>
            <a:r>
              <a:rPr lang="pl-PL" sz="1600" b="0" u="none" strike="noStrike" dirty="0">
                <a:solidFill>
                  <a:srgbClr val="1A1F3C"/>
                </a:solidFill>
                <a:effectLst/>
                <a:uFillTx/>
                <a:latin typeface="Calibri"/>
                <a:ea typeface="Calibri"/>
              </a:rPr>
              <a:t>: Stroop, IAT, n-</a:t>
            </a:r>
            <a:r>
              <a:rPr lang="pl-PL" sz="1600" b="0" u="none" strike="noStrike" dirty="0" err="1">
                <a:solidFill>
                  <a:srgbClr val="1A1F3C"/>
                </a:solidFill>
                <a:effectLst/>
                <a:uFillTx/>
                <a:latin typeface="Calibri"/>
                <a:ea typeface="Calibri"/>
              </a:rPr>
              <a:t>back</a:t>
            </a:r>
            <a:r>
              <a:rPr lang="pl-PL" sz="1600" b="0" u="none" strike="noStrike" dirty="0">
                <a:solidFill>
                  <a:srgbClr val="1A1F3C"/>
                </a:solidFill>
                <a:effectLst/>
                <a:uFillTx/>
                <a:latin typeface="Calibri"/>
                <a:ea typeface="Calibri"/>
              </a:rPr>
              <a:t>, </a:t>
            </a:r>
            <a:r>
              <a:rPr lang="pl-PL" sz="1600" b="0" u="none" strike="noStrike" dirty="0" err="1">
                <a:solidFill>
                  <a:srgbClr val="1A1F3C"/>
                </a:solidFill>
                <a:effectLst/>
                <a:uFillTx/>
                <a:latin typeface="Calibri"/>
                <a:ea typeface="Calibri"/>
              </a:rPr>
              <a:t>flanker</a:t>
            </a:r>
            <a:r>
              <a:rPr lang="pl-PL" sz="1600" b="0" u="none" strike="noStrike" dirty="0">
                <a:solidFill>
                  <a:srgbClr val="1A1F3C"/>
                </a:solidFill>
                <a:effectLst/>
                <a:uFillTx/>
                <a:latin typeface="Calibri"/>
                <a:ea typeface="Calibri"/>
              </a:rPr>
              <a:t> i inne</a:t>
            </a:r>
            <a:endParaRPr lang="pl-PL" sz="1600" b="0" u="none" strike="noStrike" dirty="0">
              <a:solidFill>
                <a:srgbClr val="000000"/>
              </a:solidFill>
              <a:effectLst/>
              <a:uFillTx/>
              <a:latin typeface="Arial"/>
            </a:endParaRPr>
          </a:p>
        </p:txBody>
      </p:sp>
      <p:sp>
        <p:nvSpPr>
          <p:cNvPr id="420" name="Shape 179"/>
          <p:cNvSpPr/>
          <p:nvPr/>
        </p:nvSpPr>
        <p:spPr>
          <a:xfrm>
            <a:off x="584640" y="2863080"/>
            <a:ext cx="200160" cy="200160"/>
          </a:xfrm>
          <a:prstGeom prst="ellipse">
            <a:avLst/>
          </a:prstGeom>
          <a:solidFill>
            <a:srgbClr val="5B8FF9"/>
          </a:solidFill>
          <a:ln w="12700">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421" name="Text 193"/>
          <p:cNvSpPr/>
          <p:nvPr/>
        </p:nvSpPr>
        <p:spPr>
          <a:xfrm>
            <a:off x="866519" y="2743300"/>
            <a:ext cx="4348611" cy="461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0" u="none" strike="noStrike" dirty="0">
                <a:solidFill>
                  <a:srgbClr val="1A1F3C"/>
                </a:solidFill>
                <a:effectLst/>
                <a:uFillTx/>
                <a:latin typeface="Calibri"/>
                <a:ea typeface="Calibri"/>
              </a:rPr>
              <a:t>Dane zapisywane lokalnie lub na serwerze (JATOS)</a:t>
            </a:r>
            <a:endParaRPr lang="pl-PL" sz="1600" b="0" u="none" strike="noStrike" dirty="0">
              <a:solidFill>
                <a:srgbClr val="000000"/>
              </a:solidFill>
              <a:effectLst/>
              <a:uFillTx/>
              <a:latin typeface="Arial"/>
            </a:endParaRPr>
          </a:p>
        </p:txBody>
      </p:sp>
      <p:sp>
        <p:nvSpPr>
          <p:cNvPr id="422" name="Shape 180"/>
          <p:cNvSpPr/>
          <p:nvPr/>
        </p:nvSpPr>
        <p:spPr>
          <a:xfrm>
            <a:off x="584640" y="3367080"/>
            <a:ext cx="200160" cy="200160"/>
          </a:xfrm>
          <a:prstGeom prst="ellipse">
            <a:avLst/>
          </a:prstGeom>
          <a:solidFill>
            <a:srgbClr val="5B8FF9"/>
          </a:solidFill>
          <a:ln w="12700">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423" name="Text 194"/>
          <p:cNvSpPr/>
          <p:nvPr/>
        </p:nvSpPr>
        <p:spPr>
          <a:xfrm>
            <a:off x="866520" y="3247660"/>
            <a:ext cx="4180130" cy="461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0" u="none" strike="noStrike" dirty="0">
                <a:solidFill>
                  <a:srgbClr val="1A1F3C"/>
                </a:solidFill>
                <a:effectLst/>
                <a:uFillTx/>
                <a:latin typeface="Calibri"/>
                <a:ea typeface="Calibri"/>
              </a:rPr>
              <a:t>Elastyczna personalizacja przez JavaScript</a:t>
            </a:r>
            <a:endParaRPr lang="pl-PL" sz="1600" b="0" u="none" strike="noStrike" dirty="0">
              <a:solidFill>
                <a:srgbClr val="000000"/>
              </a:solidFill>
              <a:effectLst/>
              <a:uFillTx/>
              <a:latin typeface="Arial"/>
            </a:endParaRPr>
          </a:p>
        </p:txBody>
      </p:sp>
      <p:sp>
        <p:nvSpPr>
          <p:cNvPr id="424" name="Shape 181"/>
          <p:cNvSpPr/>
          <p:nvPr/>
        </p:nvSpPr>
        <p:spPr>
          <a:xfrm>
            <a:off x="584640" y="3871080"/>
            <a:ext cx="200160" cy="200160"/>
          </a:xfrm>
          <a:prstGeom prst="ellipse">
            <a:avLst/>
          </a:prstGeom>
          <a:solidFill>
            <a:srgbClr val="5B8FF9"/>
          </a:solidFill>
          <a:ln w="12700">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425" name="Text 195"/>
          <p:cNvSpPr/>
          <p:nvPr/>
        </p:nvSpPr>
        <p:spPr>
          <a:xfrm>
            <a:off x="866520" y="3751660"/>
            <a:ext cx="4180130" cy="461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0" u="none" strike="noStrike">
                <a:solidFill>
                  <a:srgbClr val="1A1F3C"/>
                </a:solidFill>
                <a:effectLst/>
                <a:uFillTx/>
                <a:latin typeface="Calibri"/>
                <a:ea typeface="Calibri"/>
              </a:rPr>
              <a:t>Open source, aktywnie utrzymywany</a:t>
            </a:r>
            <a:endParaRPr lang="pl-PL" sz="1600" b="0" u="none" strike="noStrike">
              <a:solidFill>
                <a:srgbClr val="000000"/>
              </a:solidFill>
              <a:effectLst/>
              <a:uFillTx/>
              <a:latin typeface="Arial"/>
            </a:endParaRPr>
          </a:p>
        </p:txBody>
      </p:sp>
      <p:sp>
        <p:nvSpPr>
          <p:cNvPr id="426" name="Shape 182"/>
          <p:cNvSpPr/>
          <p:nvPr/>
        </p:nvSpPr>
        <p:spPr>
          <a:xfrm>
            <a:off x="584640" y="4375080"/>
            <a:ext cx="200160" cy="200160"/>
          </a:xfrm>
          <a:prstGeom prst="ellipse">
            <a:avLst/>
          </a:prstGeom>
          <a:solidFill>
            <a:srgbClr val="3ECFB2"/>
          </a:solidFill>
          <a:ln w="12700">
            <a:solidFill>
              <a:srgbClr val="3ECFB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427" name="Text 196"/>
          <p:cNvSpPr/>
          <p:nvPr/>
        </p:nvSpPr>
        <p:spPr>
          <a:xfrm>
            <a:off x="866520" y="4255660"/>
            <a:ext cx="4180130" cy="461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0" u="none" strike="noStrike">
                <a:solidFill>
                  <a:srgbClr val="1A1F3C"/>
                </a:solidFill>
                <a:effectLst/>
                <a:uFillTx/>
                <a:latin typeface="Calibri"/>
                <a:ea typeface="Calibri"/>
              </a:rPr>
              <a:t>Integracja z Prolific, MTurk, SONA</a:t>
            </a:r>
            <a:endParaRPr lang="pl-PL" sz="1600" b="0" u="none" strike="noStrike">
              <a:solidFill>
                <a:srgbClr val="000000"/>
              </a:solidFill>
              <a:effectLst/>
              <a:uFillTx/>
              <a:latin typeface="Arial"/>
            </a:endParaRPr>
          </a:p>
        </p:txBody>
      </p:sp>
      <p:sp>
        <p:nvSpPr>
          <p:cNvPr id="428" name="Shape 183"/>
          <p:cNvSpPr/>
          <p:nvPr/>
        </p:nvSpPr>
        <p:spPr>
          <a:xfrm>
            <a:off x="5554800" y="1128960"/>
            <a:ext cx="4120920" cy="3854869"/>
          </a:xfrm>
          <a:prstGeom prst="roundRect">
            <a:avLst>
              <a:gd name="adj" fmla="val 2439"/>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429" name="Text 197"/>
          <p:cNvSpPr/>
          <p:nvPr/>
        </p:nvSpPr>
        <p:spPr>
          <a:xfrm>
            <a:off x="5698601" y="1173600"/>
            <a:ext cx="3833661" cy="45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2000" b="1" u="none" strike="noStrike" dirty="0">
                <a:solidFill>
                  <a:srgbClr val="1E2761"/>
                </a:solidFill>
                <a:effectLst/>
                <a:uFillTx/>
                <a:latin typeface="Cambria"/>
                <a:ea typeface="Cambria"/>
              </a:rPr>
              <a:t>Przepływ danych</a:t>
            </a:r>
            <a:endParaRPr lang="pl-PL" sz="2000" b="0" u="none" strike="noStrike" dirty="0">
              <a:solidFill>
                <a:srgbClr val="000000"/>
              </a:solidFill>
              <a:effectLst/>
              <a:uFillTx/>
              <a:latin typeface="Arial"/>
            </a:endParaRPr>
          </a:p>
        </p:txBody>
      </p:sp>
      <p:grpSp>
        <p:nvGrpSpPr>
          <p:cNvPr id="2" name="Grupa 1"/>
          <p:cNvGrpSpPr/>
          <p:nvPr/>
        </p:nvGrpSpPr>
        <p:grpSpPr>
          <a:xfrm>
            <a:off x="5986202" y="1747800"/>
            <a:ext cx="3258115" cy="3047565"/>
            <a:chOff x="5695560" y="1733760"/>
            <a:chExt cx="3425760" cy="3426120"/>
          </a:xfrm>
        </p:grpSpPr>
        <p:sp>
          <p:nvSpPr>
            <p:cNvPr id="430" name="Shape 184"/>
            <p:cNvSpPr/>
            <p:nvPr/>
          </p:nvSpPr>
          <p:spPr>
            <a:xfrm>
              <a:off x="5695560" y="1733760"/>
              <a:ext cx="3425760" cy="704160"/>
            </a:xfrm>
            <a:prstGeom prst="roundRect">
              <a:avLst>
                <a:gd name="adj" fmla="val 11429"/>
              </a:avLst>
            </a:prstGeom>
            <a:solidFill>
              <a:srgbClr val="2D3B8E"/>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31" name="Text 198"/>
            <p:cNvSpPr/>
            <p:nvPr/>
          </p:nvSpPr>
          <p:spPr>
            <a:xfrm>
              <a:off x="5695560" y="1733760"/>
              <a:ext cx="3425760" cy="704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tabLst>
                  <a:tab pos="0" algn="l"/>
                </a:tabLst>
              </a:pPr>
              <a:r>
                <a:rPr lang="pl-PL" b="1" u="none" strike="noStrike" dirty="0">
                  <a:solidFill>
                    <a:srgbClr val="FFFFFF"/>
                  </a:solidFill>
                  <a:effectLst/>
                  <a:uFillTx/>
                  <a:latin typeface="Calibri"/>
                  <a:ea typeface="Calibri"/>
                </a:rPr>
                <a:t>Platforma rekrutacji</a:t>
              </a:r>
              <a:endParaRPr lang="pl-PL" b="1" u="none" strike="noStrike" dirty="0">
                <a:solidFill>
                  <a:srgbClr val="000000"/>
                </a:solidFill>
                <a:effectLst/>
                <a:uFillTx/>
                <a:latin typeface="Arial"/>
              </a:endParaRPr>
            </a:p>
            <a:p>
              <a:pPr algn="ctr" defTabSz="914400">
                <a:tabLst>
                  <a:tab pos="0" algn="l"/>
                </a:tabLst>
              </a:pPr>
              <a:r>
                <a:rPr lang="pl-PL" sz="1600" b="0" u="none" strike="noStrike" dirty="0" err="1">
                  <a:solidFill>
                    <a:srgbClr val="FFFFFF"/>
                  </a:solidFill>
                  <a:effectLst/>
                  <a:uFillTx/>
                  <a:latin typeface="Calibri"/>
                  <a:ea typeface="Calibri"/>
                </a:rPr>
                <a:t>Prolific</a:t>
              </a:r>
              <a:r>
                <a:rPr lang="pl-PL" sz="1600" b="0" u="none" strike="noStrike" dirty="0">
                  <a:solidFill>
                    <a:srgbClr val="FFFFFF"/>
                  </a:solidFill>
                  <a:effectLst/>
                  <a:uFillTx/>
                  <a:latin typeface="Calibri"/>
                  <a:ea typeface="Calibri"/>
                </a:rPr>
                <a:t> / </a:t>
              </a:r>
              <a:r>
                <a:rPr lang="pl-PL" sz="1600" b="0" u="none" strike="noStrike" dirty="0" err="1">
                  <a:solidFill>
                    <a:srgbClr val="FFFFFF"/>
                  </a:solidFill>
                  <a:effectLst/>
                  <a:uFillTx/>
                  <a:latin typeface="Calibri"/>
                  <a:ea typeface="Calibri"/>
                </a:rPr>
                <a:t>MTurk</a:t>
              </a:r>
              <a:r>
                <a:rPr lang="pl-PL" sz="1600" b="0" u="none" strike="noStrike" dirty="0">
                  <a:solidFill>
                    <a:srgbClr val="FFFFFF"/>
                  </a:solidFill>
                  <a:effectLst/>
                  <a:uFillTx/>
                  <a:latin typeface="Calibri"/>
                  <a:ea typeface="Calibri"/>
                </a:rPr>
                <a:t> / SONA</a:t>
              </a:r>
              <a:endParaRPr lang="pl-PL" sz="1600" b="0" u="none" strike="noStrike" dirty="0">
                <a:solidFill>
                  <a:srgbClr val="000000"/>
                </a:solidFill>
                <a:effectLst/>
                <a:uFillTx/>
                <a:latin typeface="Arial"/>
              </a:endParaRPr>
            </a:p>
          </p:txBody>
        </p:sp>
        <p:sp>
          <p:nvSpPr>
            <p:cNvPr id="432" name="Shape 185"/>
            <p:cNvSpPr/>
            <p:nvPr/>
          </p:nvSpPr>
          <p:spPr>
            <a:xfrm>
              <a:off x="7409160" y="2439000"/>
              <a:ext cx="360" cy="181800"/>
            </a:xfrm>
            <a:prstGeom prst="line">
              <a:avLst/>
            </a:prstGeom>
            <a:ln w="19050">
              <a:solidFill>
                <a:srgbClr val="8A93C0"/>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pl-PL" sz="1800" b="0" u="none" strike="noStrike">
                <a:solidFill>
                  <a:srgbClr val="000000"/>
                </a:solidFill>
                <a:effectLst/>
                <a:uFillTx/>
                <a:latin typeface="Arial"/>
              </a:endParaRPr>
            </a:p>
          </p:txBody>
        </p:sp>
        <p:sp>
          <p:nvSpPr>
            <p:cNvPr id="433" name="Shape 186"/>
            <p:cNvSpPr/>
            <p:nvPr/>
          </p:nvSpPr>
          <p:spPr>
            <a:xfrm>
              <a:off x="5695560" y="2641320"/>
              <a:ext cx="3425760" cy="704160"/>
            </a:xfrm>
            <a:prstGeom prst="roundRect">
              <a:avLst>
                <a:gd name="adj" fmla="val 11429"/>
              </a:avLst>
            </a:prstGeom>
            <a:solidFill>
              <a:srgbClr val="5B8FF9"/>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34" name="Text 199"/>
            <p:cNvSpPr/>
            <p:nvPr/>
          </p:nvSpPr>
          <p:spPr>
            <a:xfrm>
              <a:off x="5695560" y="2640960"/>
              <a:ext cx="3425760" cy="704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tabLst>
                  <a:tab pos="0" algn="l"/>
                </a:tabLst>
              </a:pPr>
              <a:r>
                <a:rPr lang="pl-PL" b="1" u="none" strike="noStrike" dirty="0">
                  <a:solidFill>
                    <a:srgbClr val="FFFFFF"/>
                  </a:solidFill>
                  <a:effectLst/>
                  <a:uFillTx/>
                  <a:latin typeface="Calibri"/>
                  <a:ea typeface="Calibri"/>
                </a:rPr>
                <a:t>Eksperyment</a:t>
              </a:r>
              <a:endParaRPr lang="pl-PL" sz="1600" b="1" u="none" strike="noStrike" dirty="0">
                <a:solidFill>
                  <a:srgbClr val="000000"/>
                </a:solidFill>
                <a:effectLst/>
                <a:uFillTx/>
                <a:latin typeface="Arial"/>
              </a:endParaRPr>
            </a:p>
            <a:p>
              <a:pPr algn="ctr" defTabSz="914400">
                <a:tabLst>
                  <a:tab pos="0" algn="l"/>
                </a:tabLst>
              </a:pPr>
              <a:r>
                <a:rPr lang="pl-PL" sz="1600" b="0" u="none" strike="noStrike" dirty="0" err="1">
                  <a:solidFill>
                    <a:srgbClr val="FFFFFF"/>
                  </a:solidFill>
                  <a:effectLst/>
                  <a:uFillTx/>
                  <a:latin typeface="Calibri"/>
                  <a:ea typeface="Calibri"/>
                </a:rPr>
                <a:t>jsPsych</a:t>
              </a:r>
              <a:r>
                <a:rPr lang="pl-PL" sz="1600" b="0" u="none" strike="noStrike" dirty="0">
                  <a:solidFill>
                    <a:srgbClr val="FFFFFF"/>
                  </a:solidFill>
                  <a:effectLst/>
                  <a:uFillTx/>
                  <a:latin typeface="Calibri"/>
                  <a:ea typeface="Calibri"/>
                </a:rPr>
                <a:t> (przeglądarka)</a:t>
              </a:r>
              <a:endParaRPr lang="pl-PL" sz="1600" b="0" u="none" strike="noStrike" dirty="0">
                <a:solidFill>
                  <a:srgbClr val="000000"/>
                </a:solidFill>
                <a:effectLst/>
                <a:uFillTx/>
                <a:latin typeface="Arial"/>
              </a:endParaRPr>
            </a:p>
          </p:txBody>
        </p:sp>
        <p:sp>
          <p:nvSpPr>
            <p:cNvPr id="435" name="Shape 187"/>
            <p:cNvSpPr/>
            <p:nvPr/>
          </p:nvSpPr>
          <p:spPr>
            <a:xfrm>
              <a:off x="7409160" y="3346560"/>
              <a:ext cx="360" cy="181800"/>
            </a:xfrm>
            <a:prstGeom prst="line">
              <a:avLst/>
            </a:prstGeom>
            <a:ln w="19050">
              <a:solidFill>
                <a:srgbClr val="8A93C0"/>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pl-PL" sz="1800" b="0" u="none" strike="noStrike">
                <a:solidFill>
                  <a:srgbClr val="000000"/>
                </a:solidFill>
                <a:effectLst/>
                <a:uFillTx/>
                <a:latin typeface="Arial"/>
              </a:endParaRPr>
            </a:p>
          </p:txBody>
        </p:sp>
        <p:sp>
          <p:nvSpPr>
            <p:cNvPr id="436" name="Shape 188"/>
            <p:cNvSpPr/>
            <p:nvPr/>
          </p:nvSpPr>
          <p:spPr>
            <a:xfrm>
              <a:off x="5695560" y="3548520"/>
              <a:ext cx="3425760" cy="704160"/>
            </a:xfrm>
            <a:prstGeom prst="roundRect">
              <a:avLst>
                <a:gd name="adj" fmla="val 11429"/>
              </a:avLst>
            </a:prstGeom>
            <a:solidFill>
              <a:srgbClr val="2D7DD2"/>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37" name="Text 200"/>
            <p:cNvSpPr/>
            <p:nvPr/>
          </p:nvSpPr>
          <p:spPr>
            <a:xfrm>
              <a:off x="5695560" y="3548520"/>
              <a:ext cx="3425760" cy="704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tabLst>
                  <a:tab pos="0" algn="l"/>
                </a:tabLst>
              </a:pPr>
              <a:r>
                <a:rPr lang="pl-PL" b="1" u="none" strike="noStrike" dirty="0">
                  <a:solidFill>
                    <a:srgbClr val="FFFFFF"/>
                  </a:solidFill>
                  <a:effectLst/>
                  <a:uFillTx/>
                  <a:latin typeface="Calibri"/>
                  <a:ea typeface="Calibri"/>
                </a:rPr>
                <a:t>Serwer JATOS</a:t>
              </a:r>
              <a:endParaRPr lang="pl-PL" b="1" u="none" strike="noStrike" dirty="0">
                <a:solidFill>
                  <a:srgbClr val="000000"/>
                </a:solidFill>
                <a:effectLst/>
                <a:uFillTx/>
                <a:latin typeface="Arial"/>
              </a:endParaRPr>
            </a:p>
            <a:p>
              <a:pPr algn="ctr" defTabSz="914400">
                <a:tabLst>
                  <a:tab pos="0" algn="l"/>
                </a:tabLst>
              </a:pPr>
              <a:r>
                <a:rPr lang="pl-PL" sz="1600" b="0" u="none" strike="noStrike" dirty="0">
                  <a:solidFill>
                    <a:srgbClr val="FFFFFF"/>
                  </a:solidFill>
                  <a:effectLst/>
                  <a:uFillTx/>
                  <a:latin typeface="Calibri"/>
                  <a:ea typeface="Calibri"/>
                </a:rPr>
                <a:t>(przechowywanie danych)</a:t>
              </a:r>
              <a:endParaRPr lang="pl-PL" sz="1600" b="0" u="none" strike="noStrike" dirty="0">
                <a:solidFill>
                  <a:srgbClr val="000000"/>
                </a:solidFill>
                <a:effectLst/>
                <a:uFillTx/>
                <a:latin typeface="Arial"/>
              </a:endParaRPr>
            </a:p>
          </p:txBody>
        </p:sp>
        <p:sp>
          <p:nvSpPr>
            <p:cNvPr id="438" name="Shape 189"/>
            <p:cNvSpPr/>
            <p:nvPr/>
          </p:nvSpPr>
          <p:spPr>
            <a:xfrm>
              <a:off x="7409160" y="4253760"/>
              <a:ext cx="360" cy="181800"/>
            </a:xfrm>
            <a:prstGeom prst="line">
              <a:avLst/>
            </a:prstGeom>
            <a:ln w="19050">
              <a:solidFill>
                <a:srgbClr val="8A93C0"/>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pl-PL" sz="1800" b="0" u="none" strike="noStrike">
                <a:solidFill>
                  <a:srgbClr val="000000"/>
                </a:solidFill>
                <a:effectLst/>
                <a:uFillTx/>
                <a:latin typeface="Arial"/>
              </a:endParaRPr>
            </a:p>
          </p:txBody>
        </p:sp>
        <p:sp>
          <p:nvSpPr>
            <p:cNvPr id="439" name="Shape 190"/>
            <p:cNvSpPr/>
            <p:nvPr/>
          </p:nvSpPr>
          <p:spPr>
            <a:xfrm>
              <a:off x="5695560" y="4455720"/>
              <a:ext cx="3425760" cy="704160"/>
            </a:xfrm>
            <a:prstGeom prst="roundRect">
              <a:avLst>
                <a:gd name="adj" fmla="val 11429"/>
              </a:avLst>
            </a:prstGeom>
            <a:solidFill>
              <a:srgbClr val="3A9F6E"/>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40" name="Text 201"/>
            <p:cNvSpPr/>
            <p:nvPr/>
          </p:nvSpPr>
          <p:spPr>
            <a:xfrm>
              <a:off x="5695560" y="4455720"/>
              <a:ext cx="3425760" cy="704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tabLst>
                  <a:tab pos="0" algn="l"/>
                </a:tabLst>
              </a:pPr>
              <a:r>
                <a:rPr lang="pl-PL" b="1" u="none" strike="noStrike" dirty="0">
                  <a:solidFill>
                    <a:srgbClr val="FFFFFF"/>
                  </a:solidFill>
                  <a:effectLst/>
                  <a:uFillTx/>
                  <a:latin typeface="Calibri"/>
                  <a:ea typeface="Calibri"/>
                </a:rPr>
                <a:t>Analiza</a:t>
              </a:r>
              <a:endParaRPr lang="pl-PL" b="1" u="none" strike="noStrike" dirty="0">
                <a:solidFill>
                  <a:srgbClr val="000000"/>
                </a:solidFill>
                <a:effectLst/>
                <a:uFillTx/>
                <a:latin typeface="Arial"/>
              </a:endParaRPr>
            </a:p>
            <a:p>
              <a:pPr algn="ctr" defTabSz="914400">
                <a:tabLst>
                  <a:tab pos="0" algn="l"/>
                </a:tabLst>
              </a:pPr>
              <a:r>
                <a:rPr lang="pl-PL" sz="1600" b="0" u="none" strike="noStrike" dirty="0">
                  <a:solidFill>
                    <a:srgbClr val="FFFFFF"/>
                  </a:solidFill>
                  <a:effectLst/>
                  <a:uFillTx/>
                  <a:latin typeface="Calibri"/>
                  <a:ea typeface="Calibri"/>
                </a:rPr>
                <a:t>R / </a:t>
              </a:r>
              <a:r>
                <a:rPr lang="pl-PL" sz="1600" b="0" u="none" strike="noStrike" dirty="0" err="1">
                  <a:solidFill>
                    <a:srgbClr val="FFFFFF"/>
                  </a:solidFill>
                  <a:effectLst/>
                  <a:uFillTx/>
                  <a:latin typeface="Calibri"/>
                  <a:ea typeface="Calibri"/>
                </a:rPr>
                <a:t>Python</a:t>
              </a:r>
              <a:endParaRPr lang="pl-PL" sz="1600" b="0" u="none" strike="noStrike" dirty="0">
                <a:solidFill>
                  <a:srgbClr val="000000"/>
                </a:solidFill>
                <a:effectLst/>
                <a:uFillTx/>
                <a:latin typeface="Arial"/>
              </a:endParaRPr>
            </a:p>
          </p:txBody>
        </p:sp>
      </p:grpSp>
      <p:sp>
        <p:nvSpPr>
          <p:cNvPr id="441" name="Text 202"/>
          <p:cNvSpPr/>
          <p:nvPr/>
        </p:nvSpPr>
        <p:spPr>
          <a:xfrm>
            <a:off x="403200" y="5260409"/>
            <a:ext cx="9272520" cy="300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600" b="0" u="none" strike="noStrike" dirty="0">
                <a:effectLst/>
                <a:uFillTx/>
                <a:latin typeface="Cambria Math" panose="02040503050406030204" pitchFamily="18" charset="0"/>
                <a:ea typeface="Cambria Math" panose="02040503050406030204" pitchFamily="18" charset="0"/>
              </a:rPr>
              <a:t>Nie każdy paradygmat wymaga Javy lub własnego serwera. </a:t>
            </a:r>
            <a:r>
              <a:rPr lang="pl-PL" sz="1600" b="0" u="none" strike="noStrike" dirty="0" err="1">
                <a:effectLst/>
                <a:uFillTx/>
                <a:latin typeface="Cambria Math" panose="02040503050406030204" pitchFamily="18" charset="0"/>
                <a:ea typeface="Cambria Math" panose="02040503050406030204" pitchFamily="18" charset="0"/>
              </a:rPr>
              <a:t>jsPsych</a:t>
            </a:r>
            <a:r>
              <a:rPr lang="pl-PL" sz="1600" b="0" u="none" strike="noStrike" dirty="0">
                <a:effectLst/>
                <a:uFillTx/>
                <a:latin typeface="Cambria Math" panose="02040503050406030204" pitchFamily="18" charset="0"/>
                <a:ea typeface="Cambria Math" panose="02040503050406030204" pitchFamily="18" charset="0"/>
              </a:rPr>
              <a:t> działa z hostingiem statycznym</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442" name="Shape 191"/>
          <p:cNvSpPr/>
          <p:nvPr/>
        </p:nvSpPr>
        <p:spPr>
          <a:xfrm>
            <a:off x="360" y="360"/>
            <a:ext cx="10079280" cy="1006560"/>
          </a:xfrm>
          <a:prstGeom prst="rect">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443" name="Text 203"/>
          <p:cNvSpPr/>
          <p:nvPr/>
        </p:nvSpPr>
        <p:spPr>
          <a:xfrm>
            <a:off x="453600" y="70560"/>
            <a:ext cx="9172080" cy="502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defTabSz="914400">
              <a:lnSpc>
                <a:spcPct val="100000"/>
              </a:lnSpc>
              <a:tabLst>
                <a:tab pos="0" algn="l"/>
              </a:tabLst>
            </a:pPr>
            <a:r>
              <a:rPr lang="pl-PL" sz="2200" b="1" u="none" strike="noStrike" dirty="0">
                <a:solidFill>
                  <a:srgbClr val="FFFFFF"/>
                </a:solidFill>
                <a:effectLst/>
                <a:uFillTx/>
                <a:latin typeface="Cambria"/>
                <a:ea typeface="Cambria"/>
              </a:rPr>
              <a:t>GORILLA, PAVLOVIA, LAB.JS, QUALTRICS</a:t>
            </a:r>
            <a:endParaRPr lang="pl-PL" sz="2200" b="0" u="none" strike="noStrike" dirty="0">
              <a:solidFill>
                <a:srgbClr val="000000"/>
              </a:solidFill>
              <a:effectLst/>
              <a:uFillTx/>
              <a:latin typeface="Arial"/>
            </a:endParaRPr>
          </a:p>
        </p:txBody>
      </p:sp>
      <p:sp>
        <p:nvSpPr>
          <p:cNvPr id="444" name="Text 204"/>
          <p:cNvSpPr/>
          <p:nvPr/>
        </p:nvSpPr>
        <p:spPr>
          <a:xfrm>
            <a:off x="453600" y="594720"/>
            <a:ext cx="9172080" cy="331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pl-PL" sz="1400" b="0" i="1" u="none" strike="noStrike" dirty="0">
                <a:solidFill>
                  <a:srgbClr val="CADCFC"/>
                </a:solidFill>
                <a:effectLst/>
                <a:uFillTx/>
                <a:latin typeface="Calibri"/>
                <a:ea typeface="Calibri"/>
              </a:rPr>
              <a:t>Kiedy używać gotowej platformy, a kiedy pisać własny eksperyment?</a:t>
            </a:r>
            <a:endParaRPr lang="pl-PL" sz="1400" b="0" u="none" strike="noStrike" dirty="0">
              <a:solidFill>
                <a:srgbClr val="000000"/>
              </a:solidFill>
              <a:effectLst/>
              <a:uFillTx/>
              <a:latin typeface="Arial"/>
            </a:endParaRPr>
          </a:p>
        </p:txBody>
      </p:sp>
      <p:sp>
        <p:nvSpPr>
          <p:cNvPr id="445" name="Shape 192"/>
          <p:cNvSpPr/>
          <p:nvPr/>
        </p:nvSpPr>
        <p:spPr>
          <a:xfrm>
            <a:off x="402840" y="1108800"/>
            <a:ext cx="9272880" cy="522720"/>
          </a:xfrm>
          <a:prstGeom prst="roundRect">
            <a:avLst>
              <a:gd name="adj" fmla="val 15385"/>
            </a:avLst>
          </a:prstGeom>
          <a:solidFill>
            <a:srgbClr val="1E276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46" name="Text 205"/>
          <p:cNvSpPr/>
          <p:nvPr/>
        </p:nvSpPr>
        <p:spPr>
          <a:xfrm>
            <a:off x="463320" y="1108800"/>
            <a:ext cx="195444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500" b="1" u="none" strike="noStrike">
                <a:solidFill>
                  <a:srgbClr val="FFFFFF"/>
                </a:solidFill>
                <a:effectLst/>
                <a:uFillTx/>
                <a:latin typeface="Cambria"/>
                <a:ea typeface="Cambria"/>
              </a:rPr>
              <a:t>Narzędzie</a:t>
            </a:r>
            <a:endParaRPr lang="pl-PL" sz="1500" b="0" u="none" strike="noStrike">
              <a:solidFill>
                <a:srgbClr val="000000"/>
              </a:solidFill>
              <a:effectLst/>
              <a:uFillTx/>
              <a:latin typeface="Arial"/>
            </a:endParaRPr>
          </a:p>
        </p:txBody>
      </p:sp>
      <p:sp>
        <p:nvSpPr>
          <p:cNvPr id="447" name="Text 206"/>
          <p:cNvSpPr/>
          <p:nvPr/>
        </p:nvSpPr>
        <p:spPr>
          <a:xfrm>
            <a:off x="2326680" y="1108800"/>
            <a:ext cx="1439188"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500" b="1" u="none" strike="noStrike" dirty="0">
                <a:solidFill>
                  <a:srgbClr val="FFFFFF"/>
                </a:solidFill>
                <a:effectLst/>
                <a:uFillTx/>
                <a:latin typeface="Cambria"/>
                <a:ea typeface="Cambria"/>
              </a:rPr>
              <a:t>Poziom </a:t>
            </a:r>
            <a:r>
              <a:rPr lang="pl-PL" sz="1500" b="1" u="none" strike="noStrike" dirty="0" err="1">
                <a:solidFill>
                  <a:srgbClr val="FFFFFF"/>
                </a:solidFill>
                <a:effectLst/>
                <a:uFillTx/>
                <a:latin typeface="Cambria"/>
                <a:ea typeface="Cambria"/>
              </a:rPr>
              <a:t>tech</a:t>
            </a:r>
            <a:r>
              <a:rPr lang="pl-PL" sz="1500" b="1" u="none" strike="noStrike" dirty="0">
                <a:solidFill>
                  <a:srgbClr val="FFFFFF"/>
                </a:solidFill>
                <a:effectLst/>
                <a:uFillTx/>
                <a:latin typeface="Cambria"/>
                <a:ea typeface="Cambria"/>
              </a:rPr>
              <a:t>.</a:t>
            </a:r>
            <a:endParaRPr lang="pl-PL" sz="1500" b="0" u="none" strike="noStrike" dirty="0">
              <a:solidFill>
                <a:srgbClr val="000000"/>
              </a:solidFill>
              <a:effectLst/>
              <a:uFillTx/>
              <a:latin typeface="Arial"/>
            </a:endParaRPr>
          </a:p>
        </p:txBody>
      </p:sp>
      <p:sp>
        <p:nvSpPr>
          <p:cNvPr id="448" name="Text 207"/>
          <p:cNvSpPr/>
          <p:nvPr/>
        </p:nvSpPr>
        <p:spPr>
          <a:xfrm>
            <a:off x="3904818" y="1108800"/>
            <a:ext cx="1294199"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500" b="1" u="none" strike="noStrike">
                <a:solidFill>
                  <a:srgbClr val="FFFFFF"/>
                </a:solidFill>
                <a:effectLst/>
                <a:uFillTx/>
                <a:latin typeface="Cambria"/>
                <a:ea typeface="Cambria"/>
              </a:rPr>
              <a:t>Koszt</a:t>
            </a:r>
            <a:endParaRPr lang="pl-PL" sz="1500" b="0" u="none" strike="noStrike">
              <a:solidFill>
                <a:srgbClr val="000000"/>
              </a:solidFill>
              <a:effectLst/>
              <a:uFillTx/>
              <a:latin typeface="Arial"/>
            </a:endParaRPr>
          </a:p>
        </p:txBody>
      </p:sp>
      <p:sp>
        <p:nvSpPr>
          <p:cNvPr id="449" name="Text 208"/>
          <p:cNvSpPr/>
          <p:nvPr/>
        </p:nvSpPr>
        <p:spPr>
          <a:xfrm>
            <a:off x="5306040" y="1108800"/>
            <a:ext cx="164808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500" b="1" u="none" strike="noStrike">
                <a:solidFill>
                  <a:srgbClr val="FFFFFF"/>
                </a:solidFill>
                <a:effectLst/>
                <a:uFillTx/>
                <a:latin typeface="Cambria"/>
                <a:ea typeface="Cambria"/>
              </a:rPr>
              <a:t>Elastyczność</a:t>
            </a:r>
            <a:endParaRPr lang="pl-PL" sz="1500" b="0" u="none" strike="noStrike">
              <a:solidFill>
                <a:srgbClr val="000000"/>
              </a:solidFill>
              <a:effectLst/>
              <a:uFillTx/>
              <a:latin typeface="Arial"/>
            </a:endParaRPr>
          </a:p>
        </p:txBody>
      </p:sp>
      <p:sp>
        <p:nvSpPr>
          <p:cNvPr id="450" name="Text 209"/>
          <p:cNvSpPr/>
          <p:nvPr/>
        </p:nvSpPr>
        <p:spPr>
          <a:xfrm>
            <a:off x="6852240" y="1108800"/>
            <a:ext cx="282348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500" b="1" u="none" strike="noStrike">
                <a:solidFill>
                  <a:srgbClr val="FFFFFF"/>
                </a:solidFill>
                <a:effectLst/>
                <a:uFillTx/>
                <a:latin typeface="Cambria"/>
                <a:ea typeface="Cambria"/>
              </a:rPr>
              <a:t>Najlepsze zastosowanie</a:t>
            </a:r>
            <a:endParaRPr lang="pl-PL" sz="1500" b="0" u="none" strike="noStrike">
              <a:solidFill>
                <a:srgbClr val="000000"/>
              </a:solidFill>
              <a:effectLst/>
              <a:uFillTx/>
              <a:latin typeface="Arial"/>
            </a:endParaRPr>
          </a:p>
        </p:txBody>
      </p:sp>
      <p:sp>
        <p:nvSpPr>
          <p:cNvPr id="451" name="Shape 193"/>
          <p:cNvSpPr/>
          <p:nvPr/>
        </p:nvSpPr>
        <p:spPr>
          <a:xfrm>
            <a:off x="403200" y="1663200"/>
            <a:ext cx="9272520" cy="724320"/>
          </a:xfrm>
          <a:prstGeom prst="roundRect">
            <a:avLst>
              <a:gd name="adj" fmla="val 13889"/>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452" name="Shape 194"/>
          <p:cNvSpPr/>
          <p:nvPr/>
        </p:nvSpPr>
        <p:spPr>
          <a:xfrm>
            <a:off x="463320" y="1764000"/>
            <a:ext cx="1863360" cy="522720"/>
          </a:xfrm>
          <a:prstGeom prst="roundRect">
            <a:avLst>
              <a:gd name="adj" fmla="val 13462"/>
            </a:avLst>
          </a:prstGeom>
          <a:solidFill>
            <a:srgbClr val="1E276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53" name="Text 210"/>
          <p:cNvSpPr/>
          <p:nvPr/>
        </p:nvSpPr>
        <p:spPr>
          <a:xfrm>
            <a:off x="463320" y="1764000"/>
            <a:ext cx="186336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500" b="1" u="none" strike="noStrike">
                <a:solidFill>
                  <a:srgbClr val="FFFFFF"/>
                </a:solidFill>
                <a:effectLst/>
                <a:uFillTx/>
                <a:latin typeface="Cambria"/>
                <a:ea typeface="Cambria"/>
              </a:rPr>
              <a:t>Gorilla</a:t>
            </a:r>
            <a:endParaRPr lang="pl-PL" sz="1500" b="0" u="none" strike="noStrike">
              <a:solidFill>
                <a:srgbClr val="000000"/>
              </a:solidFill>
              <a:effectLst/>
              <a:uFillTx/>
              <a:latin typeface="Arial"/>
            </a:endParaRPr>
          </a:p>
        </p:txBody>
      </p:sp>
      <p:sp>
        <p:nvSpPr>
          <p:cNvPr id="454" name="Text 211"/>
          <p:cNvSpPr/>
          <p:nvPr/>
        </p:nvSpPr>
        <p:spPr>
          <a:xfrm>
            <a:off x="2479680" y="1703520"/>
            <a:ext cx="1440000" cy="643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15000"/>
              </a:lnSpc>
              <a:tabLst>
                <a:tab pos="0" algn="l"/>
              </a:tabLst>
            </a:pPr>
            <a:r>
              <a:rPr lang="pl-PL" sz="1400" b="0" u="none" strike="noStrike">
                <a:solidFill>
                  <a:srgbClr val="4A5280"/>
                </a:solidFill>
                <a:effectLst/>
                <a:uFillTx/>
                <a:latin typeface="Calibri"/>
                <a:ea typeface="Calibri"/>
              </a:rPr>
              <a:t>Brak kodu</a:t>
            </a:r>
            <a:endParaRPr lang="pl-PL" sz="1400" b="0" u="none" strike="noStrike">
              <a:solidFill>
                <a:srgbClr val="000000"/>
              </a:solidFill>
              <a:effectLst/>
              <a:uFillTx/>
              <a:latin typeface="Arial"/>
            </a:endParaRPr>
          </a:p>
        </p:txBody>
      </p:sp>
      <p:sp>
        <p:nvSpPr>
          <p:cNvPr id="455" name="Text 212"/>
          <p:cNvSpPr/>
          <p:nvPr/>
        </p:nvSpPr>
        <p:spPr>
          <a:xfrm>
            <a:off x="3919680" y="1703520"/>
            <a:ext cx="1411200" cy="643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15000"/>
              </a:lnSpc>
              <a:tabLst>
                <a:tab pos="0" algn="l"/>
              </a:tabLst>
            </a:pPr>
            <a:r>
              <a:rPr lang="pl-PL" sz="1400" b="0" u="none" strike="noStrike" dirty="0">
                <a:solidFill>
                  <a:srgbClr val="4A5280"/>
                </a:solidFill>
                <a:effectLst/>
                <a:uFillTx/>
                <a:latin typeface="Calibri"/>
                <a:ea typeface="Calibri"/>
              </a:rPr>
              <a:t>Licencja</a:t>
            </a:r>
            <a:endParaRPr lang="pl-PL" sz="1400" b="0" u="none" strike="noStrike" dirty="0">
              <a:solidFill>
                <a:srgbClr val="000000"/>
              </a:solidFill>
              <a:effectLst/>
              <a:uFillTx/>
              <a:latin typeface="Arial"/>
            </a:endParaRPr>
          </a:p>
          <a:p>
            <a:pPr defTabSz="914400">
              <a:lnSpc>
                <a:spcPct val="115000"/>
              </a:lnSpc>
              <a:tabLst>
                <a:tab pos="0" algn="l"/>
              </a:tabLst>
            </a:pPr>
            <a:r>
              <a:rPr lang="pl-PL" sz="1400" b="0" u="none" strike="noStrike" dirty="0">
                <a:solidFill>
                  <a:srgbClr val="4A5280"/>
                </a:solidFill>
                <a:effectLst/>
                <a:uFillTx/>
                <a:latin typeface="Calibri"/>
                <a:ea typeface="Calibri"/>
              </a:rPr>
              <a:t>instytucjonalna</a:t>
            </a:r>
            <a:endParaRPr lang="pl-PL" sz="1400" b="0" u="none" strike="noStrike" dirty="0">
              <a:solidFill>
                <a:srgbClr val="000000"/>
              </a:solidFill>
              <a:effectLst/>
              <a:uFillTx/>
              <a:latin typeface="Arial"/>
            </a:endParaRPr>
          </a:p>
        </p:txBody>
      </p:sp>
      <p:sp>
        <p:nvSpPr>
          <p:cNvPr id="456" name="Text 213"/>
          <p:cNvSpPr/>
          <p:nvPr/>
        </p:nvSpPr>
        <p:spPr>
          <a:xfrm>
            <a:off x="5453280" y="1703520"/>
            <a:ext cx="1129320" cy="643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15000"/>
              </a:lnSpc>
              <a:tabLst>
                <a:tab pos="0" algn="l"/>
              </a:tabLst>
            </a:pPr>
            <a:r>
              <a:rPr lang="pl-PL" sz="1400" b="0" u="none" strike="noStrike" dirty="0">
                <a:solidFill>
                  <a:srgbClr val="1A1F3C"/>
                </a:solidFill>
                <a:effectLst/>
                <a:uFillTx/>
                <a:latin typeface="Calibri"/>
                <a:ea typeface="Calibri"/>
              </a:rPr>
              <a:t>Niska-średnia</a:t>
            </a:r>
            <a:endParaRPr lang="pl-PL" sz="1400" b="0" u="none" strike="noStrike" dirty="0">
              <a:solidFill>
                <a:srgbClr val="000000"/>
              </a:solidFill>
              <a:effectLst/>
              <a:uFillTx/>
              <a:latin typeface="Arial"/>
            </a:endParaRPr>
          </a:p>
        </p:txBody>
      </p:sp>
      <p:sp>
        <p:nvSpPr>
          <p:cNvPr id="457" name="Text 214"/>
          <p:cNvSpPr/>
          <p:nvPr/>
        </p:nvSpPr>
        <p:spPr>
          <a:xfrm>
            <a:off x="6751440" y="1703520"/>
            <a:ext cx="2863440" cy="643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15000"/>
              </a:lnSpc>
              <a:tabLst>
                <a:tab pos="0" algn="l"/>
              </a:tabLst>
            </a:pPr>
            <a:r>
              <a:rPr lang="pl-PL" sz="1300" b="0" u="none" strike="noStrike">
                <a:solidFill>
                  <a:srgbClr val="1A1F3C"/>
                </a:solidFill>
                <a:effectLst/>
                <a:uFillTx/>
                <a:latin typeface="Calibri"/>
                <a:ea typeface="Calibri"/>
              </a:rPr>
              <a:t>Szybki deployment, badania dydaktyczne, duże projekty z budżetem</a:t>
            </a:r>
            <a:endParaRPr lang="pl-PL" sz="1300" b="0" u="none" strike="noStrike">
              <a:solidFill>
                <a:srgbClr val="000000"/>
              </a:solidFill>
              <a:effectLst/>
              <a:uFillTx/>
              <a:latin typeface="Arial"/>
            </a:endParaRPr>
          </a:p>
        </p:txBody>
      </p:sp>
      <p:sp>
        <p:nvSpPr>
          <p:cNvPr id="458" name="Shape 195"/>
          <p:cNvSpPr/>
          <p:nvPr/>
        </p:nvSpPr>
        <p:spPr>
          <a:xfrm>
            <a:off x="403200" y="2439720"/>
            <a:ext cx="9272520" cy="724320"/>
          </a:xfrm>
          <a:prstGeom prst="roundRect">
            <a:avLst>
              <a:gd name="adj" fmla="val 13889"/>
            </a:avLst>
          </a:prstGeom>
          <a:solidFill>
            <a:srgbClr val="F0F3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459" name="Shape 196"/>
          <p:cNvSpPr/>
          <p:nvPr/>
        </p:nvSpPr>
        <p:spPr>
          <a:xfrm>
            <a:off x="463320" y="2540160"/>
            <a:ext cx="1863360" cy="522720"/>
          </a:xfrm>
          <a:prstGeom prst="roundRect">
            <a:avLst>
              <a:gd name="adj" fmla="val 13462"/>
            </a:avLst>
          </a:prstGeom>
          <a:solidFill>
            <a:srgbClr val="2D3B8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60" name="Text 215"/>
          <p:cNvSpPr/>
          <p:nvPr/>
        </p:nvSpPr>
        <p:spPr>
          <a:xfrm>
            <a:off x="463320" y="2540160"/>
            <a:ext cx="186336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500" b="1" u="none" strike="noStrike">
                <a:solidFill>
                  <a:srgbClr val="FFFFFF"/>
                </a:solidFill>
                <a:effectLst/>
                <a:uFillTx/>
                <a:latin typeface="Cambria"/>
                <a:ea typeface="Cambria"/>
              </a:rPr>
              <a:t>Pavlovia</a:t>
            </a:r>
            <a:endParaRPr lang="pl-PL" sz="1500" b="0" u="none" strike="noStrike">
              <a:solidFill>
                <a:srgbClr val="000000"/>
              </a:solidFill>
              <a:effectLst/>
              <a:uFillTx/>
              <a:latin typeface="Arial"/>
            </a:endParaRPr>
          </a:p>
        </p:txBody>
      </p:sp>
      <p:sp>
        <p:nvSpPr>
          <p:cNvPr id="461" name="Text 216"/>
          <p:cNvSpPr/>
          <p:nvPr/>
        </p:nvSpPr>
        <p:spPr>
          <a:xfrm>
            <a:off x="2479680" y="2479680"/>
            <a:ext cx="1508846" cy="643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15000"/>
              </a:lnSpc>
              <a:tabLst>
                <a:tab pos="0" algn="l"/>
              </a:tabLst>
            </a:pPr>
            <a:r>
              <a:rPr lang="pl-PL" sz="1400" b="0" u="none" strike="noStrike" dirty="0" err="1">
                <a:solidFill>
                  <a:srgbClr val="4A5280"/>
                </a:solidFill>
                <a:effectLst/>
                <a:uFillTx/>
                <a:latin typeface="Calibri"/>
                <a:ea typeface="Calibri"/>
              </a:rPr>
              <a:t>PsychoPy</a:t>
            </a:r>
            <a:endParaRPr lang="pl-PL" sz="1400" b="0" u="none" strike="noStrike" dirty="0">
              <a:solidFill>
                <a:srgbClr val="000000"/>
              </a:solidFill>
              <a:effectLst/>
              <a:uFillTx/>
              <a:latin typeface="Arial"/>
            </a:endParaRPr>
          </a:p>
          <a:p>
            <a:pPr defTabSz="914400">
              <a:lnSpc>
                <a:spcPct val="115000"/>
              </a:lnSpc>
              <a:tabLst>
                <a:tab pos="0" algn="l"/>
              </a:tabLst>
            </a:pPr>
            <a:r>
              <a:rPr lang="pl-PL" sz="1400" b="0" u="none" strike="noStrike" dirty="0">
                <a:solidFill>
                  <a:srgbClr val="4A5280"/>
                </a:solidFill>
                <a:effectLst/>
                <a:uFillTx/>
                <a:latin typeface="Calibri"/>
                <a:ea typeface="Calibri"/>
              </a:rPr>
              <a:t>(</a:t>
            </a:r>
            <a:r>
              <a:rPr lang="pl-PL" sz="1400" b="0" u="none" strike="noStrike" dirty="0" err="1">
                <a:solidFill>
                  <a:srgbClr val="4A5280"/>
                </a:solidFill>
                <a:effectLst/>
                <a:uFillTx/>
                <a:latin typeface="Calibri"/>
                <a:ea typeface="Calibri"/>
              </a:rPr>
              <a:t>Python</a:t>
            </a:r>
            <a:r>
              <a:rPr lang="pl-PL" sz="1400" b="0" u="none" strike="noStrike" dirty="0">
                <a:solidFill>
                  <a:srgbClr val="4A5280"/>
                </a:solidFill>
                <a:effectLst/>
                <a:uFillTx/>
                <a:latin typeface="Calibri"/>
                <a:ea typeface="Calibri"/>
              </a:rPr>
              <a:t>/Builder)</a:t>
            </a:r>
            <a:endParaRPr lang="pl-PL" sz="1400" b="0" u="none" strike="noStrike" dirty="0">
              <a:solidFill>
                <a:srgbClr val="000000"/>
              </a:solidFill>
              <a:effectLst/>
              <a:uFillTx/>
              <a:latin typeface="Arial"/>
            </a:endParaRPr>
          </a:p>
        </p:txBody>
      </p:sp>
      <p:sp>
        <p:nvSpPr>
          <p:cNvPr id="462" name="Text 217"/>
          <p:cNvSpPr/>
          <p:nvPr/>
        </p:nvSpPr>
        <p:spPr>
          <a:xfrm>
            <a:off x="3919680" y="2479680"/>
            <a:ext cx="1411200" cy="643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15000"/>
              </a:lnSpc>
              <a:tabLst>
                <a:tab pos="0" algn="l"/>
              </a:tabLst>
            </a:pPr>
            <a:r>
              <a:rPr lang="pl-PL" sz="1400" b="0" u="none" strike="noStrike">
                <a:solidFill>
                  <a:srgbClr val="4A5280"/>
                </a:solidFill>
                <a:effectLst/>
                <a:uFillTx/>
                <a:latin typeface="Calibri"/>
                <a:ea typeface="Calibri"/>
              </a:rPr>
              <a:t>Opłata</a:t>
            </a:r>
            <a:endParaRPr lang="pl-PL" sz="1400" b="0" u="none" strike="noStrike">
              <a:solidFill>
                <a:srgbClr val="000000"/>
              </a:solidFill>
              <a:effectLst/>
              <a:uFillTx/>
              <a:latin typeface="Arial"/>
            </a:endParaRPr>
          </a:p>
          <a:p>
            <a:pPr defTabSz="914400">
              <a:lnSpc>
                <a:spcPct val="115000"/>
              </a:lnSpc>
              <a:tabLst>
                <a:tab pos="0" algn="l"/>
              </a:tabLst>
            </a:pPr>
            <a:r>
              <a:rPr lang="pl-PL" sz="1400" b="0" u="none" strike="noStrike">
                <a:solidFill>
                  <a:srgbClr val="4A5280"/>
                </a:solidFill>
                <a:effectLst/>
                <a:uFillTx/>
                <a:latin typeface="Calibri"/>
                <a:ea typeface="Calibri"/>
              </a:rPr>
              <a:t>za sesję</a:t>
            </a:r>
            <a:endParaRPr lang="pl-PL" sz="1400" b="0" u="none" strike="noStrike">
              <a:solidFill>
                <a:srgbClr val="000000"/>
              </a:solidFill>
              <a:effectLst/>
              <a:uFillTx/>
              <a:latin typeface="Arial"/>
            </a:endParaRPr>
          </a:p>
        </p:txBody>
      </p:sp>
      <p:sp>
        <p:nvSpPr>
          <p:cNvPr id="463" name="Text 218"/>
          <p:cNvSpPr/>
          <p:nvPr/>
        </p:nvSpPr>
        <p:spPr>
          <a:xfrm>
            <a:off x="5453280" y="2479680"/>
            <a:ext cx="1218960" cy="643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15000"/>
              </a:lnSpc>
              <a:tabLst>
                <a:tab pos="0" algn="l"/>
              </a:tabLst>
            </a:pPr>
            <a:r>
              <a:rPr lang="pl-PL" sz="1400" b="0" u="none" strike="noStrike" dirty="0">
                <a:solidFill>
                  <a:srgbClr val="1A1F3C"/>
                </a:solidFill>
                <a:effectLst/>
                <a:uFillTx/>
                <a:latin typeface="Calibri"/>
                <a:ea typeface="Calibri"/>
              </a:rPr>
              <a:t>Średnio-wysoka</a:t>
            </a:r>
            <a:endParaRPr lang="pl-PL" sz="1400" b="0" u="none" strike="noStrike" dirty="0">
              <a:solidFill>
                <a:srgbClr val="000000"/>
              </a:solidFill>
              <a:effectLst/>
              <a:uFillTx/>
              <a:latin typeface="Arial"/>
            </a:endParaRPr>
          </a:p>
        </p:txBody>
      </p:sp>
      <p:sp>
        <p:nvSpPr>
          <p:cNvPr id="464" name="Text 219"/>
          <p:cNvSpPr/>
          <p:nvPr/>
        </p:nvSpPr>
        <p:spPr>
          <a:xfrm>
            <a:off x="6751440" y="2479680"/>
            <a:ext cx="2863440" cy="643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15000"/>
              </a:lnSpc>
              <a:tabLst>
                <a:tab pos="0" algn="l"/>
              </a:tabLst>
            </a:pPr>
            <a:r>
              <a:rPr lang="pl-PL" sz="1300" b="0" u="none" strike="noStrike">
                <a:solidFill>
                  <a:srgbClr val="1A1F3C"/>
                </a:solidFill>
                <a:effectLst/>
                <a:uFillTx/>
                <a:latin typeface="Calibri"/>
                <a:ea typeface="Calibri"/>
              </a:rPr>
              <a:t>Gdy eksperyment został zbudowany </a:t>
            </a:r>
            <a:br>
              <a:rPr sz="1300"/>
            </a:br>
            <a:r>
              <a:rPr lang="pl-PL" sz="1300" b="0" u="none" strike="noStrike">
                <a:solidFill>
                  <a:srgbClr val="1A1F3C"/>
                </a:solidFill>
                <a:effectLst/>
                <a:uFillTx/>
                <a:latin typeface="Calibri"/>
                <a:ea typeface="Calibri"/>
              </a:rPr>
              <a:t>w PsychoPy i wymaga hostingu online</a:t>
            </a:r>
            <a:endParaRPr lang="pl-PL" sz="1300" b="0" u="none" strike="noStrike">
              <a:solidFill>
                <a:srgbClr val="000000"/>
              </a:solidFill>
              <a:effectLst/>
              <a:uFillTx/>
              <a:latin typeface="Arial"/>
            </a:endParaRPr>
          </a:p>
        </p:txBody>
      </p:sp>
      <p:sp>
        <p:nvSpPr>
          <p:cNvPr id="465" name="Shape 197"/>
          <p:cNvSpPr/>
          <p:nvPr/>
        </p:nvSpPr>
        <p:spPr>
          <a:xfrm>
            <a:off x="403200" y="3215880"/>
            <a:ext cx="9272520" cy="724320"/>
          </a:xfrm>
          <a:prstGeom prst="roundRect">
            <a:avLst>
              <a:gd name="adj" fmla="val 13889"/>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466" name="Shape 198"/>
          <p:cNvSpPr/>
          <p:nvPr/>
        </p:nvSpPr>
        <p:spPr>
          <a:xfrm>
            <a:off x="463320" y="3316680"/>
            <a:ext cx="1863360" cy="522720"/>
          </a:xfrm>
          <a:prstGeom prst="roundRect">
            <a:avLst>
              <a:gd name="adj" fmla="val 13462"/>
            </a:avLst>
          </a:prstGeom>
          <a:solidFill>
            <a:srgbClr val="5B8FF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67" name="Text 220"/>
          <p:cNvSpPr/>
          <p:nvPr/>
        </p:nvSpPr>
        <p:spPr>
          <a:xfrm>
            <a:off x="463320" y="3316680"/>
            <a:ext cx="186336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500" b="1" u="none" strike="noStrike">
                <a:solidFill>
                  <a:srgbClr val="FFFFFF"/>
                </a:solidFill>
                <a:effectLst/>
                <a:uFillTx/>
                <a:latin typeface="Cambria"/>
                <a:ea typeface="Cambria"/>
              </a:rPr>
              <a:t>Lab.js</a:t>
            </a:r>
            <a:endParaRPr lang="pl-PL" sz="1500" b="0" u="none" strike="noStrike">
              <a:solidFill>
                <a:srgbClr val="000000"/>
              </a:solidFill>
              <a:effectLst/>
              <a:uFillTx/>
              <a:latin typeface="Arial"/>
            </a:endParaRPr>
          </a:p>
        </p:txBody>
      </p:sp>
      <p:sp>
        <p:nvSpPr>
          <p:cNvPr id="468" name="Text 221"/>
          <p:cNvSpPr/>
          <p:nvPr/>
        </p:nvSpPr>
        <p:spPr>
          <a:xfrm>
            <a:off x="2479680" y="3255840"/>
            <a:ext cx="1440000" cy="643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15000"/>
              </a:lnSpc>
              <a:tabLst>
                <a:tab pos="0" algn="l"/>
              </a:tabLst>
            </a:pPr>
            <a:r>
              <a:rPr lang="pl-PL" sz="1400" b="0" u="none" strike="noStrike">
                <a:solidFill>
                  <a:srgbClr val="4A5280"/>
                </a:solidFill>
                <a:effectLst/>
                <a:uFillTx/>
                <a:latin typeface="Calibri"/>
                <a:ea typeface="Calibri"/>
              </a:rPr>
              <a:t>Niski</a:t>
            </a:r>
            <a:endParaRPr lang="pl-PL" sz="1400" b="0" u="none" strike="noStrike">
              <a:solidFill>
                <a:srgbClr val="000000"/>
              </a:solidFill>
              <a:effectLst/>
              <a:uFillTx/>
              <a:latin typeface="Arial"/>
            </a:endParaRPr>
          </a:p>
          <a:p>
            <a:pPr defTabSz="914400">
              <a:lnSpc>
                <a:spcPct val="115000"/>
              </a:lnSpc>
              <a:tabLst>
                <a:tab pos="0" algn="l"/>
              </a:tabLst>
            </a:pPr>
            <a:r>
              <a:rPr lang="pl-PL" sz="1400" b="0" u="none" strike="noStrike">
                <a:solidFill>
                  <a:srgbClr val="4A5280"/>
                </a:solidFill>
                <a:effectLst/>
                <a:uFillTx/>
                <a:latin typeface="Calibri"/>
                <a:ea typeface="Calibri"/>
              </a:rPr>
              <a:t>(GUI + JS)</a:t>
            </a:r>
            <a:endParaRPr lang="pl-PL" sz="1400" b="0" u="none" strike="noStrike">
              <a:solidFill>
                <a:srgbClr val="000000"/>
              </a:solidFill>
              <a:effectLst/>
              <a:uFillTx/>
              <a:latin typeface="Arial"/>
            </a:endParaRPr>
          </a:p>
        </p:txBody>
      </p:sp>
      <p:sp>
        <p:nvSpPr>
          <p:cNvPr id="469" name="Text 222"/>
          <p:cNvSpPr/>
          <p:nvPr/>
        </p:nvSpPr>
        <p:spPr>
          <a:xfrm>
            <a:off x="3919680" y="3255840"/>
            <a:ext cx="1411200" cy="643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15000"/>
              </a:lnSpc>
              <a:tabLst>
                <a:tab pos="0" algn="l"/>
              </a:tabLst>
            </a:pPr>
            <a:r>
              <a:rPr lang="pl-PL" sz="1400" b="0" u="none" strike="noStrike">
                <a:solidFill>
                  <a:srgbClr val="4A5280"/>
                </a:solidFill>
                <a:effectLst/>
                <a:uFillTx/>
                <a:latin typeface="Calibri"/>
                <a:ea typeface="Calibri"/>
              </a:rPr>
              <a:t>Bezpłatny</a:t>
            </a:r>
            <a:endParaRPr lang="pl-PL" sz="1400" b="0" u="none" strike="noStrike">
              <a:solidFill>
                <a:srgbClr val="000000"/>
              </a:solidFill>
              <a:effectLst/>
              <a:uFillTx/>
              <a:latin typeface="Arial"/>
            </a:endParaRPr>
          </a:p>
          <a:p>
            <a:pPr defTabSz="914400">
              <a:lnSpc>
                <a:spcPct val="115000"/>
              </a:lnSpc>
              <a:tabLst>
                <a:tab pos="0" algn="l"/>
              </a:tabLst>
            </a:pPr>
            <a:r>
              <a:rPr lang="pl-PL" sz="1400" b="0" u="none" strike="noStrike">
                <a:solidFill>
                  <a:srgbClr val="4A5280"/>
                </a:solidFill>
                <a:effectLst/>
                <a:uFillTx/>
                <a:latin typeface="Calibri"/>
                <a:ea typeface="Calibri"/>
              </a:rPr>
              <a:t>(open source)</a:t>
            </a:r>
            <a:endParaRPr lang="pl-PL" sz="1400" b="0" u="none" strike="noStrike">
              <a:solidFill>
                <a:srgbClr val="000000"/>
              </a:solidFill>
              <a:effectLst/>
              <a:uFillTx/>
              <a:latin typeface="Arial"/>
            </a:endParaRPr>
          </a:p>
        </p:txBody>
      </p:sp>
      <p:sp>
        <p:nvSpPr>
          <p:cNvPr id="470" name="Text 223"/>
          <p:cNvSpPr/>
          <p:nvPr/>
        </p:nvSpPr>
        <p:spPr>
          <a:xfrm>
            <a:off x="5453280" y="3255840"/>
            <a:ext cx="1440000" cy="643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15000"/>
              </a:lnSpc>
              <a:tabLst>
                <a:tab pos="0" algn="l"/>
              </a:tabLst>
            </a:pPr>
            <a:r>
              <a:rPr lang="pl-PL" sz="1400" b="0" u="none" strike="noStrike">
                <a:solidFill>
                  <a:srgbClr val="1A1F3C"/>
                </a:solidFill>
                <a:effectLst/>
                <a:uFillTx/>
                <a:latin typeface="Calibri"/>
                <a:ea typeface="Calibri"/>
              </a:rPr>
              <a:t>Wysoka</a:t>
            </a:r>
            <a:endParaRPr lang="pl-PL" sz="1400" b="0" u="none" strike="noStrike">
              <a:solidFill>
                <a:srgbClr val="000000"/>
              </a:solidFill>
              <a:effectLst/>
              <a:uFillTx/>
              <a:latin typeface="Arial"/>
            </a:endParaRPr>
          </a:p>
        </p:txBody>
      </p:sp>
      <p:sp>
        <p:nvSpPr>
          <p:cNvPr id="471" name="Text 224"/>
          <p:cNvSpPr/>
          <p:nvPr/>
        </p:nvSpPr>
        <p:spPr>
          <a:xfrm>
            <a:off x="6796440" y="3255840"/>
            <a:ext cx="2818440" cy="643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15000"/>
              </a:lnSpc>
              <a:tabLst>
                <a:tab pos="0" algn="l"/>
              </a:tabLst>
            </a:pPr>
            <a:r>
              <a:rPr lang="pl-PL" sz="1300" b="0" u="none" strike="noStrike" dirty="0">
                <a:solidFill>
                  <a:srgbClr val="1A1F3C"/>
                </a:solidFill>
                <a:effectLst/>
                <a:uFillTx/>
                <a:latin typeface="Calibri"/>
                <a:ea typeface="Calibri"/>
              </a:rPr>
              <a:t>Alternatywa open-</a:t>
            </a:r>
            <a:r>
              <a:rPr lang="pl-PL" sz="1300" b="0" u="none" strike="noStrike" dirty="0" err="1">
                <a:solidFill>
                  <a:srgbClr val="1A1F3C"/>
                </a:solidFill>
                <a:effectLst/>
                <a:uFillTx/>
                <a:latin typeface="Calibri"/>
                <a:ea typeface="Calibri"/>
              </a:rPr>
              <a:t>source</a:t>
            </a:r>
            <a:r>
              <a:rPr lang="pl-PL" sz="1300" b="0" u="none" strike="noStrike" dirty="0">
                <a:solidFill>
                  <a:srgbClr val="1A1F3C"/>
                </a:solidFill>
                <a:effectLst/>
                <a:uFillTx/>
                <a:latin typeface="Calibri"/>
                <a:ea typeface="Calibri"/>
              </a:rPr>
              <a:t> z graficznym </a:t>
            </a:r>
            <a:r>
              <a:rPr lang="pl-PL" sz="1300" b="0" u="none" strike="noStrike" dirty="0" err="1">
                <a:solidFill>
                  <a:srgbClr val="1A1F3C"/>
                </a:solidFill>
                <a:effectLst/>
                <a:uFillTx/>
                <a:latin typeface="Calibri"/>
                <a:ea typeface="Calibri"/>
              </a:rPr>
              <a:t>builderem</a:t>
            </a:r>
            <a:r>
              <a:rPr lang="pl-PL" sz="1300" b="0" u="none" strike="noStrike" dirty="0">
                <a:solidFill>
                  <a:srgbClr val="1A1F3C"/>
                </a:solidFill>
                <a:effectLst/>
                <a:uFillTx/>
                <a:latin typeface="Calibri"/>
                <a:ea typeface="Calibri"/>
              </a:rPr>
              <a:t> i eksportem do </a:t>
            </a:r>
            <a:r>
              <a:rPr lang="pl-PL" sz="1300" b="0" u="none" strike="noStrike" dirty="0" err="1">
                <a:solidFill>
                  <a:srgbClr val="1A1F3C"/>
                </a:solidFill>
                <a:effectLst/>
                <a:uFillTx/>
                <a:latin typeface="Calibri"/>
                <a:ea typeface="Calibri"/>
              </a:rPr>
              <a:t>jsPsych</a:t>
            </a:r>
            <a:endParaRPr lang="pl-PL" sz="1300" b="0" u="none" strike="noStrike" dirty="0">
              <a:solidFill>
                <a:srgbClr val="000000"/>
              </a:solidFill>
              <a:effectLst/>
              <a:uFillTx/>
              <a:latin typeface="Arial"/>
            </a:endParaRPr>
          </a:p>
        </p:txBody>
      </p:sp>
      <p:sp>
        <p:nvSpPr>
          <p:cNvPr id="472" name="Shape 199"/>
          <p:cNvSpPr/>
          <p:nvPr/>
        </p:nvSpPr>
        <p:spPr>
          <a:xfrm>
            <a:off x="403200" y="3991680"/>
            <a:ext cx="9272520" cy="724320"/>
          </a:xfrm>
          <a:prstGeom prst="roundRect">
            <a:avLst>
              <a:gd name="adj" fmla="val 13889"/>
            </a:avLst>
          </a:prstGeom>
          <a:solidFill>
            <a:srgbClr val="F0F3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473" name="Shape 200"/>
          <p:cNvSpPr/>
          <p:nvPr/>
        </p:nvSpPr>
        <p:spPr>
          <a:xfrm>
            <a:off x="463320" y="4092480"/>
            <a:ext cx="1863360" cy="522720"/>
          </a:xfrm>
          <a:prstGeom prst="roundRect">
            <a:avLst>
              <a:gd name="adj" fmla="val 13462"/>
            </a:avLst>
          </a:prstGeom>
          <a:solidFill>
            <a:srgbClr val="2D7DD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74" name="Text 225"/>
          <p:cNvSpPr/>
          <p:nvPr/>
        </p:nvSpPr>
        <p:spPr>
          <a:xfrm>
            <a:off x="463320" y="4092480"/>
            <a:ext cx="186336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500" b="1" u="none" strike="noStrike">
                <a:solidFill>
                  <a:srgbClr val="FFFFFF"/>
                </a:solidFill>
                <a:effectLst/>
                <a:uFillTx/>
                <a:latin typeface="Cambria"/>
                <a:ea typeface="Cambria"/>
              </a:rPr>
              <a:t>Qualtrics</a:t>
            </a:r>
            <a:endParaRPr lang="pl-PL" sz="1500" b="0" u="none" strike="noStrike">
              <a:solidFill>
                <a:srgbClr val="000000"/>
              </a:solidFill>
              <a:effectLst/>
              <a:uFillTx/>
              <a:latin typeface="Arial"/>
            </a:endParaRPr>
          </a:p>
        </p:txBody>
      </p:sp>
      <p:sp>
        <p:nvSpPr>
          <p:cNvPr id="475" name="Text 226"/>
          <p:cNvSpPr/>
          <p:nvPr/>
        </p:nvSpPr>
        <p:spPr>
          <a:xfrm>
            <a:off x="2479680" y="4032360"/>
            <a:ext cx="1440000" cy="643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15000"/>
              </a:lnSpc>
              <a:tabLst>
                <a:tab pos="0" algn="l"/>
              </a:tabLst>
            </a:pPr>
            <a:r>
              <a:rPr lang="pl-PL" sz="1400" b="0" u="none" strike="noStrike">
                <a:solidFill>
                  <a:srgbClr val="4A5280"/>
                </a:solidFill>
                <a:effectLst/>
                <a:uFillTx/>
                <a:latin typeface="Calibri"/>
                <a:ea typeface="Calibri"/>
              </a:rPr>
              <a:t>Brak kodu</a:t>
            </a:r>
            <a:endParaRPr lang="pl-PL" sz="1400" b="0" u="none" strike="noStrike">
              <a:solidFill>
                <a:srgbClr val="000000"/>
              </a:solidFill>
              <a:effectLst/>
              <a:uFillTx/>
              <a:latin typeface="Arial"/>
            </a:endParaRPr>
          </a:p>
        </p:txBody>
      </p:sp>
      <p:sp>
        <p:nvSpPr>
          <p:cNvPr id="476" name="Text 227"/>
          <p:cNvSpPr/>
          <p:nvPr/>
        </p:nvSpPr>
        <p:spPr>
          <a:xfrm>
            <a:off x="3919680" y="4032360"/>
            <a:ext cx="1411200" cy="643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15000"/>
              </a:lnSpc>
              <a:tabLst>
                <a:tab pos="0" algn="l"/>
              </a:tabLst>
            </a:pPr>
            <a:r>
              <a:rPr lang="pl-PL" sz="1400" b="0" u="none" strike="noStrike">
                <a:solidFill>
                  <a:srgbClr val="4A5280"/>
                </a:solidFill>
                <a:effectLst/>
                <a:uFillTx/>
                <a:latin typeface="Calibri"/>
                <a:ea typeface="Calibri"/>
              </a:rPr>
              <a:t>Licencja</a:t>
            </a:r>
            <a:endParaRPr lang="pl-PL" sz="1400" b="0" u="none" strike="noStrike">
              <a:solidFill>
                <a:srgbClr val="000000"/>
              </a:solidFill>
              <a:effectLst/>
              <a:uFillTx/>
              <a:latin typeface="Arial"/>
            </a:endParaRPr>
          </a:p>
          <a:p>
            <a:pPr defTabSz="914400">
              <a:lnSpc>
                <a:spcPct val="115000"/>
              </a:lnSpc>
              <a:tabLst>
                <a:tab pos="0" algn="l"/>
              </a:tabLst>
            </a:pPr>
            <a:r>
              <a:rPr lang="pl-PL" sz="1400" b="0" u="none" strike="noStrike">
                <a:solidFill>
                  <a:srgbClr val="4A5280"/>
                </a:solidFill>
                <a:effectLst/>
                <a:uFillTx/>
                <a:latin typeface="Calibri"/>
                <a:ea typeface="Calibri"/>
              </a:rPr>
              <a:t>instytucjonalna</a:t>
            </a:r>
            <a:endParaRPr lang="pl-PL" sz="1400" b="0" u="none" strike="noStrike">
              <a:solidFill>
                <a:srgbClr val="000000"/>
              </a:solidFill>
              <a:effectLst/>
              <a:uFillTx/>
              <a:latin typeface="Arial"/>
            </a:endParaRPr>
          </a:p>
        </p:txBody>
      </p:sp>
      <p:sp>
        <p:nvSpPr>
          <p:cNvPr id="477" name="Text 228"/>
          <p:cNvSpPr/>
          <p:nvPr/>
        </p:nvSpPr>
        <p:spPr>
          <a:xfrm>
            <a:off x="5453280" y="4032360"/>
            <a:ext cx="1440000" cy="643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15000"/>
              </a:lnSpc>
              <a:tabLst>
                <a:tab pos="0" algn="l"/>
              </a:tabLst>
            </a:pPr>
            <a:r>
              <a:rPr lang="pl-PL" sz="1400" b="0" u="none" strike="noStrike">
                <a:solidFill>
                  <a:srgbClr val="1A1F3C"/>
                </a:solidFill>
                <a:effectLst/>
                <a:uFillTx/>
                <a:latin typeface="Calibri"/>
                <a:ea typeface="Calibri"/>
              </a:rPr>
              <a:t>Niska</a:t>
            </a:r>
            <a:endParaRPr lang="pl-PL" sz="1400" b="0" u="none" strike="noStrike">
              <a:solidFill>
                <a:srgbClr val="000000"/>
              </a:solidFill>
              <a:effectLst/>
              <a:uFillTx/>
              <a:latin typeface="Arial"/>
            </a:endParaRPr>
          </a:p>
        </p:txBody>
      </p:sp>
      <p:sp>
        <p:nvSpPr>
          <p:cNvPr id="478" name="Text 229"/>
          <p:cNvSpPr/>
          <p:nvPr/>
        </p:nvSpPr>
        <p:spPr>
          <a:xfrm>
            <a:off x="6796440" y="4032360"/>
            <a:ext cx="2818440" cy="643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15000"/>
              </a:lnSpc>
              <a:tabLst>
                <a:tab pos="0" algn="l"/>
              </a:tabLst>
            </a:pPr>
            <a:r>
              <a:rPr lang="pl-PL" sz="1300" b="0" u="none" strike="noStrike" dirty="0">
                <a:solidFill>
                  <a:srgbClr val="1A1F3C"/>
                </a:solidFill>
                <a:effectLst/>
                <a:uFillTx/>
                <a:latin typeface="Calibri"/>
                <a:ea typeface="Calibri"/>
              </a:rPr>
              <a:t>Kwestionariusze i proste procedury; </a:t>
            </a:r>
            <a:br>
              <a:rPr sz="1300" dirty="0"/>
            </a:br>
            <a:r>
              <a:rPr lang="pl-PL" sz="1300" b="0" u="none" strike="noStrike" dirty="0">
                <a:solidFill>
                  <a:srgbClr val="1A1F3C"/>
                </a:solidFill>
                <a:effectLst/>
                <a:uFillTx/>
                <a:latin typeface="Calibri"/>
                <a:ea typeface="Calibri"/>
              </a:rPr>
              <a:t>RT &lt; 20 ms - niezalecany</a:t>
            </a:r>
            <a:endParaRPr lang="pl-PL" sz="1300" b="0" u="none" strike="noStrike" dirty="0">
              <a:solidFill>
                <a:srgbClr val="000000"/>
              </a:solidFill>
              <a:effectLst/>
              <a:uFillTx/>
              <a:latin typeface="Arial"/>
            </a:endParaRPr>
          </a:p>
        </p:txBody>
      </p:sp>
      <p:sp>
        <p:nvSpPr>
          <p:cNvPr id="479" name="Shape 201"/>
          <p:cNvSpPr/>
          <p:nvPr/>
        </p:nvSpPr>
        <p:spPr>
          <a:xfrm>
            <a:off x="403200" y="4768200"/>
            <a:ext cx="9272520" cy="724320"/>
          </a:xfrm>
          <a:prstGeom prst="roundRect">
            <a:avLst>
              <a:gd name="adj" fmla="val 13889"/>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480" name="Shape 202"/>
          <p:cNvSpPr/>
          <p:nvPr/>
        </p:nvSpPr>
        <p:spPr>
          <a:xfrm>
            <a:off x="463320" y="4868640"/>
            <a:ext cx="1863360" cy="522720"/>
          </a:xfrm>
          <a:prstGeom prst="roundRect">
            <a:avLst>
              <a:gd name="adj" fmla="val 13462"/>
            </a:avLst>
          </a:prstGeom>
          <a:solidFill>
            <a:srgbClr val="3A9F6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81" name="Text 230"/>
          <p:cNvSpPr/>
          <p:nvPr/>
        </p:nvSpPr>
        <p:spPr>
          <a:xfrm>
            <a:off x="463320" y="4868640"/>
            <a:ext cx="186336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500" b="1" u="none" strike="noStrike">
                <a:solidFill>
                  <a:srgbClr val="FFFFFF"/>
                </a:solidFill>
                <a:effectLst/>
                <a:uFillTx/>
                <a:latin typeface="Cambria"/>
                <a:ea typeface="Cambria"/>
              </a:rPr>
              <a:t>jsPsych / HTML+JS</a:t>
            </a:r>
            <a:endParaRPr lang="pl-PL" sz="1500" b="0" u="none" strike="noStrike">
              <a:solidFill>
                <a:srgbClr val="000000"/>
              </a:solidFill>
              <a:effectLst/>
              <a:uFillTx/>
              <a:latin typeface="Arial"/>
            </a:endParaRPr>
          </a:p>
        </p:txBody>
      </p:sp>
      <p:sp>
        <p:nvSpPr>
          <p:cNvPr id="482" name="Text 231"/>
          <p:cNvSpPr/>
          <p:nvPr/>
        </p:nvSpPr>
        <p:spPr>
          <a:xfrm>
            <a:off x="2479680" y="4808520"/>
            <a:ext cx="1440000" cy="643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15000"/>
              </a:lnSpc>
              <a:tabLst>
                <a:tab pos="0" algn="l"/>
              </a:tabLst>
            </a:pPr>
            <a:r>
              <a:rPr lang="pl-PL" sz="1400" b="0" u="none" strike="noStrike">
                <a:solidFill>
                  <a:srgbClr val="4A5280"/>
                </a:solidFill>
                <a:effectLst/>
                <a:uFillTx/>
                <a:latin typeface="Calibri"/>
                <a:ea typeface="Calibri"/>
              </a:rPr>
              <a:t>Wysoki</a:t>
            </a:r>
            <a:endParaRPr lang="pl-PL" sz="1400" b="0" u="none" strike="noStrike">
              <a:solidFill>
                <a:srgbClr val="000000"/>
              </a:solidFill>
              <a:effectLst/>
              <a:uFillTx/>
              <a:latin typeface="Arial"/>
            </a:endParaRPr>
          </a:p>
          <a:p>
            <a:pPr defTabSz="914400">
              <a:lnSpc>
                <a:spcPct val="115000"/>
              </a:lnSpc>
              <a:tabLst>
                <a:tab pos="0" algn="l"/>
              </a:tabLst>
            </a:pPr>
            <a:r>
              <a:rPr lang="pl-PL" sz="1400" b="0" u="none" strike="noStrike">
                <a:solidFill>
                  <a:srgbClr val="4A5280"/>
                </a:solidFill>
                <a:effectLst/>
                <a:uFillTx/>
                <a:latin typeface="Calibri"/>
                <a:ea typeface="Calibri"/>
              </a:rPr>
              <a:t>(JavaScript)</a:t>
            </a:r>
            <a:endParaRPr lang="pl-PL" sz="1400" b="0" u="none" strike="noStrike">
              <a:solidFill>
                <a:srgbClr val="000000"/>
              </a:solidFill>
              <a:effectLst/>
              <a:uFillTx/>
              <a:latin typeface="Arial"/>
            </a:endParaRPr>
          </a:p>
        </p:txBody>
      </p:sp>
      <p:sp>
        <p:nvSpPr>
          <p:cNvPr id="483" name="Text 232"/>
          <p:cNvSpPr/>
          <p:nvPr/>
        </p:nvSpPr>
        <p:spPr>
          <a:xfrm>
            <a:off x="3919680" y="4808520"/>
            <a:ext cx="1411200" cy="643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15000"/>
              </a:lnSpc>
              <a:tabLst>
                <a:tab pos="0" algn="l"/>
              </a:tabLst>
            </a:pPr>
            <a:r>
              <a:rPr lang="pl-PL" sz="1400" b="0" u="none" strike="noStrike">
                <a:solidFill>
                  <a:srgbClr val="4A5280"/>
                </a:solidFill>
                <a:effectLst/>
                <a:uFillTx/>
                <a:latin typeface="Calibri"/>
                <a:ea typeface="Calibri"/>
              </a:rPr>
              <a:t>Bezpłatny</a:t>
            </a:r>
            <a:endParaRPr lang="pl-PL" sz="1400" b="0" u="none" strike="noStrike">
              <a:solidFill>
                <a:srgbClr val="000000"/>
              </a:solidFill>
              <a:effectLst/>
              <a:uFillTx/>
              <a:latin typeface="Arial"/>
            </a:endParaRPr>
          </a:p>
          <a:p>
            <a:pPr defTabSz="914400">
              <a:lnSpc>
                <a:spcPct val="115000"/>
              </a:lnSpc>
              <a:tabLst>
                <a:tab pos="0" algn="l"/>
              </a:tabLst>
            </a:pPr>
            <a:r>
              <a:rPr lang="pl-PL" sz="1400" b="0" u="none" strike="noStrike">
                <a:solidFill>
                  <a:srgbClr val="4A5280"/>
                </a:solidFill>
                <a:effectLst/>
                <a:uFillTx/>
                <a:latin typeface="Calibri"/>
                <a:ea typeface="Calibri"/>
              </a:rPr>
              <a:t>(open source)</a:t>
            </a:r>
            <a:endParaRPr lang="pl-PL" sz="1400" b="0" u="none" strike="noStrike">
              <a:solidFill>
                <a:srgbClr val="000000"/>
              </a:solidFill>
              <a:effectLst/>
              <a:uFillTx/>
              <a:latin typeface="Arial"/>
            </a:endParaRPr>
          </a:p>
        </p:txBody>
      </p:sp>
      <p:sp>
        <p:nvSpPr>
          <p:cNvPr id="484" name="Text 233"/>
          <p:cNvSpPr/>
          <p:nvPr/>
        </p:nvSpPr>
        <p:spPr>
          <a:xfrm>
            <a:off x="5453280" y="4808520"/>
            <a:ext cx="1440000" cy="643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15000"/>
              </a:lnSpc>
              <a:tabLst>
                <a:tab pos="0" algn="l"/>
              </a:tabLst>
            </a:pPr>
            <a:r>
              <a:rPr lang="pl-PL" sz="1400" b="0" u="none" strike="noStrike">
                <a:solidFill>
                  <a:srgbClr val="1A1F3C"/>
                </a:solidFill>
                <a:effectLst/>
                <a:uFillTx/>
                <a:latin typeface="Calibri"/>
                <a:ea typeface="Calibri"/>
              </a:rPr>
              <a:t>Pełna</a:t>
            </a:r>
            <a:endParaRPr lang="pl-PL" sz="1400" b="0" u="none" strike="noStrike">
              <a:solidFill>
                <a:srgbClr val="000000"/>
              </a:solidFill>
              <a:effectLst/>
              <a:uFillTx/>
              <a:latin typeface="Arial"/>
            </a:endParaRPr>
          </a:p>
        </p:txBody>
      </p:sp>
      <p:sp>
        <p:nvSpPr>
          <p:cNvPr id="485" name="Text 234"/>
          <p:cNvSpPr/>
          <p:nvPr/>
        </p:nvSpPr>
        <p:spPr>
          <a:xfrm>
            <a:off x="6796440" y="4808520"/>
            <a:ext cx="2818440" cy="643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15000"/>
              </a:lnSpc>
              <a:tabLst>
                <a:tab pos="0" algn="l"/>
              </a:tabLst>
            </a:pPr>
            <a:r>
              <a:rPr lang="pl-PL" sz="1300" b="0" u="none" strike="noStrike">
                <a:solidFill>
                  <a:srgbClr val="1A1F3C"/>
                </a:solidFill>
                <a:effectLst/>
                <a:uFillTx/>
                <a:latin typeface="Calibri"/>
                <a:ea typeface="Calibri"/>
              </a:rPr>
              <a:t>Niestandardowe paradygmaty, pełna kontrola nad timingiem i logiką</a:t>
            </a:r>
            <a:endParaRPr lang="pl-PL" sz="1300" b="0" u="none" strike="noStrike">
              <a:solidFill>
                <a:srgbClr val="000000"/>
              </a:solidFill>
              <a:effectLst/>
              <a:uFillTx/>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486" name="Shape 203"/>
          <p:cNvSpPr/>
          <p:nvPr/>
        </p:nvSpPr>
        <p:spPr>
          <a:xfrm>
            <a:off x="360" y="360"/>
            <a:ext cx="10079280" cy="1006560"/>
          </a:xfrm>
          <a:prstGeom prst="rect">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487" name="Text 235"/>
          <p:cNvSpPr/>
          <p:nvPr/>
        </p:nvSpPr>
        <p:spPr>
          <a:xfrm>
            <a:off x="453600" y="70560"/>
            <a:ext cx="9172080" cy="502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defTabSz="914400">
              <a:lnSpc>
                <a:spcPct val="100000"/>
              </a:lnSpc>
              <a:tabLst>
                <a:tab pos="0" algn="l"/>
              </a:tabLst>
            </a:pPr>
            <a:r>
              <a:rPr lang="pl-PL" sz="2200" b="1" u="none" strike="noStrike">
                <a:solidFill>
                  <a:srgbClr val="FFFFFF"/>
                </a:solidFill>
                <a:effectLst/>
                <a:uFillTx/>
                <a:latin typeface="Cambria"/>
                <a:ea typeface="Cambria"/>
              </a:rPr>
              <a:t>POMIAR CZASU REAKCJI JAKO PROBLEM TECHNICZNY</a:t>
            </a:r>
            <a:endParaRPr lang="pl-PL" sz="2200" b="0" u="none" strike="noStrike">
              <a:solidFill>
                <a:srgbClr val="000000"/>
              </a:solidFill>
              <a:effectLst/>
              <a:uFillTx/>
              <a:latin typeface="Arial"/>
            </a:endParaRPr>
          </a:p>
        </p:txBody>
      </p:sp>
      <p:sp>
        <p:nvSpPr>
          <p:cNvPr id="488" name="Text 236"/>
          <p:cNvSpPr/>
          <p:nvPr/>
        </p:nvSpPr>
        <p:spPr>
          <a:xfrm>
            <a:off x="453600" y="594720"/>
            <a:ext cx="9172080" cy="331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pl-PL" sz="1400" b="0" i="1" u="none" strike="noStrike">
                <a:solidFill>
                  <a:srgbClr val="CADCFC"/>
                </a:solidFill>
                <a:effectLst/>
                <a:uFillTx/>
                <a:latin typeface="Calibri"/>
                <a:ea typeface="Calibri"/>
              </a:rPr>
              <a:t>Skąd bierze się opóźnienie i jak je kontrolować?</a:t>
            </a:r>
            <a:endParaRPr lang="pl-PL" sz="1400" b="0" u="none" strike="noStrike">
              <a:solidFill>
                <a:srgbClr val="000000"/>
              </a:solidFill>
              <a:effectLst/>
              <a:uFillTx/>
              <a:latin typeface="Arial"/>
            </a:endParaRPr>
          </a:p>
        </p:txBody>
      </p:sp>
      <p:sp>
        <p:nvSpPr>
          <p:cNvPr id="489" name="Shape 204"/>
          <p:cNvSpPr/>
          <p:nvPr/>
        </p:nvSpPr>
        <p:spPr>
          <a:xfrm>
            <a:off x="403200" y="1326720"/>
            <a:ext cx="4937760" cy="684000"/>
          </a:xfrm>
          <a:prstGeom prst="roundRect">
            <a:avLst>
              <a:gd name="adj" fmla="val 11765"/>
            </a:avLst>
          </a:prstGeom>
          <a:solidFill>
            <a:srgbClr val="1E2761"/>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90" name="Text 237"/>
          <p:cNvSpPr/>
          <p:nvPr/>
        </p:nvSpPr>
        <p:spPr>
          <a:xfrm>
            <a:off x="524160" y="1367040"/>
            <a:ext cx="4736520" cy="341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800" b="1" u="none" strike="noStrike">
                <a:solidFill>
                  <a:srgbClr val="FFFFFF"/>
                </a:solidFill>
                <a:effectLst/>
                <a:uFillTx/>
                <a:latin typeface="Cambria"/>
                <a:ea typeface="Cambria"/>
              </a:rPr>
              <a:t>Klawiatura / mysz</a:t>
            </a:r>
            <a:endParaRPr lang="pl-PL" sz="1800" b="0" u="none" strike="noStrike">
              <a:solidFill>
                <a:srgbClr val="000000"/>
              </a:solidFill>
              <a:effectLst/>
              <a:uFillTx/>
              <a:latin typeface="Arial"/>
            </a:endParaRPr>
          </a:p>
        </p:txBody>
      </p:sp>
      <p:sp>
        <p:nvSpPr>
          <p:cNvPr id="491" name="Text 238"/>
          <p:cNvSpPr/>
          <p:nvPr/>
        </p:nvSpPr>
        <p:spPr>
          <a:xfrm>
            <a:off x="524160" y="1679520"/>
            <a:ext cx="4736520" cy="280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400" b="0" u="none" strike="noStrike">
                <a:solidFill>
                  <a:srgbClr val="CADCFC"/>
                </a:solidFill>
                <a:effectLst/>
                <a:uFillTx/>
                <a:latin typeface="Calibri"/>
                <a:ea typeface="Calibri"/>
              </a:rPr>
              <a:t>Polling rate: 125–1000 Hz  →  latencja 1–8 ms</a:t>
            </a:r>
            <a:endParaRPr lang="pl-PL" sz="1400" b="0" u="none" strike="noStrike">
              <a:solidFill>
                <a:srgbClr val="000000"/>
              </a:solidFill>
              <a:effectLst/>
              <a:uFillTx/>
              <a:latin typeface="Arial"/>
            </a:endParaRPr>
          </a:p>
        </p:txBody>
      </p:sp>
      <p:sp>
        <p:nvSpPr>
          <p:cNvPr id="492" name="Shape 205"/>
          <p:cNvSpPr/>
          <p:nvPr/>
        </p:nvSpPr>
        <p:spPr>
          <a:xfrm>
            <a:off x="2872800" y="2012160"/>
            <a:ext cx="360" cy="80640"/>
          </a:xfrm>
          <a:prstGeom prst="line">
            <a:avLst/>
          </a:prstGeom>
          <a:ln w="15240">
            <a:solidFill>
              <a:srgbClr val="8A93C0"/>
            </a:solidFill>
            <a:round/>
          </a:ln>
        </p:spPr>
        <p:style>
          <a:lnRef idx="0">
            <a:scrgbClr r="0" g="0" b="0"/>
          </a:lnRef>
          <a:fillRef idx="0">
            <a:scrgbClr r="0" g="0" b="0"/>
          </a:fillRef>
          <a:effectRef idx="0">
            <a:scrgbClr r="0" g="0" b="0"/>
          </a:effectRef>
          <a:fontRef idx="minor"/>
        </p:style>
        <p:txBody>
          <a:bodyPr lIns="90000" tIns="28080" rIns="90000" bIns="28080" anchor="t" anchorCtr="1">
            <a:noAutofit/>
          </a:bodyPr>
          <a:lstStyle/>
          <a:p>
            <a:endParaRPr lang="pl-PL" sz="1800" b="0" u="none" strike="noStrike">
              <a:solidFill>
                <a:srgbClr val="000000"/>
              </a:solidFill>
              <a:effectLst/>
              <a:uFillTx/>
              <a:latin typeface="Arial"/>
            </a:endParaRPr>
          </a:p>
        </p:txBody>
      </p:sp>
      <p:sp>
        <p:nvSpPr>
          <p:cNvPr id="493" name="Shape 206"/>
          <p:cNvSpPr/>
          <p:nvPr/>
        </p:nvSpPr>
        <p:spPr>
          <a:xfrm>
            <a:off x="403200" y="2112960"/>
            <a:ext cx="4937760" cy="684000"/>
          </a:xfrm>
          <a:prstGeom prst="roundRect">
            <a:avLst>
              <a:gd name="adj" fmla="val 11765"/>
            </a:avLst>
          </a:prstGeom>
          <a:solidFill>
            <a:srgbClr val="2D3B8E"/>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94" name="Text 239"/>
          <p:cNvSpPr/>
          <p:nvPr/>
        </p:nvSpPr>
        <p:spPr>
          <a:xfrm>
            <a:off x="524160" y="2153280"/>
            <a:ext cx="4736520" cy="341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800" b="1" u="none" strike="noStrike">
                <a:solidFill>
                  <a:srgbClr val="FFFFFF"/>
                </a:solidFill>
                <a:effectLst/>
                <a:uFillTx/>
                <a:latin typeface="Cambria"/>
                <a:ea typeface="Cambria"/>
              </a:rPr>
              <a:t>System operacyjny</a:t>
            </a:r>
            <a:endParaRPr lang="pl-PL" sz="1800" b="0" u="none" strike="noStrike">
              <a:solidFill>
                <a:srgbClr val="000000"/>
              </a:solidFill>
              <a:effectLst/>
              <a:uFillTx/>
              <a:latin typeface="Arial"/>
            </a:endParaRPr>
          </a:p>
        </p:txBody>
      </p:sp>
      <p:sp>
        <p:nvSpPr>
          <p:cNvPr id="495" name="Text 240"/>
          <p:cNvSpPr/>
          <p:nvPr/>
        </p:nvSpPr>
        <p:spPr>
          <a:xfrm>
            <a:off x="524160" y="2465760"/>
            <a:ext cx="4736520" cy="280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400" b="0" u="none" strike="noStrike">
                <a:solidFill>
                  <a:srgbClr val="CADCFC"/>
                </a:solidFill>
                <a:effectLst/>
                <a:uFillTx/>
                <a:latin typeface="Calibri"/>
                <a:ea typeface="Calibri"/>
              </a:rPr>
              <a:t>Scheduling przerwań, wielowątkowość  →  1–10 ms</a:t>
            </a:r>
            <a:endParaRPr lang="pl-PL" sz="1400" b="0" u="none" strike="noStrike">
              <a:solidFill>
                <a:srgbClr val="000000"/>
              </a:solidFill>
              <a:effectLst/>
              <a:uFillTx/>
              <a:latin typeface="Arial"/>
            </a:endParaRPr>
          </a:p>
        </p:txBody>
      </p:sp>
      <p:sp>
        <p:nvSpPr>
          <p:cNvPr id="496" name="Shape 207"/>
          <p:cNvSpPr/>
          <p:nvPr/>
        </p:nvSpPr>
        <p:spPr>
          <a:xfrm>
            <a:off x="2872800" y="2798400"/>
            <a:ext cx="360" cy="80640"/>
          </a:xfrm>
          <a:prstGeom prst="line">
            <a:avLst/>
          </a:prstGeom>
          <a:ln w="15240">
            <a:solidFill>
              <a:srgbClr val="8A93C0"/>
            </a:solidFill>
            <a:round/>
          </a:ln>
        </p:spPr>
        <p:style>
          <a:lnRef idx="0">
            <a:scrgbClr r="0" g="0" b="0"/>
          </a:lnRef>
          <a:fillRef idx="0">
            <a:scrgbClr r="0" g="0" b="0"/>
          </a:fillRef>
          <a:effectRef idx="0">
            <a:scrgbClr r="0" g="0" b="0"/>
          </a:effectRef>
          <a:fontRef idx="minor"/>
        </p:style>
        <p:txBody>
          <a:bodyPr lIns="90000" tIns="28080" rIns="90000" bIns="28080" anchor="t" anchorCtr="1">
            <a:noAutofit/>
          </a:bodyPr>
          <a:lstStyle/>
          <a:p>
            <a:endParaRPr lang="pl-PL" sz="1800" b="0" u="none" strike="noStrike">
              <a:solidFill>
                <a:srgbClr val="000000"/>
              </a:solidFill>
              <a:effectLst/>
              <a:uFillTx/>
              <a:latin typeface="Arial"/>
            </a:endParaRPr>
          </a:p>
        </p:txBody>
      </p:sp>
      <p:sp>
        <p:nvSpPr>
          <p:cNvPr id="497" name="Shape 208"/>
          <p:cNvSpPr/>
          <p:nvPr/>
        </p:nvSpPr>
        <p:spPr>
          <a:xfrm>
            <a:off x="403200" y="2899200"/>
            <a:ext cx="4937760" cy="684000"/>
          </a:xfrm>
          <a:prstGeom prst="roundRect">
            <a:avLst>
              <a:gd name="adj" fmla="val 11765"/>
            </a:avLst>
          </a:prstGeom>
          <a:solidFill>
            <a:srgbClr val="5B8FF9"/>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98" name="Text 241"/>
          <p:cNvSpPr/>
          <p:nvPr/>
        </p:nvSpPr>
        <p:spPr>
          <a:xfrm>
            <a:off x="524160" y="2939520"/>
            <a:ext cx="4736520" cy="341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800" b="1" u="none" strike="noStrike">
                <a:solidFill>
                  <a:srgbClr val="FFFFFF"/>
                </a:solidFill>
                <a:effectLst/>
                <a:uFillTx/>
                <a:latin typeface="Cambria"/>
                <a:ea typeface="Cambria"/>
              </a:rPr>
              <a:t>Przeglądarka</a:t>
            </a:r>
            <a:endParaRPr lang="pl-PL" sz="1800" b="0" u="none" strike="noStrike">
              <a:solidFill>
                <a:srgbClr val="000000"/>
              </a:solidFill>
              <a:effectLst/>
              <a:uFillTx/>
              <a:latin typeface="Arial"/>
            </a:endParaRPr>
          </a:p>
        </p:txBody>
      </p:sp>
      <p:sp>
        <p:nvSpPr>
          <p:cNvPr id="499" name="Text 242"/>
          <p:cNvSpPr/>
          <p:nvPr/>
        </p:nvSpPr>
        <p:spPr>
          <a:xfrm>
            <a:off x="524160" y="3252000"/>
            <a:ext cx="4736520" cy="280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400" b="0" u="none" strike="noStrike">
                <a:solidFill>
                  <a:srgbClr val="CADCFC"/>
                </a:solidFill>
                <a:effectLst/>
                <a:uFillTx/>
                <a:latin typeface="Calibri"/>
                <a:ea typeface="Calibri"/>
              </a:rPr>
              <a:t>Timer JS, brak synchronizacji z vsyncem  →  2–20 ms</a:t>
            </a:r>
            <a:endParaRPr lang="pl-PL" sz="1400" b="0" u="none" strike="noStrike">
              <a:solidFill>
                <a:srgbClr val="000000"/>
              </a:solidFill>
              <a:effectLst/>
              <a:uFillTx/>
              <a:latin typeface="Arial"/>
            </a:endParaRPr>
          </a:p>
        </p:txBody>
      </p:sp>
      <p:sp>
        <p:nvSpPr>
          <p:cNvPr id="500" name="Shape 209"/>
          <p:cNvSpPr/>
          <p:nvPr/>
        </p:nvSpPr>
        <p:spPr>
          <a:xfrm>
            <a:off x="2872800" y="3584640"/>
            <a:ext cx="360" cy="80640"/>
          </a:xfrm>
          <a:prstGeom prst="line">
            <a:avLst/>
          </a:prstGeom>
          <a:ln w="15240">
            <a:solidFill>
              <a:srgbClr val="8A93C0"/>
            </a:solidFill>
            <a:round/>
          </a:ln>
        </p:spPr>
        <p:style>
          <a:lnRef idx="0">
            <a:scrgbClr r="0" g="0" b="0"/>
          </a:lnRef>
          <a:fillRef idx="0">
            <a:scrgbClr r="0" g="0" b="0"/>
          </a:fillRef>
          <a:effectRef idx="0">
            <a:scrgbClr r="0" g="0" b="0"/>
          </a:effectRef>
          <a:fontRef idx="minor"/>
        </p:style>
        <p:txBody>
          <a:bodyPr lIns="90000" tIns="28080" rIns="90000" bIns="28080" anchor="t" anchorCtr="1">
            <a:noAutofit/>
          </a:bodyPr>
          <a:lstStyle/>
          <a:p>
            <a:endParaRPr lang="pl-PL" sz="1800" b="0" u="none" strike="noStrike">
              <a:solidFill>
                <a:srgbClr val="000000"/>
              </a:solidFill>
              <a:effectLst/>
              <a:uFillTx/>
              <a:latin typeface="Arial"/>
            </a:endParaRPr>
          </a:p>
        </p:txBody>
      </p:sp>
      <p:sp>
        <p:nvSpPr>
          <p:cNvPr id="501" name="Shape 210"/>
          <p:cNvSpPr/>
          <p:nvPr/>
        </p:nvSpPr>
        <p:spPr>
          <a:xfrm>
            <a:off x="403200" y="3685800"/>
            <a:ext cx="4937760" cy="684000"/>
          </a:xfrm>
          <a:prstGeom prst="roundRect">
            <a:avLst>
              <a:gd name="adj" fmla="val 11765"/>
            </a:avLst>
          </a:prstGeom>
          <a:solidFill>
            <a:srgbClr val="D64045"/>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502" name="Text 243"/>
          <p:cNvSpPr/>
          <p:nvPr/>
        </p:nvSpPr>
        <p:spPr>
          <a:xfrm>
            <a:off x="524160" y="3725760"/>
            <a:ext cx="4736520" cy="341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800" b="1" u="none" strike="noStrike">
                <a:solidFill>
                  <a:srgbClr val="FFFFFF"/>
                </a:solidFill>
                <a:effectLst/>
                <a:uFillTx/>
                <a:latin typeface="Cambria"/>
                <a:ea typeface="Cambria"/>
              </a:rPr>
              <a:t>Karta graficzna / ekran</a:t>
            </a:r>
            <a:endParaRPr lang="pl-PL" sz="1800" b="0" u="none" strike="noStrike">
              <a:solidFill>
                <a:srgbClr val="000000"/>
              </a:solidFill>
              <a:effectLst/>
              <a:uFillTx/>
              <a:latin typeface="Arial"/>
            </a:endParaRPr>
          </a:p>
        </p:txBody>
      </p:sp>
      <p:sp>
        <p:nvSpPr>
          <p:cNvPr id="503" name="Text 244"/>
          <p:cNvSpPr/>
          <p:nvPr/>
        </p:nvSpPr>
        <p:spPr>
          <a:xfrm>
            <a:off x="524160" y="4038600"/>
            <a:ext cx="4736520" cy="280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400" b="0" u="none" strike="noStrike">
                <a:solidFill>
                  <a:srgbClr val="FFCCCC"/>
                </a:solidFill>
                <a:effectLst/>
                <a:uFillTx/>
                <a:latin typeface="Calibri"/>
                <a:ea typeface="Calibri"/>
              </a:rPr>
              <a:t>Buforowanie klatek, jitter odświeżania  →  0–16,7 ms</a:t>
            </a:r>
            <a:endParaRPr lang="pl-PL" sz="1400" b="0" u="none" strike="noStrike">
              <a:solidFill>
                <a:srgbClr val="000000"/>
              </a:solidFill>
              <a:effectLst/>
              <a:uFillTx/>
              <a:latin typeface="Arial"/>
            </a:endParaRPr>
          </a:p>
        </p:txBody>
      </p:sp>
      <p:sp>
        <p:nvSpPr>
          <p:cNvPr id="504" name="Shape 211"/>
          <p:cNvSpPr/>
          <p:nvPr/>
        </p:nvSpPr>
        <p:spPr>
          <a:xfrm>
            <a:off x="2872800" y="4370880"/>
            <a:ext cx="360" cy="81000"/>
          </a:xfrm>
          <a:prstGeom prst="line">
            <a:avLst/>
          </a:prstGeom>
          <a:ln w="15240">
            <a:solidFill>
              <a:srgbClr val="8A93C0"/>
            </a:solidFill>
            <a:round/>
          </a:ln>
        </p:spPr>
        <p:style>
          <a:lnRef idx="0">
            <a:scrgbClr r="0" g="0" b="0"/>
          </a:lnRef>
          <a:fillRef idx="0">
            <a:scrgbClr r="0" g="0" b="0"/>
          </a:fillRef>
          <a:effectRef idx="0">
            <a:scrgbClr r="0" g="0" b="0"/>
          </a:effectRef>
          <a:fontRef idx="minor"/>
        </p:style>
        <p:txBody>
          <a:bodyPr lIns="90000" tIns="28440" rIns="90000" bIns="28440" anchor="t" anchorCtr="1">
            <a:noAutofit/>
          </a:bodyPr>
          <a:lstStyle/>
          <a:p>
            <a:endParaRPr lang="pl-PL" sz="1800" b="0" u="none" strike="noStrike">
              <a:solidFill>
                <a:srgbClr val="000000"/>
              </a:solidFill>
              <a:effectLst/>
              <a:uFillTx/>
              <a:latin typeface="Arial"/>
            </a:endParaRPr>
          </a:p>
        </p:txBody>
      </p:sp>
      <p:sp>
        <p:nvSpPr>
          <p:cNvPr id="505" name="Shape 212"/>
          <p:cNvSpPr/>
          <p:nvPr/>
        </p:nvSpPr>
        <p:spPr>
          <a:xfrm>
            <a:off x="403200" y="4472040"/>
            <a:ext cx="4937760" cy="684000"/>
          </a:xfrm>
          <a:prstGeom prst="roundRect">
            <a:avLst>
              <a:gd name="adj" fmla="val 11765"/>
            </a:avLst>
          </a:prstGeom>
          <a:solidFill>
            <a:srgbClr val="1A1F3C"/>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506" name="Text 245"/>
          <p:cNvSpPr/>
          <p:nvPr/>
        </p:nvSpPr>
        <p:spPr>
          <a:xfrm>
            <a:off x="524160" y="4512000"/>
            <a:ext cx="4736520" cy="341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800" b="1" u="none" strike="noStrike">
                <a:solidFill>
                  <a:srgbClr val="FFFFFF"/>
                </a:solidFill>
                <a:effectLst/>
                <a:uFillTx/>
                <a:latin typeface="Cambria"/>
                <a:ea typeface="Cambria"/>
              </a:rPr>
              <a:t>Pomiar łączny</a:t>
            </a:r>
            <a:endParaRPr lang="pl-PL" sz="1800" b="0" u="none" strike="noStrike">
              <a:solidFill>
                <a:srgbClr val="000000"/>
              </a:solidFill>
              <a:effectLst/>
              <a:uFillTx/>
              <a:latin typeface="Arial"/>
            </a:endParaRPr>
          </a:p>
        </p:txBody>
      </p:sp>
      <p:sp>
        <p:nvSpPr>
          <p:cNvPr id="507" name="Text 246"/>
          <p:cNvSpPr/>
          <p:nvPr/>
        </p:nvSpPr>
        <p:spPr>
          <a:xfrm>
            <a:off x="524160" y="4824840"/>
            <a:ext cx="4736520" cy="280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400" b="0" u="none" strike="noStrike">
                <a:solidFill>
                  <a:srgbClr val="CADCFC"/>
                </a:solidFill>
                <a:effectLst/>
                <a:uFillTx/>
                <a:latin typeface="Calibri"/>
                <a:ea typeface="Calibri"/>
              </a:rPr>
              <a:t>Jitter online typowo: 10–50+ ms</a:t>
            </a:r>
            <a:endParaRPr lang="pl-PL" sz="1400" b="0" u="none" strike="noStrike">
              <a:solidFill>
                <a:srgbClr val="000000"/>
              </a:solidFill>
              <a:effectLst/>
              <a:uFillTx/>
              <a:latin typeface="Arial"/>
            </a:endParaRPr>
          </a:p>
        </p:txBody>
      </p:sp>
      <p:sp>
        <p:nvSpPr>
          <p:cNvPr id="508" name="Shape 213"/>
          <p:cNvSpPr/>
          <p:nvPr/>
        </p:nvSpPr>
        <p:spPr>
          <a:xfrm>
            <a:off x="5695560" y="1326720"/>
            <a:ext cx="3980160" cy="1572480"/>
          </a:xfrm>
          <a:prstGeom prst="roundRect">
            <a:avLst>
              <a:gd name="adj" fmla="val 6250"/>
            </a:avLst>
          </a:prstGeom>
          <a:solidFill>
            <a:srgbClr val="EEF3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509" name="Text 247"/>
          <p:cNvSpPr/>
          <p:nvPr/>
        </p:nvSpPr>
        <p:spPr>
          <a:xfrm>
            <a:off x="5846760" y="1397280"/>
            <a:ext cx="3678120" cy="421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2000" b="1" u="none" strike="noStrike" dirty="0">
                <a:solidFill>
                  <a:srgbClr val="1E2761"/>
                </a:solidFill>
                <a:effectLst/>
                <a:uFillTx/>
                <a:latin typeface="Cambria"/>
                <a:ea typeface="Cambria"/>
              </a:rPr>
              <a:t>Laboratorium</a:t>
            </a:r>
            <a:endParaRPr lang="pl-PL" sz="2000" b="0" u="none" strike="noStrike" dirty="0">
              <a:solidFill>
                <a:srgbClr val="000000"/>
              </a:solidFill>
              <a:effectLst/>
              <a:uFillTx/>
              <a:latin typeface="Arial"/>
            </a:endParaRPr>
          </a:p>
        </p:txBody>
      </p:sp>
      <p:sp>
        <p:nvSpPr>
          <p:cNvPr id="510" name="Text 248"/>
          <p:cNvSpPr/>
          <p:nvPr/>
        </p:nvSpPr>
        <p:spPr>
          <a:xfrm>
            <a:off x="5846760" y="1780320"/>
            <a:ext cx="3678120" cy="1006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30000"/>
              </a:lnSpc>
              <a:tabLst>
                <a:tab pos="0" algn="l"/>
              </a:tabLst>
            </a:pPr>
            <a:r>
              <a:rPr lang="pl-PL" sz="1600" b="0" u="none" strike="noStrike">
                <a:solidFill>
                  <a:srgbClr val="1A1F3C"/>
                </a:solidFill>
                <a:effectLst/>
                <a:uFillTx/>
                <a:latin typeface="Calibri"/>
                <a:ea typeface="Calibri"/>
              </a:rPr>
              <a:t>&lt; 1 ms dokładności</a:t>
            </a:r>
            <a:endParaRPr lang="pl-PL" sz="1600" b="0" u="none" strike="noStrike">
              <a:solidFill>
                <a:srgbClr val="000000"/>
              </a:solidFill>
              <a:effectLst/>
              <a:uFillTx/>
              <a:latin typeface="Arial"/>
            </a:endParaRPr>
          </a:p>
          <a:p>
            <a:pPr defTabSz="914400">
              <a:lnSpc>
                <a:spcPct val="130000"/>
              </a:lnSpc>
              <a:tabLst>
                <a:tab pos="0" algn="l"/>
              </a:tabLst>
            </a:pPr>
            <a:r>
              <a:rPr lang="pl-PL" sz="1600" b="0" u="none" strike="noStrike">
                <a:solidFill>
                  <a:srgbClr val="1A1F3C"/>
                </a:solidFill>
                <a:effectLst/>
                <a:uFillTx/>
                <a:latin typeface="Calibri"/>
                <a:ea typeface="Calibri"/>
              </a:rPr>
              <a:t>PsychoPy + sprzęt specjalistyczny</a:t>
            </a:r>
            <a:endParaRPr lang="pl-PL" sz="1600" b="0" u="none" strike="noStrike">
              <a:solidFill>
                <a:srgbClr val="000000"/>
              </a:solidFill>
              <a:effectLst/>
              <a:uFillTx/>
              <a:latin typeface="Arial"/>
            </a:endParaRPr>
          </a:p>
          <a:p>
            <a:pPr defTabSz="914400">
              <a:lnSpc>
                <a:spcPct val="130000"/>
              </a:lnSpc>
              <a:tabLst>
                <a:tab pos="0" algn="l"/>
              </a:tabLst>
            </a:pPr>
            <a:r>
              <a:rPr lang="pl-PL" sz="1600" b="0" u="none" strike="noStrike">
                <a:solidFill>
                  <a:srgbClr val="1A1F3C"/>
                </a:solidFill>
                <a:effectLst/>
                <a:uFillTx/>
                <a:latin typeface="Calibri"/>
                <a:ea typeface="Calibri"/>
              </a:rPr>
              <a:t>Niezbędny dla RT &lt; 50 ms</a:t>
            </a:r>
            <a:endParaRPr lang="pl-PL" sz="1600" b="0" u="none" strike="noStrike">
              <a:solidFill>
                <a:srgbClr val="000000"/>
              </a:solidFill>
              <a:effectLst/>
              <a:uFillTx/>
              <a:latin typeface="Arial"/>
            </a:endParaRPr>
          </a:p>
        </p:txBody>
      </p:sp>
      <p:sp>
        <p:nvSpPr>
          <p:cNvPr id="511" name="Shape 214"/>
          <p:cNvSpPr/>
          <p:nvPr/>
        </p:nvSpPr>
        <p:spPr>
          <a:xfrm>
            <a:off x="5695560" y="3002400"/>
            <a:ext cx="3980160" cy="1451328"/>
          </a:xfrm>
          <a:prstGeom prst="roundRect">
            <a:avLst>
              <a:gd name="adj" fmla="val 6250"/>
            </a:avLst>
          </a:prstGeom>
          <a:solidFill>
            <a:srgbClr val="FFF0F0"/>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512" name="Text 249"/>
          <p:cNvSpPr/>
          <p:nvPr/>
        </p:nvSpPr>
        <p:spPr>
          <a:xfrm>
            <a:off x="5846760" y="3017628"/>
            <a:ext cx="3678120" cy="421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2000" b="1" u="none" strike="noStrike" dirty="0">
                <a:solidFill>
                  <a:srgbClr val="D64045"/>
                </a:solidFill>
                <a:effectLst/>
                <a:uFillTx/>
                <a:latin typeface="Cambria"/>
                <a:ea typeface="Cambria"/>
              </a:rPr>
              <a:t>Online </a:t>
            </a:r>
            <a:r>
              <a:rPr lang="pl-PL" sz="2000" u="none" strike="noStrike" dirty="0">
                <a:solidFill>
                  <a:srgbClr val="D64045"/>
                </a:solidFill>
                <a:effectLst/>
                <a:uFillTx/>
                <a:latin typeface="Cambria"/>
                <a:ea typeface="Cambria"/>
              </a:rPr>
              <a:t>(przeglądarka)</a:t>
            </a:r>
            <a:endParaRPr lang="pl-PL" sz="2000" u="none" strike="noStrike" dirty="0">
              <a:solidFill>
                <a:srgbClr val="000000"/>
              </a:solidFill>
              <a:effectLst/>
              <a:uFillTx/>
              <a:latin typeface="Arial"/>
            </a:endParaRPr>
          </a:p>
        </p:txBody>
      </p:sp>
      <p:sp>
        <p:nvSpPr>
          <p:cNvPr id="513" name="Text 250"/>
          <p:cNvSpPr/>
          <p:nvPr/>
        </p:nvSpPr>
        <p:spPr>
          <a:xfrm>
            <a:off x="5846760" y="3414628"/>
            <a:ext cx="3678120" cy="1006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20000"/>
              </a:lnSpc>
              <a:tabLst>
                <a:tab pos="0" algn="l"/>
              </a:tabLst>
            </a:pPr>
            <a:r>
              <a:rPr lang="pl-PL" sz="1600" b="0" u="none" strike="noStrike" dirty="0">
                <a:solidFill>
                  <a:srgbClr val="1A1F3C"/>
                </a:solidFill>
                <a:effectLst/>
                <a:uFillTx/>
                <a:latin typeface="Calibri"/>
                <a:ea typeface="Calibri"/>
              </a:rPr>
              <a:t>10–50+ ms </a:t>
            </a:r>
            <a:r>
              <a:rPr lang="pl-PL" sz="1600" b="0" u="none" strike="noStrike" dirty="0" err="1">
                <a:solidFill>
                  <a:srgbClr val="1A1F3C"/>
                </a:solidFill>
                <a:effectLst/>
                <a:uFillTx/>
                <a:latin typeface="Calibri"/>
                <a:ea typeface="Calibri"/>
              </a:rPr>
              <a:t>jitter</a:t>
            </a:r>
            <a:r>
              <a:rPr lang="pl-PL" sz="1600" b="0" u="none" strike="noStrike" dirty="0">
                <a:solidFill>
                  <a:srgbClr val="1A1F3C"/>
                </a:solidFill>
                <a:effectLst/>
                <a:uFillTx/>
                <a:latin typeface="Calibri"/>
                <a:ea typeface="Calibri"/>
              </a:rPr>
              <a:t> typowo</a:t>
            </a:r>
            <a:endParaRPr lang="pl-PL" sz="1600" b="0" u="none" strike="noStrike" dirty="0">
              <a:solidFill>
                <a:srgbClr val="000000"/>
              </a:solidFill>
              <a:effectLst/>
              <a:uFillTx/>
              <a:latin typeface="Arial"/>
            </a:endParaRPr>
          </a:p>
          <a:p>
            <a:pPr defTabSz="914400">
              <a:lnSpc>
                <a:spcPct val="120000"/>
              </a:lnSpc>
              <a:tabLst>
                <a:tab pos="0" algn="l"/>
              </a:tabLst>
            </a:pPr>
            <a:r>
              <a:rPr lang="pl-PL" sz="1600" b="0" u="none" strike="noStrike" dirty="0" err="1">
                <a:solidFill>
                  <a:srgbClr val="1A1F3C"/>
                </a:solidFill>
                <a:effectLst/>
                <a:uFillTx/>
                <a:latin typeface="Calibri"/>
                <a:ea typeface="Calibri"/>
              </a:rPr>
              <a:t>jsPsych</a:t>
            </a:r>
            <a:r>
              <a:rPr lang="pl-PL" sz="1600" b="0" u="none" strike="noStrike" dirty="0">
                <a:solidFill>
                  <a:srgbClr val="1A1F3C"/>
                </a:solidFill>
                <a:effectLst/>
                <a:uFillTx/>
                <a:latin typeface="Calibri"/>
                <a:ea typeface="Calibri"/>
              </a:rPr>
              <a:t> / </a:t>
            </a:r>
            <a:r>
              <a:rPr lang="pl-PL" sz="1600" b="0" u="none" strike="noStrike" dirty="0" err="1">
                <a:solidFill>
                  <a:srgbClr val="1A1F3C"/>
                </a:solidFill>
                <a:effectLst/>
                <a:uFillTx/>
                <a:latin typeface="Calibri"/>
                <a:ea typeface="Calibri"/>
              </a:rPr>
              <a:t>PsychoPy+Pavlovia</a:t>
            </a:r>
            <a:endParaRPr lang="pl-PL" sz="1600" b="0" u="none" strike="noStrike" dirty="0">
              <a:solidFill>
                <a:srgbClr val="000000"/>
              </a:solidFill>
              <a:effectLst/>
              <a:uFillTx/>
              <a:latin typeface="Arial"/>
            </a:endParaRPr>
          </a:p>
          <a:p>
            <a:pPr defTabSz="914400">
              <a:lnSpc>
                <a:spcPct val="120000"/>
              </a:lnSpc>
              <a:tabLst>
                <a:tab pos="0" algn="l"/>
              </a:tabLst>
            </a:pPr>
            <a:r>
              <a:rPr lang="pl-PL" sz="1600" b="0" u="none" strike="noStrike" dirty="0">
                <a:solidFill>
                  <a:srgbClr val="1A1F3C"/>
                </a:solidFill>
                <a:effectLst/>
                <a:uFillTx/>
                <a:latin typeface="Calibri"/>
                <a:ea typeface="Calibri"/>
              </a:rPr>
              <a:t>Niedopuszczalny dla RT &lt; 20 ms</a:t>
            </a:r>
            <a:endParaRPr lang="pl-PL" sz="1600" b="0" u="none" strike="noStrike" dirty="0">
              <a:solidFill>
                <a:srgbClr val="000000"/>
              </a:solidFill>
              <a:effectLst/>
              <a:uFillTx/>
              <a:latin typeface="Arial"/>
            </a:endParaRPr>
          </a:p>
        </p:txBody>
      </p:sp>
      <p:sp>
        <p:nvSpPr>
          <p:cNvPr id="514" name="Shape 215"/>
          <p:cNvSpPr/>
          <p:nvPr/>
        </p:nvSpPr>
        <p:spPr>
          <a:xfrm>
            <a:off x="5695560" y="4545228"/>
            <a:ext cx="3980160" cy="917052"/>
          </a:xfrm>
          <a:prstGeom prst="roundRect">
            <a:avLst>
              <a:gd name="adj" fmla="val 12195"/>
            </a:avLst>
          </a:prstGeom>
          <a:solidFill>
            <a:srgbClr val="F0FFF8"/>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515" name="Text 251"/>
          <p:cNvSpPr/>
          <p:nvPr/>
        </p:nvSpPr>
        <p:spPr>
          <a:xfrm>
            <a:off x="5785800" y="4524784"/>
            <a:ext cx="1208160" cy="421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2000" b="1" u="none" strike="noStrike" dirty="0">
                <a:solidFill>
                  <a:srgbClr val="3A9F6E"/>
                </a:solidFill>
                <a:effectLst/>
                <a:uFillTx/>
                <a:latin typeface="Cambria"/>
                <a:ea typeface="Cambria"/>
              </a:rPr>
              <a:t>Wniosek</a:t>
            </a:r>
            <a:endParaRPr lang="pl-PL" sz="2000" b="0" u="none" strike="noStrike" dirty="0">
              <a:solidFill>
                <a:srgbClr val="000000"/>
              </a:solidFill>
              <a:effectLst/>
              <a:uFillTx/>
              <a:latin typeface="Arial"/>
            </a:endParaRPr>
          </a:p>
        </p:txBody>
      </p:sp>
      <p:sp>
        <p:nvSpPr>
          <p:cNvPr id="516" name="Text 252"/>
          <p:cNvSpPr/>
          <p:nvPr/>
        </p:nvSpPr>
        <p:spPr>
          <a:xfrm>
            <a:off x="5825820" y="4885628"/>
            <a:ext cx="3678120" cy="534012"/>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15000"/>
              </a:lnSpc>
              <a:tabLst>
                <a:tab pos="0" algn="l"/>
              </a:tabLst>
            </a:pPr>
            <a:r>
              <a:rPr lang="pl-PL" sz="1500" b="0" u="none" strike="noStrike" dirty="0">
                <a:solidFill>
                  <a:srgbClr val="1A1F3C"/>
                </a:solidFill>
                <a:effectLst/>
                <a:uFillTx/>
                <a:latin typeface="Calibri"/>
                <a:ea typeface="Calibri"/>
              </a:rPr>
              <a:t>Paradygmaty wymagające precyzji &lt; 20 ms</a:t>
            </a:r>
            <a:endParaRPr lang="pl-PL" sz="1500" b="0" u="none" strike="noStrike" dirty="0">
              <a:solidFill>
                <a:srgbClr val="000000"/>
              </a:solidFill>
              <a:effectLst/>
              <a:uFillTx/>
              <a:latin typeface="Arial"/>
            </a:endParaRPr>
          </a:p>
          <a:p>
            <a:pPr defTabSz="914400">
              <a:lnSpc>
                <a:spcPct val="115000"/>
              </a:lnSpc>
              <a:tabLst>
                <a:tab pos="0" algn="l"/>
              </a:tabLst>
            </a:pPr>
            <a:r>
              <a:rPr lang="pl-PL" sz="1500" b="0" u="none" strike="noStrike" dirty="0">
                <a:solidFill>
                  <a:srgbClr val="1A1F3C"/>
                </a:solidFill>
                <a:effectLst/>
                <a:uFillTx/>
                <a:latin typeface="Calibri"/>
                <a:ea typeface="Calibri"/>
              </a:rPr>
              <a:t>nie nadają się do badań online.</a:t>
            </a:r>
            <a:endParaRPr lang="pl-PL" sz="1500" b="0" u="none" strike="noStrike" dirty="0">
              <a:solidFill>
                <a:srgbClr val="000000"/>
              </a:solidFill>
              <a:effectLst/>
              <a:uFillTx/>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99"/>
            <a:ext cx="10080625" cy="1008063"/>
          </a:xfrm>
          <a:prstGeom prst="rect">
            <a:avLst/>
          </a:prstGeom>
          <a:solidFill>
            <a:srgbClr val="1E2761"/>
          </a:solidFill>
          <a:ln w="12700">
            <a:solidFill>
              <a:srgbClr val="1E2761"/>
            </a:solidFill>
            <a:prstDash val="solid"/>
          </a:ln>
        </p:spPr>
      </p:sp>
      <p:sp>
        <p:nvSpPr>
          <p:cNvPr id="3" name="Text 1"/>
          <p:cNvSpPr/>
          <p:nvPr/>
        </p:nvSpPr>
        <p:spPr>
          <a:xfrm>
            <a:off x="453628" y="70664"/>
            <a:ext cx="9173369" cy="504031"/>
          </a:xfrm>
          <a:prstGeom prst="rect">
            <a:avLst/>
          </a:prstGeom>
          <a:noFill/>
          <a:ln/>
        </p:spPr>
        <p:txBody>
          <a:bodyPr wrap="square" rtlCol="0" anchor="b"/>
          <a:lstStyle/>
          <a:p>
            <a:r>
              <a:rPr lang="en-US" sz="2200" b="1" dirty="0">
                <a:solidFill>
                  <a:srgbClr val="FFFFFF"/>
                </a:solidFill>
                <a:latin typeface="Cambria" pitchFamily="34" charset="0"/>
                <a:ea typeface="Cambria" pitchFamily="34" charset="-122"/>
                <a:cs typeface="Cambria" pitchFamily="34" charset="-120"/>
              </a:rPr>
              <a:t>TRAFNOŚĆ I RZETELNOŚĆ POMIARU CYFROWEGO</a:t>
            </a:r>
            <a:endParaRPr lang="en-US" sz="2200" dirty="0"/>
          </a:p>
        </p:txBody>
      </p:sp>
      <p:sp>
        <p:nvSpPr>
          <p:cNvPr id="4" name="Text 2"/>
          <p:cNvSpPr/>
          <p:nvPr/>
        </p:nvSpPr>
        <p:spPr>
          <a:xfrm>
            <a:off x="453628" y="594856"/>
            <a:ext cx="9173369" cy="332661"/>
          </a:xfrm>
          <a:prstGeom prst="rect">
            <a:avLst/>
          </a:prstGeom>
          <a:noFill/>
          <a:ln/>
        </p:spPr>
        <p:txBody>
          <a:bodyPr wrap="square" rtlCol="0" anchor="t"/>
          <a:lstStyle/>
          <a:p>
            <a:r>
              <a:rPr lang="en-US" sz="1400" i="1" dirty="0">
                <a:solidFill>
                  <a:srgbClr val="CADCFC"/>
                </a:solidFill>
                <a:latin typeface="Calibri" pitchFamily="34" charset="0"/>
                <a:ea typeface="Calibri" pitchFamily="34" charset="-122"/>
                <a:cs typeface="Calibri" pitchFamily="34" charset="-120"/>
              </a:rPr>
              <a:t>Wysoka rozdzielczość danych ≠ trafny pomiar konstruktu</a:t>
            </a:r>
            <a:endParaRPr lang="en-US" sz="1400" dirty="0"/>
          </a:p>
        </p:txBody>
      </p:sp>
      <p:sp>
        <p:nvSpPr>
          <p:cNvPr id="5" name="Shape 3"/>
          <p:cNvSpPr/>
          <p:nvPr/>
        </p:nvSpPr>
        <p:spPr>
          <a:xfrm>
            <a:off x="403224" y="1108969"/>
            <a:ext cx="4637088" cy="3756198"/>
          </a:xfrm>
          <a:prstGeom prst="roundRect">
            <a:avLst>
              <a:gd name="adj" fmla="val 2618"/>
            </a:avLst>
          </a:prstGeom>
          <a:solidFill>
            <a:srgbClr val="FFFFFF"/>
          </a:solidFill>
          <a:ln/>
          <a:effectLst>
            <a:outerShdw blurRad="76200" dist="25400" dir="2700000" algn="bl" rotWithShape="0">
              <a:srgbClr val="000000">
                <a:alpha val="8000"/>
              </a:srgbClr>
            </a:outerShdw>
          </a:effectLst>
        </p:spPr>
      </p:sp>
      <p:sp>
        <p:nvSpPr>
          <p:cNvPr id="6" name="Text 4"/>
          <p:cNvSpPr/>
          <p:nvPr/>
        </p:nvSpPr>
        <p:spPr>
          <a:xfrm>
            <a:off x="453628" y="1144250"/>
            <a:ext cx="4233863" cy="302419"/>
          </a:xfrm>
          <a:prstGeom prst="rect">
            <a:avLst/>
          </a:prstGeom>
          <a:noFill/>
          <a:ln/>
        </p:spPr>
        <p:txBody>
          <a:bodyPr wrap="square" rtlCol="0" anchor="ctr"/>
          <a:lstStyle/>
          <a:p>
            <a:r>
              <a:rPr lang="en-US" sz="1600" b="1" dirty="0">
                <a:solidFill>
                  <a:srgbClr val="1E2761"/>
                </a:solidFill>
                <a:latin typeface="Cambria" pitchFamily="34" charset="0"/>
                <a:ea typeface="Cambria" pitchFamily="34" charset="-122"/>
                <a:cs typeface="Cambria" pitchFamily="34" charset="-120"/>
              </a:rPr>
              <a:t>Precyzja techniczna vs trafność</a:t>
            </a:r>
            <a:endParaRPr lang="en-US" sz="1600" dirty="0"/>
          </a:p>
        </p:txBody>
      </p:sp>
      <p:sp>
        <p:nvSpPr>
          <p:cNvPr id="11" name="Text 9"/>
          <p:cNvSpPr/>
          <p:nvPr/>
        </p:nvSpPr>
        <p:spPr>
          <a:xfrm>
            <a:off x="352821" y="1582757"/>
            <a:ext cx="907257" cy="504031"/>
          </a:xfrm>
          <a:prstGeom prst="rect">
            <a:avLst/>
          </a:prstGeom>
          <a:noFill/>
          <a:ln/>
        </p:spPr>
        <p:txBody>
          <a:bodyPr wrap="square" rtlCol="0" anchor="ctr"/>
          <a:lstStyle/>
          <a:p>
            <a:r>
              <a:rPr lang="en-US" sz="1000" dirty="0">
                <a:solidFill>
                  <a:srgbClr val="4A5280"/>
                </a:solidFill>
                <a:latin typeface="Calibri" pitchFamily="34" charset="0"/>
                <a:ea typeface="Calibri" pitchFamily="34" charset="-122"/>
                <a:cs typeface="Calibri" pitchFamily="34" charset="-120"/>
              </a:rPr>
              <a:t>trafność</a:t>
            </a:r>
            <a:endParaRPr lang="en-US" sz="1000" dirty="0"/>
          </a:p>
          <a:p>
            <a:r>
              <a:rPr lang="en-US" sz="1000" dirty="0">
                <a:solidFill>
                  <a:srgbClr val="4A5280"/>
                </a:solidFill>
                <a:latin typeface="Calibri" pitchFamily="34" charset="0"/>
                <a:ea typeface="Calibri" pitchFamily="34" charset="-122"/>
                <a:cs typeface="Calibri" pitchFamily="34" charset="-120"/>
              </a:rPr>
              <a:t>konstruktowa ↑</a:t>
            </a:r>
            <a:endParaRPr lang="en-US" sz="1000" dirty="0"/>
          </a:p>
        </p:txBody>
      </p:sp>
      <p:grpSp>
        <p:nvGrpSpPr>
          <p:cNvPr id="39" name="Grupa 38"/>
          <p:cNvGrpSpPr/>
          <p:nvPr/>
        </p:nvGrpSpPr>
        <p:grpSpPr>
          <a:xfrm>
            <a:off x="1237594" y="1489313"/>
            <a:ext cx="3673347" cy="3316526"/>
            <a:chOff x="1254641" y="1633160"/>
            <a:chExt cx="3427412" cy="3316526"/>
          </a:xfrm>
        </p:grpSpPr>
        <p:sp>
          <p:nvSpPr>
            <p:cNvPr id="7" name="Shape 5"/>
            <p:cNvSpPr/>
            <p:nvPr/>
          </p:nvSpPr>
          <p:spPr>
            <a:xfrm>
              <a:off x="1254641" y="1633160"/>
              <a:ext cx="0" cy="3024188"/>
            </a:xfrm>
            <a:prstGeom prst="line">
              <a:avLst/>
            </a:prstGeom>
            <a:noFill/>
            <a:ln w="15240">
              <a:solidFill>
                <a:srgbClr val="1A1F3C"/>
              </a:solidFill>
              <a:prstDash val="solid"/>
            </a:ln>
          </p:spPr>
        </p:sp>
        <p:sp>
          <p:nvSpPr>
            <p:cNvPr id="8" name="Shape 6"/>
            <p:cNvSpPr/>
            <p:nvPr/>
          </p:nvSpPr>
          <p:spPr>
            <a:xfrm>
              <a:off x="1254641" y="4657348"/>
              <a:ext cx="3326606" cy="0"/>
            </a:xfrm>
            <a:prstGeom prst="line">
              <a:avLst/>
            </a:prstGeom>
            <a:noFill/>
            <a:ln w="15240">
              <a:solidFill>
                <a:srgbClr val="1A1F3C"/>
              </a:solidFill>
              <a:prstDash val="solid"/>
            </a:ln>
          </p:spPr>
        </p:sp>
        <p:sp>
          <p:nvSpPr>
            <p:cNvPr id="9" name="Shape 7"/>
            <p:cNvSpPr/>
            <p:nvPr/>
          </p:nvSpPr>
          <p:spPr>
            <a:xfrm>
              <a:off x="1254641" y="3145254"/>
              <a:ext cx="3326606" cy="0"/>
            </a:xfrm>
            <a:prstGeom prst="line">
              <a:avLst/>
            </a:prstGeom>
            <a:noFill/>
            <a:ln w="12700">
              <a:solidFill>
                <a:srgbClr val="D8DCEE"/>
              </a:solidFill>
              <a:prstDash val="dash"/>
            </a:ln>
          </p:spPr>
        </p:sp>
        <p:sp>
          <p:nvSpPr>
            <p:cNvPr id="10" name="Shape 8"/>
            <p:cNvSpPr/>
            <p:nvPr/>
          </p:nvSpPr>
          <p:spPr>
            <a:xfrm>
              <a:off x="2917944" y="1633160"/>
              <a:ext cx="0" cy="3024188"/>
            </a:xfrm>
            <a:prstGeom prst="line">
              <a:avLst/>
            </a:prstGeom>
            <a:noFill/>
            <a:ln w="12700">
              <a:solidFill>
                <a:srgbClr val="D8DCEE"/>
              </a:solidFill>
              <a:prstDash val="dash"/>
            </a:ln>
          </p:spPr>
        </p:sp>
        <p:sp>
          <p:nvSpPr>
            <p:cNvPr id="12" name="Text 10"/>
            <p:cNvSpPr/>
            <p:nvPr/>
          </p:nvSpPr>
          <p:spPr>
            <a:xfrm>
              <a:off x="2968347" y="4697670"/>
              <a:ext cx="1713706" cy="252016"/>
            </a:xfrm>
            <a:prstGeom prst="rect">
              <a:avLst/>
            </a:prstGeom>
            <a:noFill/>
            <a:ln/>
          </p:spPr>
          <p:txBody>
            <a:bodyPr wrap="square" rtlCol="0" anchor="ctr"/>
            <a:lstStyle/>
            <a:p>
              <a:pPr algn="r"/>
              <a:r>
                <a:rPr lang="en-US" sz="1000" dirty="0">
                  <a:solidFill>
                    <a:srgbClr val="4A5280"/>
                  </a:solidFill>
                  <a:latin typeface="Calibri" pitchFamily="34" charset="0"/>
                  <a:ea typeface="Calibri" pitchFamily="34" charset="-122"/>
                  <a:cs typeface="Calibri" pitchFamily="34" charset="-120"/>
                </a:rPr>
                <a:t>precyzja techniczna →</a:t>
              </a:r>
              <a:endParaRPr lang="en-US" sz="1000" dirty="0"/>
            </a:p>
          </p:txBody>
        </p:sp>
        <p:sp>
          <p:nvSpPr>
            <p:cNvPr id="13" name="Shape 11"/>
            <p:cNvSpPr/>
            <p:nvPr/>
          </p:nvSpPr>
          <p:spPr>
            <a:xfrm>
              <a:off x="1355447" y="1733967"/>
              <a:ext cx="1512094" cy="1360884"/>
            </a:xfrm>
            <a:prstGeom prst="roundRect">
              <a:avLst>
                <a:gd name="adj" fmla="val 4444"/>
              </a:avLst>
            </a:prstGeom>
            <a:solidFill>
              <a:srgbClr val="FFF3CD"/>
            </a:solidFill>
            <a:ln/>
          </p:spPr>
        </p:sp>
        <p:sp>
          <p:nvSpPr>
            <p:cNvPr id="14" name="Text 12"/>
            <p:cNvSpPr/>
            <p:nvPr/>
          </p:nvSpPr>
          <p:spPr>
            <a:xfrm>
              <a:off x="1355447" y="1733967"/>
              <a:ext cx="1512093" cy="1360884"/>
            </a:xfrm>
            <a:prstGeom prst="rect">
              <a:avLst/>
            </a:prstGeom>
            <a:noFill/>
            <a:ln/>
          </p:spPr>
          <p:txBody>
            <a:bodyPr wrap="square" rtlCol="0" anchor="ctr"/>
            <a:lstStyle/>
            <a:p>
              <a:pPr algn="ctr">
                <a:lnSpc>
                  <a:spcPct val="115000"/>
                </a:lnSpc>
              </a:pPr>
              <a:r>
                <a:rPr lang="pl-PL" sz="1600" b="1" spc="-40" dirty="0">
                  <a:solidFill>
                    <a:srgbClr val="7B4F00"/>
                  </a:solidFill>
                  <a:latin typeface="+mj-lt"/>
                  <a:ea typeface="Calibri" pitchFamily="34" charset="-122"/>
                  <a:cs typeface="Calibri" pitchFamily="34" charset="-120"/>
                </a:rPr>
                <a:t>Rzetelna miara</a:t>
              </a:r>
            </a:p>
            <a:p>
              <a:pPr algn="ctr">
                <a:lnSpc>
                  <a:spcPct val="115000"/>
                </a:lnSpc>
              </a:pPr>
              <a:r>
                <a:rPr lang="pl-PL" sz="1600" b="1" spc="-40" dirty="0">
                  <a:solidFill>
                    <a:srgbClr val="7B4F00"/>
                  </a:solidFill>
                  <a:latin typeface="+mj-lt"/>
                  <a:ea typeface="Calibri" pitchFamily="34" charset="-122"/>
                  <a:cs typeface="Calibri" pitchFamily="34" charset="-120"/>
                </a:rPr>
                <a:t>bez wystarczającej trafności</a:t>
              </a:r>
            </a:p>
          </p:txBody>
        </p:sp>
        <p:sp>
          <p:nvSpPr>
            <p:cNvPr id="15" name="Shape 13"/>
            <p:cNvSpPr/>
            <p:nvPr/>
          </p:nvSpPr>
          <p:spPr>
            <a:xfrm>
              <a:off x="2968347" y="1733967"/>
              <a:ext cx="1512094" cy="1360884"/>
            </a:xfrm>
            <a:prstGeom prst="roundRect">
              <a:avLst>
                <a:gd name="adj" fmla="val 4444"/>
              </a:avLst>
            </a:prstGeom>
            <a:solidFill>
              <a:srgbClr val="E6F7EF"/>
            </a:solidFill>
            <a:ln/>
          </p:spPr>
        </p:sp>
        <p:sp>
          <p:nvSpPr>
            <p:cNvPr id="16" name="Text 14"/>
            <p:cNvSpPr/>
            <p:nvPr/>
          </p:nvSpPr>
          <p:spPr>
            <a:xfrm>
              <a:off x="3018750" y="1733967"/>
              <a:ext cx="1411288" cy="1360884"/>
            </a:xfrm>
            <a:prstGeom prst="rect">
              <a:avLst/>
            </a:prstGeom>
            <a:noFill/>
            <a:ln/>
          </p:spPr>
          <p:txBody>
            <a:bodyPr wrap="square" rtlCol="0" anchor="ctr"/>
            <a:lstStyle/>
            <a:p>
              <a:pPr algn="ctr">
                <a:lnSpc>
                  <a:spcPct val="115000"/>
                </a:lnSpc>
              </a:pPr>
              <a:r>
                <a:rPr lang="en-US" sz="1600" b="1" dirty="0">
                  <a:solidFill>
                    <a:srgbClr val="3A9F6E"/>
                  </a:solidFill>
                  <a:latin typeface="+mj-lt"/>
                  <a:ea typeface="Calibri" pitchFamily="34" charset="-122"/>
                  <a:cs typeface="Calibri" pitchFamily="34" charset="-120"/>
                </a:rPr>
                <a:t>Zwalidowane</a:t>
              </a:r>
              <a:endParaRPr lang="en-US" sz="1600" b="1" dirty="0">
                <a:latin typeface="+mj-lt"/>
              </a:endParaRPr>
            </a:p>
            <a:p>
              <a:pPr algn="ctr">
                <a:lnSpc>
                  <a:spcPct val="115000"/>
                </a:lnSpc>
              </a:pPr>
              <a:r>
                <a:rPr lang="en-US" sz="1600" b="1" dirty="0">
                  <a:solidFill>
                    <a:srgbClr val="3A9F6E"/>
                  </a:solidFill>
                  <a:latin typeface="+mj-lt"/>
                  <a:ea typeface="Calibri" pitchFamily="34" charset="-122"/>
                  <a:cs typeface="Calibri" pitchFamily="34" charset="-120"/>
                </a:rPr>
                <a:t>narzędzie referencyjne</a:t>
              </a:r>
              <a:endParaRPr lang="en-US" sz="1600" b="1" dirty="0">
                <a:latin typeface="+mj-lt"/>
              </a:endParaRPr>
            </a:p>
          </p:txBody>
        </p:sp>
        <p:sp>
          <p:nvSpPr>
            <p:cNvPr id="17" name="Shape 15"/>
            <p:cNvSpPr/>
            <p:nvPr/>
          </p:nvSpPr>
          <p:spPr>
            <a:xfrm>
              <a:off x="1355447" y="3195658"/>
              <a:ext cx="1512094" cy="1360884"/>
            </a:xfrm>
            <a:prstGeom prst="roundRect">
              <a:avLst>
                <a:gd name="adj" fmla="val 4444"/>
              </a:avLst>
            </a:prstGeom>
            <a:solidFill>
              <a:srgbClr val="FBE7E7"/>
            </a:solidFill>
            <a:ln/>
          </p:spPr>
        </p:sp>
        <p:sp>
          <p:nvSpPr>
            <p:cNvPr id="18" name="Text 16"/>
            <p:cNvSpPr/>
            <p:nvPr/>
          </p:nvSpPr>
          <p:spPr>
            <a:xfrm>
              <a:off x="1355447" y="3195658"/>
              <a:ext cx="1512093" cy="1360884"/>
            </a:xfrm>
            <a:prstGeom prst="rect">
              <a:avLst/>
            </a:prstGeom>
            <a:noFill/>
            <a:ln/>
          </p:spPr>
          <p:txBody>
            <a:bodyPr wrap="square" rtlCol="0" anchor="ctr"/>
            <a:lstStyle/>
            <a:p>
              <a:pPr algn="ctr">
                <a:lnSpc>
                  <a:spcPct val="115000"/>
                </a:lnSpc>
              </a:pPr>
              <a:r>
                <a:rPr lang="en-US" sz="1600" b="1" dirty="0">
                  <a:solidFill>
                    <a:srgbClr val="D64045"/>
                  </a:solidFill>
                  <a:latin typeface="+mj-lt"/>
                  <a:ea typeface="Calibri" pitchFamily="34" charset="-122"/>
                  <a:cs typeface="Calibri" pitchFamily="34" charset="-120"/>
                </a:rPr>
                <a:t>Tani czujnik</a:t>
              </a:r>
              <a:endParaRPr lang="en-US" sz="1600" b="1" dirty="0">
                <a:latin typeface="+mj-lt"/>
              </a:endParaRPr>
            </a:p>
            <a:p>
              <a:pPr algn="ctr">
                <a:lnSpc>
                  <a:spcPct val="115000"/>
                </a:lnSpc>
              </a:pPr>
              <a:r>
                <a:rPr lang="en-US" sz="1600" b="1" dirty="0">
                  <a:solidFill>
                    <a:srgbClr val="D64045"/>
                  </a:solidFill>
                  <a:latin typeface="+mj-lt"/>
                  <a:ea typeface="Calibri" pitchFamily="34" charset="-122"/>
                  <a:cs typeface="Calibri" pitchFamily="34" charset="-120"/>
                </a:rPr>
                <a:t>bez walidacji</a:t>
              </a:r>
              <a:endParaRPr lang="en-US" sz="1600" b="1" dirty="0">
                <a:latin typeface="+mj-lt"/>
              </a:endParaRPr>
            </a:p>
          </p:txBody>
        </p:sp>
        <p:sp>
          <p:nvSpPr>
            <p:cNvPr id="19" name="Shape 17"/>
            <p:cNvSpPr/>
            <p:nvPr/>
          </p:nvSpPr>
          <p:spPr>
            <a:xfrm>
              <a:off x="2968347" y="3195658"/>
              <a:ext cx="1512094" cy="1360884"/>
            </a:xfrm>
            <a:prstGeom prst="roundRect">
              <a:avLst>
                <a:gd name="adj" fmla="val 4444"/>
              </a:avLst>
            </a:prstGeom>
            <a:solidFill>
              <a:srgbClr val="EAEDFB"/>
            </a:solidFill>
            <a:ln/>
          </p:spPr>
        </p:sp>
        <p:sp>
          <p:nvSpPr>
            <p:cNvPr id="20" name="Text 18"/>
            <p:cNvSpPr/>
            <p:nvPr/>
          </p:nvSpPr>
          <p:spPr>
            <a:xfrm>
              <a:off x="3018750" y="3195658"/>
              <a:ext cx="1411288" cy="1360884"/>
            </a:xfrm>
            <a:prstGeom prst="rect">
              <a:avLst/>
            </a:prstGeom>
            <a:noFill/>
            <a:ln/>
          </p:spPr>
          <p:txBody>
            <a:bodyPr wrap="square" rtlCol="0" anchor="ctr"/>
            <a:lstStyle/>
            <a:p>
              <a:pPr algn="ctr">
                <a:lnSpc>
                  <a:spcPct val="115000"/>
                </a:lnSpc>
              </a:pPr>
              <a:r>
                <a:rPr lang="en-US" sz="1600" b="1" dirty="0">
                  <a:solidFill>
                    <a:srgbClr val="1E2761"/>
                  </a:solidFill>
                  <a:latin typeface="+mj-lt"/>
                  <a:ea typeface="Calibri" pitchFamily="34" charset="-122"/>
                  <a:cs typeface="Calibri" pitchFamily="34" charset="-120"/>
                </a:rPr>
                <a:t>Dobry sprzęt,</a:t>
              </a:r>
              <a:endParaRPr lang="en-US" sz="1600" b="1" dirty="0">
                <a:latin typeface="+mj-lt"/>
              </a:endParaRPr>
            </a:p>
            <a:p>
              <a:pPr algn="ctr">
                <a:lnSpc>
                  <a:spcPct val="115000"/>
                </a:lnSpc>
              </a:pPr>
              <a:r>
                <a:rPr lang="en-US" sz="1600" b="1" dirty="0">
                  <a:solidFill>
                    <a:srgbClr val="1E2761"/>
                  </a:solidFill>
                  <a:latin typeface="+mj-lt"/>
                  <a:ea typeface="Calibri" pitchFamily="34" charset="-122"/>
                  <a:cs typeface="Calibri" pitchFamily="34" charset="-120"/>
                </a:rPr>
                <a:t>pominięta walidacja</a:t>
              </a:r>
              <a:endParaRPr lang="en-US" sz="1600" b="1" dirty="0">
                <a:latin typeface="+mj-lt"/>
              </a:endParaRPr>
            </a:p>
          </p:txBody>
        </p:sp>
      </p:grpSp>
      <p:sp>
        <p:nvSpPr>
          <p:cNvPr id="21" name="Shape 19"/>
          <p:cNvSpPr/>
          <p:nvPr/>
        </p:nvSpPr>
        <p:spPr>
          <a:xfrm>
            <a:off x="5241925" y="1108969"/>
            <a:ext cx="4435475" cy="3756198"/>
          </a:xfrm>
          <a:prstGeom prst="roundRect">
            <a:avLst>
              <a:gd name="adj" fmla="val 2618"/>
            </a:avLst>
          </a:prstGeom>
          <a:solidFill>
            <a:srgbClr val="FFFFFF"/>
          </a:solidFill>
          <a:ln/>
          <a:effectLst>
            <a:outerShdw blurRad="76200" dist="25400" dir="2700000" algn="bl" rotWithShape="0">
              <a:srgbClr val="000000">
                <a:alpha val="8000"/>
              </a:srgbClr>
            </a:outerShdw>
          </a:effectLst>
        </p:spPr>
      </p:sp>
      <p:sp>
        <p:nvSpPr>
          <p:cNvPr id="22" name="Text 20"/>
          <p:cNvSpPr/>
          <p:nvPr/>
        </p:nvSpPr>
        <p:spPr>
          <a:xfrm>
            <a:off x="5393134" y="1169452"/>
            <a:ext cx="4133056" cy="302419"/>
          </a:xfrm>
          <a:prstGeom prst="rect">
            <a:avLst/>
          </a:prstGeom>
          <a:noFill/>
          <a:ln/>
        </p:spPr>
        <p:txBody>
          <a:bodyPr wrap="square" rtlCol="0" anchor="ctr"/>
          <a:lstStyle/>
          <a:p>
            <a:r>
              <a:rPr lang="pl-PL" sz="1600" b="1" dirty="0">
                <a:solidFill>
                  <a:srgbClr val="1E2761"/>
                </a:solidFill>
                <a:latin typeface="Cambria" pitchFamily="34" charset="0"/>
                <a:ea typeface="Cambria" pitchFamily="34" charset="-122"/>
                <a:cs typeface="Cambria" pitchFamily="34" charset="-120"/>
              </a:rPr>
              <a:t>Pięć kluczowych pojęć</a:t>
            </a:r>
            <a:endParaRPr lang="pl-PL" sz="1600" dirty="0"/>
          </a:p>
        </p:txBody>
      </p:sp>
      <p:sp>
        <p:nvSpPr>
          <p:cNvPr id="23" name="Shape 21"/>
          <p:cNvSpPr/>
          <p:nvPr/>
        </p:nvSpPr>
        <p:spPr>
          <a:xfrm>
            <a:off x="5393134" y="1592838"/>
            <a:ext cx="100806" cy="554434"/>
          </a:xfrm>
          <a:prstGeom prst="roundRect">
            <a:avLst/>
          </a:prstGeom>
          <a:solidFill>
            <a:srgbClr val="5B8FF9"/>
          </a:solidFill>
          <a:ln/>
        </p:spPr>
      </p:sp>
      <p:sp>
        <p:nvSpPr>
          <p:cNvPr id="24" name="Text 22"/>
          <p:cNvSpPr/>
          <p:nvPr/>
        </p:nvSpPr>
        <p:spPr>
          <a:xfrm>
            <a:off x="5594746" y="1610256"/>
            <a:ext cx="3931444" cy="282258"/>
          </a:xfrm>
          <a:prstGeom prst="rect">
            <a:avLst/>
          </a:prstGeom>
          <a:noFill/>
          <a:ln/>
        </p:spPr>
        <p:txBody>
          <a:bodyPr wrap="square" rtlCol="0" anchor="ctr"/>
          <a:lstStyle/>
          <a:p>
            <a:r>
              <a:rPr lang="en-US" sz="1600" b="1" dirty="0">
                <a:solidFill>
                  <a:srgbClr val="1A1F3C"/>
                </a:solidFill>
                <a:latin typeface="Cambria" pitchFamily="34" charset="0"/>
                <a:ea typeface="Cambria" pitchFamily="34" charset="-122"/>
                <a:cs typeface="Cambria" pitchFamily="34" charset="-120"/>
              </a:rPr>
              <a:t>Trafność konstruktowa</a:t>
            </a:r>
            <a:endParaRPr lang="en-US" sz="1600" dirty="0"/>
          </a:p>
        </p:txBody>
      </p:sp>
      <p:sp>
        <p:nvSpPr>
          <p:cNvPr id="25" name="Text 23"/>
          <p:cNvSpPr/>
          <p:nvPr/>
        </p:nvSpPr>
        <p:spPr>
          <a:xfrm>
            <a:off x="5594746" y="1865015"/>
            <a:ext cx="3931444" cy="302419"/>
          </a:xfrm>
          <a:prstGeom prst="rect">
            <a:avLst/>
          </a:prstGeom>
          <a:noFill/>
          <a:ln/>
        </p:spPr>
        <p:txBody>
          <a:bodyPr wrap="square" rtlCol="0" anchor="ctr"/>
          <a:lstStyle/>
          <a:p>
            <a:r>
              <a:rPr lang="en-US" sz="1300" dirty="0">
                <a:solidFill>
                  <a:srgbClr val="4A5280"/>
                </a:solidFill>
                <a:latin typeface="Calibri" pitchFamily="34" charset="0"/>
                <a:ea typeface="Calibri" pitchFamily="34" charset="-122"/>
                <a:cs typeface="Calibri" pitchFamily="34" charset="-120"/>
              </a:rPr>
              <a:t>Czy miara mierzy zamierzony konstrukt psychologiczny?</a:t>
            </a:r>
            <a:endParaRPr lang="en-US" sz="1300" dirty="0"/>
          </a:p>
        </p:txBody>
      </p:sp>
      <p:sp>
        <p:nvSpPr>
          <p:cNvPr id="26" name="Shape 24"/>
          <p:cNvSpPr/>
          <p:nvPr/>
        </p:nvSpPr>
        <p:spPr>
          <a:xfrm>
            <a:off x="5393134" y="2248079"/>
            <a:ext cx="100806" cy="554434"/>
          </a:xfrm>
          <a:prstGeom prst="roundRect">
            <a:avLst/>
          </a:prstGeom>
          <a:solidFill>
            <a:srgbClr val="5B8FF9"/>
          </a:solidFill>
          <a:ln/>
        </p:spPr>
      </p:sp>
      <p:sp>
        <p:nvSpPr>
          <p:cNvPr id="27" name="Text 25"/>
          <p:cNvSpPr/>
          <p:nvPr/>
        </p:nvSpPr>
        <p:spPr>
          <a:xfrm>
            <a:off x="5594746" y="2265496"/>
            <a:ext cx="3931444" cy="282258"/>
          </a:xfrm>
          <a:prstGeom prst="rect">
            <a:avLst/>
          </a:prstGeom>
          <a:noFill/>
          <a:ln/>
        </p:spPr>
        <p:txBody>
          <a:bodyPr wrap="square" rtlCol="0" anchor="ctr"/>
          <a:lstStyle/>
          <a:p>
            <a:r>
              <a:rPr lang="en-US" sz="1600" b="1" dirty="0">
                <a:solidFill>
                  <a:srgbClr val="1A1F3C"/>
                </a:solidFill>
                <a:latin typeface="Cambria" pitchFamily="34" charset="0"/>
                <a:ea typeface="Cambria" pitchFamily="34" charset="-122"/>
                <a:cs typeface="Cambria" pitchFamily="34" charset="-120"/>
              </a:rPr>
              <a:t>Trafność kryterialna</a:t>
            </a:r>
            <a:endParaRPr lang="en-US" sz="1600" dirty="0"/>
          </a:p>
        </p:txBody>
      </p:sp>
      <p:sp>
        <p:nvSpPr>
          <p:cNvPr id="28" name="Text 26"/>
          <p:cNvSpPr/>
          <p:nvPr/>
        </p:nvSpPr>
        <p:spPr>
          <a:xfrm>
            <a:off x="5594746" y="2520255"/>
            <a:ext cx="3931444" cy="302419"/>
          </a:xfrm>
          <a:prstGeom prst="rect">
            <a:avLst/>
          </a:prstGeom>
          <a:noFill/>
          <a:ln/>
        </p:spPr>
        <p:txBody>
          <a:bodyPr wrap="square" rtlCol="0" anchor="ctr"/>
          <a:lstStyle/>
          <a:p>
            <a:r>
              <a:rPr lang="en-US" sz="1400" dirty="0">
                <a:solidFill>
                  <a:srgbClr val="4A5280"/>
                </a:solidFill>
                <a:latin typeface="Calibri" pitchFamily="34" charset="0"/>
                <a:ea typeface="Calibri" pitchFamily="34" charset="-122"/>
                <a:cs typeface="Calibri" pitchFamily="34" charset="-120"/>
              </a:rPr>
              <a:t>Czy wynik koreluje z zewnętrznym kryterium?</a:t>
            </a:r>
            <a:endParaRPr lang="en-US" sz="1400" dirty="0"/>
          </a:p>
        </p:txBody>
      </p:sp>
      <p:sp>
        <p:nvSpPr>
          <p:cNvPr id="29" name="Shape 27"/>
          <p:cNvSpPr/>
          <p:nvPr/>
        </p:nvSpPr>
        <p:spPr>
          <a:xfrm>
            <a:off x="5393134" y="2903319"/>
            <a:ext cx="100806" cy="554434"/>
          </a:xfrm>
          <a:prstGeom prst="roundRect">
            <a:avLst/>
          </a:prstGeom>
          <a:solidFill>
            <a:srgbClr val="5B8FF9"/>
          </a:solidFill>
          <a:ln/>
        </p:spPr>
      </p:sp>
      <p:sp>
        <p:nvSpPr>
          <p:cNvPr id="30" name="Text 28"/>
          <p:cNvSpPr/>
          <p:nvPr/>
        </p:nvSpPr>
        <p:spPr>
          <a:xfrm>
            <a:off x="5594746" y="2920737"/>
            <a:ext cx="3931444" cy="282258"/>
          </a:xfrm>
          <a:prstGeom prst="rect">
            <a:avLst/>
          </a:prstGeom>
          <a:noFill/>
          <a:ln/>
        </p:spPr>
        <p:txBody>
          <a:bodyPr wrap="square" rtlCol="0" anchor="ctr"/>
          <a:lstStyle/>
          <a:p>
            <a:r>
              <a:rPr lang="en-US" sz="1600" b="1" dirty="0">
                <a:solidFill>
                  <a:srgbClr val="1A1F3C"/>
                </a:solidFill>
                <a:latin typeface="Cambria" pitchFamily="34" charset="0"/>
                <a:ea typeface="Cambria" pitchFamily="34" charset="-122"/>
                <a:cs typeface="Cambria" pitchFamily="34" charset="-120"/>
              </a:rPr>
              <a:t>Trafność ekologiczna</a:t>
            </a:r>
            <a:endParaRPr lang="en-US" sz="1600" dirty="0"/>
          </a:p>
        </p:txBody>
      </p:sp>
      <p:sp>
        <p:nvSpPr>
          <p:cNvPr id="31" name="Text 29"/>
          <p:cNvSpPr/>
          <p:nvPr/>
        </p:nvSpPr>
        <p:spPr>
          <a:xfrm>
            <a:off x="5594746" y="3175496"/>
            <a:ext cx="3931444" cy="302419"/>
          </a:xfrm>
          <a:prstGeom prst="rect">
            <a:avLst/>
          </a:prstGeom>
          <a:noFill/>
          <a:ln/>
        </p:spPr>
        <p:txBody>
          <a:bodyPr wrap="square" rtlCol="0" anchor="ctr"/>
          <a:lstStyle/>
          <a:p>
            <a:r>
              <a:rPr lang="en-US" sz="1400" dirty="0">
                <a:solidFill>
                  <a:srgbClr val="4A5280"/>
                </a:solidFill>
                <a:latin typeface="Calibri" pitchFamily="34" charset="0"/>
                <a:ea typeface="Calibri" pitchFamily="34" charset="-122"/>
                <a:cs typeface="Calibri" pitchFamily="34" charset="-120"/>
              </a:rPr>
              <a:t>Czy pomiar ma sens w warunkach naturalnych?</a:t>
            </a:r>
            <a:endParaRPr lang="en-US" sz="1400" dirty="0"/>
          </a:p>
        </p:txBody>
      </p:sp>
      <p:sp>
        <p:nvSpPr>
          <p:cNvPr id="32" name="Shape 30"/>
          <p:cNvSpPr/>
          <p:nvPr/>
        </p:nvSpPr>
        <p:spPr>
          <a:xfrm>
            <a:off x="5393134" y="3558560"/>
            <a:ext cx="100806" cy="554434"/>
          </a:xfrm>
          <a:prstGeom prst="roundRect">
            <a:avLst/>
          </a:prstGeom>
          <a:solidFill>
            <a:srgbClr val="5B8FF9"/>
          </a:solidFill>
          <a:ln/>
        </p:spPr>
      </p:sp>
      <p:sp>
        <p:nvSpPr>
          <p:cNvPr id="33" name="Text 31"/>
          <p:cNvSpPr/>
          <p:nvPr/>
        </p:nvSpPr>
        <p:spPr>
          <a:xfrm>
            <a:off x="5594746" y="3575978"/>
            <a:ext cx="3931444" cy="282258"/>
          </a:xfrm>
          <a:prstGeom prst="rect">
            <a:avLst/>
          </a:prstGeom>
          <a:noFill/>
          <a:ln/>
        </p:spPr>
        <p:txBody>
          <a:bodyPr wrap="square" rtlCol="0" anchor="ctr"/>
          <a:lstStyle/>
          <a:p>
            <a:r>
              <a:rPr lang="pl-PL" sz="1600" b="1" dirty="0">
                <a:solidFill>
                  <a:srgbClr val="1A1F3C"/>
                </a:solidFill>
                <a:latin typeface="Cambria" pitchFamily="34" charset="0"/>
                <a:ea typeface="Cambria" pitchFamily="34" charset="-122"/>
                <a:cs typeface="Cambria" pitchFamily="34" charset="-120"/>
              </a:rPr>
              <a:t>Rzetelność</a:t>
            </a:r>
            <a:r>
              <a:rPr lang="en-US" sz="1600" b="1" dirty="0">
                <a:solidFill>
                  <a:srgbClr val="1A1F3C"/>
                </a:solidFill>
                <a:latin typeface="Cambria" pitchFamily="34" charset="0"/>
                <a:ea typeface="Cambria" pitchFamily="34" charset="-122"/>
                <a:cs typeface="Cambria" pitchFamily="34" charset="-120"/>
              </a:rPr>
              <a:t> test</a:t>
            </a:r>
            <a:r>
              <a:rPr lang="pl-PL" sz="1600" b="1" dirty="0">
                <a:solidFill>
                  <a:srgbClr val="1A1F3C"/>
                </a:solidFill>
                <a:latin typeface="Cambria" pitchFamily="34" charset="0"/>
                <a:ea typeface="Cambria" pitchFamily="34" charset="-122"/>
                <a:cs typeface="Cambria" pitchFamily="34" charset="-120"/>
              </a:rPr>
              <a:t>-</a:t>
            </a:r>
            <a:r>
              <a:rPr lang="en-US" sz="1600" b="1" dirty="0">
                <a:solidFill>
                  <a:srgbClr val="1A1F3C"/>
                </a:solidFill>
                <a:latin typeface="Cambria" pitchFamily="34" charset="0"/>
                <a:ea typeface="Cambria" pitchFamily="34" charset="-122"/>
                <a:cs typeface="Cambria" pitchFamily="34" charset="-120"/>
              </a:rPr>
              <a:t>retest</a:t>
            </a:r>
            <a:endParaRPr lang="en-US" sz="1600" dirty="0"/>
          </a:p>
        </p:txBody>
      </p:sp>
      <p:sp>
        <p:nvSpPr>
          <p:cNvPr id="34" name="Text 32"/>
          <p:cNvSpPr/>
          <p:nvPr/>
        </p:nvSpPr>
        <p:spPr>
          <a:xfrm>
            <a:off x="5594746" y="3830737"/>
            <a:ext cx="3931444" cy="302419"/>
          </a:xfrm>
          <a:prstGeom prst="rect">
            <a:avLst/>
          </a:prstGeom>
          <a:noFill/>
          <a:ln/>
        </p:spPr>
        <p:txBody>
          <a:bodyPr wrap="square" rtlCol="0" anchor="ctr"/>
          <a:lstStyle/>
          <a:p>
            <a:r>
              <a:rPr lang="en-US" sz="1400" dirty="0">
                <a:solidFill>
                  <a:srgbClr val="4A5280"/>
                </a:solidFill>
                <a:latin typeface="Calibri" pitchFamily="34" charset="0"/>
                <a:ea typeface="Calibri" pitchFamily="34" charset="-122"/>
                <a:cs typeface="Calibri" pitchFamily="34" charset="-120"/>
              </a:rPr>
              <a:t>Czy miara daje podobny wynik przy powtórzeniu?</a:t>
            </a:r>
            <a:endParaRPr lang="en-US" sz="1400" dirty="0"/>
          </a:p>
        </p:txBody>
      </p:sp>
      <p:sp>
        <p:nvSpPr>
          <p:cNvPr id="35" name="Shape 33"/>
          <p:cNvSpPr/>
          <p:nvPr/>
        </p:nvSpPr>
        <p:spPr>
          <a:xfrm>
            <a:off x="5393134" y="4213801"/>
            <a:ext cx="100806" cy="554434"/>
          </a:xfrm>
          <a:prstGeom prst="roundRect">
            <a:avLst/>
          </a:prstGeom>
          <a:solidFill>
            <a:srgbClr val="5B8FF9"/>
          </a:solidFill>
          <a:ln/>
        </p:spPr>
      </p:sp>
      <p:sp>
        <p:nvSpPr>
          <p:cNvPr id="36" name="Text 34"/>
          <p:cNvSpPr/>
          <p:nvPr/>
        </p:nvSpPr>
        <p:spPr>
          <a:xfrm>
            <a:off x="5594746" y="4231218"/>
            <a:ext cx="3931444" cy="282258"/>
          </a:xfrm>
          <a:prstGeom prst="rect">
            <a:avLst/>
          </a:prstGeom>
          <a:noFill/>
          <a:ln/>
        </p:spPr>
        <p:txBody>
          <a:bodyPr wrap="square" rtlCol="0" anchor="ctr"/>
          <a:lstStyle/>
          <a:p>
            <a:r>
              <a:rPr lang="en-US" sz="1600" b="1" dirty="0">
                <a:solidFill>
                  <a:srgbClr val="1A1F3C"/>
                </a:solidFill>
                <a:latin typeface="Cambria" pitchFamily="34" charset="0"/>
                <a:ea typeface="Cambria" pitchFamily="34" charset="-122"/>
                <a:cs typeface="Cambria" pitchFamily="34" charset="-120"/>
              </a:rPr>
              <a:t>Zgodność między urządzeniami</a:t>
            </a:r>
            <a:endParaRPr lang="en-US" sz="1600" dirty="0"/>
          </a:p>
        </p:txBody>
      </p:sp>
      <p:sp>
        <p:nvSpPr>
          <p:cNvPr id="37" name="Text 35"/>
          <p:cNvSpPr/>
          <p:nvPr/>
        </p:nvSpPr>
        <p:spPr>
          <a:xfrm>
            <a:off x="5594746" y="4485977"/>
            <a:ext cx="3931444" cy="302419"/>
          </a:xfrm>
          <a:prstGeom prst="rect">
            <a:avLst/>
          </a:prstGeom>
          <a:noFill/>
          <a:ln/>
        </p:spPr>
        <p:txBody>
          <a:bodyPr wrap="square" rtlCol="0" anchor="ctr"/>
          <a:lstStyle/>
          <a:p>
            <a:r>
              <a:rPr lang="en-US" sz="1400" dirty="0">
                <a:solidFill>
                  <a:srgbClr val="4A5280"/>
                </a:solidFill>
                <a:latin typeface="Calibri" pitchFamily="34" charset="0"/>
                <a:ea typeface="Calibri" pitchFamily="34" charset="-122"/>
                <a:cs typeface="Calibri" pitchFamily="34" charset="-120"/>
              </a:rPr>
              <a:t>Czy dwa urządzenia dają porównywalne wyniki?</a:t>
            </a:r>
            <a:endParaRPr lang="en-US" sz="1400" dirty="0"/>
          </a:p>
        </p:txBody>
      </p:sp>
      <p:sp>
        <p:nvSpPr>
          <p:cNvPr id="38" name="Shape 36"/>
          <p:cNvSpPr/>
          <p:nvPr/>
        </p:nvSpPr>
        <p:spPr>
          <a:xfrm>
            <a:off x="403225" y="5040412"/>
            <a:ext cx="9274175" cy="399350"/>
          </a:xfrm>
          <a:prstGeom prst="roundRect">
            <a:avLst>
              <a:gd name="adj" fmla="val 18182"/>
            </a:avLst>
          </a:prstGeom>
          <a:solidFill>
            <a:srgbClr val="EEF3FF"/>
          </a:solidFill>
          <a:ln/>
          <a:effectLst>
            <a:outerShdw blurRad="76200" dist="25400" dir="2700000" algn="bl" rotWithShape="0">
              <a:srgbClr val="000000">
                <a:alpha val="8000"/>
              </a:srgbClr>
            </a:outerShdw>
          </a:effectLst>
        </p:spPr>
        <p:txBody>
          <a:bodyPr anchor="ctr"/>
          <a:lstStyle/>
          <a:p>
            <a:pPr algn="ctr"/>
            <a:r>
              <a:rPr lang="pl-PL" sz="1600" dirty="0">
                <a:solidFill>
                  <a:srgbClr val="1E2761"/>
                </a:solidFill>
                <a:latin typeface="Cambria Math" panose="02040503050406030204" pitchFamily="18" charset="0"/>
                <a:ea typeface="Cambria Math" panose="02040503050406030204" pitchFamily="18" charset="0"/>
                <a:cs typeface="Calibri" pitchFamily="34" charset="-120"/>
              </a:rPr>
              <a:t>Nowoczesna aparatura zwiększa rozdzielczość pomiaru, ale nie zastępuje walidacji psychometrycznej</a:t>
            </a:r>
            <a:endParaRPr lang="pl-PL" sz="16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0276185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520" name="Shape 216"/>
          <p:cNvSpPr/>
          <p:nvPr/>
        </p:nvSpPr>
        <p:spPr>
          <a:xfrm>
            <a:off x="360" y="360"/>
            <a:ext cx="10079280" cy="1006560"/>
          </a:xfrm>
          <a:prstGeom prst="rect">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521" name="Text 253"/>
          <p:cNvSpPr/>
          <p:nvPr/>
        </p:nvSpPr>
        <p:spPr>
          <a:xfrm>
            <a:off x="453600" y="70560"/>
            <a:ext cx="9172080" cy="502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defTabSz="914400">
              <a:lnSpc>
                <a:spcPct val="100000"/>
              </a:lnSpc>
              <a:tabLst>
                <a:tab pos="0" algn="l"/>
              </a:tabLst>
            </a:pPr>
            <a:r>
              <a:rPr lang="pl-PL" sz="2200" b="1" u="none" strike="noStrike" dirty="0">
                <a:solidFill>
                  <a:srgbClr val="FFFFFF"/>
                </a:solidFill>
                <a:effectLst/>
                <a:uFillTx/>
                <a:latin typeface="Cambria"/>
                <a:ea typeface="Cambria"/>
              </a:rPr>
              <a:t>BADANIA MOBILNE I ECOLOGICAL MOMENTARY ASSESSMENT</a:t>
            </a:r>
            <a:endParaRPr lang="pl-PL" sz="2200" b="0" u="none" strike="noStrike" dirty="0">
              <a:solidFill>
                <a:srgbClr val="000000"/>
              </a:solidFill>
              <a:effectLst/>
              <a:uFillTx/>
              <a:latin typeface="Arial"/>
            </a:endParaRPr>
          </a:p>
        </p:txBody>
      </p:sp>
      <p:sp>
        <p:nvSpPr>
          <p:cNvPr id="522" name="Text 254"/>
          <p:cNvSpPr/>
          <p:nvPr/>
        </p:nvSpPr>
        <p:spPr>
          <a:xfrm>
            <a:off x="453600" y="594720"/>
            <a:ext cx="9172080" cy="331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pl-PL" sz="1400" b="0" i="1" u="none" strike="noStrike" dirty="0">
                <a:solidFill>
                  <a:srgbClr val="CADCFC"/>
                </a:solidFill>
                <a:effectLst/>
                <a:uFillTx/>
                <a:latin typeface="Calibri"/>
                <a:ea typeface="Calibri"/>
              </a:rPr>
              <a:t>Pomiar doświadczenia w środowisku naturalnym</a:t>
            </a:r>
            <a:endParaRPr lang="pl-PL" sz="1400" b="0" u="none" strike="noStrike" dirty="0">
              <a:solidFill>
                <a:srgbClr val="000000"/>
              </a:solidFill>
              <a:effectLst/>
              <a:uFillTx/>
              <a:latin typeface="Arial"/>
            </a:endParaRPr>
          </a:p>
        </p:txBody>
      </p:sp>
      <p:sp>
        <p:nvSpPr>
          <p:cNvPr id="523" name="Shape 217"/>
          <p:cNvSpPr/>
          <p:nvPr/>
        </p:nvSpPr>
        <p:spPr>
          <a:xfrm>
            <a:off x="403200" y="1144800"/>
            <a:ext cx="9272520" cy="784800"/>
          </a:xfrm>
          <a:prstGeom prst="roundRect">
            <a:avLst>
              <a:gd name="adj" fmla="val 12821"/>
            </a:avLst>
          </a:prstGeom>
          <a:solidFill>
            <a:srgbClr val="EEF3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524" name="Text 255"/>
          <p:cNvSpPr/>
          <p:nvPr/>
        </p:nvSpPr>
        <p:spPr>
          <a:xfrm>
            <a:off x="554400" y="1149120"/>
            <a:ext cx="4030920" cy="615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2000" b="1" u="none" strike="noStrike" dirty="0">
                <a:solidFill>
                  <a:srgbClr val="1E2761"/>
                </a:solidFill>
                <a:effectLst/>
                <a:uFillTx/>
                <a:latin typeface="Cambria"/>
                <a:ea typeface="Cambria"/>
              </a:rPr>
              <a:t>EMA </a:t>
            </a:r>
            <a:r>
              <a:rPr lang="pl-PL" sz="2000" b="0" u="none" strike="noStrike" dirty="0">
                <a:solidFill>
                  <a:srgbClr val="1E2761"/>
                </a:solidFill>
                <a:effectLst/>
                <a:uFillTx/>
                <a:latin typeface="Cambria"/>
                <a:ea typeface="Cambria"/>
              </a:rPr>
              <a:t>(</a:t>
            </a:r>
            <a:r>
              <a:rPr lang="pl-PL" sz="2000" b="0" u="none" strike="noStrike" dirty="0" err="1">
                <a:solidFill>
                  <a:srgbClr val="1E2761"/>
                </a:solidFill>
                <a:effectLst/>
                <a:uFillTx/>
                <a:latin typeface="Cambria"/>
                <a:ea typeface="Cambria"/>
              </a:rPr>
              <a:t>Ecological</a:t>
            </a:r>
            <a:r>
              <a:rPr lang="pl-PL" sz="2000" b="0" u="none" strike="noStrike" dirty="0">
                <a:solidFill>
                  <a:srgbClr val="1E2761"/>
                </a:solidFill>
                <a:effectLst/>
                <a:uFillTx/>
                <a:latin typeface="Cambria"/>
                <a:ea typeface="Cambria"/>
              </a:rPr>
              <a:t> </a:t>
            </a:r>
            <a:br>
              <a:rPr lang="pl-PL" sz="2000" b="0" u="none" strike="noStrike" dirty="0">
                <a:solidFill>
                  <a:srgbClr val="1E2761"/>
                </a:solidFill>
                <a:effectLst/>
                <a:uFillTx/>
                <a:latin typeface="Cambria"/>
                <a:ea typeface="Cambria"/>
              </a:rPr>
            </a:br>
            <a:r>
              <a:rPr lang="pl-PL" sz="2000" b="0" u="none" strike="noStrike" dirty="0" err="1">
                <a:solidFill>
                  <a:srgbClr val="1E2761"/>
                </a:solidFill>
                <a:effectLst/>
                <a:uFillTx/>
                <a:latin typeface="Cambria"/>
                <a:ea typeface="Cambria"/>
              </a:rPr>
              <a:t>Momentary</a:t>
            </a:r>
            <a:r>
              <a:rPr lang="pl-PL" sz="2000" b="0" u="none" strike="noStrike" dirty="0">
                <a:solidFill>
                  <a:srgbClr val="1E2761"/>
                </a:solidFill>
                <a:effectLst/>
                <a:uFillTx/>
                <a:latin typeface="Cambria"/>
                <a:ea typeface="Cambria"/>
              </a:rPr>
              <a:t> </a:t>
            </a:r>
            <a:r>
              <a:rPr lang="pl-PL" sz="2000" b="0" u="none" strike="noStrike" dirty="0" err="1">
                <a:solidFill>
                  <a:srgbClr val="1E2761"/>
                </a:solidFill>
                <a:effectLst/>
                <a:uFillTx/>
                <a:latin typeface="Cambria"/>
                <a:ea typeface="Cambria"/>
              </a:rPr>
              <a:t>Assessment</a:t>
            </a:r>
            <a:r>
              <a:rPr lang="pl-PL" sz="2000" b="0" u="none" strike="noStrike" dirty="0">
                <a:solidFill>
                  <a:srgbClr val="1E2761"/>
                </a:solidFill>
                <a:effectLst/>
                <a:uFillTx/>
                <a:latin typeface="Cambria"/>
                <a:ea typeface="Cambria"/>
              </a:rPr>
              <a:t>)</a:t>
            </a:r>
            <a:endParaRPr lang="pl-PL" sz="2000" b="0" u="none" strike="noStrike" dirty="0">
              <a:solidFill>
                <a:srgbClr val="000000"/>
              </a:solidFill>
              <a:effectLst/>
              <a:uFillTx/>
              <a:latin typeface="Arial"/>
            </a:endParaRPr>
          </a:p>
        </p:txBody>
      </p:sp>
      <p:sp>
        <p:nvSpPr>
          <p:cNvPr id="525" name="Text 256"/>
          <p:cNvSpPr/>
          <p:nvPr/>
        </p:nvSpPr>
        <p:spPr>
          <a:xfrm>
            <a:off x="4536000" y="1168920"/>
            <a:ext cx="5038920" cy="623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just" defTabSz="914400">
              <a:tabLst>
                <a:tab pos="0" algn="l"/>
              </a:tabLst>
            </a:pPr>
            <a:r>
              <a:rPr lang="pl-PL" sz="1500" b="0" u="none" strike="noStrike" dirty="0">
                <a:solidFill>
                  <a:srgbClr val="4A5280"/>
                </a:solidFill>
                <a:effectLst/>
                <a:uFillTx/>
                <a:latin typeface="Calibri"/>
                <a:ea typeface="Calibri"/>
              </a:rPr>
              <a:t>Wielokrotny pomiar nastrojów, stanów i zachowań w czasie rzeczywistym, w codziennym środowisku uczestnika - kilka/kilkanaście razy dziennie przez dni lub tygodnie.</a:t>
            </a:r>
            <a:endParaRPr lang="pl-PL" sz="1500" b="0" u="none" strike="noStrike" dirty="0">
              <a:solidFill>
                <a:srgbClr val="000000"/>
              </a:solidFill>
              <a:effectLst/>
              <a:uFillTx/>
              <a:latin typeface="Arial"/>
            </a:endParaRPr>
          </a:p>
        </p:txBody>
      </p:sp>
      <p:sp>
        <p:nvSpPr>
          <p:cNvPr id="526" name="Shape 218"/>
          <p:cNvSpPr/>
          <p:nvPr/>
        </p:nvSpPr>
        <p:spPr>
          <a:xfrm>
            <a:off x="403200" y="2520000"/>
            <a:ext cx="9223920" cy="360"/>
          </a:xfrm>
          <a:prstGeom prst="line">
            <a:avLst/>
          </a:prstGeom>
          <a:ln w="19050">
            <a:solidFill>
              <a:srgbClr val="8A93C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000000"/>
              </a:solidFill>
              <a:effectLst/>
              <a:uFillTx/>
              <a:latin typeface="Arial"/>
            </a:endParaRPr>
          </a:p>
        </p:txBody>
      </p:sp>
      <p:sp>
        <p:nvSpPr>
          <p:cNvPr id="527" name="Shape 219"/>
          <p:cNvSpPr/>
          <p:nvPr/>
        </p:nvSpPr>
        <p:spPr>
          <a:xfrm>
            <a:off x="554400" y="2288520"/>
            <a:ext cx="461880" cy="461880"/>
          </a:xfrm>
          <a:prstGeom prst="ellipse">
            <a:avLst/>
          </a:prstGeom>
          <a:solidFill>
            <a:srgbClr val="1E2761"/>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528" name="Text 257"/>
          <p:cNvSpPr/>
          <p:nvPr/>
        </p:nvSpPr>
        <p:spPr>
          <a:xfrm>
            <a:off x="201600" y="2792160"/>
            <a:ext cx="1147680" cy="502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15000"/>
              </a:lnSpc>
              <a:tabLst>
                <a:tab pos="0" algn="l"/>
              </a:tabLst>
            </a:pPr>
            <a:r>
              <a:rPr lang="pl-PL" sz="1400" b="0" u="none" strike="noStrike">
                <a:solidFill>
                  <a:srgbClr val="4A5280"/>
                </a:solidFill>
                <a:effectLst/>
                <a:uFillTx/>
                <a:latin typeface="Calibri"/>
                <a:ea typeface="Calibri"/>
              </a:rPr>
              <a:t>7:00</a:t>
            </a:r>
            <a:endParaRPr lang="pl-PL" sz="1400" b="0" u="none" strike="noStrike">
              <a:solidFill>
                <a:srgbClr val="000000"/>
              </a:solidFill>
              <a:effectLst/>
              <a:uFillTx/>
              <a:latin typeface="Arial"/>
            </a:endParaRPr>
          </a:p>
          <a:p>
            <a:pPr algn="ctr" defTabSz="914400">
              <a:lnSpc>
                <a:spcPct val="115000"/>
              </a:lnSpc>
              <a:tabLst>
                <a:tab pos="0" algn="l"/>
              </a:tabLst>
            </a:pPr>
            <a:r>
              <a:rPr lang="pl-PL" sz="1400" b="0" u="none" strike="noStrike">
                <a:solidFill>
                  <a:srgbClr val="4A5280"/>
                </a:solidFill>
                <a:effectLst/>
                <a:uFillTx/>
                <a:latin typeface="Calibri"/>
                <a:ea typeface="Calibri"/>
              </a:rPr>
              <a:t>Pobudka</a:t>
            </a:r>
            <a:endParaRPr lang="pl-PL" sz="1400" b="0" u="none" strike="noStrike">
              <a:solidFill>
                <a:srgbClr val="000000"/>
              </a:solidFill>
              <a:effectLst/>
              <a:uFillTx/>
              <a:latin typeface="Arial"/>
            </a:endParaRPr>
          </a:p>
        </p:txBody>
      </p:sp>
      <p:sp>
        <p:nvSpPr>
          <p:cNvPr id="529" name="Shape 220"/>
          <p:cNvSpPr/>
          <p:nvPr/>
        </p:nvSpPr>
        <p:spPr>
          <a:xfrm>
            <a:off x="2086920" y="2288520"/>
            <a:ext cx="461880" cy="461880"/>
          </a:xfrm>
          <a:prstGeom prst="ellipse">
            <a:avLst/>
          </a:prstGeom>
          <a:solidFill>
            <a:srgbClr val="5B8FF9"/>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530" name="Text 258"/>
          <p:cNvSpPr/>
          <p:nvPr/>
        </p:nvSpPr>
        <p:spPr>
          <a:xfrm>
            <a:off x="1733760" y="2792160"/>
            <a:ext cx="1147680" cy="502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15000"/>
              </a:lnSpc>
              <a:tabLst>
                <a:tab pos="0" algn="l"/>
              </a:tabLst>
            </a:pPr>
            <a:r>
              <a:rPr lang="pl-PL" sz="1400" b="0" u="none" strike="noStrike">
                <a:solidFill>
                  <a:srgbClr val="4A5280"/>
                </a:solidFill>
                <a:effectLst/>
                <a:uFillTx/>
                <a:latin typeface="Calibri"/>
                <a:ea typeface="Calibri"/>
              </a:rPr>
              <a:t>10:30</a:t>
            </a:r>
            <a:endParaRPr lang="pl-PL" sz="1400" b="0" u="none" strike="noStrike">
              <a:solidFill>
                <a:srgbClr val="000000"/>
              </a:solidFill>
              <a:effectLst/>
              <a:uFillTx/>
              <a:latin typeface="Arial"/>
            </a:endParaRPr>
          </a:p>
          <a:p>
            <a:pPr algn="ctr" defTabSz="914400">
              <a:lnSpc>
                <a:spcPct val="115000"/>
              </a:lnSpc>
              <a:tabLst>
                <a:tab pos="0" algn="l"/>
              </a:tabLst>
            </a:pPr>
            <a:r>
              <a:rPr lang="pl-PL" sz="1400" b="0" u="none" strike="noStrike">
                <a:solidFill>
                  <a:srgbClr val="4A5280"/>
                </a:solidFill>
                <a:effectLst/>
                <a:uFillTx/>
                <a:latin typeface="Calibri"/>
                <a:ea typeface="Calibri"/>
              </a:rPr>
              <a:t>Aktywność</a:t>
            </a:r>
            <a:endParaRPr lang="pl-PL" sz="1400" b="0" u="none" strike="noStrike">
              <a:solidFill>
                <a:srgbClr val="000000"/>
              </a:solidFill>
              <a:effectLst/>
              <a:uFillTx/>
              <a:latin typeface="Arial"/>
            </a:endParaRPr>
          </a:p>
        </p:txBody>
      </p:sp>
      <p:sp>
        <p:nvSpPr>
          <p:cNvPr id="531" name="Shape 221"/>
          <p:cNvSpPr/>
          <p:nvPr/>
        </p:nvSpPr>
        <p:spPr>
          <a:xfrm>
            <a:off x="3619080" y="2288520"/>
            <a:ext cx="461880" cy="461880"/>
          </a:xfrm>
          <a:prstGeom prst="ellipse">
            <a:avLst/>
          </a:prstGeom>
          <a:solidFill>
            <a:srgbClr val="3ECFB2"/>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532" name="Text 259"/>
          <p:cNvSpPr/>
          <p:nvPr/>
        </p:nvSpPr>
        <p:spPr>
          <a:xfrm>
            <a:off x="3266280" y="2792160"/>
            <a:ext cx="1147680" cy="502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15000"/>
              </a:lnSpc>
              <a:tabLst>
                <a:tab pos="0" algn="l"/>
              </a:tabLst>
            </a:pPr>
            <a:r>
              <a:rPr lang="pl-PL" sz="1400" b="0" u="none" strike="noStrike">
                <a:solidFill>
                  <a:srgbClr val="4A5280"/>
                </a:solidFill>
                <a:effectLst/>
                <a:uFillTx/>
                <a:latin typeface="Calibri"/>
                <a:ea typeface="Calibri"/>
              </a:rPr>
              <a:t>13:00</a:t>
            </a:r>
            <a:endParaRPr lang="pl-PL" sz="1400" b="0" u="none" strike="noStrike">
              <a:solidFill>
                <a:srgbClr val="000000"/>
              </a:solidFill>
              <a:effectLst/>
              <a:uFillTx/>
              <a:latin typeface="Arial"/>
            </a:endParaRPr>
          </a:p>
          <a:p>
            <a:pPr algn="ctr" defTabSz="914400">
              <a:lnSpc>
                <a:spcPct val="115000"/>
              </a:lnSpc>
              <a:tabLst>
                <a:tab pos="0" algn="l"/>
              </a:tabLst>
            </a:pPr>
            <a:r>
              <a:rPr lang="pl-PL" sz="1400" b="0" u="none" strike="noStrike">
                <a:solidFill>
                  <a:srgbClr val="4A5280"/>
                </a:solidFill>
                <a:effectLst/>
                <a:uFillTx/>
                <a:latin typeface="Calibri"/>
                <a:ea typeface="Calibri"/>
              </a:rPr>
              <a:t>Nastrój</a:t>
            </a:r>
            <a:endParaRPr lang="pl-PL" sz="1400" b="0" u="none" strike="noStrike">
              <a:solidFill>
                <a:srgbClr val="000000"/>
              </a:solidFill>
              <a:effectLst/>
              <a:uFillTx/>
              <a:latin typeface="Arial"/>
            </a:endParaRPr>
          </a:p>
        </p:txBody>
      </p:sp>
      <p:sp>
        <p:nvSpPr>
          <p:cNvPr id="533" name="Shape 222"/>
          <p:cNvSpPr/>
          <p:nvPr/>
        </p:nvSpPr>
        <p:spPr>
          <a:xfrm>
            <a:off x="5150880" y="2288520"/>
            <a:ext cx="461880" cy="461880"/>
          </a:xfrm>
          <a:prstGeom prst="ellipse">
            <a:avLst/>
          </a:prstGeom>
          <a:solidFill>
            <a:srgbClr val="2D7DD2"/>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534" name="Text 260"/>
          <p:cNvSpPr/>
          <p:nvPr/>
        </p:nvSpPr>
        <p:spPr>
          <a:xfrm>
            <a:off x="4798080" y="2792160"/>
            <a:ext cx="1147680" cy="502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15000"/>
              </a:lnSpc>
              <a:tabLst>
                <a:tab pos="0" algn="l"/>
              </a:tabLst>
            </a:pPr>
            <a:r>
              <a:rPr lang="pl-PL" sz="1400" b="0" u="none" strike="noStrike">
                <a:solidFill>
                  <a:srgbClr val="4A5280"/>
                </a:solidFill>
                <a:effectLst/>
                <a:uFillTx/>
                <a:latin typeface="Calibri"/>
                <a:ea typeface="Calibri"/>
              </a:rPr>
              <a:t>16:00</a:t>
            </a:r>
            <a:endParaRPr lang="pl-PL" sz="1400" b="0" u="none" strike="noStrike">
              <a:solidFill>
                <a:srgbClr val="000000"/>
              </a:solidFill>
              <a:effectLst/>
              <a:uFillTx/>
              <a:latin typeface="Arial"/>
            </a:endParaRPr>
          </a:p>
          <a:p>
            <a:pPr algn="ctr" defTabSz="914400">
              <a:lnSpc>
                <a:spcPct val="115000"/>
              </a:lnSpc>
              <a:tabLst>
                <a:tab pos="0" algn="l"/>
              </a:tabLst>
            </a:pPr>
            <a:r>
              <a:rPr lang="pl-PL" sz="1400" b="0" u="none" strike="noStrike">
                <a:solidFill>
                  <a:srgbClr val="4A5280"/>
                </a:solidFill>
                <a:effectLst/>
                <a:uFillTx/>
                <a:latin typeface="Calibri"/>
                <a:ea typeface="Calibri"/>
              </a:rPr>
              <a:t>Stres</a:t>
            </a:r>
            <a:endParaRPr lang="pl-PL" sz="1400" b="0" u="none" strike="noStrike">
              <a:solidFill>
                <a:srgbClr val="000000"/>
              </a:solidFill>
              <a:effectLst/>
              <a:uFillTx/>
              <a:latin typeface="Arial"/>
            </a:endParaRPr>
          </a:p>
        </p:txBody>
      </p:sp>
      <p:sp>
        <p:nvSpPr>
          <p:cNvPr id="535" name="Shape 223"/>
          <p:cNvSpPr/>
          <p:nvPr/>
        </p:nvSpPr>
        <p:spPr>
          <a:xfrm>
            <a:off x="6683400" y="2288520"/>
            <a:ext cx="461880" cy="461880"/>
          </a:xfrm>
          <a:prstGeom prst="ellipse">
            <a:avLst/>
          </a:prstGeom>
          <a:solidFill>
            <a:srgbClr val="7B5EA7"/>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536" name="Text 261"/>
          <p:cNvSpPr/>
          <p:nvPr/>
        </p:nvSpPr>
        <p:spPr>
          <a:xfrm>
            <a:off x="6330600" y="2792160"/>
            <a:ext cx="1147680" cy="502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15000"/>
              </a:lnSpc>
              <a:tabLst>
                <a:tab pos="0" algn="l"/>
              </a:tabLst>
            </a:pPr>
            <a:r>
              <a:rPr lang="pl-PL" sz="1400" b="0" u="none" strike="noStrike">
                <a:solidFill>
                  <a:srgbClr val="4A5280"/>
                </a:solidFill>
                <a:effectLst/>
                <a:uFillTx/>
                <a:latin typeface="Calibri"/>
                <a:ea typeface="Calibri"/>
              </a:rPr>
              <a:t>19:30</a:t>
            </a:r>
            <a:endParaRPr lang="pl-PL" sz="1400" b="0" u="none" strike="noStrike">
              <a:solidFill>
                <a:srgbClr val="000000"/>
              </a:solidFill>
              <a:effectLst/>
              <a:uFillTx/>
              <a:latin typeface="Arial"/>
            </a:endParaRPr>
          </a:p>
          <a:p>
            <a:pPr algn="ctr" defTabSz="914400">
              <a:lnSpc>
                <a:spcPct val="115000"/>
              </a:lnSpc>
              <a:tabLst>
                <a:tab pos="0" algn="l"/>
              </a:tabLst>
            </a:pPr>
            <a:r>
              <a:rPr lang="pl-PL" sz="1400" b="0" u="none" strike="noStrike">
                <a:solidFill>
                  <a:srgbClr val="4A5280"/>
                </a:solidFill>
                <a:effectLst/>
                <a:uFillTx/>
                <a:latin typeface="Calibri"/>
                <a:ea typeface="Calibri"/>
              </a:rPr>
              <a:t>Relacje</a:t>
            </a:r>
            <a:endParaRPr lang="pl-PL" sz="1400" b="0" u="none" strike="noStrike">
              <a:solidFill>
                <a:srgbClr val="000000"/>
              </a:solidFill>
              <a:effectLst/>
              <a:uFillTx/>
              <a:latin typeface="Arial"/>
            </a:endParaRPr>
          </a:p>
        </p:txBody>
      </p:sp>
      <p:sp>
        <p:nvSpPr>
          <p:cNvPr id="537" name="Shape 224"/>
          <p:cNvSpPr/>
          <p:nvPr/>
        </p:nvSpPr>
        <p:spPr>
          <a:xfrm>
            <a:off x="8215920" y="2288520"/>
            <a:ext cx="461880" cy="461880"/>
          </a:xfrm>
          <a:prstGeom prst="ellipse">
            <a:avLst/>
          </a:prstGeom>
          <a:solidFill>
            <a:srgbClr val="1E2761"/>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538" name="Text 262"/>
          <p:cNvSpPr/>
          <p:nvPr/>
        </p:nvSpPr>
        <p:spPr>
          <a:xfrm>
            <a:off x="7862760" y="2792160"/>
            <a:ext cx="1147680" cy="502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15000"/>
              </a:lnSpc>
              <a:tabLst>
                <a:tab pos="0" algn="l"/>
              </a:tabLst>
            </a:pPr>
            <a:r>
              <a:rPr lang="pl-PL" sz="1400" b="0" u="none" strike="noStrike">
                <a:solidFill>
                  <a:srgbClr val="4A5280"/>
                </a:solidFill>
                <a:effectLst/>
                <a:uFillTx/>
                <a:latin typeface="Calibri"/>
                <a:ea typeface="Calibri"/>
              </a:rPr>
              <a:t>22:00</a:t>
            </a:r>
            <a:endParaRPr lang="pl-PL" sz="1400" b="0" u="none" strike="noStrike">
              <a:solidFill>
                <a:srgbClr val="000000"/>
              </a:solidFill>
              <a:effectLst/>
              <a:uFillTx/>
              <a:latin typeface="Arial"/>
            </a:endParaRPr>
          </a:p>
          <a:p>
            <a:pPr algn="ctr" defTabSz="914400">
              <a:lnSpc>
                <a:spcPct val="115000"/>
              </a:lnSpc>
              <a:tabLst>
                <a:tab pos="0" algn="l"/>
              </a:tabLst>
            </a:pPr>
            <a:r>
              <a:rPr lang="pl-PL" sz="1400" b="0" u="none" strike="noStrike">
                <a:solidFill>
                  <a:srgbClr val="4A5280"/>
                </a:solidFill>
                <a:effectLst/>
                <a:uFillTx/>
                <a:latin typeface="Calibri"/>
                <a:ea typeface="Calibri"/>
              </a:rPr>
              <a:t>Sen</a:t>
            </a:r>
            <a:endParaRPr lang="pl-PL" sz="1400" b="0" u="none" strike="noStrike">
              <a:solidFill>
                <a:srgbClr val="000000"/>
              </a:solidFill>
              <a:effectLst/>
              <a:uFillTx/>
              <a:latin typeface="Arial"/>
            </a:endParaRPr>
          </a:p>
        </p:txBody>
      </p:sp>
      <p:sp>
        <p:nvSpPr>
          <p:cNvPr id="539" name="Shape 225"/>
          <p:cNvSpPr/>
          <p:nvPr/>
        </p:nvSpPr>
        <p:spPr>
          <a:xfrm>
            <a:off x="403200" y="3447720"/>
            <a:ext cx="2135520" cy="1530720"/>
          </a:xfrm>
          <a:prstGeom prst="roundRect">
            <a:avLst>
              <a:gd name="adj" fmla="val 6579"/>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540" name="Shape 226"/>
          <p:cNvSpPr/>
          <p:nvPr/>
        </p:nvSpPr>
        <p:spPr>
          <a:xfrm>
            <a:off x="402840" y="3447360"/>
            <a:ext cx="2135880" cy="381600"/>
          </a:xfrm>
          <a:prstGeom prst="roundRect">
            <a:avLst>
              <a:gd name="adj" fmla="val 26316"/>
            </a:avLst>
          </a:prstGeom>
          <a:solidFill>
            <a:srgbClr val="1E276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541" name="Text 263"/>
          <p:cNvSpPr/>
          <p:nvPr/>
        </p:nvSpPr>
        <p:spPr>
          <a:xfrm>
            <a:off x="402840" y="3447360"/>
            <a:ext cx="2135880" cy="381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600" b="1" u="none" strike="noStrike">
                <a:solidFill>
                  <a:srgbClr val="FFFFFF"/>
                </a:solidFill>
                <a:effectLst/>
                <a:uFillTx/>
                <a:latin typeface="Cambria"/>
                <a:ea typeface="Cambria"/>
              </a:rPr>
              <a:t>Typy pytań</a:t>
            </a:r>
            <a:endParaRPr lang="pl-PL" sz="1600" b="0" u="none" strike="noStrike">
              <a:solidFill>
                <a:srgbClr val="000000"/>
              </a:solidFill>
              <a:effectLst/>
              <a:uFillTx/>
              <a:latin typeface="Arial"/>
            </a:endParaRPr>
          </a:p>
        </p:txBody>
      </p:sp>
      <p:sp>
        <p:nvSpPr>
          <p:cNvPr id="542" name="Text 264"/>
          <p:cNvSpPr/>
          <p:nvPr/>
        </p:nvSpPr>
        <p:spPr>
          <a:xfrm>
            <a:off x="503640" y="3871080"/>
            <a:ext cx="1934280" cy="1026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25000"/>
              </a:lnSpc>
              <a:tabLst>
                <a:tab pos="0" algn="l"/>
              </a:tabLst>
            </a:pPr>
            <a:r>
              <a:rPr lang="pl-PL" sz="1400" b="0" u="none" strike="noStrike">
                <a:solidFill>
                  <a:srgbClr val="1A1F3C"/>
                </a:solidFill>
                <a:effectLst/>
                <a:uFillTx/>
                <a:latin typeface="Calibri"/>
                <a:ea typeface="Calibri"/>
              </a:rPr>
              <a:t>Nastrój, stres, sen, aktywność, kontekst społeczny, lokalizacja</a:t>
            </a:r>
            <a:endParaRPr lang="pl-PL" sz="1400" b="0" u="none" strike="noStrike">
              <a:solidFill>
                <a:srgbClr val="000000"/>
              </a:solidFill>
              <a:effectLst/>
              <a:uFillTx/>
              <a:latin typeface="Arial"/>
            </a:endParaRPr>
          </a:p>
        </p:txBody>
      </p:sp>
      <p:sp>
        <p:nvSpPr>
          <p:cNvPr id="543" name="Shape 227"/>
          <p:cNvSpPr/>
          <p:nvPr/>
        </p:nvSpPr>
        <p:spPr>
          <a:xfrm>
            <a:off x="2711880" y="3447720"/>
            <a:ext cx="2135520" cy="1530720"/>
          </a:xfrm>
          <a:prstGeom prst="roundRect">
            <a:avLst>
              <a:gd name="adj" fmla="val 6579"/>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544" name="Shape 228"/>
          <p:cNvSpPr/>
          <p:nvPr/>
        </p:nvSpPr>
        <p:spPr>
          <a:xfrm>
            <a:off x="2711520" y="3447360"/>
            <a:ext cx="2135880" cy="381600"/>
          </a:xfrm>
          <a:prstGeom prst="roundRect">
            <a:avLst>
              <a:gd name="adj" fmla="val 26316"/>
            </a:avLst>
          </a:prstGeom>
          <a:solidFill>
            <a:srgbClr val="5B8FF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545" name="Text 265"/>
          <p:cNvSpPr/>
          <p:nvPr/>
        </p:nvSpPr>
        <p:spPr>
          <a:xfrm>
            <a:off x="2711520" y="3447360"/>
            <a:ext cx="2135880" cy="381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600" b="1" u="none" strike="noStrike">
                <a:solidFill>
                  <a:srgbClr val="FFFFFF"/>
                </a:solidFill>
                <a:effectLst/>
                <a:uFillTx/>
                <a:latin typeface="Cambria"/>
                <a:ea typeface="Cambria"/>
              </a:rPr>
              <a:t>Sygnałowanie</a:t>
            </a:r>
            <a:endParaRPr lang="pl-PL" sz="1600" b="0" u="none" strike="noStrike">
              <a:solidFill>
                <a:srgbClr val="000000"/>
              </a:solidFill>
              <a:effectLst/>
              <a:uFillTx/>
              <a:latin typeface="Arial"/>
            </a:endParaRPr>
          </a:p>
        </p:txBody>
      </p:sp>
      <p:sp>
        <p:nvSpPr>
          <p:cNvPr id="546" name="Text 266"/>
          <p:cNvSpPr/>
          <p:nvPr/>
        </p:nvSpPr>
        <p:spPr>
          <a:xfrm>
            <a:off x="2812320" y="3871080"/>
            <a:ext cx="1934280" cy="1026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25000"/>
              </a:lnSpc>
              <a:tabLst>
                <a:tab pos="0" algn="l"/>
              </a:tabLst>
            </a:pPr>
            <a:r>
              <a:rPr lang="pl-PL" sz="1400" b="0" u="none" strike="noStrike" dirty="0">
                <a:solidFill>
                  <a:srgbClr val="1A1F3C"/>
                </a:solidFill>
                <a:effectLst/>
                <a:uFillTx/>
                <a:latin typeface="Calibri"/>
                <a:ea typeface="Calibri"/>
              </a:rPr>
              <a:t>Losowe, w ramach okien czasowych lub event-</a:t>
            </a:r>
            <a:r>
              <a:rPr lang="pl-PL" sz="1400" b="0" u="none" strike="noStrike" dirty="0" err="1">
                <a:solidFill>
                  <a:srgbClr val="1A1F3C"/>
                </a:solidFill>
                <a:effectLst/>
                <a:uFillTx/>
                <a:latin typeface="Calibri"/>
                <a:ea typeface="Calibri"/>
              </a:rPr>
              <a:t>contingent</a:t>
            </a:r>
            <a:endParaRPr lang="pl-PL" sz="1400" b="0" u="none" strike="noStrike" dirty="0">
              <a:solidFill>
                <a:srgbClr val="000000"/>
              </a:solidFill>
              <a:effectLst/>
              <a:uFillTx/>
              <a:latin typeface="Arial"/>
            </a:endParaRPr>
          </a:p>
        </p:txBody>
      </p:sp>
      <p:sp>
        <p:nvSpPr>
          <p:cNvPr id="547" name="Shape 229"/>
          <p:cNvSpPr/>
          <p:nvPr/>
        </p:nvSpPr>
        <p:spPr>
          <a:xfrm>
            <a:off x="5019840" y="3447720"/>
            <a:ext cx="2135520" cy="1530720"/>
          </a:xfrm>
          <a:prstGeom prst="roundRect">
            <a:avLst>
              <a:gd name="adj" fmla="val 6579"/>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548" name="Shape 230"/>
          <p:cNvSpPr/>
          <p:nvPr/>
        </p:nvSpPr>
        <p:spPr>
          <a:xfrm>
            <a:off x="5019840" y="3447360"/>
            <a:ext cx="2135880" cy="381600"/>
          </a:xfrm>
          <a:prstGeom prst="roundRect">
            <a:avLst>
              <a:gd name="adj" fmla="val 26316"/>
            </a:avLst>
          </a:prstGeom>
          <a:solidFill>
            <a:srgbClr val="2D7DD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549" name="Text 267"/>
          <p:cNvSpPr/>
          <p:nvPr/>
        </p:nvSpPr>
        <p:spPr>
          <a:xfrm>
            <a:off x="5019840" y="3447360"/>
            <a:ext cx="2135880" cy="381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600" b="1" u="none" strike="noStrike">
                <a:solidFill>
                  <a:srgbClr val="FFFFFF"/>
                </a:solidFill>
                <a:effectLst/>
                <a:uFillTx/>
                <a:latin typeface="Cambria"/>
                <a:ea typeface="Cambria"/>
              </a:rPr>
              <a:t>Platformy</a:t>
            </a:r>
            <a:endParaRPr lang="pl-PL" sz="1600" b="0" u="none" strike="noStrike">
              <a:solidFill>
                <a:srgbClr val="000000"/>
              </a:solidFill>
              <a:effectLst/>
              <a:uFillTx/>
              <a:latin typeface="Arial"/>
            </a:endParaRPr>
          </a:p>
        </p:txBody>
      </p:sp>
      <p:sp>
        <p:nvSpPr>
          <p:cNvPr id="550" name="Text 268"/>
          <p:cNvSpPr/>
          <p:nvPr/>
        </p:nvSpPr>
        <p:spPr>
          <a:xfrm>
            <a:off x="5120640" y="3871080"/>
            <a:ext cx="1934280" cy="1026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25000"/>
              </a:lnSpc>
              <a:tabLst>
                <a:tab pos="0" algn="l"/>
              </a:tabLst>
            </a:pPr>
            <a:r>
              <a:rPr lang="pl-PL" sz="1400" b="0" u="none" strike="noStrike" dirty="0">
                <a:solidFill>
                  <a:srgbClr val="1A1F3C"/>
                </a:solidFill>
                <a:effectLst/>
                <a:uFillTx/>
                <a:latin typeface="Calibri"/>
                <a:ea typeface="Calibri"/>
              </a:rPr>
              <a:t>M-</a:t>
            </a:r>
            <a:r>
              <a:rPr lang="pl-PL" sz="1400" b="0" u="none" strike="noStrike" dirty="0" err="1">
                <a:solidFill>
                  <a:srgbClr val="1A1F3C"/>
                </a:solidFill>
                <a:effectLst/>
                <a:uFillTx/>
                <a:latin typeface="Calibri"/>
                <a:ea typeface="Calibri"/>
              </a:rPr>
              <a:t>Path</a:t>
            </a:r>
            <a:r>
              <a:rPr lang="pl-PL" sz="1400" b="0" u="none" strike="noStrike" dirty="0">
                <a:solidFill>
                  <a:srgbClr val="1A1F3C"/>
                </a:solidFill>
                <a:effectLst/>
                <a:uFillTx/>
                <a:latin typeface="Calibri"/>
                <a:ea typeface="Calibri"/>
              </a:rPr>
              <a:t>, </a:t>
            </a:r>
            <a:r>
              <a:rPr lang="pl-PL" sz="1400" b="0" u="none" strike="noStrike" dirty="0" err="1">
                <a:solidFill>
                  <a:srgbClr val="1A1F3C"/>
                </a:solidFill>
                <a:effectLst/>
                <a:uFillTx/>
                <a:latin typeface="Calibri"/>
                <a:ea typeface="Calibri"/>
              </a:rPr>
              <a:t>ExperienceSampler</a:t>
            </a:r>
            <a:r>
              <a:rPr lang="pl-PL" sz="1400" b="0" u="none" strike="noStrike" dirty="0">
                <a:solidFill>
                  <a:srgbClr val="1A1F3C"/>
                </a:solidFill>
                <a:effectLst/>
                <a:uFillTx/>
                <a:latin typeface="Calibri"/>
                <a:ea typeface="Calibri"/>
              </a:rPr>
              <a:t>, </a:t>
            </a:r>
            <a:r>
              <a:rPr lang="pl-PL" sz="1400" b="0" u="none" strike="noStrike" dirty="0" err="1">
                <a:solidFill>
                  <a:srgbClr val="1A1F3C"/>
                </a:solidFill>
                <a:effectLst/>
                <a:uFillTx/>
                <a:latin typeface="Calibri"/>
                <a:ea typeface="Calibri"/>
              </a:rPr>
              <a:t>MetricWire</a:t>
            </a:r>
            <a:r>
              <a:rPr lang="pl-PL" sz="1400" b="0" u="none" strike="noStrike" dirty="0">
                <a:solidFill>
                  <a:srgbClr val="1A1F3C"/>
                </a:solidFill>
                <a:effectLst/>
                <a:uFillTx/>
                <a:latin typeface="Calibri"/>
                <a:ea typeface="Calibri"/>
              </a:rPr>
              <a:t>, PACO</a:t>
            </a:r>
            <a:endParaRPr lang="pl-PL" sz="1400" b="0" u="none" strike="noStrike" dirty="0">
              <a:solidFill>
                <a:srgbClr val="000000"/>
              </a:solidFill>
              <a:effectLst/>
              <a:uFillTx/>
              <a:latin typeface="Arial"/>
            </a:endParaRPr>
          </a:p>
        </p:txBody>
      </p:sp>
      <p:sp>
        <p:nvSpPr>
          <p:cNvPr id="551" name="Shape 231"/>
          <p:cNvSpPr/>
          <p:nvPr/>
        </p:nvSpPr>
        <p:spPr>
          <a:xfrm>
            <a:off x="7328520" y="3447720"/>
            <a:ext cx="2135520" cy="1530720"/>
          </a:xfrm>
          <a:prstGeom prst="roundRect">
            <a:avLst>
              <a:gd name="adj" fmla="val 6579"/>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552" name="Shape 232"/>
          <p:cNvSpPr/>
          <p:nvPr/>
        </p:nvSpPr>
        <p:spPr>
          <a:xfrm>
            <a:off x="7328520" y="3447360"/>
            <a:ext cx="2135880" cy="381600"/>
          </a:xfrm>
          <a:prstGeom prst="roundRect">
            <a:avLst>
              <a:gd name="adj" fmla="val 26316"/>
            </a:avLst>
          </a:prstGeom>
          <a:solidFill>
            <a:srgbClr val="3A9F6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553" name="Text 269"/>
          <p:cNvSpPr/>
          <p:nvPr/>
        </p:nvSpPr>
        <p:spPr>
          <a:xfrm>
            <a:off x="7328520" y="3447360"/>
            <a:ext cx="2135880" cy="381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600" b="1" u="none" strike="noStrike">
                <a:solidFill>
                  <a:srgbClr val="FFFFFF"/>
                </a:solidFill>
                <a:effectLst/>
                <a:uFillTx/>
                <a:latin typeface="Cambria"/>
                <a:ea typeface="Cambria"/>
              </a:rPr>
              <a:t>Analiza danych</a:t>
            </a:r>
            <a:endParaRPr lang="pl-PL" sz="1600" b="0" u="none" strike="noStrike">
              <a:solidFill>
                <a:srgbClr val="000000"/>
              </a:solidFill>
              <a:effectLst/>
              <a:uFillTx/>
              <a:latin typeface="Arial"/>
            </a:endParaRPr>
          </a:p>
        </p:txBody>
      </p:sp>
      <p:sp>
        <p:nvSpPr>
          <p:cNvPr id="554" name="Text 270"/>
          <p:cNvSpPr/>
          <p:nvPr/>
        </p:nvSpPr>
        <p:spPr>
          <a:xfrm>
            <a:off x="7429320" y="3871080"/>
            <a:ext cx="2034720" cy="1026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25000"/>
              </a:lnSpc>
              <a:tabLst>
                <a:tab pos="0" algn="l"/>
              </a:tabLst>
            </a:pPr>
            <a:r>
              <a:rPr lang="pl-PL" sz="1400" b="0" u="none" strike="noStrike" dirty="0">
                <a:solidFill>
                  <a:srgbClr val="1A1F3C"/>
                </a:solidFill>
                <a:effectLst/>
                <a:uFillTx/>
                <a:latin typeface="Calibri"/>
                <a:ea typeface="Calibri"/>
              </a:rPr>
              <a:t>Modele wielopoziomowe (LMM): efekty </a:t>
            </a:r>
            <a:r>
              <a:rPr lang="pl-PL" sz="1400" b="0" u="none" strike="noStrike" dirty="0" err="1">
                <a:solidFill>
                  <a:srgbClr val="1A1F3C"/>
                </a:solidFill>
                <a:effectLst/>
                <a:uFillTx/>
                <a:latin typeface="Calibri"/>
                <a:ea typeface="Calibri"/>
              </a:rPr>
              <a:t>between</a:t>
            </a:r>
            <a:r>
              <a:rPr lang="pl-PL" sz="1400" b="0" u="none" strike="noStrike" dirty="0">
                <a:solidFill>
                  <a:srgbClr val="1A1F3C"/>
                </a:solidFill>
                <a:effectLst/>
                <a:uFillTx/>
                <a:latin typeface="Calibri"/>
                <a:ea typeface="Calibri"/>
              </a:rPr>
              <a:t>-person i </a:t>
            </a:r>
            <a:r>
              <a:rPr lang="pl-PL" sz="1400" b="0" u="none" strike="noStrike" dirty="0" err="1">
                <a:solidFill>
                  <a:srgbClr val="1A1F3C"/>
                </a:solidFill>
                <a:effectLst/>
                <a:uFillTx/>
                <a:latin typeface="Calibri"/>
                <a:ea typeface="Calibri"/>
              </a:rPr>
              <a:t>within</a:t>
            </a:r>
            <a:r>
              <a:rPr lang="pl-PL" sz="1400" b="0" u="none" strike="noStrike" dirty="0">
                <a:solidFill>
                  <a:srgbClr val="1A1F3C"/>
                </a:solidFill>
                <a:effectLst/>
                <a:uFillTx/>
                <a:latin typeface="Calibri"/>
                <a:ea typeface="Calibri"/>
              </a:rPr>
              <a:t>-person</a:t>
            </a:r>
            <a:endParaRPr lang="pl-PL" sz="1400" b="0" u="none" strike="noStrike" dirty="0">
              <a:solidFill>
                <a:srgbClr val="000000"/>
              </a:solidFill>
              <a:effectLst/>
              <a:uFillTx/>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555" name="Shape 233"/>
          <p:cNvSpPr/>
          <p:nvPr/>
        </p:nvSpPr>
        <p:spPr>
          <a:xfrm>
            <a:off x="360" y="360"/>
            <a:ext cx="10079280" cy="1006560"/>
          </a:xfrm>
          <a:prstGeom prst="rect">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556" name="Text 271"/>
          <p:cNvSpPr/>
          <p:nvPr/>
        </p:nvSpPr>
        <p:spPr>
          <a:xfrm>
            <a:off x="453600" y="70560"/>
            <a:ext cx="9172080" cy="502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defTabSz="914400">
              <a:lnSpc>
                <a:spcPct val="100000"/>
              </a:lnSpc>
              <a:tabLst>
                <a:tab pos="0" algn="l"/>
              </a:tabLst>
            </a:pPr>
            <a:r>
              <a:rPr lang="pl-PL" sz="2200" b="1" u="none" strike="noStrike">
                <a:solidFill>
                  <a:srgbClr val="FFFFFF"/>
                </a:solidFill>
                <a:effectLst/>
                <a:uFillTx/>
                <a:latin typeface="Cambria"/>
                <a:ea typeface="Cambria"/>
              </a:rPr>
              <a:t>WEARABLES W PSYCHOLOGII</a:t>
            </a:r>
            <a:endParaRPr lang="pl-PL" sz="2200" b="0" u="none" strike="noStrike">
              <a:solidFill>
                <a:srgbClr val="000000"/>
              </a:solidFill>
              <a:effectLst/>
              <a:uFillTx/>
              <a:latin typeface="Arial"/>
            </a:endParaRPr>
          </a:p>
        </p:txBody>
      </p:sp>
      <p:sp>
        <p:nvSpPr>
          <p:cNvPr id="557" name="Text 272"/>
          <p:cNvSpPr/>
          <p:nvPr/>
        </p:nvSpPr>
        <p:spPr>
          <a:xfrm>
            <a:off x="453600" y="594720"/>
            <a:ext cx="9172080" cy="331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pl-PL" sz="1400" b="0" i="1" u="none" strike="noStrike">
                <a:solidFill>
                  <a:srgbClr val="CADCFC"/>
                </a:solidFill>
                <a:effectLst/>
                <a:uFillTx/>
                <a:latin typeface="Calibri"/>
                <a:ea typeface="Calibri"/>
              </a:rPr>
              <a:t>Co mierzymy i czego nie należy nadinterpretować?</a:t>
            </a:r>
            <a:endParaRPr lang="pl-PL" sz="1400" b="0" u="none" strike="noStrike">
              <a:solidFill>
                <a:srgbClr val="000000"/>
              </a:solidFill>
              <a:effectLst/>
              <a:uFillTx/>
              <a:latin typeface="Arial"/>
            </a:endParaRPr>
          </a:p>
        </p:txBody>
      </p:sp>
      <p:sp>
        <p:nvSpPr>
          <p:cNvPr id="558" name="Shape 234"/>
          <p:cNvSpPr/>
          <p:nvPr/>
        </p:nvSpPr>
        <p:spPr>
          <a:xfrm>
            <a:off x="403200" y="1108800"/>
            <a:ext cx="2921760" cy="3895969"/>
          </a:xfrm>
          <a:prstGeom prst="roundRect">
            <a:avLst>
              <a:gd name="adj" fmla="val 3448"/>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559" name="Shape 235"/>
          <p:cNvSpPr/>
          <p:nvPr/>
        </p:nvSpPr>
        <p:spPr>
          <a:xfrm>
            <a:off x="1380202" y="1309097"/>
            <a:ext cx="954629" cy="954629"/>
          </a:xfrm>
          <a:prstGeom prst="ellipse">
            <a:avLst/>
          </a:prstGeom>
          <a:solidFill>
            <a:srgbClr val="1E2761"/>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560" name="Text 273"/>
          <p:cNvSpPr/>
          <p:nvPr/>
        </p:nvSpPr>
        <p:spPr>
          <a:xfrm>
            <a:off x="1310400" y="1249920"/>
            <a:ext cx="1107360" cy="1107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200" b="1" u="none" strike="noStrike">
                <a:solidFill>
                  <a:srgbClr val="FFFFFF"/>
                </a:solidFill>
                <a:effectLst/>
                <a:uFillTx/>
                <a:latin typeface="Cambria"/>
                <a:ea typeface="Cambria"/>
              </a:rPr>
              <a:t>EDA</a:t>
            </a:r>
            <a:endParaRPr lang="pl-PL" sz="2200" b="0" u="none" strike="noStrike">
              <a:solidFill>
                <a:srgbClr val="000000"/>
              </a:solidFill>
              <a:effectLst/>
              <a:uFillTx/>
              <a:latin typeface="Arial"/>
            </a:endParaRPr>
          </a:p>
        </p:txBody>
      </p:sp>
      <p:sp>
        <p:nvSpPr>
          <p:cNvPr id="561" name="Text 274"/>
          <p:cNvSpPr/>
          <p:nvPr/>
        </p:nvSpPr>
        <p:spPr>
          <a:xfrm>
            <a:off x="494280" y="2248200"/>
            <a:ext cx="2679840" cy="421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500" b="1" u="none" strike="noStrike" dirty="0" err="1">
                <a:solidFill>
                  <a:srgbClr val="1A1F3C"/>
                </a:solidFill>
                <a:effectLst/>
                <a:uFillTx/>
                <a:latin typeface="Cambria"/>
                <a:ea typeface="Cambria"/>
              </a:rPr>
              <a:t>Elektrodermalna</a:t>
            </a:r>
            <a:r>
              <a:rPr lang="pl-PL" sz="1500" b="1" u="none" strike="noStrike" dirty="0">
                <a:solidFill>
                  <a:srgbClr val="1A1F3C"/>
                </a:solidFill>
                <a:effectLst/>
                <a:uFillTx/>
                <a:latin typeface="Cambria"/>
                <a:ea typeface="Cambria"/>
              </a:rPr>
              <a:t> aktywność</a:t>
            </a:r>
            <a:endParaRPr lang="pl-PL" sz="1500" b="0" u="none" strike="noStrike" dirty="0">
              <a:solidFill>
                <a:srgbClr val="000000"/>
              </a:solidFill>
              <a:effectLst/>
              <a:uFillTx/>
              <a:latin typeface="Arial"/>
            </a:endParaRPr>
          </a:p>
        </p:txBody>
      </p:sp>
      <p:sp>
        <p:nvSpPr>
          <p:cNvPr id="562" name="Text 275"/>
          <p:cNvSpPr/>
          <p:nvPr/>
        </p:nvSpPr>
        <p:spPr>
          <a:xfrm>
            <a:off x="534960" y="2709218"/>
            <a:ext cx="2679840" cy="280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1" u="none" strike="noStrike" dirty="0">
                <a:solidFill>
                  <a:srgbClr val="1E2761"/>
                </a:solidFill>
                <a:effectLst/>
                <a:uFillTx/>
                <a:latin typeface="Calibri"/>
                <a:ea typeface="Calibri"/>
              </a:rPr>
              <a:t>Co mierzy</a:t>
            </a:r>
            <a:endParaRPr lang="pl-PL" sz="1600" b="0" u="none" strike="noStrike" dirty="0">
              <a:solidFill>
                <a:srgbClr val="000000"/>
              </a:solidFill>
              <a:effectLst/>
              <a:uFillTx/>
              <a:latin typeface="Arial"/>
            </a:endParaRPr>
          </a:p>
        </p:txBody>
      </p:sp>
      <p:sp>
        <p:nvSpPr>
          <p:cNvPr id="563" name="Text 276"/>
          <p:cNvSpPr/>
          <p:nvPr/>
        </p:nvSpPr>
        <p:spPr>
          <a:xfrm>
            <a:off x="534960" y="2981378"/>
            <a:ext cx="267984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20000"/>
              </a:lnSpc>
              <a:tabLst>
                <a:tab pos="0" algn="l"/>
              </a:tabLst>
            </a:pPr>
            <a:r>
              <a:rPr lang="pl-PL" sz="1400" b="0" u="none" strike="noStrike">
                <a:solidFill>
                  <a:srgbClr val="1A1F3C"/>
                </a:solidFill>
                <a:effectLst/>
                <a:uFillTx/>
                <a:latin typeface="Calibri"/>
                <a:ea typeface="Calibri"/>
              </a:rPr>
              <a:t>Aktywacja układu współczulnego</a:t>
            </a:r>
            <a:endParaRPr lang="pl-PL" sz="1400" b="0" u="none" strike="noStrike">
              <a:solidFill>
                <a:srgbClr val="000000"/>
              </a:solidFill>
              <a:effectLst/>
              <a:uFillTx/>
              <a:latin typeface="Arial"/>
            </a:endParaRPr>
          </a:p>
          <a:p>
            <a:pPr defTabSz="914400">
              <a:lnSpc>
                <a:spcPct val="120000"/>
              </a:lnSpc>
              <a:tabLst>
                <a:tab pos="0" algn="l"/>
              </a:tabLst>
            </a:pPr>
            <a:r>
              <a:rPr lang="pl-PL" sz="1400" b="0" u="none" strike="noStrike">
                <a:solidFill>
                  <a:srgbClr val="1A1F3C"/>
                </a:solidFill>
                <a:effectLst/>
                <a:uFillTx/>
                <a:latin typeface="Calibri"/>
                <a:ea typeface="Calibri"/>
              </a:rPr>
              <a:t>Pobudzenie autonomiczne</a:t>
            </a:r>
            <a:endParaRPr lang="pl-PL" sz="1400" b="0" u="none" strike="noStrike">
              <a:solidFill>
                <a:srgbClr val="000000"/>
              </a:solidFill>
              <a:effectLst/>
              <a:uFillTx/>
              <a:latin typeface="Arial"/>
            </a:endParaRPr>
          </a:p>
        </p:txBody>
      </p:sp>
      <p:sp>
        <p:nvSpPr>
          <p:cNvPr id="564" name="Text 277"/>
          <p:cNvSpPr/>
          <p:nvPr/>
        </p:nvSpPr>
        <p:spPr>
          <a:xfrm>
            <a:off x="534960" y="3535778"/>
            <a:ext cx="2679840" cy="280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1" u="none" strike="noStrike" dirty="0">
                <a:solidFill>
                  <a:srgbClr val="1E2761"/>
                </a:solidFill>
                <a:effectLst/>
                <a:uFillTx/>
                <a:latin typeface="Calibri"/>
                <a:ea typeface="Calibri"/>
              </a:rPr>
              <a:t>Urządzenia</a:t>
            </a:r>
            <a:endParaRPr lang="pl-PL" sz="1600" b="0" u="none" strike="noStrike" dirty="0">
              <a:solidFill>
                <a:srgbClr val="000000"/>
              </a:solidFill>
              <a:effectLst/>
              <a:uFillTx/>
              <a:latin typeface="Arial"/>
            </a:endParaRPr>
          </a:p>
        </p:txBody>
      </p:sp>
      <p:sp>
        <p:nvSpPr>
          <p:cNvPr id="565" name="Text 278"/>
          <p:cNvSpPr/>
          <p:nvPr/>
        </p:nvSpPr>
        <p:spPr>
          <a:xfrm>
            <a:off x="534960" y="3808298"/>
            <a:ext cx="2679840" cy="300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400" b="0" u="none" strike="noStrike">
                <a:solidFill>
                  <a:srgbClr val="4A5280"/>
                </a:solidFill>
                <a:effectLst/>
                <a:uFillTx/>
                <a:latin typeface="Calibri"/>
                <a:ea typeface="Calibri"/>
              </a:rPr>
              <a:t>Empatica E4, Shimmer3, Biopac</a:t>
            </a:r>
            <a:endParaRPr lang="pl-PL" sz="1400" b="0" u="none" strike="noStrike">
              <a:solidFill>
                <a:srgbClr val="000000"/>
              </a:solidFill>
              <a:effectLst/>
              <a:uFillTx/>
              <a:latin typeface="Arial"/>
            </a:endParaRPr>
          </a:p>
        </p:txBody>
      </p:sp>
      <p:sp>
        <p:nvSpPr>
          <p:cNvPr id="566" name="Shape 236"/>
          <p:cNvSpPr/>
          <p:nvPr/>
        </p:nvSpPr>
        <p:spPr>
          <a:xfrm>
            <a:off x="494280" y="4140578"/>
            <a:ext cx="2760840" cy="784800"/>
          </a:xfrm>
          <a:prstGeom prst="roundRect">
            <a:avLst>
              <a:gd name="adj" fmla="val 7692"/>
            </a:avLst>
          </a:prstGeom>
          <a:solidFill>
            <a:srgbClr val="FFF3C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567" name="Text 279"/>
          <p:cNvSpPr/>
          <p:nvPr/>
        </p:nvSpPr>
        <p:spPr>
          <a:xfrm>
            <a:off x="534960" y="4170818"/>
            <a:ext cx="2720160" cy="72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tabLst>
                <a:tab pos="0" algn="l"/>
              </a:tabLst>
            </a:pPr>
            <a:r>
              <a:rPr lang="pl-PL" sz="1300" b="0" u="none" strike="noStrike" dirty="0">
                <a:solidFill>
                  <a:srgbClr val="7B4F00"/>
                </a:solidFill>
                <a:effectLst/>
                <a:uFillTx/>
                <a:latin typeface="Calibri"/>
                <a:ea typeface="Calibri"/>
              </a:rPr>
              <a:t>Mierzy pobudzenie, ale nie rozpoznaje konkretnych emocji. Stres, radość i wysiłek dają podobny sygnał.</a:t>
            </a:r>
            <a:endParaRPr lang="pl-PL" sz="1300" b="0" u="none" strike="noStrike" dirty="0">
              <a:solidFill>
                <a:srgbClr val="000000"/>
              </a:solidFill>
              <a:effectLst/>
              <a:uFillTx/>
              <a:latin typeface="Arial"/>
            </a:endParaRPr>
          </a:p>
        </p:txBody>
      </p:sp>
      <p:sp>
        <p:nvSpPr>
          <p:cNvPr id="568" name="Shape 237"/>
          <p:cNvSpPr/>
          <p:nvPr/>
        </p:nvSpPr>
        <p:spPr>
          <a:xfrm>
            <a:off x="3578760" y="1108800"/>
            <a:ext cx="2921760" cy="3895969"/>
          </a:xfrm>
          <a:prstGeom prst="roundRect">
            <a:avLst>
              <a:gd name="adj" fmla="val 3448"/>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569" name="Shape 238"/>
          <p:cNvSpPr/>
          <p:nvPr/>
        </p:nvSpPr>
        <p:spPr>
          <a:xfrm>
            <a:off x="4555762" y="1309097"/>
            <a:ext cx="954629" cy="954629"/>
          </a:xfrm>
          <a:prstGeom prst="ellipse">
            <a:avLst/>
          </a:prstGeom>
          <a:solidFill>
            <a:srgbClr val="2D7DD2"/>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570" name="Text 280"/>
          <p:cNvSpPr/>
          <p:nvPr/>
        </p:nvSpPr>
        <p:spPr>
          <a:xfrm>
            <a:off x="4485600" y="1249920"/>
            <a:ext cx="1107360" cy="1107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200" b="1" u="none" strike="noStrike">
                <a:solidFill>
                  <a:srgbClr val="FFFFFF"/>
                </a:solidFill>
                <a:effectLst/>
                <a:uFillTx/>
                <a:latin typeface="Cambria"/>
                <a:ea typeface="Cambria"/>
              </a:rPr>
              <a:t>HRV</a:t>
            </a:r>
            <a:endParaRPr lang="pl-PL" sz="2200" b="0" u="none" strike="noStrike">
              <a:solidFill>
                <a:srgbClr val="000000"/>
              </a:solidFill>
              <a:effectLst/>
              <a:uFillTx/>
              <a:latin typeface="Arial"/>
            </a:endParaRPr>
          </a:p>
        </p:txBody>
      </p:sp>
      <p:sp>
        <p:nvSpPr>
          <p:cNvPr id="571" name="Text 281"/>
          <p:cNvSpPr/>
          <p:nvPr/>
        </p:nvSpPr>
        <p:spPr>
          <a:xfrm>
            <a:off x="3669480" y="2248200"/>
            <a:ext cx="2679840" cy="421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600" b="1" u="none" strike="noStrike" dirty="0">
                <a:solidFill>
                  <a:srgbClr val="1A1F3C"/>
                </a:solidFill>
                <a:effectLst/>
                <a:uFillTx/>
                <a:latin typeface="Cambria"/>
                <a:ea typeface="Cambria"/>
              </a:rPr>
              <a:t>Zmienność rytmu serca</a:t>
            </a:r>
            <a:endParaRPr lang="pl-PL" sz="1600" b="0" u="none" strike="noStrike" dirty="0">
              <a:solidFill>
                <a:srgbClr val="000000"/>
              </a:solidFill>
              <a:effectLst/>
              <a:uFillTx/>
              <a:latin typeface="Arial"/>
            </a:endParaRPr>
          </a:p>
        </p:txBody>
      </p:sp>
      <p:sp>
        <p:nvSpPr>
          <p:cNvPr id="572" name="Text 282"/>
          <p:cNvSpPr/>
          <p:nvPr/>
        </p:nvSpPr>
        <p:spPr>
          <a:xfrm>
            <a:off x="3710160" y="2709218"/>
            <a:ext cx="2679840" cy="280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1" u="none" strike="noStrike" dirty="0">
                <a:solidFill>
                  <a:srgbClr val="2D7DD2"/>
                </a:solidFill>
                <a:effectLst/>
                <a:uFillTx/>
                <a:latin typeface="Calibri"/>
                <a:ea typeface="Calibri"/>
              </a:rPr>
              <a:t>Co mierzy</a:t>
            </a:r>
            <a:endParaRPr lang="pl-PL" sz="1600" b="0" u="none" strike="noStrike" dirty="0">
              <a:solidFill>
                <a:srgbClr val="000000"/>
              </a:solidFill>
              <a:effectLst/>
              <a:uFillTx/>
              <a:latin typeface="Arial"/>
            </a:endParaRPr>
          </a:p>
        </p:txBody>
      </p:sp>
      <p:sp>
        <p:nvSpPr>
          <p:cNvPr id="573" name="Text 283"/>
          <p:cNvSpPr/>
          <p:nvPr/>
        </p:nvSpPr>
        <p:spPr>
          <a:xfrm>
            <a:off x="3710160" y="2981378"/>
            <a:ext cx="267984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20000"/>
              </a:lnSpc>
              <a:tabLst>
                <a:tab pos="0" algn="l"/>
              </a:tabLst>
            </a:pPr>
            <a:r>
              <a:rPr lang="pl-PL" sz="1400" b="0" u="none" strike="noStrike">
                <a:solidFill>
                  <a:srgbClr val="1A1F3C"/>
                </a:solidFill>
                <a:effectLst/>
                <a:uFillTx/>
                <a:latin typeface="Calibri"/>
                <a:ea typeface="Calibri"/>
              </a:rPr>
              <a:t>Stan autonomiczny</a:t>
            </a:r>
            <a:endParaRPr lang="pl-PL" sz="1400" b="0" u="none" strike="noStrike">
              <a:solidFill>
                <a:srgbClr val="000000"/>
              </a:solidFill>
              <a:effectLst/>
              <a:uFillTx/>
              <a:latin typeface="Arial"/>
            </a:endParaRPr>
          </a:p>
          <a:p>
            <a:pPr defTabSz="914400">
              <a:lnSpc>
                <a:spcPct val="120000"/>
              </a:lnSpc>
              <a:tabLst>
                <a:tab pos="0" algn="l"/>
              </a:tabLst>
            </a:pPr>
            <a:r>
              <a:rPr lang="pl-PL" sz="1400" b="0" u="none" strike="noStrike">
                <a:solidFill>
                  <a:srgbClr val="1A1F3C"/>
                </a:solidFill>
                <a:effectLst/>
                <a:uFillTx/>
                <a:latin typeface="Calibri"/>
                <a:ea typeface="Calibri"/>
              </a:rPr>
              <a:t>Regulacja emocjonalna, stres</a:t>
            </a:r>
            <a:endParaRPr lang="pl-PL" sz="1400" b="0" u="none" strike="noStrike">
              <a:solidFill>
                <a:srgbClr val="000000"/>
              </a:solidFill>
              <a:effectLst/>
              <a:uFillTx/>
              <a:latin typeface="Arial"/>
            </a:endParaRPr>
          </a:p>
        </p:txBody>
      </p:sp>
      <p:sp>
        <p:nvSpPr>
          <p:cNvPr id="574" name="Text 284"/>
          <p:cNvSpPr/>
          <p:nvPr/>
        </p:nvSpPr>
        <p:spPr>
          <a:xfrm>
            <a:off x="3710160" y="3535778"/>
            <a:ext cx="2679840" cy="280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1" u="none" strike="noStrike" dirty="0">
                <a:solidFill>
                  <a:srgbClr val="2D7DD2"/>
                </a:solidFill>
                <a:effectLst/>
                <a:uFillTx/>
                <a:latin typeface="Calibri"/>
                <a:ea typeface="Calibri"/>
              </a:rPr>
              <a:t>Urządzenia</a:t>
            </a:r>
            <a:endParaRPr lang="pl-PL" sz="1600" b="0" u="none" strike="noStrike" dirty="0">
              <a:solidFill>
                <a:srgbClr val="000000"/>
              </a:solidFill>
              <a:effectLst/>
              <a:uFillTx/>
              <a:latin typeface="Arial"/>
            </a:endParaRPr>
          </a:p>
        </p:txBody>
      </p:sp>
      <p:sp>
        <p:nvSpPr>
          <p:cNvPr id="575" name="Text 285"/>
          <p:cNvSpPr/>
          <p:nvPr/>
        </p:nvSpPr>
        <p:spPr>
          <a:xfrm>
            <a:off x="3710160" y="3808298"/>
            <a:ext cx="2679840" cy="300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400" b="0" u="none" strike="noStrike">
                <a:solidFill>
                  <a:srgbClr val="4A5280"/>
                </a:solidFill>
                <a:effectLst/>
                <a:uFillTx/>
                <a:latin typeface="Calibri"/>
                <a:ea typeface="Calibri"/>
              </a:rPr>
              <a:t>Polar H10, Garmin, Apple Watch</a:t>
            </a:r>
            <a:endParaRPr lang="pl-PL" sz="1400" b="0" u="none" strike="noStrike">
              <a:solidFill>
                <a:srgbClr val="000000"/>
              </a:solidFill>
              <a:effectLst/>
              <a:uFillTx/>
              <a:latin typeface="Arial"/>
            </a:endParaRPr>
          </a:p>
        </p:txBody>
      </p:sp>
      <p:sp>
        <p:nvSpPr>
          <p:cNvPr id="576" name="Shape 239"/>
          <p:cNvSpPr/>
          <p:nvPr/>
        </p:nvSpPr>
        <p:spPr>
          <a:xfrm>
            <a:off x="3669840" y="4140578"/>
            <a:ext cx="2760840" cy="784800"/>
          </a:xfrm>
          <a:prstGeom prst="roundRect">
            <a:avLst>
              <a:gd name="adj" fmla="val 7692"/>
            </a:avLst>
          </a:prstGeom>
          <a:solidFill>
            <a:srgbClr val="FFF3C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577" name="Text 286"/>
          <p:cNvSpPr/>
          <p:nvPr/>
        </p:nvSpPr>
        <p:spPr>
          <a:xfrm>
            <a:off x="3710160" y="4170818"/>
            <a:ext cx="2679840" cy="72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tabLst>
                <a:tab pos="0" algn="l"/>
              </a:tabLst>
            </a:pPr>
            <a:r>
              <a:rPr lang="pl-PL" sz="1400" b="0" u="none" strike="noStrike" dirty="0">
                <a:solidFill>
                  <a:srgbClr val="7B4F00"/>
                </a:solidFill>
                <a:effectLst/>
                <a:uFillTx/>
                <a:latin typeface="Calibri"/>
                <a:ea typeface="Calibri"/>
              </a:rPr>
              <a:t>Wymaga ekstrakcji i walidacji.</a:t>
            </a:r>
            <a:endParaRPr lang="pl-PL" sz="1400" b="0" u="none" strike="noStrike" dirty="0">
              <a:solidFill>
                <a:srgbClr val="000000"/>
              </a:solidFill>
              <a:effectLst/>
              <a:uFillTx/>
              <a:latin typeface="Arial"/>
            </a:endParaRPr>
          </a:p>
          <a:p>
            <a:pPr defTabSz="914400">
              <a:tabLst>
                <a:tab pos="0" algn="l"/>
              </a:tabLst>
            </a:pPr>
            <a:r>
              <a:rPr lang="pl-PL" sz="1400" b="0" u="none" strike="noStrike" dirty="0">
                <a:solidFill>
                  <a:srgbClr val="7B4F00"/>
                </a:solidFill>
                <a:effectLst/>
                <a:uFillTx/>
                <a:latin typeface="Calibri"/>
                <a:ea typeface="Calibri"/>
              </a:rPr>
              <a:t>Krótkie okna czasowe ograniczają interpretację.</a:t>
            </a:r>
            <a:endParaRPr lang="pl-PL" sz="1400" b="0" u="none" strike="noStrike" dirty="0">
              <a:solidFill>
                <a:srgbClr val="000000"/>
              </a:solidFill>
              <a:effectLst/>
              <a:uFillTx/>
              <a:latin typeface="Arial"/>
            </a:endParaRPr>
          </a:p>
        </p:txBody>
      </p:sp>
      <p:sp>
        <p:nvSpPr>
          <p:cNvPr id="578" name="Shape 240"/>
          <p:cNvSpPr/>
          <p:nvPr/>
        </p:nvSpPr>
        <p:spPr>
          <a:xfrm>
            <a:off x="6753960" y="1108800"/>
            <a:ext cx="2921760" cy="3895969"/>
          </a:xfrm>
          <a:prstGeom prst="roundRect">
            <a:avLst>
              <a:gd name="adj" fmla="val 3448"/>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579" name="Shape 241"/>
          <p:cNvSpPr/>
          <p:nvPr/>
        </p:nvSpPr>
        <p:spPr>
          <a:xfrm>
            <a:off x="7730962" y="1309097"/>
            <a:ext cx="954629" cy="954629"/>
          </a:xfrm>
          <a:prstGeom prst="ellipse">
            <a:avLst/>
          </a:prstGeom>
          <a:solidFill>
            <a:schemeClr val="accent6">
              <a:lumMod val="75000"/>
            </a:schemeClr>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chemeClr val="accent6"/>
              </a:solidFill>
              <a:effectLst/>
              <a:uFillTx/>
              <a:latin typeface="Arial"/>
            </a:endParaRPr>
          </a:p>
        </p:txBody>
      </p:sp>
      <p:sp>
        <p:nvSpPr>
          <p:cNvPr id="580" name="Text 287"/>
          <p:cNvSpPr/>
          <p:nvPr/>
        </p:nvSpPr>
        <p:spPr>
          <a:xfrm>
            <a:off x="7661160" y="1249920"/>
            <a:ext cx="1107360" cy="1107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200" b="1" u="none" strike="noStrike">
                <a:solidFill>
                  <a:srgbClr val="FFFFFF"/>
                </a:solidFill>
                <a:effectLst/>
                <a:uFillTx/>
                <a:latin typeface="Cambria"/>
                <a:ea typeface="Cambria"/>
              </a:rPr>
              <a:t>ACT</a:t>
            </a:r>
            <a:endParaRPr lang="pl-PL" sz="2200" b="0" u="none" strike="noStrike">
              <a:solidFill>
                <a:srgbClr val="000000"/>
              </a:solidFill>
              <a:effectLst/>
              <a:uFillTx/>
              <a:latin typeface="Arial"/>
            </a:endParaRPr>
          </a:p>
        </p:txBody>
      </p:sp>
      <p:sp>
        <p:nvSpPr>
          <p:cNvPr id="581" name="Text 288"/>
          <p:cNvSpPr/>
          <p:nvPr/>
        </p:nvSpPr>
        <p:spPr>
          <a:xfrm>
            <a:off x="6845040" y="2248200"/>
            <a:ext cx="2679840" cy="421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500" b="1" u="none" strike="noStrike" dirty="0" err="1">
                <a:solidFill>
                  <a:srgbClr val="1A1F3C"/>
                </a:solidFill>
                <a:effectLst/>
                <a:uFillTx/>
                <a:latin typeface="Cambria"/>
                <a:ea typeface="Cambria"/>
              </a:rPr>
              <a:t>Akcelerometria</a:t>
            </a:r>
            <a:r>
              <a:rPr lang="pl-PL" sz="1500" b="1" u="none" strike="noStrike" dirty="0">
                <a:solidFill>
                  <a:srgbClr val="1A1F3C"/>
                </a:solidFill>
                <a:effectLst/>
                <a:uFillTx/>
                <a:latin typeface="Cambria"/>
                <a:ea typeface="Cambria"/>
              </a:rPr>
              <a:t> / </a:t>
            </a:r>
            <a:r>
              <a:rPr lang="pl-PL" sz="1500" b="1" u="none" strike="noStrike" dirty="0" err="1">
                <a:solidFill>
                  <a:srgbClr val="1A1F3C"/>
                </a:solidFill>
                <a:effectLst/>
                <a:uFillTx/>
                <a:latin typeface="Cambria"/>
                <a:ea typeface="Cambria"/>
              </a:rPr>
              <a:t>aktygrafia</a:t>
            </a:r>
            <a:endParaRPr lang="pl-PL" sz="1500" b="0" u="none" strike="noStrike" dirty="0">
              <a:solidFill>
                <a:srgbClr val="000000"/>
              </a:solidFill>
              <a:effectLst/>
              <a:uFillTx/>
              <a:latin typeface="Arial"/>
            </a:endParaRPr>
          </a:p>
        </p:txBody>
      </p:sp>
      <p:sp>
        <p:nvSpPr>
          <p:cNvPr id="582" name="Text 289"/>
          <p:cNvSpPr/>
          <p:nvPr/>
        </p:nvSpPr>
        <p:spPr>
          <a:xfrm>
            <a:off x="6885720" y="2709218"/>
            <a:ext cx="2679840" cy="280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1" u="none" strike="noStrike" dirty="0">
                <a:solidFill>
                  <a:schemeClr val="accent6">
                    <a:lumMod val="75000"/>
                  </a:schemeClr>
                </a:solidFill>
                <a:effectLst/>
                <a:uFillTx/>
                <a:latin typeface="Calibri"/>
                <a:ea typeface="Calibri"/>
              </a:rPr>
              <a:t>Co mierzy</a:t>
            </a:r>
            <a:endParaRPr lang="pl-PL" sz="1600" b="0" u="none" strike="noStrike" dirty="0">
              <a:solidFill>
                <a:schemeClr val="accent6">
                  <a:lumMod val="75000"/>
                </a:schemeClr>
              </a:solidFill>
              <a:effectLst/>
              <a:uFillTx/>
              <a:latin typeface="Arial"/>
            </a:endParaRPr>
          </a:p>
        </p:txBody>
      </p:sp>
      <p:sp>
        <p:nvSpPr>
          <p:cNvPr id="583" name="Text 290"/>
          <p:cNvSpPr/>
          <p:nvPr/>
        </p:nvSpPr>
        <p:spPr>
          <a:xfrm>
            <a:off x="6885720" y="2981378"/>
            <a:ext cx="267984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20000"/>
              </a:lnSpc>
              <a:tabLst>
                <a:tab pos="0" algn="l"/>
              </a:tabLst>
            </a:pPr>
            <a:r>
              <a:rPr lang="pl-PL" sz="1400" b="0" u="none" strike="noStrike" dirty="0">
                <a:solidFill>
                  <a:srgbClr val="1A1F3C"/>
                </a:solidFill>
                <a:effectLst/>
                <a:uFillTx/>
                <a:latin typeface="Calibri"/>
                <a:ea typeface="Calibri"/>
              </a:rPr>
              <a:t>Aktywność fizyczna, rytm dobowy</a:t>
            </a:r>
            <a:endParaRPr lang="pl-PL" sz="1400" b="0" u="none" strike="noStrike" dirty="0">
              <a:solidFill>
                <a:srgbClr val="000000"/>
              </a:solidFill>
              <a:effectLst/>
              <a:uFillTx/>
              <a:latin typeface="Arial"/>
            </a:endParaRPr>
          </a:p>
          <a:p>
            <a:pPr defTabSz="914400">
              <a:lnSpc>
                <a:spcPct val="120000"/>
              </a:lnSpc>
              <a:tabLst>
                <a:tab pos="0" algn="l"/>
              </a:tabLst>
            </a:pPr>
            <a:r>
              <a:rPr lang="pl-PL" sz="1400" b="0" u="none" strike="noStrike" dirty="0">
                <a:solidFill>
                  <a:srgbClr val="1A1F3C"/>
                </a:solidFill>
                <a:effectLst/>
                <a:uFillTx/>
                <a:latin typeface="Calibri"/>
                <a:ea typeface="Calibri"/>
              </a:rPr>
              <a:t>Jakość i długość snu</a:t>
            </a:r>
            <a:endParaRPr lang="pl-PL" sz="1400" b="0" u="none" strike="noStrike" dirty="0">
              <a:solidFill>
                <a:srgbClr val="000000"/>
              </a:solidFill>
              <a:effectLst/>
              <a:uFillTx/>
              <a:latin typeface="Arial"/>
            </a:endParaRPr>
          </a:p>
        </p:txBody>
      </p:sp>
      <p:sp>
        <p:nvSpPr>
          <p:cNvPr id="584" name="Text 291"/>
          <p:cNvSpPr/>
          <p:nvPr/>
        </p:nvSpPr>
        <p:spPr>
          <a:xfrm>
            <a:off x="6885720" y="3535778"/>
            <a:ext cx="2679840" cy="280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1" u="none" strike="noStrike" dirty="0">
                <a:solidFill>
                  <a:schemeClr val="accent6">
                    <a:lumMod val="75000"/>
                  </a:schemeClr>
                </a:solidFill>
                <a:effectLst/>
                <a:uFillTx/>
                <a:latin typeface="Calibri"/>
                <a:ea typeface="Calibri"/>
              </a:rPr>
              <a:t>Urządzenia</a:t>
            </a:r>
            <a:endParaRPr lang="pl-PL" sz="1600" b="0" u="none" strike="noStrike" dirty="0">
              <a:solidFill>
                <a:schemeClr val="accent6">
                  <a:lumMod val="75000"/>
                </a:schemeClr>
              </a:solidFill>
              <a:effectLst/>
              <a:uFillTx/>
              <a:latin typeface="Arial"/>
            </a:endParaRPr>
          </a:p>
        </p:txBody>
      </p:sp>
      <p:sp>
        <p:nvSpPr>
          <p:cNvPr id="585" name="Text 292"/>
          <p:cNvSpPr/>
          <p:nvPr/>
        </p:nvSpPr>
        <p:spPr>
          <a:xfrm>
            <a:off x="6885720" y="3808298"/>
            <a:ext cx="2679840" cy="300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400" b="0" u="none" strike="noStrike">
                <a:solidFill>
                  <a:srgbClr val="4A5280"/>
                </a:solidFill>
                <a:effectLst/>
                <a:uFillTx/>
                <a:latin typeface="Calibri"/>
                <a:ea typeface="Calibri"/>
              </a:rPr>
              <a:t>ActiGraph, Fitbit, Apple Watch</a:t>
            </a:r>
            <a:endParaRPr lang="pl-PL" sz="1400" b="0" u="none" strike="noStrike">
              <a:solidFill>
                <a:srgbClr val="000000"/>
              </a:solidFill>
              <a:effectLst/>
              <a:uFillTx/>
              <a:latin typeface="Arial"/>
            </a:endParaRPr>
          </a:p>
        </p:txBody>
      </p:sp>
      <p:sp>
        <p:nvSpPr>
          <p:cNvPr id="586" name="Shape 242"/>
          <p:cNvSpPr/>
          <p:nvPr/>
        </p:nvSpPr>
        <p:spPr>
          <a:xfrm>
            <a:off x="6845400" y="4140578"/>
            <a:ext cx="2760840" cy="784800"/>
          </a:xfrm>
          <a:prstGeom prst="roundRect">
            <a:avLst>
              <a:gd name="adj" fmla="val 7692"/>
            </a:avLst>
          </a:prstGeom>
          <a:solidFill>
            <a:srgbClr val="FFF3C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587" name="Text 293"/>
          <p:cNvSpPr/>
          <p:nvPr/>
        </p:nvSpPr>
        <p:spPr>
          <a:xfrm>
            <a:off x="6885720" y="4170818"/>
            <a:ext cx="2679840" cy="72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tabLst>
                <a:tab pos="0" algn="l"/>
              </a:tabLst>
            </a:pPr>
            <a:r>
              <a:rPr lang="pl-PL" sz="1400" b="0" u="none" strike="noStrike" dirty="0">
                <a:solidFill>
                  <a:srgbClr val="7B4F00"/>
                </a:solidFill>
                <a:effectLst/>
                <a:uFillTx/>
                <a:latin typeface="Calibri"/>
                <a:ea typeface="Calibri"/>
              </a:rPr>
              <a:t>Dane z urządzeń komercyjnych mają gorszą jakość, niż sprzęt badawczy. Wymaga walidacji.</a:t>
            </a:r>
            <a:endParaRPr lang="pl-PL" sz="1400" b="0" u="none" strike="noStrike" dirty="0">
              <a:solidFill>
                <a:srgbClr val="000000"/>
              </a:solidFill>
              <a:effectLst/>
              <a:uFillTx/>
              <a:latin typeface="Arial"/>
            </a:endParaRPr>
          </a:p>
        </p:txBody>
      </p:sp>
      <p:sp>
        <p:nvSpPr>
          <p:cNvPr id="588" name="Text 294"/>
          <p:cNvSpPr/>
          <p:nvPr/>
        </p:nvSpPr>
        <p:spPr>
          <a:xfrm>
            <a:off x="239040" y="5178289"/>
            <a:ext cx="9600480" cy="300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400" b="0" u="none" strike="noStrike" dirty="0">
                <a:effectLst/>
                <a:uFillTx/>
                <a:latin typeface="Cambria Math" panose="02040503050406030204" pitchFamily="18" charset="0"/>
                <a:ea typeface="Cambria Math" panose="02040503050406030204" pitchFamily="18" charset="0"/>
              </a:rPr>
              <a:t>Przed włączeniem </a:t>
            </a:r>
            <a:r>
              <a:rPr lang="pl-PL" sz="1400" b="0" u="none" strike="noStrike" dirty="0" err="1">
                <a:effectLst/>
                <a:uFillTx/>
                <a:latin typeface="Cambria Math" panose="02040503050406030204" pitchFamily="18" charset="0"/>
                <a:ea typeface="Cambria Math" panose="02040503050406030204" pitchFamily="18" charset="0"/>
              </a:rPr>
              <a:t>wearable</a:t>
            </a:r>
            <a:r>
              <a:rPr lang="pl-PL" sz="1400" b="0" u="none" strike="noStrike" dirty="0">
                <a:effectLst/>
                <a:uFillTx/>
                <a:latin typeface="Cambria Math" panose="02040503050406030204" pitchFamily="18" charset="0"/>
                <a:ea typeface="Cambria Math" panose="02040503050406030204" pitchFamily="18" charset="0"/>
              </a:rPr>
              <a:t> do protokołu: czy ta miara jest walidowana dla naszego konstruktu w podobnej populacji?</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589" name="Shape 243"/>
          <p:cNvSpPr/>
          <p:nvPr/>
        </p:nvSpPr>
        <p:spPr>
          <a:xfrm>
            <a:off x="360" y="360"/>
            <a:ext cx="10079280" cy="1006560"/>
          </a:xfrm>
          <a:prstGeom prst="rect">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590" name="Text 295"/>
          <p:cNvSpPr/>
          <p:nvPr/>
        </p:nvSpPr>
        <p:spPr>
          <a:xfrm>
            <a:off x="453600" y="70560"/>
            <a:ext cx="9172080" cy="502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defTabSz="914400">
              <a:lnSpc>
                <a:spcPct val="100000"/>
              </a:lnSpc>
              <a:tabLst>
                <a:tab pos="0" algn="l"/>
              </a:tabLst>
            </a:pPr>
            <a:r>
              <a:rPr lang="pl-PL" sz="2200" b="1" u="none" strike="noStrike" dirty="0">
                <a:solidFill>
                  <a:srgbClr val="FFFFFF"/>
                </a:solidFill>
                <a:effectLst/>
                <a:uFillTx/>
                <a:latin typeface="Cambria"/>
                <a:ea typeface="Cambria"/>
              </a:rPr>
              <a:t>EYE-TRACKING W PRAKTYCE</a:t>
            </a:r>
            <a:endParaRPr lang="pl-PL" sz="2200" b="0" u="none" strike="noStrike" dirty="0">
              <a:solidFill>
                <a:srgbClr val="000000"/>
              </a:solidFill>
              <a:effectLst/>
              <a:uFillTx/>
              <a:latin typeface="Arial"/>
            </a:endParaRPr>
          </a:p>
        </p:txBody>
      </p:sp>
      <p:sp>
        <p:nvSpPr>
          <p:cNvPr id="591" name="Text 296"/>
          <p:cNvSpPr/>
          <p:nvPr/>
        </p:nvSpPr>
        <p:spPr>
          <a:xfrm>
            <a:off x="453600" y="594720"/>
            <a:ext cx="9172080" cy="331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pl-PL" sz="1400" b="0" i="1" u="none" strike="noStrike" dirty="0">
                <a:solidFill>
                  <a:srgbClr val="CADCFC"/>
                </a:solidFill>
                <a:effectLst/>
                <a:uFillTx/>
                <a:latin typeface="Calibri"/>
                <a:ea typeface="Calibri"/>
              </a:rPr>
              <a:t>Uwaga, emocje i obciążenie poznawcze</a:t>
            </a:r>
            <a:endParaRPr lang="pl-PL" sz="1400" b="0" u="none" strike="noStrike" dirty="0">
              <a:solidFill>
                <a:srgbClr val="000000"/>
              </a:solidFill>
              <a:effectLst/>
              <a:uFillTx/>
              <a:latin typeface="Arial"/>
            </a:endParaRPr>
          </a:p>
        </p:txBody>
      </p:sp>
      <p:sp>
        <p:nvSpPr>
          <p:cNvPr id="592" name="Shape 244"/>
          <p:cNvSpPr/>
          <p:nvPr/>
        </p:nvSpPr>
        <p:spPr>
          <a:xfrm>
            <a:off x="403200" y="1108800"/>
            <a:ext cx="4736160" cy="764280"/>
          </a:xfrm>
          <a:prstGeom prst="roundRect">
            <a:avLst>
              <a:gd name="adj" fmla="val 13158"/>
            </a:avLst>
          </a:prstGeom>
          <a:solidFill>
            <a:srgbClr val="FFFFFF"/>
          </a:solidFill>
          <a:ln w="0">
            <a:solidFill>
              <a:schemeClr val="bg2">
                <a:lumMod val="75000"/>
              </a:schemeClr>
            </a:solid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593" name="Shape 245"/>
          <p:cNvSpPr/>
          <p:nvPr/>
        </p:nvSpPr>
        <p:spPr>
          <a:xfrm>
            <a:off x="402840" y="1108800"/>
            <a:ext cx="1006560" cy="764640"/>
          </a:xfrm>
          <a:prstGeom prst="roundRect">
            <a:avLst>
              <a:gd name="adj" fmla="val 10526"/>
            </a:avLst>
          </a:prstGeom>
          <a:solidFill>
            <a:srgbClr val="1E2761"/>
          </a:solidFill>
          <a:ln w="0">
            <a:solidFill>
              <a:schemeClr val="bg2">
                <a:lumMod val="25000"/>
              </a:schemeClr>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594" name="Text 297"/>
          <p:cNvSpPr/>
          <p:nvPr/>
        </p:nvSpPr>
        <p:spPr>
          <a:xfrm>
            <a:off x="403200" y="1108800"/>
            <a:ext cx="1006560" cy="764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400" b="1" u="none" strike="noStrike">
                <a:solidFill>
                  <a:srgbClr val="FFFFFF"/>
                </a:solidFill>
                <a:effectLst/>
                <a:uFillTx/>
                <a:latin typeface="Cambria"/>
                <a:ea typeface="Cambria"/>
              </a:rPr>
              <a:t>Fiksacje</a:t>
            </a:r>
            <a:endParaRPr lang="pl-PL" sz="1400" b="0" u="none" strike="noStrike">
              <a:solidFill>
                <a:srgbClr val="000000"/>
              </a:solidFill>
              <a:effectLst/>
              <a:uFillTx/>
              <a:latin typeface="Arial"/>
            </a:endParaRPr>
          </a:p>
        </p:txBody>
      </p:sp>
      <p:sp>
        <p:nvSpPr>
          <p:cNvPr id="595" name="Text 298"/>
          <p:cNvSpPr/>
          <p:nvPr/>
        </p:nvSpPr>
        <p:spPr>
          <a:xfrm>
            <a:off x="1481760" y="1128960"/>
            <a:ext cx="3547080" cy="704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tabLst>
                <a:tab pos="0" algn="l"/>
              </a:tabLst>
            </a:pPr>
            <a:r>
              <a:rPr lang="pl-PL" sz="1400" b="0" u="none" strike="noStrike" dirty="0">
                <a:solidFill>
                  <a:srgbClr val="1A1F3C"/>
                </a:solidFill>
                <a:effectLst/>
                <a:uFillTx/>
                <a:latin typeface="Calibri"/>
                <a:ea typeface="Calibri"/>
              </a:rPr>
              <a:t>Zatrzymanie wzroku ≥ 100–150 ms. Wskaźnik aktywnego przetwarzania. Długość i liczba fiksacji różnicuje poziomy trudności.</a:t>
            </a:r>
            <a:endParaRPr lang="pl-PL" sz="1400" b="0" u="none" strike="noStrike" dirty="0">
              <a:solidFill>
                <a:srgbClr val="000000"/>
              </a:solidFill>
              <a:effectLst/>
              <a:uFillTx/>
              <a:latin typeface="Arial"/>
            </a:endParaRPr>
          </a:p>
        </p:txBody>
      </p:sp>
      <p:sp>
        <p:nvSpPr>
          <p:cNvPr id="596" name="Shape 246"/>
          <p:cNvSpPr/>
          <p:nvPr/>
        </p:nvSpPr>
        <p:spPr>
          <a:xfrm>
            <a:off x="403200" y="1975680"/>
            <a:ext cx="4736160" cy="764280"/>
          </a:xfrm>
          <a:prstGeom prst="roundRect">
            <a:avLst>
              <a:gd name="adj" fmla="val 13158"/>
            </a:avLst>
          </a:prstGeom>
          <a:solidFill>
            <a:srgbClr val="FFFFFF"/>
          </a:solidFill>
          <a:ln w="0">
            <a:solidFill>
              <a:schemeClr val="bg2">
                <a:lumMod val="75000"/>
              </a:schemeClr>
            </a:solid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597" name="Shape 247"/>
          <p:cNvSpPr/>
          <p:nvPr/>
        </p:nvSpPr>
        <p:spPr>
          <a:xfrm>
            <a:off x="402840" y="1975320"/>
            <a:ext cx="1006560" cy="764640"/>
          </a:xfrm>
          <a:prstGeom prst="roundRect">
            <a:avLst>
              <a:gd name="adj" fmla="val 10526"/>
            </a:avLst>
          </a:prstGeom>
          <a:solidFill>
            <a:srgbClr val="2D3B8E"/>
          </a:solidFill>
          <a:ln w="0">
            <a:solidFill>
              <a:schemeClr val="bg2">
                <a:lumMod val="25000"/>
              </a:schemeClr>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598" name="Text 299"/>
          <p:cNvSpPr/>
          <p:nvPr/>
        </p:nvSpPr>
        <p:spPr>
          <a:xfrm>
            <a:off x="403200" y="1975680"/>
            <a:ext cx="1006560" cy="764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400" b="1" u="none" strike="noStrike">
                <a:solidFill>
                  <a:srgbClr val="FFFFFF"/>
                </a:solidFill>
                <a:effectLst/>
                <a:uFillTx/>
                <a:latin typeface="Cambria"/>
                <a:ea typeface="Cambria"/>
              </a:rPr>
              <a:t>Sakkady</a:t>
            </a:r>
            <a:endParaRPr lang="pl-PL" sz="1400" b="0" u="none" strike="noStrike">
              <a:solidFill>
                <a:srgbClr val="000000"/>
              </a:solidFill>
              <a:effectLst/>
              <a:uFillTx/>
              <a:latin typeface="Arial"/>
            </a:endParaRPr>
          </a:p>
        </p:txBody>
      </p:sp>
      <p:sp>
        <p:nvSpPr>
          <p:cNvPr id="599" name="Text 300"/>
          <p:cNvSpPr/>
          <p:nvPr/>
        </p:nvSpPr>
        <p:spPr>
          <a:xfrm>
            <a:off x="1481760" y="1995840"/>
            <a:ext cx="3547080" cy="704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tabLst>
                <a:tab pos="0" algn="l"/>
              </a:tabLst>
            </a:pPr>
            <a:r>
              <a:rPr lang="pl-PL" sz="1400" b="0" u="none" strike="noStrike" dirty="0">
                <a:solidFill>
                  <a:srgbClr val="1A1F3C"/>
                </a:solidFill>
                <a:effectLst/>
                <a:uFillTx/>
                <a:latin typeface="Calibri"/>
                <a:ea typeface="Calibri"/>
              </a:rPr>
              <a:t>Szybkie ruchy między fiksacjami. Długość i czas trwania odzwierciedlają strategię eksploracji wzrokowej.</a:t>
            </a:r>
            <a:endParaRPr lang="pl-PL" sz="1400" b="0" u="none" strike="noStrike" dirty="0">
              <a:solidFill>
                <a:srgbClr val="000000"/>
              </a:solidFill>
              <a:effectLst/>
              <a:uFillTx/>
              <a:latin typeface="Arial"/>
            </a:endParaRPr>
          </a:p>
        </p:txBody>
      </p:sp>
      <p:sp>
        <p:nvSpPr>
          <p:cNvPr id="600" name="Shape 248"/>
          <p:cNvSpPr/>
          <p:nvPr/>
        </p:nvSpPr>
        <p:spPr>
          <a:xfrm>
            <a:off x="403200" y="2842920"/>
            <a:ext cx="4736160" cy="764280"/>
          </a:xfrm>
          <a:prstGeom prst="roundRect">
            <a:avLst>
              <a:gd name="adj" fmla="val 13158"/>
            </a:avLst>
          </a:prstGeom>
          <a:solidFill>
            <a:srgbClr val="FFFFFF"/>
          </a:solidFill>
          <a:ln w="0">
            <a:solidFill>
              <a:schemeClr val="bg2">
                <a:lumMod val="75000"/>
              </a:schemeClr>
            </a:solid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601" name="Shape 249"/>
          <p:cNvSpPr/>
          <p:nvPr/>
        </p:nvSpPr>
        <p:spPr>
          <a:xfrm>
            <a:off x="402840" y="2842560"/>
            <a:ext cx="1006560" cy="764640"/>
          </a:xfrm>
          <a:prstGeom prst="roundRect">
            <a:avLst>
              <a:gd name="adj" fmla="val 10526"/>
            </a:avLst>
          </a:prstGeom>
          <a:solidFill>
            <a:srgbClr val="5B8FF9"/>
          </a:solidFill>
          <a:ln w="0">
            <a:solidFill>
              <a:schemeClr val="bg2">
                <a:lumMod val="25000"/>
              </a:schemeClr>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602" name="Text 301"/>
          <p:cNvSpPr/>
          <p:nvPr/>
        </p:nvSpPr>
        <p:spPr>
          <a:xfrm>
            <a:off x="403200" y="2842560"/>
            <a:ext cx="1006560" cy="764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400" b="1" u="none" strike="noStrike">
                <a:solidFill>
                  <a:srgbClr val="FFFFFF"/>
                </a:solidFill>
                <a:effectLst/>
                <a:uFillTx/>
                <a:latin typeface="Cambria"/>
                <a:ea typeface="Cambria"/>
              </a:rPr>
              <a:t>AOI</a:t>
            </a:r>
            <a:endParaRPr lang="pl-PL" sz="1400" b="0" u="none" strike="noStrike">
              <a:solidFill>
                <a:srgbClr val="000000"/>
              </a:solidFill>
              <a:effectLst/>
              <a:uFillTx/>
              <a:latin typeface="Arial"/>
            </a:endParaRPr>
          </a:p>
        </p:txBody>
      </p:sp>
      <p:sp>
        <p:nvSpPr>
          <p:cNvPr id="603" name="Text 302"/>
          <p:cNvSpPr/>
          <p:nvPr/>
        </p:nvSpPr>
        <p:spPr>
          <a:xfrm>
            <a:off x="1481760" y="2863080"/>
            <a:ext cx="3547080" cy="704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tabLst>
                <a:tab pos="0" algn="l"/>
              </a:tabLst>
            </a:pPr>
            <a:r>
              <a:rPr lang="pl-PL" sz="1400" b="0" u="none" strike="noStrike" dirty="0" err="1">
                <a:solidFill>
                  <a:srgbClr val="1A1F3C"/>
                </a:solidFill>
                <a:effectLst/>
                <a:uFillTx/>
                <a:latin typeface="Calibri"/>
                <a:ea typeface="Calibri"/>
              </a:rPr>
              <a:t>Areas</a:t>
            </a:r>
            <a:r>
              <a:rPr lang="pl-PL" sz="1400" b="0" u="none" strike="noStrike" dirty="0">
                <a:solidFill>
                  <a:srgbClr val="1A1F3C"/>
                </a:solidFill>
                <a:effectLst/>
                <a:uFillTx/>
                <a:latin typeface="Calibri"/>
                <a:ea typeface="Calibri"/>
              </a:rPr>
              <a:t> of </a:t>
            </a:r>
            <a:r>
              <a:rPr lang="pl-PL" sz="1400" b="0" u="none" strike="noStrike" dirty="0" err="1">
                <a:solidFill>
                  <a:srgbClr val="1A1F3C"/>
                </a:solidFill>
                <a:effectLst/>
                <a:uFillTx/>
                <a:latin typeface="Calibri"/>
                <a:ea typeface="Calibri"/>
              </a:rPr>
              <a:t>Interest</a:t>
            </a:r>
            <a:r>
              <a:rPr lang="pl-PL" sz="1400" b="0" u="none" strike="noStrike" dirty="0">
                <a:solidFill>
                  <a:srgbClr val="1A1F3C"/>
                </a:solidFill>
                <a:effectLst/>
                <a:uFillTx/>
                <a:latin typeface="Calibri"/>
                <a:ea typeface="Calibri"/>
              </a:rPr>
              <a:t>: regiony definiowane przez badacza na materiale bodźcowym. Porównanie czasu w AOI między warunkami.</a:t>
            </a:r>
            <a:endParaRPr lang="pl-PL" sz="1400" b="0" u="none" strike="noStrike" dirty="0">
              <a:solidFill>
                <a:srgbClr val="000000"/>
              </a:solidFill>
              <a:effectLst/>
              <a:uFillTx/>
              <a:latin typeface="Arial"/>
            </a:endParaRPr>
          </a:p>
        </p:txBody>
      </p:sp>
      <p:sp>
        <p:nvSpPr>
          <p:cNvPr id="604" name="Shape 250"/>
          <p:cNvSpPr/>
          <p:nvPr/>
        </p:nvSpPr>
        <p:spPr>
          <a:xfrm>
            <a:off x="403200" y="3709800"/>
            <a:ext cx="4736160" cy="764280"/>
          </a:xfrm>
          <a:prstGeom prst="roundRect">
            <a:avLst>
              <a:gd name="adj" fmla="val 13158"/>
            </a:avLst>
          </a:prstGeom>
          <a:solidFill>
            <a:srgbClr val="FFFFFF"/>
          </a:solidFill>
          <a:ln w="0">
            <a:solidFill>
              <a:schemeClr val="bg2">
                <a:lumMod val="75000"/>
              </a:schemeClr>
            </a:solid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605" name="Shape 251"/>
          <p:cNvSpPr/>
          <p:nvPr/>
        </p:nvSpPr>
        <p:spPr>
          <a:xfrm>
            <a:off x="402840" y="3709440"/>
            <a:ext cx="1006560" cy="764640"/>
          </a:xfrm>
          <a:prstGeom prst="roundRect">
            <a:avLst>
              <a:gd name="adj" fmla="val 10526"/>
            </a:avLst>
          </a:prstGeom>
          <a:solidFill>
            <a:srgbClr val="2D7DD2"/>
          </a:solidFill>
          <a:ln w="0">
            <a:solidFill>
              <a:schemeClr val="bg2">
                <a:lumMod val="25000"/>
              </a:schemeClr>
            </a:solid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606" name="Text 303"/>
          <p:cNvSpPr/>
          <p:nvPr/>
        </p:nvSpPr>
        <p:spPr>
          <a:xfrm>
            <a:off x="403200" y="3709440"/>
            <a:ext cx="1006560" cy="764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400" b="1" u="none" strike="noStrike" dirty="0" err="1">
                <a:solidFill>
                  <a:srgbClr val="FFFFFF"/>
                </a:solidFill>
                <a:effectLst/>
                <a:uFillTx/>
                <a:latin typeface="Cambria"/>
                <a:ea typeface="Cambria"/>
              </a:rPr>
              <a:t>Pupilo-metria</a:t>
            </a:r>
            <a:endParaRPr lang="pl-PL" sz="1400" b="0" u="none" strike="noStrike" dirty="0">
              <a:solidFill>
                <a:srgbClr val="000000"/>
              </a:solidFill>
              <a:effectLst/>
              <a:uFillTx/>
              <a:latin typeface="Arial"/>
            </a:endParaRPr>
          </a:p>
        </p:txBody>
      </p:sp>
      <p:sp>
        <p:nvSpPr>
          <p:cNvPr id="607" name="Text 304"/>
          <p:cNvSpPr/>
          <p:nvPr/>
        </p:nvSpPr>
        <p:spPr>
          <a:xfrm>
            <a:off x="1481760" y="3729600"/>
            <a:ext cx="3547080" cy="704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tabLst>
                <a:tab pos="0" algn="l"/>
              </a:tabLst>
            </a:pPr>
            <a:r>
              <a:rPr lang="pl-PL" sz="1400" b="0" u="none" strike="noStrike" dirty="0">
                <a:solidFill>
                  <a:srgbClr val="1A1F3C"/>
                </a:solidFill>
                <a:effectLst/>
                <a:uFillTx/>
                <a:latin typeface="Calibri"/>
                <a:ea typeface="Calibri"/>
              </a:rPr>
              <a:t>Średnica reaguje na obciążenie poznawcze </a:t>
            </a:r>
            <a:br>
              <a:rPr sz="1400" dirty="0"/>
            </a:br>
            <a:r>
              <a:rPr lang="pl-PL" sz="1400" b="0" u="none" strike="noStrike" dirty="0">
                <a:solidFill>
                  <a:srgbClr val="1A1F3C"/>
                </a:solidFill>
                <a:effectLst/>
                <a:uFillTx/>
                <a:latin typeface="Calibri"/>
                <a:ea typeface="Calibri"/>
              </a:rPr>
              <a:t>i pobudzenie emocjonalne. Niezależna od kontroli wolicjonalnej.</a:t>
            </a:r>
            <a:endParaRPr lang="pl-PL" sz="1400" b="0" u="none" strike="noStrike" dirty="0">
              <a:solidFill>
                <a:srgbClr val="000000"/>
              </a:solidFill>
              <a:effectLst/>
              <a:uFillTx/>
              <a:latin typeface="Arial"/>
            </a:endParaRPr>
          </a:p>
        </p:txBody>
      </p:sp>
      <p:sp>
        <p:nvSpPr>
          <p:cNvPr id="608" name="Shape 252"/>
          <p:cNvSpPr/>
          <p:nvPr/>
        </p:nvSpPr>
        <p:spPr>
          <a:xfrm>
            <a:off x="5443560" y="1108800"/>
            <a:ext cx="4212000" cy="3365280"/>
          </a:xfrm>
          <a:prstGeom prst="roundRect">
            <a:avLst>
              <a:gd name="adj" fmla="val 2907"/>
            </a:avLst>
          </a:prstGeom>
          <a:solidFill>
            <a:srgbClr val="F8F9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609" name="Text 305"/>
          <p:cNvSpPr/>
          <p:nvPr/>
        </p:nvSpPr>
        <p:spPr>
          <a:xfrm>
            <a:off x="5594760" y="1189440"/>
            <a:ext cx="3909600" cy="401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100" b="1" u="none" strike="noStrike">
                <a:solidFill>
                  <a:srgbClr val="1E2761"/>
                </a:solidFill>
                <a:effectLst/>
                <a:uFillTx/>
                <a:latin typeface="Cambria"/>
                <a:ea typeface="Cambria"/>
              </a:rPr>
              <a:t>Mapa cieplna uwagi (heatmap)</a:t>
            </a:r>
            <a:endParaRPr lang="pl-PL" sz="1100" b="0" u="none" strike="noStrike">
              <a:solidFill>
                <a:srgbClr val="000000"/>
              </a:solidFill>
              <a:effectLst/>
              <a:uFillTx/>
              <a:latin typeface="Arial"/>
            </a:endParaRPr>
          </a:p>
        </p:txBody>
      </p:sp>
      <p:sp>
        <p:nvSpPr>
          <p:cNvPr id="610" name="Shape 253"/>
          <p:cNvSpPr/>
          <p:nvPr/>
        </p:nvSpPr>
        <p:spPr>
          <a:xfrm>
            <a:off x="5645160" y="1764000"/>
            <a:ext cx="1409760" cy="845280"/>
          </a:xfrm>
          <a:prstGeom prst="ellipse">
            <a:avLst/>
          </a:prstGeom>
          <a:solidFill>
            <a:srgbClr val="D64045">
              <a:alpha val="82000"/>
            </a:srgbClr>
          </a:solidFill>
          <a:ln w="12700">
            <a:solidFill>
              <a:srgbClr val="D6404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611" name="Shape 254"/>
          <p:cNvSpPr/>
          <p:nvPr/>
        </p:nvSpPr>
        <p:spPr>
          <a:xfrm>
            <a:off x="7308360" y="1638360"/>
            <a:ext cx="1107360" cy="663480"/>
          </a:xfrm>
          <a:prstGeom prst="ellipse">
            <a:avLst/>
          </a:prstGeom>
          <a:solidFill>
            <a:srgbClr val="5B8FF9">
              <a:alpha val="70000"/>
            </a:srgbClr>
          </a:solidFill>
          <a:ln w="12700">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612" name="Shape 255"/>
          <p:cNvSpPr/>
          <p:nvPr/>
        </p:nvSpPr>
        <p:spPr>
          <a:xfrm>
            <a:off x="6703560" y="2696760"/>
            <a:ext cx="905760" cy="542880"/>
          </a:xfrm>
          <a:prstGeom prst="ellipse">
            <a:avLst/>
          </a:prstGeom>
          <a:solidFill>
            <a:srgbClr val="3A9F6E">
              <a:alpha val="65000"/>
            </a:srgbClr>
          </a:solidFill>
          <a:ln w="12700">
            <a:solidFill>
              <a:srgbClr val="3A9F6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613" name="Shape 256"/>
          <p:cNvSpPr/>
          <p:nvPr/>
        </p:nvSpPr>
        <p:spPr>
          <a:xfrm>
            <a:off x="5695560" y="3251160"/>
            <a:ext cx="704160" cy="421920"/>
          </a:xfrm>
          <a:prstGeom prst="ellipse">
            <a:avLst/>
          </a:prstGeom>
          <a:solidFill>
            <a:srgbClr val="2D7DD2">
              <a:alpha val="50000"/>
            </a:srgbClr>
          </a:solidFill>
          <a:ln w="12700">
            <a:solidFill>
              <a:srgbClr val="2D7DD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614" name="Shape 257"/>
          <p:cNvSpPr/>
          <p:nvPr/>
        </p:nvSpPr>
        <p:spPr>
          <a:xfrm>
            <a:off x="8165160" y="2973600"/>
            <a:ext cx="603360" cy="361080"/>
          </a:xfrm>
          <a:prstGeom prst="ellipse">
            <a:avLst/>
          </a:prstGeom>
          <a:solidFill>
            <a:srgbClr val="5B8FF9">
              <a:alpha val="45000"/>
            </a:srgbClr>
          </a:solidFill>
          <a:ln w="12700">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615" name="Shape 258"/>
          <p:cNvSpPr/>
          <p:nvPr/>
        </p:nvSpPr>
        <p:spPr>
          <a:xfrm>
            <a:off x="6955560" y="1764000"/>
            <a:ext cx="1812960" cy="956160"/>
          </a:xfrm>
          <a:prstGeom prst="rect">
            <a:avLst/>
          </a:prstGeom>
          <a:solidFill>
            <a:srgbClr val="FFFFFF">
              <a:alpha val="20000"/>
            </a:srgbClr>
          </a:solidFill>
          <a:ln w="19050">
            <a:solidFill>
              <a:srgbClr val="5B8FF9"/>
            </a:solidFill>
            <a:prstDash val="dash"/>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616" name="Text 306"/>
          <p:cNvSpPr/>
          <p:nvPr/>
        </p:nvSpPr>
        <p:spPr>
          <a:xfrm>
            <a:off x="7056360" y="1794240"/>
            <a:ext cx="603360" cy="280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900" b="1" u="none" strike="noStrike">
                <a:solidFill>
                  <a:srgbClr val="5B8FF9"/>
                </a:solidFill>
                <a:effectLst/>
                <a:uFillTx/>
                <a:latin typeface="Calibri"/>
                <a:ea typeface="Calibri"/>
              </a:rPr>
              <a:t>AOI</a:t>
            </a:r>
            <a:endParaRPr lang="pl-PL" sz="900" b="0" u="none" strike="noStrike">
              <a:solidFill>
                <a:srgbClr val="000000"/>
              </a:solidFill>
              <a:effectLst/>
              <a:uFillTx/>
              <a:latin typeface="Arial"/>
            </a:endParaRPr>
          </a:p>
        </p:txBody>
      </p:sp>
      <p:sp>
        <p:nvSpPr>
          <p:cNvPr id="617" name="Shape 259"/>
          <p:cNvSpPr/>
          <p:nvPr/>
        </p:nvSpPr>
        <p:spPr>
          <a:xfrm>
            <a:off x="403200" y="5185440"/>
            <a:ext cx="9252360" cy="397800"/>
          </a:xfrm>
          <a:prstGeom prst="roundRect">
            <a:avLst>
              <a:gd name="adj" fmla="val 11111"/>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pPr algn="ctr">
              <a:tabLst>
                <a:tab pos="408240" algn="l"/>
              </a:tabLst>
            </a:pPr>
            <a:r>
              <a:rPr lang="pl-PL" dirty="0">
                <a:solidFill>
                  <a:srgbClr val="000000"/>
                </a:solidFill>
                <a:latin typeface="Cambria Math" panose="02040503050406030204" pitchFamily="18" charset="0"/>
                <a:ea typeface="Cambria Math" panose="02040503050406030204" pitchFamily="18" charset="0"/>
              </a:rPr>
              <a:t>Kalibracja, oświetlenie i stabilność głowy bezpośrednio wpływają na jakość danych</a:t>
            </a:r>
          </a:p>
        </p:txBody>
      </p:sp>
      <p:sp>
        <p:nvSpPr>
          <p:cNvPr id="618" name="Text 307"/>
          <p:cNvSpPr/>
          <p:nvPr/>
        </p:nvSpPr>
        <p:spPr>
          <a:xfrm>
            <a:off x="402840" y="4675411"/>
            <a:ext cx="1662120" cy="35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1" u="none" strike="noStrike" dirty="0">
                <a:solidFill>
                  <a:srgbClr val="1E2761"/>
                </a:solidFill>
                <a:effectLst/>
                <a:uFillTx/>
                <a:latin typeface="Cambria"/>
                <a:ea typeface="Cambria"/>
              </a:rPr>
              <a:t>Zastosowania:</a:t>
            </a:r>
            <a:endParaRPr lang="pl-PL" sz="1600" b="0" u="none" strike="noStrike" dirty="0">
              <a:solidFill>
                <a:srgbClr val="000000"/>
              </a:solidFill>
              <a:effectLst/>
              <a:uFillTx/>
              <a:latin typeface="Arial"/>
            </a:endParaRPr>
          </a:p>
        </p:txBody>
      </p:sp>
      <p:grpSp>
        <p:nvGrpSpPr>
          <p:cNvPr id="2" name="Grupa 1"/>
          <p:cNvGrpSpPr/>
          <p:nvPr/>
        </p:nvGrpSpPr>
        <p:grpSpPr>
          <a:xfrm>
            <a:off x="2064960" y="4600282"/>
            <a:ext cx="7559441" cy="493346"/>
            <a:chOff x="2569654" y="4733842"/>
            <a:chExt cx="7015790" cy="493346"/>
          </a:xfrm>
        </p:grpSpPr>
        <p:sp>
          <p:nvSpPr>
            <p:cNvPr id="619" name="Shape 260"/>
            <p:cNvSpPr/>
            <p:nvPr/>
          </p:nvSpPr>
          <p:spPr>
            <a:xfrm>
              <a:off x="2569654" y="4751842"/>
              <a:ext cx="1080000" cy="468000"/>
            </a:xfrm>
            <a:prstGeom prst="roundRect">
              <a:avLst>
                <a:gd name="adj" fmla="val 18750"/>
              </a:avLst>
            </a:prstGeom>
            <a:solidFill>
              <a:srgbClr val="1E276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400" b="0" u="none" strike="noStrike" dirty="0">
                  <a:solidFill>
                    <a:srgbClr val="FFFFFF"/>
                  </a:solidFill>
                  <a:effectLst/>
                  <a:uFillTx/>
                  <a:latin typeface="Calibri"/>
                  <a:ea typeface="Calibri"/>
                </a:rPr>
                <a:t>Uwaga selektywna</a:t>
              </a:r>
              <a:endParaRPr lang="pl-PL" sz="1400" b="0" u="none" strike="noStrike" dirty="0">
                <a:solidFill>
                  <a:srgbClr val="FFFFFF"/>
                </a:solidFill>
                <a:effectLst/>
                <a:uFillTx/>
                <a:latin typeface="Arial"/>
              </a:endParaRPr>
            </a:p>
          </p:txBody>
        </p:sp>
        <p:sp>
          <p:nvSpPr>
            <p:cNvPr id="620" name="Shape 261"/>
            <p:cNvSpPr/>
            <p:nvPr/>
          </p:nvSpPr>
          <p:spPr>
            <a:xfrm>
              <a:off x="3719854" y="4759188"/>
              <a:ext cx="837360" cy="468000"/>
            </a:xfrm>
            <a:prstGeom prst="roundRect">
              <a:avLst>
                <a:gd name="adj" fmla="val 18750"/>
              </a:avLst>
            </a:prstGeom>
            <a:solidFill>
              <a:srgbClr val="1E276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400" b="0" u="none" strike="noStrike" dirty="0">
                  <a:solidFill>
                    <a:srgbClr val="FFFFFF"/>
                  </a:solidFill>
                  <a:effectLst/>
                  <a:uFillTx/>
                  <a:latin typeface="Calibri"/>
                  <a:ea typeface="Calibri"/>
                </a:rPr>
                <a:t>Emocje</a:t>
              </a:r>
              <a:endParaRPr lang="pl-PL" sz="1400" b="0" u="none" strike="noStrike" dirty="0">
                <a:solidFill>
                  <a:srgbClr val="FFFFFF"/>
                </a:solidFill>
                <a:effectLst/>
                <a:uFillTx/>
                <a:latin typeface="Arial"/>
              </a:endParaRPr>
            </a:p>
          </p:txBody>
        </p:sp>
        <p:sp>
          <p:nvSpPr>
            <p:cNvPr id="621" name="Shape 262"/>
            <p:cNvSpPr/>
            <p:nvPr/>
          </p:nvSpPr>
          <p:spPr>
            <a:xfrm>
              <a:off x="4627697" y="4750651"/>
              <a:ext cx="1138980" cy="468000"/>
            </a:xfrm>
            <a:prstGeom prst="roundRect">
              <a:avLst>
                <a:gd name="adj" fmla="val 18750"/>
              </a:avLst>
            </a:prstGeom>
            <a:solidFill>
              <a:srgbClr val="1E276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400" b="0" u="none" strike="noStrike" dirty="0">
                  <a:solidFill>
                    <a:srgbClr val="FFFFFF"/>
                  </a:solidFill>
                  <a:effectLst/>
                  <a:uFillTx/>
                  <a:latin typeface="Calibri"/>
                  <a:ea typeface="Calibri"/>
                </a:rPr>
                <a:t>Obciążenie poznawcze</a:t>
              </a:r>
              <a:endParaRPr lang="pl-PL" sz="1400" b="0" u="none" strike="noStrike" dirty="0">
                <a:solidFill>
                  <a:srgbClr val="FFFFFF"/>
                </a:solidFill>
                <a:effectLst/>
                <a:uFillTx/>
                <a:latin typeface="Arial"/>
              </a:endParaRPr>
            </a:p>
          </p:txBody>
        </p:sp>
        <p:sp>
          <p:nvSpPr>
            <p:cNvPr id="622" name="Shape 263"/>
            <p:cNvSpPr/>
            <p:nvPr/>
          </p:nvSpPr>
          <p:spPr>
            <a:xfrm>
              <a:off x="5837160" y="4750651"/>
              <a:ext cx="1369269" cy="468000"/>
            </a:xfrm>
            <a:prstGeom prst="roundRect">
              <a:avLst>
                <a:gd name="adj" fmla="val 18750"/>
              </a:avLst>
            </a:prstGeom>
            <a:solidFill>
              <a:srgbClr val="1E276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400" b="0" u="none" strike="noStrike">
                  <a:solidFill>
                    <a:srgbClr val="FFFFFF"/>
                  </a:solidFill>
                  <a:effectLst/>
                  <a:uFillTx/>
                  <a:latin typeface="Calibri"/>
                  <a:ea typeface="Calibri"/>
                </a:rPr>
                <a:t>Diagnoza psychologiczna</a:t>
              </a:r>
              <a:endParaRPr lang="pl-PL" sz="1400" b="0" u="none" strike="noStrike">
                <a:solidFill>
                  <a:srgbClr val="FFFFFF"/>
                </a:solidFill>
                <a:effectLst/>
                <a:uFillTx/>
                <a:latin typeface="Arial"/>
              </a:endParaRPr>
            </a:p>
          </p:txBody>
        </p:sp>
        <p:sp>
          <p:nvSpPr>
            <p:cNvPr id="623" name="Shape 265"/>
            <p:cNvSpPr/>
            <p:nvPr/>
          </p:nvSpPr>
          <p:spPr>
            <a:xfrm>
              <a:off x="8380884" y="4733842"/>
              <a:ext cx="1204560" cy="468000"/>
            </a:xfrm>
            <a:prstGeom prst="roundRect">
              <a:avLst>
                <a:gd name="adj" fmla="val 18750"/>
              </a:avLst>
            </a:prstGeom>
            <a:solidFill>
              <a:srgbClr val="1E276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400" b="0" u="none" strike="noStrike" dirty="0">
                  <a:solidFill>
                    <a:srgbClr val="FFFFFF"/>
                  </a:solidFill>
                  <a:effectLst/>
                  <a:uFillTx/>
                  <a:latin typeface="Calibri"/>
                  <a:ea typeface="Calibri"/>
                </a:rPr>
                <a:t>Czytanie </a:t>
              </a:r>
              <a:br>
                <a:rPr lang="pl-PL" sz="1400" b="0" u="none" strike="noStrike" dirty="0">
                  <a:solidFill>
                    <a:srgbClr val="FFFFFF"/>
                  </a:solidFill>
                  <a:effectLst/>
                  <a:uFillTx/>
                  <a:latin typeface="Calibri"/>
                  <a:ea typeface="Calibri"/>
                </a:rPr>
              </a:br>
              <a:r>
                <a:rPr lang="pl-PL" sz="1400" b="0" u="none" strike="noStrike" dirty="0">
                  <a:solidFill>
                    <a:srgbClr val="FFFFFF"/>
                  </a:solidFill>
                  <a:effectLst/>
                  <a:uFillTx/>
                  <a:latin typeface="Calibri"/>
                  <a:ea typeface="Calibri"/>
                </a:rPr>
                <a:t>i język</a:t>
              </a:r>
              <a:endParaRPr lang="pl-PL" sz="1400" b="0" u="none" strike="noStrike" dirty="0">
                <a:solidFill>
                  <a:srgbClr val="FFFFFF"/>
                </a:solidFill>
                <a:effectLst/>
                <a:uFillTx/>
                <a:latin typeface="Arial"/>
              </a:endParaRPr>
            </a:p>
          </p:txBody>
        </p:sp>
        <p:sp>
          <p:nvSpPr>
            <p:cNvPr id="625" name="Shape 3"/>
            <p:cNvSpPr/>
            <p:nvPr/>
          </p:nvSpPr>
          <p:spPr>
            <a:xfrm>
              <a:off x="7284865" y="4733842"/>
              <a:ext cx="1017583" cy="468000"/>
            </a:xfrm>
            <a:prstGeom prst="roundRect">
              <a:avLst>
                <a:gd name="adj" fmla="val 18750"/>
              </a:avLst>
            </a:prstGeom>
            <a:solidFill>
              <a:srgbClr val="1E276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400" b="0" u="none" strike="noStrike" dirty="0">
                  <a:solidFill>
                    <a:srgbClr val="FFFFFF"/>
                  </a:solidFill>
                  <a:effectLst/>
                  <a:uFillTx/>
                  <a:latin typeface="Calibri"/>
                  <a:ea typeface="Calibri"/>
                </a:rPr>
                <a:t>Interfejsy </a:t>
              </a:r>
              <a:br>
                <a:rPr sz="1400" dirty="0"/>
              </a:br>
              <a:r>
                <a:rPr lang="pl-PL" sz="1400" b="0" u="none" strike="noStrike" dirty="0">
                  <a:solidFill>
                    <a:srgbClr val="FFFFFF"/>
                  </a:solidFill>
                  <a:effectLst/>
                  <a:uFillTx/>
                  <a:latin typeface="Calibri"/>
                  <a:ea typeface="Calibri"/>
                </a:rPr>
                <a:t>i UI/UX</a:t>
              </a:r>
              <a:endParaRPr lang="pl-PL" sz="1400" b="0" u="none" strike="noStrike" dirty="0">
                <a:solidFill>
                  <a:srgbClr val="FFFFFF"/>
                </a:solidFill>
                <a:effectLst/>
                <a:uFillTx/>
                <a:latin typeface="Arial"/>
              </a:endParaRPr>
            </a:p>
          </p:txBody>
        </p:sp>
      </p:grpSp>
      <p:pic>
        <p:nvPicPr>
          <p:cNvPr id="626" name="Obraz 625"/>
          <p:cNvPicPr/>
          <p:nvPr/>
        </p:nvPicPr>
        <p:blipFill>
          <a:blip r:embed="rId3"/>
          <a:srcRect l="4139" t="759"/>
          <a:stretch/>
        </p:blipFill>
        <p:spPr>
          <a:xfrm>
            <a:off x="5443200" y="1108800"/>
            <a:ext cx="4212360" cy="3365280"/>
          </a:xfrm>
          <a:prstGeom prst="roundRect">
            <a:avLst>
              <a:gd name="adj" fmla="val 2425"/>
            </a:avLst>
          </a:prstGeom>
          <a:noFill/>
          <a:ln w="0">
            <a:solidFill>
              <a:schemeClr val="bg2">
                <a:lumMod val="50000"/>
              </a:schemeClr>
            </a:solid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627" name="Shape 266"/>
          <p:cNvSpPr/>
          <p:nvPr/>
        </p:nvSpPr>
        <p:spPr>
          <a:xfrm>
            <a:off x="360" y="360"/>
            <a:ext cx="10079280" cy="1006560"/>
          </a:xfrm>
          <a:prstGeom prst="rect">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628" name="Text 315"/>
          <p:cNvSpPr/>
          <p:nvPr/>
        </p:nvSpPr>
        <p:spPr>
          <a:xfrm>
            <a:off x="453600" y="70560"/>
            <a:ext cx="9172080" cy="502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defTabSz="914400">
              <a:lnSpc>
                <a:spcPct val="100000"/>
              </a:lnSpc>
              <a:tabLst>
                <a:tab pos="0" algn="l"/>
              </a:tabLst>
            </a:pPr>
            <a:r>
              <a:rPr lang="pl-PL" sz="2200" b="1" u="none" strike="noStrike">
                <a:solidFill>
                  <a:srgbClr val="FFFFFF"/>
                </a:solidFill>
                <a:effectLst/>
                <a:uFillTx/>
                <a:latin typeface="Cambria"/>
                <a:ea typeface="Cambria"/>
              </a:rPr>
              <a:t>ANALIZA MIMIKI I EKSPRESJI EMOCJI</a:t>
            </a:r>
            <a:endParaRPr lang="pl-PL" sz="2200" b="0" u="none" strike="noStrike">
              <a:solidFill>
                <a:srgbClr val="000000"/>
              </a:solidFill>
              <a:effectLst/>
              <a:uFillTx/>
              <a:latin typeface="Arial"/>
            </a:endParaRPr>
          </a:p>
        </p:txBody>
      </p:sp>
      <p:sp>
        <p:nvSpPr>
          <p:cNvPr id="629" name="Text 316"/>
          <p:cNvSpPr/>
          <p:nvPr/>
        </p:nvSpPr>
        <p:spPr>
          <a:xfrm>
            <a:off x="453600" y="594720"/>
            <a:ext cx="9172080" cy="331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pl-PL" sz="1400" b="0" i="1" u="none" strike="noStrike">
                <a:solidFill>
                  <a:srgbClr val="CADCFC"/>
                </a:solidFill>
                <a:effectLst/>
                <a:uFillTx/>
                <a:latin typeface="Calibri"/>
                <a:ea typeface="Calibri"/>
              </a:rPr>
              <a:t>FACS, action units i ograniczenia automatycznej analizy twarzy</a:t>
            </a:r>
            <a:endParaRPr lang="pl-PL" sz="1400" b="0" u="none" strike="noStrike">
              <a:solidFill>
                <a:srgbClr val="000000"/>
              </a:solidFill>
              <a:effectLst/>
              <a:uFillTx/>
              <a:latin typeface="Arial"/>
            </a:endParaRPr>
          </a:p>
        </p:txBody>
      </p:sp>
      <p:sp>
        <p:nvSpPr>
          <p:cNvPr id="630" name="Shape 267"/>
          <p:cNvSpPr/>
          <p:nvPr/>
        </p:nvSpPr>
        <p:spPr>
          <a:xfrm>
            <a:off x="403200" y="1108800"/>
            <a:ext cx="5139720" cy="2165760"/>
          </a:xfrm>
          <a:prstGeom prst="roundRect">
            <a:avLst>
              <a:gd name="adj" fmla="val 4651"/>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631" name="Text 317"/>
          <p:cNvSpPr/>
          <p:nvPr/>
        </p:nvSpPr>
        <p:spPr>
          <a:xfrm>
            <a:off x="525825" y="1179360"/>
            <a:ext cx="4837320" cy="45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b="1" u="none" strike="noStrike" dirty="0">
                <a:solidFill>
                  <a:srgbClr val="1E2761"/>
                </a:solidFill>
                <a:effectLst/>
                <a:uFillTx/>
                <a:latin typeface="Cambria"/>
                <a:ea typeface="Cambria"/>
              </a:rPr>
              <a:t>FACS: </a:t>
            </a:r>
            <a:r>
              <a:rPr lang="pl-PL" b="0" u="none" strike="noStrike" dirty="0" err="1">
                <a:solidFill>
                  <a:srgbClr val="1E2761"/>
                </a:solidFill>
                <a:effectLst/>
                <a:uFillTx/>
                <a:latin typeface="Cambria"/>
                <a:ea typeface="Cambria"/>
              </a:rPr>
              <a:t>Facial</a:t>
            </a:r>
            <a:r>
              <a:rPr lang="pl-PL" b="0" u="none" strike="noStrike" dirty="0">
                <a:solidFill>
                  <a:srgbClr val="1E2761"/>
                </a:solidFill>
                <a:effectLst/>
                <a:uFillTx/>
                <a:latin typeface="Cambria"/>
                <a:ea typeface="Cambria"/>
              </a:rPr>
              <a:t> Action </a:t>
            </a:r>
            <a:r>
              <a:rPr lang="pl-PL" b="0" u="none" strike="noStrike" dirty="0" err="1">
                <a:solidFill>
                  <a:srgbClr val="1E2761"/>
                </a:solidFill>
                <a:effectLst/>
                <a:uFillTx/>
                <a:latin typeface="Cambria"/>
                <a:ea typeface="Cambria"/>
              </a:rPr>
              <a:t>Coding</a:t>
            </a:r>
            <a:r>
              <a:rPr lang="pl-PL" b="0" u="none" strike="noStrike" dirty="0">
                <a:solidFill>
                  <a:srgbClr val="1E2761"/>
                </a:solidFill>
                <a:effectLst/>
                <a:uFillTx/>
                <a:latin typeface="Cambria"/>
                <a:ea typeface="Cambria"/>
              </a:rPr>
              <a:t> System</a:t>
            </a:r>
            <a:endParaRPr lang="pl-PL" b="0" u="none" strike="noStrike" dirty="0">
              <a:solidFill>
                <a:srgbClr val="000000"/>
              </a:solidFill>
              <a:effectLst/>
              <a:uFillTx/>
              <a:latin typeface="Arial"/>
            </a:endParaRPr>
          </a:p>
        </p:txBody>
      </p:sp>
      <p:sp>
        <p:nvSpPr>
          <p:cNvPr id="632" name="Text 318"/>
          <p:cNvSpPr/>
          <p:nvPr/>
        </p:nvSpPr>
        <p:spPr>
          <a:xfrm>
            <a:off x="554400" y="1632960"/>
            <a:ext cx="4837320" cy="1531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20000"/>
              </a:lnSpc>
              <a:tabLst>
                <a:tab pos="0" algn="l"/>
              </a:tabLst>
            </a:pPr>
            <a:r>
              <a:rPr lang="pl-PL" sz="1600" b="0" u="none" strike="noStrike" dirty="0">
                <a:solidFill>
                  <a:srgbClr val="1A1F3C"/>
                </a:solidFill>
                <a:effectLst/>
                <a:uFillTx/>
                <a:latin typeface="Calibri"/>
                <a:ea typeface="Calibri"/>
              </a:rPr>
              <a:t>System anatomicznego opisu ruchów twarzy przez elementarne jednostki mięśniowe (Action </a:t>
            </a:r>
            <a:r>
              <a:rPr lang="pl-PL" sz="1600" b="0" u="none" strike="noStrike" dirty="0" err="1">
                <a:solidFill>
                  <a:srgbClr val="1A1F3C"/>
                </a:solidFill>
                <a:effectLst/>
                <a:uFillTx/>
                <a:latin typeface="Calibri"/>
                <a:ea typeface="Calibri"/>
              </a:rPr>
              <a:t>Units</a:t>
            </a:r>
            <a:r>
              <a:rPr lang="pl-PL" sz="1600" b="0" u="none" strike="noStrike" dirty="0">
                <a:solidFill>
                  <a:srgbClr val="1A1F3C"/>
                </a:solidFill>
                <a:effectLst/>
                <a:uFillTx/>
                <a:latin typeface="Calibri"/>
                <a:ea typeface="Calibri"/>
              </a:rPr>
              <a:t>). Opracowany przez </a:t>
            </a:r>
            <a:r>
              <a:rPr lang="pl-PL" sz="1600" b="0" u="none" strike="noStrike" dirty="0" err="1">
                <a:solidFill>
                  <a:srgbClr val="1A1F3C"/>
                </a:solidFill>
                <a:effectLst/>
                <a:uFillTx/>
                <a:latin typeface="Calibri"/>
                <a:ea typeface="Calibri"/>
              </a:rPr>
              <a:t>Ekmana</a:t>
            </a:r>
            <a:r>
              <a:rPr lang="pl-PL" sz="1600" b="0" u="none" strike="noStrike" dirty="0">
                <a:solidFill>
                  <a:srgbClr val="1A1F3C"/>
                </a:solidFill>
                <a:effectLst/>
                <a:uFillTx/>
                <a:latin typeface="Calibri"/>
                <a:ea typeface="Calibri"/>
              </a:rPr>
              <a:t> i </a:t>
            </a:r>
            <a:r>
              <a:rPr lang="pl-PL" sz="1600" b="0" u="none" strike="noStrike" dirty="0" err="1">
                <a:solidFill>
                  <a:srgbClr val="1A1F3C"/>
                </a:solidFill>
                <a:effectLst/>
                <a:uFillTx/>
                <a:latin typeface="Calibri"/>
                <a:ea typeface="Calibri"/>
              </a:rPr>
              <a:t>Friesena</a:t>
            </a:r>
            <a:r>
              <a:rPr lang="pl-PL" sz="1600" b="0" u="none" strike="noStrike" dirty="0">
                <a:solidFill>
                  <a:srgbClr val="1A1F3C"/>
                </a:solidFill>
                <a:effectLst/>
                <a:uFillTx/>
                <a:latin typeface="Calibri"/>
                <a:ea typeface="Calibri"/>
              </a:rPr>
              <a:t>. Podejście obiektywne: nie mówimy „uczestnik wygląda na szczęśliwego”, mówimy „zarejestrowano AU6 i AU12”.</a:t>
            </a:r>
            <a:endParaRPr lang="pl-PL" sz="1600" b="0" u="none" strike="noStrike" dirty="0">
              <a:solidFill>
                <a:srgbClr val="000000"/>
              </a:solidFill>
              <a:effectLst/>
              <a:uFillTx/>
              <a:latin typeface="Arial"/>
            </a:endParaRPr>
          </a:p>
        </p:txBody>
      </p:sp>
      <p:sp>
        <p:nvSpPr>
          <p:cNvPr id="633" name="Shape 268"/>
          <p:cNvSpPr/>
          <p:nvPr/>
        </p:nvSpPr>
        <p:spPr>
          <a:xfrm>
            <a:off x="403200" y="3346920"/>
            <a:ext cx="5139720" cy="2064960"/>
          </a:xfrm>
          <a:prstGeom prst="roundRect">
            <a:avLst>
              <a:gd name="adj" fmla="val 4878"/>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634" name="Text 319"/>
          <p:cNvSpPr/>
          <p:nvPr/>
        </p:nvSpPr>
        <p:spPr>
          <a:xfrm>
            <a:off x="487725" y="3407040"/>
            <a:ext cx="4837320" cy="341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400" b="1" u="none" strike="noStrike" dirty="0">
                <a:solidFill>
                  <a:srgbClr val="1E2761"/>
                </a:solidFill>
                <a:effectLst/>
                <a:uFillTx/>
                <a:latin typeface="Cambria"/>
                <a:ea typeface="Cambria"/>
              </a:rPr>
              <a:t>Przykładowe Action </a:t>
            </a:r>
            <a:r>
              <a:rPr lang="pl-PL" sz="1400" b="1" u="none" strike="noStrike" dirty="0" err="1">
                <a:solidFill>
                  <a:srgbClr val="1E2761"/>
                </a:solidFill>
                <a:effectLst/>
                <a:uFillTx/>
                <a:latin typeface="Cambria"/>
                <a:ea typeface="Cambria"/>
              </a:rPr>
              <a:t>Units</a:t>
            </a:r>
            <a:endParaRPr lang="pl-PL" sz="1400" b="0" u="none" strike="noStrike" dirty="0">
              <a:solidFill>
                <a:srgbClr val="000000"/>
              </a:solidFill>
              <a:effectLst/>
              <a:uFillTx/>
              <a:latin typeface="Arial"/>
            </a:endParaRPr>
          </a:p>
        </p:txBody>
      </p:sp>
      <p:sp>
        <p:nvSpPr>
          <p:cNvPr id="635" name="Shape 269"/>
          <p:cNvSpPr/>
          <p:nvPr/>
        </p:nvSpPr>
        <p:spPr>
          <a:xfrm>
            <a:off x="525825" y="3810240"/>
            <a:ext cx="653400" cy="321120"/>
          </a:xfrm>
          <a:prstGeom prst="roundRect">
            <a:avLst>
              <a:gd name="adj" fmla="val 15625"/>
            </a:avLst>
          </a:prstGeom>
          <a:solidFill>
            <a:srgbClr val="1E276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636" name="Text 320"/>
          <p:cNvSpPr/>
          <p:nvPr/>
        </p:nvSpPr>
        <p:spPr>
          <a:xfrm>
            <a:off x="483480" y="3810240"/>
            <a:ext cx="724320" cy="321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100" b="1" u="none" strike="noStrike">
                <a:solidFill>
                  <a:srgbClr val="FFFFFF"/>
                </a:solidFill>
                <a:effectLst/>
                <a:uFillTx/>
                <a:latin typeface="Calibri"/>
                <a:ea typeface="Calibri"/>
              </a:rPr>
              <a:t>AU1</a:t>
            </a:r>
            <a:endParaRPr lang="pl-PL" sz="1100" b="0" u="none" strike="noStrike">
              <a:solidFill>
                <a:srgbClr val="000000"/>
              </a:solidFill>
              <a:effectLst/>
              <a:uFillTx/>
              <a:latin typeface="Arial"/>
            </a:endParaRPr>
          </a:p>
        </p:txBody>
      </p:sp>
      <p:sp>
        <p:nvSpPr>
          <p:cNvPr id="637" name="Text 321"/>
          <p:cNvSpPr/>
          <p:nvPr/>
        </p:nvSpPr>
        <p:spPr>
          <a:xfrm>
            <a:off x="1241145" y="3790080"/>
            <a:ext cx="2768040" cy="361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400" b="0" u="none" strike="noStrike" dirty="0">
                <a:solidFill>
                  <a:srgbClr val="1A1F3C"/>
                </a:solidFill>
                <a:effectLst/>
                <a:uFillTx/>
                <a:latin typeface="Calibri"/>
                <a:ea typeface="Calibri"/>
              </a:rPr>
              <a:t>Uniesienie wewnętrznej części brwi</a:t>
            </a:r>
            <a:endParaRPr lang="pl-PL" sz="1400" b="0" u="none" strike="noStrike" dirty="0">
              <a:solidFill>
                <a:srgbClr val="000000"/>
              </a:solidFill>
              <a:effectLst/>
              <a:uFillTx/>
              <a:latin typeface="Arial"/>
            </a:endParaRPr>
          </a:p>
        </p:txBody>
      </p:sp>
      <p:sp>
        <p:nvSpPr>
          <p:cNvPr id="638" name="Text 322"/>
          <p:cNvSpPr/>
          <p:nvPr/>
        </p:nvSpPr>
        <p:spPr>
          <a:xfrm>
            <a:off x="4000650" y="3790080"/>
            <a:ext cx="1490400" cy="361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200" b="0" i="1" u="none" strike="noStrike" dirty="0">
                <a:solidFill>
                  <a:srgbClr val="8A93C0"/>
                </a:solidFill>
                <a:effectLst/>
                <a:uFillTx/>
                <a:latin typeface="Calibri"/>
                <a:ea typeface="Calibri"/>
              </a:rPr>
              <a:t>smutek, strach</a:t>
            </a:r>
            <a:endParaRPr lang="pl-PL" sz="1200" b="0" u="none" strike="noStrike" dirty="0">
              <a:solidFill>
                <a:srgbClr val="000000"/>
              </a:solidFill>
              <a:effectLst/>
              <a:uFillTx/>
              <a:latin typeface="Arial"/>
            </a:endParaRPr>
          </a:p>
        </p:txBody>
      </p:sp>
      <p:sp>
        <p:nvSpPr>
          <p:cNvPr id="639" name="Shape 270"/>
          <p:cNvSpPr/>
          <p:nvPr/>
        </p:nvSpPr>
        <p:spPr>
          <a:xfrm>
            <a:off x="525825" y="4213440"/>
            <a:ext cx="653400" cy="321120"/>
          </a:xfrm>
          <a:prstGeom prst="roundRect">
            <a:avLst>
              <a:gd name="adj" fmla="val 15625"/>
            </a:avLst>
          </a:prstGeom>
          <a:solidFill>
            <a:srgbClr val="1E276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640" name="Text 323"/>
          <p:cNvSpPr/>
          <p:nvPr/>
        </p:nvSpPr>
        <p:spPr>
          <a:xfrm>
            <a:off x="483480" y="4213440"/>
            <a:ext cx="724320" cy="321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100" b="1" u="none" strike="noStrike">
                <a:solidFill>
                  <a:srgbClr val="FFFFFF"/>
                </a:solidFill>
                <a:effectLst/>
                <a:uFillTx/>
                <a:latin typeface="Calibri"/>
                <a:ea typeface="Calibri"/>
              </a:rPr>
              <a:t>AU4</a:t>
            </a:r>
            <a:endParaRPr lang="pl-PL" sz="1100" b="0" u="none" strike="noStrike">
              <a:solidFill>
                <a:srgbClr val="000000"/>
              </a:solidFill>
              <a:effectLst/>
              <a:uFillTx/>
              <a:latin typeface="Arial"/>
            </a:endParaRPr>
          </a:p>
        </p:txBody>
      </p:sp>
      <p:sp>
        <p:nvSpPr>
          <p:cNvPr id="641" name="Text 324"/>
          <p:cNvSpPr/>
          <p:nvPr/>
        </p:nvSpPr>
        <p:spPr>
          <a:xfrm>
            <a:off x="1241145" y="4193280"/>
            <a:ext cx="2619360" cy="361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400" b="0" u="none" strike="noStrike">
                <a:solidFill>
                  <a:srgbClr val="1A1F3C"/>
                </a:solidFill>
                <a:effectLst/>
                <a:uFillTx/>
                <a:latin typeface="Calibri"/>
                <a:ea typeface="Calibri"/>
              </a:rPr>
              <a:t>Zyg brwi (frowning)</a:t>
            </a:r>
            <a:endParaRPr lang="pl-PL" sz="1400" b="0" u="none" strike="noStrike">
              <a:solidFill>
                <a:srgbClr val="000000"/>
              </a:solidFill>
              <a:effectLst/>
              <a:uFillTx/>
              <a:latin typeface="Arial"/>
            </a:endParaRPr>
          </a:p>
        </p:txBody>
      </p:sp>
      <p:sp>
        <p:nvSpPr>
          <p:cNvPr id="642" name="Text 325"/>
          <p:cNvSpPr/>
          <p:nvPr/>
        </p:nvSpPr>
        <p:spPr>
          <a:xfrm>
            <a:off x="4000650" y="4193280"/>
            <a:ext cx="1490400" cy="361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200" b="0" i="1" u="none" strike="noStrike">
                <a:solidFill>
                  <a:srgbClr val="8A93C0"/>
                </a:solidFill>
                <a:effectLst/>
                <a:uFillTx/>
                <a:latin typeface="Calibri"/>
                <a:ea typeface="Calibri"/>
              </a:rPr>
              <a:t>skupienie, gniew</a:t>
            </a:r>
            <a:endParaRPr lang="pl-PL" sz="1200" b="0" u="none" strike="noStrike">
              <a:solidFill>
                <a:srgbClr val="000000"/>
              </a:solidFill>
              <a:effectLst/>
              <a:uFillTx/>
              <a:latin typeface="Arial"/>
            </a:endParaRPr>
          </a:p>
        </p:txBody>
      </p:sp>
      <p:sp>
        <p:nvSpPr>
          <p:cNvPr id="643" name="Shape 271"/>
          <p:cNvSpPr/>
          <p:nvPr/>
        </p:nvSpPr>
        <p:spPr>
          <a:xfrm>
            <a:off x="525825" y="4616640"/>
            <a:ext cx="653400" cy="321120"/>
          </a:xfrm>
          <a:prstGeom prst="roundRect">
            <a:avLst>
              <a:gd name="adj" fmla="val 15625"/>
            </a:avLst>
          </a:prstGeom>
          <a:solidFill>
            <a:srgbClr val="1E276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644" name="Text 326"/>
          <p:cNvSpPr/>
          <p:nvPr/>
        </p:nvSpPr>
        <p:spPr>
          <a:xfrm>
            <a:off x="483480" y="4616640"/>
            <a:ext cx="724320" cy="321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100" b="1" u="none" strike="noStrike">
                <a:solidFill>
                  <a:srgbClr val="FFFFFF"/>
                </a:solidFill>
                <a:effectLst/>
                <a:uFillTx/>
                <a:latin typeface="Calibri"/>
                <a:ea typeface="Calibri"/>
              </a:rPr>
              <a:t>AU6+12</a:t>
            </a:r>
            <a:endParaRPr lang="pl-PL" sz="1100" b="0" u="none" strike="noStrike">
              <a:solidFill>
                <a:srgbClr val="000000"/>
              </a:solidFill>
              <a:effectLst/>
              <a:uFillTx/>
              <a:latin typeface="Arial"/>
            </a:endParaRPr>
          </a:p>
        </p:txBody>
      </p:sp>
      <p:sp>
        <p:nvSpPr>
          <p:cNvPr id="645" name="Text 327"/>
          <p:cNvSpPr/>
          <p:nvPr/>
        </p:nvSpPr>
        <p:spPr>
          <a:xfrm>
            <a:off x="1241145" y="4596480"/>
            <a:ext cx="2619360" cy="361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400" b="0" u="none" strike="noStrike">
                <a:solidFill>
                  <a:srgbClr val="1A1F3C"/>
                </a:solidFill>
                <a:effectLst/>
                <a:uFillTx/>
                <a:latin typeface="Calibri"/>
                <a:ea typeface="Calibri"/>
              </a:rPr>
              <a:t>Podniesienie policzka + kąt ust</a:t>
            </a:r>
            <a:endParaRPr lang="pl-PL" sz="1400" b="0" u="none" strike="noStrike">
              <a:solidFill>
                <a:srgbClr val="000000"/>
              </a:solidFill>
              <a:effectLst/>
              <a:uFillTx/>
              <a:latin typeface="Arial"/>
            </a:endParaRPr>
          </a:p>
        </p:txBody>
      </p:sp>
      <p:sp>
        <p:nvSpPr>
          <p:cNvPr id="646" name="Text 328"/>
          <p:cNvSpPr/>
          <p:nvPr/>
        </p:nvSpPr>
        <p:spPr>
          <a:xfrm>
            <a:off x="4000650" y="4596480"/>
            <a:ext cx="1490400" cy="361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200" b="0" i="1" u="none" strike="noStrike">
                <a:solidFill>
                  <a:srgbClr val="8A93C0"/>
                </a:solidFill>
                <a:effectLst/>
                <a:uFillTx/>
                <a:latin typeface="Calibri"/>
                <a:ea typeface="Calibri"/>
              </a:rPr>
              <a:t>uśmiech Duchenne’a</a:t>
            </a:r>
            <a:endParaRPr lang="pl-PL" sz="1200" b="0" u="none" strike="noStrike">
              <a:solidFill>
                <a:srgbClr val="000000"/>
              </a:solidFill>
              <a:effectLst/>
              <a:uFillTx/>
              <a:latin typeface="Arial"/>
            </a:endParaRPr>
          </a:p>
        </p:txBody>
      </p:sp>
      <p:sp>
        <p:nvSpPr>
          <p:cNvPr id="647" name="Shape 272"/>
          <p:cNvSpPr/>
          <p:nvPr/>
        </p:nvSpPr>
        <p:spPr>
          <a:xfrm>
            <a:off x="525825" y="5019840"/>
            <a:ext cx="653400" cy="321120"/>
          </a:xfrm>
          <a:prstGeom prst="roundRect">
            <a:avLst>
              <a:gd name="adj" fmla="val 15625"/>
            </a:avLst>
          </a:prstGeom>
          <a:solidFill>
            <a:srgbClr val="1E276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648" name="Text 329"/>
          <p:cNvSpPr/>
          <p:nvPr/>
        </p:nvSpPr>
        <p:spPr>
          <a:xfrm>
            <a:off x="483480" y="5019840"/>
            <a:ext cx="724320" cy="321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100" b="1" u="none" strike="noStrike">
                <a:solidFill>
                  <a:srgbClr val="FFFFFF"/>
                </a:solidFill>
                <a:effectLst/>
                <a:uFillTx/>
                <a:latin typeface="Calibri"/>
                <a:ea typeface="Calibri"/>
              </a:rPr>
              <a:t>AU17</a:t>
            </a:r>
            <a:endParaRPr lang="pl-PL" sz="1100" b="0" u="none" strike="noStrike">
              <a:solidFill>
                <a:srgbClr val="000000"/>
              </a:solidFill>
              <a:effectLst/>
              <a:uFillTx/>
              <a:latin typeface="Arial"/>
            </a:endParaRPr>
          </a:p>
        </p:txBody>
      </p:sp>
      <p:sp>
        <p:nvSpPr>
          <p:cNvPr id="649" name="Text 330"/>
          <p:cNvSpPr/>
          <p:nvPr/>
        </p:nvSpPr>
        <p:spPr>
          <a:xfrm>
            <a:off x="1241145" y="4999680"/>
            <a:ext cx="2619360" cy="361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400" b="0" u="none" strike="noStrike">
                <a:solidFill>
                  <a:srgbClr val="1A1F3C"/>
                </a:solidFill>
                <a:effectLst/>
                <a:uFillTx/>
                <a:latin typeface="Calibri"/>
                <a:ea typeface="Calibri"/>
              </a:rPr>
              <a:t>Uniesienie brody</a:t>
            </a:r>
            <a:endParaRPr lang="pl-PL" sz="1400" b="0" u="none" strike="noStrike">
              <a:solidFill>
                <a:srgbClr val="000000"/>
              </a:solidFill>
              <a:effectLst/>
              <a:uFillTx/>
              <a:latin typeface="Arial"/>
            </a:endParaRPr>
          </a:p>
        </p:txBody>
      </p:sp>
      <p:sp>
        <p:nvSpPr>
          <p:cNvPr id="650" name="Text 331"/>
          <p:cNvSpPr/>
          <p:nvPr/>
        </p:nvSpPr>
        <p:spPr>
          <a:xfrm>
            <a:off x="4000650" y="4999680"/>
            <a:ext cx="1490400" cy="361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200" b="0" i="1" u="none" strike="noStrike">
                <a:solidFill>
                  <a:srgbClr val="8A93C0"/>
                </a:solidFill>
                <a:effectLst/>
                <a:uFillTx/>
                <a:latin typeface="Calibri"/>
                <a:ea typeface="Calibri"/>
              </a:rPr>
              <a:t>dezaprobata, smutek</a:t>
            </a:r>
            <a:endParaRPr lang="pl-PL" sz="1200" b="0" u="none" strike="noStrike">
              <a:solidFill>
                <a:srgbClr val="000000"/>
              </a:solidFill>
              <a:effectLst/>
              <a:uFillTx/>
              <a:latin typeface="Arial"/>
            </a:endParaRPr>
          </a:p>
        </p:txBody>
      </p:sp>
      <p:sp>
        <p:nvSpPr>
          <p:cNvPr id="651" name="Shape 273"/>
          <p:cNvSpPr/>
          <p:nvPr/>
        </p:nvSpPr>
        <p:spPr>
          <a:xfrm>
            <a:off x="5796360" y="1108800"/>
            <a:ext cx="3879360" cy="2518560"/>
          </a:xfrm>
          <a:prstGeom prst="roundRect">
            <a:avLst>
              <a:gd name="adj" fmla="val 4000"/>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652" name="Text 332"/>
          <p:cNvSpPr/>
          <p:nvPr/>
        </p:nvSpPr>
        <p:spPr>
          <a:xfrm>
            <a:off x="5902035" y="1118985"/>
            <a:ext cx="3577320" cy="30541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400" b="1" u="none" strike="noStrike" dirty="0">
                <a:solidFill>
                  <a:srgbClr val="1E2761"/>
                </a:solidFill>
                <a:effectLst/>
                <a:uFillTx/>
                <a:latin typeface="Cambria"/>
                <a:ea typeface="Cambria"/>
              </a:rPr>
              <a:t>Automatyczna analiza</a:t>
            </a:r>
            <a:endParaRPr lang="pl-PL" sz="1400" b="0" u="none" strike="noStrike" dirty="0">
              <a:solidFill>
                <a:srgbClr val="000000"/>
              </a:solidFill>
              <a:effectLst/>
              <a:uFillTx/>
              <a:latin typeface="Arial"/>
            </a:endParaRPr>
          </a:p>
        </p:txBody>
      </p:sp>
      <p:sp>
        <p:nvSpPr>
          <p:cNvPr id="653" name="Shape 274"/>
          <p:cNvSpPr/>
          <p:nvPr/>
        </p:nvSpPr>
        <p:spPr>
          <a:xfrm>
            <a:off x="5947560" y="1475880"/>
            <a:ext cx="3526920" cy="367657"/>
          </a:xfrm>
          <a:prstGeom prst="roundRect">
            <a:avLst>
              <a:gd name="adj" fmla="val 18750"/>
            </a:avLst>
          </a:prstGeom>
          <a:solidFill>
            <a:srgbClr val="1E276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654" name="Text 333"/>
          <p:cNvSpPr/>
          <p:nvPr/>
        </p:nvSpPr>
        <p:spPr>
          <a:xfrm>
            <a:off x="5947560" y="1475880"/>
            <a:ext cx="3526560" cy="36765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400" b="0" u="none" strike="noStrike" dirty="0">
                <a:solidFill>
                  <a:srgbClr val="FFFFFF"/>
                </a:solidFill>
                <a:effectLst/>
                <a:uFillTx/>
                <a:latin typeface="Calibri"/>
                <a:ea typeface="Calibri"/>
              </a:rPr>
              <a:t>Obraz / </a:t>
            </a:r>
            <a:r>
              <a:rPr lang="pl-PL" sz="1400" dirty="0">
                <a:solidFill>
                  <a:srgbClr val="FFFFFF"/>
                </a:solidFill>
                <a:latin typeface="Calibri"/>
                <a:ea typeface="Calibri"/>
              </a:rPr>
              <a:t>w</a:t>
            </a:r>
            <a:r>
              <a:rPr lang="pl-PL" sz="1400" b="0" u="none" strike="noStrike" dirty="0">
                <a:solidFill>
                  <a:srgbClr val="FFFFFF"/>
                </a:solidFill>
                <a:effectLst/>
                <a:uFillTx/>
                <a:latin typeface="Calibri"/>
                <a:ea typeface="Calibri"/>
              </a:rPr>
              <a:t>ideo / kamera</a:t>
            </a:r>
            <a:endParaRPr lang="pl-PL" sz="1400" b="0" u="none" strike="noStrike" dirty="0">
              <a:solidFill>
                <a:srgbClr val="000000"/>
              </a:solidFill>
              <a:effectLst/>
              <a:uFillTx/>
              <a:latin typeface="Arial"/>
            </a:endParaRPr>
          </a:p>
        </p:txBody>
      </p:sp>
      <p:sp>
        <p:nvSpPr>
          <p:cNvPr id="655" name="Shape 275"/>
          <p:cNvSpPr/>
          <p:nvPr/>
        </p:nvSpPr>
        <p:spPr>
          <a:xfrm>
            <a:off x="7711560" y="1844773"/>
            <a:ext cx="360" cy="69657"/>
          </a:xfrm>
          <a:prstGeom prst="line">
            <a:avLst/>
          </a:prstGeom>
          <a:ln w="12700">
            <a:solidFill>
              <a:srgbClr val="8A93C0"/>
            </a:solidFill>
            <a:round/>
          </a:ln>
        </p:spPr>
        <p:style>
          <a:lnRef idx="0">
            <a:scrgbClr r="0" g="0" b="0"/>
          </a:lnRef>
          <a:fillRef idx="0">
            <a:scrgbClr r="0" g="0" b="0"/>
          </a:fillRef>
          <a:effectRef idx="0">
            <a:scrgbClr r="0" g="0" b="0"/>
          </a:effectRef>
          <a:fontRef idx="minor"/>
        </p:style>
        <p:txBody>
          <a:bodyPr lIns="90000" tIns="10080" rIns="90000" bIns="10080" anchor="t" anchorCtr="1">
            <a:noAutofit/>
          </a:bodyPr>
          <a:lstStyle/>
          <a:p>
            <a:endParaRPr lang="pl-PL" sz="2000" b="0" u="none" strike="noStrike">
              <a:solidFill>
                <a:srgbClr val="000000"/>
              </a:solidFill>
              <a:effectLst/>
              <a:uFillTx/>
              <a:latin typeface="Arial"/>
            </a:endParaRPr>
          </a:p>
        </p:txBody>
      </p:sp>
      <p:sp>
        <p:nvSpPr>
          <p:cNvPr id="656" name="Shape 276"/>
          <p:cNvSpPr/>
          <p:nvPr/>
        </p:nvSpPr>
        <p:spPr>
          <a:xfrm>
            <a:off x="5947560" y="1914430"/>
            <a:ext cx="3526920" cy="367657"/>
          </a:xfrm>
          <a:prstGeom prst="roundRect">
            <a:avLst>
              <a:gd name="adj" fmla="val 18750"/>
            </a:avLst>
          </a:prstGeom>
          <a:solidFill>
            <a:srgbClr val="2D3B8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000" b="0" u="none" strike="noStrike">
              <a:solidFill>
                <a:srgbClr val="FFFFFF"/>
              </a:solidFill>
              <a:effectLst/>
              <a:uFillTx/>
              <a:latin typeface="Arial"/>
            </a:endParaRPr>
          </a:p>
        </p:txBody>
      </p:sp>
      <p:sp>
        <p:nvSpPr>
          <p:cNvPr id="657" name="Text 334"/>
          <p:cNvSpPr/>
          <p:nvPr/>
        </p:nvSpPr>
        <p:spPr>
          <a:xfrm>
            <a:off x="5947560" y="1914430"/>
            <a:ext cx="3526560" cy="36765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400" b="1" u="none" strike="noStrike" dirty="0">
                <a:solidFill>
                  <a:srgbClr val="FFFFFF"/>
                </a:solidFill>
                <a:effectLst/>
                <a:uFillTx/>
                <a:latin typeface="Calibri"/>
                <a:ea typeface="Calibri"/>
              </a:rPr>
              <a:t>Detekcja twarzy </a:t>
            </a:r>
            <a:r>
              <a:rPr lang="pl-PL" sz="1400" b="0" u="none" strike="noStrike" dirty="0">
                <a:solidFill>
                  <a:srgbClr val="FFFFFF"/>
                </a:solidFill>
                <a:effectLst/>
                <a:uFillTx/>
                <a:latin typeface="Calibri"/>
                <a:ea typeface="Calibri"/>
              </a:rPr>
              <a:t>(DNN)</a:t>
            </a:r>
            <a:endParaRPr lang="pl-PL" sz="1400" b="0" u="none" strike="noStrike" dirty="0">
              <a:solidFill>
                <a:srgbClr val="000000"/>
              </a:solidFill>
              <a:effectLst/>
              <a:uFillTx/>
              <a:latin typeface="Arial"/>
            </a:endParaRPr>
          </a:p>
        </p:txBody>
      </p:sp>
      <p:sp>
        <p:nvSpPr>
          <p:cNvPr id="658" name="Shape 277"/>
          <p:cNvSpPr/>
          <p:nvPr/>
        </p:nvSpPr>
        <p:spPr>
          <a:xfrm>
            <a:off x="7711560" y="2283736"/>
            <a:ext cx="360" cy="68833"/>
          </a:xfrm>
          <a:prstGeom prst="line">
            <a:avLst/>
          </a:prstGeom>
          <a:ln w="12700">
            <a:solidFill>
              <a:srgbClr val="8A93C0"/>
            </a:solidFill>
            <a:round/>
          </a:ln>
        </p:spPr>
        <p:style>
          <a:lnRef idx="0">
            <a:scrgbClr r="0" g="0" b="0"/>
          </a:lnRef>
          <a:fillRef idx="0">
            <a:scrgbClr r="0" g="0" b="0"/>
          </a:fillRef>
          <a:effectRef idx="0">
            <a:scrgbClr r="0" g="0" b="0"/>
          </a:effectRef>
          <a:fontRef idx="minor"/>
        </p:style>
        <p:txBody>
          <a:bodyPr lIns="90000" tIns="9720" rIns="90000" bIns="9720" anchor="t" anchorCtr="1">
            <a:noAutofit/>
          </a:bodyPr>
          <a:lstStyle/>
          <a:p>
            <a:endParaRPr lang="pl-PL" sz="2000" b="0" u="none" strike="noStrike">
              <a:solidFill>
                <a:srgbClr val="000000"/>
              </a:solidFill>
              <a:effectLst/>
              <a:uFillTx/>
              <a:latin typeface="Arial"/>
            </a:endParaRPr>
          </a:p>
        </p:txBody>
      </p:sp>
      <p:sp>
        <p:nvSpPr>
          <p:cNvPr id="659" name="Shape 278"/>
          <p:cNvSpPr/>
          <p:nvPr/>
        </p:nvSpPr>
        <p:spPr>
          <a:xfrm>
            <a:off x="5947560" y="2352568"/>
            <a:ext cx="3526920" cy="367657"/>
          </a:xfrm>
          <a:prstGeom prst="roundRect">
            <a:avLst>
              <a:gd name="adj" fmla="val 18750"/>
            </a:avLst>
          </a:prstGeom>
          <a:solidFill>
            <a:srgbClr val="5B8FF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000" b="0" u="none" strike="noStrike">
              <a:solidFill>
                <a:srgbClr val="FFFFFF"/>
              </a:solidFill>
              <a:effectLst/>
              <a:uFillTx/>
              <a:latin typeface="Arial"/>
            </a:endParaRPr>
          </a:p>
        </p:txBody>
      </p:sp>
      <p:sp>
        <p:nvSpPr>
          <p:cNvPr id="660" name="Text 335"/>
          <p:cNvSpPr/>
          <p:nvPr/>
        </p:nvSpPr>
        <p:spPr>
          <a:xfrm>
            <a:off x="5947560" y="2352981"/>
            <a:ext cx="3526560" cy="36765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400" b="1" u="none" strike="noStrike" dirty="0" err="1">
                <a:solidFill>
                  <a:srgbClr val="FFFFFF"/>
                </a:solidFill>
                <a:effectLst/>
                <a:uFillTx/>
                <a:latin typeface="Calibri"/>
                <a:ea typeface="Calibri"/>
              </a:rPr>
              <a:t>Landmarki</a:t>
            </a:r>
            <a:r>
              <a:rPr lang="pl-PL" sz="1400" b="0" u="none" strike="noStrike" dirty="0">
                <a:solidFill>
                  <a:srgbClr val="FFFFFF"/>
                </a:solidFill>
                <a:effectLst/>
                <a:uFillTx/>
                <a:latin typeface="Calibri"/>
                <a:ea typeface="Calibri"/>
              </a:rPr>
              <a:t> (68–478 punktów)</a:t>
            </a:r>
            <a:endParaRPr lang="pl-PL" sz="1400" b="0" u="none" strike="noStrike" dirty="0">
              <a:solidFill>
                <a:srgbClr val="000000"/>
              </a:solidFill>
              <a:effectLst/>
              <a:uFillTx/>
              <a:latin typeface="Arial"/>
            </a:endParaRPr>
          </a:p>
        </p:txBody>
      </p:sp>
      <p:sp>
        <p:nvSpPr>
          <p:cNvPr id="661" name="Shape 279"/>
          <p:cNvSpPr/>
          <p:nvPr/>
        </p:nvSpPr>
        <p:spPr>
          <a:xfrm>
            <a:off x="7711560" y="2722286"/>
            <a:ext cx="360" cy="68833"/>
          </a:xfrm>
          <a:prstGeom prst="line">
            <a:avLst/>
          </a:prstGeom>
          <a:ln w="12700">
            <a:solidFill>
              <a:srgbClr val="8A93C0"/>
            </a:solidFill>
            <a:round/>
          </a:ln>
        </p:spPr>
        <p:style>
          <a:lnRef idx="0">
            <a:scrgbClr r="0" g="0" b="0"/>
          </a:lnRef>
          <a:fillRef idx="0">
            <a:scrgbClr r="0" g="0" b="0"/>
          </a:fillRef>
          <a:effectRef idx="0">
            <a:scrgbClr r="0" g="0" b="0"/>
          </a:effectRef>
          <a:fontRef idx="minor"/>
        </p:style>
        <p:txBody>
          <a:bodyPr lIns="90000" tIns="9720" rIns="90000" bIns="9720" anchor="t" anchorCtr="1">
            <a:noAutofit/>
          </a:bodyPr>
          <a:lstStyle/>
          <a:p>
            <a:endParaRPr lang="pl-PL" sz="2000" b="0" u="none" strike="noStrike">
              <a:solidFill>
                <a:srgbClr val="000000"/>
              </a:solidFill>
              <a:effectLst/>
              <a:uFillTx/>
              <a:latin typeface="Arial"/>
            </a:endParaRPr>
          </a:p>
        </p:txBody>
      </p:sp>
      <p:sp>
        <p:nvSpPr>
          <p:cNvPr id="662" name="Shape 280"/>
          <p:cNvSpPr/>
          <p:nvPr/>
        </p:nvSpPr>
        <p:spPr>
          <a:xfrm>
            <a:off x="5947560" y="2791531"/>
            <a:ext cx="3526920" cy="367657"/>
          </a:xfrm>
          <a:prstGeom prst="roundRect">
            <a:avLst>
              <a:gd name="adj" fmla="val 18750"/>
            </a:avLst>
          </a:prstGeom>
          <a:solidFill>
            <a:srgbClr val="2D7DD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000" b="0" u="none" strike="noStrike">
              <a:solidFill>
                <a:srgbClr val="FFFFFF"/>
              </a:solidFill>
              <a:effectLst/>
              <a:uFillTx/>
              <a:latin typeface="Arial"/>
            </a:endParaRPr>
          </a:p>
        </p:txBody>
      </p:sp>
      <p:sp>
        <p:nvSpPr>
          <p:cNvPr id="663" name="Text 336"/>
          <p:cNvSpPr/>
          <p:nvPr/>
        </p:nvSpPr>
        <p:spPr>
          <a:xfrm>
            <a:off x="5947560" y="2791943"/>
            <a:ext cx="3526560" cy="36765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400" b="1" u="none" strike="noStrike" dirty="0">
                <a:solidFill>
                  <a:srgbClr val="FFFFFF"/>
                </a:solidFill>
                <a:effectLst/>
                <a:uFillTx/>
                <a:latin typeface="Calibri"/>
                <a:ea typeface="Calibri"/>
              </a:rPr>
              <a:t>Klasyfikacja</a:t>
            </a:r>
            <a:r>
              <a:rPr lang="pl-PL" sz="1400" b="0" u="none" strike="noStrike" dirty="0">
                <a:solidFill>
                  <a:srgbClr val="FFFFFF"/>
                </a:solidFill>
                <a:effectLst/>
                <a:uFillTx/>
                <a:latin typeface="Calibri"/>
                <a:ea typeface="Calibri"/>
              </a:rPr>
              <a:t> AU</a:t>
            </a:r>
            <a:endParaRPr lang="pl-PL" sz="1400" b="0" u="none" strike="noStrike" dirty="0">
              <a:solidFill>
                <a:srgbClr val="000000"/>
              </a:solidFill>
              <a:effectLst/>
              <a:uFillTx/>
              <a:latin typeface="Arial"/>
            </a:endParaRPr>
          </a:p>
        </p:txBody>
      </p:sp>
      <p:sp>
        <p:nvSpPr>
          <p:cNvPr id="664" name="Text 337"/>
          <p:cNvSpPr/>
          <p:nvPr/>
        </p:nvSpPr>
        <p:spPr>
          <a:xfrm>
            <a:off x="5947560" y="3205440"/>
            <a:ext cx="3526560" cy="35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0" i="1" u="none" strike="noStrike" dirty="0">
                <a:solidFill>
                  <a:srgbClr val="4A5280"/>
                </a:solidFill>
                <a:effectLst/>
                <a:uFillTx/>
                <a:latin typeface="Calibri"/>
                <a:ea typeface="Calibri"/>
              </a:rPr>
              <a:t>Narzędzia: </a:t>
            </a:r>
            <a:r>
              <a:rPr lang="pl-PL" sz="1600" b="0" i="1" u="none" strike="noStrike" dirty="0" err="1">
                <a:solidFill>
                  <a:srgbClr val="4A5280"/>
                </a:solidFill>
                <a:effectLst/>
                <a:uFillTx/>
                <a:latin typeface="Calibri"/>
                <a:ea typeface="Calibri"/>
              </a:rPr>
              <a:t>OpenFace</a:t>
            </a:r>
            <a:r>
              <a:rPr lang="pl-PL" sz="1600" b="0" i="1" u="none" strike="noStrike" dirty="0">
                <a:solidFill>
                  <a:srgbClr val="4A5280"/>
                </a:solidFill>
                <a:effectLst/>
                <a:uFillTx/>
                <a:latin typeface="Calibri"/>
                <a:ea typeface="Calibri"/>
              </a:rPr>
              <a:t>, </a:t>
            </a:r>
            <a:r>
              <a:rPr lang="pl-PL" sz="1600" b="0" i="1" u="none" strike="noStrike" dirty="0" err="1">
                <a:solidFill>
                  <a:srgbClr val="4A5280"/>
                </a:solidFill>
                <a:effectLst/>
                <a:uFillTx/>
                <a:latin typeface="Calibri"/>
                <a:ea typeface="Calibri"/>
              </a:rPr>
              <a:t>Py-Feat</a:t>
            </a:r>
            <a:r>
              <a:rPr lang="pl-PL" sz="1600" b="0" i="1" u="none" strike="noStrike" dirty="0">
                <a:solidFill>
                  <a:srgbClr val="4A5280"/>
                </a:solidFill>
                <a:effectLst/>
                <a:uFillTx/>
                <a:latin typeface="Calibri"/>
                <a:ea typeface="Calibri"/>
              </a:rPr>
              <a:t>, </a:t>
            </a:r>
            <a:r>
              <a:rPr lang="pl-PL" sz="1600" b="0" i="1" u="none" strike="noStrike" dirty="0" err="1">
                <a:solidFill>
                  <a:srgbClr val="4A5280"/>
                </a:solidFill>
                <a:effectLst/>
                <a:uFillTx/>
                <a:latin typeface="Calibri"/>
                <a:ea typeface="Calibri"/>
              </a:rPr>
              <a:t>iMotions</a:t>
            </a:r>
            <a:endParaRPr lang="pl-PL" sz="1600" b="0" u="none" strike="noStrike" dirty="0">
              <a:solidFill>
                <a:srgbClr val="000000"/>
              </a:solidFill>
              <a:effectLst/>
              <a:uFillTx/>
              <a:latin typeface="Arial"/>
            </a:endParaRPr>
          </a:p>
        </p:txBody>
      </p:sp>
      <p:sp>
        <p:nvSpPr>
          <p:cNvPr id="665" name="Shape 281"/>
          <p:cNvSpPr/>
          <p:nvPr/>
        </p:nvSpPr>
        <p:spPr>
          <a:xfrm>
            <a:off x="5796360" y="3770280"/>
            <a:ext cx="3879360" cy="1641600"/>
          </a:xfrm>
          <a:prstGeom prst="roundRect">
            <a:avLst>
              <a:gd name="adj" fmla="val 6849"/>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666" name="Text 338"/>
          <p:cNvSpPr/>
          <p:nvPr/>
        </p:nvSpPr>
        <p:spPr>
          <a:xfrm>
            <a:off x="5918985" y="3820680"/>
            <a:ext cx="3577320" cy="31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400" b="1" u="none" strike="noStrike" dirty="0">
                <a:solidFill>
                  <a:srgbClr val="D64045"/>
                </a:solidFill>
                <a:effectLst/>
                <a:uFillTx/>
                <a:latin typeface="Cambria"/>
                <a:ea typeface="Cambria"/>
              </a:rPr>
              <a:t>Kluczowe ograniczenia</a:t>
            </a:r>
            <a:endParaRPr lang="pl-PL" sz="1400" b="0" u="none" strike="noStrike" dirty="0">
              <a:solidFill>
                <a:srgbClr val="000000"/>
              </a:solidFill>
              <a:effectLst/>
              <a:uFillTx/>
              <a:latin typeface="Arial"/>
            </a:endParaRPr>
          </a:p>
        </p:txBody>
      </p:sp>
      <p:sp>
        <p:nvSpPr>
          <p:cNvPr id="667" name="Shape 282"/>
          <p:cNvSpPr/>
          <p:nvPr/>
        </p:nvSpPr>
        <p:spPr>
          <a:xfrm>
            <a:off x="5967720" y="4213440"/>
            <a:ext cx="200160" cy="200160"/>
          </a:xfrm>
          <a:prstGeom prst="ellipse">
            <a:avLst/>
          </a:prstGeom>
          <a:solidFill>
            <a:srgbClr val="D64045"/>
          </a:solidFill>
          <a:ln w="12700">
            <a:solidFill>
              <a:srgbClr val="D6404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668" name="Text 339"/>
          <p:cNvSpPr/>
          <p:nvPr/>
        </p:nvSpPr>
        <p:spPr>
          <a:xfrm>
            <a:off x="6202680" y="4163040"/>
            <a:ext cx="3434940" cy="270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200" b="0" u="none" strike="noStrike" spc="-20" dirty="0">
                <a:solidFill>
                  <a:srgbClr val="1A1F3C"/>
                </a:solidFill>
                <a:effectLst/>
                <a:uFillTx/>
                <a:latin typeface="Calibri"/>
                <a:ea typeface="Calibri"/>
              </a:rPr>
              <a:t>Twarz wyraża ruchy mięśni, nie emocje bezpośrednio</a:t>
            </a:r>
            <a:endParaRPr lang="pl-PL" sz="1200" b="0" u="none" strike="noStrike" spc="-20" dirty="0">
              <a:solidFill>
                <a:srgbClr val="000000"/>
              </a:solidFill>
              <a:effectLst/>
              <a:uFillTx/>
              <a:latin typeface="Arial"/>
            </a:endParaRPr>
          </a:p>
        </p:txBody>
      </p:sp>
      <p:sp>
        <p:nvSpPr>
          <p:cNvPr id="669" name="Shape 283"/>
          <p:cNvSpPr/>
          <p:nvPr/>
        </p:nvSpPr>
        <p:spPr>
          <a:xfrm>
            <a:off x="5967720" y="4485960"/>
            <a:ext cx="200160" cy="200160"/>
          </a:xfrm>
          <a:prstGeom prst="ellipse">
            <a:avLst/>
          </a:prstGeom>
          <a:solidFill>
            <a:srgbClr val="D64045"/>
          </a:solidFill>
          <a:ln w="12700">
            <a:solidFill>
              <a:srgbClr val="D6404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670" name="Text 340"/>
          <p:cNvSpPr/>
          <p:nvPr/>
        </p:nvSpPr>
        <p:spPr>
          <a:xfrm>
            <a:off x="6202680" y="4435560"/>
            <a:ext cx="3473040" cy="270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200" b="0" u="none" strike="noStrike" spc="-20" dirty="0">
                <a:solidFill>
                  <a:srgbClr val="1A1F3C"/>
                </a:solidFill>
                <a:effectLst/>
                <a:uFillTx/>
                <a:latin typeface="Calibri"/>
                <a:ea typeface="Calibri"/>
              </a:rPr>
              <a:t>Ten sam wzorzec AU pojawia się w różnych kontekstach</a:t>
            </a:r>
            <a:endParaRPr lang="pl-PL" sz="1200" b="0" u="none" strike="noStrike" spc="-20" dirty="0">
              <a:solidFill>
                <a:srgbClr val="000000"/>
              </a:solidFill>
              <a:effectLst/>
              <a:uFillTx/>
              <a:latin typeface="Arial"/>
            </a:endParaRPr>
          </a:p>
        </p:txBody>
      </p:sp>
      <p:sp>
        <p:nvSpPr>
          <p:cNvPr id="671" name="Shape 284"/>
          <p:cNvSpPr/>
          <p:nvPr/>
        </p:nvSpPr>
        <p:spPr>
          <a:xfrm>
            <a:off x="5967720" y="4758120"/>
            <a:ext cx="200160" cy="200160"/>
          </a:xfrm>
          <a:prstGeom prst="ellipse">
            <a:avLst/>
          </a:prstGeom>
          <a:solidFill>
            <a:srgbClr val="D64045"/>
          </a:solidFill>
          <a:ln w="12700">
            <a:solidFill>
              <a:srgbClr val="D6404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672" name="Text 341"/>
          <p:cNvSpPr/>
          <p:nvPr/>
        </p:nvSpPr>
        <p:spPr>
          <a:xfrm>
            <a:off x="6202680" y="4707720"/>
            <a:ext cx="3434940" cy="270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200" b="0" u="none" strike="noStrike" spc="-20">
                <a:solidFill>
                  <a:srgbClr val="1A1F3C"/>
                </a:solidFill>
                <a:effectLst/>
                <a:uFillTx/>
                <a:latin typeface="Calibri"/>
                <a:ea typeface="Calibri"/>
              </a:rPr>
              <a:t>Klasyfikatory 6 emocji upraszczają złożoność ekspresji</a:t>
            </a:r>
            <a:endParaRPr lang="pl-PL" sz="1200" b="0" u="none" strike="noStrike" spc="-20">
              <a:solidFill>
                <a:srgbClr val="000000"/>
              </a:solidFill>
              <a:effectLst/>
              <a:uFillTx/>
              <a:latin typeface="Arial"/>
            </a:endParaRPr>
          </a:p>
        </p:txBody>
      </p:sp>
      <p:sp>
        <p:nvSpPr>
          <p:cNvPr id="673" name="Shape 285"/>
          <p:cNvSpPr/>
          <p:nvPr/>
        </p:nvSpPr>
        <p:spPr>
          <a:xfrm>
            <a:off x="5967720" y="5030280"/>
            <a:ext cx="200160" cy="200160"/>
          </a:xfrm>
          <a:prstGeom prst="ellipse">
            <a:avLst/>
          </a:prstGeom>
          <a:solidFill>
            <a:srgbClr val="D64045"/>
          </a:solidFill>
          <a:ln w="12700">
            <a:solidFill>
              <a:srgbClr val="D6404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674" name="Text 342"/>
          <p:cNvSpPr/>
          <p:nvPr/>
        </p:nvSpPr>
        <p:spPr>
          <a:xfrm>
            <a:off x="6202680" y="4979880"/>
            <a:ext cx="3434940" cy="270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200" b="0" u="none" strike="noStrike" spc="-20">
                <a:solidFill>
                  <a:srgbClr val="1A1F3C"/>
                </a:solidFill>
                <a:effectLst/>
                <a:uFillTx/>
                <a:latin typeface="Calibri"/>
                <a:ea typeface="Calibri"/>
              </a:rPr>
              <a:t>Ograniczenia kulturowe: ekspresja nie jest uniwersalna</a:t>
            </a:r>
            <a:endParaRPr lang="pl-PL" sz="1200" b="0" u="none" strike="noStrike" spc="-20">
              <a:solidFill>
                <a:srgbClr val="000000"/>
              </a:solidFill>
              <a:effectLst/>
              <a:uFillTx/>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675" name="Shape 286"/>
          <p:cNvSpPr/>
          <p:nvPr/>
        </p:nvSpPr>
        <p:spPr>
          <a:xfrm>
            <a:off x="360" y="360"/>
            <a:ext cx="10079280" cy="1006560"/>
          </a:xfrm>
          <a:prstGeom prst="rect">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676" name="Text 343"/>
          <p:cNvSpPr/>
          <p:nvPr/>
        </p:nvSpPr>
        <p:spPr>
          <a:xfrm>
            <a:off x="453600" y="70560"/>
            <a:ext cx="9172080" cy="502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defTabSz="914400">
              <a:lnSpc>
                <a:spcPct val="100000"/>
              </a:lnSpc>
              <a:tabLst>
                <a:tab pos="0" algn="l"/>
              </a:tabLst>
            </a:pPr>
            <a:r>
              <a:rPr lang="pl-PL" sz="2200" b="1" u="none" strike="noStrike">
                <a:solidFill>
                  <a:srgbClr val="FFFFFF"/>
                </a:solidFill>
                <a:effectLst/>
                <a:uFillTx/>
                <a:latin typeface="Cambria"/>
                <a:ea typeface="Cambria"/>
              </a:rPr>
              <a:t>GŁOS I MOWA JAKO DANE PSYCHOLOGICZNE</a:t>
            </a:r>
            <a:endParaRPr lang="pl-PL" sz="2200" b="0" u="none" strike="noStrike">
              <a:solidFill>
                <a:srgbClr val="000000"/>
              </a:solidFill>
              <a:effectLst/>
              <a:uFillTx/>
              <a:latin typeface="Arial"/>
            </a:endParaRPr>
          </a:p>
        </p:txBody>
      </p:sp>
      <p:sp>
        <p:nvSpPr>
          <p:cNvPr id="677" name="Text 344"/>
          <p:cNvSpPr/>
          <p:nvPr/>
        </p:nvSpPr>
        <p:spPr>
          <a:xfrm>
            <a:off x="453600" y="594720"/>
            <a:ext cx="9172080" cy="331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pl-PL" sz="1400" b="0" i="1" u="none" strike="noStrike" dirty="0">
                <a:solidFill>
                  <a:srgbClr val="CADCFC"/>
                </a:solidFill>
                <a:effectLst/>
                <a:uFillTx/>
                <a:latin typeface="Calibri"/>
                <a:ea typeface="Calibri"/>
              </a:rPr>
              <a:t>Od prozodii do automatycznej transkrypcji</a:t>
            </a:r>
            <a:endParaRPr lang="pl-PL" sz="1400" b="0" u="none" strike="noStrike" dirty="0">
              <a:solidFill>
                <a:srgbClr val="000000"/>
              </a:solidFill>
              <a:effectLst/>
              <a:uFillTx/>
              <a:latin typeface="Arial"/>
            </a:endParaRPr>
          </a:p>
        </p:txBody>
      </p:sp>
      <p:sp>
        <p:nvSpPr>
          <p:cNvPr id="678" name="Shape 287"/>
          <p:cNvSpPr/>
          <p:nvPr/>
        </p:nvSpPr>
        <p:spPr>
          <a:xfrm>
            <a:off x="403200" y="1108800"/>
            <a:ext cx="2921760" cy="2196000"/>
          </a:xfrm>
          <a:prstGeom prst="roundRect">
            <a:avLst>
              <a:gd name="adj" fmla="val 4587"/>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679" name="Shape 288"/>
          <p:cNvSpPr/>
          <p:nvPr/>
        </p:nvSpPr>
        <p:spPr>
          <a:xfrm>
            <a:off x="402840" y="1108800"/>
            <a:ext cx="2921760" cy="462240"/>
          </a:xfrm>
          <a:prstGeom prst="roundRect">
            <a:avLst>
              <a:gd name="adj" fmla="val 17391"/>
            </a:avLst>
          </a:prstGeom>
          <a:solidFill>
            <a:srgbClr val="1E276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680" name="Text 345"/>
          <p:cNvSpPr/>
          <p:nvPr/>
        </p:nvSpPr>
        <p:spPr>
          <a:xfrm>
            <a:off x="403200" y="1108800"/>
            <a:ext cx="2921760" cy="461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600" b="1" u="none" strike="noStrike">
                <a:solidFill>
                  <a:srgbClr val="FFFFFF"/>
                </a:solidFill>
                <a:effectLst/>
                <a:uFillTx/>
                <a:latin typeface="Cambria"/>
                <a:ea typeface="Cambria"/>
              </a:rPr>
              <a:t>Cechy prozodyczne</a:t>
            </a:r>
            <a:endParaRPr lang="pl-PL" sz="1600" b="0" u="none" strike="noStrike">
              <a:solidFill>
                <a:srgbClr val="000000"/>
              </a:solidFill>
              <a:effectLst/>
              <a:uFillTx/>
              <a:latin typeface="Arial"/>
            </a:endParaRPr>
          </a:p>
        </p:txBody>
      </p:sp>
      <p:sp>
        <p:nvSpPr>
          <p:cNvPr id="681" name="Shape 289"/>
          <p:cNvSpPr/>
          <p:nvPr/>
        </p:nvSpPr>
        <p:spPr>
          <a:xfrm>
            <a:off x="544320" y="1733760"/>
            <a:ext cx="200160" cy="200160"/>
          </a:xfrm>
          <a:prstGeom prst="ellipse">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682" name="Text 346"/>
          <p:cNvSpPr/>
          <p:nvPr/>
        </p:nvSpPr>
        <p:spPr>
          <a:xfrm>
            <a:off x="806400" y="1663200"/>
            <a:ext cx="2397600" cy="381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300" b="0" u="none" strike="noStrike" dirty="0">
                <a:solidFill>
                  <a:srgbClr val="1A1F3C"/>
                </a:solidFill>
                <a:effectLst/>
                <a:uFillTx/>
                <a:latin typeface="Calibri"/>
                <a:ea typeface="Calibri"/>
              </a:rPr>
              <a:t>Ton podstawowy (F0) - wysokość dźwięku</a:t>
            </a:r>
            <a:endParaRPr lang="pl-PL" sz="1300" b="0" u="none" strike="noStrike" dirty="0">
              <a:solidFill>
                <a:srgbClr val="000000"/>
              </a:solidFill>
              <a:effectLst/>
              <a:uFillTx/>
              <a:latin typeface="Arial"/>
            </a:endParaRPr>
          </a:p>
        </p:txBody>
      </p:sp>
      <p:sp>
        <p:nvSpPr>
          <p:cNvPr id="683" name="Shape 290"/>
          <p:cNvSpPr/>
          <p:nvPr/>
        </p:nvSpPr>
        <p:spPr>
          <a:xfrm>
            <a:off x="544320" y="2116800"/>
            <a:ext cx="200160" cy="200160"/>
          </a:xfrm>
          <a:prstGeom prst="ellipse">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684" name="Text 347"/>
          <p:cNvSpPr/>
          <p:nvPr/>
        </p:nvSpPr>
        <p:spPr>
          <a:xfrm>
            <a:off x="806400" y="2046240"/>
            <a:ext cx="2397600" cy="381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300" b="0" u="none" strike="noStrike">
                <a:solidFill>
                  <a:srgbClr val="1A1F3C"/>
                </a:solidFill>
                <a:effectLst/>
                <a:uFillTx/>
                <a:latin typeface="Calibri"/>
                <a:ea typeface="Calibri"/>
              </a:rPr>
              <a:t>Energia i głośność wypowiedzi</a:t>
            </a:r>
            <a:endParaRPr lang="pl-PL" sz="1300" b="0" u="none" strike="noStrike">
              <a:solidFill>
                <a:srgbClr val="000000"/>
              </a:solidFill>
              <a:effectLst/>
              <a:uFillTx/>
              <a:latin typeface="Arial"/>
            </a:endParaRPr>
          </a:p>
        </p:txBody>
      </p:sp>
      <p:sp>
        <p:nvSpPr>
          <p:cNvPr id="685" name="Shape 291"/>
          <p:cNvSpPr/>
          <p:nvPr/>
        </p:nvSpPr>
        <p:spPr>
          <a:xfrm>
            <a:off x="544320" y="2499840"/>
            <a:ext cx="200160" cy="200160"/>
          </a:xfrm>
          <a:prstGeom prst="ellipse">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686" name="Text 348"/>
          <p:cNvSpPr/>
          <p:nvPr/>
        </p:nvSpPr>
        <p:spPr>
          <a:xfrm>
            <a:off x="806400" y="2429280"/>
            <a:ext cx="2397600" cy="381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300" b="0" u="none" strike="noStrike">
                <a:solidFill>
                  <a:srgbClr val="1A1F3C"/>
                </a:solidFill>
                <a:effectLst/>
                <a:uFillTx/>
                <a:latin typeface="Calibri"/>
                <a:ea typeface="Calibri"/>
              </a:rPr>
              <a:t>Tempo mowy (sylaby/s)</a:t>
            </a:r>
            <a:endParaRPr lang="pl-PL" sz="1300" b="0" u="none" strike="noStrike">
              <a:solidFill>
                <a:srgbClr val="000000"/>
              </a:solidFill>
              <a:effectLst/>
              <a:uFillTx/>
              <a:latin typeface="Arial"/>
            </a:endParaRPr>
          </a:p>
        </p:txBody>
      </p:sp>
      <p:sp>
        <p:nvSpPr>
          <p:cNvPr id="687" name="Shape 292"/>
          <p:cNvSpPr/>
          <p:nvPr/>
        </p:nvSpPr>
        <p:spPr>
          <a:xfrm>
            <a:off x="544320" y="2882880"/>
            <a:ext cx="200160" cy="200160"/>
          </a:xfrm>
          <a:prstGeom prst="ellipse">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688" name="Text 349"/>
          <p:cNvSpPr/>
          <p:nvPr/>
        </p:nvSpPr>
        <p:spPr>
          <a:xfrm>
            <a:off x="806400" y="2812680"/>
            <a:ext cx="2397600" cy="381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300" b="0" u="none" strike="noStrike">
                <a:solidFill>
                  <a:srgbClr val="1A1F3C"/>
                </a:solidFill>
                <a:effectLst/>
                <a:uFillTx/>
                <a:latin typeface="Calibri"/>
                <a:ea typeface="Calibri"/>
              </a:rPr>
              <a:t>Pauzy i ich długość</a:t>
            </a:r>
            <a:endParaRPr lang="pl-PL" sz="1300" b="0" u="none" strike="noStrike">
              <a:solidFill>
                <a:srgbClr val="000000"/>
              </a:solidFill>
              <a:effectLst/>
              <a:uFillTx/>
              <a:latin typeface="Arial"/>
            </a:endParaRPr>
          </a:p>
        </p:txBody>
      </p:sp>
      <p:sp>
        <p:nvSpPr>
          <p:cNvPr id="689" name="Shape 293"/>
          <p:cNvSpPr/>
          <p:nvPr/>
        </p:nvSpPr>
        <p:spPr>
          <a:xfrm>
            <a:off x="3578760" y="1108800"/>
            <a:ext cx="2921760" cy="2196000"/>
          </a:xfrm>
          <a:prstGeom prst="roundRect">
            <a:avLst>
              <a:gd name="adj" fmla="val 4587"/>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690" name="Shape 294"/>
          <p:cNvSpPr/>
          <p:nvPr/>
        </p:nvSpPr>
        <p:spPr>
          <a:xfrm>
            <a:off x="3578400" y="1108800"/>
            <a:ext cx="2921760" cy="462240"/>
          </a:xfrm>
          <a:prstGeom prst="roundRect">
            <a:avLst>
              <a:gd name="adj" fmla="val 17391"/>
            </a:avLst>
          </a:prstGeom>
          <a:solidFill>
            <a:srgbClr val="5B8FF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691" name="Text 350"/>
          <p:cNvSpPr/>
          <p:nvPr/>
        </p:nvSpPr>
        <p:spPr>
          <a:xfrm>
            <a:off x="3578400" y="1108800"/>
            <a:ext cx="2921760" cy="461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600" b="1" u="none" strike="noStrike" dirty="0">
                <a:solidFill>
                  <a:srgbClr val="FFFFFF"/>
                </a:solidFill>
                <a:effectLst/>
                <a:uFillTx/>
                <a:latin typeface="Cambria"/>
                <a:ea typeface="Cambria"/>
              </a:rPr>
              <a:t>Cechy spektralne</a:t>
            </a:r>
            <a:endParaRPr lang="pl-PL" sz="1600" b="0" u="none" strike="noStrike" dirty="0">
              <a:solidFill>
                <a:srgbClr val="000000"/>
              </a:solidFill>
              <a:effectLst/>
              <a:uFillTx/>
              <a:latin typeface="Arial"/>
            </a:endParaRPr>
          </a:p>
        </p:txBody>
      </p:sp>
      <p:sp>
        <p:nvSpPr>
          <p:cNvPr id="692" name="Shape 295"/>
          <p:cNvSpPr/>
          <p:nvPr/>
        </p:nvSpPr>
        <p:spPr>
          <a:xfrm>
            <a:off x="3719880" y="1733760"/>
            <a:ext cx="200160" cy="200160"/>
          </a:xfrm>
          <a:prstGeom prst="ellipse">
            <a:avLst/>
          </a:prstGeom>
          <a:solidFill>
            <a:srgbClr val="5B8FF9"/>
          </a:solidFill>
          <a:ln w="12700">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693" name="Text 351"/>
          <p:cNvSpPr/>
          <p:nvPr/>
        </p:nvSpPr>
        <p:spPr>
          <a:xfrm>
            <a:off x="3981600" y="1663200"/>
            <a:ext cx="2397600" cy="381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300" b="0" u="none" strike="noStrike" dirty="0">
                <a:solidFill>
                  <a:srgbClr val="1A1F3C"/>
                </a:solidFill>
                <a:effectLst/>
                <a:uFillTx/>
                <a:latin typeface="Calibri"/>
                <a:ea typeface="Calibri"/>
              </a:rPr>
              <a:t>MFCC - standard w uczeniu maszynowym</a:t>
            </a:r>
            <a:endParaRPr lang="pl-PL" sz="1300" b="0" u="none" strike="noStrike" dirty="0">
              <a:solidFill>
                <a:srgbClr val="000000"/>
              </a:solidFill>
              <a:effectLst/>
              <a:uFillTx/>
              <a:latin typeface="Arial"/>
            </a:endParaRPr>
          </a:p>
        </p:txBody>
      </p:sp>
      <p:sp>
        <p:nvSpPr>
          <p:cNvPr id="694" name="Shape 296"/>
          <p:cNvSpPr/>
          <p:nvPr/>
        </p:nvSpPr>
        <p:spPr>
          <a:xfrm>
            <a:off x="3719880" y="2116800"/>
            <a:ext cx="200160" cy="200160"/>
          </a:xfrm>
          <a:prstGeom prst="ellipse">
            <a:avLst/>
          </a:prstGeom>
          <a:solidFill>
            <a:srgbClr val="5B8FF9"/>
          </a:solidFill>
          <a:ln w="12700">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695" name="Text 352"/>
          <p:cNvSpPr/>
          <p:nvPr/>
        </p:nvSpPr>
        <p:spPr>
          <a:xfrm>
            <a:off x="3981600" y="2046240"/>
            <a:ext cx="2397600" cy="381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300" b="0" u="none" strike="noStrike" dirty="0">
                <a:solidFill>
                  <a:srgbClr val="1A1F3C"/>
                </a:solidFill>
                <a:effectLst/>
                <a:uFillTx/>
                <a:latin typeface="Calibri"/>
                <a:ea typeface="Calibri"/>
              </a:rPr>
              <a:t>Formanty (F1, F2) - jakość samogłosek</a:t>
            </a:r>
            <a:endParaRPr lang="pl-PL" sz="1300" b="0" u="none" strike="noStrike" dirty="0">
              <a:solidFill>
                <a:srgbClr val="000000"/>
              </a:solidFill>
              <a:effectLst/>
              <a:uFillTx/>
              <a:latin typeface="Arial"/>
            </a:endParaRPr>
          </a:p>
        </p:txBody>
      </p:sp>
      <p:sp>
        <p:nvSpPr>
          <p:cNvPr id="696" name="Shape 297"/>
          <p:cNvSpPr/>
          <p:nvPr/>
        </p:nvSpPr>
        <p:spPr>
          <a:xfrm>
            <a:off x="3719880" y="2499840"/>
            <a:ext cx="200160" cy="200160"/>
          </a:xfrm>
          <a:prstGeom prst="ellipse">
            <a:avLst/>
          </a:prstGeom>
          <a:solidFill>
            <a:srgbClr val="5B8FF9"/>
          </a:solidFill>
          <a:ln w="12700">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697" name="Text 353"/>
          <p:cNvSpPr/>
          <p:nvPr/>
        </p:nvSpPr>
        <p:spPr>
          <a:xfrm>
            <a:off x="3981600" y="2429280"/>
            <a:ext cx="2518560" cy="381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300" b="0" u="none" strike="noStrike" dirty="0" err="1">
                <a:solidFill>
                  <a:srgbClr val="1A1F3C"/>
                </a:solidFill>
                <a:effectLst/>
                <a:uFillTx/>
                <a:latin typeface="Calibri"/>
                <a:ea typeface="Calibri"/>
              </a:rPr>
              <a:t>Jitter</a:t>
            </a:r>
            <a:r>
              <a:rPr lang="pl-PL" sz="1300" b="0" u="none" strike="noStrike" dirty="0">
                <a:solidFill>
                  <a:srgbClr val="1A1F3C"/>
                </a:solidFill>
                <a:effectLst/>
                <a:uFillTx/>
                <a:latin typeface="Calibri"/>
                <a:ea typeface="Calibri"/>
              </a:rPr>
              <a:t> i </a:t>
            </a:r>
            <a:r>
              <a:rPr lang="pl-PL" sz="1300" b="0" u="none" strike="noStrike" dirty="0" err="1">
                <a:solidFill>
                  <a:srgbClr val="1A1F3C"/>
                </a:solidFill>
                <a:effectLst/>
                <a:uFillTx/>
                <a:latin typeface="Calibri"/>
                <a:ea typeface="Calibri"/>
              </a:rPr>
              <a:t>shimmer</a:t>
            </a:r>
            <a:r>
              <a:rPr lang="pl-PL" sz="1300" b="0" u="none" strike="noStrike" dirty="0">
                <a:solidFill>
                  <a:srgbClr val="1A1F3C"/>
                </a:solidFill>
                <a:effectLst/>
                <a:uFillTx/>
                <a:latin typeface="Calibri"/>
                <a:ea typeface="Calibri"/>
              </a:rPr>
              <a:t> - stabilność głosu</a:t>
            </a:r>
            <a:endParaRPr lang="pl-PL" sz="1300" b="0" u="none" strike="noStrike" dirty="0">
              <a:solidFill>
                <a:srgbClr val="000000"/>
              </a:solidFill>
              <a:effectLst/>
              <a:uFillTx/>
              <a:latin typeface="Arial"/>
            </a:endParaRPr>
          </a:p>
        </p:txBody>
      </p:sp>
      <p:sp>
        <p:nvSpPr>
          <p:cNvPr id="698" name="Shape 298"/>
          <p:cNvSpPr/>
          <p:nvPr/>
        </p:nvSpPr>
        <p:spPr>
          <a:xfrm>
            <a:off x="3719880" y="2882880"/>
            <a:ext cx="200160" cy="200160"/>
          </a:xfrm>
          <a:prstGeom prst="ellipse">
            <a:avLst/>
          </a:prstGeom>
          <a:solidFill>
            <a:srgbClr val="5B8FF9"/>
          </a:solidFill>
          <a:ln w="12700">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699" name="Text 354"/>
          <p:cNvSpPr/>
          <p:nvPr/>
        </p:nvSpPr>
        <p:spPr>
          <a:xfrm>
            <a:off x="3981600" y="2812680"/>
            <a:ext cx="2397600" cy="381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300" b="0" u="none" strike="noStrike" dirty="0">
                <a:solidFill>
                  <a:srgbClr val="1A1F3C"/>
                </a:solidFill>
                <a:effectLst/>
                <a:uFillTx/>
                <a:latin typeface="Calibri"/>
                <a:ea typeface="Calibri"/>
              </a:rPr>
              <a:t>Spektrogram i </a:t>
            </a:r>
            <a:r>
              <a:rPr lang="pl-PL" sz="1300" b="0" u="none" strike="noStrike" dirty="0" err="1">
                <a:solidFill>
                  <a:srgbClr val="1A1F3C"/>
                </a:solidFill>
                <a:effectLst/>
                <a:uFillTx/>
                <a:latin typeface="Calibri"/>
                <a:ea typeface="Calibri"/>
              </a:rPr>
              <a:t>mel</a:t>
            </a:r>
            <a:r>
              <a:rPr lang="pl-PL" sz="1300" b="0" u="none" strike="noStrike" dirty="0">
                <a:solidFill>
                  <a:srgbClr val="1A1F3C"/>
                </a:solidFill>
                <a:effectLst/>
                <a:uFillTx/>
                <a:latin typeface="Calibri"/>
                <a:ea typeface="Calibri"/>
              </a:rPr>
              <a:t>-spektrogram</a:t>
            </a:r>
            <a:endParaRPr lang="pl-PL" sz="1300" b="0" u="none" strike="noStrike" dirty="0">
              <a:solidFill>
                <a:srgbClr val="000000"/>
              </a:solidFill>
              <a:effectLst/>
              <a:uFillTx/>
              <a:latin typeface="Arial"/>
            </a:endParaRPr>
          </a:p>
        </p:txBody>
      </p:sp>
      <p:sp>
        <p:nvSpPr>
          <p:cNvPr id="700" name="Shape 299"/>
          <p:cNvSpPr/>
          <p:nvPr/>
        </p:nvSpPr>
        <p:spPr>
          <a:xfrm>
            <a:off x="6753960" y="1108800"/>
            <a:ext cx="2921760" cy="2196000"/>
          </a:xfrm>
          <a:prstGeom prst="roundRect">
            <a:avLst>
              <a:gd name="adj" fmla="val 4587"/>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701" name="Shape 300"/>
          <p:cNvSpPr/>
          <p:nvPr/>
        </p:nvSpPr>
        <p:spPr>
          <a:xfrm>
            <a:off x="6753960" y="1108800"/>
            <a:ext cx="2921760" cy="462240"/>
          </a:xfrm>
          <a:prstGeom prst="roundRect">
            <a:avLst>
              <a:gd name="adj" fmla="val 17391"/>
            </a:avLst>
          </a:prstGeom>
          <a:solidFill>
            <a:srgbClr val="2D7DD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702" name="Text 355"/>
          <p:cNvSpPr/>
          <p:nvPr/>
        </p:nvSpPr>
        <p:spPr>
          <a:xfrm>
            <a:off x="6753960" y="1108800"/>
            <a:ext cx="2921760" cy="461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600" b="1" u="none" strike="noStrike">
                <a:solidFill>
                  <a:srgbClr val="FFFFFF"/>
                </a:solidFill>
                <a:effectLst/>
                <a:uFillTx/>
                <a:latin typeface="Cambria"/>
                <a:ea typeface="Cambria"/>
              </a:rPr>
              <a:t>Transkrypcja i NLP</a:t>
            </a:r>
            <a:endParaRPr lang="pl-PL" sz="1600" b="0" u="none" strike="noStrike">
              <a:solidFill>
                <a:srgbClr val="000000"/>
              </a:solidFill>
              <a:effectLst/>
              <a:uFillTx/>
              <a:latin typeface="Arial"/>
            </a:endParaRPr>
          </a:p>
        </p:txBody>
      </p:sp>
      <p:sp>
        <p:nvSpPr>
          <p:cNvPr id="703" name="Shape 301"/>
          <p:cNvSpPr/>
          <p:nvPr/>
        </p:nvSpPr>
        <p:spPr>
          <a:xfrm>
            <a:off x="6895080" y="1733760"/>
            <a:ext cx="200160" cy="200160"/>
          </a:xfrm>
          <a:prstGeom prst="ellipse">
            <a:avLst/>
          </a:prstGeom>
          <a:solidFill>
            <a:srgbClr val="2D7DD2"/>
          </a:solidFill>
          <a:ln w="12700">
            <a:solidFill>
              <a:srgbClr val="2D7DD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704" name="Text 356"/>
          <p:cNvSpPr/>
          <p:nvPr/>
        </p:nvSpPr>
        <p:spPr>
          <a:xfrm>
            <a:off x="7157160" y="1663200"/>
            <a:ext cx="2468520" cy="381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300" b="0" u="none" strike="noStrike" dirty="0" err="1">
                <a:solidFill>
                  <a:srgbClr val="1A1F3C"/>
                </a:solidFill>
                <a:effectLst/>
                <a:uFillTx/>
                <a:latin typeface="Calibri"/>
                <a:ea typeface="Calibri"/>
              </a:rPr>
              <a:t>Whisper</a:t>
            </a:r>
            <a:r>
              <a:rPr lang="pl-PL" sz="1300" b="0" u="none" strike="noStrike" dirty="0">
                <a:solidFill>
                  <a:srgbClr val="1A1F3C"/>
                </a:solidFill>
                <a:effectLst/>
                <a:uFillTx/>
                <a:latin typeface="Calibri"/>
                <a:ea typeface="Calibri"/>
              </a:rPr>
              <a:t> (</a:t>
            </a:r>
            <a:r>
              <a:rPr lang="pl-PL" sz="1300" b="0" u="none" strike="noStrike" dirty="0" err="1">
                <a:solidFill>
                  <a:srgbClr val="1A1F3C"/>
                </a:solidFill>
                <a:effectLst/>
                <a:uFillTx/>
                <a:latin typeface="Calibri"/>
                <a:ea typeface="Calibri"/>
              </a:rPr>
              <a:t>OpenAI</a:t>
            </a:r>
            <a:r>
              <a:rPr lang="pl-PL" sz="1300" b="0" u="none" strike="noStrike" dirty="0">
                <a:solidFill>
                  <a:srgbClr val="1A1F3C"/>
                </a:solidFill>
                <a:effectLst/>
                <a:uFillTx/>
                <a:latin typeface="Calibri"/>
                <a:ea typeface="Calibri"/>
              </a:rPr>
              <a:t>): wielojęzyczny, offline</a:t>
            </a:r>
            <a:endParaRPr lang="pl-PL" sz="1300" b="0" u="none" strike="noStrike" dirty="0">
              <a:solidFill>
                <a:srgbClr val="000000"/>
              </a:solidFill>
              <a:effectLst/>
              <a:uFillTx/>
              <a:latin typeface="Arial"/>
            </a:endParaRPr>
          </a:p>
        </p:txBody>
      </p:sp>
      <p:sp>
        <p:nvSpPr>
          <p:cNvPr id="705" name="Shape 302"/>
          <p:cNvSpPr/>
          <p:nvPr/>
        </p:nvSpPr>
        <p:spPr>
          <a:xfrm>
            <a:off x="6895080" y="2116800"/>
            <a:ext cx="200160" cy="200160"/>
          </a:xfrm>
          <a:prstGeom prst="ellipse">
            <a:avLst/>
          </a:prstGeom>
          <a:solidFill>
            <a:srgbClr val="2D7DD2"/>
          </a:solidFill>
          <a:ln w="12700">
            <a:solidFill>
              <a:srgbClr val="2D7DD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706" name="Text 357"/>
          <p:cNvSpPr/>
          <p:nvPr/>
        </p:nvSpPr>
        <p:spPr>
          <a:xfrm>
            <a:off x="7157160" y="2046240"/>
            <a:ext cx="2397600" cy="381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300" b="0" u="none" strike="noStrike" dirty="0">
                <a:solidFill>
                  <a:srgbClr val="1A1F3C"/>
                </a:solidFill>
                <a:effectLst/>
                <a:uFillTx/>
                <a:latin typeface="Calibri"/>
                <a:ea typeface="Calibri"/>
              </a:rPr>
              <a:t>AWS </a:t>
            </a:r>
            <a:r>
              <a:rPr lang="pl-PL" sz="1300" b="0" u="none" strike="noStrike" dirty="0" err="1">
                <a:solidFill>
                  <a:srgbClr val="1A1F3C"/>
                </a:solidFill>
                <a:effectLst/>
                <a:uFillTx/>
                <a:latin typeface="Calibri"/>
                <a:ea typeface="Calibri"/>
              </a:rPr>
              <a:t>Transcribe</a:t>
            </a:r>
            <a:r>
              <a:rPr lang="pl-PL" sz="1300" b="0" u="none" strike="noStrike" dirty="0">
                <a:solidFill>
                  <a:srgbClr val="1A1F3C"/>
                </a:solidFill>
                <a:effectLst/>
                <a:uFillTx/>
                <a:latin typeface="Calibri"/>
                <a:ea typeface="Calibri"/>
              </a:rPr>
              <a:t>, Google Speech-to-</a:t>
            </a:r>
            <a:r>
              <a:rPr lang="pl-PL" sz="1300" b="0" u="none" strike="noStrike" dirty="0" err="1">
                <a:solidFill>
                  <a:srgbClr val="1A1F3C"/>
                </a:solidFill>
                <a:effectLst/>
                <a:uFillTx/>
                <a:latin typeface="Calibri"/>
                <a:ea typeface="Calibri"/>
              </a:rPr>
              <a:t>Text</a:t>
            </a:r>
            <a:endParaRPr lang="pl-PL" sz="1300" b="0" u="none" strike="noStrike" dirty="0">
              <a:solidFill>
                <a:srgbClr val="000000"/>
              </a:solidFill>
              <a:effectLst/>
              <a:uFillTx/>
              <a:latin typeface="Arial"/>
            </a:endParaRPr>
          </a:p>
        </p:txBody>
      </p:sp>
      <p:sp>
        <p:nvSpPr>
          <p:cNvPr id="707" name="Shape 303"/>
          <p:cNvSpPr/>
          <p:nvPr/>
        </p:nvSpPr>
        <p:spPr>
          <a:xfrm>
            <a:off x="6895080" y="2499840"/>
            <a:ext cx="200160" cy="200160"/>
          </a:xfrm>
          <a:prstGeom prst="ellipse">
            <a:avLst/>
          </a:prstGeom>
          <a:solidFill>
            <a:srgbClr val="2D7DD2"/>
          </a:solidFill>
          <a:ln w="12700">
            <a:solidFill>
              <a:srgbClr val="2D7DD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708" name="Text 358"/>
          <p:cNvSpPr/>
          <p:nvPr/>
        </p:nvSpPr>
        <p:spPr>
          <a:xfrm>
            <a:off x="7157160" y="2429280"/>
            <a:ext cx="2397600" cy="381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300" b="0" u="none" strike="noStrike">
                <a:solidFill>
                  <a:srgbClr val="1A1F3C"/>
                </a:solidFill>
                <a:effectLst/>
                <a:uFillTx/>
                <a:latin typeface="Calibri"/>
                <a:ea typeface="Calibri"/>
              </a:rPr>
              <a:t>Analiza treści, sentymentu, spójności</a:t>
            </a:r>
            <a:endParaRPr lang="pl-PL" sz="1300" b="0" u="none" strike="noStrike">
              <a:solidFill>
                <a:srgbClr val="000000"/>
              </a:solidFill>
              <a:effectLst/>
              <a:uFillTx/>
              <a:latin typeface="Arial"/>
            </a:endParaRPr>
          </a:p>
        </p:txBody>
      </p:sp>
      <p:sp>
        <p:nvSpPr>
          <p:cNvPr id="709" name="Shape 304"/>
          <p:cNvSpPr/>
          <p:nvPr/>
        </p:nvSpPr>
        <p:spPr>
          <a:xfrm>
            <a:off x="6895080" y="2882880"/>
            <a:ext cx="200160" cy="200160"/>
          </a:xfrm>
          <a:prstGeom prst="ellipse">
            <a:avLst/>
          </a:prstGeom>
          <a:solidFill>
            <a:srgbClr val="2D7DD2"/>
          </a:solidFill>
          <a:ln w="12700">
            <a:solidFill>
              <a:srgbClr val="2D7DD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710" name="Text 359"/>
          <p:cNvSpPr/>
          <p:nvPr/>
        </p:nvSpPr>
        <p:spPr>
          <a:xfrm>
            <a:off x="7157160" y="2812680"/>
            <a:ext cx="2397600" cy="381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300" b="0" u="none" strike="noStrike">
                <a:solidFill>
                  <a:srgbClr val="1A1F3C"/>
                </a:solidFill>
                <a:effectLst/>
                <a:uFillTx/>
                <a:latin typeface="Calibri"/>
                <a:ea typeface="Calibri"/>
              </a:rPr>
              <a:t>Embeddingi semantyczne wypowiedzi</a:t>
            </a:r>
            <a:endParaRPr lang="pl-PL" sz="1300" b="0" u="none" strike="noStrike">
              <a:solidFill>
                <a:srgbClr val="000000"/>
              </a:solidFill>
              <a:effectLst/>
              <a:uFillTx/>
              <a:latin typeface="Arial"/>
            </a:endParaRPr>
          </a:p>
        </p:txBody>
      </p:sp>
      <p:sp>
        <p:nvSpPr>
          <p:cNvPr id="711" name="Shape 305"/>
          <p:cNvSpPr/>
          <p:nvPr/>
        </p:nvSpPr>
        <p:spPr>
          <a:xfrm>
            <a:off x="403200" y="3397320"/>
            <a:ext cx="9252360" cy="1157760"/>
          </a:xfrm>
          <a:prstGeom prst="roundRect">
            <a:avLst>
              <a:gd name="adj" fmla="val 8696"/>
            </a:avLst>
          </a:prstGeom>
          <a:solidFill>
            <a:srgbClr val="F8F9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712" name="Text 360"/>
          <p:cNvSpPr/>
          <p:nvPr/>
        </p:nvSpPr>
        <p:spPr>
          <a:xfrm>
            <a:off x="554400" y="3447360"/>
            <a:ext cx="4161600" cy="321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400" b="0" i="1" u="none" strike="noStrike" dirty="0">
                <a:solidFill>
                  <a:srgbClr val="1E2761"/>
                </a:solidFill>
                <a:effectLst/>
                <a:uFillTx/>
                <a:latin typeface="Cambria"/>
                <a:ea typeface="Cambria"/>
              </a:rPr>
              <a:t>Przykład sygnału jako schematyczny widok falowy</a:t>
            </a:r>
            <a:endParaRPr lang="pl-PL" sz="1400" b="0" i="1" u="none" strike="noStrike" dirty="0">
              <a:solidFill>
                <a:srgbClr val="000000"/>
              </a:solidFill>
              <a:effectLst/>
              <a:uFillTx/>
              <a:latin typeface="Arial"/>
            </a:endParaRPr>
          </a:p>
        </p:txBody>
      </p:sp>
      <p:sp>
        <p:nvSpPr>
          <p:cNvPr id="713" name="Text 361"/>
          <p:cNvSpPr/>
          <p:nvPr/>
        </p:nvSpPr>
        <p:spPr>
          <a:xfrm>
            <a:off x="5745960" y="3447360"/>
            <a:ext cx="3879720" cy="321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pl-PL" sz="1400" b="0" i="1" u="none" strike="noStrike" dirty="0">
                <a:solidFill>
                  <a:srgbClr val="8A93C0"/>
                </a:solidFill>
                <a:effectLst/>
                <a:uFillTx/>
                <a:latin typeface="Calibri"/>
                <a:ea typeface="Calibri"/>
              </a:rPr>
              <a:t>niebieski - akcent      zielony - zmiana tonu</a:t>
            </a:r>
            <a:endParaRPr lang="pl-PL" sz="1400" b="0" u="none" strike="noStrike" dirty="0">
              <a:solidFill>
                <a:srgbClr val="000000"/>
              </a:solidFill>
              <a:effectLst/>
              <a:uFillTx/>
              <a:latin typeface="Arial"/>
            </a:endParaRPr>
          </a:p>
        </p:txBody>
      </p:sp>
      <p:sp>
        <p:nvSpPr>
          <p:cNvPr id="714" name="Shape 306"/>
          <p:cNvSpPr/>
          <p:nvPr/>
        </p:nvSpPr>
        <p:spPr>
          <a:xfrm>
            <a:off x="524160" y="4405680"/>
            <a:ext cx="159480" cy="48600"/>
          </a:xfrm>
          <a:prstGeom prst="rect">
            <a:avLst/>
          </a:prstGeom>
          <a:solidFill>
            <a:srgbClr val="8A93C0">
              <a:alpha val="80000"/>
            </a:srgbClr>
          </a:solidFill>
          <a:ln w="12700">
            <a:solidFill>
              <a:srgbClr val="8A93C0"/>
            </a:solidFill>
            <a:round/>
          </a:ln>
        </p:spPr>
        <p:style>
          <a:lnRef idx="0">
            <a:scrgbClr r="0" g="0" b="0"/>
          </a:lnRef>
          <a:fillRef idx="0">
            <a:scrgbClr r="0" g="0" b="0"/>
          </a:fillRef>
          <a:effectRef idx="0">
            <a:scrgbClr r="0" g="0" b="0"/>
          </a:effectRef>
          <a:fontRef idx="minor"/>
        </p:style>
        <p:txBody>
          <a:bodyPr lIns="90000" tIns="360" rIns="90000" bIns="360" anchor="t">
            <a:noAutofit/>
          </a:bodyPr>
          <a:lstStyle/>
          <a:p>
            <a:pPr>
              <a:lnSpc>
                <a:spcPct val="100000"/>
              </a:lnSpc>
            </a:pPr>
            <a:endParaRPr lang="pl-PL" sz="1800" b="0" u="none" strike="noStrike">
              <a:solidFill>
                <a:srgbClr val="FFFFFF"/>
              </a:solidFill>
              <a:effectLst/>
              <a:uFillTx/>
              <a:latin typeface="Arial"/>
            </a:endParaRPr>
          </a:p>
        </p:txBody>
      </p:sp>
      <p:sp>
        <p:nvSpPr>
          <p:cNvPr id="715" name="Shape 307"/>
          <p:cNvSpPr/>
          <p:nvPr/>
        </p:nvSpPr>
        <p:spPr>
          <a:xfrm>
            <a:off x="725760" y="4343040"/>
            <a:ext cx="159480" cy="110880"/>
          </a:xfrm>
          <a:prstGeom prst="rect">
            <a:avLst/>
          </a:prstGeom>
          <a:solidFill>
            <a:srgbClr val="8A93C0">
              <a:alpha val="80000"/>
            </a:srgbClr>
          </a:solidFill>
          <a:ln w="12700">
            <a:solidFill>
              <a:srgbClr val="8A93C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716" name="Shape 308"/>
          <p:cNvSpPr/>
          <p:nvPr/>
        </p:nvSpPr>
        <p:spPr>
          <a:xfrm>
            <a:off x="927360" y="4255560"/>
            <a:ext cx="159480" cy="198360"/>
          </a:xfrm>
          <a:prstGeom prst="rect">
            <a:avLst/>
          </a:prstGeom>
          <a:solidFill>
            <a:srgbClr val="8A93C0">
              <a:alpha val="80000"/>
            </a:srgbClr>
          </a:solidFill>
          <a:ln w="12700">
            <a:solidFill>
              <a:srgbClr val="8A93C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717" name="Shape 309"/>
          <p:cNvSpPr/>
          <p:nvPr/>
        </p:nvSpPr>
        <p:spPr>
          <a:xfrm>
            <a:off x="1128960" y="4155840"/>
            <a:ext cx="159480" cy="298440"/>
          </a:xfrm>
          <a:prstGeom prst="rect">
            <a:avLst/>
          </a:prstGeom>
          <a:solidFill>
            <a:srgbClr val="8A93C0">
              <a:alpha val="80000"/>
            </a:srgbClr>
          </a:solidFill>
          <a:ln w="12700">
            <a:solidFill>
              <a:srgbClr val="8A93C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718" name="Shape 310"/>
          <p:cNvSpPr/>
          <p:nvPr/>
        </p:nvSpPr>
        <p:spPr>
          <a:xfrm>
            <a:off x="1330560" y="4130640"/>
            <a:ext cx="159480" cy="323640"/>
          </a:xfrm>
          <a:prstGeom prst="rect">
            <a:avLst/>
          </a:prstGeom>
          <a:solidFill>
            <a:srgbClr val="8A93C0">
              <a:alpha val="80000"/>
            </a:srgbClr>
          </a:solidFill>
          <a:ln w="12700">
            <a:solidFill>
              <a:srgbClr val="8A93C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719" name="Shape 311"/>
          <p:cNvSpPr/>
          <p:nvPr/>
        </p:nvSpPr>
        <p:spPr>
          <a:xfrm>
            <a:off x="1532160" y="4218120"/>
            <a:ext cx="159480" cy="235800"/>
          </a:xfrm>
          <a:prstGeom prst="rect">
            <a:avLst/>
          </a:prstGeom>
          <a:solidFill>
            <a:srgbClr val="8A93C0">
              <a:alpha val="80000"/>
            </a:srgbClr>
          </a:solidFill>
          <a:ln w="12700">
            <a:solidFill>
              <a:srgbClr val="8A93C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720" name="Shape 312"/>
          <p:cNvSpPr/>
          <p:nvPr/>
        </p:nvSpPr>
        <p:spPr>
          <a:xfrm>
            <a:off x="1733760" y="4330800"/>
            <a:ext cx="159480" cy="123480"/>
          </a:xfrm>
          <a:prstGeom prst="rect">
            <a:avLst/>
          </a:prstGeom>
          <a:solidFill>
            <a:srgbClr val="8A93C0">
              <a:alpha val="80000"/>
            </a:srgbClr>
          </a:solidFill>
          <a:ln w="12700">
            <a:solidFill>
              <a:srgbClr val="8A93C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721" name="Shape 313"/>
          <p:cNvSpPr/>
          <p:nvPr/>
        </p:nvSpPr>
        <p:spPr>
          <a:xfrm>
            <a:off x="1935360" y="4380840"/>
            <a:ext cx="159480" cy="73440"/>
          </a:xfrm>
          <a:prstGeom prst="rect">
            <a:avLst/>
          </a:prstGeom>
          <a:solidFill>
            <a:srgbClr val="8A93C0">
              <a:alpha val="80000"/>
            </a:srgbClr>
          </a:solidFill>
          <a:ln w="12700">
            <a:solidFill>
              <a:srgbClr val="8A93C0"/>
            </a:solidFill>
            <a:round/>
          </a:ln>
        </p:spPr>
        <p:style>
          <a:lnRef idx="0">
            <a:scrgbClr r="0" g="0" b="0"/>
          </a:lnRef>
          <a:fillRef idx="0">
            <a:scrgbClr r="0" g="0" b="0"/>
          </a:fillRef>
          <a:effectRef idx="0">
            <a:scrgbClr r="0" g="0" b="0"/>
          </a:effectRef>
          <a:fontRef idx="minor"/>
        </p:style>
        <p:txBody>
          <a:bodyPr lIns="90000" tIns="23040" rIns="90000" bIns="2304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722" name="Shape 314"/>
          <p:cNvSpPr/>
          <p:nvPr/>
        </p:nvSpPr>
        <p:spPr>
          <a:xfrm>
            <a:off x="2136960" y="4417920"/>
            <a:ext cx="159480" cy="35640"/>
          </a:xfrm>
          <a:prstGeom prst="rect">
            <a:avLst/>
          </a:prstGeom>
          <a:solidFill>
            <a:srgbClr val="8A93C0">
              <a:alpha val="80000"/>
            </a:srgbClr>
          </a:solidFill>
          <a:ln w="12700">
            <a:solidFill>
              <a:srgbClr val="8A93C0"/>
            </a:solidFill>
            <a:round/>
          </a:ln>
        </p:spPr>
        <p:style>
          <a:lnRef idx="0">
            <a:scrgbClr r="0" g="0" b="0"/>
          </a:lnRef>
          <a:fillRef idx="0">
            <a:scrgbClr r="0" g="0" b="0"/>
          </a:fillRef>
          <a:effectRef idx="0">
            <a:scrgbClr r="0" g="0" b="0"/>
          </a:effectRef>
          <a:fontRef idx="minor"/>
        </p:style>
        <p:txBody>
          <a:bodyPr lIns="90000" tIns="-11160" rIns="90000" bIns="-11160" anchor="t">
            <a:noAutofit/>
          </a:bodyPr>
          <a:lstStyle/>
          <a:p>
            <a:pPr>
              <a:lnSpc>
                <a:spcPct val="100000"/>
              </a:lnSpc>
            </a:pPr>
            <a:endParaRPr lang="pl-PL" sz="1800" b="0" u="none" strike="noStrike">
              <a:solidFill>
                <a:srgbClr val="FFFFFF"/>
              </a:solidFill>
              <a:effectLst/>
              <a:uFillTx/>
              <a:latin typeface="Arial"/>
            </a:endParaRPr>
          </a:p>
        </p:txBody>
      </p:sp>
      <p:sp>
        <p:nvSpPr>
          <p:cNvPr id="723" name="Shape 315"/>
          <p:cNvSpPr/>
          <p:nvPr/>
        </p:nvSpPr>
        <p:spPr>
          <a:xfrm>
            <a:off x="2338560" y="4280760"/>
            <a:ext cx="159480" cy="173520"/>
          </a:xfrm>
          <a:prstGeom prst="rect">
            <a:avLst/>
          </a:prstGeom>
          <a:solidFill>
            <a:srgbClr val="8A93C0">
              <a:alpha val="80000"/>
            </a:srgbClr>
          </a:solidFill>
          <a:ln w="12700">
            <a:solidFill>
              <a:srgbClr val="8A93C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724" name="Shape 316"/>
          <p:cNvSpPr/>
          <p:nvPr/>
        </p:nvSpPr>
        <p:spPr>
          <a:xfrm>
            <a:off x="2540160" y="4111920"/>
            <a:ext cx="159480" cy="342000"/>
          </a:xfrm>
          <a:prstGeom prst="rect">
            <a:avLst/>
          </a:prstGeom>
          <a:solidFill>
            <a:srgbClr val="8A93C0">
              <a:alpha val="80000"/>
            </a:srgbClr>
          </a:solidFill>
          <a:ln w="12700">
            <a:solidFill>
              <a:srgbClr val="8A93C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725" name="Shape 317"/>
          <p:cNvSpPr/>
          <p:nvPr/>
        </p:nvSpPr>
        <p:spPr>
          <a:xfrm>
            <a:off x="2741760" y="4017960"/>
            <a:ext cx="159480" cy="435960"/>
          </a:xfrm>
          <a:prstGeom prst="rect">
            <a:avLst/>
          </a:prstGeom>
          <a:solidFill>
            <a:srgbClr val="8A93C0">
              <a:alpha val="80000"/>
            </a:srgbClr>
          </a:solidFill>
          <a:ln w="12700">
            <a:solidFill>
              <a:srgbClr val="8A93C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726" name="Shape 318"/>
          <p:cNvSpPr/>
          <p:nvPr/>
        </p:nvSpPr>
        <p:spPr>
          <a:xfrm>
            <a:off x="2943360" y="4080600"/>
            <a:ext cx="159480" cy="373680"/>
          </a:xfrm>
          <a:prstGeom prst="rect">
            <a:avLst/>
          </a:prstGeom>
          <a:solidFill>
            <a:srgbClr val="5B8FF9">
              <a:alpha val="80000"/>
            </a:srgbClr>
          </a:solidFill>
          <a:ln w="12700">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727" name="Shape 319"/>
          <p:cNvSpPr/>
          <p:nvPr/>
        </p:nvSpPr>
        <p:spPr>
          <a:xfrm>
            <a:off x="3145320" y="4174200"/>
            <a:ext cx="159480" cy="279720"/>
          </a:xfrm>
          <a:prstGeom prst="rect">
            <a:avLst/>
          </a:prstGeom>
          <a:solidFill>
            <a:srgbClr val="5B8FF9">
              <a:alpha val="80000"/>
            </a:srgbClr>
          </a:solidFill>
          <a:ln w="12700">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728" name="Shape 320"/>
          <p:cNvSpPr/>
          <p:nvPr/>
        </p:nvSpPr>
        <p:spPr>
          <a:xfrm>
            <a:off x="3346920" y="4317840"/>
            <a:ext cx="159480" cy="135720"/>
          </a:xfrm>
          <a:prstGeom prst="rect">
            <a:avLst/>
          </a:prstGeom>
          <a:solidFill>
            <a:srgbClr val="5B8FF9">
              <a:alpha val="80000"/>
            </a:srgbClr>
          </a:solidFill>
          <a:ln w="12700">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729" name="Shape 321"/>
          <p:cNvSpPr/>
          <p:nvPr/>
        </p:nvSpPr>
        <p:spPr>
          <a:xfrm>
            <a:off x="3548520" y="4393080"/>
            <a:ext cx="159480" cy="60840"/>
          </a:xfrm>
          <a:prstGeom prst="rect">
            <a:avLst/>
          </a:prstGeom>
          <a:solidFill>
            <a:srgbClr val="5B8FF9">
              <a:alpha val="80000"/>
            </a:srgbClr>
          </a:solidFill>
          <a:ln w="12700">
            <a:solidFill>
              <a:srgbClr val="5B8FF9"/>
            </a:solidFill>
            <a:round/>
          </a:ln>
        </p:spPr>
        <p:style>
          <a:lnRef idx="0">
            <a:scrgbClr r="0" g="0" b="0"/>
          </a:lnRef>
          <a:fillRef idx="0">
            <a:scrgbClr r="0" g="0" b="0"/>
          </a:fillRef>
          <a:effectRef idx="0">
            <a:scrgbClr r="0" g="0" b="0"/>
          </a:effectRef>
          <a:fontRef idx="minor"/>
        </p:style>
        <p:txBody>
          <a:bodyPr lIns="90000" tIns="11520" rIns="90000" bIns="1152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730" name="Shape 322"/>
          <p:cNvSpPr/>
          <p:nvPr/>
        </p:nvSpPr>
        <p:spPr>
          <a:xfrm>
            <a:off x="3750120" y="4405680"/>
            <a:ext cx="159480" cy="48600"/>
          </a:xfrm>
          <a:prstGeom prst="rect">
            <a:avLst/>
          </a:prstGeom>
          <a:solidFill>
            <a:srgbClr val="5B8FF9">
              <a:alpha val="80000"/>
            </a:srgbClr>
          </a:solidFill>
          <a:ln w="12700">
            <a:solidFill>
              <a:srgbClr val="5B8FF9"/>
            </a:solidFill>
            <a:round/>
          </a:ln>
        </p:spPr>
        <p:style>
          <a:lnRef idx="0">
            <a:scrgbClr r="0" g="0" b="0"/>
          </a:lnRef>
          <a:fillRef idx="0">
            <a:scrgbClr r="0" g="0" b="0"/>
          </a:fillRef>
          <a:effectRef idx="0">
            <a:scrgbClr r="0" g="0" b="0"/>
          </a:effectRef>
          <a:fontRef idx="minor"/>
        </p:style>
        <p:txBody>
          <a:bodyPr lIns="90000" tIns="360" rIns="90000" bIns="360" anchor="t">
            <a:noAutofit/>
          </a:bodyPr>
          <a:lstStyle/>
          <a:p>
            <a:pPr>
              <a:lnSpc>
                <a:spcPct val="100000"/>
              </a:lnSpc>
            </a:pPr>
            <a:endParaRPr lang="pl-PL" sz="1800" b="0" u="none" strike="noStrike">
              <a:solidFill>
                <a:srgbClr val="FFFFFF"/>
              </a:solidFill>
              <a:effectLst/>
              <a:uFillTx/>
              <a:latin typeface="Arial"/>
            </a:endParaRPr>
          </a:p>
        </p:txBody>
      </p:sp>
      <p:sp>
        <p:nvSpPr>
          <p:cNvPr id="731" name="Shape 323"/>
          <p:cNvSpPr/>
          <p:nvPr/>
        </p:nvSpPr>
        <p:spPr>
          <a:xfrm>
            <a:off x="3951720" y="4236840"/>
            <a:ext cx="159480" cy="217080"/>
          </a:xfrm>
          <a:prstGeom prst="rect">
            <a:avLst/>
          </a:prstGeom>
          <a:solidFill>
            <a:srgbClr val="5B8FF9">
              <a:alpha val="80000"/>
            </a:srgbClr>
          </a:solidFill>
          <a:ln w="12700">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732" name="Shape 324"/>
          <p:cNvSpPr/>
          <p:nvPr/>
        </p:nvSpPr>
        <p:spPr>
          <a:xfrm>
            <a:off x="4153320" y="4049280"/>
            <a:ext cx="159480" cy="405000"/>
          </a:xfrm>
          <a:prstGeom prst="rect">
            <a:avLst/>
          </a:prstGeom>
          <a:solidFill>
            <a:srgbClr val="5B8FF9">
              <a:alpha val="80000"/>
            </a:srgbClr>
          </a:solidFill>
          <a:ln w="12700">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733" name="Shape 325"/>
          <p:cNvSpPr/>
          <p:nvPr/>
        </p:nvSpPr>
        <p:spPr>
          <a:xfrm>
            <a:off x="4354920" y="4005720"/>
            <a:ext cx="159480" cy="448560"/>
          </a:xfrm>
          <a:prstGeom prst="rect">
            <a:avLst/>
          </a:prstGeom>
          <a:solidFill>
            <a:srgbClr val="8A93C0">
              <a:alpha val="80000"/>
            </a:srgbClr>
          </a:solidFill>
          <a:ln w="12700">
            <a:solidFill>
              <a:srgbClr val="8A93C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734" name="Shape 326"/>
          <p:cNvSpPr/>
          <p:nvPr/>
        </p:nvSpPr>
        <p:spPr>
          <a:xfrm>
            <a:off x="4556520" y="4092840"/>
            <a:ext cx="159480" cy="360720"/>
          </a:xfrm>
          <a:prstGeom prst="rect">
            <a:avLst/>
          </a:prstGeom>
          <a:solidFill>
            <a:srgbClr val="8A93C0">
              <a:alpha val="80000"/>
            </a:srgbClr>
          </a:solidFill>
          <a:ln w="12700">
            <a:solidFill>
              <a:srgbClr val="8A93C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735" name="Shape 327"/>
          <p:cNvSpPr/>
          <p:nvPr/>
        </p:nvSpPr>
        <p:spPr>
          <a:xfrm>
            <a:off x="4758120" y="4205520"/>
            <a:ext cx="159480" cy="248400"/>
          </a:xfrm>
          <a:prstGeom prst="rect">
            <a:avLst/>
          </a:prstGeom>
          <a:solidFill>
            <a:srgbClr val="8A93C0">
              <a:alpha val="80000"/>
            </a:srgbClr>
          </a:solidFill>
          <a:ln w="12700">
            <a:solidFill>
              <a:srgbClr val="8A93C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736" name="Shape 328"/>
          <p:cNvSpPr/>
          <p:nvPr/>
        </p:nvSpPr>
        <p:spPr>
          <a:xfrm>
            <a:off x="4959720" y="4330800"/>
            <a:ext cx="159480" cy="123480"/>
          </a:xfrm>
          <a:prstGeom prst="rect">
            <a:avLst/>
          </a:prstGeom>
          <a:solidFill>
            <a:srgbClr val="8A93C0">
              <a:alpha val="80000"/>
            </a:srgbClr>
          </a:solidFill>
          <a:ln w="12700">
            <a:solidFill>
              <a:srgbClr val="8A93C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737" name="Shape 329"/>
          <p:cNvSpPr/>
          <p:nvPr/>
        </p:nvSpPr>
        <p:spPr>
          <a:xfrm>
            <a:off x="5161320" y="4393080"/>
            <a:ext cx="159480" cy="60840"/>
          </a:xfrm>
          <a:prstGeom prst="rect">
            <a:avLst/>
          </a:prstGeom>
          <a:solidFill>
            <a:srgbClr val="8A93C0">
              <a:alpha val="80000"/>
            </a:srgbClr>
          </a:solidFill>
          <a:ln w="12700">
            <a:solidFill>
              <a:srgbClr val="8A93C0"/>
            </a:solidFill>
            <a:round/>
          </a:ln>
        </p:spPr>
        <p:style>
          <a:lnRef idx="0">
            <a:scrgbClr r="0" g="0" b="0"/>
          </a:lnRef>
          <a:fillRef idx="0">
            <a:scrgbClr r="0" g="0" b="0"/>
          </a:fillRef>
          <a:effectRef idx="0">
            <a:scrgbClr r="0" g="0" b="0"/>
          </a:effectRef>
          <a:fontRef idx="minor"/>
        </p:style>
        <p:txBody>
          <a:bodyPr lIns="90000" tIns="11520" rIns="90000" bIns="1152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738" name="Shape 330"/>
          <p:cNvSpPr/>
          <p:nvPr/>
        </p:nvSpPr>
        <p:spPr>
          <a:xfrm>
            <a:off x="5362920" y="4417920"/>
            <a:ext cx="159480" cy="35640"/>
          </a:xfrm>
          <a:prstGeom prst="rect">
            <a:avLst/>
          </a:prstGeom>
          <a:solidFill>
            <a:srgbClr val="8A93C0">
              <a:alpha val="80000"/>
            </a:srgbClr>
          </a:solidFill>
          <a:ln w="12700">
            <a:solidFill>
              <a:srgbClr val="8A93C0"/>
            </a:solidFill>
            <a:round/>
          </a:ln>
        </p:spPr>
        <p:style>
          <a:lnRef idx="0">
            <a:scrgbClr r="0" g="0" b="0"/>
          </a:lnRef>
          <a:fillRef idx="0">
            <a:scrgbClr r="0" g="0" b="0"/>
          </a:fillRef>
          <a:effectRef idx="0">
            <a:scrgbClr r="0" g="0" b="0"/>
          </a:effectRef>
          <a:fontRef idx="minor"/>
        </p:style>
        <p:txBody>
          <a:bodyPr lIns="90000" tIns="-11160" rIns="90000" bIns="-11160" anchor="t">
            <a:noAutofit/>
          </a:bodyPr>
          <a:lstStyle/>
          <a:p>
            <a:pPr>
              <a:lnSpc>
                <a:spcPct val="100000"/>
              </a:lnSpc>
            </a:pPr>
            <a:endParaRPr lang="pl-PL" sz="1800" b="0" u="none" strike="noStrike">
              <a:solidFill>
                <a:srgbClr val="FFFFFF"/>
              </a:solidFill>
              <a:effectLst/>
              <a:uFillTx/>
              <a:latin typeface="Arial"/>
            </a:endParaRPr>
          </a:p>
        </p:txBody>
      </p:sp>
      <p:sp>
        <p:nvSpPr>
          <p:cNvPr id="739" name="Shape 331"/>
          <p:cNvSpPr/>
          <p:nvPr/>
        </p:nvSpPr>
        <p:spPr>
          <a:xfrm>
            <a:off x="5564520" y="4317840"/>
            <a:ext cx="159480" cy="135720"/>
          </a:xfrm>
          <a:prstGeom prst="rect">
            <a:avLst/>
          </a:prstGeom>
          <a:solidFill>
            <a:srgbClr val="8A93C0">
              <a:alpha val="80000"/>
            </a:srgbClr>
          </a:solidFill>
          <a:ln w="12700">
            <a:solidFill>
              <a:srgbClr val="8A93C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740" name="Shape 332"/>
          <p:cNvSpPr/>
          <p:nvPr/>
        </p:nvSpPr>
        <p:spPr>
          <a:xfrm>
            <a:off x="5766120" y="4192920"/>
            <a:ext cx="159480" cy="260640"/>
          </a:xfrm>
          <a:prstGeom prst="rect">
            <a:avLst/>
          </a:prstGeom>
          <a:solidFill>
            <a:srgbClr val="8A93C0">
              <a:alpha val="80000"/>
            </a:srgbClr>
          </a:solidFill>
          <a:ln w="12700">
            <a:solidFill>
              <a:srgbClr val="8A93C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741" name="Shape 333"/>
          <p:cNvSpPr/>
          <p:nvPr/>
        </p:nvSpPr>
        <p:spPr>
          <a:xfrm>
            <a:off x="5967720" y="4130640"/>
            <a:ext cx="159480" cy="323640"/>
          </a:xfrm>
          <a:prstGeom prst="rect">
            <a:avLst/>
          </a:prstGeom>
          <a:solidFill>
            <a:srgbClr val="8A93C0">
              <a:alpha val="80000"/>
            </a:srgbClr>
          </a:solidFill>
          <a:ln w="12700">
            <a:solidFill>
              <a:srgbClr val="8A93C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742" name="Shape 334"/>
          <p:cNvSpPr/>
          <p:nvPr/>
        </p:nvSpPr>
        <p:spPr>
          <a:xfrm>
            <a:off x="6169320" y="4218120"/>
            <a:ext cx="159480" cy="235800"/>
          </a:xfrm>
          <a:prstGeom prst="rect">
            <a:avLst/>
          </a:prstGeom>
          <a:solidFill>
            <a:srgbClr val="8A93C0">
              <a:alpha val="80000"/>
            </a:srgbClr>
          </a:solidFill>
          <a:ln w="12700">
            <a:solidFill>
              <a:srgbClr val="8A93C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743" name="Shape 335"/>
          <p:cNvSpPr/>
          <p:nvPr/>
        </p:nvSpPr>
        <p:spPr>
          <a:xfrm>
            <a:off x="6370920" y="4343040"/>
            <a:ext cx="159480" cy="110880"/>
          </a:xfrm>
          <a:prstGeom prst="rect">
            <a:avLst/>
          </a:prstGeom>
          <a:solidFill>
            <a:srgbClr val="3ECFB2">
              <a:alpha val="80000"/>
            </a:srgbClr>
          </a:solidFill>
          <a:ln w="12700">
            <a:solidFill>
              <a:srgbClr val="3ECFB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744" name="Shape 336"/>
          <p:cNvSpPr/>
          <p:nvPr/>
        </p:nvSpPr>
        <p:spPr>
          <a:xfrm>
            <a:off x="6572520" y="4405680"/>
            <a:ext cx="159480" cy="48600"/>
          </a:xfrm>
          <a:prstGeom prst="rect">
            <a:avLst/>
          </a:prstGeom>
          <a:solidFill>
            <a:srgbClr val="3ECFB2">
              <a:alpha val="80000"/>
            </a:srgbClr>
          </a:solidFill>
          <a:ln w="12700">
            <a:solidFill>
              <a:srgbClr val="3ECFB2"/>
            </a:solidFill>
            <a:round/>
          </a:ln>
        </p:spPr>
        <p:style>
          <a:lnRef idx="0">
            <a:scrgbClr r="0" g="0" b="0"/>
          </a:lnRef>
          <a:fillRef idx="0">
            <a:scrgbClr r="0" g="0" b="0"/>
          </a:fillRef>
          <a:effectRef idx="0">
            <a:scrgbClr r="0" g="0" b="0"/>
          </a:effectRef>
          <a:fontRef idx="minor"/>
        </p:style>
        <p:txBody>
          <a:bodyPr lIns="90000" tIns="360" rIns="90000" bIns="360" anchor="t">
            <a:noAutofit/>
          </a:bodyPr>
          <a:lstStyle/>
          <a:p>
            <a:pPr>
              <a:lnSpc>
                <a:spcPct val="100000"/>
              </a:lnSpc>
            </a:pPr>
            <a:endParaRPr lang="pl-PL" sz="1800" b="0" u="none" strike="noStrike">
              <a:solidFill>
                <a:srgbClr val="000000"/>
              </a:solidFill>
              <a:effectLst/>
              <a:uFillTx/>
              <a:latin typeface="Arial"/>
            </a:endParaRPr>
          </a:p>
        </p:txBody>
      </p:sp>
      <p:sp>
        <p:nvSpPr>
          <p:cNvPr id="745" name="Shape 337"/>
          <p:cNvSpPr/>
          <p:nvPr/>
        </p:nvSpPr>
        <p:spPr>
          <a:xfrm>
            <a:off x="6774120" y="4430520"/>
            <a:ext cx="159480" cy="23400"/>
          </a:xfrm>
          <a:prstGeom prst="rect">
            <a:avLst/>
          </a:prstGeom>
          <a:solidFill>
            <a:srgbClr val="3ECFB2">
              <a:alpha val="80000"/>
            </a:srgbClr>
          </a:solidFill>
          <a:ln w="12700">
            <a:solidFill>
              <a:srgbClr val="3ECFB2"/>
            </a:solidFill>
            <a:round/>
          </a:ln>
        </p:spPr>
        <p:style>
          <a:lnRef idx="0">
            <a:scrgbClr r="0" g="0" b="0"/>
          </a:lnRef>
          <a:fillRef idx="0">
            <a:scrgbClr r="0" g="0" b="0"/>
          </a:fillRef>
          <a:effectRef idx="0">
            <a:scrgbClr r="0" g="0" b="0"/>
          </a:effectRef>
          <a:fontRef idx="minor"/>
        </p:style>
        <p:txBody>
          <a:bodyPr lIns="90000" tIns="-22320" rIns="90000" bIns="-22320" anchor="t">
            <a:noAutofit/>
          </a:bodyPr>
          <a:lstStyle/>
          <a:p>
            <a:pPr>
              <a:lnSpc>
                <a:spcPct val="100000"/>
              </a:lnSpc>
            </a:pPr>
            <a:endParaRPr lang="pl-PL" sz="1800" b="0" u="none" strike="noStrike">
              <a:solidFill>
                <a:srgbClr val="000000"/>
              </a:solidFill>
              <a:effectLst/>
              <a:uFillTx/>
              <a:latin typeface="Arial"/>
            </a:endParaRPr>
          </a:p>
        </p:txBody>
      </p:sp>
      <p:sp>
        <p:nvSpPr>
          <p:cNvPr id="746" name="Shape 338"/>
          <p:cNvSpPr/>
          <p:nvPr/>
        </p:nvSpPr>
        <p:spPr>
          <a:xfrm>
            <a:off x="6975720" y="4343040"/>
            <a:ext cx="159480" cy="110880"/>
          </a:xfrm>
          <a:prstGeom prst="rect">
            <a:avLst/>
          </a:prstGeom>
          <a:solidFill>
            <a:srgbClr val="3ECFB2">
              <a:alpha val="80000"/>
            </a:srgbClr>
          </a:solidFill>
          <a:ln w="12700">
            <a:solidFill>
              <a:srgbClr val="3ECFB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747" name="Shape 339"/>
          <p:cNvSpPr/>
          <p:nvPr/>
        </p:nvSpPr>
        <p:spPr>
          <a:xfrm>
            <a:off x="7177320" y="4180680"/>
            <a:ext cx="159480" cy="273600"/>
          </a:xfrm>
          <a:prstGeom prst="rect">
            <a:avLst/>
          </a:prstGeom>
          <a:solidFill>
            <a:srgbClr val="3ECFB2">
              <a:alpha val="80000"/>
            </a:srgbClr>
          </a:solidFill>
          <a:ln w="12700">
            <a:solidFill>
              <a:srgbClr val="3ECFB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748" name="Shape 340"/>
          <p:cNvSpPr/>
          <p:nvPr/>
        </p:nvSpPr>
        <p:spPr>
          <a:xfrm>
            <a:off x="7378920" y="4068000"/>
            <a:ext cx="159480" cy="385920"/>
          </a:xfrm>
          <a:prstGeom prst="rect">
            <a:avLst/>
          </a:prstGeom>
          <a:solidFill>
            <a:srgbClr val="3ECFB2">
              <a:alpha val="80000"/>
            </a:srgbClr>
          </a:solidFill>
          <a:ln w="12700">
            <a:solidFill>
              <a:srgbClr val="3ECFB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749" name="Shape 341"/>
          <p:cNvSpPr/>
          <p:nvPr/>
        </p:nvSpPr>
        <p:spPr>
          <a:xfrm>
            <a:off x="7580520" y="4092840"/>
            <a:ext cx="159480" cy="360720"/>
          </a:xfrm>
          <a:prstGeom prst="rect">
            <a:avLst/>
          </a:prstGeom>
          <a:solidFill>
            <a:srgbClr val="3ECFB2">
              <a:alpha val="80000"/>
            </a:srgbClr>
          </a:solidFill>
          <a:ln w="12700">
            <a:solidFill>
              <a:srgbClr val="3ECFB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750" name="Shape 342"/>
          <p:cNvSpPr/>
          <p:nvPr/>
        </p:nvSpPr>
        <p:spPr>
          <a:xfrm>
            <a:off x="7782120" y="4205520"/>
            <a:ext cx="159480" cy="248400"/>
          </a:xfrm>
          <a:prstGeom prst="rect">
            <a:avLst/>
          </a:prstGeom>
          <a:solidFill>
            <a:srgbClr val="3ECFB2">
              <a:alpha val="80000"/>
            </a:srgbClr>
          </a:solidFill>
          <a:ln w="12700">
            <a:solidFill>
              <a:srgbClr val="3ECFB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751" name="Shape 343"/>
          <p:cNvSpPr/>
          <p:nvPr/>
        </p:nvSpPr>
        <p:spPr>
          <a:xfrm>
            <a:off x="7983720" y="4317840"/>
            <a:ext cx="159480" cy="135720"/>
          </a:xfrm>
          <a:prstGeom prst="rect">
            <a:avLst/>
          </a:prstGeom>
          <a:solidFill>
            <a:srgbClr val="8A93C0">
              <a:alpha val="80000"/>
            </a:srgbClr>
          </a:solidFill>
          <a:ln w="12700">
            <a:solidFill>
              <a:srgbClr val="8A93C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752" name="Shape 344"/>
          <p:cNvSpPr/>
          <p:nvPr/>
        </p:nvSpPr>
        <p:spPr>
          <a:xfrm>
            <a:off x="8185680" y="4393080"/>
            <a:ext cx="159480" cy="60840"/>
          </a:xfrm>
          <a:prstGeom prst="rect">
            <a:avLst/>
          </a:prstGeom>
          <a:solidFill>
            <a:srgbClr val="8A93C0">
              <a:alpha val="80000"/>
            </a:srgbClr>
          </a:solidFill>
          <a:ln w="12700">
            <a:solidFill>
              <a:srgbClr val="8A93C0"/>
            </a:solidFill>
            <a:round/>
          </a:ln>
        </p:spPr>
        <p:style>
          <a:lnRef idx="0">
            <a:scrgbClr r="0" g="0" b="0"/>
          </a:lnRef>
          <a:fillRef idx="0">
            <a:scrgbClr r="0" g="0" b="0"/>
          </a:fillRef>
          <a:effectRef idx="0">
            <a:scrgbClr r="0" g="0" b="0"/>
          </a:effectRef>
          <a:fontRef idx="minor"/>
        </p:style>
        <p:txBody>
          <a:bodyPr lIns="90000" tIns="11520" rIns="90000" bIns="1152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753" name="Shape 345"/>
          <p:cNvSpPr/>
          <p:nvPr/>
        </p:nvSpPr>
        <p:spPr>
          <a:xfrm>
            <a:off x="8387280" y="4417920"/>
            <a:ext cx="159480" cy="35640"/>
          </a:xfrm>
          <a:prstGeom prst="rect">
            <a:avLst/>
          </a:prstGeom>
          <a:solidFill>
            <a:srgbClr val="8A93C0">
              <a:alpha val="80000"/>
            </a:srgbClr>
          </a:solidFill>
          <a:ln w="12700">
            <a:solidFill>
              <a:srgbClr val="8A93C0"/>
            </a:solidFill>
            <a:round/>
          </a:ln>
        </p:spPr>
        <p:style>
          <a:lnRef idx="0">
            <a:scrgbClr r="0" g="0" b="0"/>
          </a:lnRef>
          <a:fillRef idx="0">
            <a:scrgbClr r="0" g="0" b="0"/>
          </a:fillRef>
          <a:effectRef idx="0">
            <a:scrgbClr r="0" g="0" b="0"/>
          </a:effectRef>
          <a:fontRef idx="minor"/>
        </p:style>
        <p:txBody>
          <a:bodyPr lIns="90000" tIns="-11160" rIns="90000" bIns="-11160" anchor="t">
            <a:noAutofit/>
          </a:bodyPr>
          <a:lstStyle/>
          <a:p>
            <a:pPr>
              <a:lnSpc>
                <a:spcPct val="100000"/>
              </a:lnSpc>
            </a:pPr>
            <a:endParaRPr lang="pl-PL" sz="1800" b="0" u="none" strike="noStrike">
              <a:solidFill>
                <a:srgbClr val="FFFFFF"/>
              </a:solidFill>
              <a:effectLst/>
              <a:uFillTx/>
              <a:latin typeface="Arial"/>
            </a:endParaRPr>
          </a:p>
        </p:txBody>
      </p:sp>
      <p:sp>
        <p:nvSpPr>
          <p:cNvPr id="754" name="Shape 346"/>
          <p:cNvSpPr/>
          <p:nvPr/>
        </p:nvSpPr>
        <p:spPr>
          <a:xfrm>
            <a:off x="403200" y="4606920"/>
            <a:ext cx="9252360" cy="905760"/>
          </a:xfrm>
          <a:prstGeom prst="roundRect">
            <a:avLst>
              <a:gd name="adj" fmla="val 11111"/>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755" name="Text 362"/>
          <p:cNvSpPr/>
          <p:nvPr/>
        </p:nvSpPr>
        <p:spPr>
          <a:xfrm>
            <a:off x="554400" y="4667040"/>
            <a:ext cx="1510560" cy="300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500" b="1" u="none" strike="noStrike">
                <a:solidFill>
                  <a:srgbClr val="1E2761"/>
                </a:solidFill>
                <a:effectLst/>
                <a:uFillTx/>
                <a:latin typeface="Cambria"/>
                <a:ea typeface="Cambria"/>
              </a:rPr>
              <a:t>Zastosowania:</a:t>
            </a:r>
            <a:endParaRPr lang="pl-PL" sz="1500" b="0" u="none" strike="noStrike">
              <a:solidFill>
                <a:srgbClr val="000000"/>
              </a:solidFill>
              <a:effectLst/>
              <a:uFillTx/>
              <a:latin typeface="Arial"/>
            </a:endParaRPr>
          </a:p>
        </p:txBody>
      </p:sp>
      <p:sp>
        <p:nvSpPr>
          <p:cNvPr id="756" name="Shape 347"/>
          <p:cNvSpPr/>
          <p:nvPr/>
        </p:nvSpPr>
        <p:spPr>
          <a:xfrm>
            <a:off x="1965600" y="4687200"/>
            <a:ext cx="1409760" cy="280800"/>
          </a:xfrm>
          <a:prstGeom prst="roundRect">
            <a:avLst>
              <a:gd name="adj" fmla="val 17857"/>
            </a:avLst>
          </a:prstGeom>
          <a:solidFill>
            <a:srgbClr val="1E276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757" name="Text 363"/>
          <p:cNvSpPr/>
          <p:nvPr/>
        </p:nvSpPr>
        <p:spPr>
          <a:xfrm>
            <a:off x="1965600" y="4687560"/>
            <a:ext cx="1409760" cy="280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200" b="0" u="none" strike="noStrike">
                <a:solidFill>
                  <a:srgbClr val="FFFFFF"/>
                </a:solidFill>
                <a:effectLst/>
                <a:uFillTx/>
                <a:latin typeface="Calibri"/>
                <a:ea typeface="Calibri"/>
              </a:rPr>
              <a:t>Emocje i nastrój</a:t>
            </a:r>
            <a:endParaRPr lang="pl-PL" sz="1200" b="0" u="none" strike="noStrike">
              <a:solidFill>
                <a:srgbClr val="000000"/>
              </a:solidFill>
              <a:effectLst/>
              <a:uFillTx/>
              <a:latin typeface="Arial"/>
            </a:endParaRPr>
          </a:p>
        </p:txBody>
      </p:sp>
      <p:sp>
        <p:nvSpPr>
          <p:cNvPr id="758" name="Shape 348"/>
          <p:cNvSpPr/>
          <p:nvPr/>
        </p:nvSpPr>
        <p:spPr>
          <a:xfrm>
            <a:off x="3477600" y="4687200"/>
            <a:ext cx="1409760" cy="280800"/>
          </a:xfrm>
          <a:prstGeom prst="roundRect">
            <a:avLst>
              <a:gd name="adj" fmla="val 17857"/>
            </a:avLst>
          </a:prstGeom>
          <a:solidFill>
            <a:srgbClr val="1E276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759" name="Text 364"/>
          <p:cNvSpPr/>
          <p:nvPr/>
        </p:nvSpPr>
        <p:spPr>
          <a:xfrm>
            <a:off x="3477600" y="4687560"/>
            <a:ext cx="1409760" cy="280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200" b="0" u="none" strike="noStrike">
                <a:solidFill>
                  <a:srgbClr val="FFFFFF"/>
                </a:solidFill>
                <a:effectLst/>
                <a:uFillTx/>
                <a:latin typeface="Calibri"/>
                <a:ea typeface="Calibri"/>
              </a:rPr>
              <a:t>Stres i zmęczenie</a:t>
            </a:r>
            <a:endParaRPr lang="pl-PL" sz="1200" b="0" u="none" strike="noStrike">
              <a:solidFill>
                <a:srgbClr val="000000"/>
              </a:solidFill>
              <a:effectLst/>
              <a:uFillTx/>
              <a:latin typeface="Arial"/>
            </a:endParaRPr>
          </a:p>
        </p:txBody>
      </p:sp>
      <p:sp>
        <p:nvSpPr>
          <p:cNvPr id="760" name="Shape 349"/>
          <p:cNvSpPr/>
          <p:nvPr/>
        </p:nvSpPr>
        <p:spPr>
          <a:xfrm>
            <a:off x="4989600" y="4687200"/>
            <a:ext cx="1409760" cy="280800"/>
          </a:xfrm>
          <a:prstGeom prst="roundRect">
            <a:avLst>
              <a:gd name="adj" fmla="val 17857"/>
            </a:avLst>
          </a:prstGeom>
          <a:solidFill>
            <a:srgbClr val="1E276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761" name="Text 365"/>
          <p:cNvSpPr/>
          <p:nvPr/>
        </p:nvSpPr>
        <p:spPr>
          <a:xfrm>
            <a:off x="4989600" y="4687560"/>
            <a:ext cx="1409760" cy="280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200" b="0" u="none" strike="noStrike">
                <a:solidFill>
                  <a:srgbClr val="FFFFFF"/>
                </a:solidFill>
                <a:effectLst/>
                <a:uFillTx/>
                <a:latin typeface="Calibri"/>
                <a:ea typeface="Calibri"/>
              </a:rPr>
              <a:t>Depresja / afazja</a:t>
            </a:r>
            <a:endParaRPr lang="pl-PL" sz="1200" b="0" u="none" strike="noStrike">
              <a:solidFill>
                <a:srgbClr val="000000"/>
              </a:solidFill>
              <a:effectLst/>
              <a:uFillTx/>
              <a:latin typeface="Arial"/>
            </a:endParaRPr>
          </a:p>
        </p:txBody>
      </p:sp>
      <p:sp>
        <p:nvSpPr>
          <p:cNvPr id="762" name="Shape 350"/>
          <p:cNvSpPr/>
          <p:nvPr/>
        </p:nvSpPr>
        <p:spPr>
          <a:xfrm>
            <a:off x="6501960" y="4687200"/>
            <a:ext cx="1409760" cy="280800"/>
          </a:xfrm>
          <a:prstGeom prst="roundRect">
            <a:avLst>
              <a:gd name="adj" fmla="val 17857"/>
            </a:avLst>
          </a:prstGeom>
          <a:solidFill>
            <a:srgbClr val="1E276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763" name="Text 366"/>
          <p:cNvSpPr/>
          <p:nvPr/>
        </p:nvSpPr>
        <p:spPr>
          <a:xfrm>
            <a:off x="6501960" y="4687560"/>
            <a:ext cx="1409760" cy="280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200" b="0" u="none" strike="noStrike">
                <a:solidFill>
                  <a:srgbClr val="FFFFFF"/>
                </a:solidFill>
                <a:effectLst/>
                <a:uFillTx/>
                <a:latin typeface="Calibri"/>
                <a:ea typeface="Calibri"/>
              </a:rPr>
              <a:t>Interakcja H–AI</a:t>
            </a:r>
            <a:endParaRPr lang="pl-PL" sz="1200" b="0" u="none" strike="noStrike">
              <a:solidFill>
                <a:srgbClr val="000000"/>
              </a:solidFill>
              <a:effectLst/>
              <a:uFillTx/>
              <a:latin typeface="Arial"/>
            </a:endParaRPr>
          </a:p>
        </p:txBody>
      </p:sp>
      <p:sp>
        <p:nvSpPr>
          <p:cNvPr id="764" name="Shape 351"/>
          <p:cNvSpPr/>
          <p:nvPr/>
        </p:nvSpPr>
        <p:spPr>
          <a:xfrm>
            <a:off x="8013960" y="4687200"/>
            <a:ext cx="1409760" cy="280800"/>
          </a:xfrm>
          <a:prstGeom prst="roundRect">
            <a:avLst>
              <a:gd name="adj" fmla="val 17857"/>
            </a:avLst>
          </a:prstGeom>
          <a:solidFill>
            <a:srgbClr val="1E276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765" name="Text 367"/>
          <p:cNvSpPr/>
          <p:nvPr/>
        </p:nvSpPr>
        <p:spPr>
          <a:xfrm>
            <a:off x="8013960" y="4687560"/>
            <a:ext cx="1409760" cy="280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200" b="0" u="none" strike="noStrike">
                <a:solidFill>
                  <a:srgbClr val="FFFFFF"/>
                </a:solidFill>
                <a:effectLst/>
                <a:uFillTx/>
                <a:latin typeface="Calibri"/>
                <a:ea typeface="Calibri"/>
              </a:rPr>
              <a:t>Diagn. psychol.</a:t>
            </a:r>
            <a:endParaRPr lang="pl-PL" sz="1200" b="0" u="none" strike="noStrike">
              <a:solidFill>
                <a:srgbClr val="000000"/>
              </a:solidFill>
              <a:effectLst/>
              <a:uFillTx/>
              <a:latin typeface="Arial"/>
            </a:endParaRPr>
          </a:p>
        </p:txBody>
      </p:sp>
      <p:sp>
        <p:nvSpPr>
          <p:cNvPr id="766" name="Text 368"/>
          <p:cNvSpPr/>
          <p:nvPr/>
        </p:nvSpPr>
        <p:spPr>
          <a:xfrm>
            <a:off x="554400" y="5010120"/>
            <a:ext cx="9071280" cy="381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400" b="1" i="1" u="none" strike="noStrike" dirty="0">
                <a:solidFill>
                  <a:srgbClr val="5966A5"/>
                </a:solidFill>
                <a:effectLst/>
                <a:uFillTx/>
                <a:latin typeface="Calibri"/>
                <a:ea typeface="Calibri"/>
              </a:rPr>
              <a:t>Ograniczenie</a:t>
            </a:r>
            <a:r>
              <a:rPr lang="pl-PL" sz="1400" b="0" i="1" u="none" strike="noStrike" dirty="0">
                <a:solidFill>
                  <a:srgbClr val="5966A5"/>
                </a:solidFill>
                <a:effectLst/>
                <a:uFillTx/>
                <a:latin typeface="Calibri"/>
                <a:ea typeface="Calibri"/>
              </a:rPr>
              <a:t>: płeć, wiek, akcent i zmęczenie wpływają na cechy akustyczne - wymagana normalizacja wewnątrz-osobnicza</a:t>
            </a:r>
            <a:endParaRPr lang="pl-PL" sz="1400" b="0" u="none" strike="noStrike" dirty="0">
              <a:solidFill>
                <a:srgbClr val="5966A5"/>
              </a:solidFill>
              <a:effectLst/>
              <a:uFillTx/>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767" name="Shape 352"/>
          <p:cNvSpPr/>
          <p:nvPr/>
        </p:nvSpPr>
        <p:spPr>
          <a:xfrm>
            <a:off x="360" y="360"/>
            <a:ext cx="10079640" cy="1006920"/>
          </a:xfrm>
          <a:prstGeom prst="rect">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768" name="Text 369"/>
          <p:cNvSpPr/>
          <p:nvPr/>
        </p:nvSpPr>
        <p:spPr>
          <a:xfrm>
            <a:off x="453240" y="70560"/>
            <a:ext cx="917244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defTabSz="914400">
              <a:lnSpc>
                <a:spcPct val="100000"/>
              </a:lnSpc>
              <a:tabLst>
                <a:tab pos="0" algn="l"/>
              </a:tabLst>
            </a:pPr>
            <a:r>
              <a:rPr lang="pl-PL" sz="2200" b="1" u="none" strike="noStrike">
                <a:solidFill>
                  <a:srgbClr val="FFFFFF"/>
                </a:solidFill>
                <a:effectLst/>
                <a:uFillTx/>
                <a:latin typeface="Cambria"/>
                <a:ea typeface="Cambria"/>
              </a:rPr>
              <a:t>EEG I NEUROINFORMATYKA DLA PSYCHOLOGÓW</a:t>
            </a:r>
            <a:endParaRPr lang="pl-PL" sz="2200" b="0" u="none" strike="noStrike">
              <a:solidFill>
                <a:srgbClr val="000000"/>
              </a:solidFill>
              <a:effectLst/>
              <a:uFillTx/>
              <a:latin typeface="Arial"/>
            </a:endParaRPr>
          </a:p>
        </p:txBody>
      </p:sp>
      <p:sp>
        <p:nvSpPr>
          <p:cNvPr id="769" name="Text 370"/>
          <p:cNvSpPr/>
          <p:nvPr/>
        </p:nvSpPr>
        <p:spPr>
          <a:xfrm>
            <a:off x="453240" y="594720"/>
            <a:ext cx="9172440" cy="331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pl-PL" sz="1400" b="0" i="1" u="none" strike="noStrike">
                <a:solidFill>
                  <a:srgbClr val="CADCFC"/>
                </a:solidFill>
                <a:effectLst/>
                <a:uFillTx/>
                <a:latin typeface="Calibri"/>
                <a:ea typeface="Calibri"/>
              </a:rPr>
              <a:t>ERP, pasma częstotliwości i preprocessing sygnału</a:t>
            </a:r>
            <a:endParaRPr lang="pl-PL" sz="1400" b="0" u="none" strike="noStrike">
              <a:solidFill>
                <a:srgbClr val="000000"/>
              </a:solidFill>
              <a:effectLst/>
              <a:uFillTx/>
              <a:latin typeface="Arial"/>
            </a:endParaRPr>
          </a:p>
        </p:txBody>
      </p:sp>
      <p:sp>
        <p:nvSpPr>
          <p:cNvPr id="770" name="Shape 353"/>
          <p:cNvSpPr/>
          <p:nvPr/>
        </p:nvSpPr>
        <p:spPr>
          <a:xfrm>
            <a:off x="403200" y="1108800"/>
            <a:ext cx="4169275" cy="4132080"/>
          </a:xfrm>
          <a:prstGeom prst="roundRect">
            <a:avLst>
              <a:gd name="adj" fmla="val 2439"/>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771" name="Text 371"/>
          <p:cNvSpPr/>
          <p:nvPr/>
        </p:nvSpPr>
        <p:spPr>
          <a:xfrm>
            <a:off x="533460" y="1112355"/>
            <a:ext cx="3940819"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2000" b="1" u="none" strike="noStrike" dirty="0">
                <a:solidFill>
                  <a:srgbClr val="1E2761"/>
                </a:solidFill>
                <a:effectLst/>
                <a:uFillTx/>
                <a:latin typeface="Cambria"/>
                <a:ea typeface="Cambria"/>
              </a:rPr>
              <a:t>Komponenty ERP </a:t>
            </a:r>
            <a:r>
              <a:rPr lang="pl-PL" sz="2000" u="none" strike="noStrike" dirty="0">
                <a:solidFill>
                  <a:srgbClr val="1E2761"/>
                </a:solidFill>
                <a:effectLst/>
                <a:uFillTx/>
                <a:latin typeface="Cambria"/>
                <a:ea typeface="Cambria"/>
              </a:rPr>
              <a:t>(wybrane)</a:t>
            </a:r>
            <a:endParaRPr lang="pl-PL" sz="2000" u="none" strike="noStrike" dirty="0">
              <a:solidFill>
                <a:srgbClr val="000000"/>
              </a:solidFill>
              <a:effectLst/>
              <a:uFillTx/>
              <a:latin typeface="Arial"/>
            </a:endParaRPr>
          </a:p>
        </p:txBody>
      </p:sp>
      <p:sp>
        <p:nvSpPr>
          <p:cNvPr id="772" name="Shape 354"/>
          <p:cNvSpPr/>
          <p:nvPr/>
        </p:nvSpPr>
        <p:spPr>
          <a:xfrm>
            <a:off x="554400" y="1663200"/>
            <a:ext cx="1006920" cy="1067400"/>
          </a:xfrm>
          <a:prstGeom prst="roundRect">
            <a:avLst>
              <a:gd name="adj" fmla="val 8000"/>
            </a:avLst>
          </a:prstGeom>
          <a:solidFill>
            <a:srgbClr val="1E2761"/>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773" name="Text 372"/>
          <p:cNvSpPr/>
          <p:nvPr/>
        </p:nvSpPr>
        <p:spPr>
          <a:xfrm>
            <a:off x="554400" y="1663200"/>
            <a:ext cx="1006920" cy="1067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000" b="1" u="none" strike="noStrike">
                <a:solidFill>
                  <a:srgbClr val="FFFFFF"/>
                </a:solidFill>
                <a:effectLst/>
                <a:uFillTx/>
                <a:latin typeface="Cambria"/>
                <a:ea typeface="Cambria"/>
              </a:rPr>
              <a:t>P300</a:t>
            </a:r>
            <a:endParaRPr lang="pl-PL" sz="2000" b="0" u="none" strike="noStrike">
              <a:solidFill>
                <a:srgbClr val="000000"/>
              </a:solidFill>
              <a:effectLst/>
              <a:uFillTx/>
              <a:latin typeface="Arial"/>
            </a:endParaRPr>
          </a:p>
        </p:txBody>
      </p:sp>
      <p:sp>
        <p:nvSpPr>
          <p:cNvPr id="774" name="Text 373"/>
          <p:cNvSpPr/>
          <p:nvPr/>
        </p:nvSpPr>
        <p:spPr>
          <a:xfrm>
            <a:off x="1644580" y="1663200"/>
            <a:ext cx="2850639" cy="1067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20000"/>
              </a:lnSpc>
              <a:tabLst>
                <a:tab pos="0" algn="l"/>
              </a:tabLst>
            </a:pPr>
            <a:r>
              <a:rPr lang="pl-PL" sz="1400" b="0" u="none" strike="noStrike">
                <a:solidFill>
                  <a:srgbClr val="1A1F3C"/>
                </a:solidFill>
                <a:effectLst/>
                <a:uFillTx/>
                <a:latin typeface="Calibri"/>
                <a:ea typeface="Calibri"/>
              </a:rPr>
              <a:t>Odpowiedź ok. 300 ms po bodźcu rzadkim. Wskaźnik aktualizacji kontekstu, pamięci roboczej i uwagi.</a:t>
            </a:r>
            <a:endParaRPr lang="pl-PL" sz="1400" b="0" u="none" strike="noStrike">
              <a:solidFill>
                <a:srgbClr val="000000"/>
              </a:solidFill>
              <a:effectLst/>
              <a:uFillTx/>
              <a:latin typeface="Arial"/>
            </a:endParaRPr>
          </a:p>
        </p:txBody>
      </p:sp>
      <p:sp>
        <p:nvSpPr>
          <p:cNvPr id="775" name="Shape 355"/>
          <p:cNvSpPr/>
          <p:nvPr/>
        </p:nvSpPr>
        <p:spPr>
          <a:xfrm>
            <a:off x="554400" y="2852640"/>
            <a:ext cx="1006920" cy="1067400"/>
          </a:xfrm>
          <a:prstGeom prst="roundRect">
            <a:avLst>
              <a:gd name="adj" fmla="val 8000"/>
            </a:avLst>
          </a:prstGeom>
          <a:solidFill>
            <a:srgbClr val="2D3B8E"/>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776" name="Text 374"/>
          <p:cNvSpPr/>
          <p:nvPr/>
        </p:nvSpPr>
        <p:spPr>
          <a:xfrm>
            <a:off x="554400" y="2852640"/>
            <a:ext cx="1006920" cy="1067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000" b="1" u="none" strike="noStrike">
                <a:solidFill>
                  <a:srgbClr val="FFFFFF"/>
                </a:solidFill>
                <a:effectLst/>
                <a:uFillTx/>
                <a:latin typeface="Cambria"/>
                <a:ea typeface="Cambria"/>
              </a:rPr>
              <a:t>N170</a:t>
            </a:r>
            <a:endParaRPr lang="pl-PL" sz="2000" b="0" u="none" strike="noStrike">
              <a:solidFill>
                <a:srgbClr val="000000"/>
              </a:solidFill>
              <a:effectLst/>
              <a:uFillTx/>
              <a:latin typeface="Arial"/>
            </a:endParaRPr>
          </a:p>
        </p:txBody>
      </p:sp>
      <p:sp>
        <p:nvSpPr>
          <p:cNvPr id="777" name="Text 375"/>
          <p:cNvSpPr/>
          <p:nvPr/>
        </p:nvSpPr>
        <p:spPr>
          <a:xfrm>
            <a:off x="1644580" y="2852640"/>
            <a:ext cx="2850639" cy="1067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20000"/>
              </a:lnSpc>
              <a:tabLst>
                <a:tab pos="0" algn="l"/>
              </a:tabLst>
            </a:pPr>
            <a:r>
              <a:rPr lang="pl-PL" sz="1400" b="0" u="none" strike="noStrike" dirty="0">
                <a:solidFill>
                  <a:srgbClr val="1A1F3C"/>
                </a:solidFill>
                <a:effectLst/>
                <a:uFillTx/>
                <a:latin typeface="Calibri"/>
                <a:ea typeface="Calibri"/>
              </a:rPr>
              <a:t>Komponent czuły na twarze, ok. 170 ms po prezentacji. Wykorzystywany </a:t>
            </a:r>
            <a:br>
              <a:rPr sz="1400" dirty="0"/>
            </a:br>
            <a:r>
              <a:rPr lang="pl-PL" sz="1400" b="0" u="none" strike="noStrike" dirty="0">
                <a:solidFill>
                  <a:srgbClr val="1A1F3C"/>
                </a:solidFill>
                <a:effectLst/>
                <a:uFillTx/>
                <a:latin typeface="Calibri"/>
                <a:ea typeface="Calibri"/>
              </a:rPr>
              <a:t>w badaniach percepcji społecznej.</a:t>
            </a:r>
            <a:endParaRPr lang="pl-PL" sz="1400" b="0" u="none" strike="noStrike" dirty="0">
              <a:solidFill>
                <a:srgbClr val="000000"/>
              </a:solidFill>
              <a:effectLst/>
              <a:uFillTx/>
              <a:latin typeface="Arial"/>
            </a:endParaRPr>
          </a:p>
        </p:txBody>
      </p:sp>
      <p:sp>
        <p:nvSpPr>
          <p:cNvPr id="778" name="Shape 356"/>
          <p:cNvSpPr/>
          <p:nvPr/>
        </p:nvSpPr>
        <p:spPr>
          <a:xfrm>
            <a:off x="554400" y="4042080"/>
            <a:ext cx="1006920" cy="1067400"/>
          </a:xfrm>
          <a:prstGeom prst="roundRect">
            <a:avLst>
              <a:gd name="adj" fmla="val 8000"/>
            </a:avLst>
          </a:prstGeom>
          <a:solidFill>
            <a:srgbClr val="5B8FF9"/>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779" name="Text 376"/>
          <p:cNvSpPr/>
          <p:nvPr/>
        </p:nvSpPr>
        <p:spPr>
          <a:xfrm>
            <a:off x="554400" y="4042080"/>
            <a:ext cx="1006920" cy="1067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000" b="1" u="none" strike="noStrike">
                <a:solidFill>
                  <a:srgbClr val="FFFFFF"/>
                </a:solidFill>
                <a:effectLst/>
                <a:uFillTx/>
                <a:latin typeface="Cambria"/>
                <a:ea typeface="Cambria"/>
              </a:rPr>
              <a:t>N400</a:t>
            </a:r>
            <a:endParaRPr lang="pl-PL" sz="2000" b="0" u="none" strike="noStrike">
              <a:solidFill>
                <a:srgbClr val="000000"/>
              </a:solidFill>
              <a:effectLst/>
              <a:uFillTx/>
              <a:latin typeface="Arial"/>
            </a:endParaRPr>
          </a:p>
        </p:txBody>
      </p:sp>
      <p:sp>
        <p:nvSpPr>
          <p:cNvPr id="780" name="Text 377"/>
          <p:cNvSpPr/>
          <p:nvPr/>
        </p:nvSpPr>
        <p:spPr>
          <a:xfrm>
            <a:off x="1644580" y="4042080"/>
            <a:ext cx="2850639" cy="1067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20000"/>
              </a:lnSpc>
              <a:tabLst>
                <a:tab pos="0" algn="l"/>
              </a:tabLst>
            </a:pPr>
            <a:r>
              <a:rPr lang="pl-PL" sz="1400" b="0" u="none" strike="noStrike" dirty="0">
                <a:solidFill>
                  <a:srgbClr val="1A1F3C"/>
                </a:solidFill>
                <a:effectLst/>
                <a:uFillTx/>
                <a:latin typeface="Calibri"/>
                <a:ea typeface="Calibri"/>
              </a:rPr>
              <a:t>Reakcja na niespójność semantyczną </a:t>
            </a:r>
            <a:br>
              <a:rPr sz="1400" dirty="0"/>
            </a:br>
            <a:r>
              <a:rPr lang="pl-PL" sz="1400" b="0" u="none" strike="noStrike" dirty="0">
                <a:solidFill>
                  <a:srgbClr val="1A1F3C"/>
                </a:solidFill>
                <a:effectLst/>
                <a:uFillTx/>
                <a:latin typeface="Calibri"/>
                <a:ea typeface="Calibri"/>
              </a:rPr>
              <a:t>w języku. Klasyczny wskaźnik </a:t>
            </a:r>
            <a:br>
              <a:rPr sz="1400" dirty="0"/>
            </a:br>
            <a:r>
              <a:rPr lang="pl-PL" sz="1400" b="0" u="none" strike="noStrike" dirty="0">
                <a:solidFill>
                  <a:srgbClr val="1A1F3C"/>
                </a:solidFill>
                <a:effectLst/>
                <a:uFillTx/>
                <a:latin typeface="Calibri"/>
                <a:ea typeface="Calibri"/>
              </a:rPr>
              <a:t>w psycholingwistyce.</a:t>
            </a:r>
            <a:endParaRPr lang="pl-PL" sz="1400" b="0" u="none" strike="noStrike" dirty="0">
              <a:solidFill>
                <a:srgbClr val="000000"/>
              </a:solidFill>
              <a:effectLst/>
              <a:uFillTx/>
              <a:latin typeface="Arial"/>
            </a:endParaRPr>
          </a:p>
        </p:txBody>
      </p:sp>
      <p:grpSp>
        <p:nvGrpSpPr>
          <p:cNvPr id="2" name="Grupa 1"/>
          <p:cNvGrpSpPr/>
          <p:nvPr/>
        </p:nvGrpSpPr>
        <p:grpSpPr>
          <a:xfrm>
            <a:off x="4723675" y="1108800"/>
            <a:ext cx="4952765" cy="2468520"/>
            <a:chOff x="5241960" y="1108800"/>
            <a:chExt cx="4434480" cy="2468520"/>
          </a:xfrm>
        </p:grpSpPr>
        <p:sp>
          <p:nvSpPr>
            <p:cNvPr id="781" name="Shape 357"/>
            <p:cNvSpPr/>
            <p:nvPr/>
          </p:nvSpPr>
          <p:spPr>
            <a:xfrm>
              <a:off x="5241960" y="1108800"/>
              <a:ext cx="4434480" cy="2468520"/>
            </a:xfrm>
            <a:prstGeom prst="roundRect">
              <a:avLst>
                <a:gd name="adj" fmla="val 4082"/>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782" name="Text 378"/>
            <p:cNvSpPr/>
            <p:nvPr/>
          </p:nvSpPr>
          <p:spPr>
            <a:xfrm>
              <a:off x="5371045" y="1136200"/>
              <a:ext cx="4132080" cy="351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800" b="1" u="none" strike="noStrike" dirty="0">
                  <a:solidFill>
                    <a:srgbClr val="1E2761"/>
                  </a:solidFill>
                  <a:effectLst/>
                  <a:uFillTx/>
                  <a:latin typeface="Cambria"/>
                  <a:ea typeface="Cambria"/>
                </a:rPr>
                <a:t>Pasma częstotliwości EEG</a:t>
              </a:r>
              <a:endParaRPr lang="pl-PL" sz="1800" b="0" u="none" strike="noStrike" dirty="0">
                <a:solidFill>
                  <a:srgbClr val="000000"/>
                </a:solidFill>
                <a:effectLst/>
                <a:uFillTx/>
                <a:latin typeface="Arial"/>
              </a:endParaRPr>
            </a:p>
          </p:txBody>
        </p:sp>
        <p:sp>
          <p:nvSpPr>
            <p:cNvPr id="783" name="Shape 358"/>
            <p:cNvSpPr/>
            <p:nvPr/>
          </p:nvSpPr>
          <p:spPr>
            <a:xfrm>
              <a:off x="5443560" y="1663200"/>
              <a:ext cx="200520" cy="200520"/>
            </a:xfrm>
            <a:prstGeom prst="ellipse">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784" name="Text 379"/>
            <p:cNvSpPr/>
            <p:nvPr/>
          </p:nvSpPr>
          <p:spPr>
            <a:xfrm>
              <a:off x="5725440" y="1592640"/>
              <a:ext cx="1006920" cy="30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1" u="none" strike="noStrike" dirty="0">
                  <a:solidFill>
                    <a:srgbClr val="1A1F3C"/>
                  </a:solidFill>
                  <a:effectLst/>
                  <a:uFillTx/>
                  <a:latin typeface="Calibri"/>
                  <a:ea typeface="Calibri"/>
                </a:rPr>
                <a:t>Delta</a:t>
              </a:r>
              <a:endParaRPr lang="pl-PL" sz="1600" b="0" u="none" strike="noStrike" dirty="0">
                <a:solidFill>
                  <a:srgbClr val="000000"/>
                </a:solidFill>
                <a:effectLst/>
                <a:uFillTx/>
                <a:latin typeface="Arial"/>
              </a:endParaRPr>
            </a:p>
          </p:txBody>
        </p:sp>
        <p:sp>
          <p:nvSpPr>
            <p:cNvPr id="785" name="Text 380"/>
            <p:cNvSpPr/>
            <p:nvPr/>
          </p:nvSpPr>
          <p:spPr>
            <a:xfrm>
              <a:off x="7015680" y="1592640"/>
              <a:ext cx="2559600" cy="30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400" b="0" i="1" u="none" strike="noStrike" dirty="0">
                  <a:solidFill>
                    <a:srgbClr val="4A5280"/>
                  </a:solidFill>
                  <a:effectLst/>
                  <a:uFillTx/>
                  <a:latin typeface="Calibri"/>
                  <a:ea typeface="Calibri"/>
                </a:rPr>
                <a:t>sen głęboki</a:t>
              </a:r>
              <a:endParaRPr lang="pl-PL" sz="1400" b="0" u="none" strike="noStrike" dirty="0">
                <a:solidFill>
                  <a:srgbClr val="000000"/>
                </a:solidFill>
                <a:effectLst/>
                <a:uFillTx/>
                <a:latin typeface="Arial"/>
              </a:endParaRPr>
            </a:p>
          </p:txBody>
        </p:sp>
        <p:sp>
          <p:nvSpPr>
            <p:cNvPr id="786" name="Shape 359"/>
            <p:cNvSpPr/>
            <p:nvPr/>
          </p:nvSpPr>
          <p:spPr>
            <a:xfrm>
              <a:off x="5443560" y="2026080"/>
              <a:ext cx="200520" cy="200520"/>
            </a:xfrm>
            <a:prstGeom prst="ellipse">
              <a:avLst/>
            </a:prstGeom>
            <a:solidFill>
              <a:srgbClr val="2D3B8E"/>
            </a:solidFill>
            <a:ln w="12700">
              <a:solidFill>
                <a:srgbClr val="2D3B8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787" name="Text 381"/>
            <p:cNvSpPr/>
            <p:nvPr/>
          </p:nvSpPr>
          <p:spPr>
            <a:xfrm>
              <a:off x="5725440" y="1955520"/>
              <a:ext cx="1006920" cy="30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1" u="none" strike="noStrike">
                  <a:solidFill>
                    <a:srgbClr val="1A1F3C"/>
                  </a:solidFill>
                  <a:effectLst/>
                  <a:uFillTx/>
                  <a:latin typeface="Calibri"/>
                  <a:ea typeface="Calibri"/>
                </a:rPr>
                <a:t>Theta</a:t>
              </a:r>
              <a:endParaRPr lang="pl-PL" sz="1600" b="0" u="none" strike="noStrike">
                <a:solidFill>
                  <a:srgbClr val="000000"/>
                </a:solidFill>
                <a:effectLst/>
                <a:uFillTx/>
                <a:latin typeface="Arial"/>
              </a:endParaRPr>
            </a:p>
          </p:txBody>
        </p:sp>
        <p:sp>
          <p:nvSpPr>
            <p:cNvPr id="788" name="Text 382"/>
            <p:cNvSpPr/>
            <p:nvPr/>
          </p:nvSpPr>
          <p:spPr>
            <a:xfrm>
              <a:off x="7015680" y="1955520"/>
              <a:ext cx="2559600" cy="30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400" b="0" i="1" u="none" strike="noStrike">
                  <a:solidFill>
                    <a:srgbClr val="4A5280"/>
                  </a:solidFill>
                  <a:effectLst/>
                  <a:uFillTx/>
                  <a:latin typeface="Calibri"/>
                  <a:ea typeface="Calibri"/>
                </a:rPr>
                <a:t>pamięć, hipokamp</a:t>
              </a:r>
              <a:endParaRPr lang="pl-PL" sz="1400" b="0" u="none" strike="noStrike">
                <a:solidFill>
                  <a:srgbClr val="000000"/>
                </a:solidFill>
                <a:effectLst/>
                <a:uFillTx/>
                <a:latin typeface="Arial"/>
              </a:endParaRPr>
            </a:p>
          </p:txBody>
        </p:sp>
        <p:sp>
          <p:nvSpPr>
            <p:cNvPr id="789" name="Shape 360"/>
            <p:cNvSpPr/>
            <p:nvPr/>
          </p:nvSpPr>
          <p:spPr>
            <a:xfrm>
              <a:off x="5443560" y="2388960"/>
              <a:ext cx="200520" cy="200520"/>
            </a:xfrm>
            <a:prstGeom prst="ellipse">
              <a:avLst/>
            </a:prstGeom>
            <a:solidFill>
              <a:srgbClr val="5B8FF9"/>
            </a:solidFill>
            <a:ln w="12700">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790" name="Text 383"/>
            <p:cNvSpPr/>
            <p:nvPr/>
          </p:nvSpPr>
          <p:spPr>
            <a:xfrm>
              <a:off x="5725440" y="2318400"/>
              <a:ext cx="1006920" cy="30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1" u="none" strike="noStrike">
                  <a:solidFill>
                    <a:srgbClr val="1A1F3C"/>
                  </a:solidFill>
                  <a:effectLst/>
                  <a:uFillTx/>
                  <a:latin typeface="Calibri"/>
                  <a:ea typeface="Calibri"/>
                </a:rPr>
                <a:t>Alpha</a:t>
              </a:r>
              <a:endParaRPr lang="pl-PL" sz="1600" b="0" u="none" strike="noStrike">
                <a:solidFill>
                  <a:srgbClr val="000000"/>
                </a:solidFill>
                <a:effectLst/>
                <a:uFillTx/>
                <a:latin typeface="Arial"/>
              </a:endParaRPr>
            </a:p>
          </p:txBody>
        </p:sp>
        <p:sp>
          <p:nvSpPr>
            <p:cNvPr id="791" name="Text 384"/>
            <p:cNvSpPr/>
            <p:nvPr/>
          </p:nvSpPr>
          <p:spPr>
            <a:xfrm>
              <a:off x="7015680" y="2318400"/>
              <a:ext cx="2559600" cy="30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400" b="0" i="1" u="none" strike="noStrike">
                  <a:solidFill>
                    <a:srgbClr val="4A5280"/>
                  </a:solidFill>
                  <a:effectLst/>
                  <a:uFillTx/>
                  <a:latin typeface="Calibri"/>
                  <a:ea typeface="Calibri"/>
                </a:rPr>
                <a:t>hamowanie, odpoczynek</a:t>
              </a:r>
              <a:endParaRPr lang="pl-PL" sz="1400" b="0" u="none" strike="noStrike">
                <a:solidFill>
                  <a:srgbClr val="000000"/>
                </a:solidFill>
                <a:effectLst/>
                <a:uFillTx/>
                <a:latin typeface="Arial"/>
              </a:endParaRPr>
            </a:p>
          </p:txBody>
        </p:sp>
        <p:sp>
          <p:nvSpPr>
            <p:cNvPr id="792" name="Shape 361"/>
            <p:cNvSpPr/>
            <p:nvPr/>
          </p:nvSpPr>
          <p:spPr>
            <a:xfrm>
              <a:off x="5443560" y="2751840"/>
              <a:ext cx="200520" cy="200520"/>
            </a:xfrm>
            <a:prstGeom prst="ellipse">
              <a:avLst/>
            </a:prstGeom>
            <a:solidFill>
              <a:srgbClr val="2D7DD2"/>
            </a:solidFill>
            <a:ln w="12700">
              <a:solidFill>
                <a:srgbClr val="2D7DD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793" name="Text 385"/>
            <p:cNvSpPr/>
            <p:nvPr/>
          </p:nvSpPr>
          <p:spPr>
            <a:xfrm>
              <a:off x="5725440" y="2681280"/>
              <a:ext cx="1006920" cy="30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1" u="none" strike="noStrike">
                  <a:solidFill>
                    <a:srgbClr val="1A1F3C"/>
                  </a:solidFill>
                  <a:effectLst/>
                  <a:uFillTx/>
                  <a:latin typeface="Calibri"/>
                  <a:ea typeface="Calibri"/>
                </a:rPr>
                <a:t>Beta</a:t>
              </a:r>
              <a:endParaRPr lang="pl-PL" sz="1600" b="0" u="none" strike="noStrike">
                <a:solidFill>
                  <a:srgbClr val="000000"/>
                </a:solidFill>
                <a:effectLst/>
                <a:uFillTx/>
                <a:latin typeface="Arial"/>
              </a:endParaRPr>
            </a:p>
          </p:txBody>
        </p:sp>
        <p:sp>
          <p:nvSpPr>
            <p:cNvPr id="794" name="Text 386"/>
            <p:cNvSpPr/>
            <p:nvPr/>
          </p:nvSpPr>
          <p:spPr>
            <a:xfrm>
              <a:off x="7015680" y="2681280"/>
              <a:ext cx="2559600" cy="30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400" b="0" i="1" u="none" strike="noStrike">
                  <a:solidFill>
                    <a:srgbClr val="4A5280"/>
                  </a:solidFill>
                  <a:effectLst/>
                  <a:uFillTx/>
                  <a:latin typeface="Calibri"/>
                  <a:ea typeface="Calibri"/>
                </a:rPr>
                <a:t>aktywne przetwarzanie</a:t>
              </a:r>
              <a:endParaRPr lang="pl-PL" sz="1400" b="0" u="none" strike="noStrike">
                <a:solidFill>
                  <a:srgbClr val="000000"/>
                </a:solidFill>
                <a:effectLst/>
                <a:uFillTx/>
                <a:latin typeface="Arial"/>
              </a:endParaRPr>
            </a:p>
          </p:txBody>
        </p:sp>
        <p:sp>
          <p:nvSpPr>
            <p:cNvPr id="795" name="Shape 362"/>
            <p:cNvSpPr/>
            <p:nvPr/>
          </p:nvSpPr>
          <p:spPr>
            <a:xfrm>
              <a:off x="5443560" y="3115080"/>
              <a:ext cx="200520" cy="200520"/>
            </a:xfrm>
            <a:prstGeom prst="ellipse">
              <a:avLst/>
            </a:prstGeom>
            <a:solidFill>
              <a:srgbClr val="7B5EA7"/>
            </a:solidFill>
            <a:ln w="12700">
              <a:solidFill>
                <a:srgbClr val="7B5EA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796" name="Text 387"/>
            <p:cNvSpPr/>
            <p:nvPr/>
          </p:nvSpPr>
          <p:spPr>
            <a:xfrm>
              <a:off x="5725440" y="3044160"/>
              <a:ext cx="1006920" cy="30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1" u="none" strike="noStrike" dirty="0">
                  <a:solidFill>
                    <a:srgbClr val="1A1F3C"/>
                  </a:solidFill>
                  <a:effectLst/>
                  <a:uFillTx/>
                  <a:latin typeface="Calibri"/>
                  <a:ea typeface="Calibri"/>
                </a:rPr>
                <a:t>Gamma</a:t>
              </a:r>
              <a:endParaRPr lang="pl-PL" sz="1600" b="0" u="none" strike="noStrike" dirty="0">
                <a:solidFill>
                  <a:srgbClr val="000000"/>
                </a:solidFill>
                <a:effectLst/>
                <a:uFillTx/>
                <a:latin typeface="Arial"/>
              </a:endParaRPr>
            </a:p>
          </p:txBody>
        </p:sp>
        <p:sp>
          <p:nvSpPr>
            <p:cNvPr id="797" name="Text 388"/>
            <p:cNvSpPr/>
            <p:nvPr/>
          </p:nvSpPr>
          <p:spPr>
            <a:xfrm>
              <a:off x="7015680" y="3044160"/>
              <a:ext cx="2559600" cy="30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400" b="0" i="1" u="none" strike="noStrike">
                  <a:solidFill>
                    <a:srgbClr val="4A5280"/>
                  </a:solidFill>
                  <a:effectLst/>
                  <a:uFillTx/>
                  <a:latin typeface="Calibri"/>
                  <a:ea typeface="Calibri"/>
                </a:rPr>
                <a:t>integracja informacji</a:t>
              </a:r>
              <a:endParaRPr lang="pl-PL" sz="1400" b="0" u="none" strike="noStrike">
                <a:solidFill>
                  <a:srgbClr val="000000"/>
                </a:solidFill>
                <a:effectLst/>
                <a:uFillTx/>
                <a:latin typeface="Arial"/>
              </a:endParaRPr>
            </a:p>
          </p:txBody>
        </p:sp>
      </p:grpSp>
      <p:sp>
        <p:nvSpPr>
          <p:cNvPr id="798" name="Shape 363"/>
          <p:cNvSpPr/>
          <p:nvPr/>
        </p:nvSpPr>
        <p:spPr>
          <a:xfrm>
            <a:off x="4723675" y="3729960"/>
            <a:ext cx="4952765" cy="1510920"/>
          </a:xfrm>
          <a:prstGeom prst="roundRect">
            <a:avLst>
              <a:gd name="adj" fmla="val 6667"/>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799" name="Text 389"/>
          <p:cNvSpPr/>
          <p:nvPr/>
        </p:nvSpPr>
        <p:spPr>
          <a:xfrm>
            <a:off x="4794558" y="3769920"/>
            <a:ext cx="4615022" cy="32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800" b="1" u="none" strike="noStrike" dirty="0" err="1">
                <a:solidFill>
                  <a:srgbClr val="1E2761"/>
                </a:solidFill>
                <a:effectLst/>
                <a:uFillTx/>
                <a:latin typeface="Cambria"/>
                <a:ea typeface="Cambria"/>
              </a:rPr>
              <a:t>Preprocessing</a:t>
            </a:r>
            <a:r>
              <a:rPr lang="pl-PL" sz="1800" b="1" u="none" strike="noStrike" dirty="0">
                <a:solidFill>
                  <a:srgbClr val="1E2761"/>
                </a:solidFill>
                <a:effectLst/>
                <a:uFillTx/>
                <a:latin typeface="Cambria"/>
                <a:ea typeface="Cambria"/>
              </a:rPr>
              <a:t> sygnału</a:t>
            </a:r>
            <a:endParaRPr lang="pl-PL" sz="1800" b="0" u="none" strike="noStrike" dirty="0">
              <a:solidFill>
                <a:srgbClr val="000000"/>
              </a:solidFill>
              <a:effectLst/>
              <a:uFillTx/>
              <a:latin typeface="Arial"/>
            </a:endParaRPr>
          </a:p>
        </p:txBody>
      </p:sp>
      <p:sp>
        <p:nvSpPr>
          <p:cNvPr id="800" name="Shape 364"/>
          <p:cNvSpPr/>
          <p:nvPr/>
        </p:nvSpPr>
        <p:spPr>
          <a:xfrm>
            <a:off x="4794558" y="4213440"/>
            <a:ext cx="916201" cy="583560"/>
          </a:xfrm>
          <a:prstGeom prst="roundRect">
            <a:avLst>
              <a:gd name="adj" fmla="val 10345"/>
            </a:avLst>
          </a:prstGeom>
          <a:solidFill>
            <a:srgbClr val="2D7DD2"/>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5000"/>
              </a:lnSpc>
              <a:tabLst>
                <a:tab pos="0" algn="l"/>
              </a:tabLst>
            </a:pPr>
            <a:r>
              <a:rPr lang="pl-PL" sz="1200" b="0" u="none" strike="noStrike" spc="-40" dirty="0">
                <a:solidFill>
                  <a:srgbClr val="FFFFFF"/>
                </a:solidFill>
                <a:effectLst/>
                <a:uFillTx/>
                <a:latin typeface="Cambria Math" panose="02040503050406030204" pitchFamily="18" charset="0"/>
                <a:ea typeface="Cambria Math" panose="02040503050406030204" pitchFamily="18" charset="0"/>
              </a:rPr>
              <a:t>Filtrowanie</a:t>
            </a:r>
          </a:p>
        </p:txBody>
      </p:sp>
      <p:sp>
        <p:nvSpPr>
          <p:cNvPr id="801" name="Shape 365"/>
          <p:cNvSpPr/>
          <p:nvPr/>
        </p:nvSpPr>
        <p:spPr>
          <a:xfrm>
            <a:off x="5712052" y="4505760"/>
            <a:ext cx="54325" cy="360"/>
          </a:xfrm>
          <a:prstGeom prst="line">
            <a:avLst/>
          </a:prstGeom>
          <a:ln w="12700">
            <a:solidFill>
              <a:srgbClr val="8A93C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spc="-40">
              <a:solidFill>
                <a:srgbClr val="000000"/>
              </a:solidFill>
              <a:effectLst/>
              <a:uFillTx/>
              <a:latin typeface="Arial"/>
            </a:endParaRPr>
          </a:p>
        </p:txBody>
      </p:sp>
      <p:sp>
        <p:nvSpPr>
          <p:cNvPr id="802" name="Shape 366"/>
          <p:cNvSpPr/>
          <p:nvPr/>
        </p:nvSpPr>
        <p:spPr>
          <a:xfrm>
            <a:off x="5766809" y="4213440"/>
            <a:ext cx="916201" cy="583560"/>
          </a:xfrm>
          <a:prstGeom prst="roundRect">
            <a:avLst>
              <a:gd name="adj" fmla="val 10345"/>
            </a:avLst>
          </a:prstGeom>
          <a:solidFill>
            <a:srgbClr val="2D7DD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spc="-40">
              <a:solidFill>
                <a:srgbClr val="FFFFFF"/>
              </a:solidFill>
              <a:effectLst/>
              <a:uFillTx/>
              <a:latin typeface="Arial"/>
            </a:endParaRPr>
          </a:p>
        </p:txBody>
      </p:sp>
      <p:sp>
        <p:nvSpPr>
          <p:cNvPr id="803" name="Text 391"/>
          <p:cNvSpPr/>
          <p:nvPr/>
        </p:nvSpPr>
        <p:spPr>
          <a:xfrm>
            <a:off x="5766809" y="4213440"/>
            <a:ext cx="916201" cy="583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5000"/>
              </a:lnSpc>
              <a:tabLst>
                <a:tab pos="0" algn="l"/>
              </a:tabLst>
            </a:pPr>
            <a:r>
              <a:rPr lang="pl-PL" sz="1300" b="0" u="none" strike="noStrike" spc="-40" dirty="0">
                <a:solidFill>
                  <a:srgbClr val="FFFFFF"/>
                </a:solidFill>
                <a:effectLst/>
                <a:uFillTx/>
                <a:latin typeface="Cambria Math" panose="02040503050406030204" pitchFamily="18" charset="0"/>
                <a:ea typeface="Cambria Math" panose="02040503050406030204" pitchFamily="18" charset="0"/>
              </a:rPr>
              <a:t>Referencja</a:t>
            </a:r>
            <a:endParaRPr lang="pl-PL" sz="1300" b="0" u="none" strike="noStrike" spc="-40" dirty="0">
              <a:solidFill>
                <a:srgbClr val="000000"/>
              </a:solidFill>
              <a:effectLst/>
              <a:uFillTx/>
              <a:latin typeface="Cambria Math" panose="02040503050406030204" pitchFamily="18" charset="0"/>
              <a:ea typeface="Cambria Math" panose="02040503050406030204" pitchFamily="18" charset="0"/>
            </a:endParaRPr>
          </a:p>
        </p:txBody>
      </p:sp>
      <p:sp>
        <p:nvSpPr>
          <p:cNvPr id="804" name="Shape 367"/>
          <p:cNvSpPr/>
          <p:nvPr/>
        </p:nvSpPr>
        <p:spPr>
          <a:xfrm>
            <a:off x="6684304" y="4505760"/>
            <a:ext cx="54325" cy="360"/>
          </a:xfrm>
          <a:prstGeom prst="line">
            <a:avLst/>
          </a:prstGeom>
          <a:ln w="12700">
            <a:solidFill>
              <a:srgbClr val="8A93C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spc="-40">
              <a:solidFill>
                <a:srgbClr val="000000"/>
              </a:solidFill>
              <a:effectLst/>
              <a:uFillTx/>
              <a:latin typeface="Arial"/>
            </a:endParaRPr>
          </a:p>
        </p:txBody>
      </p:sp>
      <p:sp>
        <p:nvSpPr>
          <p:cNvPr id="805" name="Shape 368"/>
          <p:cNvSpPr/>
          <p:nvPr/>
        </p:nvSpPr>
        <p:spPr>
          <a:xfrm>
            <a:off x="6738198" y="4213440"/>
            <a:ext cx="916201" cy="583560"/>
          </a:xfrm>
          <a:prstGeom prst="roundRect">
            <a:avLst>
              <a:gd name="adj" fmla="val 10345"/>
            </a:avLst>
          </a:prstGeom>
          <a:solidFill>
            <a:srgbClr val="2D7DD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spc="-40">
              <a:solidFill>
                <a:srgbClr val="FFFFFF"/>
              </a:solidFill>
              <a:effectLst/>
              <a:uFillTx/>
              <a:latin typeface="Arial"/>
            </a:endParaRPr>
          </a:p>
        </p:txBody>
      </p:sp>
      <p:sp>
        <p:nvSpPr>
          <p:cNvPr id="806" name="Text 392"/>
          <p:cNvSpPr/>
          <p:nvPr/>
        </p:nvSpPr>
        <p:spPr>
          <a:xfrm>
            <a:off x="6738198" y="4213440"/>
            <a:ext cx="916201" cy="583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5000"/>
              </a:lnSpc>
              <a:tabLst>
                <a:tab pos="0" algn="l"/>
              </a:tabLst>
            </a:pPr>
            <a:r>
              <a:rPr lang="pl-PL" sz="1400" b="0" u="none" strike="noStrike" spc="-40" dirty="0">
                <a:solidFill>
                  <a:srgbClr val="FFFFFF"/>
                </a:solidFill>
                <a:effectLst/>
                <a:uFillTx/>
                <a:latin typeface="Cambria Math" panose="02040503050406030204" pitchFamily="18" charset="0"/>
                <a:ea typeface="Cambria Math" panose="02040503050406030204" pitchFamily="18" charset="0"/>
              </a:rPr>
              <a:t>ICA</a:t>
            </a:r>
            <a:endParaRPr lang="pl-PL" sz="1400" b="0" u="none" strike="noStrike" spc="-40" dirty="0">
              <a:solidFill>
                <a:srgbClr val="000000"/>
              </a:solidFill>
              <a:effectLst/>
              <a:uFillTx/>
              <a:latin typeface="Cambria Math" panose="02040503050406030204" pitchFamily="18" charset="0"/>
              <a:ea typeface="Cambria Math" panose="02040503050406030204" pitchFamily="18" charset="0"/>
            </a:endParaRPr>
          </a:p>
        </p:txBody>
      </p:sp>
      <p:sp>
        <p:nvSpPr>
          <p:cNvPr id="807" name="Shape 369"/>
          <p:cNvSpPr/>
          <p:nvPr/>
        </p:nvSpPr>
        <p:spPr>
          <a:xfrm>
            <a:off x="7655693" y="4505760"/>
            <a:ext cx="54756" cy="360"/>
          </a:xfrm>
          <a:prstGeom prst="line">
            <a:avLst/>
          </a:prstGeom>
          <a:ln w="12700">
            <a:solidFill>
              <a:srgbClr val="8A93C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spc="-40">
              <a:solidFill>
                <a:srgbClr val="000000"/>
              </a:solidFill>
              <a:effectLst/>
              <a:uFillTx/>
              <a:latin typeface="Arial"/>
            </a:endParaRPr>
          </a:p>
        </p:txBody>
      </p:sp>
      <p:sp>
        <p:nvSpPr>
          <p:cNvPr id="808" name="Shape 370"/>
          <p:cNvSpPr/>
          <p:nvPr/>
        </p:nvSpPr>
        <p:spPr>
          <a:xfrm>
            <a:off x="7710450" y="4213440"/>
            <a:ext cx="916201" cy="583560"/>
          </a:xfrm>
          <a:prstGeom prst="roundRect">
            <a:avLst>
              <a:gd name="adj" fmla="val 10345"/>
            </a:avLst>
          </a:prstGeom>
          <a:solidFill>
            <a:srgbClr val="2D7DD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spc="-40">
              <a:solidFill>
                <a:srgbClr val="FFFFFF"/>
              </a:solidFill>
              <a:effectLst/>
              <a:uFillTx/>
              <a:latin typeface="Arial"/>
            </a:endParaRPr>
          </a:p>
        </p:txBody>
      </p:sp>
      <p:sp>
        <p:nvSpPr>
          <p:cNvPr id="809" name="Text 393"/>
          <p:cNvSpPr/>
          <p:nvPr/>
        </p:nvSpPr>
        <p:spPr>
          <a:xfrm>
            <a:off x="7710450" y="4213440"/>
            <a:ext cx="916201" cy="583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5000"/>
              </a:lnSpc>
              <a:tabLst>
                <a:tab pos="0" algn="l"/>
              </a:tabLst>
            </a:pPr>
            <a:r>
              <a:rPr lang="pl-PL" sz="1200" b="0" u="none" strike="noStrike" spc="-60" dirty="0" err="1">
                <a:solidFill>
                  <a:srgbClr val="FFFFFF"/>
                </a:solidFill>
                <a:effectLst/>
                <a:uFillTx/>
                <a:latin typeface="Calibri"/>
                <a:ea typeface="Calibri"/>
              </a:rPr>
              <a:t>Epokowanie</a:t>
            </a:r>
            <a:endParaRPr lang="pl-PL" sz="1200" b="0" u="none" strike="noStrike" spc="-60" dirty="0">
              <a:solidFill>
                <a:srgbClr val="000000"/>
              </a:solidFill>
              <a:effectLst/>
              <a:uFillTx/>
              <a:latin typeface="Arial"/>
            </a:endParaRPr>
          </a:p>
        </p:txBody>
      </p:sp>
      <p:sp>
        <p:nvSpPr>
          <p:cNvPr id="810" name="Shape 371"/>
          <p:cNvSpPr/>
          <p:nvPr/>
        </p:nvSpPr>
        <p:spPr>
          <a:xfrm>
            <a:off x="8627945" y="4505760"/>
            <a:ext cx="54325" cy="360"/>
          </a:xfrm>
          <a:prstGeom prst="line">
            <a:avLst/>
          </a:prstGeom>
          <a:ln w="12700">
            <a:solidFill>
              <a:srgbClr val="8A93C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spc="-40">
              <a:solidFill>
                <a:srgbClr val="000000"/>
              </a:solidFill>
              <a:effectLst/>
              <a:uFillTx/>
              <a:latin typeface="Arial"/>
            </a:endParaRPr>
          </a:p>
        </p:txBody>
      </p:sp>
      <p:sp>
        <p:nvSpPr>
          <p:cNvPr id="811" name="Shape 372"/>
          <p:cNvSpPr/>
          <p:nvPr/>
        </p:nvSpPr>
        <p:spPr>
          <a:xfrm>
            <a:off x="8682269" y="4213440"/>
            <a:ext cx="916201" cy="583560"/>
          </a:xfrm>
          <a:prstGeom prst="roundRect">
            <a:avLst>
              <a:gd name="adj" fmla="val 10345"/>
            </a:avLst>
          </a:prstGeom>
          <a:solidFill>
            <a:srgbClr val="2D7DD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spc="-40">
              <a:solidFill>
                <a:srgbClr val="FFFFFF"/>
              </a:solidFill>
              <a:effectLst/>
              <a:uFillTx/>
              <a:latin typeface="Arial"/>
            </a:endParaRPr>
          </a:p>
        </p:txBody>
      </p:sp>
      <p:sp>
        <p:nvSpPr>
          <p:cNvPr id="812" name="Text 394"/>
          <p:cNvSpPr/>
          <p:nvPr/>
        </p:nvSpPr>
        <p:spPr>
          <a:xfrm>
            <a:off x="8682269" y="4213440"/>
            <a:ext cx="916201" cy="583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5000"/>
              </a:lnSpc>
              <a:tabLst>
                <a:tab pos="0" algn="l"/>
              </a:tabLst>
            </a:pPr>
            <a:r>
              <a:rPr lang="pl-PL" sz="1200" b="0" u="none" strike="noStrike" spc="-40" dirty="0">
                <a:solidFill>
                  <a:srgbClr val="FFFFFF"/>
                </a:solidFill>
                <a:effectLst/>
                <a:uFillTx/>
                <a:latin typeface="Cambria Math" panose="02040503050406030204" pitchFamily="18" charset="0"/>
                <a:ea typeface="Cambria Math" panose="02040503050406030204" pitchFamily="18" charset="0"/>
              </a:rPr>
              <a:t>Odrzucenie</a:t>
            </a:r>
            <a:endParaRPr lang="pl-PL" sz="1200" b="0" u="none" strike="noStrike" spc="-40" dirty="0">
              <a:solidFill>
                <a:srgbClr val="000000"/>
              </a:solidFill>
              <a:effectLst/>
              <a:uFillTx/>
              <a:latin typeface="Cambria Math" panose="02040503050406030204" pitchFamily="18" charset="0"/>
              <a:ea typeface="Cambria Math" panose="02040503050406030204" pitchFamily="18" charset="0"/>
            </a:endParaRPr>
          </a:p>
          <a:p>
            <a:pPr algn="ctr" defTabSz="914400">
              <a:lnSpc>
                <a:spcPct val="105000"/>
              </a:lnSpc>
              <a:tabLst>
                <a:tab pos="0" algn="l"/>
              </a:tabLst>
            </a:pPr>
            <a:r>
              <a:rPr lang="pl-PL" sz="1200" b="0" u="none" strike="noStrike" spc="-40" dirty="0">
                <a:solidFill>
                  <a:srgbClr val="FFFFFF"/>
                </a:solidFill>
                <a:effectLst/>
                <a:uFillTx/>
                <a:latin typeface="Cambria Math" panose="02040503050406030204" pitchFamily="18" charset="0"/>
                <a:ea typeface="Cambria Math" panose="02040503050406030204" pitchFamily="18" charset="0"/>
              </a:rPr>
              <a:t>epok</a:t>
            </a:r>
            <a:endParaRPr lang="pl-PL" sz="1200" b="0" u="none" strike="noStrike" spc="-40" dirty="0">
              <a:solidFill>
                <a:srgbClr val="000000"/>
              </a:solidFill>
              <a:effectLst/>
              <a:uFillTx/>
              <a:latin typeface="Cambria Math" panose="02040503050406030204" pitchFamily="18" charset="0"/>
              <a:ea typeface="Cambria Math" panose="02040503050406030204" pitchFamily="18" charset="0"/>
            </a:endParaRPr>
          </a:p>
        </p:txBody>
      </p:sp>
      <p:sp>
        <p:nvSpPr>
          <p:cNvPr id="813" name="Text 395"/>
          <p:cNvSpPr/>
          <p:nvPr/>
        </p:nvSpPr>
        <p:spPr>
          <a:xfrm>
            <a:off x="4794558" y="4887253"/>
            <a:ext cx="4615022" cy="30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400" b="1" u="none" strike="noStrike" dirty="0">
                <a:solidFill>
                  <a:srgbClr val="4A5280"/>
                </a:solidFill>
                <a:effectLst/>
                <a:uFillTx/>
                <a:latin typeface="Cambria Math" panose="02040503050406030204" pitchFamily="18" charset="0"/>
                <a:ea typeface="Cambria Math" panose="02040503050406030204" pitchFamily="18" charset="0"/>
              </a:rPr>
              <a:t>Narzędzia</a:t>
            </a:r>
            <a:r>
              <a:rPr lang="pl-PL" sz="1400" b="0" u="none" strike="noStrike" dirty="0">
                <a:solidFill>
                  <a:srgbClr val="4A5280"/>
                </a:solidFill>
                <a:effectLst/>
                <a:uFillTx/>
                <a:latin typeface="Cambria Math" panose="02040503050406030204" pitchFamily="18" charset="0"/>
                <a:ea typeface="Cambria Math" panose="02040503050406030204" pitchFamily="18" charset="0"/>
              </a:rPr>
              <a:t>: MNE-</a:t>
            </a:r>
            <a:r>
              <a:rPr lang="pl-PL" sz="1400" b="0" u="none" strike="noStrike" dirty="0" err="1">
                <a:solidFill>
                  <a:srgbClr val="4A5280"/>
                </a:solidFill>
                <a:effectLst/>
                <a:uFillTx/>
                <a:latin typeface="Cambria Math" panose="02040503050406030204" pitchFamily="18" charset="0"/>
                <a:ea typeface="Cambria Math" panose="02040503050406030204" pitchFamily="18" charset="0"/>
              </a:rPr>
              <a:t>Python</a:t>
            </a:r>
            <a:r>
              <a:rPr lang="pl-PL" sz="1400" b="0" u="none" strike="noStrike" dirty="0">
                <a:solidFill>
                  <a:srgbClr val="4A5280"/>
                </a:solidFill>
                <a:effectLst/>
                <a:uFillTx/>
                <a:latin typeface="Cambria Math" panose="02040503050406030204" pitchFamily="18" charset="0"/>
                <a:ea typeface="Cambria Math" panose="02040503050406030204" pitchFamily="18" charset="0"/>
              </a:rPr>
              <a:t>, EEGLAB, </a:t>
            </a:r>
            <a:r>
              <a:rPr lang="pl-PL" sz="1400" b="0" u="none" strike="noStrike" dirty="0" err="1">
                <a:solidFill>
                  <a:srgbClr val="4A5280"/>
                </a:solidFill>
                <a:effectLst/>
                <a:uFillTx/>
                <a:latin typeface="Cambria Math" panose="02040503050406030204" pitchFamily="18" charset="0"/>
                <a:ea typeface="Cambria Math" panose="02040503050406030204" pitchFamily="18" charset="0"/>
              </a:rPr>
              <a:t>BrainVision</a:t>
            </a:r>
            <a:r>
              <a:rPr lang="pl-PL" sz="1400" b="0" u="none" strike="noStrike" dirty="0">
                <a:solidFill>
                  <a:srgbClr val="4A5280"/>
                </a:solidFill>
                <a:effectLst/>
                <a:uFillTx/>
                <a:latin typeface="Cambria Math" panose="02040503050406030204" pitchFamily="18" charset="0"/>
                <a:ea typeface="Cambria Math" panose="02040503050406030204" pitchFamily="18" charset="0"/>
              </a:rPr>
              <a:t> Analyzer</a:t>
            </a:r>
            <a:endParaRPr lang="pl-PL" sz="1400" b="0" u="none" strike="noStrike" dirty="0">
              <a:solidFill>
                <a:srgbClr val="000000"/>
              </a:solidFill>
              <a:effectLst/>
              <a:uFillTx/>
              <a:latin typeface="Cambria Math" panose="02040503050406030204" pitchFamily="18" charset="0"/>
              <a:ea typeface="Cambria Math" panose="020405030504060302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814" name="Shape 373"/>
          <p:cNvSpPr/>
          <p:nvPr/>
        </p:nvSpPr>
        <p:spPr>
          <a:xfrm>
            <a:off x="360" y="360"/>
            <a:ext cx="10079640" cy="1006920"/>
          </a:xfrm>
          <a:prstGeom prst="rect">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815" name="Text 396"/>
          <p:cNvSpPr/>
          <p:nvPr/>
        </p:nvSpPr>
        <p:spPr>
          <a:xfrm>
            <a:off x="453240" y="70560"/>
            <a:ext cx="917244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defTabSz="914400">
              <a:lnSpc>
                <a:spcPct val="100000"/>
              </a:lnSpc>
              <a:tabLst>
                <a:tab pos="0" algn="l"/>
              </a:tabLst>
            </a:pPr>
            <a:r>
              <a:rPr lang="pl-PL" sz="2200" b="1" u="none" strike="noStrike">
                <a:solidFill>
                  <a:srgbClr val="FFFFFF"/>
                </a:solidFill>
                <a:effectLst/>
                <a:uFillTx/>
                <a:latin typeface="Cambria"/>
                <a:ea typeface="Cambria"/>
              </a:rPr>
              <a:t>VR/AR W EKSPERYMENTACH PSYCHOLOGICZNYCH</a:t>
            </a:r>
            <a:endParaRPr lang="pl-PL" sz="2200" b="0" u="none" strike="noStrike">
              <a:solidFill>
                <a:srgbClr val="000000"/>
              </a:solidFill>
              <a:effectLst/>
              <a:uFillTx/>
              <a:latin typeface="Arial"/>
            </a:endParaRPr>
          </a:p>
        </p:txBody>
      </p:sp>
      <p:sp>
        <p:nvSpPr>
          <p:cNvPr id="816" name="Text 397"/>
          <p:cNvSpPr/>
          <p:nvPr/>
        </p:nvSpPr>
        <p:spPr>
          <a:xfrm>
            <a:off x="453240" y="594720"/>
            <a:ext cx="9172440" cy="331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pl-PL" sz="1400" b="0" i="1" u="none" strike="noStrike">
                <a:solidFill>
                  <a:srgbClr val="CADCFC"/>
                </a:solidFill>
                <a:effectLst/>
                <a:uFillTx/>
                <a:latin typeface="Calibri"/>
                <a:ea typeface="Calibri"/>
              </a:rPr>
              <a:t>Kontrola środowiska przy zachowaniu wysokiej trafności ekologicznej</a:t>
            </a:r>
            <a:endParaRPr lang="pl-PL" sz="1400" b="0" u="none" strike="noStrike">
              <a:solidFill>
                <a:srgbClr val="000000"/>
              </a:solidFill>
              <a:effectLst/>
              <a:uFillTx/>
              <a:latin typeface="Arial"/>
            </a:endParaRPr>
          </a:p>
        </p:txBody>
      </p:sp>
      <p:sp>
        <p:nvSpPr>
          <p:cNvPr id="817" name="Shape 374"/>
          <p:cNvSpPr/>
          <p:nvPr/>
        </p:nvSpPr>
        <p:spPr>
          <a:xfrm>
            <a:off x="403200" y="1108800"/>
            <a:ext cx="4535280" cy="2065320"/>
          </a:xfrm>
          <a:prstGeom prst="roundRect">
            <a:avLst>
              <a:gd name="adj" fmla="val 4878"/>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818" name="Text 398"/>
          <p:cNvSpPr/>
          <p:nvPr/>
        </p:nvSpPr>
        <p:spPr>
          <a:xfrm>
            <a:off x="554400" y="1168920"/>
            <a:ext cx="4232880" cy="361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800" b="1" u="none" strike="noStrike">
                <a:solidFill>
                  <a:srgbClr val="1E2761"/>
                </a:solidFill>
                <a:effectLst/>
                <a:uFillTx/>
                <a:latin typeface="Cambria"/>
                <a:ea typeface="Cambria"/>
              </a:rPr>
              <a:t>Zastosowania</a:t>
            </a:r>
            <a:endParaRPr lang="pl-PL" sz="1800" b="0" u="none" strike="noStrike">
              <a:solidFill>
                <a:srgbClr val="000000"/>
              </a:solidFill>
              <a:effectLst/>
              <a:uFillTx/>
              <a:latin typeface="Arial"/>
            </a:endParaRPr>
          </a:p>
        </p:txBody>
      </p:sp>
      <p:sp>
        <p:nvSpPr>
          <p:cNvPr id="819" name="Shape 375"/>
          <p:cNvSpPr/>
          <p:nvPr/>
        </p:nvSpPr>
        <p:spPr>
          <a:xfrm>
            <a:off x="604800" y="1632960"/>
            <a:ext cx="200520" cy="200520"/>
          </a:xfrm>
          <a:prstGeom prst="ellipse">
            <a:avLst/>
          </a:prstGeom>
          <a:solidFill>
            <a:srgbClr val="5B8FF9"/>
          </a:solidFill>
          <a:ln w="12700">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820" name="Text 399"/>
          <p:cNvSpPr/>
          <p:nvPr/>
        </p:nvSpPr>
        <p:spPr>
          <a:xfrm>
            <a:off x="886680" y="1562400"/>
            <a:ext cx="3930480" cy="361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0" u="none" strike="noStrike">
                <a:solidFill>
                  <a:srgbClr val="1A1F3C"/>
                </a:solidFill>
                <a:effectLst/>
                <a:uFillTx/>
                <a:latin typeface="Calibri"/>
                <a:ea typeface="Calibri"/>
              </a:rPr>
              <a:t>Lęk wysokości</a:t>
            </a:r>
            <a:endParaRPr lang="pl-PL" sz="1600" b="0" u="none" strike="noStrike">
              <a:solidFill>
                <a:srgbClr val="000000"/>
              </a:solidFill>
              <a:effectLst/>
              <a:uFillTx/>
              <a:latin typeface="Arial"/>
            </a:endParaRPr>
          </a:p>
        </p:txBody>
      </p:sp>
      <p:sp>
        <p:nvSpPr>
          <p:cNvPr id="821" name="Shape 376"/>
          <p:cNvSpPr/>
          <p:nvPr/>
        </p:nvSpPr>
        <p:spPr>
          <a:xfrm>
            <a:off x="604800" y="2026080"/>
            <a:ext cx="200520" cy="200520"/>
          </a:xfrm>
          <a:prstGeom prst="ellipse">
            <a:avLst/>
          </a:prstGeom>
          <a:solidFill>
            <a:srgbClr val="5B8FF9"/>
          </a:solidFill>
          <a:ln w="12700">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822" name="Text 400"/>
          <p:cNvSpPr/>
          <p:nvPr/>
        </p:nvSpPr>
        <p:spPr>
          <a:xfrm>
            <a:off x="886680" y="1955520"/>
            <a:ext cx="3930480" cy="361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0" u="none" strike="noStrike">
                <a:solidFill>
                  <a:srgbClr val="1A1F3C"/>
                </a:solidFill>
                <a:effectLst/>
                <a:uFillTx/>
                <a:latin typeface="Calibri"/>
                <a:ea typeface="Calibri"/>
              </a:rPr>
              <a:t>Fobia społeczna</a:t>
            </a:r>
            <a:endParaRPr lang="pl-PL" sz="1600" b="0" u="none" strike="noStrike">
              <a:solidFill>
                <a:srgbClr val="000000"/>
              </a:solidFill>
              <a:effectLst/>
              <a:uFillTx/>
              <a:latin typeface="Arial"/>
            </a:endParaRPr>
          </a:p>
        </p:txBody>
      </p:sp>
      <p:sp>
        <p:nvSpPr>
          <p:cNvPr id="823" name="Shape 377"/>
          <p:cNvSpPr/>
          <p:nvPr/>
        </p:nvSpPr>
        <p:spPr>
          <a:xfrm>
            <a:off x="604800" y="2419200"/>
            <a:ext cx="200520" cy="200520"/>
          </a:xfrm>
          <a:prstGeom prst="ellipse">
            <a:avLst/>
          </a:prstGeom>
          <a:solidFill>
            <a:srgbClr val="5B8FF9"/>
          </a:solidFill>
          <a:ln w="12700">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824" name="Text 401"/>
          <p:cNvSpPr/>
          <p:nvPr/>
        </p:nvSpPr>
        <p:spPr>
          <a:xfrm>
            <a:off x="886680" y="2348640"/>
            <a:ext cx="3930480" cy="361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0" u="none" strike="noStrike">
                <a:solidFill>
                  <a:srgbClr val="1A1F3C"/>
                </a:solidFill>
                <a:effectLst/>
                <a:uFillTx/>
                <a:latin typeface="Calibri"/>
                <a:ea typeface="Calibri"/>
              </a:rPr>
              <a:t>PTSD i ekspozycja</a:t>
            </a:r>
            <a:endParaRPr lang="pl-PL" sz="1600" b="0" u="none" strike="noStrike">
              <a:solidFill>
                <a:srgbClr val="000000"/>
              </a:solidFill>
              <a:effectLst/>
              <a:uFillTx/>
              <a:latin typeface="Arial"/>
            </a:endParaRPr>
          </a:p>
        </p:txBody>
      </p:sp>
      <p:sp>
        <p:nvSpPr>
          <p:cNvPr id="825" name="Shape 378"/>
          <p:cNvSpPr/>
          <p:nvPr/>
        </p:nvSpPr>
        <p:spPr>
          <a:xfrm>
            <a:off x="604800" y="2812680"/>
            <a:ext cx="200520" cy="200520"/>
          </a:xfrm>
          <a:prstGeom prst="ellipse">
            <a:avLst/>
          </a:prstGeom>
          <a:solidFill>
            <a:srgbClr val="5B8FF9"/>
          </a:solidFill>
          <a:ln w="12700">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826" name="Text 402"/>
          <p:cNvSpPr/>
          <p:nvPr/>
        </p:nvSpPr>
        <p:spPr>
          <a:xfrm>
            <a:off x="886680" y="2741760"/>
            <a:ext cx="3930480" cy="361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0" u="none" strike="noStrike">
                <a:solidFill>
                  <a:srgbClr val="1A1F3C"/>
                </a:solidFill>
                <a:effectLst/>
                <a:uFillTx/>
                <a:latin typeface="Calibri"/>
                <a:ea typeface="Calibri"/>
              </a:rPr>
              <a:t>Uwaga i interakcja społeczna</a:t>
            </a:r>
            <a:endParaRPr lang="pl-PL" sz="1600" b="0" u="none" strike="noStrike">
              <a:solidFill>
                <a:srgbClr val="000000"/>
              </a:solidFill>
              <a:effectLst/>
              <a:uFillTx/>
              <a:latin typeface="Arial"/>
            </a:endParaRPr>
          </a:p>
        </p:txBody>
      </p:sp>
      <p:sp>
        <p:nvSpPr>
          <p:cNvPr id="827" name="Shape 379"/>
          <p:cNvSpPr/>
          <p:nvPr/>
        </p:nvSpPr>
        <p:spPr>
          <a:xfrm>
            <a:off x="5141160" y="1108800"/>
            <a:ext cx="4535280" cy="2065320"/>
          </a:xfrm>
          <a:prstGeom prst="roundRect">
            <a:avLst>
              <a:gd name="adj" fmla="val 4878"/>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828" name="Text 403"/>
          <p:cNvSpPr/>
          <p:nvPr/>
        </p:nvSpPr>
        <p:spPr>
          <a:xfrm>
            <a:off x="5292000" y="1168920"/>
            <a:ext cx="4232880" cy="361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800" b="1" u="none" strike="noStrike">
                <a:solidFill>
                  <a:srgbClr val="1E2761"/>
                </a:solidFill>
                <a:effectLst/>
                <a:uFillTx/>
                <a:latin typeface="Cambria"/>
                <a:ea typeface="Cambria"/>
              </a:rPr>
              <a:t>Co rejestrujemy</a:t>
            </a:r>
            <a:endParaRPr lang="pl-PL" sz="1800" b="0" u="none" strike="noStrike">
              <a:solidFill>
                <a:srgbClr val="000000"/>
              </a:solidFill>
              <a:effectLst/>
              <a:uFillTx/>
              <a:latin typeface="Arial"/>
            </a:endParaRPr>
          </a:p>
        </p:txBody>
      </p:sp>
      <p:sp>
        <p:nvSpPr>
          <p:cNvPr id="829" name="Shape 380"/>
          <p:cNvSpPr/>
          <p:nvPr/>
        </p:nvSpPr>
        <p:spPr>
          <a:xfrm>
            <a:off x="5342760" y="1632960"/>
            <a:ext cx="200520" cy="200520"/>
          </a:xfrm>
          <a:prstGeom prst="ellipse">
            <a:avLst/>
          </a:prstGeom>
          <a:solidFill>
            <a:srgbClr val="3ECFB2"/>
          </a:solidFill>
          <a:ln w="12700">
            <a:solidFill>
              <a:srgbClr val="3ECFB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830" name="Text 404"/>
          <p:cNvSpPr/>
          <p:nvPr/>
        </p:nvSpPr>
        <p:spPr>
          <a:xfrm>
            <a:off x="5624640" y="1562400"/>
            <a:ext cx="3930480" cy="361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0" u="none" strike="noStrike">
                <a:solidFill>
                  <a:srgbClr val="1A1F3C"/>
                </a:solidFill>
                <a:effectLst/>
                <a:uFillTx/>
                <a:latin typeface="Calibri"/>
                <a:ea typeface="Calibri"/>
              </a:rPr>
              <a:t>Ruch głowy</a:t>
            </a:r>
            <a:endParaRPr lang="pl-PL" sz="1600" b="0" u="none" strike="noStrike">
              <a:solidFill>
                <a:srgbClr val="000000"/>
              </a:solidFill>
              <a:effectLst/>
              <a:uFillTx/>
              <a:latin typeface="Arial"/>
            </a:endParaRPr>
          </a:p>
        </p:txBody>
      </p:sp>
      <p:sp>
        <p:nvSpPr>
          <p:cNvPr id="831" name="Shape 381"/>
          <p:cNvSpPr/>
          <p:nvPr/>
        </p:nvSpPr>
        <p:spPr>
          <a:xfrm>
            <a:off x="5342760" y="2026080"/>
            <a:ext cx="200520" cy="200520"/>
          </a:xfrm>
          <a:prstGeom prst="ellipse">
            <a:avLst/>
          </a:prstGeom>
          <a:solidFill>
            <a:srgbClr val="3ECFB2"/>
          </a:solidFill>
          <a:ln w="12700">
            <a:solidFill>
              <a:srgbClr val="3ECFB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832" name="Text 405"/>
          <p:cNvSpPr/>
          <p:nvPr/>
        </p:nvSpPr>
        <p:spPr>
          <a:xfrm>
            <a:off x="5624640" y="1955520"/>
            <a:ext cx="3930480" cy="361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0" u="none" strike="noStrike" dirty="0">
                <a:solidFill>
                  <a:srgbClr val="1A1F3C"/>
                </a:solidFill>
                <a:effectLst/>
                <a:uFillTx/>
                <a:latin typeface="Calibri"/>
                <a:ea typeface="Calibri"/>
              </a:rPr>
              <a:t>Spojrzenie (</a:t>
            </a:r>
            <a:r>
              <a:rPr lang="pl-PL" sz="1600" b="0" u="none" strike="noStrike" dirty="0" err="1">
                <a:solidFill>
                  <a:srgbClr val="1A1F3C"/>
                </a:solidFill>
                <a:effectLst/>
                <a:uFillTx/>
                <a:latin typeface="Calibri"/>
                <a:ea typeface="Calibri"/>
              </a:rPr>
              <a:t>eye-tracking</a:t>
            </a:r>
            <a:r>
              <a:rPr lang="pl-PL" sz="1600" b="0" u="none" strike="noStrike" dirty="0">
                <a:solidFill>
                  <a:srgbClr val="1A1F3C"/>
                </a:solidFill>
                <a:effectLst/>
                <a:uFillTx/>
                <a:latin typeface="Calibri"/>
                <a:ea typeface="Calibri"/>
              </a:rPr>
              <a:t> VR)</a:t>
            </a:r>
            <a:endParaRPr lang="pl-PL" sz="1600" b="0" u="none" strike="noStrike" dirty="0">
              <a:solidFill>
                <a:srgbClr val="000000"/>
              </a:solidFill>
              <a:effectLst/>
              <a:uFillTx/>
              <a:latin typeface="Arial"/>
            </a:endParaRPr>
          </a:p>
        </p:txBody>
      </p:sp>
      <p:sp>
        <p:nvSpPr>
          <p:cNvPr id="833" name="Shape 382"/>
          <p:cNvSpPr/>
          <p:nvPr/>
        </p:nvSpPr>
        <p:spPr>
          <a:xfrm>
            <a:off x="5342760" y="2419200"/>
            <a:ext cx="200520" cy="200520"/>
          </a:xfrm>
          <a:prstGeom prst="ellipse">
            <a:avLst/>
          </a:prstGeom>
          <a:solidFill>
            <a:srgbClr val="3ECFB2"/>
          </a:solidFill>
          <a:ln w="12700">
            <a:solidFill>
              <a:srgbClr val="3ECFB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834" name="Text 406"/>
          <p:cNvSpPr/>
          <p:nvPr/>
        </p:nvSpPr>
        <p:spPr>
          <a:xfrm>
            <a:off x="5624640" y="2348640"/>
            <a:ext cx="3930480" cy="361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0" u="none" strike="noStrike">
                <a:solidFill>
                  <a:srgbClr val="1A1F3C"/>
                </a:solidFill>
                <a:effectLst/>
                <a:uFillTx/>
                <a:latin typeface="Calibri"/>
                <a:ea typeface="Calibri"/>
              </a:rPr>
              <a:t>Pozycja ciała</a:t>
            </a:r>
            <a:endParaRPr lang="pl-PL" sz="1600" b="0" u="none" strike="noStrike">
              <a:solidFill>
                <a:srgbClr val="000000"/>
              </a:solidFill>
              <a:effectLst/>
              <a:uFillTx/>
              <a:latin typeface="Arial"/>
            </a:endParaRPr>
          </a:p>
        </p:txBody>
      </p:sp>
      <p:sp>
        <p:nvSpPr>
          <p:cNvPr id="835" name="Shape 383"/>
          <p:cNvSpPr/>
          <p:nvPr/>
        </p:nvSpPr>
        <p:spPr>
          <a:xfrm>
            <a:off x="5342760" y="2812680"/>
            <a:ext cx="200520" cy="200520"/>
          </a:xfrm>
          <a:prstGeom prst="ellipse">
            <a:avLst/>
          </a:prstGeom>
          <a:solidFill>
            <a:srgbClr val="3ECFB2"/>
          </a:solidFill>
          <a:ln w="12700">
            <a:solidFill>
              <a:srgbClr val="3ECFB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836" name="Text 407"/>
          <p:cNvSpPr/>
          <p:nvPr/>
        </p:nvSpPr>
        <p:spPr>
          <a:xfrm>
            <a:off x="5624640" y="2741760"/>
            <a:ext cx="3930480" cy="361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0" u="none" strike="noStrike">
                <a:solidFill>
                  <a:srgbClr val="1A1F3C"/>
                </a:solidFill>
                <a:effectLst/>
                <a:uFillTx/>
                <a:latin typeface="Calibri"/>
                <a:ea typeface="Calibri"/>
              </a:rPr>
              <a:t>Reakcje behawioralne i fizjologiczne</a:t>
            </a:r>
            <a:endParaRPr lang="pl-PL" sz="1600" b="0" u="none" strike="noStrike">
              <a:solidFill>
                <a:srgbClr val="000000"/>
              </a:solidFill>
              <a:effectLst/>
              <a:uFillTx/>
              <a:latin typeface="Arial"/>
            </a:endParaRPr>
          </a:p>
        </p:txBody>
      </p:sp>
      <p:sp>
        <p:nvSpPr>
          <p:cNvPr id="837" name="Shape 384"/>
          <p:cNvSpPr/>
          <p:nvPr/>
        </p:nvSpPr>
        <p:spPr>
          <a:xfrm>
            <a:off x="403200" y="3346920"/>
            <a:ext cx="9273240" cy="1158120"/>
          </a:xfrm>
          <a:prstGeom prst="roundRect">
            <a:avLst>
              <a:gd name="adj" fmla="val 8696"/>
            </a:avLst>
          </a:prstGeom>
          <a:solidFill>
            <a:srgbClr val="EEF3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838" name="Text 408"/>
          <p:cNvSpPr/>
          <p:nvPr/>
        </p:nvSpPr>
        <p:spPr>
          <a:xfrm>
            <a:off x="604800" y="3447720"/>
            <a:ext cx="2620080" cy="32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1" u="none" strike="noStrike">
                <a:solidFill>
                  <a:srgbClr val="1E2761"/>
                </a:solidFill>
                <a:effectLst/>
                <a:uFillTx/>
                <a:latin typeface="Calibri"/>
                <a:ea typeface="Calibri"/>
              </a:rPr>
              <a:t>Kontrola eksperymentalna</a:t>
            </a:r>
            <a:endParaRPr lang="pl-PL" sz="1600" b="0" u="none" strike="noStrike">
              <a:solidFill>
                <a:srgbClr val="000000"/>
              </a:solidFill>
              <a:effectLst/>
              <a:uFillTx/>
              <a:latin typeface="Arial"/>
            </a:endParaRPr>
          </a:p>
        </p:txBody>
      </p:sp>
      <p:sp>
        <p:nvSpPr>
          <p:cNvPr id="839" name="Text 409"/>
          <p:cNvSpPr/>
          <p:nvPr/>
        </p:nvSpPr>
        <p:spPr>
          <a:xfrm>
            <a:off x="6854760" y="3447720"/>
            <a:ext cx="2620080" cy="32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pl-PL" sz="1600" b="1" u="none" strike="noStrike">
                <a:solidFill>
                  <a:srgbClr val="1E2761"/>
                </a:solidFill>
                <a:effectLst/>
                <a:uFillTx/>
                <a:latin typeface="Calibri"/>
                <a:ea typeface="Calibri"/>
              </a:rPr>
              <a:t>Wysoka trafność ekologiczna</a:t>
            </a:r>
            <a:endParaRPr lang="pl-PL" sz="1600" b="0" u="none" strike="noStrike">
              <a:solidFill>
                <a:srgbClr val="000000"/>
              </a:solidFill>
              <a:effectLst/>
              <a:uFillTx/>
              <a:latin typeface="Arial"/>
            </a:endParaRPr>
          </a:p>
        </p:txBody>
      </p:sp>
      <p:sp>
        <p:nvSpPr>
          <p:cNvPr id="840" name="Shape 385"/>
          <p:cNvSpPr/>
          <p:nvPr/>
        </p:nvSpPr>
        <p:spPr>
          <a:xfrm>
            <a:off x="705600" y="3951720"/>
            <a:ext cx="8668440" cy="119880"/>
          </a:xfrm>
          <a:prstGeom prst="roundRect">
            <a:avLst>
              <a:gd name="adj" fmla="val 50000"/>
            </a:avLst>
          </a:prstGeom>
          <a:solidFill>
            <a:srgbClr val="C9D4F2"/>
          </a:solidFill>
          <a:ln w="12700">
            <a:solidFill>
              <a:srgbClr val="C9D4F2"/>
            </a:solidFill>
            <a:round/>
          </a:ln>
        </p:spPr>
        <p:style>
          <a:lnRef idx="0">
            <a:scrgbClr r="0" g="0" b="0"/>
          </a:lnRef>
          <a:fillRef idx="0">
            <a:scrgbClr r="0" g="0" b="0"/>
          </a:fillRef>
          <a:effectRef idx="0">
            <a:scrgbClr r="0" g="0" b="0"/>
          </a:effectRef>
          <a:fontRef idx="minor"/>
        </p:style>
        <p:txBody>
          <a:bodyPr lIns="90000" tIns="40320" rIns="90000" bIns="40320" anchor="t">
            <a:noAutofit/>
          </a:bodyPr>
          <a:lstStyle/>
          <a:p>
            <a:pPr>
              <a:lnSpc>
                <a:spcPct val="100000"/>
              </a:lnSpc>
            </a:pPr>
            <a:endParaRPr lang="pl-PL" sz="1800" b="0" u="none" strike="noStrike">
              <a:solidFill>
                <a:srgbClr val="000000"/>
              </a:solidFill>
              <a:effectLst/>
              <a:uFillTx/>
              <a:latin typeface="Arial"/>
            </a:endParaRPr>
          </a:p>
        </p:txBody>
      </p:sp>
      <p:sp>
        <p:nvSpPr>
          <p:cNvPr id="841" name="Shape 386"/>
          <p:cNvSpPr/>
          <p:nvPr/>
        </p:nvSpPr>
        <p:spPr>
          <a:xfrm>
            <a:off x="4818600" y="3810600"/>
            <a:ext cx="442440" cy="442440"/>
          </a:xfrm>
          <a:prstGeom prst="ellipse">
            <a:avLst/>
          </a:prstGeom>
          <a:solidFill>
            <a:srgbClr val="5B8FF9"/>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842" name="Text 410"/>
          <p:cNvSpPr/>
          <p:nvPr/>
        </p:nvSpPr>
        <p:spPr>
          <a:xfrm>
            <a:off x="4818240" y="3810240"/>
            <a:ext cx="442800" cy="442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400" b="1" u="none" strike="noStrike">
                <a:solidFill>
                  <a:srgbClr val="FFFFFF"/>
                </a:solidFill>
                <a:effectLst/>
                <a:uFillTx/>
                <a:latin typeface="Cambria"/>
                <a:ea typeface="Cambria"/>
              </a:rPr>
              <a:t>VR</a:t>
            </a:r>
            <a:endParaRPr lang="pl-PL" sz="1400" b="0" u="none" strike="noStrike">
              <a:solidFill>
                <a:srgbClr val="000000"/>
              </a:solidFill>
              <a:effectLst/>
              <a:uFillTx/>
              <a:latin typeface="Arial"/>
            </a:endParaRPr>
          </a:p>
        </p:txBody>
      </p:sp>
      <p:sp>
        <p:nvSpPr>
          <p:cNvPr id="843" name="Text 411"/>
          <p:cNvSpPr/>
          <p:nvPr/>
        </p:nvSpPr>
        <p:spPr>
          <a:xfrm>
            <a:off x="3377880" y="4242240"/>
            <a:ext cx="3504600" cy="30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600" b="0" i="1" u="none" strike="noStrike">
                <a:solidFill>
                  <a:srgbClr val="4A5280"/>
                </a:solidFill>
                <a:effectLst/>
                <a:uFillTx/>
                <a:latin typeface="Calibri"/>
                <a:ea typeface="Calibri"/>
              </a:rPr>
              <a:t>punkt optymalny: kontrola + immersja</a:t>
            </a:r>
            <a:endParaRPr lang="pl-PL" sz="1600" b="0" u="none" strike="noStrike">
              <a:solidFill>
                <a:srgbClr val="000000"/>
              </a:solidFill>
              <a:effectLst/>
              <a:uFillTx/>
              <a:latin typeface="Arial"/>
            </a:endParaRPr>
          </a:p>
        </p:txBody>
      </p:sp>
      <p:sp>
        <p:nvSpPr>
          <p:cNvPr id="844" name="Shape 387"/>
          <p:cNvSpPr/>
          <p:nvPr/>
        </p:nvSpPr>
        <p:spPr>
          <a:xfrm>
            <a:off x="403200" y="4657320"/>
            <a:ext cx="4535280" cy="855720"/>
          </a:xfrm>
          <a:prstGeom prst="roundRect">
            <a:avLst>
              <a:gd name="adj" fmla="val 11765"/>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845" name="Text 412"/>
          <p:cNvSpPr/>
          <p:nvPr/>
        </p:nvSpPr>
        <p:spPr>
          <a:xfrm>
            <a:off x="554400" y="4697280"/>
            <a:ext cx="1375200" cy="30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1" u="none" strike="noStrike">
                <a:solidFill>
                  <a:srgbClr val="1E2761"/>
                </a:solidFill>
                <a:effectLst/>
                <a:uFillTx/>
                <a:latin typeface="Cambria"/>
                <a:ea typeface="Cambria"/>
              </a:rPr>
              <a:t>Platformy</a:t>
            </a:r>
            <a:endParaRPr lang="pl-PL" sz="1600" b="0" u="none" strike="noStrike">
              <a:solidFill>
                <a:srgbClr val="000000"/>
              </a:solidFill>
              <a:effectLst/>
              <a:uFillTx/>
              <a:latin typeface="Arial"/>
            </a:endParaRPr>
          </a:p>
        </p:txBody>
      </p:sp>
      <p:sp>
        <p:nvSpPr>
          <p:cNvPr id="846" name="Text 413"/>
          <p:cNvSpPr/>
          <p:nvPr/>
        </p:nvSpPr>
        <p:spPr>
          <a:xfrm>
            <a:off x="554400" y="5010120"/>
            <a:ext cx="4232880" cy="45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15000"/>
              </a:lnSpc>
              <a:tabLst>
                <a:tab pos="0" algn="l"/>
              </a:tabLst>
            </a:pPr>
            <a:r>
              <a:rPr lang="pl-PL" sz="1400" b="0" u="none" strike="noStrike">
                <a:solidFill>
                  <a:srgbClr val="1A1F3C"/>
                </a:solidFill>
                <a:effectLst/>
                <a:uFillTx/>
                <a:latin typeface="Calibri"/>
                <a:ea typeface="Calibri"/>
              </a:rPr>
              <a:t>Unity + SteamVR, Unreal Engine, OpenXR, LabStreamingLayer</a:t>
            </a:r>
            <a:endParaRPr lang="pl-PL" sz="1400" b="0" u="none" strike="noStrike">
              <a:solidFill>
                <a:srgbClr val="000000"/>
              </a:solidFill>
              <a:effectLst/>
              <a:uFillTx/>
              <a:latin typeface="Arial"/>
            </a:endParaRPr>
          </a:p>
        </p:txBody>
      </p:sp>
      <p:sp>
        <p:nvSpPr>
          <p:cNvPr id="847" name="Shape 388"/>
          <p:cNvSpPr/>
          <p:nvPr/>
        </p:nvSpPr>
        <p:spPr>
          <a:xfrm>
            <a:off x="5141160" y="4657320"/>
            <a:ext cx="4535280" cy="855720"/>
          </a:xfrm>
          <a:prstGeom prst="roundRect">
            <a:avLst>
              <a:gd name="adj" fmla="val 11765"/>
            </a:avLst>
          </a:prstGeom>
          <a:solidFill>
            <a:srgbClr val="FFF3CD"/>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848" name="Text 414"/>
          <p:cNvSpPr/>
          <p:nvPr/>
        </p:nvSpPr>
        <p:spPr>
          <a:xfrm>
            <a:off x="5292000" y="4697280"/>
            <a:ext cx="1410120" cy="30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1" u="none" strike="noStrike">
                <a:solidFill>
                  <a:srgbClr val="7B4F00"/>
                </a:solidFill>
                <a:effectLst/>
                <a:uFillTx/>
                <a:latin typeface="Cambria"/>
                <a:ea typeface="Cambria"/>
              </a:rPr>
              <a:t>Ograniczenia</a:t>
            </a:r>
            <a:endParaRPr lang="pl-PL" sz="1600" b="0" u="none" strike="noStrike">
              <a:solidFill>
                <a:srgbClr val="000000"/>
              </a:solidFill>
              <a:effectLst/>
              <a:uFillTx/>
              <a:latin typeface="Arial"/>
            </a:endParaRPr>
          </a:p>
        </p:txBody>
      </p:sp>
      <p:sp>
        <p:nvSpPr>
          <p:cNvPr id="849" name="Text 415"/>
          <p:cNvSpPr/>
          <p:nvPr/>
        </p:nvSpPr>
        <p:spPr>
          <a:xfrm>
            <a:off x="5292000" y="5010120"/>
            <a:ext cx="4232880" cy="45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15000"/>
              </a:lnSpc>
              <a:tabLst>
                <a:tab pos="0" algn="l"/>
              </a:tabLst>
            </a:pPr>
            <a:r>
              <a:rPr lang="pl-PL" sz="1400" b="0" u="none" strike="noStrike">
                <a:solidFill>
                  <a:srgbClr val="7B4F00"/>
                </a:solidFill>
                <a:effectLst/>
                <a:uFillTx/>
                <a:latin typeface="Calibri"/>
                <a:ea typeface="Calibri"/>
              </a:rPr>
              <a:t>Motion sickness, koszt sprzętu, standaryzacja bodźców między sesjami</a:t>
            </a:r>
            <a:endParaRPr lang="pl-PL" sz="1400" b="0" u="none" strike="noStrike">
              <a:solidFill>
                <a:srgbClr val="000000"/>
              </a:solidFill>
              <a:effectLst/>
              <a:uFillTx/>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850" name="Shape 389"/>
          <p:cNvSpPr/>
          <p:nvPr/>
        </p:nvSpPr>
        <p:spPr>
          <a:xfrm>
            <a:off x="360" y="360"/>
            <a:ext cx="10079640" cy="1006920"/>
          </a:xfrm>
          <a:prstGeom prst="rect">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851" name="Text 416"/>
          <p:cNvSpPr/>
          <p:nvPr/>
        </p:nvSpPr>
        <p:spPr>
          <a:xfrm>
            <a:off x="453240" y="70560"/>
            <a:ext cx="917244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defTabSz="914400">
              <a:lnSpc>
                <a:spcPct val="100000"/>
              </a:lnSpc>
              <a:tabLst>
                <a:tab pos="0" algn="l"/>
              </a:tabLst>
            </a:pPr>
            <a:r>
              <a:rPr lang="pl-PL" sz="2400" b="1" u="none" strike="noStrike">
                <a:solidFill>
                  <a:srgbClr val="FFFFFF"/>
                </a:solidFill>
                <a:effectLst/>
                <a:uFillTx/>
                <a:latin typeface="Cambria"/>
                <a:ea typeface="Cambria"/>
              </a:rPr>
              <a:t>ROBOTY SPOŁECZNE I INTERAKCJA CZłOWIEK–AI</a:t>
            </a:r>
            <a:endParaRPr lang="pl-PL" sz="2400" b="0" u="none" strike="noStrike">
              <a:solidFill>
                <a:srgbClr val="000000"/>
              </a:solidFill>
              <a:effectLst/>
              <a:uFillTx/>
              <a:latin typeface="Arial"/>
            </a:endParaRPr>
          </a:p>
        </p:txBody>
      </p:sp>
      <p:sp>
        <p:nvSpPr>
          <p:cNvPr id="852" name="Text 417"/>
          <p:cNvSpPr/>
          <p:nvPr/>
        </p:nvSpPr>
        <p:spPr>
          <a:xfrm>
            <a:off x="453240" y="594720"/>
            <a:ext cx="9172440" cy="331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pl-PL" sz="1400" b="0" i="1" u="none" strike="noStrike">
                <a:solidFill>
                  <a:srgbClr val="CADCFC"/>
                </a:solidFill>
                <a:effectLst/>
                <a:uFillTx/>
                <a:latin typeface="Calibri"/>
                <a:ea typeface="Calibri"/>
              </a:rPr>
              <a:t>Robot jako kontrolowany bodźiec społeczny</a:t>
            </a:r>
            <a:endParaRPr lang="pl-PL" sz="1400" b="0" u="none" strike="noStrike">
              <a:solidFill>
                <a:srgbClr val="000000"/>
              </a:solidFill>
              <a:effectLst/>
              <a:uFillTx/>
              <a:latin typeface="Arial"/>
            </a:endParaRPr>
          </a:p>
        </p:txBody>
      </p:sp>
      <p:sp>
        <p:nvSpPr>
          <p:cNvPr id="853" name="Shape 390"/>
          <p:cNvSpPr/>
          <p:nvPr/>
        </p:nvSpPr>
        <p:spPr>
          <a:xfrm>
            <a:off x="403200" y="1108800"/>
            <a:ext cx="4535280" cy="2317320"/>
          </a:xfrm>
          <a:prstGeom prst="roundRect">
            <a:avLst>
              <a:gd name="adj" fmla="val 4348"/>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854" name="Text 418"/>
          <p:cNvSpPr/>
          <p:nvPr/>
        </p:nvSpPr>
        <p:spPr>
          <a:xfrm>
            <a:off x="554400" y="1168920"/>
            <a:ext cx="4232880" cy="361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500" b="1" u="none" strike="noStrike">
                <a:solidFill>
                  <a:srgbClr val="1E2761"/>
                </a:solidFill>
                <a:effectLst/>
                <a:uFillTx/>
                <a:latin typeface="Cambria"/>
                <a:ea typeface="Cambria"/>
              </a:rPr>
              <a:t>Zmienne manipulowalne</a:t>
            </a:r>
            <a:endParaRPr lang="pl-PL" sz="1500" b="0" u="none" strike="noStrike">
              <a:solidFill>
                <a:srgbClr val="000000"/>
              </a:solidFill>
              <a:effectLst/>
              <a:uFillTx/>
              <a:latin typeface="Arial"/>
            </a:endParaRPr>
          </a:p>
        </p:txBody>
      </p:sp>
      <p:sp>
        <p:nvSpPr>
          <p:cNvPr id="855" name="Shape 391"/>
          <p:cNvSpPr/>
          <p:nvPr/>
        </p:nvSpPr>
        <p:spPr>
          <a:xfrm>
            <a:off x="604800" y="1632960"/>
            <a:ext cx="200520" cy="200520"/>
          </a:xfrm>
          <a:prstGeom prst="ellipse">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200" b="0" u="none" strike="noStrike">
              <a:solidFill>
                <a:srgbClr val="FFFFFF"/>
              </a:solidFill>
              <a:effectLst/>
              <a:uFillTx/>
              <a:latin typeface="Arial"/>
            </a:endParaRPr>
          </a:p>
        </p:txBody>
      </p:sp>
      <p:sp>
        <p:nvSpPr>
          <p:cNvPr id="856" name="Text 419"/>
          <p:cNvSpPr/>
          <p:nvPr/>
        </p:nvSpPr>
        <p:spPr>
          <a:xfrm>
            <a:off x="886680" y="1562400"/>
            <a:ext cx="3930480" cy="32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1" u="none" strike="noStrike" dirty="0">
                <a:solidFill>
                  <a:srgbClr val="1A1F3C"/>
                </a:solidFill>
                <a:effectLst/>
                <a:uFillTx/>
                <a:latin typeface="Calibri"/>
                <a:ea typeface="Calibri"/>
              </a:rPr>
              <a:t>Wygląd</a:t>
            </a:r>
            <a:r>
              <a:rPr lang="pl-PL" sz="1600" b="0" u="none" strike="noStrike" dirty="0">
                <a:solidFill>
                  <a:srgbClr val="1A1F3C"/>
                </a:solidFill>
                <a:effectLst/>
                <a:uFillTx/>
                <a:latin typeface="Calibri"/>
                <a:ea typeface="Calibri"/>
              </a:rPr>
              <a:t> (efekt niesamowitej doliny)</a:t>
            </a:r>
            <a:endParaRPr lang="pl-PL" sz="1600" b="0" u="none" strike="noStrike" dirty="0">
              <a:solidFill>
                <a:srgbClr val="000000"/>
              </a:solidFill>
              <a:effectLst/>
              <a:uFillTx/>
              <a:latin typeface="Arial"/>
            </a:endParaRPr>
          </a:p>
        </p:txBody>
      </p:sp>
      <p:sp>
        <p:nvSpPr>
          <p:cNvPr id="857" name="Shape 392"/>
          <p:cNvSpPr/>
          <p:nvPr/>
        </p:nvSpPr>
        <p:spPr>
          <a:xfrm>
            <a:off x="604800" y="1965600"/>
            <a:ext cx="200520" cy="200520"/>
          </a:xfrm>
          <a:prstGeom prst="ellipse">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200" b="0" u="none" strike="noStrike">
              <a:solidFill>
                <a:srgbClr val="FFFFFF"/>
              </a:solidFill>
              <a:effectLst/>
              <a:uFillTx/>
              <a:latin typeface="Arial"/>
            </a:endParaRPr>
          </a:p>
        </p:txBody>
      </p:sp>
      <p:sp>
        <p:nvSpPr>
          <p:cNvPr id="858" name="Text 420"/>
          <p:cNvSpPr/>
          <p:nvPr/>
        </p:nvSpPr>
        <p:spPr>
          <a:xfrm>
            <a:off x="886680" y="1895040"/>
            <a:ext cx="3930480" cy="32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1" u="none" strike="noStrike" dirty="0">
                <a:solidFill>
                  <a:srgbClr val="1A1F3C"/>
                </a:solidFill>
                <a:effectLst/>
                <a:uFillTx/>
                <a:latin typeface="Calibri"/>
                <a:ea typeface="Calibri"/>
              </a:rPr>
              <a:t>Ton</a:t>
            </a:r>
            <a:r>
              <a:rPr lang="pl-PL" sz="1600" b="0" u="none" strike="noStrike" dirty="0">
                <a:solidFill>
                  <a:srgbClr val="1A1F3C"/>
                </a:solidFill>
                <a:effectLst/>
                <a:uFillTx/>
                <a:latin typeface="Calibri"/>
                <a:ea typeface="Calibri"/>
              </a:rPr>
              <a:t> głosu</a:t>
            </a:r>
            <a:endParaRPr lang="pl-PL" sz="1600" b="0" u="none" strike="noStrike" dirty="0">
              <a:solidFill>
                <a:srgbClr val="000000"/>
              </a:solidFill>
              <a:effectLst/>
              <a:uFillTx/>
              <a:latin typeface="Arial"/>
            </a:endParaRPr>
          </a:p>
        </p:txBody>
      </p:sp>
      <p:sp>
        <p:nvSpPr>
          <p:cNvPr id="859" name="Shape 393"/>
          <p:cNvSpPr/>
          <p:nvPr/>
        </p:nvSpPr>
        <p:spPr>
          <a:xfrm>
            <a:off x="604800" y="2298240"/>
            <a:ext cx="200520" cy="200520"/>
          </a:xfrm>
          <a:prstGeom prst="ellipse">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200" b="0" u="none" strike="noStrike">
              <a:solidFill>
                <a:srgbClr val="FFFFFF"/>
              </a:solidFill>
              <a:effectLst/>
              <a:uFillTx/>
              <a:latin typeface="Arial"/>
            </a:endParaRPr>
          </a:p>
        </p:txBody>
      </p:sp>
      <p:sp>
        <p:nvSpPr>
          <p:cNvPr id="860" name="Text 421"/>
          <p:cNvSpPr/>
          <p:nvPr/>
        </p:nvSpPr>
        <p:spPr>
          <a:xfrm>
            <a:off x="886680" y="2227680"/>
            <a:ext cx="3930480" cy="32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1" u="none" strike="noStrike" dirty="0">
                <a:solidFill>
                  <a:srgbClr val="1A1F3C"/>
                </a:solidFill>
                <a:effectLst/>
                <a:uFillTx/>
                <a:latin typeface="Calibri"/>
                <a:ea typeface="Calibri"/>
              </a:rPr>
              <a:t>Ekspresja</a:t>
            </a:r>
            <a:r>
              <a:rPr lang="pl-PL" sz="1600" b="0" u="none" strike="noStrike" dirty="0">
                <a:solidFill>
                  <a:srgbClr val="1A1F3C"/>
                </a:solidFill>
                <a:effectLst/>
                <a:uFillTx/>
                <a:latin typeface="Calibri"/>
                <a:ea typeface="Calibri"/>
              </a:rPr>
              <a:t> mimiczna</a:t>
            </a:r>
            <a:endParaRPr lang="pl-PL" sz="1600" b="0" u="none" strike="noStrike" dirty="0">
              <a:solidFill>
                <a:srgbClr val="000000"/>
              </a:solidFill>
              <a:effectLst/>
              <a:uFillTx/>
              <a:latin typeface="Arial"/>
            </a:endParaRPr>
          </a:p>
        </p:txBody>
      </p:sp>
      <p:sp>
        <p:nvSpPr>
          <p:cNvPr id="861" name="Shape 394"/>
          <p:cNvSpPr/>
          <p:nvPr/>
        </p:nvSpPr>
        <p:spPr>
          <a:xfrm>
            <a:off x="604800" y="2630880"/>
            <a:ext cx="200520" cy="200520"/>
          </a:xfrm>
          <a:prstGeom prst="ellipse">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200" b="0" u="none" strike="noStrike">
              <a:solidFill>
                <a:srgbClr val="FFFFFF"/>
              </a:solidFill>
              <a:effectLst/>
              <a:uFillTx/>
              <a:latin typeface="Arial"/>
            </a:endParaRPr>
          </a:p>
        </p:txBody>
      </p:sp>
      <p:sp>
        <p:nvSpPr>
          <p:cNvPr id="862" name="Text 422"/>
          <p:cNvSpPr/>
          <p:nvPr/>
        </p:nvSpPr>
        <p:spPr>
          <a:xfrm>
            <a:off x="886680" y="2560680"/>
            <a:ext cx="3930480" cy="32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1" u="none" strike="noStrike" dirty="0">
                <a:solidFill>
                  <a:srgbClr val="1A1F3C"/>
                </a:solidFill>
                <a:effectLst/>
                <a:uFillTx/>
                <a:latin typeface="Calibri"/>
                <a:ea typeface="Calibri"/>
              </a:rPr>
              <a:t>Zachowanie</a:t>
            </a:r>
            <a:r>
              <a:rPr lang="pl-PL" sz="1600" b="0" u="none" strike="noStrike" dirty="0">
                <a:solidFill>
                  <a:srgbClr val="1A1F3C"/>
                </a:solidFill>
                <a:effectLst/>
                <a:uFillTx/>
                <a:latin typeface="Calibri"/>
                <a:ea typeface="Calibri"/>
              </a:rPr>
              <a:t> i reakcje</a:t>
            </a:r>
            <a:endParaRPr lang="pl-PL" sz="1600" b="0" u="none" strike="noStrike" dirty="0">
              <a:solidFill>
                <a:srgbClr val="000000"/>
              </a:solidFill>
              <a:effectLst/>
              <a:uFillTx/>
              <a:latin typeface="Arial"/>
            </a:endParaRPr>
          </a:p>
        </p:txBody>
      </p:sp>
      <p:sp>
        <p:nvSpPr>
          <p:cNvPr id="863" name="Shape 395"/>
          <p:cNvSpPr/>
          <p:nvPr/>
        </p:nvSpPr>
        <p:spPr>
          <a:xfrm>
            <a:off x="604800" y="2963880"/>
            <a:ext cx="200520" cy="200520"/>
          </a:xfrm>
          <a:prstGeom prst="ellipse">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200" b="0" u="none" strike="noStrike">
              <a:solidFill>
                <a:srgbClr val="FFFFFF"/>
              </a:solidFill>
              <a:effectLst/>
              <a:uFillTx/>
              <a:latin typeface="Arial"/>
            </a:endParaRPr>
          </a:p>
        </p:txBody>
      </p:sp>
      <p:sp>
        <p:nvSpPr>
          <p:cNvPr id="864" name="Text 423"/>
          <p:cNvSpPr/>
          <p:nvPr/>
        </p:nvSpPr>
        <p:spPr>
          <a:xfrm>
            <a:off x="886680" y="2892960"/>
            <a:ext cx="3930480" cy="32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1" u="none" strike="noStrike" dirty="0">
                <a:solidFill>
                  <a:srgbClr val="1A1F3C"/>
                </a:solidFill>
                <a:effectLst/>
                <a:uFillTx/>
                <a:latin typeface="Calibri"/>
                <a:ea typeface="Calibri"/>
              </a:rPr>
              <a:t>Dystans</a:t>
            </a:r>
            <a:r>
              <a:rPr lang="pl-PL" sz="1600" b="0" u="none" strike="noStrike" dirty="0">
                <a:solidFill>
                  <a:srgbClr val="1A1F3C"/>
                </a:solidFill>
                <a:effectLst/>
                <a:uFillTx/>
                <a:latin typeface="Calibri"/>
                <a:ea typeface="Calibri"/>
              </a:rPr>
              <a:t> interpersonalny</a:t>
            </a:r>
            <a:endParaRPr lang="pl-PL" sz="1600" b="0" u="none" strike="noStrike" dirty="0">
              <a:solidFill>
                <a:srgbClr val="000000"/>
              </a:solidFill>
              <a:effectLst/>
              <a:uFillTx/>
              <a:latin typeface="Arial"/>
            </a:endParaRPr>
          </a:p>
        </p:txBody>
      </p:sp>
      <p:sp>
        <p:nvSpPr>
          <p:cNvPr id="865" name="Shape 396"/>
          <p:cNvSpPr/>
          <p:nvPr/>
        </p:nvSpPr>
        <p:spPr>
          <a:xfrm>
            <a:off x="5141160" y="1108800"/>
            <a:ext cx="4535280" cy="2317320"/>
          </a:xfrm>
          <a:prstGeom prst="roundRect">
            <a:avLst>
              <a:gd name="adj" fmla="val 4348"/>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866" name="Text 424"/>
          <p:cNvSpPr/>
          <p:nvPr/>
        </p:nvSpPr>
        <p:spPr>
          <a:xfrm>
            <a:off x="5292000" y="1168920"/>
            <a:ext cx="4232880" cy="361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500" b="1" u="none" strike="noStrike">
                <a:solidFill>
                  <a:srgbClr val="1E2761"/>
                </a:solidFill>
                <a:effectLst/>
                <a:uFillTx/>
                <a:latin typeface="Cambria"/>
                <a:ea typeface="Cambria"/>
              </a:rPr>
              <a:t>Platformy badawcze</a:t>
            </a:r>
            <a:endParaRPr lang="pl-PL" sz="1500" b="0" u="none" strike="noStrike">
              <a:solidFill>
                <a:srgbClr val="000000"/>
              </a:solidFill>
              <a:effectLst/>
              <a:uFillTx/>
              <a:latin typeface="Arial"/>
            </a:endParaRPr>
          </a:p>
        </p:txBody>
      </p:sp>
      <p:sp>
        <p:nvSpPr>
          <p:cNvPr id="867" name="Text 425"/>
          <p:cNvSpPr/>
          <p:nvPr/>
        </p:nvSpPr>
        <p:spPr>
          <a:xfrm>
            <a:off x="5342400" y="1562400"/>
            <a:ext cx="1410120" cy="32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1" u="none" strike="noStrike" dirty="0">
                <a:solidFill>
                  <a:srgbClr val="2D7DD2"/>
                </a:solidFill>
                <a:effectLst/>
                <a:uFillTx/>
                <a:latin typeface="Consolas" panose="020B0609020204030204" pitchFamily="49" charset="0"/>
                <a:ea typeface="Calibri"/>
              </a:rPr>
              <a:t>NAO</a:t>
            </a:r>
            <a:endParaRPr lang="pl-PL" sz="1600" b="0" u="none" strike="noStrike" dirty="0">
              <a:solidFill>
                <a:srgbClr val="000000"/>
              </a:solidFill>
              <a:effectLst/>
              <a:uFillTx/>
              <a:latin typeface="Consolas" panose="020B0609020204030204" pitchFamily="49" charset="0"/>
            </a:endParaRPr>
          </a:p>
        </p:txBody>
      </p:sp>
      <p:sp>
        <p:nvSpPr>
          <p:cNvPr id="868" name="Text 426"/>
          <p:cNvSpPr/>
          <p:nvPr/>
        </p:nvSpPr>
        <p:spPr>
          <a:xfrm>
            <a:off x="6804360" y="1562400"/>
            <a:ext cx="2770920" cy="32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300" b="0" i="1" u="none" strike="noStrike">
                <a:solidFill>
                  <a:srgbClr val="4A5280"/>
                </a:solidFill>
                <a:effectLst/>
                <a:uFillTx/>
                <a:latin typeface="Calibri"/>
                <a:ea typeface="Calibri"/>
              </a:rPr>
              <a:t>humanoidalny, badania społeczne</a:t>
            </a:r>
            <a:endParaRPr lang="pl-PL" sz="1300" b="0" u="none" strike="noStrike">
              <a:solidFill>
                <a:srgbClr val="000000"/>
              </a:solidFill>
              <a:effectLst/>
              <a:uFillTx/>
              <a:latin typeface="Arial"/>
            </a:endParaRPr>
          </a:p>
        </p:txBody>
      </p:sp>
      <p:sp>
        <p:nvSpPr>
          <p:cNvPr id="869" name="Text 427"/>
          <p:cNvSpPr/>
          <p:nvPr/>
        </p:nvSpPr>
        <p:spPr>
          <a:xfrm>
            <a:off x="5342400" y="1895040"/>
            <a:ext cx="1410120" cy="32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1" u="none" strike="noStrike">
                <a:solidFill>
                  <a:srgbClr val="2D7DD2"/>
                </a:solidFill>
                <a:effectLst/>
                <a:uFillTx/>
                <a:latin typeface="Consolas" panose="020B0609020204030204" pitchFamily="49" charset="0"/>
                <a:ea typeface="Calibri"/>
              </a:rPr>
              <a:t>Pepper</a:t>
            </a:r>
            <a:endParaRPr lang="pl-PL" sz="1600" b="0" u="none" strike="noStrike">
              <a:solidFill>
                <a:srgbClr val="000000"/>
              </a:solidFill>
              <a:effectLst/>
              <a:uFillTx/>
              <a:latin typeface="Consolas" panose="020B0609020204030204" pitchFamily="49" charset="0"/>
            </a:endParaRPr>
          </a:p>
        </p:txBody>
      </p:sp>
      <p:sp>
        <p:nvSpPr>
          <p:cNvPr id="870" name="Text 428"/>
          <p:cNvSpPr/>
          <p:nvPr/>
        </p:nvSpPr>
        <p:spPr>
          <a:xfrm>
            <a:off x="6804360" y="1895040"/>
            <a:ext cx="2836440" cy="32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300" b="0" i="1" u="none" strike="noStrike">
                <a:solidFill>
                  <a:srgbClr val="4A5280"/>
                </a:solidFill>
                <a:effectLst/>
                <a:uFillTx/>
                <a:latin typeface="Calibri"/>
                <a:ea typeface="Calibri"/>
              </a:rPr>
              <a:t>interakcja w przestrzeniach publicznych</a:t>
            </a:r>
            <a:endParaRPr lang="pl-PL" sz="1300" b="0" u="none" strike="noStrike">
              <a:solidFill>
                <a:srgbClr val="000000"/>
              </a:solidFill>
              <a:effectLst/>
              <a:uFillTx/>
              <a:latin typeface="Arial"/>
            </a:endParaRPr>
          </a:p>
        </p:txBody>
      </p:sp>
      <p:sp>
        <p:nvSpPr>
          <p:cNvPr id="871" name="Text 429"/>
          <p:cNvSpPr/>
          <p:nvPr/>
        </p:nvSpPr>
        <p:spPr>
          <a:xfrm>
            <a:off x="5342400" y="2227680"/>
            <a:ext cx="1410120" cy="32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1" u="none" strike="noStrike">
                <a:solidFill>
                  <a:srgbClr val="2D7DD2"/>
                </a:solidFill>
                <a:effectLst/>
                <a:uFillTx/>
                <a:latin typeface="Consolas" panose="020B0609020204030204" pitchFamily="49" charset="0"/>
                <a:ea typeface="Calibri"/>
              </a:rPr>
              <a:t>Furhat</a:t>
            </a:r>
            <a:endParaRPr lang="pl-PL" sz="1600" b="0" u="none" strike="noStrike">
              <a:solidFill>
                <a:srgbClr val="000000"/>
              </a:solidFill>
              <a:effectLst/>
              <a:uFillTx/>
              <a:latin typeface="Consolas" panose="020B0609020204030204" pitchFamily="49" charset="0"/>
            </a:endParaRPr>
          </a:p>
        </p:txBody>
      </p:sp>
      <p:sp>
        <p:nvSpPr>
          <p:cNvPr id="872" name="Text 430"/>
          <p:cNvSpPr/>
          <p:nvPr/>
        </p:nvSpPr>
        <p:spPr>
          <a:xfrm>
            <a:off x="6804360" y="2227680"/>
            <a:ext cx="2770920" cy="32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300" b="0" i="1" u="none" strike="noStrike">
                <a:solidFill>
                  <a:srgbClr val="4A5280"/>
                </a:solidFill>
                <a:effectLst/>
                <a:uFillTx/>
                <a:latin typeface="Calibri"/>
                <a:ea typeface="Calibri"/>
              </a:rPr>
              <a:t>głowa robotyczna, dialog</a:t>
            </a:r>
            <a:endParaRPr lang="pl-PL" sz="1300" b="0" u="none" strike="noStrike">
              <a:solidFill>
                <a:srgbClr val="000000"/>
              </a:solidFill>
              <a:effectLst/>
              <a:uFillTx/>
              <a:latin typeface="Arial"/>
            </a:endParaRPr>
          </a:p>
        </p:txBody>
      </p:sp>
      <p:sp>
        <p:nvSpPr>
          <p:cNvPr id="873" name="Text 431"/>
          <p:cNvSpPr/>
          <p:nvPr/>
        </p:nvSpPr>
        <p:spPr>
          <a:xfrm>
            <a:off x="5342400" y="2560680"/>
            <a:ext cx="1410120" cy="32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1" u="none" strike="noStrike">
                <a:solidFill>
                  <a:srgbClr val="2D7DD2"/>
                </a:solidFill>
                <a:effectLst/>
                <a:uFillTx/>
                <a:latin typeface="Consolas" panose="020B0609020204030204" pitchFamily="49" charset="0"/>
                <a:ea typeface="Calibri"/>
              </a:rPr>
              <a:t>iCub</a:t>
            </a:r>
            <a:endParaRPr lang="pl-PL" sz="1600" b="0" u="none" strike="noStrike">
              <a:solidFill>
                <a:srgbClr val="000000"/>
              </a:solidFill>
              <a:effectLst/>
              <a:uFillTx/>
              <a:latin typeface="Consolas" panose="020B0609020204030204" pitchFamily="49" charset="0"/>
            </a:endParaRPr>
          </a:p>
        </p:txBody>
      </p:sp>
      <p:sp>
        <p:nvSpPr>
          <p:cNvPr id="874" name="Text 432"/>
          <p:cNvSpPr/>
          <p:nvPr/>
        </p:nvSpPr>
        <p:spPr>
          <a:xfrm>
            <a:off x="6804360" y="2560680"/>
            <a:ext cx="2770920" cy="32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300" b="0" i="1" u="none" strike="noStrike" dirty="0">
                <a:solidFill>
                  <a:srgbClr val="4A5280"/>
                </a:solidFill>
                <a:effectLst/>
                <a:uFillTx/>
                <a:latin typeface="Calibri"/>
                <a:ea typeface="Calibri"/>
              </a:rPr>
              <a:t>platforma badawcza open-</a:t>
            </a:r>
            <a:r>
              <a:rPr lang="pl-PL" sz="1300" b="0" i="1" u="none" strike="noStrike" dirty="0" err="1">
                <a:solidFill>
                  <a:srgbClr val="4A5280"/>
                </a:solidFill>
                <a:effectLst/>
                <a:uFillTx/>
                <a:latin typeface="Calibri"/>
                <a:ea typeface="Calibri"/>
              </a:rPr>
              <a:t>source</a:t>
            </a:r>
            <a:endParaRPr lang="pl-PL" sz="1300" b="0" u="none" strike="noStrike" dirty="0">
              <a:solidFill>
                <a:srgbClr val="000000"/>
              </a:solidFill>
              <a:effectLst/>
              <a:uFillTx/>
              <a:latin typeface="Arial"/>
            </a:endParaRPr>
          </a:p>
        </p:txBody>
      </p:sp>
      <p:sp>
        <p:nvSpPr>
          <p:cNvPr id="875" name="Text 433"/>
          <p:cNvSpPr/>
          <p:nvPr/>
        </p:nvSpPr>
        <p:spPr>
          <a:xfrm>
            <a:off x="5342400" y="2892960"/>
            <a:ext cx="1410120" cy="32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1" u="none" strike="noStrike" dirty="0" err="1">
                <a:solidFill>
                  <a:srgbClr val="2D7DD2"/>
                </a:solidFill>
                <a:effectLst/>
                <a:uFillTx/>
                <a:latin typeface="Consolas" panose="020B0609020204030204" pitchFamily="49" charset="0"/>
                <a:ea typeface="Calibri"/>
              </a:rPr>
              <a:t>Unitree</a:t>
            </a:r>
            <a:r>
              <a:rPr lang="pl-PL" sz="1600" b="1" u="none" strike="noStrike" dirty="0">
                <a:solidFill>
                  <a:srgbClr val="2D7DD2"/>
                </a:solidFill>
                <a:effectLst/>
                <a:uFillTx/>
                <a:latin typeface="Consolas" panose="020B0609020204030204" pitchFamily="49" charset="0"/>
                <a:ea typeface="Calibri"/>
              </a:rPr>
              <a:t> G1</a:t>
            </a:r>
            <a:endParaRPr lang="pl-PL" sz="1600" b="0" u="none" strike="noStrike" dirty="0">
              <a:solidFill>
                <a:srgbClr val="000000"/>
              </a:solidFill>
              <a:effectLst/>
              <a:uFillTx/>
              <a:latin typeface="Consolas" panose="020B0609020204030204" pitchFamily="49" charset="0"/>
            </a:endParaRPr>
          </a:p>
        </p:txBody>
      </p:sp>
      <p:sp>
        <p:nvSpPr>
          <p:cNvPr id="876" name="Text 434"/>
          <p:cNvSpPr/>
          <p:nvPr/>
        </p:nvSpPr>
        <p:spPr>
          <a:xfrm>
            <a:off x="6804360" y="2892960"/>
            <a:ext cx="2770920" cy="32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300" b="0" i="1" u="none" strike="noStrike">
                <a:solidFill>
                  <a:srgbClr val="4A5280"/>
                </a:solidFill>
                <a:effectLst/>
                <a:uFillTx/>
                <a:latin typeface="Calibri"/>
                <a:ea typeface="Calibri"/>
              </a:rPr>
              <a:t>lokomocja, badania motoryczne</a:t>
            </a:r>
            <a:endParaRPr lang="pl-PL" sz="1300" b="0" u="none" strike="noStrike">
              <a:solidFill>
                <a:srgbClr val="000000"/>
              </a:solidFill>
              <a:effectLst/>
              <a:uFillTx/>
              <a:latin typeface="Arial"/>
            </a:endParaRPr>
          </a:p>
        </p:txBody>
      </p:sp>
      <p:sp>
        <p:nvSpPr>
          <p:cNvPr id="877" name="Shape 397"/>
          <p:cNvSpPr/>
          <p:nvPr/>
        </p:nvSpPr>
        <p:spPr>
          <a:xfrm>
            <a:off x="403200" y="3578760"/>
            <a:ext cx="9273240" cy="684360"/>
          </a:xfrm>
          <a:prstGeom prst="roundRect">
            <a:avLst>
              <a:gd name="adj" fmla="val 14706"/>
            </a:avLst>
          </a:prstGeom>
          <a:solidFill>
            <a:srgbClr val="EEF3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878" name="Text 435"/>
          <p:cNvSpPr/>
          <p:nvPr/>
        </p:nvSpPr>
        <p:spPr>
          <a:xfrm>
            <a:off x="554400" y="3608640"/>
            <a:ext cx="2115720" cy="623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400" b="1" u="none" strike="noStrike" dirty="0">
                <a:solidFill>
                  <a:srgbClr val="1E2761"/>
                </a:solidFill>
                <a:effectLst/>
                <a:uFillTx/>
                <a:latin typeface="Cambria"/>
                <a:ea typeface="Cambria"/>
              </a:rPr>
              <a:t>Zastosowania badawcze:</a:t>
            </a:r>
            <a:endParaRPr lang="pl-PL" sz="1400" b="0" u="none" strike="noStrike" dirty="0">
              <a:solidFill>
                <a:srgbClr val="000000"/>
              </a:solidFill>
              <a:effectLst/>
              <a:uFillTx/>
              <a:latin typeface="Arial"/>
            </a:endParaRPr>
          </a:p>
        </p:txBody>
      </p:sp>
      <p:sp>
        <p:nvSpPr>
          <p:cNvPr id="879" name="Shape 398"/>
          <p:cNvSpPr/>
          <p:nvPr/>
        </p:nvSpPr>
        <p:spPr>
          <a:xfrm>
            <a:off x="2772000" y="3689280"/>
            <a:ext cx="1561320" cy="422280"/>
          </a:xfrm>
          <a:prstGeom prst="roundRect">
            <a:avLst>
              <a:gd name="adj" fmla="val 16667"/>
            </a:avLst>
          </a:prstGeom>
          <a:solidFill>
            <a:srgbClr val="1E276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880" name="Text 436"/>
          <p:cNvSpPr/>
          <p:nvPr/>
        </p:nvSpPr>
        <p:spPr>
          <a:xfrm>
            <a:off x="2772000" y="3689280"/>
            <a:ext cx="1561320" cy="422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5000"/>
              </a:lnSpc>
              <a:tabLst>
                <a:tab pos="0" algn="l"/>
              </a:tabLst>
            </a:pPr>
            <a:r>
              <a:rPr lang="pl-PL" sz="1200" b="0" u="none" strike="noStrike" dirty="0">
                <a:solidFill>
                  <a:srgbClr val="FFFFFF"/>
                </a:solidFill>
                <a:effectLst/>
                <a:uFillTx/>
                <a:latin typeface="Calibri"/>
                <a:ea typeface="Calibri"/>
              </a:rPr>
              <a:t>Efekt niesamowitej doliny</a:t>
            </a:r>
            <a:endParaRPr lang="pl-PL" sz="1200" b="0" u="none" strike="noStrike" dirty="0">
              <a:solidFill>
                <a:srgbClr val="000000"/>
              </a:solidFill>
              <a:effectLst/>
              <a:uFillTx/>
              <a:latin typeface="Arial"/>
            </a:endParaRPr>
          </a:p>
        </p:txBody>
      </p:sp>
      <p:sp>
        <p:nvSpPr>
          <p:cNvPr id="881" name="Shape 399"/>
          <p:cNvSpPr/>
          <p:nvPr/>
        </p:nvSpPr>
        <p:spPr>
          <a:xfrm>
            <a:off x="4435200" y="3689280"/>
            <a:ext cx="1561320" cy="422280"/>
          </a:xfrm>
          <a:prstGeom prst="roundRect">
            <a:avLst>
              <a:gd name="adj" fmla="val 16667"/>
            </a:avLst>
          </a:prstGeom>
          <a:solidFill>
            <a:srgbClr val="1E276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882" name="Text 437"/>
          <p:cNvSpPr/>
          <p:nvPr/>
        </p:nvSpPr>
        <p:spPr>
          <a:xfrm>
            <a:off x="4435200" y="3689280"/>
            <a:ext cx="1561320" cy="422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5000"/>
              </a:lnSpc>
              <a:tabLst>
                <a:tab pos="0" algn="l"/>
              </a:tabLst>
            </a:pPr>
            <a:r>
              <a:rPr lang="pl-PL" sz="1200" b="0" u="none" strike="noStrike">
                <a:solidFill>
                  <a:srgbClr val="FFFFFF"/>
                </a:solidFill>
                <a:effectLst/>
                <a:uFillTx/>
                <a:latin typeface="Calibri"/>
                <a:ea typeface="Calibri"/>
              </a:rPr>
              <a:t>Empatia wobec robotów</a:t>
            </a:r>
            <a:endParaRPr lang="pl-PL" sz="1200" b="0" u="none" strike="noStrike">
              <a:solidFill>
                <a:srgbClr val="000000"/>
              </a:solidFill>
              <a:effectLst/>
              <a:uFillTx/>
              <a:latin typeface="Arial"/>
            </a:endParaRPr>
          </a:p>
        </p:txBody>
      </p:sp>
      <p:sp>
        <p:nvSpPr>
          <p:cNvPr id="883" name="Shape 400"/>
          <p:cNvSpPr/>
          <p:nvPr/>
        </p:nvSpPr>
        <p:spPr>
          <a:xfrm>
            <a:off x="6098760" y="3689280"/>
            <a:ext cx="1561320" cy="422280"/>
          </a:xfrm>
          <a:prstGeom prst="roundRect">
            <a:avLst>
              <a:gd name="adj" fmla="val 16667"/>
            </a:avLst>
          </a:prstGeom>
          <a:solidFill>
            <a:srgbClr val="1E276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884" name="Text 438"/>
          <p:cNvSpPr/>
          <p:nvPr/>
        </p:nvSpPr>
        <p:spPr>
          <a:xfrm>
            <a:off x="6098760" y="3689280"/>
            <a:ext cx="1561320" cy="422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5000"/>
              </a:lnSpc>
              <a:tabLst>
                <a:tab pos="0" algn="l"/>
              </a:tabLst>
            </a:pPr>
            <a:r>
              <a:rPr lang="pl-PL" sz="1200" b="0" u="none" strike="noStrike">
                <a:solidFill>
                  <a:srgbClr val="FFFFFF"/>
                </a:solidFill>
                <a:effectLst/>
                <a:uFillTx/>
                <a:latin typeface="Calibri"/>
                <a:ea typeface="Calibri"/>
              </a:rPr>
              <a:t>Terapia ASD</a:t>
            </a:r>
            <a:endParaRPr lang="pl-PL" sz="1200" b="0" u="none" strike="noStrike">
              <a:solidFill>
                <a:srgbClr val="000000"/>
              </a:solidFill>
              <a:effectLst/>
              <a:uFillTx/>
              <a:latin typeface="Arial"/>
            </a:endParaRPr>
          </a:p>
        </p:txBody>
      </p:sp>
      <p:sp>
        <p:nvSpPr>
          <p:cNvPr id="885" name="Shape 401"/>
          <p:cNvSpPr/>
          <p:nvPr/>
        </p:nvSpPr>
        <p:spPr>
          <a:xfrm>
            <a:off x="7761960" y="3689280"/>
            <a:ext cx="1561320" cy="422280"/>
          </a:xfrm>
          <a:prstGeom prst="roundRect">
            <a:avLst>
              <a:gd name="adj" fmla="val 16667"/>
            </a:avLst>
          </a:prstGeom>
          <a:solidFill>
            <a:srgbClr val="1E276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886" name="Text 439"/>
          <p:cNvSpPr/>
          <p:nvPr/>
        </p:nvSpPr>
        <p:spPr>
          <a:xfrm>
            <a:off x="7761960" y="3689280"/>
            <a:ext cx="1561320" cy="422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5000"/>
              </a:lnSpc>
              <a:tabLst>
                <a:tab pos="0" algn="l"/>
              </a:tabLst>
            </a:pPr>
            <a:r>
              <a:rPr lang="pl-PL" sz="1200" b="0" u="none" strike="noStrike">
                <a:solidFill>
                  <a:srgbClr val="FFFFFF"/>
                </a:solidFill>
                <a:effectLst/>
                <a:uFillTx/>
                <a:latin typeface="Calibri"/>
                <a:ea typeface="Calibri"/>
              </a:rPr>
              <a:t>Decyzje i krytyka</a:t>
            </a:r>
            <a:endParaRPr lang="pl-PL" sz="1200" b="0" u="none" strike="noStrike">
              <a:solidFill>
                <a:srgbClr val="000000"/>
              </a:solidFill>
              <a:effectLst/>
              <a:uFillTx/>
              <a:latin typeface="Arial"/>
            </a:endParaRPr>
          </a:p>
        </p:txBody>
      </p:sp>
      <p:sp>
        <p:nvSpPr>
          <p:cNvPr id="887" name="Shape 402"/>
          <p:cNvSpPr/>
          <p:nvPr/>
        </p:nvSpPr>
        <p:spPr>
          <a:xfrm>
            <a:off x="403200" y="4435560"/>
            <a:ext cx="4535280" cy="1057320"/>
          </a:xfrm>
          <a:prstGeom prst="roundRect">
            <a:avLst>
              <a:gd name="adj" fmla="val 9524"/>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400" b="0" u="none" strike="noStrike">
              <a:solidFill>
                <a:srgbClr val="000000"/>
              </a:solidFill>
              <a:effectLst/>
              <a:uFillTx/>
              <a:latin typeface="Arial"/>
            </a:endParaRPr>
          </a:p>
        </p:txBody>
      </p:sp>
      <p:sp>
        <p:nvSpPr>
          <p:cNvPr id="888" name="Text 440"/>
          <p:cNvSpPr/>
          <p:nvPr/>
        </p:nvSpPr>
        <p:spPr>
          <a:xfrm>
            <a:off x="497520" y="4465429"/>
            <a:ext cx="4232880" cy="30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800" b="1" u="none" strike="noStrike" dirty="0">
                <a:solidFill>
                  <a:srgbClr val="1E2761"/>
                </a:solidFill>
                <a:effectLst/>
                <a:uFillTx/>
                <a:latin typeface="Cambria"/>
                <a:ea typeface="Cambria"/>
              </a:rPr>
              <a:t>Co rejestrujemy</a:t>
            </a:r>
            <a:endParaRPr lang="pl-PL" sz="1800" b="0" u="none" strike="noStrike" dirty="0">
              <a:solidFill>
                <a:srgbClr val="000000"/>
              </a:solidFill>
              <a:effectLst/>
              <a:uFillTx/>
              <a:latin typeface="Arial"/>
            </a:endParaRPr>
          </a:p>
        </p:txBody>
      </p:sp>
      <p:sp>
        <p:nvSpPr>
          <p:cNvPr id="889" name="Text 441"/>
          <p:cNvSpPr/>
          <p:nvPr/>
        </p:nvSpPr>
        <p:spPr>
          <a:xfrm>
            <a:off x="497520" y="4854240"/>
            <a:ext cx="4440960" cy="603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tabLst>
                <a:tab pos="0" algn="l"/>
              </a:tabLst>
            </a:pPr>
            <a:r>
              <a:rPr lang="pl-PL" sz="1600" b="0" u="none" strike="noStrike" dirty="0">
                <a:solidFill>
                  <a:srgbClr val="1A1F3C"/>
                </a:solidFill>
                <a:effectLst/>
                <a:uFillTx/>
                <a:latin typeface="Calibri"/>
                <a:ea typeface="Calibri"/>
              </a:rPr>
              <a:t>Mimika uczestnika · EDA · </a:t>
            </a:r>
            <a:r>
              <a:rPr lang="pl-PL" sz="1600" b="0" u="none" strike="noStrike" dirty="0" err="1">
                <a:solidFill>
                  <a:srgbClr val="1A1F3C"/>
                </a:solidFill>
                <a:effectLst/>
                <a:uFillTx/>
                <a:latin typeface="Calibri"/>
                <a:ea typeface="Calibri"/>
              </a:rPr>
              <a:t>eye-tracking</a:t>
            </a:r>
            <a:r>
              <a:rPr lang="pl-PL" sz="1600" b="0" u="none" strike="noStrike" dirty="0">
                <a:solidFill>
                  <a:srgbClr val="1A1F3C"/>
                </a:solidFill>
                <a:effectLst/>
                <a:uFillTx/>
                <a:latin typeface="Calibri"/>
                <a:ea typeface="Calibri"/>
              </a:rPr>
              <a:t> · </a:t>
            </a:r>
          </a:p>
          <a:p>
            <a:pPr defTabSz="914400">
              <a:tabLst>
                <a:tab pos="0" algn="l"/>
              </a:tabLst>
            </a:pPr>
            <a:r>
              <a:rPr lang="pl-PL" sz="1600" b="0" u="none" strike="noStrike" dirty="0">
                <a:solidFill>
                  <a:srgbClr val="1A1F3C"/>
                </a:solidFill>
                <a:effectLst/>
                <a:uFillTx/>
                <a:latin typeface="Calibri"/>
                <a:ea typeface="Calibri"/>
              </a:rPr>
              <a:t>mowa · czas reakcji</a:t>
            </a:r>
            <a:endParaRPr lang="pl-PL" sz="1600" b="0" u="none" strike="noStrike" dirty="0">
              <a:solidFill>
                <a:srgbClr val="000000"/>
              </a:solidFill>
              <a:effectLst/>
              <a:uFillTx/>
              <a:latin typeface="Arial"/>
            </a:endParaRPr>
          </a:p>
        </p:txBody>
      </p:sp>
      <p:sp>
        <p:nvSpPr>
          <p:cNvPr id="890" name="Shape 403"/>
          <p:cNvSpPr/>
          <p:nvPr/>
        </p:nvSpPr>
        <p:spPr>
          <a:xfrm>
            <a:off x="5141160" y="4435560"/>
            <a:ext cx="4535280" cy="1057320"/>
          </a:xfrm>
          <a:prstGeom prst="roundRect">
            <a:avLst>
              <a:gd name="adj" fmla="val 9524"/>
            </a:avLst>
          </a:prstGeom>
          <a:solidFill>
            <a:srgbClr val="FFF3CD"/>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400" b="0" u="none" strike="noStrike">
              <a:solidFill>
                <a:srgbClr val="000000"/>
              </a:solidFill>
              <a:effectLst/>
              <a:uFillTx/>
              <a:latin typeface="Arial"/>
            </a:endParaRPr>
          </a:p>
        </p:txBody>
      </p:sp>
      <p:sp>
        <p:nvSpPr>
          <p:cNvPr id="891" name="Text 442"/>
          <p:cNvSpPr/>
          <p:nvPr/>
        </p:nvSpPr>
        <p:spPr>
          <a:xfrm>
            <a:off x="5214960" y="4456406"/>
            <a:ext cx="4232880" cy="30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800" b="1" u="none" strike="noStrike" dirty="0">
                <a:solidFill>
                  <a:srgbClr val="7B4F00"/>
                </a:solidFill>
                <a:effectLst/>
                <a:uFillTx/>
                <a:latin typeface="Cambria"/>
                <a:ea typeface="Cambria"/>
              </a:rPr>
              <a:t>Wyzwanie techniczne</a:t>
            </a:r>
            <a:endParaRPr lang="pl-PL" sz="1800" b="0" u="none" strike="noStrike" dirty="0">
              <a:solidFill>
                <a:srgbClr val="000000"/>
              </a:solidFill>
              <a:effectLst/>
              <a:uFillTx/>
              <a:latin typeface="Arial"/>
            </a:endParaRPr>
          </a:p>
        </p:txBody>
      </p:sp>
      <p:sp>
        <p:nvSpPr>
          <p:cNvPr id="892" name="Text 443"/>
          <p:cNvSpPr/>
          <p:nvPr/>
        </p:nvSpPr>
        <p:spPr>
          <a:xfrm>
            <a:off x="5156903" y="4818240"/>
            <a:ext cx="4531383" cy="603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20000"/>
              </a:lnSpc>
              <a:tabLst>
                <a:tab pos="0" algn="l"/>
              </a:tabLst>
            </a:pPr>
            <a:r>
              <a:rPr lang="pl-PL" sz="1400" b="0" u="none" strike="noStrike" spc="-20" dirty="0">
                <a:solidFill>
                  <a:srgbClr val="7B4F00"/>
                </a:solidFill>
                <a:effectLst/>
                <a:uFillTx/>
                <a:latin typeface="Calibri"/>
                <a:ea typeface="Calibri"/>
              </a:rPr>
              <a:t>Precyzyjne, </a:t>
            </a:r>
            <a:r>
              <a:rPr lang="pl-PL" sz="1400" b="0" u="none" strike="noStrike" spc="-20" dirty="0" err="1">
                <a:solidFill>
                  <a:srgbClr val="7B4F00"/>
                </a:solidFill>
                <a:effectLst/>
                <a:uFillTx/>
                <a:latin typeface="Calibri"/>
                <a:ea typeface="Calibri"/>
              </a:rPr>
              <a:t>replikowalne</a:t>
            </a:r>
            <a:r>
              <a:rPr lang="pl-PL" sz="1400" b="0" u="none" strike="noStrike" spc="-20" dirty="0">
                <a:solidFill>
                  <a:srgbClr val="7B4F00"/>
                </a:solidFill>
                <a:effectLst/>
                <a:uFillTx/>
                <a:latin typeface="Calibri"/>
                <a:ea typeface="Calibri"/>
              </a:rPr>
              <a:t> zachowania robota wymagają znajomości ROS2, SDK producenta lub systemów dialogowych</a:t>
            </a:r>
            <a:endParaRPr lang="pl-PL" sz="1400" b="0" u="none" strike="noStrike" spc="-20" dirty="0">
              <a:solidFill>
                <a:srgbClr val="000000"/>
              </a:solidFill>
              <a:effectLst/>
              <a:uFillTx/>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893" name="Shape 404"/>
          <p:cNvSpPr/>
          <p:nvPr/>
        </p:nvSpPr>
        <p:spPr>
          <a:xfrm>
            <a:off x="360" y="360"/>
            <a:ext cx="10079640" cy="1006920"/>
          </a:xfrm>
          <a:prstGeom prst="rect">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894" name="Text 444"/>
          <p:cNvSpPr/>
          <p:nvPr/>
        </p:nvSpPr>
        <p:spPr>
          <a:xfrm>
            <a:off x="453240" y="70560"/>
            <a:ext cx="917244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defTabSz="914400">
              <a:lnSpc>
                <a:spcPct val="100000"/>
              </a:lnSpc>
              <a:tabLst>
                <a:tab pos="0" algn="l"/>
              </a:tabLst>
            </a:pPr>
            <a:r>
              <a:rPr lang="pl-PL" sz="2400" b="1" u="none" strike="noStrike">
                <a:solidFill>
                  <a:srgbClr val="FFFFFF"/>
                </a:solidFill>
                <a:effectLst/>
                <a:uFillTx/>
                <a:latin typeface="Cambria"/>
                <a:ea typeface="Cambria"/>
              </a:rPr>
              <a:t>DANE MULTIMODALNE</a:t>
            </a:r>
            <a:endParaRPr lang="pl-PL" sz="2400" b="0" u="none" strike="noStrike">
              <a:solidFill>
                <a:srgbClr val="000000"/>
              </a:solidFill>
              <a:effectLst/>
              <a:uFillTx/>
              <a:latin typeface="Arial"/>
            </a:endParaRPr>
          </a:p>
        </p:txBody>
      </p:sp>
      <p:sp>
        <p:nvSpPr>
          <p:cNvPr id="895" name="Text 445"/>
          <p:cNvSpPr/>
          <p:nvPr/>
        </p:nvSpPr>
        <p:spPr>
          <a:xfrm>
            <a:off x="453240" y="594720"/>
            <a:ext cx="9172440" cy="331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pl-PL" sz="1400" b="0" i="1" u="none" strike="noStrike">
                <a:solidFill>
                  <a:srgbClr val="CADCFC"/>
                </a:solidFill>
                <a:effectLst/>
                <a:uFillTx/>
                <a:latin typeface="Calibri"/>
                <a:ea typeface="Calibri"/>
              </a:rPr>
              <a:t>Integracja sygnałów: synchronizacja i wspólna oś czasu</a:t>
            </a:r>
            <a:endParaRPr lang="pl-PL" sz="1400" b="0" u="none" strike="noStrike">
              <a:solidFill>
                <a:srgbClr val="000000"/>
              </a:solidFill>
              <a:effectLst/>
              <a:uFillTx/>
              <a:latin typeface="Arial"/>
            </a:endParaRPr>
          </a:p>
        </p:txBody>
      </p:sp>
      <p:sp>
        <p:nvSpPr>
          <p:cNvPr id="896" name="Shape 405"/>
          <p:cNvSpPr/>
          <p:nvPr/>
        </p:nvSpPr>
        <p:spPr>
          <a:xfrm>
            <a:off x="403200" y="1108800"/>
            <a:ext cx="9273240" cy="2972520"/>
          </a:xfrm>
          <a:prstGeom prst="roundRect">
            <a:avLst>
              <a:gd name="adj" fmla="val 3390"/>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897" name="Text 446"/>
          <p:cNvSpPr/>
          <p:nvPr/>
        </p:nvSpPr>
        <p:spPr>
          <a:xfrm>
            <a:off x="554400" y="1168920"/>
            <a:ext cx="1510920" cy="32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800" b="1" u="none" strike="noStrike">
                <a:solidFill>
                  <a:srgbClr val="1A1F3C"/>
                </a:solidFill>
                <a:effectLst/>
                <a:uFillTx/>
                <a:latin typeface="Calibri"/>
                <a:ea typeface="Calibri"/>
              </a:rPr>
              <a:t>EEG</a:t>
            </a:r>
            <a:endParaRPr lang="pl-PL" sz="1800" b="0" u="none" strike="noStrike">
              <a:solidFill>
                <a:srgbClr val="000000"/>
              </a:solidFill>
              <a:effectLst/>
              <a:uFillTx/>
              <a:latin typeface="Arial"/>
            </a:endParaRPr>
          </a:p>
        </p:txBody>
      </p:sp>
      <p:sp>
        <p:nvSpPr>
          <p:cNvPr id="898" name="Text 447"/>
          <p:cNvSpPr/>
          <p:nvPr/>
        </p:nvSpPr>
        <p:spPr>
          <a:xfrm>
            <a:off x="554400" y="1451520"/>
            <a:ext cx="1510920" cy="22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400" b="0" i="1" u="none" strike="noStrike">
                <a:solidFill>
                  <a:srgbClr val="8A93C0"/>
                </a:solidFill>
                <a:effectLst/>
                <a:uFillTx/>
                <a:latin typeface="Calibri"/>
                <a:ea typeface="Calibri"/>
              </a:rPr>
              <a:t>512 Hz</a:t>
            </a:r>
            <a:endParaRPr lang="pl-PL" sz="1400" b="0" u="none" strike="noStrike">
              <a:solidFill>
                <a:srgbClr val="000000"/>
              </a:solidFill>
              <a:effectLst/>
              <a:uFillTx/>
              <a:latin typeface="Arial"/>
            </a:endParaRPr>
          </a:p>
        </p:txBody>
      </p:sp>
      <p:sp>
        <p:nvSpPr>
          <p:cNvPr id="899" name="Shape 406"/>
          <p:cNvSpPr/>
          <p:nvPr/>
        </p:nvSpPr>
        <p:spPr>
          <a:xfrm>
            <a:off x="2116800" y="1330200"/>
            <a:ext cx="6955560" cy="360"/>
          </a:xfrm>
          <a:prstGeom prst="line">
            <a:avLst/>
          </a:prstGeom>
          <a:ln w="31750">
            <a:solidFill>
              <a:srgbClr val="1E276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000000"/>
              </a:solidFill>
              <a:effectLst/>
              <a:uFillTx/>
              <a:latin typeface="Arial"/>
            </a:endParaRPr>
          </a:p>
        </p:txBody>
      </p:sp>
      <p:sp>
        <p:nvSpPr>
          <p:cNvPr id="900" name="Shape 407"/>
          <p:cNvSpPr/>
          <p:nvPr/>
        </p:nvSpPr>
        <p:spPr>
          <a:xfrm>
            <a:off x="2116800" y="1260000"/>
            <a:ext cx="360" cy="140760"/>
          </a:xfrm>
          <a:prstGeom prst="line">
            <a:avLst/>
          </a:prstGeom>
          <a:ln w="1905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pl-PL" sz="1800" b="0" u="none" strike="noStrike">
              <a:solidFill>
                <a:srgbClr val="000000"/>
              </a:solidFill>
              <a:effectLst/>
              <a:uFillTx/>
              <a:latin typeface="Arial"/>
            </a:endParaRPr>
          </a:p>
        </p:txBody>
      </p:sp>
      <p:sp>
        <p:nvSpPr>
          <p:cNvPr id="901" name="Shape 408"/>
          <p:cNvSpPr/>
          <p:nvPr/>
        </p:nvSpPr>
        <p:spPr>
          <a:xfrm>
            <a:off x="3477600" y="1260000"/>
            <a:ext cx="360" cy="140760"/>
          </a:xfrm>
          <a:prstGeom prst="line">
            <a:avLst/>
          </a:prstGeom>
          <a:ln w="1905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pl-PL" sz="1800" b="0" u="none" strike="noStrike">
              <a:solidFill>
                <a:srgbClr val="000000"/>
              </a:solidFill>
              <a:effectLst/>
              <a:uFillTx/>
              <a:latin typeface="Arial"/>
            </a:endParaRPr>
          </a:p>
        </p:txBody>
      </p:sp>
      <p:sp>
        <p:nvSpPr>
          <p:cNvPr id="902" name="Shape 409"/>
          <p:cNvSpPr/>
          <p:nvPr/>
        </p:nvSpPr>
        <p:spPr>
          <a:xfrm>
            <a:off x="4838760" y="1260000"/>
            <a:ext cx="360" cy="140760"/>
          </a:xfrm>
          <a:prstGeom prst="line">
            <a:avLst/>
          </a:prstGeom>
          <a:ln w="1905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pl-PL" sz="1800" b="0" u="none" strike="noStrike">
              <a:solidFill>
                <a:srgbClr val="000000"/>
              </a:solidFill>
              <a:effectLst/>
              <a:uFillTx/>
              <a:latin typeface="Arial"/>
            </a:endParaRPr>
          </a:p>
        </p:txBody>
      </p:sp>
      <p:sp>
        <p:nvSpPr>
          <p:cNvPr id="903" name="Shape 410"/>
          <p:cNvSpPr/>
          <p:nvPr/>
        </p:nvSpPr>
        <p:spPr>
          <a:xfrm>
            <a:off x="6199560" y="1260000"/>
            <a:ext cx="360" cy="140760"/>
          </a:xfrm>
          <a:prstGeom prst="line">
            <a:avLst/>
          </a:prstGeom>
          <a:ln w="1905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pl-PL" sz="1800" b="0" u="none" strike="noStrike">
              <a:solidFill>
                <a:srgbClr val="000000"/>
              </a:solidFill>
              <a:effectLst/>
              <a:uFillTx/>
              <a:latin typeface="Arial"/>
            </a:endParaRPr>
          </a:p>
        </p:txBody>
      </p:sp>
      <p:sp>
        <p:nvSpPr>
          <p:cNvPr id="904" name="Shape 411"/>
          <p:cNvSpPr/>
          <p:nvPr/>
        </p:nvSpPr>
        <p:spPr>
          <a:xfrm>
            <a:off x="7560360" y="1260000"/>
            <a:ext cx="360" cy="140760"/>
          </a:xfrm>
          <a:prstGeom prst="line">
            <a:avLst/>
          </a:prstGeom>
          <a:ln w="1905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pl-PL" sz="1800" b="0" u="none" strike="noStrike">
              <a:solidFill>
                <a:srgbClr val="000000"/>
              </a:solidFill>
              <a:effectLst/>
              <a:uFillTx/>
              <a:latin typeface="Arial"/>
            </a:endParaRPr>
          </a:p>
        </p:txBody>
      </p:sp>
      <p:sp>
        <p:nvSpPr>
          <p:cNvPr id="905" name="Shape 412"/>
          <p:cNvSpPr/>
          <p:nvPr/>
        </p:nvSpPr>
        <p:spPr>
          <a:xfrm>
            <a:off x="8921520" y="1260000"/>
            <a:ext cx="360" cy="140760"/>
          </a:xfrm>
          <a:prstGeom prst="line">
            <a:avLst/>
          </a:prstGeom>
          <a:ln w="1905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pl-PL" sz="1800" b="0" u="none" strike="noStrike">
              <a:solidFill>
                <a:srgbClr val="000000"/>
              </a:solidFill>
              <a:effectLst/>
              <a:uFillTx/>
              <a:latin typeface="Arial"/>
            </a:endParaRPr>
          </a:p>
        </p:txBody>
      </p:sp>
      <p:sp>
        <p:nvSpPr>
          <p:cNvPr id="906" name="Text 448"/>
          <p:cNvSpPr/>
          <p:nvPr/>
        </p:nvSpPr>
        <p:spPr>
          <a:xfrm>
            <a:off x="554400" y="1672920"/>
            <a:ext cx="1510920" cy="32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800" b="1" u="none" strike="noStrike" dirty="0" err="1">
                <a:solidFill>
                  <a:srgbClr val="1A1F3C"/>
                </a:solidFill>
                <a:effectLst/>
                <a:uFillTx/>
                <a:latin typeface="Calibri"/>
                <a:ea typeface="Calibri"/>
              </a:rPr>
              <a:t>Eye-tracker</a:t>
            </a:r>
            <a:endParaRPr lang="pl-PL" sz="1800" b="0" u="none" strike="noStrike" dirty="0">
              <a:solidFill>
                <a:srgbClr val="000000"/>
              </a:solidFill>
              <a:effectLst/>
              <a:uFillTx/>
              <a:latin typeface="Arial"/>
            </a:endParaRPr>
          </a:p>
        </p:txBody>
      </p:sp>
      <p:sp>
        <p:nvSpPr>
          <p:cNvPr id="907" name="Text 449"/>
          <p:cNvSpPr/>
          <p:nvPr/>
        </p:nvSpPr>
        <p:spPr>
          <a:xfrm>
            <a:off x="554400" y="1955520"/>
            <a:ext cx="1510920" cy="22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400" b="0" i="1" u="none" strike="noStrike">
                <a:solidFill>
                  <a:srgbClr val="8A93C0"/>
                </a:solidFill>
                <a:effectLst/>
                <a:uFillTx/>
                <a:latin typeface="Calibri"/>
                <a:ea typeface="Calibri"/>
              </a:rPr>
              <a:t>120 Hz</a:t>
            </a:r>
            <a:endParaRPr lang="pl-PL" sz="1400" b="0" u="none" strike="noStrike">
              <a:solidFill>
                <a:srgbClr val="000000"/>
              </a:solidFill>
              <a:effectLst/>
              <a:uFillTx/>
              <a:latin typeface="Arial"/>
            </a:endParaRPr>
          </a:p>
        </p:txBody>
      </p:sp>
      <p:sp>
        <p:nvSpPr>
          <p:cNvPr id="908" name="Shape 413"/>
          <p:cNvSpPr/>
          <p:nvPr/>
        </p:nvSpPr>
        <p:spPr>
          <a:xfrm>
            <a:off x="2116800" y="1834560"/>
            <a:ext cx="6955560" cy="360"/>
          </a:xfrm>
          <a:prstGeom prst="line">
            <a:avLst/>
          </a:prstGeom>
          <a:ln w="31750">
            <a:solidFill>
              <a:srgbClr val="2D3B8E"/>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000000"/>
              </a:solidFill>
              <a:effectLst/>
              <a:uFillTx/>
              <a:latin typeface="Arial"/>
            </a:endParaRPr>
          </a:p>
        </p:txBody>
      </p:sp>
      <p:sp>
        <p:nvSpPr>
          <p:cNvPr id="909" name="Shape 414"/>
          <p:cNvSpPr/>
          <p:nvPr/>
        </p:nvSpPr>
        <p:spPr>
          <a:xfrm>
            <a:off x="2116800" y="1764000"/>
            <a:ext cx="360" cy="140760"/>
          </a:xfrm>
          <a:prstGeom prst="line">
            <a:avLst/>
          </a:prstGeom>
          <a:ln w="19050">
            <a:solidFill>
              <a:srgbClr val="2D3B8E"/>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pl-PL" sz="1800" b="0" u="none" strike="noStrike">
              <a:solidFill>
                <a:srgbClr val="000000"/>
              </a:solidFill>
              <a:effectLst/>
              <a:uFillTx/>
              <a:latin typeface="Arial"/>
            </a:endParaRPr>
          </a:p>
        </p:txBody>
      </p:sp>
      <p:sp>
        <p:nvSpPr>
          <p:cNvPr id="910" name="Shape 415"/>
          <p:cNvSpPr/>
          <p:nvPr/>
        </p:nvSpPr>
        <p:spPr>
          <a:xfrm>
            <a:off x="3477600" y="1764000"/>
            <a:ext cx="360" cy="140760"/>
          </a:xfrm>
          <a:prstGeom prst="line">
            <a:avLst/>
          </a:prstGeom>
          <a:ln w="19050">
            <a:solidFill>
              <a:srgbClr val="2D3B8E"/>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pl-PL" sz="1800" b="0" u="none" strike="noStrike">
              <a:solidFill>
                <a:srgbClr val="000000"/>
              </a:solidFill>
              <a:effectLst/>
              <a:uFillTx/>
              <a:latin typeface="Arial"/>
            </a:endParaRPr>
          </a:p>
        </p:txBody>
      </p:sp>
      <p:sp>
        <p:nvSpPr>
          <p:cNvPr id="911" name="Shape 416"/>
          <p:cNvSpPr/>
          <p:nvPr/>
        </p:nvSpPr>
        <p:spPr>
          <a:xfrm>
            <a:off x="4838760" y="1764000"/>
            <a:ext cx="360" cy="140760"/>
          </a:xfrm>
          <a:prstGeom prst="line">
            <a:avLst/>
          </a:prstGeom>
          <a:ln w="19050">
            <a:solidFill>
              <a:srgbClr val="2D3B8E"/>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pl-PL" sz="1800" b="0" u="none" strike="noStrike">
              <a:solidFill>
                <a:srgbClr val="000000"/>
              </a:solidFill>
              <a:effectLst/>
              <a:uFillTx/>
              <a:latin typeface="Arial"/>
            </a:endParaRPr>
          </a:p>
        </p:txBody>
      </p:sp>
      <p:sp>
        <p:nvSpPr>
          <p:cNvPr id="912" name="Shape 417"/>
          <p:cNvSpPr/>
          <p:nvPr/>
        </p:nvSpPr>
        <p:spPr>
          <a:xfrm>
            <a:off x="6199560" y="1764000"/>
            <a:ext cx="360" cy="140760"/>
          </a:xfrm>
          <a:prstGeom prst="line">
            <a:avLst/>
          </a:prstGeom>
          <a:ln w="19050">
            <a:solidFill>
              <a:srgbClr val="2D3B8E"/>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pl-PL" sz="1800" b="0" u="none" strike="noStrike">
              <a:solidFill>
                <a:srgbClr val="000000"/>
              </a:solidFill>
              <a:effectLst/>
              <a:uFillTx/>
              <a:latin typeface="Arial"/>
            </a:endParaRPr>
          </a:p>
        </p:txBody>
      </p:sp>
      <p:sp>
        <p:nvSpPr>
          <p:cNvPr id="913" name="Shape 418"/>
          <p:cNvSpPr/>
          <p:nvPr/>
        </p:nvSpPr>
        <p:spPr>
          <a:xfrm>
            <a:off x="7560360" y="1764000"/>
            <a:ext cx="360" cy="140760"/>
          </a:xfrm>
          <a:prstGeom prst="line">
            <a:avLst/>
          </a:prstGeom>
          <a:ln w="19050">
            <a:solidFill>
              <a:srgbClr val="2D3B8E"/>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pl-PL" sz="1800" b="0" u="none" strike="noStrike">
              <a:solidFill>
                <a:srgbClr val="000000"/>
              </a:solidFill>
              <a:effectLst/>
              <a:uFillTx/>
              <a:latin typeface="Arial"/>
            </a:endParaRPr>
          </a:p>
        </p:txBody>
      </p:sp>
      <p:sp>
        <p:nvSpPr>
          <p:cNvPr id="914" name="Shape 419"/>
          <p:cNvSpPr/>
          <p:nvPr/>
        </p:nvSpPr>
        <p:spPr>
          <a:xfrm>
            <a:off x="8921520" y="1764000"/>
            <a:ext cx="360" cy="140760"/>
          </a:xfrm>
          <a:prstGeom prst="line">
            <a:avLst/>
          </a:prstGeom>
          <a:ln w="19050">
            <a:solidFill>
              <a:srgbClr val="2D3B8E"/>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pl-PL" sz="1800" b="0" u="none" strike="noStrike">
              <a:solidFill>
                <a:srgbClr val="000000"/>
              </a:solidFill>
              <a:effectLst/>
              <a:uFillTx/>
              <a:latin typeface="Arial"/>
            </a:endParaRPr>
          </a:p>
        </p:txBody>
      </p:sp>
      <p:sp>
        <p:nvSpPr>
          <p:cNvPr id="915" name="Text 450"/>
          <p:cNvSpPr/>
          <p:nvPr/>
        </p:nvSpPr>
        <p:spPr>
          <a:xfrm>
            <a:off x="554400" y="2177280"/>
            <a:ext cx="1510920" cy="32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800" b="1" u="none" strike="noStrike">
                <a:solidFill>
                  <a:srgbClr val="1A1F3C"/>
                </a:solidFill>
                <a:effectLst/>
                <a:uFillTx/>
                <a:latin typeface="Calibri"/>
                <a:ea typeface="Calibri"/>
              </a:rPr>
              <a:t>EDA</a:t>
            </a:r>
            <a:endParaRPr lang="pl-PL" sz="1800" b="0" u="none" strike="noStrike">
              <a:solidFill>
                <a:srgbClr val="000000"/>
              </a:solidFill>
              <a:effectLst/>
              <a:uFillTx/>
              <a:latin typeface="Arial"/>
            </a:endParaRPr>
          </a:p>
        </p:txBody>
      </p:sp>
      <p:sp>
        <p:nvSpPr>
          <p:cNvPr id="916" name="Text 451"/>
          <p:cNvSpPr/>
          <p:nvPr/>
        </p:nvSpPr>
        <p:spPr>
          <a:xfrm>
            <a:off x="554400" y="2459880"/>
            <a:ext cx="1510920" cy="22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400" b="0" i="1" u="none" strike="noStrike">
                <a:solidFill>
                  <a:srgbClr val="8A93C0"/>
                </a:solidFill>
                <a:effectLst/>
                <a:uFillTx/>
                <a:latin typeface="Calibri"/>
                <a:ea typeface="Calibri"/>
              </a:rPr>
              <a:t>32 Hz</a:t>
            </a:r>
            <a:endParaRPr lang="pl-PL" sz="1400" b="0" u="none" strike="noStrike">
              <a:solidFill>
                <a:srgbClr val="000000"/>
              </a:solidFill>
              <a:effectLst/>
              <a:uFillTx/>
              <a:latin typeface="Arial"/>
            </a:endParaRPr>
          </a:p>
        </p:txBody>
      </p:sp>
      <p:sp>
        <p:nvSpPr>
          <p:cNvPr id="917" name="Shape 420"/>
          <p:cNvSpPr/>
          <p:nvPr/>
        </p:nvSpPr>
        <p:spPr>
          <a:xfrm>
            <a:off x="2116800" y="2338560"/>
            <a:ext cx="6955560" cy="360"/>
          </a:xfrm>
          <a:prstGeom prst="line">
            <a:avLst/>
          </a:prstGeom>
          <a:ln w="31750">
            <a:solidFill>
              <a:srgbClr val="5B8FF9"/>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000000"/>
              </a:solidFill>
              <a:effectLst/>
              <a:uFillTx/>
              <a:latin typeface="Arial"/>
            </a:endParaRPr>
          </a:p>
        </p:txBody>
      </p:sp>
      <p:sp>
        <p:nvSpPr>
          <p:cNvPr id="918" name="Shape 421"/>
          <p:cNvSpPr/>
          <p:nvPr/>
        </p:nvSpPr>
        <p:spPr>
          <a:xfrm>
            <a:off x="2116800" y="2268000"/>
            <a:ext cx="360" cy="140760"/>
          </a:xfrm>
          <a:prstGeom prst="line">
            <a:avLst/>
          </a:prstGeom>
          <a:ln w="19050">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pl-PL" sz="1800" b="0" u="none" strike="noStrike">
              <a:solidFill>
                <a:srgbClr val="000000"/>
              </a:solidFill>
              <a:effectLst/>
              <a:uFillTx/>
              <a:latin typeface="Arial"/>
            </a:endParaRPr>
          </a:p>
        </p:txBody>
      </p:sp>
      <p:sp>
        <p:nvSpPr>
          <p:cNvPr id="919" name="Shape 422"/>
          <p:cNvSpPr/>
          <p:nvPr/>
        </p:nvSpPr>
        <p:spPr>
          <a:xfrm>
            <a:off x="3477600" y="2268000"/>
            <a:ext cx="360" cy="140760"/>
          </a:xfrm>
          <a:prstGeom prst="line">
            <a:avLst/>
          </a:prstGeom>
          <a:ln w="19050">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pl-PL" sz="1800" b="0" u="none" strike="noStrike">
              <a:solidFill>
                <a:srgbClr val="000000"/>
              </a:solidFill>
              <a:effectLst/>
              <a:uFillTx/>
              <a:latin typeface="Arial"/>
            </a:endParaRPr>
          </a:p>
        </p:txBody>
      </p:sp>
      <p:sp>
        <p:nvSpPr>
          <p:cNvPr id="920" name="Shape 423"/>
          <p:cNvSpPr/>
          <p:nvPr/>
        </p:nvSpPr>
        <p:spPr>
          <a:xfrm>
            <a:off x="4838760" y="2268000"/>
            <a:ext cx="360" cy="140760"/>
          </a:xfrm>
          <a:prstGeom prst="line">
            <a:avLst/>
          </a:prstGeom>
          <a:ln w="19050">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pl-PL" sz="1800" b="0" u="none" strike="noStrike">
              <a:solidFill>
                <a:srgbClr val="000000"/>
              </a:solidFill>
              <a:effectLst/>
              <a:uFillTx/>
              <a:latin typeface="Arial"/>
            </a:endParaRPr>
          </a:p>
        </p:txBody>
      </p:sp>
      <p:sp>
        <p:nvSpPr>
          <p:cNvPr id="921" name="Shape 424"/>
          <p:cNvSpPr/>
          <p:nvPr/>
        </p:nvSpPr>
        <p:spPr>
          <a:xfrm>
            <a:off x="6199560" y="2268000"/>
            <a:ext cx="360" cy="140760"/>
          </a:xfrm>
          <a:prstGeom prst="line">
            <a:avLst/>
          </a:prstGeom>
          <a:ln w="19050">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pl-PL" sz="1800" b="0" u="none" strike="noStrike">
              <a:solidFill>
                <a:srgbClr val="000000"/>
              </a:solidFill>
              <a:effectLst/>
              <a:uFillTx/>
              <a:latin typeface="Arial"/>
            </a:endParaRPr>
          </a:p>
        </p:txBody>
      </p:sp>
      <p:sp>
        <p:nvSpPr>
          <p:cNvPr id="922" name="Shape 425"/>
          <p:cNvSpPr/>
          <p:nvPr/>
        </p:nvSpPr>
        <p:spPr>
          <a:xfrm>
            <a:off x="7560360" y="2268000"/>
            <a:ext cx="360" cy="140760"/>
          </a:xfrm>
          <a:prstGeom prst="line">
            <a:avLst/>
          </a:prstGeom>
          <a:ln w="19050">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pl-PL" sz="1800" b="0" u="none" strike="noStrike">
              <a:solidFill>
                <a:srgbClr val="000000"/>
              </a:solidFill>
              <a:effectLst/>
              <a:uFillTx/>
              <a:latin typeface="Arial"/>
            </a:endParaRPr>
          </a:p>
        </p:txBody>
      </p:sp>
      <p:sp>
        <p:nvSpPr>
          <p:cNvPr id="923" name="Shape 426"/>
          <p:cNvSpPr/>
          <p:nvPr/>
        </p:nvSpPr>
        <p:spPr>
          <a:xfrm>
            <a:off x="8921520" y="2268000"/>
            <a:ext cx="360" cy="140760"/>
          </a:xfrm>
          <a:prstGeom prst="line">
            <a:avLst/>
          </a:prstGeom>
          <a:ln w="19050">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pl-PL" sz="1800" b="0" u="none" strike="noStrike">
              <a:solidFill>
                <a:srgbClr val="000000"/>
              </a:solidFill>
              <a:effectLst/>
              <a:uFillTx/>
              <a:latin typeface="Arial"/>
            </a:endParaRPr>
          </a:p>
        </p:txBody>
      </p:sp>
      <p:sp>
        <p:nvSpPr>
          <p:cNvPr id="924" name="Text 452"/>
          <p:cNvSpPr/>
          <p:nvPr/>
        </p:nvSpPr>
        <p:spPr>
          <a:xfrm>
            <a:off x="554400" y="2681280"/>
            <a:ext cx="1510920" cy="32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800" b="1" u="none" strike="noStrike">
                <a:solidFill>
                  <a:srgbClr val="1A1F3C"/>
                </a:solidFill>
                <a:effectLst/>
                <a:uFillTx/>
                <a:latin typeface="Calibri"/>
                <a:ea typeface="Calibri"/>
              </a:rPr>
              <a:t>Kamera</a:t>
            </a:r>
            <a:endParaRPr lang="pl-PL" sz="1800" b="0" u="none" strike="noStrike">
              <a:solidFill>
                <a:srgbClr val="000000"/>
              </a:solidFill>
              <a:effectLst/>
              <a:uFillTx/>
              <a:latin typeface="Arial"/>
            </a:endParaRPr>
          </a:p>
        </p:txBody>
      </p:sp>
      <p:sp>
        <p:nvSpPr>
          <p:cNvPr id="925" name="Text 453"/>
          <p:cNvSpPr/>
          <p:nvPr/>
        </p:nvSpPr>
        <p:spPr>
          <a:xfrm>
            <a:off x="554400" y="2963880"/>
            <a:ext cx="1510920" cy="22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400" b="0" i="1" u="none" strike="noStrike">
                <a:solidFill>
                  <a:srgbClr val="8A93C0"/>
                </a:solidFill>
                <a:effectLst/>
                <a:uFillTx/>
                <a:latin typeface="Calibri"/>
                <a:ea typeface="Calibri"/>
              </a:rPr>
              <a:t>30 fps</a:t>
            </a:r>
            <a:endParaRPr lang="pl-PL" sz="1400" b="0" u="none" strike="noStrike">
              <a:solidFill>
                <a:srgbClr val="000000"/>
              </a:solidFill>
              <a:effectLst/>
              <a:uFillTx/>
              <a:latin typeface="Arial"/>
            </a:endParaRPr>
          </a:p>
        </p:txBody>
      </p:sp>
      <p:sp>
        <p:nvSpPr>
          <p:cNvPr id="926" name="Shape 427"/>
          <p:cNvSpPr/>
          <p:nvPr/>
        </p:nvSpPr>
        <p:spPr>
          <a:xfrm>
            <a:off x="2116800" y="2842560"/>
            <a:ext cx="6955560" cy="360"/>
          </a:xfrm>
          <a:prstGeom prst="line">
            <a:avLst/>
          </a:prstGeom>
          <a:ln w="31750">
            <a:solidFill>
              <a:srgbClr val="2D7DD2"/>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000000"/>
              </a:solidFill>
              <a:effectLst/>
              <a:uFillTx/>
              <a:latin typeface="Arial"/>
            </a:endParaRPr>
          </a:p>
        </p:txBody>
      </p:sp>
      <p:sp>
        <p:nvSpPr>
          <p:cNvPr id="927" name="Shape 428"/>
          <p:cNvSpPr/>
          <p:nvPr/>
        </p:nvSpPr>
        <p:spPr>
          <a:xfrm>
            <a:off x="2116800" y="2772000"/>
            <a:ext cx="360" cy="140760"/>
          </a:xfrm>
          <a:prstGeom prst="line">
            <a:avLst/>
          </a:prstGeom>
          <a:ln w="19050">
            <a:solidFill>
              <a:srgbClr val="2D7DD2"/>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pl-PL" sz="1800" b="0" u="none" strike="noStrike">
              <a:solidFill>
                <a:srgbClr val="000000"/>
              </a:solidFill>
              <a:effectLst/>
              <a:uFillTx/>
              <a:latin typeface="Arial"/>
            </a:endParaRPr>
          </a:p>
        </p:txBody>
      </p:sp>
      <p:sp>
        <p:nvSpPr>
          <p:cNvPr id="928" name="Shape 429"/>
          <p:cNvSpPr/>
          <p:nvPr/>
        </p:nvSpPr>
        <p:spPr>
          <a:xfrm>
            <a:off x="3477600" y="2772000"/>
            <a:ext cx="360" cy="140760"/>
          </a:xfrm>
          <a:prstGeom prst="line">
            <a:avLst/>
          </a:prstGeom>
          <a:ln w="19050">
            <a:solidFill>
              <a:srgbClr val="2D7DD2"/>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pl-PL" sz="1800" b="0" u="none" strike="noStrike">
              <a:solidFill>
                <a:srgbClr val="000000"/>
              </a:solidFill>
              <a:effectLst/>
              <a:uFillTx/>
              <a:latin typeface="Arial"/>
            </a:endParaRPr>
          </a:p>
        </p:txBody>
      </p:sp>
      <p:sp>
        <p:nvSpPr>
          <p:cNvPr id="929" name="Shape 430"/>
          <p:cNvSpPr/>
          <p:nvPr/>
        </p:nvSpPr>
        <p:spPr>
          <a:xfrm>
            <a:off x="4838760" y="2772000"/>
            <a:ext cx="360" cy="140760"/>
          </a:xfrm>
          <a:prstGeom prst="line">
            <a:avLst/>
          </a:prstGeom>
          <a:ln w="19050">
            <a:solidFill>
              <a:srgbClr val="2D7DD2"/>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pl-PL" sz="1800" b="0" u="none" strike="noStrike">
              <a:solidFill>
                <a:srgbClr val="000000"/>
              </a:solidFill>
              <a:effectLst/>
              <a:uFillTx/>
              <a:latin typeface="Arial"/>
            </a:endParaRPr>
          </a:p>
        </p:txBody>
      </p:sp>
      <p:sp>
        <p:nvSpPr>
          <p:cNvPr id="930" name="Shape 431"/>
          <p:cNvSpPr/>
          <p:nvPr/>
        </p:nvSpPr>
        <p:spPr>
          <a:xfrm>
            <a:off x="6199560" y="2772000"/>
            <a:ext cx="360" cy="140760"/>
          </a:xfrm>
          <a:prstGeom prst="line">
            <a:avLst/>
          </a:prstGeom>
          <a:ln w="19050">
            <a:solidFill>
              <a:srgbClr val="2D7DD2"/>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pl-PL" sz="1800" b="0" u="none" strike="noStrike">
              <a:solidFill>
                <a:srgbClr val="000000"/>
              </a:solidFill>
              <a:effectLst/>
              <a:uFillTx/>
              <a:latin typeface="Arial"/>
            </a:endParaRPr>
          </a:p>
        </p:txBody>
      </p:sp>
      <p:sp>
        <p:nvSpPr>
          <p:cNvPr id="931" name="Shape 432"/>
          <p:cNvSpPr/>
          <p:nvPr/>
        </p:nvSpPr>
        <p:spPr>
          <a:xfrm>
            <a:off x="7560360" y="2772000"/>
            <a:ext cx="360" cy="140760"/>
          </a:xfrm>
          <a:prstGeom prst="line">
            <a:avLst/>
          </a:prstGeom>
          <a:ln w="19050">
            <a:solidFill>
              <a:srgbClr val="2D7DD2"/>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pl-PL" sz="1800" b="0" u="none" strike="noStrike">
              <a:solidFill>
                <a:srgbClr val="000000"/>
              </a:solidFill>
              <a:effectLst/>
              <a:uFillTx/>
              <a:latin typeface="Arial"/>
            </a:endParaRPr>
          </a:p>
        </p:txBody>
      </p:sp>
      <p:sp>
        <p:nvSpPr>
          <p:cNvPr id="932" name="Shape 433"/>
          <p:cNvSpPr/>
          <p:nvPr/>
        </p:nvSpPr>
        <p:spPr>
          <a:xfrm>
            <a:off x="8921520" y="2772000"/>
            <a:ext cx="360" cy="140760"/>
          </a:xfrm>
          <a:prstGeom prst="line">
            <a:avLst/>
          </a:prstGeom>
          <a:ln w="19050">
            <a:solidFill>
              <a:srgbClr val="2D7DD2"/>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pl-PL" sz="1800" b="0" u="none" strike="noStrike">
              <a:solidFill>
                <a:srgbClr val="000000"/>
              </a:solidFill>
              <a:effectLst/>
              <a:uFillTx/>
              <a:latin typeface="Arial"/>
            </a:endParaRPr>
          </a:p>
        </p:txBody>
      </p:sp>
      <p:sp>
        <p:nvSpPr>
          <p:cNvPr id="933" name="Text 454"/>
          <p:cNvSpPr/>
          <p:nvPr/>
        </p:nvSpPr>
        <p:spPr>
          <a:xfrm>
            <a:off x="554400" y="3185280"/>
            <a:ext cx="1510920" cy="32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800" b="1" u="none" strike="noStrike">
                <a:solidFill>
                  <a:srgbClr val="1A1F3C"/>
                </a:solidFill>
                <a:effectLst/>
                <a:uFillTx/>
                <a:latin typeface="Calibri"/>
                <a:ea typeface="Calibri"/>
              </a:rPr>
              <a:t>Mikrofon</a:t>
            </a:r>
            <a:endParaRPr lang="pl-PL" sz="1800" b="0" u="none" strike="noStrike">
              <a:solidFill>
                <a:srgbClr val="000000"/>
              </a:solidFill>
              <a:effectLst/>
              <a:uFillTx/>
              <a:latin typeface="Arial"/>
            </a:endParaRPr>
          </a:p>
        </p:txBody>
      </p:sp>
      <p:sp>
        <p:nvSpPr>
          <p:cNvPr id="934" name="Text 455"/>
          <p:cNvSpPr/>
          <p:nvPr/>
        </p:nvSpPr>
        <p:spPr>
          <a:xfrm>
            <a:off x="554400" y="3467880"/>
            <a:ext cx="1510920" cy="220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400" b="0" i="1" u="none" strike="noStrike">
                <a:solidFill>
                  <a:srgbClr val="8A93C0"/>
                </a:solidFill>
                <a:effectLst/>
                <a:uFillTx/>
                <a:latin typeface="Calibri"/>
                <a:ea typeface="Calibri"/>
              </a:rPr>
              <a:t>44.1 kHz</a:t>
            </a:r>
            <a:endParaRPr lang="pl-PL" sz="1400" b="0" u="none" strike="noStrike">
              <a:solidFill>
                <a:srgbClr val="000000"/>
              </a:solidFill>
              <a:effectLst/>
              <a:uFillTx/>
              <a:latin typeface="Arial"/>
            </a:endParaRPr>
          </a:p>
        </p:txBody>
      </p:sp>
      <p:sp>
        <p:nvSpPr>
          <p:cNvPr id="935" name="Shape 434"/>
          <p:cNvSpPr/>
          <p:nvPr/>
        </p:nvSpPr>
        <p:spPr>
          <a:xfrm>
            <a:off x="2116800" y="3346560"/>
            <a:ext cx="6955560" cy="360"/>
          </a:xfrm>
          <a:prstGeom prst="line">
            <a:avLst/>
          </a:prstGeom>
          <a:ln w="31750">
            <a:solidFill>
              <a:srgbClr val="3ECFB2"/>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000000"/>
              </a:solidFill>
              <a:effectLst/>
              <a:uFillTx/>
              <a:latin typeface="Arial"/>
            </a:endParaRPr>
          </a:p>
        </p:txBody>
      </p:sp>
      <p:sp>
        <p:nvSpPr>
          <p:cNvPr id="936" name="Shape 435"/>
          <p:cNvSpPr/>
          <p:nvPr/>
        </p:nvSpPr>
        <p:spPr>
          <a:xfrm>
            <a:off x="2116800" y="3276360"/>
            <a:ext cx="360" cy="140760"/>
          </a:xfrm>
          <a:prstGeom prst="line">
            <a:avLst/>
          </a:prstGeom>
          <a:ln w="19050">
            <a:solidFill>
              <a:srgbClr val="3ECFB2"/>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pl-PL" sz="1800" b="0" u="none" strike="noStrike">
              <a:solidFill>
                <a:srgbClr val="000000"/>
              </a:solidFill>
              <a:effectLst/>
              <a:uFillTx/>
              <a:latin typeface="Arial"/>
            </a:endParaRPr>
          </a:p>
        </p:txBody>
      </p:sp>
      <p:sp>
        <p:nvSpPr>
          <p:cNvPr id="937" name="Shape 436"/>
          <p:cNvSpPr/>
          <p:nvPr/>
        </p:nvSpPr>
        <p:spPr>
          <a:xfrm>
            <a:off x="3477600" y="3276360"/>
            <a:ext cx="360" cy="140760"/>
          </a:xfrm>
          <a:prstGeom prst="line">
            <a:avLst/>
          </a:prstGeom>
          <a:ln w="19050">
            <a:solidFill>
              <a:srgbClr val="3ECFB2"/>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pl-PL" sz="1800" b="0" u="none" strike="noStrike">
              <a:solidFill>
                <a:srgbClr val="000000"/>
              </a:solidFill>
              <a:effectLst/>
              <a:uFillTx/>
              <a:latin typeface="Arial"/>
            </a:endParaRPr>
          </a:p>
        </p:txBody>
      </p:sp>
      <p:sp>
        <p:nvSpPr>
          <p:cNvPr id="938" name="Shape 437"/>
          <p:cNvSpPr/>
          <p:nvPr/>
        </p:nvSpPr>
        <p:spPr>
          <a:xfrm>
            <a:off x="4838760" y="3276360"/>
            <a:ext cx="360" cy="140760"/>
          </a:xfrm>
          <a:prstGeom prst="line">
            <a:avLst/>
          </a:prstGeom>
          <a:ln w="19050">
            <a:solidFill>
              <a:srgbClr val="3ECFB2"/>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pl-PL" sz="1800" b="0" u="none" strike="noStrike">
              <a:solidFill>
                <a:srgbClr val="000000"/>
              </a:solidFill>
              <a:effectLst/>
              <a:uFillTx/>
              <a:latin typeface="Arial"/>
            </a:endParaRPr>
          </a:p>
        </p:txBody>
      </p:sp>
      <p:sp>
        <p:nvSpPr>
          <p:cNvPr id="939" name="Shape 438"/>
          <p:cNvSpPr/>
          <p:nvPr/>
        </p:nvSpPr>
        <p:spPr>
          <a:xfrm>
            <a:off x="6199560" y="3276360"/>
            <a:ext cx="360" cy="140760"/>
          </a:xfrm>
          <a:prstGeom prst="line">
            <a:avLst/>
          </a:prstGeom>
          <a:ln w="19050">
            <a:solidFill>
              <a:srgbClr val="3ECFB2"/>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pl-PL" sz="1800" b="0" u="none" strike="noStrike">
              <a:solidFill>
                <a:srgbClr val="000000"/>
              </a:solidFill>
              <a:effectLst/>
              <a:uFillTx/>
              <a:latin typeface="Arial"/>
            </a:endParaRPr>
          </a:p>
        </p:txBody>
      </p:sp>
      <p:sp>
        <p:nvSpPr>
          <p:cNvPr id="940" name="Shape 439"/>
          <p:cNvSpPr/>
          <p:nvPr/>
        </p:nvSpPr>
        <p:spPr>
          <a:xfrm>
            <a:off x="7560360" y="3276360"/>
            <a:ext cx="360" cy="140760"/>
          </a:xfrm>
          <a:prstGeom prst="line">
            <a:avLst/>
          </a:prstGeom>
          <a:ln w="19050">
            <a:solidFill>
              <a:srgbClr val="3ECFB2"/>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pl-PL" sz="1800" b="0" u="none" strike="noStrike">
              <a:solidFill>
                <a:srgbClr val="000000"/>
              </a:solidFill>
              <a:effectLst/>
              <a:uFillTx/>
              <a:latin typeface="Arial"/>
            </a:endParaRPr>
          </a:p>
        </p:txBody>
      </p:sp>
      <p:sp>
        <p:nvSpPr>
          <p:cNvPr id="941" name="Shape 440"/>
          <p:cNvSpPr/>
          <p:nvPr/>
        </p:nvSpPr>
        <p:spPr>
          <a:xfrm>
            <a:off x="8921520" y="3276360"/>
            <a:ext cx="360" cy="140760"/>
          </a:xfrm>
          <a:prstGeom prst="line">
            <a:avLst/>
          </a:prstGeom>
          <a:ln w="19050">
            <a:solidFill>
              <a:srgbClr val="3ECFB2"/>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pl-PL" sz="1800" b="0" u="none" strike="noStrike">
              <a:solidFill>
                <a:srgbClr val="000000"/>
              </a:solidFill>
              <a:effectLst/>
              <a:uFillTx/>
              <a:latin typeface="Arial"/>
            </a:endParaRPr>
          </a:p>
        </p:txBody>
      </p:sp>
      <p:sp>
        <p:nvSpPr>
          <p:cNvPr id="942" name="Shape 441"/>
          <p:cNvSpPr/>
          <p:nvPr/>
        </p:nvSpPr>
        <p:spPr>
          <a:xfrm>
            <a:off x="5594760" y="1128600"/>
            <a:ext cx="360" cy="2419200"/>
          </a:xfrm>
          <a:prstGeom prst="line">
            <a:avLst/>
          </a:prstGeom>
          <a:ln w="25400">
            <a:solidFill>
              <a:srgbClr val="D64045"/>
            </a:solidFill>
            <a:prstDash val="dash"/>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pl-PL" sz="1800" b="0" u="none" strike="noStrike">
              <a:solidFill>
                <a:srgbClr val="000000"/>
              </a:solidFill>
              <a:effectLst/>
              <a:uFillTx/>
              <a:latin typeface="Arial"/>
            </a:endParaRPr>
          </a:p>
        </p:txBody>
      </p:sp>
      <p:sp>
        <p:nvSpPr>
          <p:cNvPr id="943" name="Shape 442"/>
          <p:cNvSpPr/>
          <p:nvPr/>
        </p:nvSpPr>
        <p:spPr>
          <a:xfrm>
            <a:off x="5221440" y="927360"/>
            <a:ext cx="745200" cy="342000"/>
          </a:xfrm>
          <a:prstGeom prst="roundRect">
            <a:avLst>
              <a:gd name="adj" fmla="val 17647"/>
            </a:avLst>
          </a:prstGeom>
          <a:solidFill>
            <a:srgbClr val="D64045"/>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944" name="Text 456"/>
          <p:cNvSpPr/>
          <p:nvPr/>
        </p:nvSpPr>
        <p:spPr>
          <a:xfrm>
            <a:off x="5221440" y="927360"/>
            <a:ext cx="745200" cy="342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500" b="1" u="none" strike="noStrike">
                <a:solidFill>
                  <a:srgbClr val="FFFFFF"/>
                </a:solidFill>
                <a:effectLst/>
                <a:uFillTx/>
                <a:latin typeface="Cambria"/>
                <a:ea typeface="Cambria"/>
              </a:rPr>
              <a:t>LSL</a:t>
            </a:r>
            <a:endParaRPr lang="pl-PL" sz="1500" b="0" u="none" strike="noStrike">
              <a:solidFill>
                <a:srgbClr val="000000"/>
              </a:solidFill>
              <a:effectLst/>
              <a:uFillTx/>
              <a:latin typeface="Arial"/>
            </a:endParaRPr>
          </a:p>
        </p:txBody>
      </p:sp>
      <p:sp>
        <p:nvSpPr>
          <p:cNvPr id="945" name="Shape 443"/>
          <p:cNvSpPr/>
          <p:nvPr/>
        </p:nvSpPr>
        <p:spPr>
          <a:xfrm>
            <a:off x="403200" y="4233960"/>
            <a:ext cx="9273240" cy="603720"/>
          </a:xfrm>
          <a:prstGeom prst="roundRect">
            <a:avLst>
              <a:gd name="adj" fmla="val 16667"/>
            </a:avLst>
          </a:prstGeom>
          <a:solidFill>
            <a:srgbClr val="EEF3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946" name="Text 457"/>
          <p:cNvSpPr/>
          <p:nvPr/>
        </p:nvSpPr>
        <p:spPr>
          <a:xfrm>
            <a:off x="554400" y="4233600"/>
            <a:ext cx="9071640" cy="603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800" b="1" u="none" strike="noStrike">
                <a:solidFill>
                  <a:srgbClr val="1E2761"/>
                </a:solidFill>
                <a:effectLst/>
                <a:uFillTx/>
                <a:latin typeface="Calibri"/>
                <a:ea typeface="Calibri"/>
              </a:rPr>
              <a:t>LabStreamingLayer (LSL)</a:t>
            </a:r>
            <a:r>
              <a:rPr lang="pl-PL" sz="1800" b="0" u="none" strike="noStrike">
                <a:solidFill>
                  <a:srgbClr val="1E2761"/>
                </a:solidFill>
                <a:effectLst/>
                <a:uFillTx/>
                <a:latin typeface="Calibri"/>
                <a:ea typeface="Calibri"/>
              </a:rPr>
              <a:t> to otwarty protokół synchronizujący strumienie danych z różnych urządzeń z dokładnością do milisekund poprzez wspólny znacznik czasu.</a:t>
            </a:r>
            <a:endParaRPr lang="pl-PL" sz="1800" b="0" u="none" strike="noStrike">
              <a:solidFill>
                <a:srgbClr val="000000"/>
              </a:solidFill>
              <a:effectLst/>
              <a:uFillTx/>
              <a:latin typeface="Arial"/>
            </a:endParaRPr>
          </a:p>
        </p:txBody>
      </p:sp>
      <p:sp>
        <p:nvSpPr>
          <p:cNvPr id="947" name="Shape 444"/>
          <p:cNvSpPr/>
          <p:nvPr/>
        </p:nvSpPr>
        <p:spPr>
          <a:xfrm>
            <a:off x="402840" y="4989960"/>
            <a:ext cx="2166120" cy="422280"/>
          </a:xfrm>
          <a:prstGeom prst="roundRect">
            <a:avLst>
              <a:gd name="adj" fmla="val 16667"/>
            </a:avLst>
          </a:prstGeom>
          <a:solidFill>
            <a:srgbClr val="1E276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948" name="Text 458"/>
          <p:cNvSpPr/>
          <p:nvPr/>
        </p:nvSpPr>
        <p:spPr>
          <a:xfrm>
            <a:off x="403200" y="4989960"/>
            <a:ext cx="2166120" cy="422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800" b="0" u="none" strike="noStrike">
                <a:solidFill>
                  <a:srgbClr val="FFFFFF"/>
                </a:solidFill>
                <a:effectLst/>
                <a:uFillTx/>
                <a:latin typeface="Calibri"/>
                <a:ea typeface="Calibri"/>
              </a:rPr>
              <a:t>Resampling</a:t>
            </a:r>
            <a:endParaRPr lang="pl-PL" sz="1800" b="0" u="none" strike="noStrike">
              <a:solidFill>
                <a:srgbClr val="000000"/>
              </a:solidFill>
              <a:effectLst/>
              <a:uFillTx/>
              <a:latin typeface="Arial"/>
            </a:endParaRPr>
          </a:p>
        </p:txBody>
      </p:sp>
      <p:sp>
        <p:nvSpPr>
          <p:cNvPr id="949" name="Shape 445"/>
          <p:cNvSpPr/>
          <p:nvPr/>
        </p:nvSpPr>
        <p:spPr>
          <a:xfrm>
            <a:off x="2701440" y="4989960"/>
            <a:ext cx="2166120" cy="422280"/>
          </a:xfrm>
          <a:prstGeom prst="roundRect">
            <a:avLst>
              <a:gd name="adj" fmla="val 16667"/>
            </a:avLst>
          </a:prstGeom>
          <a:solidFill>
            <a:srgbClr val="1E276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950" name="Text 459"/>
          <p:cNvSpPr/>
          <p:nvPr/>
        </p:nvSpPr>
        <p:spPr>
          <a:xfrm>
            <a:off x="2701440" y="4989960"/>
            <a:ext cx="2166120" cy="422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800" b="0" u="none" strike="noStrike">
                <a:solidFill>
                  <a:srgbClr val="FFFFFF"/>
                </a:solidFill>
                <a:effectLst/>
                <a:uFillTx/>
                <a:latin typeface="Calibri"/>
                <a:ea typeface="Calibri"/>
              </a:rPr>
              <a:t>Fuzja ramek danych</a:t>
            </a:r>
            <a:endParaRPr lang="pl-PL" sz="1800" b="0" u="none" strike="noStrike">
              <a:solidFill>
                <a:srgbClr val="000000"/>
              </a:solidFill>
              <a:effectLst/>
              <a:uFillTx/>
              <a:latin typeface="Arial"/>
            </a:endParaRPr>
          </a:p>
        </p:txBody>
      </p:sp>
      <p:sp>
        <p:nvSpPr>
          <p:cNvPr id="951" name="Shape 446"/>
          <p:cNvSpPr/>
          <p:nvPr/>
        </p:nvSpPr>
        <p:spPr>
          <a:xfrm>
            <a:off x="4999680" y="4989960"/>
            <a:ext cx="2166120" cy="422280"/>
          </a:xfrm>
          <a:prstGeom prst="roundRect">
            <a:avLst>
              <a:gd name="adj" fmla="val 16667"/>
            </a:avLst>
          </a:prstGeom>
          <a:solidFill>
            <a:srgbClr val="1E276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952" name="Text 460"/>
          <p:cNvSpPr/>
          <p:nvPr/>
        </p:nvSpPr>
        <p:spPr>
          <a:xfrm>
            <a:off x="4999680" y="4989960"/>
            <a:ext cx="2166120" cy="422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800" b="0" u="none" strike="noStrike">
                <a:solidFill>
                  <a:srgbClr val="FFFFFF"/>
                </a:solidFill>
                <a:effectLst/>
                <a:uFillTx/>
                <a:latin typeface="Calibri"/>
                <a:ea typeface="Calibri"/>
              </a:rPr>
              <a:t>PCA / ICA</a:t>
            </a:r>
            <a:endParaRPr lang="pl-PL" sz="1800" b="0" u="none" strike="noStrike">
              <a:solidFill>
                <a:srgbClr val="000000"/>
              </a:solidFill>
              <a:effectLst/>
              <a:uFillTx/>
              <a:latin typeface="Arial"/>
            </a:endParaRPr>
          </a:p>
        </p:txBody>
      </p:sp>
      <p:sp>
        <p:nvSpPr>
          <p:cNvPr id="953" name="Shape 447"/>
          <p:cNvSpPr/>
          <p:nvPr/>
        </p:nvSpPr>
        <p:spPr>
          <a:xfrm>
            <a:off x="7298280" y="4989960"/>
            <a:ext cx="2166120" cy="422280"/>
          </a:xfrm>
          <a:prstGeom prst="roundRect">
            <a:avLst>
              <a:gd name="adj" fmla="val 16667"/>
            </a:avLst>
          </a:prstGeom>
          <a:solidFill>
            <a:srgbClr val="1E276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954" name="Text 461"/>
          <p:cNvSpPr/>
          <p:nvPr/>
        </p:nvSpPr>
        <p:spPr>
          <a:xfrm>
            <a:off x="7298280" y="4989960"/>
            <a:ext cx="2166120" cy="422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300" b="0" u="none" strike="noStrike">
                <a:solidFill>
                  <a:srgbClr val="FFFFFF"/>
                </a:solidFill>
                <a:effectLst/>
                <a:uFillTx/>
                <a:latin typeface="Calibri"/>
                <a:ea typeface="Calibri"/>
              </a:rPr>
              <a:t>Modelowanie wielokanałowe</a:t>
            </a:r>
            <a:endParaRPr lang="pl-PL" sz="1300" b="0" u="none" strike="noStrike">
              <a:solidFill>
                <a:srgbClr val="000000"/>
              </a:solidFill>
              <a:effectLst/>
              <a:uFillTx/>
              <a:latin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955" name="Shape 448"/>
          <p:cNvSpPr/>
          <p:nvPr/>
        </p:nvSpPr>
        <p:spPr>
          <a:xfrm>
            <a:off x="360" y="360"/>
            <a:ext cx="10079640" cy="1006920"/>
          </a:xfrm>
          <a:prstGeom prst="rect">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956" name="Text 462"/>
          <p:cNvSpPr/>
          <p:nvPr/>
        </p:nvSpPr>
        <p:spPr>
          <a:xfrm>
            <a:off x="453240" y="70560"/>
            <a:ext cx="917244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defTabSz="914400">
              <a:lnSpc>
                <a:spcPct val="100000"/>
              </a:lnSpc>
              <a:tabLst>
                <a:tab pos="0" algn="l"/>
              </a:tabLst>
            </a:pPr>
            <a:r>
              <a:rPr lang="pl-PL" sz="2200" b="1" u="none" strike="noStrike">
                <a:solidFill>
                  <a:srgbClr val="FFFFFF"/>
                </a:solidFill>
                <a:effectLst/>
                <a:uFillTx/>
                <a:latin typeface="Cambria"/>
                <a:ea typeface="Cambria"/>
              </a:rPr>
              <a:t>ARCHITEKTURA CYFROWEGO EKSPERYMENTU</a:t>
            </a:r>
            <a:endParaRPr lang="pl-PL" sz="2200" b="0" u="none" strike="noStrike">
              <a:solidFill>
                <a:srgbClr val="000000"/>
              </a:solidFill>
              <a:effectLst/>
              <a:uFillTx/>
              <a:latin typeface="Arial"/>
            </a:endParaRPr>
          </a:p>
        </p:txBody>
      </p:sp>
      <p:sp>
        <p:nvSpPr>
          <p:cNvPr id="957" name="Text 463"/>
          <p:cNvSpPr/>
          <p:nvPr/>
        </p:nvSpPr>
        <p:spPr>
          <a:xfrm>
            <a:off x="453240" y="594720"/>
            <a:ext cx="9172440" cy="331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pl-PL" sz="1400" b="0" i="1" u="none" strike="noStrike">
                <a:solidFill>
                  <a:srgbClr val="CADCFC"/>
                </a:solidFill>
                <a:effectLst/>
                <a:uFillTx/>
                <a:latin typeface="Calibri"/>
                <a:ea typeface="Calibri"/>
              </a:rPr>
              <a:t>Warstwy systemu badawczego: od bodźca do archiwum</a:t>
            </a:r>
            <a:endParaRPr lang="pl-PL" sz="1400" b="0" u="none" strike="noStrike">
              <a:solidFill>
                <a:srgbClr val="000000"/>
              </a:solidFill>
              <a:effectLst/>
              <a:uFillTx/>
              <a:latin typeface="Arial"/>
            </a:endParaRPr>
          </a:p>
        </p:txBody>
      </p:sp>
      <p:sp>
        <p:nvSpPr>
          <p:cNvPr id="958" name="Shape 449"/>
          <p:cNvSpPr/>
          <p:nvPr/>
        </p:nvSpPr>
        <p:spPr>
          <a:xfrm>
            <a:off x="403200" y="1108800"/>
            <a:ext cx="9273240" cy="623880"/>
          </a:xfrm>
          <a:prstGeom prst="roundRect">
            <a:avLst>
              <a:gd name="adj" fmla="val 12903"/>
            </a:avLst>
          </a:prstGeom>
          <a:solidFill>
            <a:srgbClr val="1E2761"/>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959" name="Shape 450"/>
          <p:cNvSpPr/>
          <p:nvPr/>
        </p:nvSpPr>
        <p:spPr>
          <a:xfrm>
            <a:off x="503640" y="1189080"/>
            <a:ext cx="623880" cy="462600"/>
          </a:xfrm>
          <a:prstGeom prst="roundRect">
            <a:avLst>
              <a:gd name="adj" fmla="val 13043"/>
            </a:avLst>
          </a:prstGeom>
          <a:solidFill>
            <a:srgbClr val="FFFFFF">
              <a:alpha val="8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960" name="Text 464"/>
          <p:cNvSpPr/>
          <p:nvPr/>
        </p:nvSpPr>
        <p:spPr>
          <a:xfrm>
            <a:off x="504000" y="1189080"/>
            <a:ext cx="623880" cy="46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400" b="1" u="none" strike="noStrike">
                <a:solidFill>
                  <a:srgbClr val="1E2761"/>
                </a:solidFill>
                <a:effectLst/>
                <a:uFillTx/>
                <a:latin typeface="Cambria"/>
                <a:ea typeface="Cambria"/>
              </a:rPr>
              <a:t>01</a:t>
            </a:r>
            <a:endParaRPr lang="pl-PL" sz="1400" b="0" u="none" strike="noStrike">
              <a:solidFill>
                <a:srgbClr val="000000"/>
              </a:solidFill>
              <a:effectLst/>
              <a:uFillTx/>
              <a:latin typeface="Arial"/>
            </a:endParaRPr>
          </a:p>
        </p:txBody>
      </p:sp>
      <p:sp>
        <p:nvSpPr>
          <p:cNvPr id="961" name="Text 465"/>
          <p:cNvSpPr/>
          <p:nvPr/>
        </p:nvSpPr>
        <p:spPr>
          <a:xfrm>
            <a:off x="1310400" y="1168920"/>
            <a:ext cx="251928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2000" b="1" u="none" strike="noStrike">
                <a:solidFill>
                  <a:srgbClr val="FFFFFF"/>
                </a:solidFill>
                <a:effectLst/>
                <a:uFillTx/>
                <a:latin typeface="Cambria"/>
                <a:ea typeface="Cambria"/>
              </a:rPr>
              <a:t>Bodźce</a:t>
            </a:r>
            <a:endParaRPr lang="pl-PL" sz="2000" b="0" u="none" strike="noStrike">
              <a:solidFill>
                <a:srgbClr val="000000"/>
              </a:solidFill>
              <a:effectLst/>
              <a:uFillTx/>
              <a:latin typeface="Arial"/>
            </a:endParaRPr>
          </a:p>
        </p:txBody>
      </p:sp>
      <p:sp>
        <p:nvSpPr>
          <p:cNvPr id="962" name="Shape 451"/>
          <p:cNvSpPr/>
          <p:nvPr/>
        </p:nvSpPr>
        <p:spPr>
          <a:xfrm>
            <a:off x="806400" y="1733400"/>
            <a:ext cx="360" cy="81000"/>
          </a:xfrm>
          <a:prstGeom prst="line">
            <a:avLst/>
          </a:prstGeom>
          <a:ln w="15240">
            <a:solidFill>
              <a:srgbClr val="8A93C0"/>
            </a:solidFill>
            <a:round/>
          </a:ln>
        </p:spPr>
        <p:style>
          <a:lnRef idx="0">
            <a:scrgbClr r="0" g="0" b="0"/>
          </a:lnRef>
          <a:fillRef idx="0">
            <a:scrgbClr r="0" g="0" b="0"/>
          </a:fillRef>
          <a:effectRef idx="0">
            <a:scrgbClr r="0" g="0" b="0"/>
          </a:effectRef>
          <a:fontRef idx="minor"/>
        </p:style>
        <p:txBody>
          <a:bodyPr lIns="90000" tIns="36000" rIns="90000" bIns="36000" anchor="t" anchorCtr="1">
            <a:noAutofit/>
          </a:bodyPr>
          <a:lstStyle/>
          <a:p>
            <a:endParaRPr lang="pl-PL" sz="1800" b="0" u="none" strike="noStrike">
              <a:solidFill>
                <a:srgbClr val="000000"/>
              </a:solidFill>
              <a:effectLst/>
              <a:uFillTx/>
              <a:latin typeface="Arial"/>
            </a:endParaRPr>
          </a:p>
        </p:txBody>
      </p:sp>
      <p:sp>
        <p:nvSpPr>
          <p:cNvPr id="963" name="Shape 452"/>
          <p:cNvSpPr/>
          <p:nvPr/>
        </p:nvSpPr>
        <p:spPr>
          <a:xfrm>
            <a:off x="403200" y="1814400"/>
            <a:ext cx="9273240" cy="623880"/>
          </a:xfrm>
          <a:prstGeom prst="roundRect">
            <a:avLst>
              <a:gd name="adj" fmla="val 12903"/>
            </a:avLst>
          </a:prstGeom>
          <a:solidFill>
            <a:srgbClr val="2D3B8E"/>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964" name="Shape 453"/>
          <p:cNvSpPr/>
          <p:nvPr/>
        </p:nvSpPr>
        <p:spPr>
          <a:xfrm>
            <a:off x="503640" y="1895040"/>
            <a:ext cx="623880" cy="462600"/>
          </a:xfrm>
          <a:prstGeom prst="roundRect">
            <a:avLst>
              <a:gd name="adj" fmla="val 13043"/>
            </a:avLst>
          </a:prstGeom>
          <a:solidFill>
            <a:srgbClr val="FFFFFF">
              <a:alpha val="8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965" name="Text 467"/>
          <p:cNvSpPr/>
          <p:nvPr/>
        </p:nvSpPr>
        <p:spPr>
          <a:xfrm>
            <a:off x="504000" y="1895040"/>
            <a:ext cx="623880" cy="46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400" b="1" u="none" strike="noStrike">
                <a:solidFill>
                  <a:srgbClr val="2D3B8E"/>
                </a:solidFill>
                <a:effectLst/>
                <a:uFillTx/>
                <a:latin typeface="Cambria"/>
                <a:ea typeface="Cambria"/>
              </a:rPr>
              <a:t>02</a:t>
            </a:r>
            <a:endParaRPr lang="pl-PL" sz="1400" b="0" u="none" strike="noStrike">
              <a:solidFill>
                <a:srgbClr val="000000"/>
              </a:solidFill>
              <a:effectLst/>
              <a:uFillTx/>
              <a:latin typeface="Arial"/>
            </a:endParaRPr>
          </a:p>
        </p:txBody>
      </p:sp>
      <p:sp>
        <p:nvSpPr>
          <p:cNvPr id="966" name="Text 468"/>
          <p:cNvSpPr/>
          <p:nvPr/>
        </p:nvSpPr>
        <p:spPr>
          <a:xfrm>
            <a:off x="1310400" y="1874520"/>
            <a:ext cx="251928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2000" b="1" u="none" strike="noStrike">
                <a:solidFill>
                  <a:srgbClr val="FFFFFF"/>
                </a:solidFill>
                <a:effectLst/>
                <a:uFillTx/>
                <a:latin typeface="Cambria"/>
                <a:ea typeface="Cambria"/>
              </a:rPr>
              <a:t>Akwizycja</a:t>
            </a:r>
            <a:endParaRPr lang="pl-PL" sz="2000" b="0" u="none" strike="noStrike">
              <a:solidFill>
                <a:srgbClr val="000000"/>
              </a:solidFill>
              <a:effectLst/>
              <a:uFillTx/>
              <a:latin typeface="Arial"/>
            </a:endParaRPr>
          </a:p>
        </p:txBody>
      </p:sp>
      <p:sp>
        <p:nvSpPr>
          <p:cNvPr id="967" name="Shape 454"/>
          <p:cNvSpPr/>
          <p:nvPr/>
        </p:nvSpPr>
        <p:spPr>
          <a:xfrm>
            <a:off x="806400" y="2439000"/>
            <a:ext cx="360" cy="81000"/>
          </a:xfrm>
          <a:prstGeom prst="line">
            <a:avLst/>
          </a:prstGeom>
          <a:ln w="15240">
            <a:solidFill>
              <a:srgbClr val="8A93C0"/>
            </a:solidFill>
            <a:round/>
          </a:ln>
        </p:spPr>
        <p:style>
          <a:lnRef idx="0">
            <a:scrgbClr r="0" g="0" b="0"/>
          </a:lnRef>
          <a:fillRef idx="0">
            <a:scrgbClr r="0" g="0" b="0"/>
          </a:fillRef>
          <a:effectRef idx="0">
            <a:scrgbClr r="0" g="0" b="0"/>
          </a:effectRef>
          <a:fontRef idx="minor"/>
        </p:style>
        <p:txBody>
          <a:bodyPr lIns="90000" tIns="36000" rIns="90000" bIns="36000" anchor="t" anchorCtr="1">
            <a:noAutofit/>
          </a:bodyPr>
          <a:lstStyle/>
          <a:p>
            <a:endParaRPr lang="pl-PL" sz="1800" b="0" u="none" strike="noStrike">
              <a:solidFill>
                <a:srgbClr val="000000"/>
              </a:solidFill>
              <a:effectLst/>
              <a:uFillTx/>
              <a:latin typeface="Arial"/>
            </a:endParaRPr>
          </a:p>
        </p:txBody>
      </p:sp>
      <p:sp>
        <p:nvSpPr>
          <p:cNvPr id="968" name="Shape 455"/>
          <p:cNvSpPr/>
          <p:nvPr/>
        </p:nvSpPr>
        <p:spPr>
          <a:xfrm>
            <a:off x="403200" y="2520000"/>
            <a:ext cx="9273240" cy="623880"/>
          </a:xfrm>
          <a:prstGeom prst="roundRect">
            <a:avLst>
              <a:gd name="adj" fmla="val 12903"/>
            </a:avLst>
          </a:prstGeom>
          <a:solidFill>
            <a:srgbClr val="5B8FF9"/>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969" name="Shape 456"/>
          <p:cNvSpPr/>
          <p:nvPr/>
        </p:nvSpPr>
        <p:spPr>
          <a:xfrm>
            <a:off x="503640" y="2600640"/>
            <a:ext cx="623880" cy="462600"/>
          </a:xfrm>
          <a:prstGeom prst="roundRect">
            <a:avLst>
              <a:gd name="adj" fmla="val 13043"/>
            </a:avLst>
          </a:prstGeom>
          <a:solidFill>
            <a:srgbClr val="FFFFFF">
              <a:alpha val="8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970" name="Text 470"/>
          <p:cNvSpPr/>
          <p:nvPr/>
        </p:nvSpPr>
        <p:spPr>
          <a:xfrm>
            <a:off x="504000" y="2600640"/>
            <a:ext cx="623880" cy="46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400" b="1" u="none" strike="noStrike">
                <a:solidFill>
                  <a:srgbClr val="5B8FF9"/>
                </a:solidFill>
                <a:effectLst/>
                <a:uFillTx/>
                <a:latin typeface="Cambria"/>
                <a:ea typeface="Cambria"/>
              </a:rPr>
              <a:t>03</a:t>
            </a:r>
            <a:endParaRPr lang="pl-PL" sz="1400" b="0" u="none" strike="noStrike">
              <a:solidFill>
                <a:srgbClr val="000000"/>
              </a:solidFill>
              <a:effectLst/>
              <a:uFillTx/>
              <a:latin typeface="Arial"/>
            </a:endParaRPr>
          </a:p>
        </p:txBody>
      </p:sp>
      <p:sp>
        <p:nvSpPr>
          <p:cNvPr id="971" name="Text 471"/>
          <p:cNvSpPr/>
          <p:nvPr/>
        </p:nvSpPr>
        <p:spPr>
          <a:xfrm>
            <a:off x="1310400" y="2580480"/>
            <a:ext cx="251928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2000" b="1" u="none" strike="noStrike">
                <a:solidFill>
                  <a:srgbClr val="FFFFFF"/>
                </a:solidFill>
                <a:effectLst/>
                <a:uFillTx/>
                <a:latin typeface="Cambria"/>
                <a:ea typeface="Cambria"/>
              </a:rPr>
              <a:t>Synchronizacja</a:t>
            </a:r>
            <a:endParaRPr lang="pl-PL" sz="2000" b="0" u="none" strike="noStrike">
              <a:solidFill>
                <a:srgbClr val="000000"/>
              </a:solidFill>
              <a:effectLst/>
              <a:uFillTx/>
              <a:latin typeface="Arial"/>
            </a:endParaRPr>
          </a:p>
        </p:txBody>
      </p:sp>
      <p:sp>
        <p:nvSpPr>
          <p:cNvPr id="972" name="Shape 457"/>
          <p:cNvSpPr/>
          <p:nvPr/>
        </p:nvSpPr>
        <p:spPr>
          <a:xfrm>
            <a:off x="806400" y="3144600"/>
            <a:ext cx="360" cy="81000"/>
          </a:xfrm>
          <a:prstGeom prst="line">
            <a:avLst/>
          </a:prstGeom>
          <a:ln w="15240">
            <a:solidFill>
              <a:srgbClr val="8A93C0"/>
            </a:solidFill>
            <a:round/>
          </a:ln>
        </p:spPr>
        <p:style>
          <a:lnRef idx="0">
            <a:scrgbClr r="0" g="0" b="0"/>
          </a:lnRef>
          <a:fillRef idx="0">
            <a:scrgbClr r="0" g="0" b="0"/>
          </a:fillRef>
          <a:effectRef idx="0">
            <a:scrgbClr r="0" g="0" b="0"/>
          </a:effectRef>
          <a:fontRef idx="minor"/>
        </p:style>
        <p:txBody>
          <a:bodyPr lIns="90000" tIns="36000" rIns="90000" bIns="36000" anchor="t" anchorCtr="1">
            <a:noAutofit/>
          </a:bodyPr>
          <a:lstStyle/>
          <a:p>
            <a:endParaRPr lang="pl-PL" sz="1800" b="0" u="none" strike="noStrike">
              <a:solidFill>
                <a:srgbClr val="000000"/>
              </a:solidFill>
              <a:effectLst/>
              <a:uFillTx/>
              <a:latin typeface="Arial"/>
            </a:endParaRPr>
          </a:p>
        </p:txBody>
      </p:sp>
      <p:sp>
        <p:nvSpPr>
          <p:cNvPr id="973" name="Shape 458"/>
          <p:cNvSpPr/>
          <p:nvPr/>
        </p:nvSpPr>
        <p:spPr>
          <a:xfrm>
            <a:off x="403200" y="3225960"/>
            <a:ext cx="9273240" cy="623880"/>
          </a:xfrm>
          <a:prstGeom prst="roundRect">
            <a:avLst>
              <a:gd name="adj" fmla="val 12903"/>
            </a:avLst>
          </a:prstGeom>
          <a:solidFill>
            <a:srgbClr val="2D7DD2"/>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974" name="Shape 459"/>
          <p:cNvSpPr/>
          <p:nvPr/>
        </p:nvSpPr>
        <p:spPr>
          <a:xfrm>
            <a:off x="503640" y="3306240"/>
            <a:ext cx="623880" cy="462600"/>
          </a:xfrm>
          <a:prstGeom prst="roundRect">
            <a:avLst>
              <a:gd name="adj" fmla="val 13043"/>
            </a:avLst>
          </a:prstGeom>
          <a:solidFill>
            <a:srgbClr val="FFFFFF">
              <a:alpha val="8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975" name="Text 473"/>
          <p:cNvSpPr/>
          <p:nvPr/>
        </p:nvSpPr>
        <p:spPr>
          <a:xfrm>
            <a:off x="504000" y="3306240"/>
            <a:ext cx="623880" cy="46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400" b="1" u="none" strike="noStrike">
                <a:solidFill>
                  <a:srgbClr val="2D7DD2"/>
                </a:solidFill>
                <a:effectLst/>
                <a:uFillTx/>
                <a:latin typeface="Cambria"/>
                <a:ea typeface="Cambria"/>
              </a:rPr>
              <a:t>04</a:t>
            </a:r>
            <a:endParaRPr lang="pl-PL" sz="1400" b="0" u="none" strike="noStrike">
              <a:solidFill>
                <a:srgbClr val="000000"/>
              </a:solidFill>
              <a:effectLst/>
              <a:uFillTx/>
              <a:latin typeface="Arial"/>
            </a:endParaRPr>
          </a:p>
        </p:txBody>
      </p:sp>
      <p:sp>
        <p:nvSpPr>
          <p:cNvPr id="976" name="Text 474"/>
          <p:cNvSpPr/>
          <p:nvPr/>
        </p:nvSpPr>
        <p:spPr>
          <a:xfrm>
            <a:off x="1310400" y="3286080"/>
            <a:ext cx="251928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2000" b="1" u="none" strike="noStrike">
                <a:solidFill>
                  <a:srgbClr val="FFFFFF"/>
                </a:solidFill>
                <a:effectLst/>
                <a:uFillTx/>
                <a:latin typeface="Cambria"/>
                <a:ea typeface="Cambria"/>
              </a:rPr>
              <a:t>Logowanie</a:t>
            </a:r>
            <a:endParaRPr lang="pl-PL" sz="2000" b="0" u="none" strike="noStrike">
              <a:solidFill>
                <a:srgbClr val="000000"/>
              </a:solidFill>
              <a:effectLst/>
              <a:uFillTx/>
              <a:latin typeface="Arial"/>
            </a:endParaRPr>
          </a:p>
        </p:txBody>
      </p:sp>
      <p:sp>
        <p:nvSpPr>
          <p:cNvPr id="977" name="Text 475"/>
          <p:cNvSpPr/>
          <p:nvPr/>
        </p:nvSpPr>
        <p:spPr>
          <a:xfrm>
            <a:off x="4327200" y="3286080"/>
            <a:ext cx="517788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0" u="none" strike="noStrike">
                <a:solidFill>
                  <a:srgbClr val="FFFFFF"/>
                </a:solidFill>
                <a:effectLst/>
                <a:uFillTx/>
                <a:latin typeface="Calibri"/>
                <a:ea typeface="Calibri"/>
              </a:rPr>
              <a:t>Automatyczny zapis metadanych, ID uczestnika, wersji protokołu</a:t>
            </a:r>
            <a:endParaRPr lang="pl-PL" sz="1600" b="0" u="none" strike="noStrike">
              <a:solidFill>
                <a:srgbClr val="000000"/>
              </a:solidFill>
              <a:effectLst/>
              <a:uFillTx/>
              <a:latin typeface="Arial"/>
            </a:endParaRPr>
          </a:p>
        </p:txBody>
      </p:sp>
      <p:sp>
        <p:nvSpPr>
          <p:cNvPr id="978" name="Shape 460"/>
          <p:cNvSpPr/>
          <p:nvPr/>
        </p:nvSpPr>
        <p:spPr>
          <a:xfrm>
            <a:off x="806400" y="3850200"/>
            <a:ext cx="360" cy="81000"/>
          </a:xfrm>
          <a:prstGeom prst="line">
            <a:avLst/>
          </a:prstGeom>
          <a:ln w="15240">
            <a:solidFill>
              <a:srgbClr val="8A93C0"/>
            </a:solidFill>
            <a:round/>
          </a:ln>
        </p:spPr>
        <p:style>
          <a:lnRef idx="0">
            <a:scrgbClr r="0" g="0" b="0"/>
          </a:lnRef>
          <a:fillRef idx="0">
            <a:scrgbClr r="0" g="0" b="0"/>
          </a:fillRef>
          <a:effectRef idx="0">
            <a:scrgbClr r="0" g="0" b="0"/>
          </a:effectRef>
          <a:fontRef idx="minor"/>
        </p:style>
        <p:txBody>
          <a:bodyPr lIns="90000" tIns="36000" rIns="90000" bIns="36000" anchor="t" anchorCtr="1">
            <a:noAutofit/>
          </a:bodyPr>
          <a:lstStyle/>
          <a:p>
            <a:endParaRPr lang="pl-PL" sz="1800" b="0" u="none" strike="noStrike">
              <a:solidFill>
                <a:srgbClr val="000000"/>
              </a:solidFill>
              <a:effectLst/>
              <a:uFillTx/>
              <a:latin typeface="Arial"/>
            </a:endParaRPr>
          </a:p>
        </p:txBody>
      </p:sp>
      <p:sp>
        <p:nvSpPr>
          <p:cNvPr id="979" name="Shape 461"/>
          <p:cNvSpPr/>
          <p:nvPr/>
        </p:nvSpPr>
        <p:spPr>
          <a:xfrm>
            <a:off x="403200" y="3931560"/>
            <a:ext cx="9273240" cy="623880"/>
          </a:xfrm>
          <a:prstGeom prst="roundRect">
            <a:avLst>
              <a:gd name="adj" fmla="val 12903"/>
            </a:avLst>
          </a:prstGeom>
          <a:solidFill>
            <a:srgbClr val="3A9F6E"/>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980" name="Shape 462"/>
          <p:cNvSpPr/>
          <p:nvPr/>
        </p:nvSpPr>
        <p:spPr>
          <a:xfrm>
            <a:off x="503640" y="4011840"/>
            <a:ext cx="623880" cy="462600"/>
          </a:xfrm>
          <a:prstGeom prst="roundRect">
            <a:avLst>
              <a:gd name="adj" fmla="val 13043"/>
            </a:avLst>
          </a:prstGeom>
          <a:solidFill>
            <a:srgbClr val="FFFFFF">
              <a:alpha val="8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981" name="Text 476"/>
          <p:cNvSpPr/>
          <p:nvPr/>
        </p:nvSpPr>
        <p:spPr>
          <a:xfrm>
            <a:off x="504000" y="4011840"/>
            <a:ext cx="623880" cy="46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400" b="1" u="none" strike="noStrike">
                <a:solidFill>
                  <a:srgbClr val="3A9F6E"/>
                </a:solidFill>
                <a:effectLst/>
                <a:uFillTx/>
                <a:latin typeface="Cambria"/>
                <a:ea typeface="Cambria"/>
              </a:rPr>
              <a:t>05</a:t>
            </a:r>
            <a:endParaRPr lang="pl-PL" sz="1400" b="0" u="none" strike="noStrike">
              <a:solidFill>
                <a:srgbClr val="000000"/>
              </a:solidFill>
              <a:effectLst/>
              <a:uFillTx/>
              <a:latin typeface="Arial"/>
            </a:endParaRPr>
          </a:p>
        </p:txBody>
      </p:sp>
      <p:sp>
        <p:nvSpPr>
          <p:cNvPr id="982" name="Text 477"/>
          <p:cNvSpPr/>
          <p:nvPr/>
        </p:nvSpPr>
        <p:spPr>
          <a:xfrm>
            <a:off x="1310400" y="3991680"/>
            <a:ext cx="251928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2000" b="1" u="none" strike="noStrike">
                <a:solidFill>
                  <a:srgbClr val="FFFFFF"/>
                </a:solidFill>
                <a:effectLst/>
                <a:uFillTx/>
                <a:latin typeface="Cambria"/>
                <a:ea typeface="Cambria"/>
              </a:rPr>
              <a:t>Przechowywanie</a:t>
            </a:r>
            <a:endParaRPr lang="pl-PL" sz="2000" b="0" u="none" strike="noStrike">
              <a:solidFill>
                <a:srgbClr val="000000"/>
              </a:solidFill>
              <a:effectLst/>
              <a:uFillTx/>
              <a:latin typeface="Arial"/>
            </a:endParaRPr>
          </a:p>
        </p:txBody>
      </p:sp>
      <p:sp>
        <p:nvSpPr>
          <p:cNvPr id="983" name="Shape 463"/>
          <p:cNvSpPr/>
          <p:nvPr/>
        </p:nvSpPr>
        <p:spPr>
          <a:xfrm>
            <a:off x="806400" y="4556160"/>
            <a:ext cx="360" cy="81000"/>
          </a:xfrm>
          <a:prstGeom prst="line">
            <a:avLst/>
          </a:prstGeom>
          <a:ln w="15240">
            <a:solidFill>
              <a:srgbClr val="8A93C0"/>
            </a:solidFill>
            <a:round/>
          </a:ln>
        </p:spPr>
        <p:style>
          <a:lnRef idx="0">
            <a:scrgbClr r="0" g="0" b="0"/>
          </a:lnRef>
          <a:fillRef idx="0">
            <a:scrgbClr r="0" g="0" b="0"/>
          </a:fillRef>
          <a:effectRef idx="0">
            <a:scrgbClr r="0" g="0" b="0"/>
          </a:effectRef>
          <a:fontRef idx="minor"/>
        </p:style>
        <p:txBody>
          <a:bodyPr lIns="90000" tIns="36000" rIns="90000" bIns="36000" anchor="t" anchorCtr="1">
            <a:noAutofit/>
          </a:bodyPr>
          <a:lstStyle/>
          <a:p>
            <a:endParaRPr lang="pl-PL" sz="1800" b="0" u="none" strike="noStrike">
              <a:solidFill>
                <a:srgbClr val="000000"/>
              </a:solidFill>
              <a:effectLst/>
              <a:uFillTx/>
              <a:latin typeface="Arial"/>
            </a:endParaRPr>
          </a:p>
        </p:txBody>
      </p:sp>
      <p:sp>
        <p:nvSpPr>
          <p:cNvPr id="984" name="Shape 464"/>
          <p:cNvSpPr/>
          <p:nvPr/>
        </p:nvSpPr>
        <p:spPr>
          <a:xfrm>
            <a:off x="403200" y="4637160"/>
            <a:ext cx="9273240" cy="623880"/>
          </a:xfrm>
          <a:prstGeom prst="roundRect">
            <a:avLst>
              <a:gd name="adj" fmla="val 12903"/>
            </a:avLst>
          </a:prstGeom>
          <a:solidFill>
            <a:srgbClr val="7B5EA7"/>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985" name="Shape 465"/>
          <p:cNvSpPr/>
          <p:nvPr/>
        </p:nvSpPr>
        <p:spPr>
          <a:xfrm>
            <a:off x="503640" y="4717440"/>
            <a:ext cx="623880" cy="462600"/>
          </a:xfrm>
          <a:prstGeom prst="roundRect">
            <a:avLst>
              <a:gd name="adj" fmla="val 13043"/>
            </a:avLst>
          </a:prstGeom>
          <a:solidFill>
            <a:srgbClr val="FFFFFF">
              <a:alpha val="8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986" name="Text 479"/>
          <p:cNvSpPr/>
          <p:nvPr/>
        </p:nvSpPr>
        <p:spPr>
          <a:xfrm>
            <a:off x="504000" y="4717440"/>
            <a:ext cx="623880" cy="46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400" b="1" u="none" strike="noStrike">
                <a:solidFill>
                  <a:srgbClr val="7B5EA7"/>
                </a:solidFill>
                <a:effectLst/>
                <a:uFillTx/>
                <a:latin typeface="Cambria"/>
                <a:ea typeface="Cambria"/>
              </a:rPr>
              <a:t>06</a:t>
            </a:r>
            <a:endParaRPr lang="pl-PL" sz="1400" b="0" u="none" strike="noStrike">
              <a:solidFill>
                <a:srgbClr val="000000"/>
              </a:solidFill>
              <a:effectLst/>
              <a:uFillTx/>
              <a:latin typeface="Arial"/>
            </a:endParaRPr>
          </a:p>
        </p:txBody>
      </p:sp>
      <p:sp>
        <p:nvSpPr>
          <p:cNvPr id="987" name="Text 480"/>
          <p:cNvSpPr/>
          <p:nvPr/>
        </p:nvSpPr>
        <p:spPr>
          <a:xfrm>
            <a:off x="1310400" y="4697280"/>
            <a:ext cx="291132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2000" b="1" u="none" strike="noStrike">
                <a:solidFill>
                  <a:srgbClr val="FFFFFF"/>
                </a:solidFill>
                <a:effectLst/>
                <a:uFillTx/>
                <a:latin typeface="Cambria"/>
                <a:ea typeface="Cambria"/>
              </a:rPr>
              <a:t>Analiza i raportowanie</a:t>
            </a:r>
            <a:endParaRPr lang="pl-PL" sz="2000" b="0" u="none" strike="noStrike">
              <a:solidFill>
                <a:srgbClr val="000000"/>
              </a:solidFill>
              <a:effectLst/>
              <a:uFillTx/>
              <a:latin typeface="Arial"/>
            </a:endParaRPr>
          </a:p>
        </p:txBody>
      </p:sp>
      <p:sp>
        <p:nvSpPr>
          <p:cNvPr id="988" name="Text 466"/>
          <p:cNvSpPr/>
          <p:nvPr/>
        </p:nvSpPr>
        <p:spPr>
          <a:xfrm>
            <a:off x="4327200" y="1168920"/>
            <a:ext cx="515232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0" u="none" strike="noStrike">
                <a:solidFill>
                  <a:srgbClr val="FFFFFF"/>
                </a:solidFill>
                <a:effectLst/>
                <a:uFillTx/>
                <a:latin typeface="Calibri"/>
                <a:ea typeface="Calibri"/>
              </a:rPr>
              <a:t>Generowanie i prezentacja materiałów eksperymentalnych</a:t>
            </a:r>
            <a:endParaRPr lang="pl-PL" sz="1600" b="0" u="none" strike="noStrike">
              <a:solidFill>
                <a:srgbClr val="000000"/>
              </a:solidFill>
              <a:effectLst/>
              <a:uFillTx/>
              <a:latin typeface="Arial"/>
            </a:endParaRPr>
          </a:p>
        </p:txBody>
      </p:sp>
      <p:sp>
        <p:nvSpPr>
          <p:cNvPr id="989" name="Text 469"/>
          <p:cNvSpPr/>
          <p:nvPr/>
        </p:nvSpPr>
        <p:spPr>
          <a:xfrm>
            <a:off x="4327200" y="1874520"/>
            <a:ext cx="515232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0" u="none" strike="noStrike">
                <a:solidFill>
                  <a:srgbClr val="FFFFFF"/>
                </a:solidFill>
                <a:effectLst/>
                <a:uFillTx/>
                <a:latin typeface="Calibri"/>
                <a:ea typeface="Calibri"/>
              </a:rPr>
              <a:t>Sprzęt pomiarowy, sterowniki, SDK</a:t>
            </a:r>
            <a:endParaRPr lang="pl-PL" sz="1600" b="0" u="none" strike="noStrike">
              <a:solidFill>
                <a:srgbClr val="000000"/>
              </a:solidFill>
              <a:effectLst/>
              <a:uFillTx/>
              <a:latin typeface="Arial"/>
            </a:endParaRPr>
          </a:p>
        </p:txBody>
      </p:sp>
      <p:sp>
        <p:nvSpPr>
          <p:cNvPr id="990" name="Text 472"/>
          <p:cNvSpPr/>
          <p:nvPr/>
        </p:nvSpPr>
        <p:spPr>
          <a:xfrm>
            <a:off x="4327200" y="2580480"/>
            <a:ext cx="515232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0" u="none" strike="noStrike">
                <a:solidFill>
                  <a:srgbClr val="FFFFFF"/>
                </a:solidFill>
                <a:effectLst/>
                <a:uFillTx/>
                <a:latin typeface="Calibri"/>
                <a:ea typeface="Calibri"/>
              </a:rPr>
              <a:t>LSL, triggery TTL, znaczniki zdarzeń</a:t>
            </a:r>
            <a:endParaRPr lang="pl-PL" sz="1600" b="0" u="none" strike="noStrike">
              <a:solidFill>
                <a:srgbClr val="000000"/>
              </a:solidFill>
              <a:effectLst/>
              <a:uFillTx/>
              <a:latin typeface="Arial"/>
            </a:endParaRPr>
          </a:p>
        </p:txBody>
      </p:sp>
      <p:sp>
        <p:nvSpPr>
          <p:cNvPr id="991" name="Text 478"/>
          <p:cNvSpPr/>
          <p:nvPr/>
        </p:nvSpPr>
        <p:spPr>
          <a:xfrm>
            <a:off x="4327200" y="3991680"/>
            <a:ext cx="515232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0" u="none" strike="noStrike">
                <a:solidFill>
                  <a:srgbClr val="FFFFFF"/>
                </a:solidFill>
                <a:effectLst/>
                <a:uFillTx/>
                <a:latin typeface="Calibri"/>
                <a:ea typeface="Calibri"/>
              </a:rPr>
              <a:t>Dane surowe → backup → wersjonowanie</a:t>
            </a:r>
            <a:endParaRPr lang="pl-PL" sz="1600" b="0" u="none" strike="noStrike">
              <a:solidFill>
                <a:srgbClr val="000000"/>
              </a:solidFill>
              <a:effectLst/>
              <a:uFillTx/>
              <a:latin typeface="Arial"/>
            </a:endParaRPr>
          </a:p>
        </p:txBody>
      </p:sp>
      <p:sp>
        <p:nvSpPr>
          <p:cNvPr id="992" name="Text 481"/>
          <p:cNvSpPr/>
          <p:nvPr/>
        </p:nvSpPr>
        <p:spPr>
          <a:xfrm>
            <a:off x="4327200" y="4697280"/>
            <a:ext cx="515232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0" u="none" strike="noStrike">
                <a:solidFill>
                  <a:srgbClr val="FFFFFF"/>
                </a:solidFill>
                <a:effectLst/>
                <a:uFillTx/>
                <a:latin typeface="Calibri"/>
                <a:ea typeface="Calibri"/>
              </a:rPr>
              <a:t>Skrypty, notebooki, automatyczne raporty</a:t>
            </a:r>
            <a:endParaRPr lang="pl-PL" sz="1600" b="0" u="none" strike="noStrike">
              <a:solidFill>
                <a:srgbClr val="000000"/>
              </a:solidFill>
              <a:effectLst/>
              <a:uFillTx/>
              <a:latin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99"/>
            <a:ext cx="10080625" cy="1008063"/>
          </a:xfrm>
          <a:prstGeom prst="rect">
            <a:avLst/>
          </a:prstGeom>
          <a:solidFill>
            <a:srgbClr val="1E2761"/>
          </a:solidFill>
          <a:ln w="12700">
            <a:solidFill>
              <a:srgbClr val="1E2761"/>
            </a:solidFill>
            <a:prstDash val="solid"/>
          </a:ln>
        </p:spPr>
      </p:sp>
      <p:sp>
        <p:nvSpPr>
          <p:cNvPr id="3" name="Text 1"/>
          <p:cNvSpPr/>
          <p:nvPr/>
        </p:nvSpPr>
        <p:spPr>
          <a:xfrm>
            <a:off x="453628" y="70664"/>
            <a:ext cx="9173369" cy="504031"/>
          </a:xfrm>
          <a:prstGeom prst="rect">
            <a:avLst/>
          </a:prstGeom>
          <a:noFill/>
          <a:ln/>
        </p:spPr>
        <p:txBody>
          <a:bodyPr wrap="square" rtlCol="0" anchor="b"/>
          <a:lstStyle/>
          <a:p>
            <a:r>
              <a:rPr lang="en-US" sz="2200" b="1" dirty="0">
                <a:solidFill>
                  <a:srgbClr val="FFFFFF"/>
                </a:solidFill>
                <a:latin typeface="Cambria" pitchFamily="34" charset="0"/>
                <a:ea typeface="Cambria" pitchFamily="34" charset="-122"/>
                <a:cs typeface="Cambria" pitchFamily="34" charset="-120"/>
              </a:rPr>
              <a:t>KONTROLA JAKOŚCI DANYCH W TRAKCIE EKSPERYMENTU</a:t>
            </a:r>
            <a:endParaRPr lang="en-US" sz="2200" dirty="0"/>
          </a:p>
        </p:txBody>
      </p:sp>
      <p:sp>
        <p:nvSpPr>
          <p:cNvPr id="4" name="Text 2"/>
          <p:cNvSpPr/>
          <p:nvPr/>
        </p:nvSpPr>
        <p:spPr>
          <a:xfrm>
            <a:off x="453628" y="594856"/>
            <a:ext cx="9173369" cy="332661"/>
          </a:xfrm>
          <a:prstGeom prst="rect">
            <a:avLst/>
          </a:prstGeom>
          <a:noFill/>
          <a:ln/>
        </p:spPr>
        <p:txBody>
          <a:bodyPr wrap="square" rtlCol="0" anchor="t"/>
          <a:lstStyle/>
          <a:p>
            <a:r>
              <a:rPr lang="en-US" sz="1400" i="1" dirty="0">
                <a:solidFill>
                  <a:srgbClr val="CADCFC"/>
                </a:solidFill>
                <a:latin typeface="Calibri" pitchFamily="34" charset="0"/>
                <a:ea typeface="Calibri" pitchFamily="34" charset="-122"/>
                <a:cs typeface="Calibri" pitchFamily="34" charset="-120"/>
              </a:rPr>
              <a:t>Kontrola jakości jako część systemu akwizycji, nie etap po badaniu</a:t>
            </a:r>
            <a:endParaRPr lang="en-US" sz="1400" dirty="0"/>
          </a:p>
        </p:txBody>
      </p:sp>
      <p:sp>
        <p:nvSpPr>
          <p:cNvPr id="5" name="Shape 3"/>
          <p:cNvSpPr/>
          <p:nvPr/>
        </p:nvSpPr>
        <p:spPr>
          <a:xfrm>
            <a:off x="403225" y="1108968"/>
            <a:ext cx="2217962" cy="1512094"/>
          </a:xfrm>
          <a:prstGeom prst="roundRect">
            <a:avLst>
              <a:gd name="adj" fmla="val 2572"/>
            </a:avLst>
          </a:prstGeom>
          <a:solidFill>
            <a:srgbClr val="FFFFFF"/>
          </a:solidFill>
          <a:ln>
            <a:solidFill>
              <a:schemeClr val="bg2">
                <a:lumMod val="75000"/>
              </a:schemeClr>
            </a:solidFill>
          </a:ln>
          <a:effectLst>
            <a:outerShdw blurRad="76200" dist="25400" dir="2700000" algn="bl" rotWithShape="0">
              <a:srgbClr val="000000">
                <a:alpha val="8000"/>
              </a:srgbClr>
            </a:outerShdw>
          </a:effectLst>
        </p:spPr>
      </p:sp>
      <p:sp>
        <p:nvSpPr>
          <p:cNvPr id="6" name="Shape 4"/>
          <p:cNvSpPr/>
          <p:nvPr/>
        </p:nvSpPr>
        <p:spPr>
          <a:xfrm>
            <a:off x="403225" y="1108968"/>
            <a:ext cx="2217962" cy="120968"/>
          </a:xfrm>
          <a:prstGeom prst="roundRect">
            <a:avLst>
              <a:gd name="adj" fmla="val 33333"/>
            </a:avLst>
          </a:prstGeom>
          <a:solidFill>
            <a:srgbClr val="3A9F6E"/>
          </a:solidFill>
          <a:ln/>
        </p:spPr>
      </p:sp>
      <p:sp>
        <p:nvSpPr>
          <p:cNvPr id="7" name="Text 5"/>
          <p:cNvSpPr/>
          <p:nvPr/>
        </p:nvSpPr>
        <p:spPr>
          <a:xfrm>
            <a:off x="527018" y="1330742"/>
            <a:ext cx="1970375" cy="403225"/>
          </a:xfrm>
          <a:prstGeom prst="rect">
            <a:avLst/>
          </a:prstGeom>
          <a:noFill/>
          <a:ln/>
        </p:spPr>
        <p:txBody>
          <a:bodyPr wrap="square" rtlCol="0" anchor="ctr"/>
          <a:lstStyle/>
          <a:p>
            <a:pPr>
              <a:lnSpc>
                <a:spcPct val="110000"/>
              </a:lnSpc>
            </a:pPr>
            <a:r>
              <a:rPr lang="en-US" sz="1600" b="1" dirty="0">
                <a:solidFill>
                  <a:srgbClr val="1A1F3C"/>
                </a:solidFill>
                <a:latin typeface="Cambria" pitchFamily="34" charset="0"/>
                <a:ea typeface="Cambria" pitchFamily="34" charset="-122"/>
                <a:cs typeface="Cambria" pitchFamily="34" charset="-120"/>
              </a:rPr>
              <a:t>Attention checks</a:t>
            </a:r>
            <a:endParaRPr lang="en-US" sz="1600" dirty="0"/>
          </a:p>
        </p:txBody>
      </p:sp>
      <p:sp>
        <p:nvSpPr>
          <p:cNvPr id="8" name="Text 6"/>
          <p:cNvSpPr/>
          <p:nvPr/>
        </p:nvSpPr>
        <p:spPr>
          <a:xfrm>
            <a:off x="527018" y="1713806"/>
            <a:ext cx="1970375" cy="504031"/>
          </a:xfrm>
          <a:prstGeom prst="rect">
            <a:avLst/>
          </a:prstGeom>
          <a:noFill/>
          <a:ln/>
        </p:spPr>
        <p:txBody>
          <a:bodyPr wrap="square" rtlCol="0" anchor="ctr"/>
          <a:lstStyle/>
          <a:p>
            <a:r>
              <a:rPr lang="en-US" sz="3600" b="1" dirty="0">
                <a:solidFill>
                  <a:srgbClr val="3A9F6E"/>
                </a:solidFill>
                <a:latin typeface="Cambria" pitchFamily="34" charset="0"/>
                <a:ea typeface="Cambria" pitchFamily="34" charset="-122"/>
                <a:cs typeface="Cambria" pitchFamily="34" charset="-120"/>
              </a:rPr>
              <a:t>38 / 40</a:t>
            </a:r>
            <a:endParaRPr lang="en-US" sz="3600" dirty="0"/>
          </a:p>
        </p:txBody>
      </p:sp>
      <p:sp>
        <p:nvSpPr>
          <p:cNvPr id="9" name="Text 7"/>
          <p:cNvSpPr/>
          <p:nvPr/>
        </p:nvSpPr>
        <p:spPr>
          <a:xfrm>
            <a:off x="527018" y="2248078"/>
            <a:ext cx="1970375" cy="302419"/>
          </a:xfrm>
          <a:prstGeom prst="rect">
            <a:avLst/>
          </a:prstGeom>
          <a:noFill/>
          <a:ln/>
        </p:spPr>
        <p:txBody>
          <a:bodyPr wrap="square" rtlCol="0" anchor="ctr"/>
          <a:lstStyle/>
          <a:p>
            <a:r>
              <a:rPr lang="en-US" sz="1400" i="1" dirty="0">
                <a:solidFill>
                  <a:srgbClr val="8A93C0"/>
                </a:solidFill>
                <a:latin typeface="Calibri" pitchFamily="34" charset="0"/>
                <a:ea typeface="Calibri" pitchFamily="34" charset="-122"/>
                <a:cs typeface="Calibri" pitchFamily="34" charset="-120"/>
              </a:rPr>
              <a:t>zaliczonych</a:t>
            </a:r>
            <a:endParaRPr lang="en-US" sz="1400" dirty="0"/>
          </a:p>
        </p:txBody>
      </p:sp>
      <p:sp>
        <p:nvSpPr>
          <p:cNvPr id="10" name="Shape 8"/>
          <p:cNvSpPr/>
          <p:nvPr/>
        </p:nvSpPr>
        <p:spPr>
          <a:xfrm>
            <a:off x="2755296" y="1108968"/>
            <a:ext cx="2217962" cy="1512094"/>
          </a:xfrm>
          <a:prstGeom prst="roundRect">
            <a:avLst>
              <a:gd name="adj" fmla="val 3045"/>
            </a:avLst>
          </a:prstGeom>
          <a:solidFill>
            <a:srgbClr val="FFFFFF"/>
          </a:solidFill>
          <a:ln>
            <a:solidFill>
              <a:schemeClr val="bg2">
                <a:lumMod val="75000"/>
              </a:schemeClr>
            </a:solidFill>
          </a:ln>
          <a:effectLst>
            <a:outerShdw blurRad="76200" dist="25400" dir="2700000" algn="bl" rotWithShape="0">
              <a:srgbClr val="000000">
                <a:alpha val="8000"/>
              </a:srgbClr>
            </a:outerShdw>
          </a:effectLst>
        </p:spPr>
      </p:sp>
      <p:sp>
        <p:nvSpPr>
          <p:cNvPr id="11" name="Shape 9"/>
          <p:cNvSpPr/>
          <p:nvPr/>
        </p:nvSpPr>
        <p:spPr>
          <a:xfrm>
            <a:off x="2755296" y="1108968"/>
            <a:ext cx="2217962" cy="120968"/>
          </a:xfrm>
          <a:prstGeom prst="roundRect">
            <a:avLst>
              <a:gd name="adj" fmla="val 33333"/>
            </a:avLst>
          </a:prstGeom>
          <a:solidFill>
            <a:srgbClr val="3A9F6E"/>
          </a:solidFill>
          <a:ln/>
        </p:spPr>
      </p:sp>
      <p:sp>
        <p:nvSpPr>
          <p:cNvPr id="12" name="Text 10"/>
          <p:cNvSpPr/>
          <p:nvPr/>
        </p:nvSpPr>
        <p:spPr>
          <a:xfrm>
            <a:off x="2820605" y="1330742"/>
            <a:ext cx="2094168" cy="403225"/>
          </a:xfrm>
          <a:prstGeom prst="rect">
            <a:avLst/>
          </a:prstGeom>
          <a:noFill/>
          <a:ln/>
        </p:spPr>
        <p:txBody>
          <a:bodyPr wrap="square" rtlCol="0" anchor="ctr"/>
          <a:lstStyle/>
          <a:p>
            <a:pPr>
              <a:lnSpc>
                <a:spcPct val="110000"/>
              </a:lnSpc>
            </a:pPr>
            <a:r>
              <a:rPr lang="en-US" sz="1600" b="1" dirty="0">
                <a:solidFill>
                  <a:srgbClr val="1A1F3C"/>
                </a:solidFill>
                <a:latin typeface="Cambria" pitchFamily="34" charset="0"/>
                <a:ea typeface="Cambria" pitchFamily="34" charset="-122"/>
                <a:cs typeface="Cambria" pitchFamily="34" charset="-120"/>
              </a:rPr>
              <a:t>Jakość sygnału EEG</a:t>
            </a:r>
            <a:endParaRPr lang="en-US" sz="1600" dirty="0"/>
          </a:p>
        </p:txBody>
      </p:sp>
      <p:sp>
        <p:nvSpPr>
          <p:cNvPr id="13" name="Text 11"/>
          <p:cNvSpPr/>
          <p:nvPr/>
        </p:nvSpPr>
        <p:spPr>
          <a:xfrm>
            <a:off x="2879090" y="1713806"/>
            <a:ext cx="1970375" cy="504031"/>
          </a:xfrm>
          <a:prstGeom prst="rect">
            <a:avLst/>
          </a:prstGeom>
          <a:noFill/>
          <a:ln/>
        </p:spPr>
        <p:txBody>
          <a:bodyPr wrap="square" rtlCol="0" anchor="ctr"/>
          <a:lstStyle/>
          <a:p>
            <a:r>
              <a:rPr lang="en-US" sz="3600" b="1" dirty="0">
                <a:solidFill>
                  <a:srgbClr val="3A9F6E"/>
                </a:solidFill>
                <a:latin typeface="Cambria" pitchFamily="34" charset="0"/>
                <a:ea typeface="Cambria" pitchFamily="34" charset="-122"/>
                <a:cs typeface="Cambria" pitchFamily="34" charset="-120"/>
              </a:rPr>
              <a:t>94%</a:t>
            </a:r>
            <a:endParaRPr lang="en-US" sz="3600" dirty="0"/>
          </a:p>
        </p:txBody>
      </p:sp>
      <p:sp>
        <p:nvSpPr>
          <p:cNvPr id="14" name="Text 12"/>
          <p:cNvSpPr/>
          <p:nvPr/>
        </p:nvSpPr>
        <p:spPr>
          <a:xfrm>
            <a:off x="2879090" y="2248078"/>
            <a:ext cx="1970375" cy="302419"/>
          </a:xfrm>
          <a:prstGeom prst="rect">
            <a:avLst/>
          </a:prstGeom>
          <a:noFill/>
          <a:ln/>
        </p:spPr>
        <p:txBody>
          <a:bodyPr wrap="square" rtlCol="0" anchor="ctr"/>
          <a:lstStyle/>
          <a:p>
            <a:r>
              <a:rPr lang="en-US" sz="1400" i="1" dirty="0">
                <a:solidFill>
                  <a:srgbClr val="8A93C0"/>
                </a:solidFill>
                <a:latin typeface="Calibri" pitchFamily="34" charset="0"/>
                <a:ea typeface="Calibri" pitchFamily="34" charset="-122"/>
                <a:cs typeface="Calibri" pitchFamily="34" charset="-120"/>
              </a:rPr>
              <a:t>elektrody aktywne</a:t>
            </a:r>
            <a:endParaRPr lang="en-US" sz="1400" dirty="0"/>
          </a:p>
        </p:txBody>
      </p:sp>
      <p:sp>
        <p:nvSpPr>
          <p:cNvPr id="15" name="Shape 13"/>
          <p:cNvSpPr/>
          <p:nvPr/>
        </p:nvSpPr>
        <p:spPr>
          <a:xfrm>
            <a:off x="5107368" y="1108968"/>
            <a:ext cx="2217962" cy="1512094"/>
          </a:xfrm>
          <a:prstGeom prst="roundRect">
            <a:avLst>
              <a:gd name="adj" fmla="val 2887"/>
            </a:avLst>
          </a:prstGeom>
          <a:solidFill>
            <a:srgbClr val="FFFFFF"/>
          </a:solidFill>
          <a:ln>
            <a:solidFill>
              <a:schemeClr val="bg2">
                <a:lumMod val="75000"/>
              </a:schemeClr>
            </a:solidFill>
          </a:ln>
          <a:effectLst>
            <a:outerShdw blurRad="76200" dist="25400" dir="2700000" algn="bl" rotWithShape="0">
              <a:srgbClr val="000000">
                <a:alpha val="8000"/>
              </a:srgbClr>
            </a:outerShdw>
          </a:effectLst>
        </p:spPr>
      </p:sp>
      <p:sp>
        <p:nvSpPr>
          <p:cNvPr id="16" name="Shape 14"/>
          <p:cNvSpPr/>
          <p:nvPr/>
        </p:nvSpPr>
        <p:spPr>
          <a:xfrm>
            <a:off x="5107368" y="1108968"/>
            <a:ext cx="2217962" cy="120968"/>
          </a:xfrm>
          <a:prstGeom prst="roundRect">
            <a:avLst>
              <a:gd name="adj" fmla="val 33333"/>
            </a:avLst>
          </a:prstGeom>
          <a:solidFill>
            <a:srgbClr val="E0A030"/>
          </a:solidFill>
          <a:ln/>
        </p:spPr>
      </p:sp>
      <p:sp>
        <p:nvSpPr>
          <p:cNvPr id="17" name="Text 15"/>
          <p:cNvSpPr/>
          <p:nvPr/>
        </p:nvSpPr>
        <p:spPr>
          <a:xfrm>
            <a:off x="5231160" y="1330742"/>
            <a:ext cx="1970375" cy="403225"/>
          </a:xfrm>
          <a:prstGeom prst="rect">
            <a:avLst/>
          </a:prstGeom>
          <a:noFill/>
          <a:ln/>
        </p:spPr>
        <p:txBody>
          <a:bodyPr wrap="square" rtlCol="0" anchor="ctr"/>
          <a:lstStyle/>
          <a:p>
            <a:pPr>
              <a:lnSpc>
                <a:spcPct val="110000"/>
              </a:lnSpc>
            </a:pPr>
            <a:r>
              <a:rPr lang="en-US" sz="1600" b="1" dirty="0">
                <a:solidFill>
                  <a:srgbClr val="1A1F3C"/>
                </a:solidFill>
                <a:latin typeface="Cambria" pitchFamily="34" charset="0"/>
                <a:ea typeface="Cambria" pitchFamily="34" charset="-122"/>
                <a:cs typeface="Cambria" pitchFamily="34" charset="-120"/>
              </a:rPr>
              <a:t>Brakujące dane</a:t>
            </a:r>
            <a:endParaRPr lang="en-US" sz="1600" dirty="0"/>
          </a:p>
        </p:txBody>
      </p:sp>
      <p:sp>
        <p:nvSpPr>
          <p:cNvPr id="18" name="Text 16"/>
          <p:cNvSpPr/>
          <p:nvPr/>
        </p:nvSpPr>
        <p:spPr>
          <a:xfrm>
            <a:off x="5231160" y="1713806"/>
            <a:ext cx="1970375" cy="504031"/>
          </a:xfrm>
          <a:prstGeom prst="rect">
            <a:avLst/>
          </a:prstGeom>
          <a:noFill/>
          <a:ln/>
        </p:spPr>
        <p:txBody>
          <a:bodyPr wrap="square" rtlCol="0" anchor="ctr"/>
          <a:lstStyle/>
          <a:p>
            <a:r>
              <a:rPr lang="en-US" sz="3600" b="1" dirty="0">
                <a:solidFill>
                  <a:srgbClr val="E0A030"/>
                </a:solidFill>
                <a:latin typeface="Cambria" pitchFamily="34" charset="0"/>
                <a:ea typeface="Cambria" pitchFamily="34" charset="-122"/>
                <a:cs typeface="Cambria" pitchFamily="34" charset="-120"/>
              </a:rPr>
              <a:t>2%</a:t>
            </a:r>
            <a:endParaRPr lang="en-US" sz="3600" dirty="0"/>
          </a:p>
        </p:txBody>
      </p:sp>
      <p:sp>
        <p:nvSpPr>
          <p:cNvPr id="19" name="Text 17"/>
          <p:cNvSpPr/>
          <p:nvPr/>
        </p:nvSpPr>
        <p:spPr>
          <a:xfrm>
            <a:off x="5231160" y="2248078"/>
            <a:ext cx="1970375" cy="302419"/>
          </a:xfrm>
          <a:prstGeom prst="rect">
            <a:avLst/>
          </a:prstGeom>
          <a:noFill/>
          <a:ln/>
        </p:spPr>
        <p:txBody>
          <a:bodyPr wrap="square" rtlCol="0" anchor="ctr"/>
          <a:lstStyle/>
          <a:p>
            <a:r>
              <a:rPr lang="en-US" sz="1400" i="1" dirty="0">
                <a:solidFill>
                  <a:srgbClr val="8A93C0"/>
                </a:solidFill>
                <a:latin typeface="Calibri" pitchFamily="34" charset="0"/>
                <a:ea typeface="Calibri" pitchFamily="34" charset="-122"/>
                <a:cs typeface="Calibri" pitchFamily="34" charset="-120"/>
              </a:rPr>
              <a:t>w bieżącej sesji</a:t>
            </a:r>
            <a:endParaRPr lang="en-US" sz="1400" dirty="0"/>
          </a:p>
        </p:txBody>
      </p:sp>
      <p:sp>
        <p:nvSpPr>
          <p:cNvPr id="20" name="Shape 18"/>
          <p:cNvSpPr/>
          <p:nvPr/>
        </p:nvSpPr>
        <p:spPr>
          <a:xfrm>
            <a:off x="7459438" y="1108968"/>
            <a:ext cx="2217962" cy="1512094"/>
          </a:xfrm>
          <a:prstGeom prst="roundRect">
            <a:avLst>
              <a:gd name="adj" fmla="val 2258"/>
            </a:avLst>
          </a:prstGeom>
          <a:solidFill>
            <a:srgbClr val="FFFFFF"/>
          </a:solidFill>
          <a:ln>
            <a:solidFill>
              <a:schemeClr val="bg2">
                <a:lumMod val="75000"/>
              </a:schemeClr>
            </a:solidFill>
          </a:ln>
          <a:effectLst>
            <a:outerShdw blurRad="76200" dist="25400" dir="2700000" algn="bl" rotWithShape="0">
              <a:srgbClr val="000000">
                <a:alpha val="8000"/>
              </a:srgbClr>
            </a:outerShdw>
          </a:effectLst>
        </p:spPr>
      </p:sp>
      <p:sp>
        <p:nvSpPr>
          <p:cNvPr id="21" name="Shape 19"/>
          <p:cNvSpPr/>
          <p:nvPr/>
        </p:nvSpPr>
        <p:spPr>
          <a:xfrm>
            <a:off x="7459438" y="1108968"/>
            <a:ext cx="2217962" cy="120968"/>
          </a:xfrm>
          <a:prstGeom prst="roundRect">
            <a:avLst>
              <a:gd name="adj" fmla="val 33333"/>
            </a:avLst>
          </a:prstGeom>
          <a:solidFill>
            <a:srgbClr val="E0A030"/>
          </a:solidFill>
          <a:ln/>
        </p:spPr>
      </p:sp>
      <p:sp>
        <p:nvSpPr>
          <p:cNvPr id="22" name="Text 20"/>
          <p:cNvSpPr/>
          <p:nvPr/>
        </p:nvSpPr>
        <p:spPr>
          <a:xfrm>
            <a:off x="7583232" y="1330742"/>
            <a:ext cx="1970375" cy="403225"/>
          </a:xfrm>
          <a:prstGeom prst="rect">
            <a:avLst/>
          </a:prstGeom>
          <a:noFill/>
          <a:ln/>
        </p:spPr>
        <p:txBody>
          <a:bodyPr wrap="square" rtlCol="0" anchor="ctr"/>
          <a:lstStyle/>
          <a:p>
            <a:pPr>
              <a:lnSpc>
                <a:spcPct val="110000"/>
              </a:lnSpc>
            </a:pPr>
            <a:r>
              <a:rPr lang="en-US" sz="1600" b="1" dirty="0">
                <a:solidFill>
                  <a:srgbClr val="1A1F3C"/>
                </a:solidFill>
                <a:latin typeface="Cambria" pitchFamily="34" charset="0"/>
                <a:ea typeface="Cambria" pitchFamily="34" charset="-122"/>
                <a:cs typeface="Cambria" pitchFamily="34" charset="-120"/>
              </a:rPr>
              <a:t>Outliery wykryte</a:t>
            </a:r>
            <a:endParaRPr lang="en-US" sz="1600" dirty="0"/>
          </a:p>
        </p:txBody>
      </p:sp>
      <p:sp>
        <p:nvSpPr>
          <p:cNvPr id="23" name="Text 21"/>
          <p:cNvSpPr/>
          <p:nvPr/>
        </p:nvSpPr>
        <p:spPr>
          <a:xfrm>
            <a:off x="7583232" y="1713806"/>
            <a:ext cx="1970375" cy="504031"/>
          </a:xfrm>
          <a:prstGeom prst="rect">
            <a:avLst/>
          </a:prstGeom>
          <a:noFill/>
          <a:ln/>
        </p:spPr>
        <p:txBody>
          <a:bodyPr wrap="square" rtlCol="0" anchor="ctr"/>
          <a:lstStyle/>
          <a:p>
            <a:r>
              <a:rPr lang="en-US" sz="3600" b="1" dirty="0">
                <a:solidFill>
                  <a:srgbClr val="E0A030"/>
                </a:solidFill>
                <a:latin typeface="Cambria" pitchFamily="34" charset="0"/>
                <a:ea typeface="Cambria" pitchFamily="34" charset="-122"/>
                <a:cs typeface="Cambria" pitchFamily="34" charset="-120"/>
              </a:rPr>
              <a:t>3</a:t>
            </a:r>
            <a:endParaRPr lang="en-US" sz="3600" dirty="0"/>
          </a:p>
        </p:txBody>
      </p:sp>
      <p:sp>
        <p:nvSpPr>
          <p:cNvPr id="24" name="Text 22"/>
          <p:cNvSpPr/>
          <p:nvPr/>
        </p:nvSpPr>
        <p:spPr>
          <a:xfrm>
            <a:off x="7583232" y="2248078"/>
            <a:ext cx="1970375" cy="302419"/>
          </a:xfrm>
          <a:prstGeom prst="rect">
            <a:avLst/>
          </a:prstGeom>
          <a:noFill/>
          <a:ln/>
        </p:spPr>
        <p:txBody>
          <a:bodyPr wrap="square" rtlCol="0" anchor="ctr"/>
          <a:lstStyle/>
          <a:p>
            <a:r>
              <a:rPr lang="en-US" sz="1400" i="1" dirty="0">
                <a:solidFill>
                  <a:srgbClr val="8A93C0"/>
                </a:solidFill>
                <a:latin typeface="Calibri" pitchFamily="34" charset="0"/>
                <a:ea typeface="Calibri" pitchFamily="34" charset="-122"/>
                <a:cs typeface="Calibri" pitchFamily="34" charset="-120"/>
              </a:rPr>
              <a:t>do przeglądu</a:t>
            </a:r>
            <a:endParaRPr lang="en-US" sz="1400" dirty="0"/>
          </a:p>
        </p:txBody>
      </p:sp>
      <p:sp>
        <p:nvSpPr>
          <p:cNvPr id="25" name="Shape 23"/>
          <p:cNvSpPr/>
          <p:nvPr/>
        </p:nvSpPr>
        <p:spPr>
          <a:xfrm>
            <a:off x="403225" y="2745363"/>
            <a:ext cx="9274175" cy="634331"/>
          </a:xfrm>
          <a:prstGeom prst="roundRect">
            <a:avLst>
              <a:gd name="adj" fmla="val 20000"/>
            </a:avLst>
          </a:prstGeom>
          <a:solidFill>
            <a:srgbClr val="FFF3CD"/>
          </a:solidFill>
          <a:ln>
            <a:solidFill>
              <a:schemeClr val="accent4">
                <a:lumMod val="40000"/>
                <a:lumOff val="60000"/>
              </a:schemeClr>
            </a:solidFill>
          </a:ln>
          <a:effectLst>
            <a:outerShdw blurRad="76200" dist="25400" dir="2700000" algn="bl" rotWithShape="0">
              <a:srgbClr val="000000">
                <a:alpha val="8000"/>
              </a:srgbClr>
            </a:outerShdw>
          </a:effectLst>
        </p:spPr>
        <p:txBody>
          <a:bodyPr anchor="ctr"/>
          <a:lstStyle/>
          <a:p>
            <a:pPr algn="ctr"/>
            <a:r>
              <a:rPr lang="en-US" dirty="0">
                <a:solidFill>
                  <a:srgbClr val="7B4F00"/>
                </a:solidFill>
                <a:latin typeface="Cambria Math" panose="02040503050406030204" pitchFamily="18" charset="0"/>
                <a:ea typeface="Cambria Math" panose="02040503050406030204" pitchFamily="18" charset="0"/>
                <a:cs typeface="Calibri" pitchFamily="34" charset="-120"/>
              </a:rPr>
              <a:t>🔔  </a:t>
            </a:r>
            <a:r>
              <a:rPr lang="en-US" b="1" dirty="0">
                <a:solidFill>
                  <a:srgbClr val="7B4F00"/>
                </a:solidFill>
                <a:latin typeface="Cambria Math" panose="02040503050406030204" pitchFamily="18" charset="0"/>
                <a:ea typeface="Cambria Math" panose="02040503050406030204" pitchFamily="18" charset="0"/>
                <a:cs typeface="Calibri" pitchFamily="34" charset="-120"/>
              </a:rPr>
              <a:t>Alert</a:t>
            </a:r>
            <a:r>
              <a:rPr lang="pl-PL" b="1" dirty="0">
                <a:solidFill>
                  <a:srgbClr val="7B4F00"/>
                </a:solidFill>
                <a:latin typeface="Cambria Math" panose="02040503050406030204" pitchFamily="18" charset="0"/>
                <a:ea typeface="Cambria Math" panose="02040503050406030204" pitchFamily="18" charset="0"/>
                <a:cs typeface="Calibri" pitchFamily="34" charset="-120"/>
              </a:rPr>
              <a:t>y</a:t>
            </a:r>
            <a:r>
              <a:rPr lang="en-US" b="1" dirty="0">
                <a:solidFill>
                  <a:srgbClr val="7B4F00"/>
                </a:solidFill>
                <a:latin typeface="Cambria Math" panose="02040503050406030204" pitchFamily="18" charset="0"/>
                <a:ea typeface="Cambria Math" panose="02040503050406030204" pitchFamily="18" charset="0"/>
                <a:cs typeface="Calibri" pitchFamily="34" charset="-120"/>
              </a:rPr>
              <a:t> w </a:t>
            </a:r>
            <a:r>
              <a:rPr lang="en-US" b="1" dirty="0" err="1">
                <a:solidFill>
                  <a:srgbClr val="7B4F00"/>
                </a:solidFill>
                <a:latin typeface="Cambria Math" panose="02040503050406030204" pitchFamily="18" charset="0"/>
                <a:ea typeface="Cambria Math" panose="02040503050406030204" pitchFamily="18" charset="0"/>
                <a:cs typeface="Calibri" pitchFamily="34" charset="-120"/>
              </a:rPr>
              <a:t>czasie</a:t>
            </a:r>
            <a:r>
              <a:rPr lang="en-US" b="1" dirty="0">
                <a:solidFill>
                  <a:srgbClr val="7B4F00"/>
                </a:solidFill>
                <a:latin typeface="Cambria Math" panose="02040503050406030204" pitchFamily="18" charset="0"/>
                <a:ea typeface="Cambria Math" panose="02040503050406030204" pitchFamily="18" charset="0"/>
                <a:cs typeface="Calibri" pitchFamily="34" charset="-120"/>
              </a:rPr>
              <a:t> </a:t>
            </a:r>
            <a:r>
              <a:rPr lang="en-US" b="1" dirty="0" err="1">
                <a:solidFill>
                  <a:srgbClr val="7B4F00"/>
                </a:solidFill>
                <a:latin typeface="Cambria Math" panose="02040503050406030204" pitchFamily="18" charset="0"/>
                <a:ea typeface="Cambria Math" panose="02040503050406030204" pitchFamily="18" charset="0"/>
                <a:cs typeface="Calibri" pitchFamily="34" charset="-120"/>
              </a:rPr>
              <a:t>rzeczywistym</a:t>
            </a:r>
            <a:r>
              <a:rPr lang="en-US" dirty="0">
                <a:solidFill>
                  <a:srgbClr val="7B4F00"/>
                </a:solidFill>
                <a:latin typeface="Cambria Math" panose="02040503050406030204" pitchFamily="18" charset="0"/>
                <a:ea typeface="Cambria Math" panose="02040503050406030204" pitchFamily="18" charset="0"/>
                <a:cs typeface="Calibri" pitchFamily="34" charset="-120"/>
              </a:rPr>
              <a:t>: </a:t>
            </a:r>
            <a:r>
              <a:rPr lang="en-US" dirty="0" err="1">
                <a:solidFill>
                  <a:srgbClr val="7B4F00"/>
                </a:solidFill>
                <a:latin typeface="Cambria Math" panose="02040503050406030204" pitchFamily="18" charset="0"/>
                <a:ea typeface="Cambria Math" panose="02040503050406030204" pitchFamily="18" charset="0"/>
                <a:cs typeface="Calibri" pitchFamily="34" charset="-120"/>
              </a:rPr>
              <a:t>badacz</a:t>
            </a:r>
            <a:r>
              <a:rPr lang="en-US" dirty="0">
                <a:solidFill>
                  <a:srgbClr val="7B4F00"/>
                </a:solidFill>
                <a:latin typeface="Cambria Math" panose="02040503050406030204" pitchFamily="18" charset="0"/>
                <a:ea typeface="Cambria Math" panose="02040503050406030204" pitchFamily="18" charset="0"/>
                <a:cs typeface="Calibri" pitchFamily="34" charset="-120"/>
              </a:rPr>
              <a:t> </a:t>
            </a:r>
            <a:r>
              <a:rPr lang="en-US" dirty="0" err="1">
                <a:solidFill>
                  <a:srgbClr val="7B4F00"/>
                </a:solidFill>
                <a:latin typeface="Cambria Math" panose="02040503050406030204" pitchFamily="18" charset="0"/>
                <a:ea typeface="Cambria Math" panose="02040503050406030204" pitchFamily="18" charset="0"/>
                <a:cs typeface="Calibri" pitchFamily="34" charset="-120"/>
              </a:rPr>
              <a:t>prowadzący</a:t>
            </a:r>
            <a:r>
              <a:rPr lang="en-US" dirty="0">
                <a:solidFill>
                  <a:srgbClr val="7B4F00"/>
                </a:solidFill>
                <a:latin typeface="Cambria Math" panose="02040503050406030204" pitchFamily="18" charset="0"/>
                <a:ea typeface="Cambria Math" panose="02040503050406030204" pitchFamily="18" charset="0"/>
                <a:cs typeface="Calibri" pitchFamily="34" charset="-120"/>
              </a:rPr>
              <a:t> </a:t>
            </a:r>
            <a:r>
              <a:rPr lang="en-US" dirty="0" err="1">
                <a:solidFill>
                  <a:srgbClr val="7B4F00"/>
                </a:solidFill>
                <a:latin typeface="Cambria Math" panose="02040503050406030204" pitchFamily="18" charset="0"/>
                <a:ea typeface="Cambria Math" panose="02040503050406030204" pitchFamily="18" charset="0"/>
                <a:cs typeface="Calibri" pitchFamily="34" charset="-120"/>
              </a:rPr>
              <a:t>sesję</a:t>
            </a:r>
            <a:r>
              <a:rPr lang="en-US" dirty="0">
                <a:solidFill>
                  <a:srgbClr val="7B4F00"/>
                </a:solidFill>
                <a:latin typeface="Cambria Math" panose="02040503050406030204" pitchFamily="18" charset="0"/>
                <a:ea typeface="Cambria Math" panose="02040503050406030204" pitchFamily="18" charset="0"/>
                <a:cs typeface="Calibri" pitchFamily="34" charset="-120"/>
              </a:rPr>
              <a:t> </a:t>
            </a:r>
            <a:r>
              <a:rPr lang="en-US" dirty="0" err="1">
                <a:solidFill>
                  <a:srgbClr val="7B4F00"/>
                </a:solidFill>
                <a:latin typeface="Cambria Math" panose="02040503050406030204" pitchFamily="18" charset="0"/>
                <a:ea typeface="Cambria Math" panose="02040503050406030204" pitchFamily="18" charset="0"/>
                <a:cs typeface="Calibri" pitchFamily="34" charset="-120"/>
              </a:rPr>
              <a:t>widzi</a:t>
            </a:r>
            <a:r>
              <a:rPr lang="en-US" dirty="0">
                <a:solidFill>
                  <a:srgbClr val="7B4F00"/>
                </a:solidFill>
                <a:latin typeface="Cambria Math" panose="02040503050406030204" pitchFamily="18" charset="0"/>
                <a:ea typeface="Cambria Math" panose="02040503050406030204" pitchFamily="18" charset="0"/>
                <a:cs typeface="Calibri" pitchFamily="34" charset="-120"/>
              </a:rPr>
              <a:t> </a:t>
            </a:r>
            <a:r>
              <a:rPr lang="en-US" dirty="0" err="1">
                <a:solidFill>
                  <a:srgbClr val="7B4F00"/>
                </a:solidFill>
                <a:latin typeface="Cambria Math" panose="02040503050406030204" pitchFamily="18" charset="0"/>
                <a:ea typeface="Cambria Math" panose="02040503050406030204" pitchFamily="18" charset="0"/>
                <a:cs typeface="Calibri" pitchFamily="34" charset="-120"/>
              </a:rPr>
              <a:t>te</a:t>
            </a:r>
            <a:r>
              <a:rPr lang="en-US" dirty="0">
                <a:solidFill>
                  <a:srgbClr val="7B4F00"/>
                </a:solidFill>
                <a:latin typeface="Cambria Math" panose="02040503050406030204" pitchFamily="18" charset="0"/>
                <a:ea typeface="Cambria Math" panose="02040503050406030204" pitchFamily="18" charset="0"/>
                <a:cs typeface="Calibri" pitchFamily="34" charset="-120"/>
              </a:rPr>
              <a:t> </a:t>
            </a:r>
            <a:r>
              <a:rPr lang="en-US" dirty="0" err="1">
                <a:solidFill>
                  <a:srgbClr val="7B4F00"/>
                </a:solidFill>
                <a:latin typeface="Cambria Math" panose="02040503050406030204" pitchFamily="18" charset="0"/>
                <a:ea typeface="Cambria Math" panose="02040503050406030204" pitchFamily="18" charset="0"/>
                <a:cs typeface="Calibri" pitchFamily="34" charset="-120"/>
              </a:rPr>
              <a:t>wskaźniki</a:t>
            </a:r>
            <a:r>
              <a:rPr lang="en-US" dirty="0">
                <a:solidFill>
                  <a:srgbClr val="7B4F00"/>
                </a:solidFill>
                <a:latin typeface="Cambria Math" panose="02040503050406030204" pitchFamily="18" charset="0"/>
                <a:ea typeface="Cambria Math" panose="02040503050406030204" pitchFamily="18" charset="0"/>
                <a:cs typeface="Calibri" pitchFamily="34" charset="-120"/>
              </a:rPr>
              <a:t> </a:t>
            </a:r>
            <a:r>
              <a:rPr lang="en-US" dirty="0" err="1">
                <a:solidFill>
                  <a:srgbClr val="7B4F00"/>
                </a:solidFill>
                <a:latin typeface="Cambria Math" panose="02040503050406030204" pitchFamily="18" charset="0"/>
                <a:ea typeface="Cambria Math" panose="02040503050406030204" pitchFamily="18" charset="0"/>
                <a:cs typeface="Calibri" pitchFamily="34" charset="-120"/>
              </a:rPr>
              <a:t>na</a:t>
            </a:r>
            <a:r>
              <a:rPr lang="en-US" dirty="0">
                <a:solidFill>
                  <a:srgbClr val="7B4F00"/>
                </a:solidFill>
                <a:latin typeface="Cambria Math" panose="02040503050406030204" pitchFamily="18" charset="0"/>
                <a:ea typeface="Cambria Math" panose="02040503050406030204" pitchFamily="18" charset="0"/>
                <a:cs typeface="Calibri" pitchFamily="34" charset="-120"/>
              </a:rPr>
              <a:t> </a:t>
            </a:r>
            <a:r>
              <a:rPr lang="en-US" dirty="0" err="1">
                <a:solidFill>
                  <a:srgbClr val="7B4F00"/>
                </a:solidFill>
                <a:latin typeface="Cambria Math" panose="02040503050406030204" pitchFamily="18" charset="0"/>
                <a:ea typeface="Cambria Math" panose="02040503050406030204" pitchFamily="18" charset="0"/>
                <a:cs typeface="Calibri" pitchFamily="34" charset="-120"/>
              </a:rPr>
              <a:t>bieżąco</a:t>
            </a:r>
            <a:r>
              <a:rPr lang="en-US" dirty="0">
                <a:solidFill>
                  <a:srgbClr val="7B4F00"/>
                </a:solidFill>
                <a:latin typeface="Cambria Math" panose="02040503050406030204" pitchFamily="18" charset="0"/>
                <a:ea typeface="Cambria Math" panose="02040503050406030204" pitchFamily="18" charset="0"/>
                <a:cs typeface="Calibri" pitchFamily="34" charset="-120"/>
              </a:rPr>
              <a:t> </a:t>
            </a:r>
            <a:endParaRPr lang="pl-PL" dirty="0">
              <a:solidFill>
                <a:srgbClr val="7B4F00"/>
              </a:solidFill>
              <a:latin typeface="Cambria Math" panose="02040503050406030204" pitchFamily="18" charset="0"/>
              <a:ea typeface="Cambria Math" panose="02040503050406030204" pitchFamily="18" charset="0"/>
              <a:cs typeface="Calibri" pitchFamily="34" charset="-120"/>
            </a:endParaRPr>
          </a:p>
          <a:p>
            <a:pPr algn="ctr"/>
            <a:r>
              <a:rPr lang="en-US" dirty="0" err="1">
                <a:solidFill>
                  <a:srgbClr val="7B4F00"/>
                </a:solidFill>
                <a:latin typeface="Cambria Math" panose="02040503050406030204" pitchFamily="18" charset="0"/>
                <a:ea typeface="Cambria Math" panose="02040503050406030204" pitchFamily="18" charset="0"/>
                <a:cs typeface="Calibri" pitchFamily="34" charset="-120"/>
              </a:rPr>
              <a:t>i</a:t>
            </a:r>
            <a:r>
              <a:rPr lang="en-US" dirty="0">
                <a:solidFill>
                  <a:srgbClr val="7B4F00"/>
                </a:solidFill>
                <a:latin typeface="Cambria Math" panose="02040503050406030204" pitchFamily="18" charset="0"/>
                <a:ea typeface="Cambria Math" panose="02040503050406030204" pitchFamily="18" charset="0"/>
                <a:cs typeface="Calibri" pitchFamily="34" charset="-120"/>
              </a:rPr>
              <a:t> </a:t>
            </a:r>
            <a:r>
              <a:rPr lang="en-US" dirty="0" err="1">
                <a:solidFill>
                  <a:srgbClr val="7B4F00"/>
                </a:solidFill>
                <a:latin typeface="Cambria Math" panose="02040503050406030204" pitchFamily="18" charset="0"/>
                <a:ea typeface="Cambria Math" panose="02040503050406030204" pitchFamily="18" charset="0"/>
                <a:cs typeface="Calibri" pitchFamily="34" charset="-120"/>
              </a:rPr>
              <a:t>może</a:t>
            </a:r>
            <a:r>
              <a:rPr lang="en-US" dirty="0">
                <a:solidFill>
                  <a:srgbClr val="7B4F00"/>
                </a:solidFill>
                <a:latin typeface="Cambria Math" panose="02040503050406030204" pitchFamily="18" charset="0"/>
                <a:ea typeface="Cambria Math" panose="02040503050406030204" pitchFamily="18" charset="0"/>
                <a:cs typeface="Calibri" pitchFamily="34" charset="-120"/>
              </a:rPr>
              <a:t> </a:t>
            </a:r>
            <a:r>
              <a:rPr lang="en-US" dirty="0" err="1">
                <a:solidFill>
                  <a:srgbClr val="7B4F00"/>
                </a:solidFill>
                <a:latin typeface="Cambria Math" panose="02040503050406030204" pitchFamily="18" charset="0"/>
                <a:ea typeface="Cambria Math" panose="02040503050406030204" pitchFamily="18" charset="0"/>
                <a:cs typeface="Calibri" pitchFamily="34" charset="-120"/>
              </a:rPr>
              <a:t>przerwać</a:t>
            </a:r>
            <a:r>
              <a:rPr lang="en-US" dirty="0">
                <a:solidFill>
                  <a:srgbClr val="7B4F00"/>
                </a:solidFill>
                <a:latin typeface="Cambria Math" panose="02040503050406030204" pitchFamily="18" charset="0"/>
                <a:ea typeface="Cambria Math" panose="02040503050406030204" pitchFamily="18" charset="0"/>
                <a:cs typeface="Calibri" pitchFamily="34" charset="-120"/>
              </a:rPr>
              <a:t>, </a:t>
            </a:r>
            <a:r>
              <a:rPr lang="en-US" dirty="0" err="1">
                <a:solidFill>
                  <a:srgbClr val="7B4F00"/>
                </a:solidFill>
                <a:latin typeface="Cambria Math" panose="02040503050406030204" pitchFamily="18" charset="0"/>
                <a:ea typeface="Cambria Math" panose="02040503050406030204" pitchFamily="18" charset="0"/>
                <a:cs typeface="Calibri" pitchFamily="34" charset="-120"/>
              </a:rPr>
              <a:t>ponownie</a:t>
            </a:r>
            <a:r>
              <a:rPr lang="en-US" dirty="0">
                <a:solidFill>
                  <a:srgbClr val="7B4F00"/>
                </a:solidFill>
                <a:latin typeface="Cambria Math" panose="02040503050406030204" pitchFamily="18" charset="0"/>
                <a:ea typeface="Cambria Math" panose="02040503050406030204" pitchFamily="18" charset="0"/>
                <a:cs typeface="Calibri" pitchFamily="34" charset="-120"/>
              </a:rPr>
              <a:t> </a:t>
            </a:r>
            <a:r>
              <a:rPr lang="en-US" dirty="0" err="1">
                <a:solidFill>
                  <a:srgbClr val="7B4F00"/>
                </a:solidFill>
                <a:latin typeface="Cambria Math" panose="02040503050406030204" pitchFamily="18" charset="0"/>
                <a:ea typeface="Cambria Math" panose="02040503050406030204" pitchFamily="18" charset="0"/>
                <a:cs typeface="Calibri" pitchFamily="34" charset="-120"/>
              </a:rPr>
              <a:t>skalibrować</a:t>
            </a:r>
            <a:r>
              <a:rPr lang="en-US" dirty="0">
                <a:solidFill>
                  <a:srgbClr val="7B4F00"/>
                </a:solidFill>
                <a:latin typeface="Cambria Math" panose="02040503050406030204" pitchFamily="18" charset="0"/>
                <a:ea typeface="Cambria Math" panose="02040503050406030204" pitchFamily="18" charset="0"/>
                <a:cs typeface="Calibri" pitchFamily="34" charset="-120"/>
              </a:rPr>
              <a:t> </a:t>
            </a:r>
            <a:r>
              <a:rPr lang="en-US" dirty="0" err="1">
                <a:solidFill>
                  <a:srgbClr val="7B4F00"/>
                </a:solidFill>
                <a:latin typeface="Cambria Math" panose="02040503050406030204" pitchFamily="18" charset="0"/>
                <a:ea typeface="Cambria Math" panose="02040503050406030204" pitchFamily="18" charset="0"/>
                <a:cs typeface="Calibri" pitchFamily="34" charset="-120"/>
              </a:rPr>
              <a:t>lub</a:t>
            </a:r>
            <a:r>
              <a:rPr lang="en-US" dirty="0">
                <a:solidFill>
                  <a:srgbClr val="7B4F00"/>
                </a:solidFill>
                <a:latin typeface="Cambria Math" panose="02040503050406030204" pitchFamily="18" charset="0"/>
                <a:ea typeface="Cambria Math" panose="02040503050406030204" pitchFamily="18" charset="0"/>
                <a:cs typeface="Calibri" pitchFamily="34" charset="-120"/>
              </a:rPr>
              <a:t> </a:t>
            </a:r>
            <a:r>
              <a:rPr lang="en-US" dirty="0" err="1">
                <a:solidFill>
                  <a:srgbClr val="7B4F00"/>
                </a:solidFill>
                <a:latin typeface="Cambria Math" panose="02040503050406030204" pitchFamily="18" charset="0"/>
                <a:ea typeface="Cambria Math" panose="02040503050406030204" pitchFamily="18" charset="0"/>
                <a:cs typeface="Calibri" pitchFamily="34" charset="-120"/>
              </a:rPr>
              <a:t>wykluczyć</a:t>
            </a:r>
            <a:r>
              <a:rPr lang="en-US" dirty="0">
                <a:solidFill>
                  <a:srgbClr val="7B4F00"/>
                </a:solidFill>
                <a:latin typeface="Cambria Math" panose="02040503050406030204" pitchFamily="18" charset="0"/>
                <a:ea typeface="Cambria Math" panose="02040503050406030204" pitchFamily="18" charset="0"/>
                <a:cs typeface="Calibri" pitchFamily="34" charset="-120"/>
              </a:rPr>
              <a:t> </a:t>
            </a:r>
            <a:r>
              <a:rPr lang="en-US" dirty="0" err="1">
                <a:solidFill>
                  <a:srgbClr val="7B4F00"/>
                </a:solidFill>
                <a:latin typeface="Cambria Math" panose="02040503050406030204" pitchFamily="18" charset="0"/>
                <a:ea typeface="Cambria Math" panose="02040503050406030204" pitchFamily="18" charset="0"/>
                <a:cs typeface="Calibri" pitchFamily="34" charset="-120"/>
              </a:rPr>
              <a:t>uczestnika</a:t>
            </a:r>
            <a:r>
              <a:rPr lang="en-US" dirty="0">
                <a:solidFill>
                  <a:srgbClr val="7B4F00"/>
                </a:solidFill>
                <a:latin typeface="Cambria Math" panose="02040503050406030204" pitchFamily="18" charset="0"/>
                <a:ea typeface="Cambria Math" panose="02040503050406030204" pitchFamily="18" charset="0"/>
                <a:cs typeface="Calibri" pitchFamily="34" charset="-120"/>
              </a:rPr>
              <a:t>.</a:t>
            </a:r>
            <a:endParaRPr lang="en-US" dirty="0">
              <a:latin typeface="Cambria Math" panose="02040503050406030204" pitchFamily="18" charset="0"/>
              <a:ea typeface="Cambria Math" panose="02040503050406030204" pitchFamily="18" charset="0"/>
            </a:endParaRPr>
          </a:p>
        </p:txBody>
      </p:sp>
      <p:grpSp>
        <p:nvGrpSpPr>
          <p:cNvPr id="39" name="Grupa 38"/>
          <p:cNvGrpSpPr/>
          <p:nvPr/>
        </p:nvGrpSpPr>
        <p:grpSpPr>
          <a:xfrm>
            <a:off x="403225" y="3594993"/>
            <a:ext cx="9274175" cy="1229836"/>
            <a:chOff x="403225" y="3447673"/>
            <a:chExt cx="9274175" cy="1310481"/>
          </a:xfrm>
        </p:grpSpPr>
        <p:sp>
          <p:nvSpPr>
            <p:cNvPr id="27" name="Shape 25"/>
            <p:cNvSpPr/>
            <p:nvPr/>
          </p:nvSpPr>
          <p:spPr>
            <a:xfrm>
              <a:off x="403225" y="3447673"/>
              <a:ext cx="9274175" cy="1310481"/>
            </a:xfrm>
            <a:prstGeom prst="roundRect">
              <a:avLst>
                <a:gd name="adj" fmla="val 7692"/>
              </a:avLst>
            </a:prstGeom>
            <a:solidFill>
              <a:srgbClr val="FFFFFF"/>
            </a:solidFill>
            <a:ln/>
            <a:effectLst>
              <a:outerShdw blurRad="76200" dist="25400" dir="2700000" algn="bl" rotWithShape="0">
                <a:srgbClr val="000000">
                  <a:alpha val="8000"/>
                </a:srgbClr>
              </a:outerShdw>
            </a:effectLst>
          </p:spPr>
        </p:sp>
        <p:sp>
          <p:nvSpPr>
            <p:cNvPr id="28" name="Text 26"/>
            <p:cNvSpPr/>
            <p:nvPr/>
          </p:nvSpPr>
          <p:spPr>
            <a:xfrm>
              <a:off x="487759" y="3489107"/>
              <a:ext cx="6048375" cy="302419"/>
            </a:xfrm>
            <a:prstGeom prst="rect">
              <a:avLst/>
            </a:prstGeom>
            <a:noFill/>
            <a:ln/>
          </p:spPr>
          <p:txBody>
            <a:bodyPr wrap="square" rtlCol="0" anchor="ctr"/>
            <a:lstStyle/>
            <a:p>
              <a:r>
                <a:rPr lang="en-US" b="1" dirty="0">
                  <a:solidFill>
                    <a:srgbClr val="1E2761"/>
                  </a:solidFill>
                  <a:latin typeface="Cambria" pitchFamily="34" charset="0"/>
                  <a:ea typeface="Cambria" pitchFamily="34" charset="-122"/>
                  <a:cs typeface="Cambria" pitchFamily="34" charset="-120"/>
                </a:rPr>
                <a:t>Dodatkowe mechanizmy kontroli jakości</a:t>
              </a:r>
              <a:endParaRPr lang="en-US" dirty="0"/>
            </a:p>
          </p:txBody>
        </p:sp>
        <p:sp>
          <p:nvSpPr>
            <p:cNvPr id="29" name="Shape 27"/>
            <p:cNvSpPr/>
            <p:nvPr/>
          </p:nvSpPr>
          <p:spPr>
            <a:xfrm>
              <a:off x="554434" y="3959562"/>
              <a:ext cx="201613" cy="201613"/>
            </a:xfrm>
            <a:prstGeom prst="ellipse">
              <a:avLst/>
            </a:prstGeom>
            <a:solidFill>
              <a:srgbClr val="1E2761"/>
            </a:solidFill>
            <a:ln w="12700">
              <a:solidFill>
                <a:srgbClr val="1E2761"/>
              </a:solidFill>
              <a:prstDash val="solid"/>
            </a:ln>
          </p:spPr>
        </p:sp>
        <p:sp>
          <p:nvSpPr>
            <p:cNvPr id="30" name="Text 28"/>
            <p:cNvSpPr/>
            <p:nvPr/>
          </p:nvSpPr>
          <p:spPr>
            <a:xfrm>
              <a:off x="789066" y="3888998"/>
              <a:ext cx="4233863" cy="383064"/>
            </a:xfrm>
            <a:prstGeom prst="rect">
              <a:avLst/>
            </a:prstGeom>
            <a:noFill/>
            <a:ln/>
          </p:spPr>
          <p:txBody>
            <a:bodyPr wrap="square" rtlCol="0" anchor="ctr"/>
            <a:lstStyle/>
            <a:p>
              <a:pPr>
                <a:lnSpc>
                  <a:spcPct val="110000"/>
                </a:lnSpc>
              </a:pPr>
              <a:r>
                <a:rPr lang="en-US" sz="1400" dirty="0">
                  <a:solidFill>
                    <a:srgbClr val="1A1F3C"/>
                  </a:solidFill>
                  <a:latin typeface="Calibri" pitchFamily="34" charset="0"/>
                  <a:ea typeface="Calibri" pitchFamily="34" charset="-122"/>
                  <a:cs typeface="Calibri" pitchFamily="34" charset="-120"/>
                </a:rPr>
                <a:t>Catch trials</a:t>
              </a:r>
              <a:r>
                <a:rPr lang="pl-PL" sz="1400" dirty="0">
                  <a:solidFill>
                    <a:srgbClr val="1A1F3C"/>
                  </a:solidFill>
                  <a:latin typeface="Calibri" pitchFamily="34" charset="0"/>
                  <a:ea typeface="Calibri" pitchFamily="34" charset="-122"/>
                  <a:cs typeface="Calibri" pitchFamily="34" charset="-120"/>
                </a:rPr>
                <a:t>:</a:t>
              </a:r>
              <a:r>
                <a:rPr lang="en-US" sz="1400" dirty="0">
                  <a:solidFill>
                    <a:srgbClr val="1A1F3C"/>
                  </a:solidFill>
                  <a:latin typeface="Calibri" pitchFamily="34" charset="0"/>
                  <a:ea typeface="Calibri" pitchFamily="34" charset="-122"/>
                  <a:cs typeface="Calibri" pitchFamily="34" charset="-120"/>
                </a:rPr>
                <a:t> próby z oczywistą poprawną odpowiedzią</a:t>
              </a:r>
              <a:endParaRPr lang="en-US" sz="1400" dirty="0"/>
            </a:p>
          </p:txBody>
        </p:sp>
        <p:sp>
          <p:nvSpPr>
            <p:cNvPr id="31" name="Shape 29"/>
            <p:cNvSpPr/>
            <p:nvPr/>
          </p:nvSpPr>
          <p:spPr>
            <a:xfrm>
              <a:off x="4960143" y="3959562"/>
              <a:ext cx="201613" cy="201613"/>
            </a:xfrm>
            <a:prstGeom prst="ellipse">
              <a:avLst/>
            </a:prstGeom>
            <a:solidFill>
              <a:srgbClr val="1E2761"/>
            </a:solidFill>
            <a:ln w="12700">
              <a:solidFill>
                <a:srgbClr val="1E2761"/>
              </a:solidFill>
              <a:prstDash val="solid"/>
            </a:ln>
          </p:spPr>
        </p:sp>
        <p:sp>
          <p:nvSpPr>
            <p:cNvPr id="32" name="Text 30"/>
            <p:cNvSpPr/>
            <p:nvPr/>
          </p:nvSpPr>
          <p:spPr>
            <a:xfrm>
              <a:off x="5223351" y="3888998"/>
              <a:ext cx="4384596" cy="383064"/>
            </a:xfrm>
            <a:prstGeom prst="rect">
              <a:avLst/>
            </a:prstGeom>
            <a:noFill/>
            <a:ln/>
          </p:spPr>
          <p:txBody>
            <a:bodyPr wrap="square" rtlCol="0" anchor="ctr"/>
            <a:lstStyle/>
            <a:p>
              <a:pPr>
                <a:lnSpc>
                  <a:spcPct val="110000"/>
                </a:lnSpc>
              </a:pPr>
              <a:r>
                <a:rPr lang="en-US" sz="1400" spc="-40" dirty="0">
                  <a:solidFill>
                    <a:srgbClr val="1A1F3C"/>
                  </a:solidFill>
                  <a:latin typeface="Calibri" pitchFamily="34" charset="0"/>
                  <a:ea typeface="Calibri" pitchFamily="34" charset="-122"/>
                  <a:cs typeface="Calibri" pitchFamily="34" charset="-120"/>
                </a:rPr>
                <a:t>Minimalny </a:t>
              </a:r>
              <a:r>
                <a:rPr lang="en-US" sz="1400" spc="-40" dirty="0" err="1">
                  <a:solidFill>
                    <a:srgbClr val="1A1F3C"/>
                  </a:solidFill>
                  <a:latin typeface="Calibri" pitchFamily="34" charset="0"/>
                  <a:ea typeface="Calibri" pitchFamily="34" charset="-122"/>
                  <a:cs typeface="Calibri" pitchFamily="34" charset="-120"/>
                </a:rPr>
                <a:t>czas</a:t>
              </a:r>
              <a:r>
                <a:rPr lang="en-US" sz="1400" spc="-40" dirty="0">
                  <a:solidFill>
                    <a:srgbClr val="1A1F3C"/>
                  </a:solidFill>
                  <a:latin typeface="Calibri" pitchFamily="34" charset="0"/>
                  <a:ea typeface="Calibri" pitchFamily="34" charset="-122"/>
                  <a:cs typeface="Calibri" pitchFamily="34" charset="-120"/>
                </a:rPr>
                <a:t> </a:t>
              </a:r>
              <a:r>
                <a:rPr lang="en-US" sz="1400" spc="-40" dirty="0" err="1">
                  <a:solidFill>
                    <a:srgbClr val="1A1F3C"/>
                  </a:solidFill>
                  <a:latin typeface="Calibri" pitchFamily="34" charset="0"/>
                  <a:ea typeface="Calibri" pitchFamily="34" charset="-122"/>
                  <a:cs typeface="Calibri" pitchFamily="34" charset="-120"/>
                </a:rPr>
                <a:t>odpowiedzi</a:t>
              </a:r>
              <a:r>
                <a:rPr lang="pl-PL" sz="1400" spc="-40" dirty="0">
                  <a:solidFill>
                    <a:srgbClr val="1A1F3C"/>
                  </a:solidFill>
                  <a:latin typeface="Calibri" pitchFamily="34" charset="0"/>
                  <a:ea typeface="Calibri" pitchFamily="34" charset="-122"/>
                  <a:cs typeface="Calibri" pitchFamily="34" charset="-120"/>
                </a:rPr>
                <a:t> jako</a:t>
              </a:r>
              <a:r>
                <a:rPr lang="en-US" sz="1400" spc="-40" dirty="0">
                  <a:solidFill>
                    <a:srgbClr val="1A1F3C"/>
                  </a:solidFill>
                  <a:latin typeface="Calibri" pitchFamily="34" charset="0"/>
                  <a:ea typeface="Calibri" pitchFamily="34" charset="-122"/>
                  <a:cs typeface="Calibri" pitchFamily="34" charset="-120"/>
                </a:rPr>
                <a:t> filtr przeciw klikaniu na ślepo</a:t>
              </a:r>
              <a:endParaRPr lang="en-US" sz="1400" spc="-40" dirty="0"/>
            </a:p>
          </p:txBody>
        </p:sp>
        <p:sp>
          <p:nvSpPr>
            <p:cNvPr id="33" name="Shape 31"/>
            <p:cNvSpPr/>
            <p:nvPr/>
          </p:nvSpPr>
          <p:spPr>
            <a:xfrm>
              <a:off x="554434" y="4362787"/>
              <a:ext cx="201613" cy="201613"/>
            </a:xfrm>
            <a:prstGeom prst="ellipse">
              <a:avLst/>
            </a:prstGeom>
            <a:solidFill>
              <a:srgbClr val="1E2761"/>
            </a:solidFill>
            <a:ln w="12700">
              <a:solidFill>
                <a:srgbClr val="1E2761"/>
              </a:solidFill>
              <a:prstDash val="solid"/>
            </a:ln>
          </p:spPr>
        </p:sp>
        <p:sp>
          <p:nvSpPr>
            <p:cNvPr id="34" name="Text 32"/>
            <p:cNvSpPr/>
            <p:nvPr/>
          </p:nvSpPr>
          <p:spPr>
            <a:xfrm>
              <a:off x="789066" y="4292223"/>
              <a:ext cx="4233863" cy="383064"/>
            </a:xfrm>
            <a:prstGeom prst="rect">
              <a:avLst/>
            </a:prstGeom>
            <a:noFill/>
            <a:ln/>
          </p:spPr>
          <p:txBody>
            <a:bodyPr wrap="square" rtlCol="0" anchor="ctr"/>
            <a:lstStyle/>
            <a:p>
              <a:pPr>
                <a:lnSpc>
                  <a:spcPct val="110000"/>
                </a:lnSpc>
              </a:pPr>
              <a:r>
                <a:rPr lang="en-US" sz="1400" dirty="0">
                  <a:solidFill>
                    <a:srgbClr val="1A1F3C"/>
                  </a:solidFill>
                  <a:latin typeface="Calibri" pitchFamily="34" charset="0"/>
                  <a:ea typeface="Calibri" pitchFamily="34" charset="-122"/>
                  <a:cs typeface="Calibri" pitchFamily="34" charset="-120"/>
                </a:rPr>
                <a:t>Kalibracja eye-trackera monitorowana w czasie sesji</a:t>
              </a:r>
              <a:endParaRPr lang="en-US" sz="1400" dirty="0"/>
            </a:p>
          </p:txBody>
        </p:sp>
        <p:sp>
          <p:nvSpPr>
            <p:cNvPr id="35" name="Shape 33"/>
            <p:cNvSpPr/>
            <p:nvPr/>
          </p:nvSpPr>
          <p:spPr>
            <a:xfrm>
              <a:off x="4960143" y="4362787"/>
              <a:ext cx="201613" cy="201613"/>
            </a:xfrm>
            <a:prstGeom prst="ellipse">
              <a:avLst/>
            </a:prstGeom>
            <a:solidFill>
              <a:srgbClr val="1E2761"/>
            </a:solidFill>
            <a:ln w="12700">
              <a:solidFill>
                <a:srgbClr val="1E2761"/>
              </a:solidFill>
              <a:prstDash val="solid"/>
            </a:ln>
          </p:spPr>
        </p:sp>
        <p:sp>
          <p:nvSpPr>
            <p:cNvPr id="36" name="Text 34"/>
            <p:cNvSpPr/>
            <p:nvPr/>
          </p:nvSpPr>
          <p:spPr>
            <a:xfrm>
              <a:off x="5223351" y="4292223"/>
              <a:ext cx="4384596" cy="383064"/>
            </a:xfrm>
            <a:prstGeom prst="rect">
              <a:avLst/>
            </a:prstGeom>
            <a:noFill/>
            <a:ln/>
          </p:spPr>
          <p:txBody>
            <a:bodyPr wrap="square" rtlCol="0" anchor="ctr"/>
            <a:lstStyle/>
            <a:p>
              <a:pPr>
                <a:lnSpc>
                  <a:spcPct val="110000"/>
                </a:lnSpc>
              </a:pPr>
              <a:r>
                <a:rPr lang="en-US" sz="1400" spc="-40" dirty="0">
                  <a:solidFill>
                    <a:srgbClr val="1A1F3C"/>
                  </a:solidFill>
                  <a:latin typeface="Calibri" pitchFamily="34" charset="0"/>
                  <a:ea typeface="Calibri" pitchFamily="34" charset="-122"/>
                  <a:cs typeface="Calibri" pitchFamily="34" charset="-120"/>
                </a:rPr>
                <a:t>Logi błędów </a:t>
              </a:r>
              <a:r>
                <a:rPr lang="en-US" sz="1400" spc="-40" dirty="0" err="1">
                  <a:solidFill>
                    <a:srgbClr val="1A1F3C"/>
                  </a:solidFill>
                  <a:latin typeface="Calibri" pitchFamily="34" charset="0"/>
                  <a:ea typeface="Calibri" pitchFamily="34" charset="-122"/>
                  <a:cs typeface="Calibri" pitchFamily="34" charset="-120"/>
                </a:rPr>
                <a:t>i</a:t>
              </a:r>
              <a:r>
                <a:rPr lang="en-US" sz="1400" spc="-40" dirty="0">
                  <a:solidFill>
                    <a:srgbClr val="1A1F3C"/>
                  </a:solidFill>
                  <a:latin typeface="Calibri" pitchFamily="34" charset="0"/>
                  <a:ea typeface="Calibri" pitchFamily="34" charset="-122"/>
                  <a:cs typeface="Calibri" pitchFamily="34" charset="-120"/>
                </a:rPr>
                <a:t> </a:t>
              </a:r>
              <a:r>
                <a:rPr lang="en-US" sz="1400" spc="-40" dirty="0" err="1">
                  <a:solidFill>
                    <a:srgbClr val="1A1F3C"/>
                  </a:solidFill>
                  <a:latin typeface="Calibri" pitchFamily="34" charset="0"/>
                  <a:ea typeface="Calibri" pitchFamily="34" charset="-122"/>
                  <a:cs typeface="Calibri" pitchFamily="34" charset="-120"/>
                </a:rPr>
                <a:t>autom</a:t>
              </a:r>
              <a:r>
                <a:rPr lang="pl-PL" sz="1400" spc="-40" dirty="0">
                  <a:solidFill>
                    <a:srgbClr val="1A1F3C"/>
                  </a:solidFill>
                  <a:latin typeface="Calibri" pitchFamily="34" charset="0"/>
                  <a:ea typeface="Calibri" pitchFamily="34" charset="-122"/>
                  <a:cs typeface="Calibri" pitchFamily="34" charset="-120"/>
                </a:rPr>
                <a:t>.</a:t>
              </a:r>
              <a:r>
                <a:rPr lang="en-US" sz="1400" spc="-40" dirty="0">
                  <a:solidFill>
                    <a:srgbClr val="1A1F3C"/>
                  </a:solidFill>
                  <a:latin typeface="Calibri" pitchFamily="34" charset="0"/>
                  <a:ea typeface="Calibri" pitchFamily="34" charset="-122"/>
                  <a:cs typeface="Calibri" pitchFamily="34" charset="-120"/>
                </a:rPr>
                <a:t> </a:t>
              </a:r>
              <a:r>
                <a:rPr lang="pl-PL" sz="1400" spc="-40" dirty="0">
                  <a:solidFill>
                    <a:srgbClr val="1A1F3C"/>
                  </a:solidFill>
                  <a:latin typeface="Calibri" pitchFamily="34" charset="0"/>
                  <a:ea typeface="Calibri" pitchFamily="34" charset="-122"/>
                  <a:cs typeface="Calibri" pitchFamily="34" charset="-120"/>
                </a:rPr>
                <a:t>d</a:t>
              </a:r>
              <a:r>
                <a:rPr lang="en-US" sz="1400" spc="-40" dirty="0">
                  <a:solidFill>
                    <a:srgbClr val="1A1F3C"/>
                  </a:solidFill>
                  <a:latin typeface="Calibri" pitchFamily="34" charset="0"/>
                  <a:ea typeface="Calibri" pitchFamily="34" charset="-122"/>
                  <a:cs typeface="Calibri" pitchFamily="34" charset="-120"/>
                </a:rPr>
                <a:t>et</a:t>
              </a:r>
              <a:r>
                <a:rPr lang="pl-PL" sz="1400" spc="-40" dirty="0">
                  <a:solidFill>
                    <a:srgbClr val="1A1F3C"/>
                  </a:solidFill>
                  <a:latin typeface="Calibri" pitchFamily="34" charset="0"/>
                  <a:ea typeface="Calibri" pitchFamily="34" charset="-122"/>
                  <a:cs typeface="Calibri" pitchFamily="34" charset="-120"/>
                </a:rPr>
                <a:t>.</a:t>
              </a:r>
              <a:r>
                <a:rPr lang="en-US" sz="1400" spc="-40" dirty="0">
                  <a:solidFill>
                    <a:srgbClr val="1A1F3C"/>
                  </a:solidFill>
                  <a:latin typeface="Calibri" pitchFamily="34" charset="0"/>
                  <a:ea typeface="Calibri" pitchFamily="34" charset="-122"/>
                  <a:cs typeface="Calibri" pitchFamily="34" charset="-120"/>
                </a:rPr>
                <a:t> outlierów podczas zbierania danych</a:t>
              </a:r>
              <a:endParaRPr lang="en-US" sz="1400" spc="-40" dirty="0"/>
            </a:p>
          </p:txBody>
        </p:sp>
      </p:grpSp>
      <p:sp>
        <p:nvSpPr>
          <p:cNvPr id="37" name="Shape 35"/>
          <p:cNvSpPr/>
          <p:nvPr/>
        </p:nvSpPr>
        <p:spPr>
          <a:xfrm>
            <a:off x="403225" y="4990009"/>
            <a:ext cx="9274175" cy="554434"/>
          </a:xfrm>
          <a:prstGeom prst="roundRect">
            <a:avLst>
              <a:gd name="adj" fmla="val 18182"/>
            </a:avLst>
          </a:prstGeom>
          <a:solidFill>
            <a:srgbClr val="EEF3FF"/>
          </a:solidFill>
          <a:ln/>
          <a:effectLst>
            <a:outerShdw blurRad="76200" dist="25400" dir="2700000" algn="bl" rotWithShape="0">
              <a:srgbClr val="000000">
                <a:alpha val="8000"/>
              </a:srgbClr>
            </a:outerShdw>
          </a:effectLst>
        </p:spPr>
        <p:txBody>
          <a:bodyPr anchor="ctr"/>
          <a:lstStyle/>
          <a:p>
            <a:pPr algn="ctr"/>
            <a:r>
              <a:rPr lang="pl-PL" sz="1600" dirty="0">
                <a:solidFill>
                  <a:srgbClr val="1E2761"/>
                </a:solidFill>
                <a:latin typeface="Cambria Math" panose="02040503050406030204" pitchFamily="18" charset="0"/>
                <a:ea typeface="Cambria Math" panose="02040503050406030204" pitchFamily="18" charset="0"/>
                <a:cs typeface="Calibri" pitchFamily="34" charset="-120"/>
              </a:rPr>
              <a:t>Kontrola jakości nie powinna zaczynać się po zakończeniu badania; musi być częścią systemu akwizycji</a:t>
            </a:r>
            <a:endParaRPr lang="pl-PL" sz="16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41839395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996" name="Shape 466"/>
          <p:cNvSpPr/>
          <p:nvPr/>
        </p:nvSpPr>
        <p:spPr>
          <a:xfrm>
            <a:off x="360" y="360"/>
            <a:ext cx="10079640" cy="1006920"/>
          </a:xfrm>
          <a:prstGeom prst="rect">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997" name="Text 482"/>
          <p:cNvSpPr/>
          <p:nvPr/>
        </p:nvSpPr>
        <p:spPr>
          <a:xfrm>
            <a:off x="453240" y="70560"/>
            <a:ext cx="917244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defTabSz="914400">
              <a:lnSpc>
                <a:spcPct val="100000"/>
              </a:lnSpc>
              <a:tabLst>
                <a:tab pos="0" algn="l"/>
              </a:tabLst>
            </a:pPr>
            <a:r>
              <a:rPr lang="pl-PL" sz="2400" b="1" u="none" strike="noStrike">
                <a:solidFill>
                  <a:srgbClr val="FFFFFF"/>
                </a:solidFill>
                <a:effectLst/>
                <a:uFillTx/>
                <a:latin typeface="Cambria"/>
                <a:ea typeface="Cambria"/>
              </a:rPr>
              <a:t>STANDARDY DANYCH I PORZĄDEK W REPOZYTORIUM</a:t>
            </a:r>
            <a:endParaRPr lang="pl-PL" sz="2400" b="0" u="none" strike="noStrike">
              <a:solidFill>
                <a:srgbClr val="000000"/>
              </a:solidFill>
              <a:effectLst/>
              <a:uFillTx/>
              <a:latin typeface="Arial"/>
            </a:endParaRPr>
          </a:p>
        </p:txBody>
      </p:sp>
      <p:sp>
        <p:nvSpPr>
          <p:cNvPr id="998" name="Text 483"/>
          <p:cNvSpPr/>
          <p:nvPr/>
        </p:nvSpPr>
        <p:spPr>
          <a:xfrm>
            <a:off x="453240" y="594720"/>
            <a:ext cx="9172440" cy="331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pl-PL" sz="1400" b="0" i="1" u="none" strike="noStrike">
                <a:solidFill>
                  <a:srgbClr val="CADCFC"/>
                </a:solidFill>
                <a:effectLst/>
                <a:uFillTx/>
                <a:latin typeface="Calibri"/>
                <a:ea typeface="Calibri"/>
              </a:rPr>
              <a:t>Struktura projektu badawczego: porządek jako metodologia</a:t>
            </a:r>
            <a:endParaRPr lang="pl-PL" sz="1400" b="0" u="none" strike="noStrike">
              <a:solidFill>
                <a:srgbClr val="000000"/>
              </a:solidFill>
              <a:effectLst/>
              <a:uFillTx/>
              <a:latin typeface="Arial"/>
            </a:endParaRPr>
          </a:p>
        </p:txBody>
      </p:sp>
      <p:sp>
        <p:nvSpPr>
          <p:cNvPr id="999" name="Shape 467"/>
          <p:cNvSpPr/>
          <p:nvPr/>
        </p:nvSpPr>
        <p:spPr>
          <a:xfrm>
            <a:off x="403200" y="1108800"/>
            <a:ext cx="5341680" cy="4132080"/>
          </a:xfrm>
          <a:prstGeom prst="roundRect">
            <a:avLst>
              <a:gd name="adj" fmla="val 2439"/>
            </a:avLst>
          </a:prstGeom>
          <a:solidFill>
            <a:srgbClr val="1A1F3C"/>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000" name="Text 484"/>
          <p:cNvSpPr/>
          <p:nvPr/>
        </p:nvSpPr>
        <p:spPr>
          <a:xfrm>
            <a:off x="604800" y="1229760"/>
            <a:ext cx="5039280" cy="30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200" b="1" u="none" strike="noStrike" dirty="0" err="1">
                <a:solidFill>
                  <a:srgbClr val="3ECFB2"/>
                </a:solidFill>
                <a:effectLst/>
                <a:uFillTx/>
                <a:latin typeface="Consolas"/>
                <a:ea typeface="Consolas"/>
              </a:rPr>
              <a:t>project</a:t>
            </a:r>
            <a:r>
              <a:rPr lang="pl-PL" sz="1200" b="1" u="none" strike="noStrike" dirty="0">
                <a:solidFill>
                  <a:srgbClr val="3ECFB2"/>
                </a:solidFill>
                <a:effectLst/>
                <a:uFillTx/>
                <a:latin typeface="Consolas"/>
                <a:ea typeface="Consolas"/>
              </a:rPr>
              <a:t>/</a:t>
            </a:r>
            <a:endParaRPr lang="pl-PL" sz="1200" b="0" u="none" strike="noStrike" dirty="0">
              <a:solidFill>
                <a:srgbClr val="000000"/>
              </a:solidFill>
              <a:effectLst/>
              <a:uFillTx/>
              <a:latin typeface="Arial"/>
            </a:endParaRPr>
          </a:p>
        </p:txBody>
      </p:sp>
      <p:sp>
        <p:nvSpPr>
          <p:cNvPr id="1001" name="Text 485"/>
          <p:cNvSpPr/>
          <p:nvPr/>
        </p:nvSpPr>
        <p:spPr>
          <a:xfrm>
            <a:off x="604800" y="1592640"/>
            <a:ext cx="3023280" cy="30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100" b="0" u="none" strike="noStrike">
                <a:solidFill>
                  <a:srgbClr val="CADCFC"/>
                </a:solidFill>
                <a:effectLst/>
                <a:uFillTx/>
                <a:latin typeface="Consolas"/>
                <a:ea typeface="Consolas"/>
              </a:rPr>
              <a:t>├─ data/</a:t>
            </a:r>
            <a:endParaRPr lang="pl-PL" sz="1100" b="0" u="none" strike="noStrike">
              <a:solidFill>
                <a:srgbClr val="000000"/>
              </a:solidFill>
              <a:effectLst/>
              <a:uFillTx/>
              <a:latin typeface="Arial"/>
            </a:endParaRPr>
          </a:p>
        </p:txBody>
      </p:sp>
      <p:sp>
        <p:nvSpPr>
          <p:cNvPr id="1002" name="Text 486"/>
          <p:cNvSpPr/>
          <p:nvPr/>
        </p:nvSpPr>
        <p:spPr>
          <a:xfrm>
            <a:off x="604800" y="1915200"/>
            <a:ext cx="3023280" cy="30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100" b="0" u="none" strike="noStrike">
                <a:solidFill>
                  <a:srgbClr val="CADCFC"/>
                </a:solidFill>
                <a:effectLst/>
                <a:uFillTx/>
                <a:latin typeface="Consolas"/>
                <a:ea typeface="Consolas"/>
              </a:rPr>
              <a:t>│  ├─ raw/</a:t>
            </a:r>
            <a:endParaRPr lang="pl-PL" sz="1100" b="0" u="none" strike="noStrike">
              <a:solidFill>
                <a:srgbClr val="000000"/>
              </a:solidFill>
              <a:effectLst/>
              <a:uFillTx/>
              <a:latin typeface="Arial"/>
            </a:endParaRPr>
          </a:p>
        </p:txBody>
      </p:sp>
      <p:sp>
        <p:nvSpPr>
          <p:cNvPr id="1003" name="Text 487"/>
          <p:cNvSpPr/>
          <p:nvPr/>
        </p:nvSpPr>
        <p:spPr>
          <a:xfrm>
            <a:off x="3729600" y="1915200"/>
            <a:ext cx="1914120" cy="30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950" b="0" i="1" u="none" strike="noStrike">
                <a:solidFill>
                  <a:srgbClr val="D64045"/>
                </a:solidFill>
                <a:effectLst/>
                <a:uFillTx/>
                <a:latin typeface="Calibri"/>
                <a:ea typeface="Calibri"/>
              </a:rPr>
              <a:t>tylko do odczytu</a:t>
            </a:r>
            <a:endParaRPr lang="pl-PL" sz="950" b="0" u="none" strike="noStrike">
              <a:solidFill>
                <a:srgbClr val="000000"/>
              </a:solidFill>
              <a:effectLst/>
              <a:uFillTx/>
              <a:latin typeface="Arial"/>
            </a:endParaRPr>
          </a:p>
        </p:txBody>
      </p:sp>
      <p:sp>
        <p:nvSpPr>
          <p:cNvPr id="1004" name="Text 488"/>
          <p:cNvSpPr/>
          <p:nvPr/>
        </p:nvSpPr>
        <p:spPr>
          <a:xfrm>
            <a:off x="604800" y="2237760"/>
            <a:ext cx="3023280" cy="30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100" b="0" u="none" strike="noStrike">
                <a:solidFill>
                  <a:srgbClr val="CADCFC"/>
                </a:solidFill>
                <a:effectLst/>
                <a:uFillTx/>
                <a:latin typeface="Consolas"/>
                <a:ea typeface="Consolas"/>
              </a:rPr>
              <a:t>│  └─ processed/</a:t>
            </a:r>
            <a:endParaRPr lang="pl-PL" sz="1100" b="0" u="none" strike="noStrike">
              <a:solidFill>
                <a:srgbClr val="000000"/>
              </a:solidFill>
              <a:effectLst/>
              <a:uFillTx/>
              <a:latin typeface="Arial"/>
            </a:endParaRPr>
          </a:p>
        </p:txBody>
      </p:sp>
      <p:sp>
        <p:nvSpPr>
          <p:cNvPr id="1005" name="Text 489"/>
          <p:cNvSpPr/>
          <p:nvPr/>
        </p:nvSpPr>
        <p:spPr>
          <a:xfrm>
            <a:off x="604800" y="2560320"/>
            <a:ext cx="3023280" cy="30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100" b="0" u="none" strike="noStrike">
                <a:solidFill>
                  <a:srgbClr val="CADCFC"/>
                </a:solidFill>
                <a:effectLst/>
                <a:uFillTx/>
                <a:latin typeface="Consolas"/>
                <a:ea typeface="Consolas"/>
              </a:rPr>
              <a:t>├─ scripts/</a:t>
            </a:r>
            <a:endParaRPr lang="pl-PL" sz="1100" b="0" u="none" strike="noStrike">
              <a:solidFill>
                <a:srgbClr val="000000"/>
              </a:solidFill>
              <a:effectLst/>
              <a:uFillTx/>
              <a:latin typeface="Arial"/>
            </a:endParaRPr>
          </a:p>
        </p:txBody>
      </p:sp>
      <p:sp>
        <p:nvSpPr>
          <p:cNvPr id="1006" name="Text 490"/>
          <p:cNvSpPr/>
          <p:nvPr/>
        </p:nvSpPr>
        <p:spPr>
          <a:xfrm>
            <a:off x="604800" y="2882880"/>
            <a:ext cx="3023280" cy="30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100" b="0" u="none" strike="noStrike">
                <a:solidFill>
                  <a:srgbClr val="CADCFC"/>
                </a:solidFill>
                <a:effectLst/>
                <a:uFillTx/>
                <a:latin typeface="Consolas"/>
                <a:ea typeface="Consolas"/>
              </a:rPr>
              <a:t>├─ notebooks/</a:t>
            </a:r>
            <a:endParaRPr lang="pl-PL" sz="1100" b="0" u="none" strike="noStrike">
              <a:solidFill>
                <a:srgbClr val="000000"/>
              </a:solidFill>
              <a:effectLst/>
              <a:uFillTx/>
              <a:latin typeface="Arial"/>
            </a:endParaRPr>
          </a:p>
        </p:txBody>
      </p:sp>
      <p:sp>
        <p:nvSpPr>
          <p:cNvPr id="1007" name="Text 491"/>
          <p:cNvSpPr/>
          <p:nvPr/>
        </p:nvSpPr>
        <p:spPr>
          <a:xfrm>
            <a:off x="604800" y="3205440"/>
            <a:ext cx="3023280" cy="30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100" b="0" u="none" strike="noStrike">
                <a:solidFill>
                  <a:srgbClr val="CADCFC"/>
                </a:solidFill>
                <a:effectLst/>
                <a:uFillTx/>
                <a:latin typeface="Consolas"/>
                <a:ea typeface="Consolas"/>
              </a:rPr>
              <a:t>├─ stimuli/</a:t>
            </a:r>
            <a:endParaRPr lang="pl-PL" sz="1100" b="0" u="none" strike="noStrike">
              <a:solidFill>
                <a:srgbClr val="000000"/>
              </a:solidFill>
              <a:effectLst/>
              <a:uFillTx/>
              <a:latin typeface="Arial"/>
            </a:endParaRPr>
          </a:p>
        </p:txBody>
      </p:sp>
      <p:sp>
        <p:nvSpPr>
          <p:cNvPr id="1008" name="Text 492"/>
          <p:cNvSpPr/>
          <p:nvPr/>
        </p:nvSpPr>
        <p:spPr>
          <a:xfrm>
            <a:off x="604800" y="3528000"/>
            <a:ext cx="3023280" cy="30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100" b="0" u="none" strike="noStrike">
                <a:solidFill>
                  <a:srgbClr val="CADCFC"/>
                </a:solidFill>
                <a:effectLst/>
                <a:uFillTx/>
                <a:latin typeface="Consolas"/>
                <a:ea typeface="Consolas"/>
              </a:rPr>
              <a:t>├─ docs/</a:t>
            </a:r>
            <a:endParaRPr lang="pl-PL" sz="1100" b="0" u="none" strike="noStrike">
              <a:solidFill>
                <a:srgbClr val="000000"/>
              </a:solidFill>
              <a:effectLst/>
              <a:uFillTx/>
              <a:latin typeface="Arial"/>
            </a:endParaRPr>
          </a:p>
        </p:txBody>
      </p:sp>
      <p:sp>
        <p:nvSpPr>
          <p:cNvPr id="1009" name="Text 493"/>
          <p:cNvSpPr/>
          <p:nvPr/>
        </p:nvSpPr>
        <p:spPr>
          <a:xfrm>
            <a:off x="604800" y="3850920"/>
            <a:ext cx="3023280" cy="30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100" b="0" u="none" strike="noStrike">
                <a:solidFill>
                  <a:srgbClr val="CADCFC"/>
                </a:solidFill>
                <a:effectLst/>
                <a:uFillTx/>
                <a:latin typeface="Consolas"/>
                <a:ea typeface="Consolas"/>
              </a:rPr>
              <a:t>├─ results/</a:t>
            </a:r>
            <a:endParaRPr lang="pl-PL" sz="1100" b="0" u="none" strike="noStrike">
              <a:solidFill>
                <a:srgbClr val="000000"/>
              </a:solidFill>
              <a:effectLst/>
              <a:uFillTx/>
              <a:latin typeface="Arial"/>
            </a:endParaRPr>
          </a:p>
        </p:txBody>
      </p:sp>
      <p:sp>
        <p:nvSpPr>
          <p:cNvPr id="1010" name="Text 494"/>
          <p:cNvSpPr/>
          <p:nvPr/>
        </p:nvSpPr>
        <p:spPr>
          <a:xfrm>
            <a:off x="604800" y="4173480"/>
            <a:ext cx="3023280" cy="30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100" b="0" u="none" strike="noStrike">
                <a:solidFill>
                  <a:srgbClr val="CADCFC"/>
                </a:solidFill>
                <a:effectLst/>
                <a:uFillTx/>
                <a:latin typeface="Consolas"/>
                <a:ea typeface="Consolas"/>
              </a:rPr>
              <a:t>├─ environment.yml</a:t>
            </a:r>
            <a:endParaRPr lang="pl-PL" sz="1100" b="0" u="none" strike="noStrike">
              <a:solidFill>
                <a:srgbClr val="000000"/>
              </a:solidFill>
              <a:effectLst/>
              <a:uFillTx/>
              <a:latin typeface="Arial"/>
            </a:endParaRPr>
          </a:p>
        </p:txBody>
      </p:sp>
      <p:sp>
        <p:nvSpPr>
          <p:cNvPr id="1011" name="Text 495"/>
          <p:cNvSpPr/>
          <p:nvPr/>
        </p:nvSpPr>
        <p:spPr>
          <a:xfrm>
            <a:off x="604800" y="4495680"/>
            <a:ext cx="3023280" cy="30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100" b="0" u="none" strike="noStrike">
                <a:solidFill>
                  <a:srgbClr val="CADCFC"/>
                </a:solidFill>
                <a:effectLst/>
                <a:uFillTx/>
                <a:latin typeface="Consolas"/>
                <a:ea typeface="Consolas"/>
              </a:rPr>
              <a:t>└─ README.md</a:t>
            </a:r>
            <a:endParaRPr lang="pl-PL" sz="1100" b="0" u="none" strike="noStrike">
              <a:solidFill>
                <a:srgbClr val="000000"/>
              </a:solidFill>
              <a:effectLst/>
              <a:uFillTx/>
              <a:latin typeface="Arial"/>
            </a:endParaRPr>
          </a:p>
        </p:txBody>
      </p:sp>
      <p:sp>
        <p:nvSpPr>
          <p:cNvPr id="1012" name="Shape 468"/>
          <p:cNvSpPr/>
          <p:nvPr/>
        </p:nvSpPr>
        <p:spPr>
          <a:xfrm>
            <a:off x="5947560" y="1108800"/>
            <a:ext cx="3728520" cy="1597680"/>
          </a:xfrm>
          <a:prstGeom prst="roundRect">
            <a:avLst>
              <a:gd name="adj" fmla="val 5263"/>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1013" name="Text 496"/>
          <p:cNvSpPr/>
          <p:nvPr/>
        </p:nvSpPr>
        <p:spPr>
          <a:xfrm>
            <a:off x="6098760" y="1189080"/>
            <a:ext cx="3426480" cy="361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1" u="none" strike="noStrike">
                <a:solidFill>
                  <a:srgbClr val="1E2761"/>
                </a:solidFill>
                <a:effectLst/>
                <a:uFillTx/>
                <a:latin typeface="Cambria"/>
                <a:ea typeface="Cambria"/>
              </a:rPr>
              <a:t>Fundamentalna zasada</a:t>
            </a:r>
            <a:endParaRPr lang="pl-PL" sz="1600" b="0" u="none" strike="noStrike">
              <a:solidFill>
                <a:srgbClr val="000000"/>
              </a:solidFill>
              <a:effectLst/>
              <a:uFillTx/>
              <a:latin typeface="Arial"/>
            </a:endParaRPr>
          </a:p>
        </p:txBody>
      </p:sp>
      <p:sp>
        <p:nvSpPr>
          <p:cNvPr id="1014" name="Text 497"/>
          <p:cNvSpPr/>
          <p:nvPr/>
        </p:nvSpPr>
        <p:spPr>
          <a:xfrm>
            <a:off x="6098760" y="1556640"/>
            <a:ext cx="3426480" cy="1003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25000"/>
              </a:lnSpc>
              <a:tabLst>
                <a:tab pos="0" algn="l"/>
              </a:tabLst>
            </a:pPr>
            <a:r>
              <a:rPr lang="pl-PL" sz="1400" b="0" u="none" strike="noStrike">
                <a:solidFill>
                  <a:srgbClr val="1A1F3C"/>
                </a:solidFill>
                <a:effectLst/>
                <a:uFillTx/>
                <a:latin typeface="Calibri"/>
                <a:ea typeface="Calibri"/>
              </a:rPr>
              <a:t>Dane surowe są tylko do odczytu i nigdy ich nie nadpisujemy. Wszelkie przekształcenia wykonujemy wyłącznie przez skrypty zapisujące wynik do folderu processed.</a:t>
            </a:r>
            <a:endParaRPr lang="pl-PL" sz="1400" b="0" u="none" strike="noStrike">
              <a:solidFill>
                <a:srgbClr val="000000"/>
              </a:solidFill>
              <a:effectLst/>
              <a:uFillTx/>
              <a:latin typeface="Arial"/>
            </a:endParaRPr>
          </a:p>
        </p:txBody>
      </p:sp>
      <p:sp>
        <p:nvSpPr>
          <p:cNvPr id="1015" name="Shape 469"/>
          <p:cNvSpPr/>
          <p:nvPr/>
        </p:nvSpPr>
        <p:spPr>
          <a:xfrm>
            <a:off x="5947560" y="2807280"/>
            <a:ext cx="3728520" cy="2433600"/>
          </a:xfrm>
          <a:prstGeom prst="roundRect">
            <a:avLst>
              <a:gd name="adj" fmla="val 4878"/>
            </a:avLst>
          </a:prstGeom>
          <a:solidFill>
            <a:srgbClr val="EEF3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1016" name="Text 498"/>
          <p:cNvSpPr/>
          <p:nvPr/>
        </p:nvSpPr>
        <p:spPr>
          <a:xfrm>
            <a:off x="6098760" y="2823840"/>
            <a:ext cx="3426480" cy="361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1" u="none" strike="noStrike">
                <a:solidFill>
                  <a:srgbClr val="1E2761"/>
                </a:solidFill>
                <a:effectLst/>
                <a:uFillTx/>
                <a:latin typeface="Cambria"/>
                <a:ea typeface="Cambria"/>
              </a:rPr>
              <a:t>Standard BIDS</a:t>
            </a:r>
            <a:endParaRPr lang="pl-PL" sz="1600" b="0" u="none" strike="noStrike">
              <a:solidFill>
                <a:srgbClr val="000000"/>
              </a:solidFill>
              <a:effectLst/>
              <a:uFillTx/>
              <a:latin typeface="Arial"/>
            </a:endParaRPr>
          </a:p>
        </p:txBody>
      </p:sp>
      <p:sp>
        <p:nvSpPr>
          <p:cNvPr id="1017" name="Text 499"/>
          <p:cNvSpPr/>
          <p:nvPr/>
        </p:nvSpPr>
        <p:spPr>
          <a:xfrm>
            <a:off x="6098760" y="3155040"/>
            <a:ext cx="3426480" cy="956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25000"/>
              </a:lnSpc>
              <a:tabLst>
                <a:tab pos="0" algn="l"/>
              </a:tabLst>
            </a:pPr>
            <a:r>
              <a:rPr lang="pl-PL" sz="1400" b="0" u="none" strike="noStrike" dirty="0">
                <a:solidFill>
                  <a:srgbClr val="1A1F3C"/>
                </a:solidFill>
                <a:effectLst/>
                <a:uFillTx/>
                <a:latin typeface="Calibri"/>
                <a:ea typeface="Calibri"/>
              </a:rPr>
              <a:t>Brain </a:t>
            </a:r>
            <a:r>
              <a:rPr lang="pl-PL" sz="1400" b="0" u="none" strike="noStrike" dirty="0" err="1">
                <a:solidFill>
                  <a:srgbClr val="1A1F3C"/>
                </a:solidFill>
                <a:effectLst/>
                <a:uFillTx/>
                <a:latin typeface="Calibri"/>
                <a:ea typeface="Calibri"/>
              </a:rPr>
              <a:t>Imaging</a:t>
            </a:r>
            <a:r>
              <a:rPr lang="pl-PL" sz="1400" b="0" u="none" strike="noStrike" dirty="0">
                <a:solidFill>
                  <a:srgbClr val="1A1F3C"/>
                </a:solidFill>
                <a:effectLst/>
                <a:uFillTx/>
                <a:latin typeface="Calibri"/>
                <a:ea typeface="Calibri"/>
              </a:rPr>
              <a:t> Data </a:t>
            </a:r>
            <a:r>
              <a:rPr lang="pl-PL" sz="1400" b="0" u="none" strike="noStrike" dirty="0" err="1">
                <a:solidFill>
                  <a:srgbClr val="1A1F3C"/>
                </a:solidFill>
                <a:effectLst/>
                <a:uFillTx/>
                <a:latin typeface="Calibri"/>
                <a:ea typeface="Calibri"/>
              </a:rPr>
              <a:t>Structure</a:t>
            </a:r>
            <a:r>
              <a:rPr lang="pl-PL" sz="1400" b="0" u="none" strike="noStrike" dirty="0">
                <a:solidFill>
                  <a:srgbClr val="1A1F3C"/>
                </a:solidFill>
                <a:effectLst/>
                <a:uFillTx/>
                <a:latin typeface="Calibri"/>
                <a:ea typeface="Calibri"/>
              </a:rPr>
              <a:t> to formalny standard opisu danych </a:t>
            </a:r>
            <a:r>
              <a:rPr lang="pl-PL" sz="1400" b="0" u="none" strike="noStrike" dirty="0" err="1">
                <a:solidFill>
                  <a:srgbClr val="1A1F3C"/>
                </a:solidFill>
                <a:effectLst/>
                <a:uFillTx/>
                <a:latin typeface="Calibri"/>
                <a:ea typeface="Calibri"/>
              </a:rPr>
              <a:t>neuro</a:t>
            </a:r>
            <a:r>
              <a:rPr lang="pl-PL" sz="1400" b="0" u="none" strike="noStrike" dirty="0">
                <a:solidFill>
                  <a:srgbClr val="1A1F3C"/>
                </a:solidFill>
                <a:effectLst/>
                <a:uFillTx/>
                <a:latin typeface="Calibri"/>
                <a:ea typeface="Calibri"/>
              </a:rPr>
              <a:t>/ behawioralnych, coraz szerzej wymagany przez repozytoria takie jak </a:t>
            </a:r>
            <a:r>
              <a:rPr lang="pl-PL" sz="1400" b="0" u="none" strike="noStrike" dirty="0" err="1">
                <a:solidFill>
                  <a:srgbClr val="1A1F3C"/>
                </a:solidFill>
                <a:effectLst/>
                <a:uFillTx/>
                <a:latin typeface="Calibri"/>
                <a:ea typeface="Calibri"/>
              </a:rPr>
              <a:t>OpenNeuro</a:t>
            </a:r>
            <a:r>
              <a:rPr lang="pl-PL" sz="1400" b="0" u="none" strike="noStrike" dirty="0">
                <a:solidFill>
                  <a:srgbClr val="1A1F3C"/>
                </a:solidFill>
                <a:effectLst/>
                <a:uFillTx/>
                <a:latin typeface="Calibri"/>
                <a:ea typeface="Calibri"/>
              </a:rPr>
              <a:t>.</a:t>
            </a:r>
            <a:endParaRPr lang="pl-PL" sz="1400" b="0" u="none" strike="noStrike" dirty="0">
              <a:solidFill>
                <a:srgbClr val="000000"/>
              </a:solidFill>
              <a:effectLst/>
              <a:uFillTx/>
              <a:latin typeface="Arial"/>
            </a:endParaRPr>
          </a:p>
        </p:txBody>
      </p:sp>
      <p:sp>
        <p:nvSpPr>
          <p:cNvPr id="1018" name="Text 500"/>
          <p:cNvSpPr/>
          <p:nvPr/>
        </p:nvSpPr>
        <p:spPr>
          <a:xfrm>
            <a:off x="6098760" y="4637160"/>
            <a:ext cx="342648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20000"/>
              </a:lnSpc>
              <a:tabLst>
                <a:tab pos="0" algn="l"/>
              </a:tabLst>
            </a:pPr>
            <a:r>
              <a:rPr lang="pl-PL" sz="1400" b="1" i="1" u="none" strike="noStrike" dirty="0">
                <a:solidFill>
                  <a:srgbClr val="4A5280"/>
                </a:solidFill>
                <a:effectLst/>
                <a:uFillTx/>
                <a:latin typeface="Calibri"/>
                <a:ea typeface="Calibri"/>
              </a:rPr>
              <a:t>Filozofia BIDS</a:t>
            </a:r>
            <a:r>
              <a:rPr lang="pl-PL" sz="1400" b="0" i="1" u="none" strike="noStrike" dirty="0">
                <a:solidFill>
                  <a:srgbClr val="4A5280"/>
                </a:solidFill>
                <a:effectLst/>
                <a:uFillTx/>
                <a:latin typeface="Calibri"/>
                <a:ea typeface="Calibri"/>
              </a:rPr>
              <a:t>: każdy plik danych ma parę - plik JSON z metadanymi.</a:t>
            </a:r>
            <a:endParaRPr lang="pl-PL" sz="1400" b="0" u="none" strike="noStrike" dirty="0">
              <a:solidFill>
                <a:srgbClr val="000000"/>
              </a:solidFill>
              <a:effectLst/>
              <a:uFillTx/>
              <a:latin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1019" name="Shape 470"/>
          <p:cNvSpPr/>
          <p:nvPr/>
        </p:nvSpPr>
        <p:spPr>
          <a:xfrm>
            <a:off x="360" y="360"/>
            <a:ext cx="10079640" cy="1006920"/>
          </a:xfrm>
          <a:prstGeom prst="rect">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020" name="Text 501"/>
          <p:cNvSpPr/>
          <p:nvPr/>
        </p:nvSpPr>
        <p:spPr>
          <a:xfrm>
            <a:off x="453240" y="70560"/>
            <a:ext cx="917244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defTabSz="914400">
              <a:lnSpc>
                <a:spcPct val="100000"/>
              </a:lnSpc>
              <a:tabLst>
                <a:tab pos="0" algn="l"/>
              </a:tabLst>
            </a:pPr>
            <a:r>
              <a:rPr lang="pl-PL" sz="2400" b="1" u="none" strike="noStrike">
                <a:solidFill>
                  <a:srgbClr val="FFFFFF"/>
                </a:solidFill>
                <a:effectLst/>
                <a:uFillTx/>
                <a:latin typeface="Cambria"/>
                <a:ea typeface="Cambria"/>
              </a:rPr>
              <a:t>ANONIMIZACJA I PSEUDONIMIZACJA</a:t>
            </a:r>
            <a:endParaRPr lang="pl-PL" sz="2400" b="0" u="none" strike="noStrike">
              <a:solidFill>
                <a:srgbClr val="000000"/>
              </a:solidFill>
              <a:effectLst/>
              <a:uFillTx/>
              <a:latin typeface="Arial"/>
            </a:endParaRPr>
          </a:p>
        </p:txBody>
      </p:sp>
      <p:sp>
        <p:nvSpPr>
          <p:cNvPr id="1021" name="Text 502"/>
          <p:cNvSpPr/>
          <p:nvPr/>
        </p:nvSpPr>
        <p:spPr>
          <a:xfrm>
            <a:off x="453240" y="594720"/>
            <a:ext cx="9172440" cy="331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pl-PL" sz="1400" b="0" i="1" u="none" strike="noStrike">
                <a:solidFill>
                  <a:srgbClr val="CADCFC"/>
                </a:solidFill>
                <a:effectLst/>
                <a:uFillTx/>
                <a:latin typeface="Calibri"/>
                <a:ea typeface="Calibri"/>
              </a:rPr>
              <a:t>Ochrona danych uczestników: minimalizacja i separacja</a:t>
            </a:r>
            <a:endParaRPr lang="pl-PL" sz="1400" b="0" u="none" strike="noStrike">
              <a:solidFill>
                <a:srgbClr val="000000"/>
              </a:solidFill>
              <a:effectLst/>
              <a:uFillTx/>
              <a:latin typeface="Arial"/>
            </a:endParaRPr>
          </a:p>
        </p:txBody>
      </p:sp>
      <p:sp>
        <p:nvSpPr>
          <p:cNvPr id="1022" name="Shape 471"/>
          <p:cNvSpPr/>
          <p:nvPr/>
        </p:nvSpPr>
        <p:spPr>
          <a:xfrm>
            <a:off x="403200" y="1118325"/>
            <a:ext cx="4535280" cy="1052640"/>
          </a:xfrm>
          <a:prstGeom prst="roundRect">
            <a:avLst>
              <a:gd name="adj" fmla="val 8696"/>
            </a:avLst>
          </a:prstGeom>
          <a:solidFill>
            <a:srgbClr val="FFFFFF"/>
          </a:solidFill>
          <a:ln w="0">
            <a:solidFill>
              <a:schemeClr val="bg2">
                <a:lumMod val="90000"/>
              </a:schemeClr>
            </a:solid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1023" name="Text 503"/>
          <p:cNvSpPr/>
          <p:nvPr/>
        </p:nvSpPr>
        <p:spPr>
          <a:xfrm>
            <a:off x="554400" y="1159200"/>
            <a:ext cx="4232880" cy="32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800" b="1" u="none" strike="noStrike" dirty="0" err="1">
                <a:solidFill>
                  <a:srgbClr val="1E2761"/>
                </a:solidFill>
                <a:effectLst/>
                <a:uFillTx/>
                <a:latin typeface="Cambria"/>
                <a:ea typeface="Cambria"/>
              </a:rPr>
              <a:t>Pseudonimizacja</a:t>
            </a:r>
            <a:endParaRPr lang="pl-PL" sz="1800" b="0" u="none" strike="noStrike" dirty="0">
              <a:solidFill>
                <a:srgbClr val="000000"/>
              </a:solidFill>
              <a:effectLst/>
              <a:uFillTx/>
              <a:latin typeface="Arial"/>
            </a:endParaRPr>
          </a:p>
        </p:txBody>
      </p:sp>
      <p:sp>
        <p:nvSpPr>
          <p:cNvPr id="1024" name="Text 504"/>
          <p:cNvSpPr/>
          <p:nvPr/>
        </p:nvSpPr>
        <p:spPr>
          <a:xfrm>
            <a:off x="554400" y="1491840"/>
            <a:ext cx="4232880" cy="583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20000"/>
              </a:lnSpc>
              <a:tabLst>
                <a:tab pos="0" algn="l"/>
              </a:tabLst>
            </a:pPr>
            <a:r>
              <a:rPr lang="pl-PL" sz="1400" b="0" u="none" strike="noStrike" dirty="0">
                <a:solidFill>
                  <a:srgbClr val="1A1F3C"/>
                </a:solidFill>
                <a:effectLst/>
                <a:uFillTx/>
                <a:latin typeface="Calibri"/>
                <a:ea typeface="Calibri"/>
              </a:rPr>
              <a:t>Identyfikator uczestnika zamiast danych osobowych </a:t>
            </a:r>
            <a:br>
              <a:rPr lang="pl-PL" sz="1400" b="0" u="none" strike="noStrike" dirty="0">
                <a:solidFill>
                  <a:srgbClr val="1A1F3C"/>
                </a:solidFill>
                <a:effectLst/>
                <a:uFillTx/>
                <a:latin typeface="Calibri"/>
                <a:ea typeface="Calibri"/>
              </a:rPr>
            </a:br>
            <a:r>
              <a:rPr lang="pl-PL" sz="1400" b="0" u="none" strike="noStrike" dirty="0">
                <a:solidFill>
                  <a:srgbClr val="1A1F3C"/>
                </a:solidFill>
                <a:effectLst/>
                <a:uFillTx/>
                <a:latin typeface="Calibri"/>
                <a:ea typeface="Calibri"/>
              </a:rPr>
              <a:t>w plikach danych. Odwracalna przy dostępie do klucza.</a:t>
            </a:r>
            <a:endParaRPr lang="pl-PL" sz="1400" b="0" u="none" strike="noStrike" dirty="0">
              <a:solidFill>
                <a:srgbClr val="000000"/>
              </a:solidFill>
              <a:effectLst/>
              <a:uFillTx/>
              <a:latin typeface="Arial"/>
            </a:endParaRPr>
          </a:p>
        </p:txBody>
      </p:sp>
      <p:sp>
        <p:nvSpPr>
          <p:cNvPr id="1025" name="Shape 472"/>
          <p:cNvSpPr/>
          <p:nvPr/>
        </p:nvSpPr>
        <p:spPr>
          <a:xfrm>
            <a:off x="5141160" y="1118325"/>
            <a:ext cx="4535280" cy="1052640"/>
          </a:xfrm>
          <a:prstGeom prst="roundRect">
            <a:avLst>
              <a:gd name="adj" fmla="val 8696"/>
            </a:avLst>
          </a:prstGeom>
          <a:solidFill>
            <a:srgbClr val="FFFFFF"/>
          </a:solidFill>
          <a:ln w="0">
            <a:solidFill>
              <a:schemeClr val="bg2">
                <a:lumMod val="90000"/>
              </a:schemeClr>
            </a:solid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1026" name="Text 505"/>
          <p:cNvSpPr/>
          <p:nvPr/>
        </p:nvSpPr>
        <p:spPr>
          <a:xfrm>
            <a:off x="5292000" y="1159200"/>
            <a:ext cx="4232880" cy="32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800" b="1" u="none" strike="noStrike">
                <a:solidFill>
                  <a:srgbClr val="1E2761"/>
                </a:solidFill>
                <a:effectLst/>
                <a:uFillTx/>
                <a:latin typeface="Cambria"/>
                <a:ea typeface="Cambria"/>
              </a:rPr>
              <a:t>Anonimizacja</a:t>
            </a:r>
            <a:endParaRPr lang="pl-PL" sz="1800" b="0" u="none" strike="noStrike">
              <a:solidFill>
                <a:srgbClr val="000000"/>
              </a:solidFill>
              <a:effectLst/>
              <a:uFillTx/>
              <a:latin typeface="Arial"/>
            </a:endParaRPr>
          </a:p>
        </p:txBody>
      </p:sp>
      <p:sp>
        <p:nvSpPr>
          <p:cNvPr id="1027" name="Text 506"/>
          <p:cNvSpPr/>
          <p:nvPr/>
        </p:nvSpPr>
        <p:spPr>
          <a:xfrm>
            <a:off x="5292000" y="1491840"/>
            <a:ext cx="4232880" cy="583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20000"/>
              </a:lnSpc>
              <a:tabLst>
                <a:tab pos="0" algn="l"/>
              </a:tabLst>
            </a:pPr>
            <a:r>
              <a:rPr lang="pl-PL" sz="1400" b="0" u="none" strike="noStrike" dirty="0">
                <a:solidFill>
                  <a:srgbClr val="1A1F3C"/>
                </a:solidFill>
                <a:effectLst/>
                <a:uFillTx/>
                <a:latin typeface="Calibri"/>
                <a:ea typeface="Calibri"/>
              </a:rPr>
              <a:t>Nieodwracalne usunięcie możliwości identyfikacji uczestnika; wyższy poziom ochrony danych.</a:t>
            </a:r>
            <a:endParaRPr lang="pl-PL" sz="1400" b="0" u="none" strike="noStrike" dirty="0">
              <a:solidFill>
                <a:srgbClr val="000000"/>
              </a:solidFill>
              <a:effectLst/>
              <a:uFillTx/>
              <a:latin typeface="Arial"/>
            </a:endParaRPr>
          </a:p>
        </p:txBody>
      </p:sp>
      <p:sp>
        <p:nvSpPr>
          <p:cNvPr id="1028" name="Shape 473"/>
          <p:cNvSpPr/>
          <p:nvPr/>
        </p:nvSpPr>
        <p:spPr>
          <a:xfrm>
            <a:off x="403200" y="2335545"/>
            <a:ext cx="9273240" cy="1724400"/>
          </a:xfrm>
          <a:prstGeom prst="roundRect">
            <a:avLst>
              <a:gd name="adj" fmla="val 5556"/>
            </a:avLst>
          </a:prstGeom>
          <a:solidFill>
            <a:srgbClr val="F8F9FF"/>
          </a:solidFill>
          <a:ln w="0">
            <a:solidFill>
              <a:schemeClr val="bg2">
                <a:lumMod val="90000"/>
              </a:schemeClr>
            </a:solid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1029" name="Shape 474"/>
          <p:cNvSpPr/>
          <p:nvPr/>
        </p:nvSpPr>
        <p:spPr>
          <a:xfrm>
            <a:off x="604800" y="2476800"/>
            <a:ext cx="1964520" cy="805320"/>
          </a:xfrm>
          <a:prstGeom prst="roundRect">
            <a:avLst>
              <a:gd name="adj" fmla="val 10000"/>
            </a:avLst>
          </a:prstGeom>
          <a:solidFill>
            <a:srgbClr val="1E2761"/>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pPr algn="ctr"/>
            <a:r>
              <a:rPr lang="pl-PL" sz="2000" b="1" dirty="0">
                <a:solidFill>
                  <a:srgbClr val="FFFFFF"/>
                </a:solidFill>
                <a:ea typeface="Calibri"/>
              </a:rPr>
              <a:t>Uczestnik</a:t>
            </a:r>
            <a:endParaRPr lang="pl-PL" sz="2000" b="1" dirty="0">
              <a:solidFill>
                <a:srgbClr val="000000"/>
              </a:solidFill>
              <a:latin typeface="Arial"/>
            </a:endParaRPr>
          </a:p>
        </p:txBody>
      </p:sp>
      <p:sp>
        <p:nvSpPr>
          <p:cNvPr id="1031" name="Shape 475"/>
          <p:cNvSpPr/>
          <p:nvPr/>
        </p:nvSpPr>
        <p:spPr>
          <a:xfrm>
            <a:off x="2570400" y="2880000"/>
            <a:ext cx="181440" cy="360"/>
          </a:xfrm>
          <a:prstGeom prst="line">
            <a:avLst/>
          </a:prstGeom>
          <a:ln w="25400">
            <a:solidFill>
              <a:srgbClr val="1E2761"/>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000000"/>
              </a:solidFill>
              <a:effectLst/>
              <a:uFillTx/>
              <a:latin typeface="Arial"/>
            </a:endParaRPr>
          </a:p>
        </p:txBody>
      </p:sp>
      <p:sp>
        <p:nvSpPr>
          <p:cNvPr id="1032" name="Shape 476"/>
          <p:cNvSpPr/>
          <p:nvPr/>
        </p:nvSpPr>
        <p:spPr>
          <a:xfrm>
            <a:off x="2751840" y="2476800"/>
            <a:ext cx="2186640" cy="805320"/>
          </a:xfrm>
          <a:prstGeom prst="roundRect">
            <a:avLst>
              <a:gd name="adj" fmla="val 10000"/>
            </a:avLst>
          </a:prstGeom>
          <a:solidFill>
            <a:srgbClr val="2D3B8E"/>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pPr algn="ctr">
              <a:tabLst>
                <a:tab pos="0" algn="l"/>
              </a:tabLst>
            </a:pPr>
            <a:r>
              <a:rPr lang="pl-PL" sz="2000" b="1" dirty="0">
                <a:solidFill>
                  <a:srgbClr val="FFFFFF"/>
                </a:solidFill>
                <a:ea typeface="Calibri"/>
              </a:rPr>
              <a:t>Formularz zgody</a:t>
            </a:r>
            <a:endParaRPr lang="pl-PL" sz="2000" b="1" dirty="0">
              <a:solidFill>
                <a:srgbClr val="000000"/>
              </a:solidFill>
              <a:latin typeface="Arial"/>
            </a:endParaRPr>
          </a:p>
          <a:p>
            <a:pPr algn="ctr">
              <a:tabLst>
                <a:tab pos="0" algn="l"/>
              </a:tabLst>
            </a:pPr>
            <a:r>
              <a:rPr lang="pl-PL" sz="2000" dirty="0">
                <a:solidFill>
                  <a:srgbClr val="FFFFFF"/>
                </a:solidFill>
                <a:ea typeface="Calibri"/>
              </a:rPr>
              <a:t>(dane osobowe)</a:t>
            </a:r>
            <a:endParaRPr lang="pl-PL" sz="2000" dirty="0">
              <a:solidFill>
                <a:srgbClr val="000000"/>
              </a:solidFill>
              <a:latin typeface="Arial"/>
            </a:endParaRPr>
          </a:p>
        </p:txBody>
      </p:sp>
      <p:sp>
        <p:nvSpPr>
          <p:cNvPr id="1034" name="Shape 477"/>
          <p:cNvSpPr/>
          <p:nvPr/>
        </p:nvSpPr>
        <p:spPr>
          <a:xfrm>
            <a:off x="4946400" y="2880000"/>
            <a:ext cx="181440" cy="360"/>
          </a:xfrm>
          <a:prstGeom prst="line">
            <a:avLst/>
          </a:prstGeom>
          <a:ln w="25400">
            <a:solidFill>
              <a:srgbClr val="1E2761"/>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000000"/>
              </a:solidFill>
              <a:effectLst/>
              <a:uFillTx/>
              <a:latin typeface="Arial"/>
            </a:endParaRPr>
          </a:p>
        </p:txBody>
      </p:sp>
      <p:sp>
        <p:nvSpPr>
          <p:cNvPr id="1035" name="Shape 478"/>
          <p:cNvSpPr/>
          <p:nvPr/>
        </p:nvSpPr>
        <p:spPr>
          <a:xfrm>
            <a:off x="5127480" y="2476800"/>
            <a:ext cx="1964520" cy="805320"/>
          </a:xfrm>
          <a:prstGeom prst="roundRect">
            <a:avLst>
              <a:gd name="adj" fmla="val 10000"/>
            </a:avLst>
          </a:prstGeom>
          <a:solidFill>
            <a:srgbClr val="5B8FF9"/>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036" name="Text 509"/>
          <p:cNvSpPr/>
          <p:nvPr/>
        </p:nvSpPr>
        <p:spPr>
          <a:xfrm>
            <a:off x="5127480" y="2476800"/>
            <a:ext cx="1964520" cy="805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15000"/>
              </a:lnSpc>
              <a:tabLst>
                <a:tab pos="0" algn="l"/>
              </a:tabLst>
            </a:pPr>
            <a:r>
              <a:rPr lang="pl-PL" sz="2000" b="1" u="none" strike="noStrike" dirty="0">
                <a:solidFill>
                  <a:srgbClr val="FFFFFF"/>
                </a:solidFill>
                <a:effectLst/>
                <a:uFillTx/>
                <a:latin typeface="Calibri"/>
                <a:ea typeface="Calibri"/>
              </a:rPr>
              <a:t>Kod ID</a:t>
            </a:r>
            <a:endParaRPr lang="pl-PL" sz="2000" b="1" u="none" strike="noStrike" dirty="0">
              <a:solidFill>
                <a:srgbClr val="000000"/>
              </a:solidFill>
              <a:effectLst/>
              <a:uFillTx/>
              <a:latin typeface="Arial"/>
            </a:endParaRPr>
          </a:p>
          <a:p>
            <a:pPr algn="ctr" defTabSz="914400">
              <a:lnSpc>
                <a:spcPct val="115000"/>
              </a:lnSpc>
              <a:tabLst>
                <a:tab pos="0" algn="l"/>
              </a:tabLst>
            </a:pPr>
            <a:r>
              <a:rPr lang="pl-PL" sz="2000" b="0" u="none" strike="noStrike" dirty="0">
                <a:solidFill>
                  <a:srgbClr val="FFFFFF"/>
                </a:solidFill>
                <a:effectLst/>
                <a:uFillTx/>
                <a:latin typeface="Calibri"/>
                <a:ea typeface="Calibri"/>
              </a:rPr>
              <a:t>(losowy)</a:t>
            </a:r>
            <a:endParaRPr lang="pl-PL" sz="2000" b="0" u="none" strike="noStrike" dirty="0">
              <a:solidFill>
                <a:srgbClr val="000000"/>
              </a:solidFill>
              <a:effectLst/>
              <a:uFillTx/>
              <a:latin typeface="Arial"/>
            </a:endParaRPr>
          </a:p>
        </p:txBody>
      </p:sp>
      <p:sp>
        <p:nvSpPr>
          <p:cNvPr id="1037" name="Shape 479"/>
          <p:cNvSpPr/>
          <p:nvPr/>
        </p:nvSpPr>
        <p:spPr>
          <a:xfrm>
            <a:off x="7093440" y="2880000"/>
            <a:ext cx="181440" cy="360"/>
          </a:xfrm>
          <a:prstGeom prst="line">
            <a:avLst/>
          </a:prstGeom>
          <a:ln w="25400">
            <a:solidFill>
              <a:srgbClr val="1E2761"/>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000000"/>
              </a:solidFill>
              <a:effectLst/>
              <a:uFillTx/>
              <a:latin typeface="Arial"/>
            </a:endParaRPr>
          </a:p>
        </p:txBody>
      </p:sp>
      <p:sp>
        <p:nvSpPr>
          <p:cNvPr id="1038" name="Shape 480"/>
          <p:cNvSpPr/>
          <p:nvPr/>
        </p:nvSpPr>
        <p:spPr>
          <a:xfrm>
            <a:off x="7275240" y="2476800"/>
            <a:ext cx="2249640" cy="805320"/>
          </a:xfrm>
          <a:prstGeom prst="roundRect">
            <a:avLst>
              <a:gd name="adj" fmla="val 10000"/>
            </a:avLst>
          </a:prstGeom>
          <a:solidFill>
            <a:srgbClr val="3A9F6E"/>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pPr algn="ctr">
              <a:tabLst>
                <a:tab pos="0" algn="l"/>
              </a:tabLst>
            </a:pPr>
            <a:r>
              <a:rPr lang="pl-PL" sz="2000" b="1" dirty="0">
                <a:solidFill>
                  <a:srgbClr val="FFFFFF"/>
                </a:solidFill>
                <a:ea typeface="Calibri"/>
              </a:rPr>
              <a:t>Plik danych</a:t>
            </a:r>
            <a:endParaRPr lang="pl-PL" sz="2000" b="1" dirty="0">
              <a:solidFill>
                <a:srgbClr val="000000"/>
              </a:solidFill>
              <a:latin typeface="Arial"/>
            </a:endParaRPr>
          </a:p>
          <a:p>
            <a:pPr algn="ctr">
              <a:tabLst>
                <a:tab pos="0" algn="l"/>
              </a:tabLst>
            </a:pPr>
            <a:r>
              <a:rPr lang="pl-PL" sz="2000" dirty="0">
                <a:solidFill>
                  <a:srgbClr val="FFFFFF"/>
                </a:solidFill>
                <a:ea typeface="Calibri"/>
              </a:rPr>
              <a:t>(zanonimizowany)</a:t>
            </a:r>
            <a:endParaRPr lang="pl-PL" sz="2000" dirty="0">
              <a:solidFill>
                <a:srgbClr val="000000"/>
              </a:solidFill>
              <a:latin typeface="Arial"/>
            </a:endParaRPr>
          </a:p>
        </p:txBody>
      </p:sp>
      <p:sp>
        <p:nvSpPr>
          <p:cNvPr id="1040" name="Shape 481"/>
          <p:cNvSpPr/>
          <p:nvPr/>
        </p:nvSpPr>
        <p:spPr>
          <a:xfrm>
            <a:off x="6110280" y="3283560"/>
            <a:ext cx="360" cy="201600"/>
          </a:xfrm>
          <a:prstGeom prst="line">
            <a:avLst/>
          </a:prstGeom>
          <a:ln w="19050">
            <a:solidFill>
              <a:srgbClr val="D64045"/>
            </a:solidFill>
            <a:prstDash val="dash"/>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pl-PL" sz="1800" b="0" u="none" strike="noStrike">
              <a:solidFill>
                <a:srgbClr val="000000"/>
              </a:solidFill>
              <a:effectLst/>
              <a:uFillTx/>
              <a:latin typeface="Arial"/>
            </a:endParaRPr>
          </a:p>
        </p:txBody>
      </p:sp>
      <p:sp>
        <p:nvSpPr>
          <p:cNvPr id="1041" name="Shape 482"/>
          <p:cNvSpPr/>
          <p:nvPr/>
        </p:nvSpPr>
        <p:spPr>
          <a:xfrm>
            <a:off x="4946400" y="3472100"/>
            <a:ext cx="2328480" cy="514800"/>
          </a:xfrm>
          <a:prstGeom prst="roundRect">
            <a:avLst>
              <a:gd name="adj" fmla="val 17500"/>
            </a:avLst>
          </a:prstGeom>
          <a:solidFill>
            <a:srgbClr val="D64045"/>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r>
              <a:rPr lang="pl-PL" sz="1400" b="1" dirty="0">
                <a:solidFill>
                  <a:srgbClr val="FFFFFF"/>
                </a:solidFill>
                <a:ea typeface="Calibri"/>
              </a:rPr>
              <a:t>Klucz dostępu </a:t>
            </a:r>
            <a:r>
              <a:rPr lang="pl-PL" sz="1400" dirty="0">
                <a:solidFill>
                  <a:srgbClr val="FFFFFF"/>
                </a:solidFill>
                <a:ea typeface="Calibri"/>
              </a:rPr>
              <a:t>(przechowywany odrębnie)</a:t>
            </a:r>
            <a:endParaRPr lang="pl-PL" sz="1400" dirty="0">
              <a:solidFill>
                <a:srgbClr val="000000"/>
              </a:solidFill>
              <a:latin typeface="Arial"/>
            </a:endParaRPr>
          </a:p>
        </p:txBody>
      </p:sp>
      <p:sp>
        <p:nvSpPr>
          <p:cNvPr id="1043" name="Shape 483"/>
          <p:cNvSpPr/>
          <p:nvPr/>
        </p:nvSpPr>
        <p:spPr>
          <a:xfrm>
            <a:off x="403200" y="4201200"/>
            <a:ext cx="9273240" cy="1392480"/>
          </a:xfrm>
          <a:prstGeom prst="roundRect">
            <a:avLst>
              <a:gd name="adj" fmla="val 8333"/>
            </a:avLst>
          </a:prstGeom>
          <a:solidFill>
            <a:srgbClr val="FFFFFF"/>
          </a:solidFill>
          <a:ln w="0">
            <a:solidFill>
              <a:schemeClr val="bg2">
                <a:lumMod val="90000"/>
              </a:schemeClr>
            </a:solid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1044" name="Text 512"/>
          <p:cNvSpPr/>
          <p:nvPr/>
        </p:nvSpPr>
        <p:spPr>
          <a:xfrm>
            <a:off x="554400" y="4226985"/>
            <a:ext cx="4031280" cy="30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1" u="none" strike="noStrike" dirty="0">
                <a:solidFill>
                  <a:srgbClr val="1E2761"/>
                </a:solidFill>
                <a:effectLst/>
                <a:uFillTx/>
                <a:latin typeface="Cambria"/>
                <a:ea typeface="Cambria"/>
              </a:rPr>
              <a:t>Kluczowe zasady</a:t>
            </a:r>
            <a:endParaRPr lang="pl-PL" sz="1600" b="0" u="none" strike="noStrike" dirty="0">
              <a:solidFill>
                <a:srgbClr val="000000"/>
              </a:solidFill>
              <a:effectLst/>
              <a:uFillTx/>
              <a:latin typeface="Arial"/>
            </a:endParaRPr>
          </a:p>
        </p:txBody>
      </p:sp>
      <p:sp>
        <p:nvSpPr>
          <p:cNvPr id="1045" name="Shape 484"/>
          <p:cNvSpPr/>
          <p:nvPr/>
        </p:nvSpPr>
        <p:spPr>
          <a:xfrm>
            <a:off x="554400" y="4644360"/>
            <a:ext cx="200520" cy="200520"/>
          </a:xfrm>
          <a:prstGeom prst="ellipse">
            <a:avLst/>
          </a:prstGeom>
          <a:solidFill>
            <a:srgbClr val="D64045"/>
          </a:solidFill>
          <a:ln w="12700">
            <a:solidFill>
              <a:srgbClr val="D6404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046" name="Text 513"/>
          <p:cNvSpPr/>
          <p:nvPr/>
        </p:nvSpPr>
        <p:spPr>
          <a:xfrm>
            <a:off x="836280" y="4573440"/>
            <a:ext cx="4232880" cy="381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tabLst>
                <a:tab pos="0" algn="l"/>
              </a:tabLst>
            </a:pPr>
            <a:r>
              <a:rPr lang="pl-PL" sz="1400" b="0" u="none" strike="noStrike" dirty="0">
                <a:solidFill>
                  <a:srgbClr val="1A1F3C"/>
                </a:solidFill>
                <a:effectLst/>
                <a:uFillTx/>
                <a:ea typeface="Calibri Light" panose="020F0302020204030204" pitchFamily="34" charset="0"/>
                <a:cs typeface="Calibri Light" panose="020F0302020204030204" pitchFamily="34" charset="0"/>
              </a:rPr>
              <a:t>Klucz łączący ID z tożsamością przechowywany </a:t>
            </a:r>
            <a:br>
              <a:rPr sz="1400" dirty="0">
                <a:ea typeface="Calibri Light" panose="020F0302020204030204" pitchFamily="34" charset="0"/>
                <a:cs typeface="Calibri Light" panose="020F0302020204030204" pitchFamily="34" charset="0"/>
              </a:rPr>
            </a:br>
            <a:r>
              <a:rPr lang="pl-PL" sz="1400" b="0" u="none" strike="noStrike" dirty="0">
                <a:solidFill>
                  <a:srgbClr val="1A1F3C"/>
                </a:solidFill>
                <a:effectLst/>
                <a:uFillTx/>
                <a:ea typeface="Calibri Light" panose="020F0302020204030204" pitchFamily="34" charset="0"/>
                <a:cs typeface="Calibri Light" panose="020F0302020204030204" pitchFamily="34" charset="0"/>
              </a:rPr>
              <a:t>oddzielnie, z ograniczonym dostępem</a:t>
            </a:r>
            <a:endParaRPr lang="pl-PL" sz="1400" b="0" u="none" strike="noStrike" dirty="0">
              <a:solidFill>
                <a:srgbClr val="000000"/>
              </a:solidFill>
              <a:effectLst/>
              <a:uFillTx/>
              <a:ea typeface="Calibri Light" panose="020F0302020204030204" pitchFamily="34" charset="0"/>
              <a:cs typeface="Calibri Light" panose="020F0302020204030204" pitchFamily="34" charset="0"/>
            </a:endParaRPr>
          </a:p>
        </p:txBody>
      </p:sp>
      <p:sp>
        <p:nvSpPr>
          <p:cNvPr id="1047" name="Shape 485"/>
          <p:cNvSpPr/>
          <p:nvPr/>
        </p:nvSpPr>
        <p:spPr>
          <a:xfrm>
            <a:off x="5141160" y="4644360"/>
            <a:ext cx="200520" cy="200520"/>
          </a:xfrm>
          <a:prstGeom prst="ellipse">
            <a:avLst/>
          </a:prstGeom>
          <a:solidFill>
            <a:srgbClr val="D64045"/>
          </a:solidFill>
          <a:ln w="12700">
            <a:solidFill>
              <a:srgbClr val="D6404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048" name="Text 514"/>
          <p:cNvSpPr/>
          <p:nvPr/>
        </p:nvSpPr>
        <p:spPr>
          <a:xfrm>
            <a:off x="5423040" y="4573440"/>
            <a:ext cx="4232880" cy="381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tabLst>
                <a:tab pos="0" algn="l"/>
              </a:tabLst>
            </a:pPr>
            <a:r>
              <a:rPr lang="pl-PL" sz="1400" b="0" u="none" strike="noStrike" dirty="0">
                <a:solidFill>
                  <a:srgbClr val="1A1F3C"/>
                </a:solidFill>
                <a:effectLst/>
                <a:uFillTx/>
                <a:ea typeface="Calibri Light" panose="020F0302020204030204" pitchFamily="34" charset="0"/>
                <a:cs typeface="Calibri Light" panose="020F0302020204030204" pitchFamily="34" charset="0"/>
              </a:rPr>
              <a:t>Dane wrażliwe (RODO art. 9): zdrowie psychiczne, biometria mają wyższe wymogi ochrony</a:t>
            </a:r>
            <a:endParaRPr lang="pl-PL" sz="1400" b="0" u="none" strike="noStrike" dirty="0">
              <a:solidFill>
                <a:srgbClr val="000000"/>
              </a:solidFill>
              <a:effectLst/>
              <a:uFillTx/>
              <a:ea typeface="Calibri Light" panose="020F0302020204030204" pitchFamily="34" charset="0"/>
              <a:cs typeface="Calibri Light" panose="020F0302020204030204" pitchFamily="34" charset="0"/>
            </a:endParaRPr>
          </a:p>
        </p:txBody>
      </p:sp>
      <p:sp>
        <p:nvSpPr>
          <p:cNvPr id="1049" name="Shape 486"/>
          <p:cNvSpPr/>
          <p:nvPr/>
        </p:nvSpPr>
        <p:spPr>
          <a:xfrm>
            <a:off x="554400" y="5191560"/>
            <a:ext cx="200520" cy="200520"/>
          </a:xfrm>
          <a:prstGeom prst="ellipse">
            <a:avLst/>
          </a:prstGeom>
          <a:solidFill>
            <a:srgbClr val="D64045"/>
          </a:solidFill>
          <a:ln w="12700">
            <a:solidFill>
              <a:srgbClr val="D6404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050" name="Text 515"/>
          <p:cNvSpPr/>
          <p:nvPr/>
        </p:nvSpPr>
        <p:spPr>
          <a:xfrm>
            <a:off x="836280" y="5121000"/>
            <a:ext cx="4232880" cy="381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tabLst>
                <a:tab pos="0" algn="l"/>
              </a:tabLst>
            </a:pPr>
            <a:r>
              <a:rPr lang="pl-PL" sz="1400" b="0" u="none" strike="noStrike" dirty="0">
                <a:solidFill>
                  <a:srgbClr val="1A1F3C"/>
                </a:solidFill>
                <a:effectLst/>
                <a:uFillTx/>
                <a:ea typeface="Calibri Light" panose="020F0302020204030204" pitchFamily="34" charset="0"/>
                <a:cs typeface="Calibri Light" panose="020F0302020204030204" pitchFamily="34" charset="0"/>
              </a:rPr>
              <a:t>Nagrania audio/wideo są danymi biometrycznymi </a:t>
            </a:r>
            <a:br>
              <a:rPr lang="pl-PL" sz="1400" b="0" u="none" strike="noStrike" dirty="0">
                <a:solidFill>
                  <a:srgbClr val="1A1F3C"/>
                </a:solidFill>
                <a:effectLst/>
                <a:uFillTx/>
                <a:ea typeface="Calibri Light" panose="020F0302020204030204" pitchFamily="34" charset="0"/>
                <a:cs typeface="Calibri Light" panose="020F0302020204030204" pitchFamily="34" charset="0"/>
              </a:rPr>
            </a:br>
            <a:r>
              <a:rPr lang="pl-PL" sz="1400" b="0" u="none" strike="noStrike" dirty="0">
                <a:solidFill>
                  <a:srgbClr val="1A1F3C"/>
                </a:solidFill>
                <a:effectLst/>
                <a:uFillTx/>
                <a:ea typeface="Calibri Light" panose="020F0302020204030204" pitchFamily="34" charset="0"/>
                <a:cs typeface="Calibri Light" panose="020F0302020204030204" pitchFamily="34" charset="0"/>
              </a:rPr>
              <a:t>i wymagają szczególnej zgody</a:t>
            </a:r>
            <a:endParaRPr lang="pl-PL" sz="1400" b="0" u="none" strike="noStrike" dirty="0">
              <a:solidFill>
                <a:srgbClr val="000000"/>
              </a:solidFill>
              <a:effectLst/>
              <a:uFillTx/>
              <a:ea typeface="Calibri Light" panose="020F0302020204030204" pitchFamily="34" charset="0"/>
              <a:cs typeface="Calibri Light" panose="020F0302020204030204" pitchFamily="34" charset="0"/>
            </a:endParaRPr>
          </a:p>
        </p:txBody>
      </p:sp>
      <p:sp>
        <p:nvSpPr>
          <p:cNvPr id="1051" name="Shape 487"/>
          <p:cNvSpPr/>
          <p:nvPr/>
        </p:nvSpPr>
        <p:spPr>
          <a:xfrm>
            <a:off x="5141160" y="5191560"/>
            <a:ext cx="200520" cy="200520"/>
          </a:xfrm>
          <a:prstGeom prst="ellipse">
            <a:avLst/>
          </a:prstGeom>
          <a:solidFill>
            <a:srgbClr val="D64045"/>
          </a:solidFill>
          <a:ln w="12700">
            <a:solidFill>
              <a:srgbClr val="D6404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052" name="Text 516"/>
          <p:cNvSpPr/>
          <p:nvPr/>
        </p:nvSpPr>
        <p:spPr>
          <a:xfrm>
            <a:off x="5423040" y="5121000"/>
            <a:ext cx="4232880" cy="381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tabLst>
                <a:tab pos="0" algn="l"/>
              </a:tabLst>
            </a:pPr>
            <a:r>
              <a:rPr lang="pl-PL" sz="1400" b="0" u="none" strike="noStrike" dirty="0">
                <a:solidFill>
                  <a:srgbClr val="1A1F3C"/>
                </a:solidFill>
                <a:effectLst/>
                <a:uFillTx/>
                <a:ea typeface="Calibri Light" panose="020F0302020204030204" pitchFamily="34" charset="0"/>
                <a:cs typeface="Calibri Light" panose="020F0302020204030204" pitchFamily="34" charset="0"/>
              </a:rPr>
              <a:t>Minimalizacja: zbieramy tylko dane niezbędne </a:t>
            </a:r>
            <a:br>
              <a:rPr sz="1400" dirty="0">
                <a:ea typeface="Calibri Light" panose="020F0302020204030204" pitchFamily="34" charset="0"/>
                <a:cs typeface="Calibri Light" panose="020F0302020204030204" pitchFamily="34" charset="0"/>
              </a:rPr>
            </a:br>
            <a:r>
              <a:rPr lang="pl-PL" sz="1400" b="0" u="none" strike="noStrike" dirty="0">
                <a:solidFill>
                  <a:srgbClr val="1A1F3C"/>
                </a:solidFill>
                <a:effectLst/>
                <a:uFillTx/>
                <a:ea typeface="Calibri Light" panose="020F0302020204030204" pitchFamily="34" charset="0"/>
                <a:cs typeface="Calibri Light" panose="020F0302020204030204" pitchFamily="34" charset="0"/>
              </a:rPr>
              <a:t>do odpowiedzi na pytanie badawcze</a:t>
            </a:r>
            <a:endParaRPr lang="pl-PL" sz="1400" b="0" u="none" strike="noStrike" dirty="0">
              <a:solidFill>
                <a:srgbClr val="000000"/>
              </a:solidFill>
              <a:effectLst/>
              <a:uFillTx/>
              <a:ea typeface="Calibri Light" panose="020F0302020204030204" pitchFamily="34" charset="0"/>
              <a:cs typeface="Calibri Light" panose="020F030202020403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1053" name="Shape 488"/>
          <p:cNvSpPr/>
          <p:nvPr/>
        </p:nvSpPr>
        <p:spPr>
          <a:xfrm>
            <a:off x="360" y="360"/>
            <a:ext cx="10079640" cy="1006920"/>
          </a:xfrm>
          <a:prstGeom prst="rect">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054" name="Text 517"/>
          <p:cNvSpPr/>
          <p:nvPr/>
        </p:nvSpPr>
        <p:spPr>
          <a:xfrm>
            <a:off x="453240" y="70560"/>
            <a:ext cx="917244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defTabSz="914400">
              <a:lnSpc>
                <a:spcPct val="100000"/>
              </a:lnSpc>
              <a:tabLst>
                <a:tab pos="0" algn="l"/>
              </a:tabLst>
            </a:pPr>
            <a:r>
              <a:rPr lang="pl-PL" sz="2200" b="1" u="none" strike="noStrike" dirty="0">
                <a:solidFill>
                  <a:srgbClr val="FFFFFF"/>
                </a:solidFill>
                <a:effectLst/>
                <a:uFillTx/>
                <a:latin typeface="Cambria"/>
                <a:ea typeface="Cambria"/>
              </a:rPr>
              <a:t>AI W PRZYGOTOWANIU MATERIAŁÓW BADAWCZYCH</a:t>
            </a:r>
            <a:endParaRPr lang="pl-PL" sz="2200" b="0" u="none" strike="noStrike" dirty="0">
              <a:solidFill>
                <a:srgbClr val="000000"/>
              </a:solidFill>
              <a:effectLst/>
              <a:uFillTx/>
              <a:latin typeface="Arial"/>
            </a:endParaRPr>
          </a:p>
        </p:txBody>
      </p:sp>
      <p:sp>
        <p:nvSpPr>
          <p:cNvPr id="1055" name="Text 518"/>
          <p:cNvSpPr/>
          <p:nvPr/>
        </p:nvSpPr>
        <p:spPr>
          <a:xfrm>
            <a:off x="453240" y="594720"/>
            <a:ext cx="9172440" cy="331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pl-PL" sz="1400" b="0" i="1" u="none" strike="noStrike">
                <a:solidFill>
                  <a:srgbClr val="CADCFC"/>
                </a:solidFill>
                <a:effectLst/>
                <a:uFillTx/>
                <a:latin typeface="Calibri"/>
                <a:ea typeface="Calibri"/>
              </a:rPr>
              <a:t>Generatywna AI jako narzędzie do tworzenia bodźców</a:t>
            </a:r>
            <a:endParaRPr lang="pl-PL" sz="1400" b="0" u="none" strike="noStrike">
              <a:solidFill>
                <a:srgbClr val="000000"/>
              </a:solidFill>
              <a:effectLst/>
              <a:uFillTx/>
              <a:latin typeface="Arial"/>
            </a:endParaRPr>
          </a:p>
        </p:txBody>
      </p:sp>
      <p:sp>
        <p:nvSpPr>
          <p:cNvPr id="1056" name="Shape 489"/>
          <p:cNvSpPr/>
          <p:nvPr/>
        </p:nvSpPr>
        <p:spPr>
          <a:xfrm>
            <a:off x="402840" y="1201611"/>
            <a:ext cx="9273600" cy="1058040"/>
          </a:xfrm>
          <a:prstGeom prst="roundRect">
            <a:avLst>
              <a:gd name="adj" fmla="val 8696"/>
            </a:avLst>
          </a:prstGeom>
          <a:solidFill>
            <a:srgbClr val="F8F9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3200" b="0" u="none" strike="noStrike">
              <a:solidFill>
                <a:srgbClr val="000000"/>
              </a:solidFill>
              <a:effectLst/>
              <a:uFillTx/>
              <a:latin typeface="Arial"/>
            </a:endParaRPr>
          </a:p>
        </p:txBody>
      </p:sp>
      <p:sp>
        <p:nvSpPr>
          <p:cNvPr id="1057" name="Shape 490"/>
          <p:cNvSpPr/>
          <p:nvPr/>
        </p:nvSpPr>
        <p:spPr>
          <a:xfrm>
            <a:off x="586209" y="1324800"/>
            <a:ext cx="2065022" cy="724680"/>
          </a:xfrm>
          <a:prstGeom prst="roundRect">
            <a:avLst>
              <a:gd name="adj" fmla="val 11111"/>
            </a:avLst>
          </a:prstGeom>
          <a:solidFill>
            <a:srgbClr val="1E2761"/>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pPr algn="ctr">
              <a:tabLst>
                <a:tab pos="0" algn="l"/>
              </a:tabLst>
            </a:pPr>
            <a:r>
              <a:rPr lang="pl-PL" sz="2000" dirty="0">
                <a:solidFill>
                  <a:srgbClr val="FFFFFF"/>
                </a:solidFill>
                <a:latin typeface="+mj-lt"/>
                <a:ea typeface="Calibri"/>
              </a:rPr>
              <a:t>Model</a:t>
            </a:r>
            <a:endParaRPr lang="pl-PL" sz="2000" dirty="0">
              <a:solidFill>
                <a:srgbClr val="000000"/>
              </a:solidFill>
              <a:latin typeface="+mj-lt"/>
            </a:endParaRPr>
          </a:p>
          <a:p>
            <a:pPr algn="ctr">
              <a:tabLst>
                <a:tab pos="0" algn="l"/>
              </a:tabLst>
            </a:pPr>
            <a:r>
              <a:rPr lang="pl-PL" sz="2000" dirty="0">
                <a:solidFill>
                  <a:srgbClr val="FFFFFF"/>
                </a:solidFill>
                <a:latin typeface="+mj-lt"/>
                <a:ea typeface="Calibri"/>
              </a:rPr>
              <a:t>generatywny</a:t>
            </a:r>
            <a:endParaRPr lang="pl-PL" sz="2000" dirty="0">
              <a:solidFill>
                <a:srgbClr val="000000"/>
              </a:solidFill>
              <a:latin typeface="+mj-lt"/>
            </a:endParaRPr>
          </a:p>
        </p:txBody>
      </p:sp>
      <p:sp>
        <p:nvSpPr>
          <p:cNvPr id="1059" name="Shape 491"/>
          <p:cNvSpPr/>
          <p:nvPr/>
        </p:nvSpPr>
        <p:spPr>
          <a:xfrm>
            <a:off x="2652338" y="1723680"/>
            <a:ext cx="206613" cy="360"/>
          </a:xfrm>
          <a:prstGeom prst="line">
            <a:avLst/>
          </a:prstGeom>
          <a:ln w="25400">
            <a:solidFill>
              <a:srgbClr val="1E2761"/>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3200" b="0" u="none" strike="noStrike">
              <a:solidFill>
                <a:srgbClr val="000000"/>
              </a:solidFill>
              <a:effectLst/>
              <a:uFillTx/>
              <a:latin typeface="Arial"/>
            </a:endParaRPr>
          </a:p>
        </p:txBody>
      </p:sp>
      <p:sp>
        <p:nvSpPr>
          <p:cNvPr id="1060" name="Shape 492"/>
          <p:cNvSpPr/>
          <p:nvPr/>
        </p:nvSpPr>
        <p:spPr>
          <a:xfrm>
            <a:off x="2858951" y="1360800"/>
            <a:ext cx="2065022" cy="724680"/>
          </a:xfrm>
          <a:prstGeom prst="roundRect">
            <a:avLst>
              <a:gd name="adj" fmla="val 11111"/>
            </a:avLst>
          </a:prstGeom>
          <a:solidFill>
            <a:srgbClr val="2D3B8E"/>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pPr algn="ctr">
              <a:tabLst>
                <a:tab pos="0" algn="l"/>
              </a:tabLst>
            </a:pPr>
            <a:r>
              <a:rPr lang="pl-PL" sz="2000" dirty="0">
                <a:solidFill>
                  <a:srgbClr val="FFFFFF"/>
                </a:solidFill>
                <a:latin typeface="+mj-lt"/>
                <a:ea typeface="Calibri"/>
              </a:rPr>
              <a:t>Surowy bodziec</a:t>
            </a:r>
            <a:endParaRPr lang="pl-PL" sz="2000" dirty="0">
              <a:solidFill>
                <a:srgbClr val="000000"/>
              </a:solidFill>
              <a:latin typeface="+mj-lt"/>
            </a:endParaRPr>
          </a:p>
        </p:txBody>
      </p:sp>
      <p:sp>
        <p:nvSpPr>
          <p:cNvPr id="1062" name="Shape 493"/>
          <p:cNvSpPr/>
          <p:nvPr/>
        </p:nvSpPr>
        <p:spPr>
          <a:xfrm>
            <a:off x="4925449" y="1723680"/>
            <a:ext cx="206613" cy="360"/>
          </a:xfrm>
          <a:prstGeom prst="line">
            <a:avLst/>
          </a:prstGeom>
          <a:ln w="25400">
            <a:solidFill>
              <a:srgbClr val="1E2761"/>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3200" b="0" u="none" strike="noStrike">
              <a:solidFill>
                <a:srgbClr val="000000"/>
              </a:solidFill>
              <a:effectLst/>
              <a:uFillTx/>
              <a:latin typeface="Arial"/>
            </a:endParaRPr>
          </a:p>
        </p:txBody>
      </p:sp>
      <p:sp>
        <p:nvSpPr>
          <p:cNvPr id="1063" name="Shape 494"/>
          <p:cNvSpPr/>
          <p:nvPr/>
        </p:nvSpPr>
        <p:spPr>
          <a:xfrm>
            <a:off x="5132062" y="1360800"/>
            <a:ext cx="2065022" cy="724680"/>
          </a:xfrm>
          <a:prstGeom prst="roundRect">
            <a:avLst>
              <a:gd name="adj" fmla="val 11111"/>
            </a:avLst>
          </a:prstGeom>
          <a:solidFill>
            <a:srgbClr val="5B8FF9"/>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pPr algn="ctr">
              <a:tabLst>
                <a:tab pos="0" algn="l"/>
              </a:tabLst>
            </a:pPr>
            <a:r>
              <a:rPr lang="pl-PL" sz="2000" dirty="0">
                <a:solidFill>
                  <a:srgbClr val="FFFFFF"/>
                </a:solidFill>
                <a:latin typeface="+mj-lt"/>
                <a:ea typeface="Calibri"/>
              </a:rPr>
              <a:t>Walidacja</a:t>
            </a:r>
            <a:endParaRPr lang="pl-PL" sz="2000" dirty="0">
              <a:solidFill>
                <a:srgbClr val="000000"/>
              </a:solidFill>
              <a:latin typeface="+mj-lt"/>
            </a:endParaRPr>
          </a:p>
          <a:p>
            <a:pPr algn="ctr">
              <a:tabLst>
                <a:tab pos="0" algn="l"/>
              </a:tabLst>
            </a:pPr>
            <a:r>
              <a:rPr lang="pl-PL" sz="2000" dirty="0">
                <a:solidFill>
                  <a:srgbClr val="FFFFFF"/>
                </a:solidFill>
                <a:latin typeface="+mj-lt"/>
                <a:ea typeface="Calibri"/>
              </a:rPr>
              <a:t>(panel)</a:t>
            </a:r>
            <a:endParaRPr lang="pl-PL" sz="2000" dirty="0">
              <a:solidFill>
                <a:srgbClr val="000000"/>
              </a:solidFill>
              <a:latin typeface="+mj-lt"/>
            </a:endParaRPr>
          </a:p>
        </p:txBody>
      </p:sp>
      <p:sp>
        <p:nvSpPr>
          <p:cNvPr id="1065" name="Shape 495"/>
          <p:cNvSpPr/>
          <p:nvPr/>
        </p:nvSpPr>
        <p:spPr>
          <a:xfrm>
            <a:off x="7198192" y="1723680"/>
            <a:ext cx="206613" cy="360"/>
          </a:xfrm>
          <a:prstGeom prst="line">
            <a:avLst/>
          </a:prstGeom>
          <a:ln w="25400">
            <a:solidFill>
              <a:srgbClr val="1E2761"/>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3200" b="0" u="none" strike="noStrike">
              <a:solidFill>
                <a:srgbClr val="000000"/>
              </a:solidFill>
              <a:effectLst/>
              <a:uFillTx/>
              <a:latin typeface="Arial"/>
            </a:endParaRPr>
          </a:p>
        </p:txBody>
      </p:sp>
      <p:sp>
        <p:nvSpPr>
          <p:cNvPr id="1066" name="Shape 496"/>
          <p:cNvSpPr/>
          <p:nvPr/>
        </p:nvSpPr>
        <p:spPr>
          <a:xfrm>
            <a:off x="7404805" y="1360800"/>
            <a:ext cx="2065022" cy="724680"/>
          </a:xfrm>
          <a:prstGeom prst="roundRect">
            <a:avLst>
              <a:gd name="adj" fmla="val 11111"/>
            </a:avLst>
          </a:prstGeom>
          <a:solidFill>
            <a:srgbClr val="7030A0"/>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pPr algn="ctr">
              <a:tabLst>
                <a:tab pos="0" algn="l"/>
              </a:tabLst>
            </a:pPr>
            <a:r>
              <a:rPr lang="pl-PL" sz="2000" dirty="0">
                <a:solidFill>
                  <a:srgbClr val="FFFFFF"/>
                </a:solidFill>
                <a:latin typeface="+mj-lt"/>
                <a:ea typeface="Calibri"/>
              </a:rPr>
              <a:t>Zatwierdzony bodziec</a:t>
            </a:r>
            <a:endParaRPr lang="pl-PL" sz="2000" dirty="0">
              <a:solidFill>
                <a:srgbClr val="000000"/>
              </a:solidFill>
              <a:latin typeface="+mj-lt"/>
            </a:endParaRPr>
          </a:p>
        </p:txBody>
      </p:sp>
      <p:sp>
        <p:nvSpPr>
          <p:cNvPr id="1068" name="Shape 497"/>
          <p:cNvSpPr/>
          <p:nvPr/>
        </p:nvSpPr>
        <p:spPr>
          <a:xfrm>
            <a:off x="403200" y="2520000"/>
            <a:ext cx="2993040" cy="1561320"/>
          </a:xfrm>
          <a:prstGeom prst="roundRect">
            <a:avLst>
              <a:gd name="adj" fmla="val 6452"/>
            </a:avLst>
          </a:prstGeom>
          <a:solidFill>
            <a:srgbClr val="FFFFFF"/>
          </a:solidFill>
          <a:ln w="0">
            <a:solidFill>
              <a:schemeClr val="bg2">
                <a:lumMod val="90000"/>
              </a:schemeClr>
            </a:solid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3200" b="0" u="none" strike="noStrike">
              <a:solidFill>
                <a:srgbClr val="000000"/>
              </a:solidFill>
              <a:effectLst/>
              <a:uFillTx/>
              <a:latin typeface="Arial"/>
            </a:endParaRPr>
          </a:p>
        </p:txBody>
      </p:sp>
      <p:sp>
        <p:nvSpPr>
          <p:cNvPr id="1069" name="Shape 498"/>
          <p:cNvSpPr/>
          <p:nvPr/>
        </p:nvSpPr>
        <p:spPr>
          <a:xfrm>
            <a:off x="402840" y="2520000"/>
            <a:ext cx="2993040" cy="422280"/>
          </a:xfrm>
          <a:prstGeom prst="roundRect">
            <a:avLst>
              <a:gd name="adj" fmla="val 24687"/>
            </a:avLst>
          </a:prstGeom>
          <a:solidFill>
            <a:srgbClr val="1E276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3200" b="0" u="none" strike="noStrike">
              <a:solidFill>
                <a:srgbClr val="FFFFFF"/>
              </a:solidFill>
              <a:effectLst/>
              <a:uFillTx/>
              <a:latin typeface="Arial"/>
            </a:endParaRPr>
          </a:p>
        </p:txBody>
      </p:sp>
      <p:sp>
        <p:nvSpPr>
          <p:cNvPr id="1070" name="Text 523"/>
          <p:cNvSpPr/>
          <p:nvPr/>
        </p:nvSpPr>
        <p:spPr>
          <a:xfrm>
            <a:off x="402840" y="2520000"/>
            <a:ext cx="2993040" cy="422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100" b="1" u="none" strike="noStrike">
                <a:solidFill>
                  <a:srgbClr val="FFFFFF"/>
                </a:solidFill>
                <a:effectLst/>
                <a:uFillTx/>
                <a:latin typeface="Cambria"/>
                <a:ea typeface="Cambria"/>
              </a:rPr>
              <a:t>Tekst</a:t>
            </a:r>
            <a:endParaRPr lang="pl-PL" sz="2100" b="0" u="none" strike="noStrike">
              <a:solidFill>
                <a:srgbClr val="000000"/>
              </a:solidFill>
              <a:effectLst/>
              <a:uFillTx/>
              <a:latin typeface="Arial"/>
            </a:endParaRPr>
          </a:p>
        </p:txBody>
      </p:sp>
      <p:sp>
        <p:nvSpPr>
          <p:cNvPr id="1071" name="Text 524"/>
          <p:cNvSpPr/>
          <p:nvPr/>
        </p:nvSpPr>
        <p:spPr>
          <a:xfrm>
            <a:off x="524160" y="3024000"/>
            <a:ext cx="2750760" cy="1006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14000"/>
              </a:lnSpc>
              <a:tabLst>
                <a:tab pos="0" algn="l"/>
              </a:tabLst>
            </a:pPr>
            <a:r>
              <a:rPr lang="pl-PL" b="0" u="none" strike="noStrike" dirty="0">
                <a:solidFill>
                  <a:srgbClr val="1A1F3C"/>
                </a:solidFill>
                <a:effectLst/>
                <a:uFillTx/>
                <a:latin typeface="Calibri"/>
                <a:ea typeface="Calibri"/>
              </a:rPr>
              <a:t>Scenariusze, winiety, opisy sytuacji społecznych</a:t>
            </a:r>
            <a:endParaRPr lang="pl-PL" b="0" u="none" strike="noStrike" dirty="0">
              <a:solidFill>
                <a:srgbClr val="000000"/>
              </a:solidFill>
              <a:effectLst/>
              <a:uFillTx/>
              <a:latin typeface="Arial"/>
            </a:endParaRPr>
          </a:p>
        </p:txBody>
      </p:sp>
      <p:sp>
        <p:nvSpPr>
          <p:cNvPr id="1072" name="Shape 499"/>
          <p:cNvSpPr/>
          <p:nvPr/>
        </p:nvSpPr>
        <p:spPr>
          <a:xfrm>
            <a:off x="3538080" y="2520000"/>
            <a:ext cx="2993040" cy="1561320"/>
          </a:xfrm>
          <a:prstGeom prst="roundRect">
            <a:avLst>
              <a:gd name="adj" fmla="val 6452"/>
            </a:avLst>
          </a:prstGeom>
          <a:solidFill>
            <a:srgbClr val="FFFFFF"/>
          </a:solidFill>
          <a:ln w="0">
            <a:solidFill>
              <a:schemeClr val="bg2">
                <a:lumMod val="90000"/>
              </a:schemeClr>
            </a:solid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3200" b="0" u="none" strike="noStrike">
              <a:solidFill>
                <a:srgbClr val="000000"/>
              </a:solidFill>
              <a:effectLst/>
              <a:uFillTx/>
              <a:latin typeface="Arial"/>
            </a:endParaRPr>
          </a:p>
        </p:txBody>
      </p:sp>
      <p:sp>
        <p:nvSpPr>
          <p:cNvPr id="1073" name="Shape 500"/>
          <p:cNvSpPr/>
          <p:nvPr/>
        </p:nvSpPr>
        <p:spPr>
          <a:xfrm>
            <a:off x="3538080" y="2520000"/>
            <a:ext cx="2993040" cy="422280"/>
          </a:xfrm>
          <a:prstGeom prst="roundRect">
            <a:avLst>
              <a:gd name="adj" fmla="val 24687"/>
            </a:avLst>
          </a:prstGeom>
          <a:solidFill>
            <a:srgbClr val="5B8FF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3200" b="0" u="none" strike="noStrike">
              <a:solidFill>
                <a:srgbClr val="FFFFFF"/>
              </a:solidFill>
              <a:effectLst/>
              <a:uFillTx/>
              <a:latin typeface="Arial"/>
            </a:endParaRPr>
          </a:p>
        </p:txBody>
      </p:sp>
      <p:sp>
        <p:nvSpPr>
          <p:cNvPr id="1074" name="Text 525"/>
          <p:cNvSpPr/>
          <p:nvPr/>
        </p:nvSpPr>
        <p:spPr>
          <a:xfrm>
            <a:off x="3538080" y="2520000"/>
            <a:ext cx="2993040" cy="422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100" b="1" u="none" strike="noStrike">
                <a:solidFill>
                  <a:srgbClr val="FFFFFF"/>
                </a:solidFill>
                <a:effectLst/>
                <a:uFillTx/>
                <a:latin typeface="Cambria"/>
                <a:ea typeface="Cambria"/>
              </a:rPr>
              <a:t>Obraz</a:t>
            </a:r>
            <a:endParaRPr lang="pl-PL" sz="2100" b="0" u="none" strike="noStrike">
              <a:solidFill>
                <a:srgbClr val="000000"/>
              </a:solidFill>
              <a:effectLst/>
              <a:uFillTx/>
              <a:latin typeface="Arial"/>
            </a:endParaRPr>
          </a:p>
        </p:txBody>
      </p:sp>
      <p:sp>
        <p:nvSpPr>
          <p:cNvPr id="1075" name="Text 526"/>
          <p:cNvSpPr/>
          <p:nvPr/>
        </p:nvSpPr>
        <p:spPr>
          <a:xfrm>
            <a:off x="3659040" y="3024000"/>
            <a:ext cx="2750760" cy="1006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14000"/>
              </a:lnSpc>
              <a:tabLst>
                <a:tab pos="0" algn="l"/>
              </a:tabLst>
            </a:pPr>
            <a:r>
              <a:rPr lang="pl-PL" b="0" u="none" strike="noStrike">
                <a:solidFill>
                  <a:srgbClr val="1A1F3C"/>
                </a:solidFill>
                <a:effectLst/>
                <a:uFillTx/>
                <a:latin typeface="Calibri"/>
                <a:ea typeface="Calibri"/>
              </a:rPr>
              <a:t>Neutralne twarze, środowiska, obiekty (Stable Diffusion, DALL·E)</a:t>
            </a:r>
            <a:endParaRPr lang="pl-PL" b="0" u="none" strike="noStrike">
              <a:solidFill>
                <a:srgbClr val="000000"/>
              </a:solidFill>
              <a:effectLst/>
              <a:uFillTx/>
              <a:latin typeface="Arial"/>
            </a:endParaRPr>
          </a:p>
        </p:txBody>
      </p:sp>
      <p:sp>
        <p:nvSpPr>
          <p:cNvPr id="1076" name="Shape 501"/>
          <p:cNvSpPr/>
          <p:nvPr/>
        </p:nvSpPr>
        <p:spPr>
          <a:xfrm>
            <a:off x="6673320" y="2520000"/>
            <a:ext cx="2993040" cy="1561320"/>
          </a:xfrm>
          <a:prstGeom prst="roundRect">
            <a:avLst>
              <a:gd name="adj" fmla="val 6452"/>
            </a:avLst>
          </a:prstGeom>
          <a:solidFill>
            <a:srgbClr val="FFFFFF"/>
          </a:solidFill>
          <a:ln w="0">
            <a:solidFill>
              <a:schemeClr val="bg2">
                <a:lumMod val="90000"/>
              </a:schemeClr>
            </a:solid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3200" b="0" u="none" strike="noStrike">
              <a:solidFill>
                <a:srgbClr val="000000"/>
              </a:solidFill>
              <a:effectLst/>
              <a:uFillTx/>
              <a:latin typeface="Arial"/>
            </a:endParaRPr>
          </a:p>
        </p:txBody>
      </p:sp>
      <p:sp>
        <p:nvSpPr>
          <p:cNvPr id="1077" name="Shape 502"/>
          <p:cNvSpPr/>
          <p:nvPr/>
        </p:nvSpPr>
        <p:spPr>
          <a:xfrm>
            <a:off x="6673320" y="2520000"/>
            <a:ext cx="2993040" cy="422280"/>
          </a:xfrm>
          <a:prstGeom prst="roundRect">
            <a:avLst>
              <a:gd name="adj" fmla="val 25815"/>
            </a:avLst>
          </a:prstGeom>
          <a:solidFill>
            <a:srgbClr val="2D7DD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3200" b="0" u="none" strike="noStrike">
              <a:solidFill>
                <a:srgbClr val="FFFFFF"/>
              </a:solidFill>
              <a:effectLst/>
              <a:uFillTx/>
              <a:latin typeface="Arial"/>
            </a:endParaRPr>
          </a:p>
        </p:txBody>
      </p:sp>
      <p:sp>
        <p:nvSpPr>
          <p:cNvPr id="1078" name="Text 527"/>
          <p:cNvSpPr/>
          <p:nvPr/>
        </p:nvSpPr>
        <p:spPr>
          <a:xfrm>
            <a:off x="6673320" y="2520000"/>
            <a:ext cx="2993040" cy="422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100" b="1" u="none" strike="noStrike">
                <a:solidFill>
                  <a:srgbClr val="FFFFFF"/>
                </a:solidFill>
                <a:effectLst/>
                <a:uFillTx/>
                <a:latin typeface="Cambria"/>
                <a:ea typeface="Cambria"/>
              </a:rPr>
              <a:t>Głos</a:t>
            </a:r>
            <a:endParaRPr lang="pl-PL" sz="2100" b="0" u="none" strike="noStrike">
              <a:solidFill>
                <a:srgbClr val="000000"/>
              </a:solidFill>
              <a:effectLst/>
              <a:uFillTx/>
              <a:latin typeface="Arial"/>
            </a:endParaRPr>
          </a:p>
        </p:txBody>
      </p:sp>
      <p:sp>
        <p:nvSpPr>
          <p:cNvPr id="1079" name="Text 528"/>
          <p:cNvSpPr/>
          <p:nvPr/>
        </p:nvSpPr>
        <p:spPr>
          <a:xfrm>
            <a:off x="6794280" y="3024000"/>
            <a:ext cx="2750760" cy="1006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14000"/>
              </a:lnSpc>
              <a:tabLst>
                <a:tab pos="0" algn="l"/>
              </a:tabLst>
            </a:pPr>
            <a:r>
              <a:rPr lang="pl-PL" b="0" u="none" strike="noStrike">
                <a:solidFill>
                  <a:srgbClr val="1A1F3C"/>
                </a:solidFill>
                <a:effectLst/>
                <a:uFillTx/>
                <a:latin typeface="Calibri"/>
                <a:ea typeface="Calibri"/>
              </a:rPr>
              <a:t>Bodźce werbalne ze standaryzowaną prozodią (TTS, ElevenLabs)</a:t>
            </a:r>
            <a:endParaRPr lang="pl-PL" b="0" u="none" strike="noStrike">
              <a:solidFill>
                <a:srgbClr val="000000"/>
              </a:solidFill>
              <a:effectLst/>
              <a:uFillTx/>
              <a:latin typeface="Arial"/>
            </a:endParaRPr>
          </a:p>
        </p:txBody>
      </p:sp>
      <p:sp>
        <p:nvSpPr>
          <p:cNvPr id="1080" name="Shape 503"/>
          <p:cNvSpPr/>
          <p:nvPr/>
        </p:nvSpPr>
        <p:spPr>
          <a:xfrm>
            <a:off x="403200" y="4284360"/>
            <a:ext cx="4535280" cy="1208520"/>
          </a:xfrm>
          <a:prstGeom prst="roundRect">
            <a:avLst>
              <a:gd name="adj" fmla="val 8333"/>
            </a:avLst>
          </a:prstGeom>
          <a:solidFill>
            <a:srgbClr val="FFF3CD"/>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3200" b="0" u="none" strike="noStrike">
              <a:solidFill>
                <a:srgbClr val="000000"/>
              </a:solidFill>
              <a:effectLst/>
              <a:uFillTx/>
              <a:latin typeface="Arial"/>
            </a:endParaRPr>
          </a:p>
        </p:txBody>
      </p:sp>
      <p:sp>
        <p:nvSpPr>
          <p:cNvPr id="1081" name="Text 529"/>
          <p:cNvSpPr/>
          <p:nvPr/>
        </p:nvSpPr>
        <p:spPr>
          <a:xfrm>
            <a:off x="535350" y="4334760"/>
            <a:ext cx="4232880" cy="30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2000" b="1" u="none" strike="noStrike" dirty="0">
                <a:solidFill>
                  <a:srgbClr val="7B4F00"/>
                </a:solidFill>
                <a:effectLst/>
                <a:uFillTx/>
                <a:latin typeface="Cambria"/>
                <a:ea typeface="Cambria"/>
              </a:rPr>
              <a:t>Ryzyko </a:t>
            </a:r>
            <a:r>
              <a:rPr lang="pl-PL" sz="2000" b="1" u="none" strike="noStrike" dirty="0" err="1">
                <a:solidFill>
                  <a:srgbClr val="7B4F00"/>
                </a:solidFill>
                <a:effectLst/>
                <a:uFillTx/>
                <a:latin typeface="Cambria"/>
                <a:ea typeface="Cambria"/>
              </a:rPr>
              <a:t>biasu</a:t>
            </a:r>
            <a:endParaRPr lang="pl-PL" sz="2000" b="0" u="none" strike="noStrike" dirty="0">
              <a:solidFill>
                <a:srgbClr val="000000"/>
              </a:solidFill>
              <a:effectLst/>
              <a:uFillTx/>
              <a:latin typeface="Arial"/>
            </a:endParaRPr>
          </a:p>
        </p:txBody>
      </p:sp>
      <p:sp>
        <p:nvSpPr>
          <p:cNvPr id="1082" name="Text 530"/>
          <p:cNvSpPr/>
          <p:nvPr/>
        </p:nvSpPr>
        <p:spPr>
          <a:xfrm>
            <a:off x="476280" y="4657320"/>
            <a:ext cx="4462200" cy="75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20000"/>
              </a:lnSpc>
              <a:tabLst>
                <a:tab pos="0" algn="l"/>
              </a:tabLst>
            </a:pPr>
            <a:r>
              <a:rPr lang="pl-PL" sz="1400" b="0" u="none" strike="noStrike" dirty="0">
                <a:solidFill>
                  <a:srgbClr val="7B4F00"/>
                </a:solidFill>
                <a:effectLst/>
                <a:uFillTx/>
                <a:latin typeface="Calibri"/>
                <a:ea typeface="Calibri"/>
              </a:rPr>
              <a:t>Modele generatywne mogą odtwarzać stereotypy rasowe, płciowe i kulturowe obecne w danych treningowych</a:t>
            </a:r>
            <a:endParaRPr lang="pl-PL" sz="1400" b="0" u="none" strike="noStrike" dirty="0">
              <a:solidFill>
                <a:srgbClr val="000000"/>
              </a:solidFill>
              <a:effectLst/>
              <a:uFillTx/>
              <a:latin typeface="Arial"/>
            </a:endParaRPr>
          </a:p>
        </p:txBody>
      </p:sp>
      <p:sp>
        <p:nvSpPr>
          <p:cNvPr id="1083" name="Shape 504"/>
          <p:cNvSpPr/>
          <p:nvPr/>
        </p:nvSpPr>
        <p:spPr>
          <a:xfrm>
            <a:off x="5141160" y="4284360"/>
            <a:ext cx="4535280" cy="1208520"/>
          </a:xfrm>
          <a:prstGeom prst="roundRect">
            <a:avLst>
              <a:gd name="adj" fmla="val 8333"/>
            </a:avLst>
          </a:prstGeom>
          <a:solidFill>
            <a:srgbClr val="EEF3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3200" b="0" u="none" strike="noStrike">
              <a:solidFill>
                <a:srgbClr val="000000"/>
              </a:solidFill>
              <a:effectLst/>
              <a:uFillTx/>
              <a:latin typeface="Arial"/>
            </a:endParaRPr>
          </a:p>
        </p:txBody>
      </p:sp>
      <p:sp>
        <p:nvSpPr>
          <p:cNvPr id="1084" name="Text 531"/>
          <p:cNvSpPr/>
          <p:nvPr/>
        </p:nvSpPr>
        <p:spPr>
          <a:xfrm>
            <a:off x="5272950" y="4334760"/>
            <a:ext cx="4232880" cy="30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2000" b="1" u="none" strike="noStrike" dirty="0">
                <a:solidFill>
                  <a:srgbClr val="1E2761"/>
                </a:solidFill>
                <a:effectLst/>
                <a:uFillTx/>
                <a:latin typeface="Cambria"/>
                <a:ea typeface="Cambria"/>
              </a:rPr>
              <a:t>Wymagana dokumentacja</a:t>
            </a:r>
            <a:endParaRPr lang="pl-PL" sz="2000" b="0" u="none" strike="noStrike" dirty="0">
              <a:solidFill>
                <a:srgbClr val="000000"/>
              </a:solidFill>
              <a:effectLst/>
              <a:uFillTx/>
              <a:latin typeface="Arial"/>
            </a:endParaRPr>
          </a:p>
        </p:txBody>
      </p:sp>
      <p:sp>
        <p:nvSpPr>
          <p:cNvPr id="1085" name="Text 532"/>
          <p:cNvSpPr/>
          <p:nvPr/>
        </p:nvSpPr>
        <p:spPr>
          <a:xfrm>
            <a:off x="5207726" y="4657320"/>
            <a:ext cx="4417954" cy="75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20000"/>
              </a:lnSpc>
              <a:tabLst>
                <a:tab pos="0" algn="l"/>
              </a:tabLst>
            </a:pPr>
            <a:r>
              <a:rPr lang="pl-PL" sz="1600" b="0" u="none" strike="noStrike" dirty="0">
                <a:solidFill>
                  <a:srgbClr val="1A1F3C"/>
                </a:solidFill>
                <a:effectLst/>
                <a:uFillTx/>
                <a:latin typeface="Calibri"/>
                <a:ea typeface="Calibri"/>
              </a:rPr>
              <a:t>Metoda generowania bodźców musi być opisana </a:t>
            </a:r>
            <a:br>
              <a:rPr sz="1600" dirty="0"/>
            </a:br>
            <a:r>
              <a:rPr lang="pl-PL" sz="1600" b="0" u="none" strike="noStrike" dirty="0">
                <a:solidFill>
                  <a:srgbClr val="1A1F3C"/>
                </a:solidFill>
                <a:effectLst/>
                <a:uFillTx/>
                <a:latin typeface="Calibri"/>
                <a:ea typeface="Calibri"/>
              </a:rPr>
              <a:t>w sekcji metod artykułu, wraz z wynikami walidacji</a:t>
            </a:r>
            <a:endParaRPr lang="pl-PL" sz="1600" b="0" u="none" strike="noStrike" dirty="0">
              <a:solidFill>
                <a:srgbClr val="000000"/>
              </a:solidFill>
              <a:effectLst/>
              <a:uFillTx/>
              <a:latin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1086" name="Shape 505"/>
          <p:cNvSpPr/>
          <p:nvPr/>
        </p:nvSpPr>
        <p:spPr>
          <a:xfrm>
            <a:off x="360" y="360"/>
            <a:ext cx="10079640" cy="1006920"/>
          </a:xfrm>
          <a:prstGeom prst="rect">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087" name="Text 533"/>
          <p:cNvSpPr/>
          <p:nvPr/>
        </p:nvSpPr>
        <p:spPr>
          <a:xfrm>
            <a:off x="453240" y="70560"/>
            <a:ext cx="917244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defTabSz="914400">
              <a:lnSpc>
                <a:spcPct val="100000"/>
              </a:lnSpc>
              <a:tabLst>
                <a:tab pos="0" algn="l"/>
              </a:tabLst>
            </a:pPr>
            <a:r>
              <a:rPr lang="pl-PL" sz="2200" b="1" u="none" strike="noStrike">
                <a:solidFill>
                  <a:srgbClr val="FFFFFF"/>
                </a:solidFill>
                <a:effectLst/>
                <a:uFillTx/>
                <a:latin typeface="Cambria"/>
                <a:ea typeface="Cambria"/>
              </a:rPr>
              <a:t>AI W KODOWANIU DANYCH JAKOŚCIOWYCH</a:t>
            </a:r>
            <a:endParaRPr lang="pl-PL" sz="2200" b="0" u="none" strike="noStrike">
              <a:solidFill>
                <a:srgbClr val="000000"/>
              </a:solidFill>
              <a:effectLst/>
              <a:uFillTx/>
              <a:latin typeface="Arial"/>
            </a:endParaRPr>
          </a:p>
        </p:txBody>
      </p:sp>
      <p:sp>
        <p:nvSpPr>
          <p:cNvPr id="1088" name="Text 534"/>
          <p:cNvSpPr/>
          <p:nvPr/>
        </p:nvSpPr>
        <p:spPr>
          <a:xfrm>
            <a:off x="453240" y="594720"/>
            <a:ext cx="9172440" cy="331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pl-PL" sz="1400" b="0" i="1" u="none" strike="noStrike">
                <a:solidFill>
                  <a:srgbClr val="CADCFC"/>
                </a:solidFill>
                <a:effectLst/>
                <a:uFillTx/>
                <a:latin typeface="Calibri"/>
                <a:ea typeface="Calibri"/>
              </a:rPr>
              <a:t>Automatyczna analiza treści: możliwości i wymogi intersubiektywności</a:t>
            </a:r>
            <a:endParaRPr lang="pl-PL" sz="1400" b="0" u="none" strike="noStrike">
              <a:solidFill>
                <a:srgbClr val="000000"/>
              </a:solidFill>
              <a:effectLst/>
              <a:uFillTx/>
              <a:latin typeface="Arial"/>
            </a:endParaRPr>
          </a:p>
        </p:txBody>
      </p:sp>
      <p:sp>
        <p:nvSpPr>
          <p:cNvPr id="1089" name="Shape 506"/>
          <p:cNvSpPr/>
          <p:nvPr/>
        </p:nvSpPr>
        <p:spPr>
          <a:xfrm>
            <a:off x="403200" y="1118325"/>
            <a:ext cx="9273240" cy="785160"/>
          </a:xfrm>
          <a:prstGeom prst="roundRect">
            <a:avLst>
              <a:gd name="adj" fmla="val 12821"/>
            </a:avLst>
          </a:prstGeom>
          <a:solidFill>
            <a:srgbClr val="EEF3FF"/>
          </a:solidFill>
          <a:ln w="0">
            <a:solidFill>
              <a:schemeClr val="tx1">
                <a:lumMod val="50000"/>
                <a:lumOff val="50000"/>
              </a:schemeClr>
            </a:solid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600" b="0" u="none" strike="noStrike">
              <a:solidFill>
                <a:srgbClr val="000000"/>
              </a:solidFill>
              <a:effectLst/>
              <a:uFillTx/>
              <a:latin typeface="Arial"/>
            </a:endParaRPr>
          </a:p>
        </p:txBody>
      </p:sp>
      <p:sp>
        <p:nvSpPr>
          <p:cNvPr id="1090" name="Text 535"/>
          <p:cNvSpPr/>
          <p:nvPr/>
        </p:nvSpPr>
        <p:spPr>
          <a:xfrm>
            <a:off x="554400" y="1139040"/>
            <a:ext cx="3609256" cy="72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b="1" u="none" strike="noStrike" dirty="0">
                <a:solidFill>
                  <a:srgbClr val="1E2761"/>
                </a:solidFill>
                <a:effectLst/>
                <a:uFillTx/>
                <a:latin typeface="+mj-lt"/>
                <a:ea typeface="Cambria"/>
              </a:rPr>
              <a:t>Transkrypcja godziny nagrania:</a:t>
            </a:r>
            <a:endParaRPr lang="pl-PL" b="0" u="none" strike="noStrike" dirty="0">
              <a:solidFill>
                <a:srgbClr val="000000"/>
              </a:solidFill>
              <a:effectLst/>
              <a:uFillTx/>
              <a:latin typeface="+mj-lt"/>
            </a:endParaRPr>
          </a:p>
        </p:txBody>
      </p:sp>
      <p:sp>
        <p:nvSpPr>
          <p:cNvPr id="1091" name="Text 536"/>
          <p:cNvSpPr/>
          <p:nvPr/>
        </p:nvSpPr>
        <p:spPr>
          <a:xfrm>
            <a:off x="4295776" y="1139040"/>
            <a:ext cx="2039474" cy="72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b="0" u="none" strike="noStrike" dirty="0">
                <a:solidFill>
                  <a:srgbClr val="4A5280"/>
                </a:solidFill>
                <a:effectLst/>
                <a:uFillTx/>
                <a:latin typeface="Calibri"/>
                <a:ea typeface="Calibri"/>
              </a:rPr>
              <a:t>Kiedyś </a:t>
            </a:r>
            <a:br>
              <a:rPr lang="pl-PL" b="0" u="none" strike="noStrike" dirty="0">
                <a:solidFill>
                  <a:srgbClr val="4A5280"/>
                </a:solidFill>
                <a:effectLst/>
                <a:uFillTx/>
                <a:latin typeface="Calibri"/>
                <a:ea typeface="Calibri"/>
              </a:rPr>
            </a:br>
            <a:r>
              <a:rPr lang="pl-PL" b="0" u="none" strike="noStrike" dirty="0">
                <a:solidFill>
                  <a:srgbClr val="4A5280"/>
                </a:solidFill>
                <a:effectLst/>
                <a:uFillTx/>
                <a:latin typeface="Calibri"/>
                <a:ea typeface="Calibri"/>
              </a:rPr>
              <a:t>to 4/6 godzin pracy</a:t>
            </a:r>
            <a:endParaRPr lang="pl-PL" b="0" u="none" strike="noStrike" dirty="0">
              <a:solidFill>
                <a:srgbClr val="000000"/>
              </a:solidFill>
              <a:effectLst/>
              <a:uFillTx/>
              <a:latin typeface="Arial"/>
            </a:endParaRPr>
          </a:p>
        </p:txBody>
      </p:sp>
      <p:sp>
        <p:nvSpPr>
          <p:cNvPr id="1092" name="Shape 507"/>
          <p:cNvSpPr/>
          <p:nvPr/>
        </p:nvSpPr>
        <p:spPr>
          <a:xfrm>
            <a:off x="6467370" y="1501380"/>
            <a:ext cx="504000" cy="360"/>
          </a:xfrm>
          <a:prstGeom prst="line">
            <a:avLst/>
          </a:prstGeom>
          <a:ln w="25400">
            <a:solidFill>
              <a:schemeClr val="tx1">
                <a:lumMod val="50000"/>
                <a:lumOff val="50000"/>
              </a:schemeClr>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2600" b="0" u="none" strike="noStrike">
              <a:solidFill>
                <a:srgbClr val="000000"/>
              </a:solidFill>
              <a:effectLst/>
              <a:uFillTx/>
              <a:latin typeface="Arial"/>
            </a:endParaRPr>
          </a:p>
        </p:txBody>
      </p:sp>
      <p:sp>
        <p:nvSpPr>
          <p:cNvPr id="1093" name="Text 537"/>
          <p:cNvSpPr/>
          <p:nvPr/>
        </p:nvSpPr>
        <p:spPr>
          <a:xfrm>
            <a:off x="7009470" y="1139040"/>
            <a:ext cx="2572950" cy="72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800" b="1" u="none" strike="noStrike" dirty="0">
                <a:solidFill>
                  <a:srgbClr val="3A9F6E"/>
                </a:solidFill>
                <a:effectLst/>
                <a:uFillTx/>
                <a:ea typeface="Cambria"/>
              </a:rPr>
              <a:t>Dziś </a:t>
            </a:r>
            <a:br>
              <a:rPr lang="pl-PL" sz="1800" b="1" u="none" strike="noStrike" dirty="0">
                <a:solidFill>
                  <a:srgbClr val="3A9F6E"/>
                </a:solidFill>
                <a:effectLst/>
                <a:uFillTx/>
                <a:ea typeface="Cambria"/>
              </a:rPr>
            </a:br>
            <a:r>
              <a:rPr lang="pl-PL" sz="1800" b="1" u="none" strike="noStrike" dirty="0">
                <a:solidFill>
                  <a:srgbClr val="3A9F6E"/>
                </a:solidFill>
                <a:effectLst/>
                <a:uFillTx/>
                <a:ea typeface="Cambria"/>
              </a:rPr>
              <a:t>to kilka minut </a:t>
            </a:r>
            <a:r>
              <a:rPr lang="pl-PL" sz="1800" u="none" strike="noStrike" dirty="0">
                <a:solidFill>
                  <a:srgbClr val="3A9F6E"/>
                </a:solidFill>
                <a:effectLst/>
                <a:uFillTx/>
                <a:ea typeface="Cambria"/>
              </a:rPr>
              <a:t>(</a:t>
            </a:r>
            <a:r>
              <a:rPr lang="pl-PL" sz="1800" u="none" strike="noStrike" dirty="0" err="1">
                <a:solidFill>
                  <a:srgbClr val="3A9F6E"/>
                </a:solidFill>
                <a:effectLst/>
                <a:uFillTx/>
                <a:ea typeface="Cambria"/>
              </a:rPr>
              <a:t>Whisper</a:t>
            </a:r>
            <a:r>
              <a:rPr lang="pl-PL" sz="1800" u="none" strike="noStrike" dirty="0">
                <a:solidFill>
                  <a:srgbClr val="3A9F6E"/>
                </a:solidFill>
                <a:effectLst/>
                <a:uFillTx/>
                <a:ea typeface="Cambria"/>
              </a:rPr>
              <a:t>)</a:t>
            </a:r>
            <a:endParaRPr lang="pl-PL" sz="1800" u="none" strike="noStrike" dirty="0">
              <a:solidFill>
                <a:srgbClr val="000000"/>
              </a:solidFill>
              <a:effectLst/>
              <a:uFillTx/>
            </a:endParaRPr>
          </a:p>
        </p:txBody>
      </p:sp>
      <p:sp>
        <p:nvSpPr>
          <p:cNvPr id="1094" name="Shape 508"/>
          <p:cNvSpPr/>
          <p:nvPr/>
        </p:nvSpPr>
        <p:spPr>
          <a:xfrm>
            <a:off x="403200" y="2239425"/>
            <a:ext cx="1228680" cy="1006920"/>
          </a:xfrm>
          <a:prstGeom prst="roundRect">
            <a:avLst>
              <a:gd name="adj" fmla="val 8000"/>
            </a:avLst>
          </a:prstGeom>
          <a:solidFill>
            <a:srgbClr val="1E2761"/>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3200" b="0" u="none" strike="noStrike">
              <a:solidFill>
                <a:srgbClr val="FFFFFF"/>
              </a:solidFill>
              <a:effectLst/>
              <a:uFillTx/>
              <a:latin typeface="Arial"/>
            </a:endParaRPr>
          </a:p>
        </p:txBody>
      </p:sp>
      <p:sp>
        <p:nvSpPr>
          <p:cNvPr id="1095" name="Text 538"/>
          <p:cNvSpPr/>
          <p:nvPr/>
        </p:nvSpPr>
        <p:spPr>
          <a:xfrm>
            <a:off x="443520" y="2239425"/>
            <a:ext cx="1148400" cy="1006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10000"/>
              </a:lnSpc>
              <a:tabLst>
                <a:tab pos="0" algn="l"/>
              </a:tabLst>
            </a:pPr>
            <a:r>
              <a:rPr lang="pl-PL" sz="1500" b="0" u="none" strike="noStrike" dirty="0">
                <a:solidFill>
                  <a:srgbClr val="FFFFFF"/>
                </a:solidFill>
                <a:effectLst/>
                <a:uFillTx/>
                <a:latin typeface="Calibri"/>
                <a:ea typeface="Calibri"/>
              </a:rPr>
              <a:t>Nagranie</a:t>
            </a:r>
            <a:endParaRPr lang="pl-PL" sz="1500" b="0" u="none" strike="noStrike" dirty="0">
              <a:solidFill>
                <a:srgbClr val="000000"/>
              </a:solidFill>
              <a:effectLst/>
              <a:uFillTx/>
              <a:latin typeface="Arial"/>
            </a:endParaRPr>
          </a:p>
        </p:txBody>
      </p:sp>
      <p:sp>
        <p:nvSpPr>
          <p:cNvPr id="1096" name="Shape 509"/>
          <p:cNvSpPr/>
          <p:nvPr/>
        </p:nvSpPr>
        <p:spPr>
          <a:xfrm>
            <a:off x="1632600" y="2743425"/>
            <a:ext cx="81000" cy="360"/>
          </a:xfrm>
          <a:prstGeom prst="line">
            <a:avLst/>
          </a:prstGeom>
          <a:ln w="12700">
            <a:solidFill>
              <a:srgbClr val="8A93C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3200" b="0" u="none" strike="noStrike">
              <a:solidFill>
                <a:srgbClr val="000000"/>
              </a:solidFill>
              <a:effectLst/>
              <a:uFillTx/>
              <a:latin typeface="Arial"/>
            </a:endParaRPr>
          </a:p>
        </p:txBody>
      </p:sp>
      <p:sp>
        <p:nvSpPr>
          <p:cNvPr id="1097" name="Shape 510"/>
          <p:cNvSpPr/>
          <p:nvPr/>
        </p:nvSpPr>
        <p:spPr>
          <a:xfrm>
            <a:off x="1713600" y="2239425"/>
            <a:ext cx="1257387" cy="1006920"/>
          </a:xfrm>
          <a:prstGeom prst="roundRect">
            <a:avLst>
              <a:gd name="adj" fmla="val 8000"/>
            </a:avLst>
          </a:prstGeom>
          <a:solidFill>
            <a:srgbClr val="2D3B8E"/>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3200" b="0" u="none" strike="noStrike">
              <a:solidFill>
                <a:srgbClr val="FFFFFF"/>
              </a:solidFill>
              <a:effectLst/>
              <a:uFillTx/>
              <a:latin typeface="Arial"/>
            </a:endParaRPr>
          </a:p>
        </p:txBody>
      </p:sp>
      <p:sp>
        <p:nvSpPr>
          <p:cNvPr id="1098" name="Text 539"/>
          <p:cNvSpPr/>
          <p:nvPr/>
        </p:nvSpPr>
        <p:spPr>
          <a:xfrm>
            <a:off x="1754862" y="2239425"/>
            <a:ext cx="1175232" cy="1006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10000"/>
              </a:lnSpc>
              <a:tabLst>
                <a:tab pos="0" algn="l"/>
              </a:tabLst>
            </a:pPr>
            <a:r>
              <a:rPr lang="pl-PL" sz="1500" b="0" u="none" strike="noStrike">
                <a:solidFill>
                  <a:srgbClr val="FFFFFF"/>
                </a:solidFill>
                <a:effectLst/>
                <a:uFillTx/>
                <a:latin typeface="Calibri"/>
                <a:ea typeface="Calibri"/>
              </a:rPr>
              <a:t>Transkrypcja</a:t>
            </a:r>
            <a:endParaRPr lang="pl-PL" sz="1500" b="0" u="none" strike="noStrike">
              <a:solidFill>
                <a:srgbClr val="000000"/>
              </a:solidFill>
              <a:effectLst/>
              <a:uFillTx/>
              <a:latin typeface="Arial"/>
            </a:endParaRPr>
          </a:p>
          <a:p>
            <a:pPr algn="ctr" defTabSz="914400">
              <a:lnSpc>
                <a:spcPct val="110000"/>
              </a:lnSpc>
              <a:tabLst>
                <a:tab pos="0" algn="l"/>
              </a:tabLst>
            </a:pPr>
            <a:r>
              <a:rPr lang="pl-PL" sz="1500" b="0" u="none" strike="noStrike">
                <a:solidFill>
                  <a:srgbClr val="FFFFFF"/>
                </a:solidFill>
                <a:effectLst/>
                <a:uFillTx/>
                <a:latin typeface="Calibri"/>
                <a:ea typeface="Calibri"/>
              </a:rPr>
              <a:t>(Whisper)</a:t>
            </a:r>
            <a:endParaRPr lang="pl-PL" sz="1500" b="0" u="none" strike="noStrike">
              <a:solidFill>
                <a:srgbClr val="000000"/>
              </a:solidFill>
              <a:effectLst/>
              <a:uFillTx/>
              <a:latin typeface="Arial"/>
            </a:endParaRPr>
          </a:p>
        </p:txBody>
      </p:sp>
      <p:sp>
        <p:nvSpPr>
          <p:cNvPr id="1099" name="Shape 511"/>
          <p:cNvSpPr/>
          <p:nvPr/>
        </p:nvSpPr>
        <p:spPr>
          <a:xfrm>
            <a:off x="2971724" y="2743425"/>
            <a:ext cx="82893" cy="360"/>
          </a:xfrm>
          <a:prstGeom prst="line">
            <a:avLst/>
          </a:prstGeom>
          <a:ln w="12700">
            <a:solidFill>
              <a:srgbClr val="8A93C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3200" b="0" u="none" strike="noStrike">
              <a:solidFill>
                <a:srgbClr val="000000"/>
              </a:solidFill>
              <a:effectLst/>
              <a:uFillTx/>
              <a:latin typeface="Arial"/>
            </a:endParaRPr>
          </a:p>
        </p:txBody>
      </p:sp>
      <p:sp>
        <p:nvSpPr>
          <p:cNvPr id="1100" name="Shape 512"/>
          <p:cNvSpPr/>
          <p:nvPr/>
        </p:nvSpPr>
        <p:spPr>
          <a:xfrm>
            <a:off x="3054617" y="2239425"/>
            <a:ext cx="1257387" cy="1006920"/>
          </a:xfrm>
          <a:prstGeom prst="roundRect">
            <a:avLst>
              <a:gd name="adj" fmla="val 8000"/>
            </a:avLst>
          </a:prstGeom>
          <a:solidFill>
            <a:srgbClr val="5B8FF9"/>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3200" b="0" u="none" strike="noStrike">
              <a:solidFill>
                <a:srgbClr val="FFFFFF"/>
              </a:solidFill>
              <a:effectLst/>
              <a:uFillTx/>
              <a:latin typeface="Arial"/>
            </a:endParaRPr>
          </a:p>
        </p:txBody>
      </p:sp>
      <p:sp>
        <p:nvSpPr>
          <p:cNvPr id="1101" name="Text 540"/>
          <p:cNvSpPr/>
          <p:nvPr/>
        </p:nvSpPr>
        <p:spPr>
          <a:xfrm>
            <a:off x="3095879" y="2239425"/>
            <a:ext cx="1216125" cy="1006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10000"/>
              </a:lnSpc>
              <a:tabLst>
                <a:tab pos="0" algn="l"/>
              </a:tabLst>
            </a:pPr>
            <a:r>
              <a:rPr lang="pl-PL" sz="1500" b="0" u="none" strike="noStrike">
                <a:solidFill>
                  <a:srgbClr val="FFFFFF"/>
                </a:solidFill>
                <a:effectLst/>
                <a:uFillTx/>
                <a:latin typeface="Calibri"/>
                <a:ea typeface="Calibri"/>
              </a:rPr>
              <a:t>Segmentacja</a:t>
            </a:r>
            <a:endParaRPr lang="pl-PL" sz="1500" b="0" u="none" strike="noStrike">
              <a:solidFill>
                <a:srgbClr val="000000"/>
              </a:solidFill>
              <a:effectLst/>
              <a:uFillTx/>
              <a:latin typeface="Arial"/>
            </a:endParaRPr>
          </a:p>
        </p:txBody>
      </p:sp>
      <p:sp>
        <p:nvSpPr>
          <p:cNvPr id="1102" name="Shape 513"/>
          <p:cNvSpPr/>
          <p:nvPr/>
        </p:nvSpPr>
        <p:spPr>
          <a:xfrm>
            <a:off x="4313110" y="2743425"/>
            <a:ext cx="82893" cy="360"/>
          </a:xfrm>
          <a:prstGeom prst="line">
            <a:avLst/>
          </a:prstGeom>
          <a:ln w="12700">
            <a:solidFill>
              <a:srgbClr val="8A93C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3200" b="0" u="none" strike="noStrike">
              <a:solidFill>
                <a:srgbClr val="000000"/>
              </a:solidFill>
              <a:effectLst/>
              <a:uFillTx/>
              <a:latin typeface="Arial"/>
            </a:endParaRPr>
          </a:p>
        </p:txBody>
      </p:sp>
      <p:sp>
        <p:nvSpPr>
          <p:cNvPr id="1103" name="Shape 514"/>
          <p:cNvSpPr/>
          <p:nvPr/>
        </p:nvSpPr>
        <p:spPr>
          <a:xfrm>
            <a:off x="4396002" y="2239425"/>
            <a:ext cx="1257387" cy="1006920"/>
          </a:xfrm>
          <a:prstGeom prst="roundRect">
            <a:avLst>
              <a:gd name="adj" fmla="val 8000"/>
            </a:avLst>
          </a:prstGeom>
          <a:solidFill>
            <a:srgbClr val="2D7DD2"/>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3200" b="0" u="none" strike="noStrike">
              <a:solidFill>
                <a:srgbClr val="FFFFFF"/>
              </a:solidFill>
              <a:effectLst/>
              <a:uFillTx/>
              <a:latin typeface="Arial"/>
            </a:endParaRPr>
          </a:p>
        </p:txBody>
      </p:sp>
      <p:sp>
        <p:nvSpPr>
          <p:cNvPr id="1104" name="Text 541"/>
          <p:cNvSpPr/>
          <p:nvPr/>
        </p:nvSpPr>
        <p:spPr>
          <a:xfrm>
            <a:off x="4367266" y="2239425"/>
            <a:ext cx="1286124" cy="1006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10000"/>
              </a:lnSpc>
              <a:tabLst>
                <a:tab pos="0" algn="l"/>
              </a:tabLst>
            </a:pPr>
            <a:r>
              <a:rPr lang="pl-PL" sz="1500" b="0" u="none" strike="noStrike">
                <a:solidFill>
                  <a:srgbClr val="FFFFFF"/>
                </a:solidFill>
                <a:effectLst/>
                <a:uFillTx/>
                <a:latin typeface="Calibri"/>
                <a:ea typeface="Calibri"/>
              </a:rPr>
              <a:t>Kodowanie AI</a:t>
            </a:r>
            <a:endParaRPr lang="pl-PL" sz="1500" b="0" u="none" strike="noStrike">
              <a:solidFill>
                <a:srgbClr val="000000"/>
              </a:solidFill>
              <a:effectLst/>
              <a:uFillTx/>
              <a:latin typeface="Arial"/>
            </a:endParaRPr>
          </a:p>
          <a:p>
            <a:pPr algn="ctr" defTabSz="914400">
              <a:lnSpc>
                <a:spcPct val="110000"/>
              </a:lnSpc>
              <a:tabLst>
                <a:tab pos="0" algn="l"/>
              </a:tabLst>
            </a:pPr>
            <a:r>
              <a:rPr lang="pl-PL" sz="1500" b="0" u="none" strike="noStrike">
                <a:solidFill>
                  <a:srgbClr val="FFFFFF"/>
                </a:solidFill>
                <a:effectLst/>
                <a:uFillTx/>
                <a:latin typeface="Calibri"/>
                <a:ea typeface="Calibri"/>
              </a:rPr>
              <a:t>(propozycja)</a:t>
            </a:r>
            <a:endParaRPr lang="pl-PL" sz="1500" b="0" u="none" strike="noStrike">
              <a:solidFill>
                <a:srgbClr val="000000"/>
              </a:solidFill>
              <a:effectLst/>
              <a:uFillTx/>
              <a:latin typeface="Arial"/>
            </a:endParaRPr>
          </a:p>
        </p:txBody>
      </p:sp>
      <p:sp>
        <p:nvSpPr>
          <p:cNvPr id="1105" name="Shape 515"/>
          <p:cNvSpPr/>
          <p:nvPr/>
        </p:nvSpPr>
        <p:spPr>
          <a:xfrm>
            <a:off x="5654126" y="2743425"/>
            <a:ext cx="82893" cy="360"/>
          </a:xfrm>
          <a:prstGeom prst="line">
            <a:avLst/>
          </a:prstGeom>
          <a:ln w="12700">
            <a:solidFill>
              <a:srgbClr val="8A93C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3200" b="0" u="none" strike="noStrike">
              <a:solidFill>
                <a:srgbClr val="000000"/>
              </a:solidFill>
              <a:effectLst/>
              <a:uFillTx/>
              <a:latin typeface="Arial"/>
            </a:endParaRPr>
          </a:p>
        </p:txBody>
      </p:sp>
      <p:sp>
        <p:nvSpPr>
          <p:cNvPr id="1106" name="Shape 516"/>
          <p:cNvSpPr/>
          <p:nvPr/>
        </p:nvSpPr>
        <p:spPr>
          <a:xfrm>
            <a:off x="5737019" y="2239425"/>
            <a:ext cx="1257387" cy="1006920"/>
          </a:xfrm>
          <a:prstGeom prst="roundRect">
            <a:avLst>
              <a:gd name="adj" fmla="val 8000"/>
            </a:avLst>
          </a:prstGeom>
          <a:solidFill>
            <a:srgbClr val="C07B2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3200" b="0" u="none" strike="noStrike">
              <a:solidFill>
                <a:srgbClr val="FFFFFF"/>
              </a:solidFill>
              <a:effectLst/>
              <a:uFillTx/>
              <a:latin typeface="Arial"/>
            </a:endParaRPr>
          </a:p>
        </p:txBody>
      </p:sp>
      <p:sp>
        <p:nvSpPr>
          <p:cNvPr id="1107" name="Text 542"/>
          <p:cNvSpPr/>
          <p:nvPr/>
        </p:nvSpPr>
        <p:spPr>
          <a:xfrm>
            <a:off x="5778281" y="2239425"/>
            <a:ext cx="1175232" cy="1006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10000"/>
              </a:lnSpc>
              <a:tabLst>
                <a:tab pos="0" algn="l"/>
              </a:tabLst>
            </a:pPr>
            <a:r>
              <a:rPr lang="pl-PL" sz="1500" b="0" u="none" strike="noStrike">
                <a:solidFill>
                  <a:srgbClr val="FFFFFF"/>
                </a:solidFill>
                <a:effectLst/>
                <a:uFillTx/>
                <a:latin typeface="Calibri"/>
                <a:ea typeface="Calibri"/>
              </a:rPr>
              <a:t>Weryfikacja</a:t>
            </a:r>
            <a:endParaRPr lang="pl-PL" sz="1500" b="0" u="none" strike="noStrike">
              <a:solidFill>
                <a:srgbClr val="000000"/>
              </a:solidFill>
              <a:effectLst/>
              <a:uFillTx/>
              <a:latin typeface="Arial"/>
            </a:endParaRPr>
          </a:p>
          <a:p>
            <a:pPr algn="ctr" defTabSz="914400">
              <a:lnSpc>
                <a:spcPct val="110000"/>
              </a:lnSpc>
              <a:tabLst>
                <a:tab pos="0" algn="l"/>
              </a:tabLst>
            </a:pPr>
            <a:r>
              <a:rPr lang="pl-PL" sz="1500" b="0" u="none" strike="noStrike">
                <a:solidFill>
                  <a:srgbClr val="FFFFFF"/>
                </a:solidFill>
                <a:effectLst/>
                <a:uFillTx/>
                <a:latin typeface="Calibri"/>
                <a:ea typeface="Calibri"/>
              </a:rPr>
              <a:t>ludzka</a:t>
            </a:r>
            <a:endParaRPr lang="pl-PL" sz="1500" b="0" u="none" strike="noStrike">
              <a:solidFill>
                <a:srgbClr val="000000"/>
              </a:solidFill>
              <a:effectLst/>
              <a:uFillTx/>
              <a:latin typeface="Arial"/>
            </a:endParaRPr>
          </a:p>
        </p:txBody>
      </p:sp>
      <p:sp>
        <p:nvSpPr>
          <p:cNvPr id="1108" name="Shape 517"/>
          <p:cNvSpPr/>
          <p:nvPr/>
        </p:nvSpPr>
        <p:spPr>
          <a:xfrm>
            <a:off x="6995143" y="2743425"/>
            <a:ext cx="82893" cy="360"/>
          </a:xfrm>
          <a:prstGeom prst="line">
            <a:avLst/>
          </a:prstGeom>
          <a:ln w="12700">
            <a:solidFill>
              <a:srgbClr val="8A93C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3200" b="0" u="none" strike="noStrike">
              <a:solidFill>
                <a:srgbClr val="000000"/>
              </a:solidFill>
              <a:effectLst/>
              <a:uFillTx/>
              <a:latin typeface="Arial"/>
            </a:endParaRPr>
          </a:p>
        </p:txBody>
      </p:sp>
      <p:sp>
        <p:nvSpPr>
          <p:cNvPr id="1109" name="Shape 518"/>
          <p:cNvSpPr/>
          <p:nvPr/>
        </p:nvSpPr>
        <p:spPr>
          <a:xfrm>
            <a:off x="7078036" y="2239425"/>
            <a:ext cx="1257387" cy="1006920"/>
          </a:xfrm>
          <a:prstGeom prst="roundRect">
            <a:avLst>
              <a:gd name="adj" fmla="val 8000"/>
            </a:avLst>
          </a:prstGeom>
          <a:solidFill>
            <a:srgbClr val="C07B2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3200" b="0" u="none" strike="noStrike">
              <a:solidFill>
                <a:srgbClr val="FFFFFF"/>
              </a:solidFill>
              <a:effectLst/>
              <a:uFillTx/>
              <a:latin typeface="Arial"/>
            </a:endParaRPr>
          </a:p>
        </p:txBody>
      </p:sp>
      <p:sp>
        <p:nvSpPr>
          <p:cNvPr id="1110" name="Text 543"/>
          <p:cNvSpPr/>
          <p:nvPr/>
        </p:nvSpPr>
        <p:spPr>
          <a:xfrm>
            <a:off x="7119298" y="2239425"/>
            <a:ext cx="1175232" cy="1006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10000"/>
              </a:lnSpc>
              <a:tabLst>
                <a:tab pos="0" algn="l"/>
              </a:tabLst>
            </a:pPr>
            <a:r>
              <a:rPr lang="pl-PL" sz="1500" b="0" u="none" strike="noStrike" dirty="0">
                <a:solidFill>
                  <a:srgbClr val="FFFFFF"/>
                </a:solidFill>
                <a:effectLst/>
                <a:uFillTx/>
                <a:latin typeface="Calibri"/>
                <a:ea typeface="Calibri"/>
              </a:rPr>
              <a:t>Obliczenie</a:t>
            </a:r>
            <a:endParaRPr lang="pl-PL" sz="1500" b="0" u="none" strike="noStrike" dirty="0">
              <a:solidFill>
                <a:srgbClr val="000000"/>
              </a:solidFill>
              <a:effectLst/>
              <a:uFillTx/>
              <a:latin typeface="Arial"/>
            </a:endParaRPr>
          </a:p>
          <a:p>
            <a:pPr algn="ctr" defTabSz="914400">
              <a:lnSpc>
                <a:spcPct val="110000"/>
              </a:lnSpc>
              <a:tabLst>
                <a:tab pos="0" algn="l"/>
              </a:tabLst>
            </a:pPr>
            <a:r>
              <a:rPr lang="pl-PL" sz="1500" b="0" u="none" strike="noStrike" dirty="0">
                <a:solidFill>
                  <a:srgbClr val="FFFFFF"/>
                </a:solidFill>
                <a:effectLst/>
                <a:uFillTx/>
                <a:latin typeface="Calibri"/>
                <a:ea typeface="Calibri"/>
              </a:rPr>
              <a:t>zgodności</a:t>
            </a:r>
            <a:endParaRPr lang="pl-PL" sz="1500" b="0" u="none" strike="noStrike" dirty="0">
              <a:solidFill>
                <a:srgbClr val="000000"/>
              </a:solidFill>
              <a:effectLst/>
              <a:uFillTx/>
              <a:latin typeface="Arial"/>
            </a:endParaRPr>
          </a:p>
        </p:txBody>
      </p:sp>
      <p:sp>
        <p:nvSpPr>
          <p:cNvPr id="1111" name="Shape 519"/>
          <p:cNvSpPr/>
          <p:nvPr/>
        </p:nvSpPr>
        <p:spPr>
          <a:xfrm>
            <a:off x="8336160" y="2743425"/>
            <a:ext cx="82893" cy="360"/>
          </a:xfrm>
          <a:prstGeom prst="line">
            <a:avLst/>
          </a:prstGeom>
          <a:ln w="12700">
            <a:solidFill>
              <a:srgbClr val="8A93C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3200" b="0" u="none" strike="noStrike">
              <a:solidFill>
                <a:srgbClr val="000000"/>
              </a:solidFill>
              <a:effectLst/>
              <a:uFillTx/>
              <a:latin typeface="Arial"/>
            </a:endParaRPr>
          </a:p>
        </p:txBody>
      </p:sp>
      <p:sp>
        <p:nvSpPr>
          <p:cNvPr id="1112" name="Shape 520"/>
          <p:cNvSpPr/>
          <p:nvPr/>
        </p:nvSpPr>
        <p:spPr>
          <a:xfrm>
            <a:off x="8419053" y="2239425"/>
            <a:ext cx="1257387" cy="1006920"/>
          </a:xfrm>
          <a:prstGeom prst="roundRect">
            <a:avLst>
              <a:gd name="adj" fmla="val 8000"/>
            </a:avLst>
          </a:prstGeom>
          <a:solidFill>
            <a:srgbClr val="3A9F6E"/>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3200" b="0" u="none" strike="noStrike">
              <a:solidFill>
                <a:srgbClr val="FFFFFF"/>
              </a:solidFill>
              <a:effectLst/>
              <a:uFillTx/>
              <a:latin typeface="Arial"/>
            </a:endParaRPr>
          </a:p>
        </p:txBody>
      </p:sp>
      <p:sp>
        <p:nvSpPr>
          <p:cNvPr id="1113" name="Text 544"/>
          <p:cNvSpPr/>
          <p:nvPr/>
        </p:nvSpPr>
        <p:spPr>
          <a:xfrm>
            <a:off x="8460315" y="2239425"/>
            <a:ext cx="1175232" cy="1006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10000"/>
              </a:lnSpc>
              <a:tabLst>
                <a:tab pos="0" algn="l"/>
              </a:tabLst>
            </a:pPr>
            <a:r>
              <a:rPr lang="pl-PL" sz="1500" b="0" u="none" strike="noStrike" dirty="0">
                <a:solidFill>
                  <a:srgbClr val="FFFFFF"/>
                </a:solidFill>
                <a:effectLst/>
                <a:uFillTx/>
                <a:latin typeface="Calibri"/>
                <a:ea typeface="Calibri"/>
              </a:rPr>
              <a:t>Analiza</a:t>
            </a:r>
            <a:endParaRPr lang="pl-PL" sz="1500" b="0" u="none" strike="noStrike" dirty="0">
              <a:solidFill>
                <a:srgbClr val="000000"/>
              </a:solidFill>
              <a:effectLst/>
              <a:uFillTx/>
              <a:latin typeface="Arial"/>
            </a:endParaRPr>
          </a:p>
          <a:p>
            <a:pPr algn="ctr" defTabSz="914400">
              <a:lnSpc>
                <a:spcPct val="110000"/>
              </a:lnSpc>
              <a:tabLst>
                <a:tab pos="0" algn="l"/>
              </a:tabLst>
            </a:pPr>
            <a:r>
              <a:rPr lang="pl-PL" sz="1500" b="0" u="none" strike="noStrike" dirty="0">
                <a:solidFill>
                  <a:srgbClr val="FFFFFF"/>
                </a:solidFill>
                <a:effectLst/>
                <a:uFillTx/>
                <a:latin typeface="Calibri"/>
                <a:ea typeface="Calibri"/>
              </a:rPr>
              <a:t>końcowa</a:t>
            </a:r>
            <a:endParaRPr lang="pl-PL" sz="1500" b="0" u="none" strike="noStrike" dirty="0">
              <a:solidFill>
                <a:srgbClr val="000000"/>
              </a:solidFill>
              <a:effectLst/>
              <a:uFillTx/>
              <a:latin typeface="Arial"/>
            </a:endParaRPr>
          </a:p>
        </p:txBody>
      </p:sp>
      <p:sp>
        <p:nvSpPr>
          <p:cNvPr id="1114" name="Shape 521"/>
          <p:cNvSpPr/>
          <p:nvPr/>
        </p:nvSpPr>
        <p:spPr>
          <a:xfrm>
            <a:off x="3911656" y="3371010"/>
            <a:ext cx="200520" cy="200520"/>
          </a:xfrm>
          <a:prstGeom prst="ellipse">
            <a:avLst/>
          </a:prstGeom>
          <a:solidFill>
            <a:srgbClr val="2D7DD2"/>
          </a:solidFill>
          <a:ln w="12700">
            <a:solidFill>
              <a:srgbClr val="2D7DD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600" b="0" u="none" strike="noStrike">
              <a:solidFill>
                <a:srgbClr val="FFFFFF"/>
              </a:solidFill>
              <a:effectLst/>
              <a:uFillTx/>
              <a:latin typeface="Arial"/>
            </a:endParaRPr>
          </a:p>
        </p:txBody>
      </p:sp>
      <p:sp>
        <p:nvSpPr>
          <p:cNvPr id="1115" name="Text 545"/>
          <p:cNvSpPr/>
          <p:nvPr/>
        </p:nvSpPr>
        <p:spPr>
          <a:xfrm>
            <a:off x="4163656" y="3310170"/>
            <a:ext cx="1476353" cy="30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300" b="0" i="1" u="none" strike="noStrike" dirty="0">
                <a:solidFill>
                  <a:srgbClr val="4A5280"/>
                </a:solidFill>
                <a:effectLst/>
                <a:uFillTx/>
                <a:latin typeface="Calibri"/>
                <a:ea typeface="Calibri"/>
              </a:rPr>
              <a:t>automatyczne (AI)</a:t>
            </a:r>
            <a:endParaRPr lang="pl-PL" sz="1300" b="0" u="none" strike="noStrike" dirty="0">
              <a:solidFill>
                <a:srgbClr val="000000"/>
              </a:solidFill>
              <a:effectLst/>
              <a:uFillTx/>
              <a:latin typeface="Arial"/>
            </a:endParaRPr>
          </a:p>
        </p:txBody>
      </p:sp>
      <p:sp>
        <p:nvSpPr>
          <p:cNvPr id="1116" name="Shape 522"/>
          <p:cNvSpPr/>
          <p:nvPr/>
        </p:nvSpPr>
        <p:spPr>
          <a:xfrm>
            <a:off x="5862943" y="3360855"/>
            <a:ext cx="200520" cy="200520"/>
          </a:xfrm>
          <a:prstGeom prst="ellipse">
            <a:avLst/>
          </a:prstGeom>
          <a:solidFill>
            <a:srgbClr val="C07B2F"/>
          </a:solidFill>
          <a:ln w="12700">
            <a:solidFill>
              <a:srgbClr val="C07B2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600" b="0" u="none" strike="noStrike">
              <a:solidFill>
                <a:srgbClr val="FFFFFF"/>
              </a:solidFill>
              <a:effectLst/>
              <a:uFillTx/>
              <a:latin typeface="Arial"/>
            </a:endParaRPr>
          </a:p>
        </p:txBody>
      </p:sp>
      <p:sp>
        <p:nvSpPr>
          <p:cNvPr id="1117" name="Text 546"/>
          <p:cNvSpPr/>
          <p:nvPr/>
        </p:nvSpPr>
        <p:spPr>
          <a:xfrm>
            <a:off x="6114943" y="3300015"/>
            <a:ext cx="2216520" cy="30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300" b="0" i="1" u="none" strike="noStrike" dirty="0">
                <a:solidFill>
                  <a:srgbClr val="4A5280"/>
                </a:solidFill>
                <a:effectLst/>
                <a:uFillTx/>
                <a:latin typeface="Calibri"/>
                <a:ea typeface="Calibri"/>
              </a:rPr>
              <a:t>ludzkie / weryfikacja</a:t>
            </a:r>
            <a:endParaRPr lang="pl-PL" sz="1300" b="0" u="none" strike="noStrike" dirty="0">
              <a:solidFill>
                <a:srgbClr val="000000"/>
              </a:solidFill>
              <a:effectLst/>
              <a:uFillTx/>
              <a:latin typeface="Arial"/>
            </a:endParaRPr>
          </a:p>
        </p:txBody>
      </p:sp>
      <p:sp>
        <p:nvSpPr>
          <p:cNvPr id="1118" name="Shape 523"/>
          <p:cNvSpPr/>
          <p:nvPr/>
        </p:nvSpPr>
        <p:spPr>
          <a:xfrm>
            <a:off x="403200" y="3881160"/>
            <a:ext cx="9273240" cy="1662120"/>
          </a:xfrm>
          <a:prstGeom prst="roundRect">
            <a:avLst>
              <a:gd name="adj" fmla="val 6061"/>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600" b="0" u="none" strike="noStrike">
              <a:solidFill>
                <a:srgbClr val="000000"/>
              </a:solidFill>
              <a:effectLst/>
              <a:uFillTx/>
              <a:latin typeface="Arial"/>
            </a:endParaRPr>
          </a:p>
        </p:txBody>
      </p:sp>
      <p:sp>
        <p:nvSpPr>
          <p:cNvPr id="1119" name="Text 547"/>
          <p:cNvSpPr/>
          <p:nvPr/>
        </p:nvSpPr>
        <p:spPr>
          <a:xfrm>
            <a:off x="554400" y="3915720"/>
            <a:ext cx="6047280" cy="342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800" b="1" u="none" strike="noStrike" dirty="0">
                <a:solidFill>
                  <a:srgbClr val="1E2761"/>
                </a:solidFill>
                <a:effectLst/>
                <a:uFillTx/>
                <a:latin typeface="Cambria"/>
                <a:ea typeface="Cambria"/>
              </a:rPr>
              <a:t>Wymagany audyt i dokumentacja</a:t>
            </a:r>
            <a:endParaRPr lang="pl-PL" sz="1800" b="0" u="none" strike="noStrike" dirty="0">
              <a:solidFill>
                <a:srgbClr val="000000"/>
              </a:solidFill>
              <a:effectLst/>
              <a:uFillTx/>
              <a:latin typeface="Arial"/>
            </a:endParaRPr>
          </a:p>
        </p:txBody>
      </p:sp>
      <p:sp>
        <p:nvSpPr>
          <p:cNvPr id="1120" name="Shape 524"/>
          <p:cNvSpPr/>
          <p:nvPr/>
        </p:nvSpPr>
        <p:spPr>
          <a:xfrm>
            <a:off x="652425" y="4394880"/>
            <a:ext cx="200520" cy="200520"/>
          </a:xfrm>
          <a:prstGeom prst="ellipse">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800" b="0" u="none" strike="noStrike">
              <a:solidFill>
                <a:srgbClr val="FFFFFF"/>
              </a:solidFill>
              <a:effectLst/>
              <a:uFillTx/>
              <a:latin typeface="Arial"/>
            </a:endParaRPr>
          </a:p>
        </p:txBody>
      </p:sp>
      <p:sp>
        <p:nvSpPr>
          <p:cNvPr id="1121" name="Text 548"/>
          <p:cNvSpPr/>
          <p:nvPr/>
        </p:nvSpPr>
        <p:spPr>
          <a:xfrm>
            <a:off x="934305" y="4324680"/>
            <a:ext cx="8567640" cy="381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0" u="none" strike="noStrike" dirty="0">
                <a:solidFill>
                  <a:srgbClr val="1A1F3C"/>
                </a:solidFill>
                <a:effectLst/>
                <a:uFillTx/>
                <a:latin typeface="Calibri"/>
                <a:ea typeface="Calibri"/>
              </a:rPr>
              <a:t>Zgodność kodowania AI z ludzkim koderem: współczynnik kappa Cohena lub ICC</a:t>
            </a:r>
            <a:endParaRPr lang="pl-PL" sz="1600" b="0" u="none" strike="noStrike" dirty="0">
              <a:solidFill>
                <a:srgbClr val="000000"/>
              </a:solidFill>
              <a:effectLst/>
              <a:uFillTx/>
              <a:latin typeface="Arial"/>
            </a:endParaRPr>
          </a:p>
        </p:txBody>
      </p:sp>
      <p:sp>
        <p:nvSpPr>
          <p:cNvPr id="1122" name="Shape 525"/>
          <p:cNvSpPr/>
          <p:nvPr/>
        </p:nvSpPr>
        <p:spPr>
          <a:xfrm>
            <a:off x="652425" y="4798080"/>
            <a:ext cx="200520" cy="200520"/>
          </a:xfrm>
          <a:prstGeom prst="ellipse">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800" b="0" u="none" strike="noStrike">
              <a:solidFill>
                <a:srgbClr val="FFFFFF"/>
              </a:solidFill>
              <a:effectLst/>
              <a:uFillTx/>
              <a:latin typeface="Arial"/>
            </a:endParaRPr>
          </a:p>
        </p:txBody>
      </p:sp>
      <p:sp>
        <p:nvSpPr>
          <p:cNvPr id="1123" name="Text 549"/>
          <p:cNvSpPr/>
          <p:nvPr/>
        </p:nvSpPr>
        <p:spPr>
          <a:xfrm>
            <a:off x="934305" y="4727880"/>
            <a:ext cx="8567640" cy="381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0" u="none" strike="noStrike">
                <a:solidFill>
                  <a:srgbClr val="1A1F3C"/>
                </a:solidFill>
                <a:effectLst/>
                <a:uFillTx/>
                <a:latin typeface="Calibri"/>
                <a:ea typeface="Calibri"/>
              </a:rPr>
              <a:t>Dokumentacja: jaki model, jakie prompty, jaki próg pewności przy kategoryzacji</a:t>
            </a:r>
            <a:endParaRPr lang="pl-PL" sz="1600" b="0" u="none" strike="noStrike">
              <a:solidFill>
                <a:srgbClr val="000000"/>
              </a:solidFill>
              <a:effectLst/>
              <a:uFillTx/>
              <a:latin typeface="Arial"/>
            </a:endParaRPr>
          </a:p>
        </p:txBody>
      </p:sp>
      <p:sp>
        <p:nvSpPr>
          <p:cNvPr id="1124" name="Shape 526"/>
          <p:cNvSpPr/>
          <p:nvPr/>
        </p:nvSpPr>
        <p:spPr>
          <a:xfrm>
            <a:off x="652425" y="5201280"/>
            <a:ext cx="200520" cy="200520"/>
          </a:xfrm>
          <a:prstGeom prst="ellipse">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800" b="0" u="none" strike="noStrike">
              <a:solidFill>
                <a:srgbClr val="FFFFFF"/>
              </a:solidFill>
              <a:effectLst/>
              <a:uFillTx/>
              <a:latin typeface="Arial"/>
            </a:endParaRPr>
          </a:p>
        </p:txBody>
      </p:sp>
      <p:sp>
        <p:nvSpPr>
          <p:cNvPr id="1125" name="Text 550"/>
          <p:cNvSpPr/>
          <p:nvPr/>
        </p:nvSpPr>
        <p:spPr>
          <a:xfrm>
            <a:off x="934305" y="5131080"/>
            <a:ext cx="8567640" cy="381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0" u="none" strike="noStrike" dirty="0">
                <a:solidFill>
                  <a:srgbClr val="1A1F3C"/>
                </a:solidFill>
                <a:effectLst/>
                <a:uFillTx/>
                <a:latin typeface="Calibri"/>
                <a:ea typeface="Calibri"/>
              </a:rPr>
              <a:t>Badacz odpowiada za interpretację i ostateczny </a:t>
            </a:r>
            <a:r>
              <a:rPr lang="pl-PL" sz="1600" b="0" u="none" strike="noStrike" dirty="0" err="1">
                <a:solidFill>
                  <a:srgbClr val="1A1F3C"/>
                </a:solidFill>
                <a:effectLst/>
                <a:uFillTx/>
                <a:latin typeface="Calibri"/>
                <a:ea typeface="Calibri"/>
              </a:rPr>
              <a:t>kodebook</a:t>
            </a:r>
            <a:r>
              <a:rPr lang="pl-PL" sz="1600" b="0" u="none" strike="noStrike" dirty="0">
                <a:solidFill>
                  <a:srgbClr val="1A1F3C"/>
                </a:solidFill>
                <a:effectLst/>
                <a:uFillTx/>
                <a:latin typeface="Calibri"/>
                <a:ea typeface="Calibri"/>
              </a:rPr>
              <a:t> - AI tylko przyspiesza proces</a:t>
            </a:r>
            <a:endParaRPr lang="pl-PL" sz="1600" b="0" u="none" strike="noStrike" dirty="0">
              <a:solidFill>
                <a:srgbClr val="000000"/>
              </a:solidFill>
              <a:effectLst/>
              <a:uFillTx/>
              <a:latin typeface="Arial"/>
            </a:endParaRPr>
          </a:p>
        </p:txBody>
      </p:sp>
      <p:cxnSp>
        <p:nvCxnSpPr>
          <p:cNvPr id="4" name="Łącznik prosty 3"/>
          <p:cNvCxnSpPr/>
          <p:nvPr/>
        </p:nvCxnSpPr>
        <p:spPr>
          <a:xfrm>
            <a:off x="5691489" y="1981200"/>
            <a:ext cx="0" cy="1552575"/>
          </a:xfrm>
          <a:prstGeom prst="line">
            <a:avLst/>
          </a:prstGeom>
          <a:ln>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1126" name="Shape 527"/>
          <p:cNvSpPr/>
          <p:nvPr/>
        </p:nvSpPr>
        <p:spPr>
          <a:xfrm>
            <a:off x="360" y="360"/>
            <a:ext cx="10079640" cy="1006920"/>
          </a:xfrm>
          <a:prstGeom prst="rect">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127" name="Text 551"/>
          <p:cNvSpPr/>
          <p:nvPr/>
        </p:nvSpPr>
        <p:spPr>
          <a:xfrm>
            <a:off x="453240" y="70560"/>
            <a:ext cx="917244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defTabSz="914400">
              <a:lnSpc>
                <a:spcPct val="100000"/>
              </a:lnSpc>
              <a:tabLst>
                <a:tab pos="0" algn="l"/>
              </a:tabLst>
            </a:pPr>
            <a:r>
              <a:rPr lang="pl-PL" sz="2200" b="1" u="none" strike="noStrike">
                <a:solidFill>
                  <a:srgbClr val="FFFFFF"/>
                </a:solidFill>
                <a:effectLst/>
                <a:uFillTx/>
                <a:latin typeface="Cambria"/>
                <a:ea typeface="Cambria"/>
              </a:rPr>
              <a:t>MODELE JĘZYKOWE W ANALIZIE WYPOWIEDZI</a:t>
            </a:r>
            <a:endParaRPr lang="pl-PL" sz="2200" b="0" u="none" strike="noStrike">
              <a:solidFill>
                <a:srgbClr val="000000"/>
              </a:solidFill>
              <a:effectLst/>
              <a:uFillTx/>
              <a:latin typeface="Arial"/>
            </a:endParaRPr>
          </a:p>
        </p:txBody>
      </p:sp>
      <p:sp>
        <p:nvSpPr>
          <p:cNvPr id="1128" name="Text 552"/>
          <p:cNvSpPr/>
          <p:nvPr/>
        </p:nvSpPr>
        <p:spPr>
          <a:xfrm>
            <a:off x="453240" y="594720"/>
            <a:ext cx="9172440" cy="331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pl-PL" sz="1400" b="0" i="1" u="none" strike="noStrike" dirty="0" err="1">
                <a:solidFill>
                  <a:srgbClr val="CADCFC"/>
                </a:solidFill>
                <a:effectLst/>
                <a:uFillTx/>
                <a:latin typeface="Calibri"/>
                <a:ea typeface="Calibri"/>
              </a:rPr>
              <a:t>Embeddingi</a:t>
            </a:r>
            <a:r>
              <a:rPr lang="pl-PL" sz="1400" b="0" i="1" u="none" strike="noStrike" dirty="0">
                <a:solidFill>
                  <a:srgbClr val="CADCFC"/>
                </a:solidFill>
                <a:effectLst/>
                <a:uFillTx/>
                <a:latin typeface="Calibri"/>
                <a:ea typeface="Calibri"/>
              </a:rPr>
              <a:t>, klasyfikacja semantyczna i analiza podobieństwa tekstu</a:t>
            </a:r>
            <a:endParaRPr lang="pl-PL" sz="1400" b="0" u="none" strike="noStrike" dirty="0">
              <a:solidFill>
                <a:srgbClr val="000000"/>
              </a:solidFill>
              <a:effectLst/>
              <a:uFillTx/>
              <a:latin typeface="Arial"/>
            </a:endParaRPr>
          </a:p>
        </p:txBody>
      </p:sp>
      <p:sp>
        <p:nvSpPr>
          <p:cNvPr id="1129" name="Shape 528"/>
          <p:cNvSpPr/>
          <p:nvPr/>
        </p:nvSpPr>
        <p:spPr>
          <a:xfrm>
            <a:off x="403200" y="1108800"/>
            <a:ext cx="4388166" cy="4275000"/>
          </a:xfrm>
          <a:prstGeom prst="roundRect">
            <a:avLst>
              <a:gd name="adj" fmla="val 2439"/>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1130" name="Text 553"/>
          <p:cNvSpPr/>
          <p:nvPr/>
        </p:nvSpPr>
        <p:spPr>
          <a:xfrm>
            <a:off x="544875" y="1160310"/>
            <a:ext cx="4132080" cy="361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800" b="1" u="none" strike="noStrike" dirty="0">
                <a:solidFill>
                  <a:srgbClr val="1E2761"/>
                </a:solidFill>
                <a:effectLst/>
                <a:uFillTx/>
                <a:latin typeface="Cambria"/>
                <a:ea typeface="Cambria"/>
              </a:rPr>
              <a:t>Techniki</a:t>
            </a:r>
            <a:endParaRPr lang="pl-PL" sz="1800" b="0" u="none" strike="noStrike" dirty="0">
              <a:solidFill>
                <a:srgbClr val="000000"/>
              </a:solidFill>
              <a:effectLst/>
              <a:uFillTx/>
              <a:latin typeface="Arial"/>
            </a:endParaRPr>
          </a:p>
        </p:txBody>
      </p:sp>
      <p:sp>
        <p:nvSpPr>
          <p:cNvPr id="1131" name="Shape 529"/>
          <p:cNvSpPr/>
          <p:nvPr/>
        </p:nvSpPr>
        <p:spPr>
          <a:xfrm>
            <a:off x="554400" y="1632960"/>
            <a:ext cx="119880" cy="805320"/>
          </a:xfrm>
          <a:prstGeom prst="roundRect">
            <a:avLst>
              <a:gd name="adj" fmla="val 16667"/>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400" b="0" u="none" strike="noStrike">
              <a:solidFill>
                <a:srgbClr val="FFFFFF"/>
              </a:solidFill>
              <a:effectLst/>
              <a:uFillTx/>
              <a:latin typeface="Arial"/>
            </a:endParaRPr>
          </a:p>
        </p:txBody>
      </p:sp>
      <p:sp>
        <p:nvSpPr>
          <p:cNvPr id="1132" name="Text 554"/>
          <p:cNvSpPr/>
          <p:nvPr/>
        </p:nvSpPr>
        <p:spPr>
          <a:xfrm>
            <a:off x="757305" y="1524960"/>
            <a:ext cx="3930480" cy="32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1" u="none" strike="noStrike" dirty="0" err="1">
                <a:solidFill>
                  <a:srgbClr val="1A1F3C"/>
                </a:solidFill>
                <a:effectLst/>
                <a:uFillTx/>
                <a:latin typeface="Cambria"/>
                <a:ea typeface="Cambria"/>
              </a:rPr>
              <a:t>Embeddingi</a:t>
            </a:r>
            <a:endParaRPr lang="pl-PL" sz="1600" b="0" u="none" strike="noStrike" dirty="0">
              <a:solidFill>
                <a:srgbClr val="000000"/>
              </a:solidFill>
              <a:effectLst/>
              <a:uFillTx/>
              <a:latin typeface="Arial"/>
            </a:endParaRPr>
          </a:p>
        </p:txBody>
      </p:sp>
      <p:sp>
        <p:nvSpPr>
          <p:cNvPr id="1133" name="Text 555"/>
          <p:cNvSpPr/>
          <p:nvPr/>
        </p:nvSpPr>
        <p:spPr>
          <a:xfrm>
            <a:off x="700155" y="1847520"/>
            <a:ext cx="4238092"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tabLst>
                <a:tab pos="0" algn="l"/>
              </a:tabLst>
            </a:pPr>
            <a:r>
              <a:rPr lang="pl-PL" sz="1400" b="0" u="none" strike="noStrike" dirty="0">
                <a:solidFill>
                  <a:srgbClr val="4A5280"/>
                </a:solidFill>
                <a:effectLst/>
                <a:uFillTx/>
                <a:latin typeface="Calibri"/>
                <a:ea typeface="Calibri"/>
              </a:rPr>
              <a:t>Reprezentacje wektorowe tekstu zachowujące znaczenie semantyczne (</a:t>
            </a:r>
            <a:r>
              <a:rPr lang="pl-PL" sz="1400" dirty="0">
                <a:solidFill>
                  <a:srgbClr val="4A5280"/>
                </a:solidFill>
                <a:ea typeface="Calibri"/>
              </a:rPr>
              <a:t>podobieństwo cosinusowe)</a:t>
            </a:r>
            <a:endParaRPr lang="pl-PL" sz="1400" b="0" u="none" strike="noStrike" dirty="0">
              <a:solidFill>
                <a:srgbClr val="000000"/>
              </a:solidFill>
              <a:effectLst/>
              <a:uFillTx/>
              <a:latin typeface="Arial"/>
            </a:endParaRPr>
          </a:p>
        </p:txBody>
      </p:sp>
      <p:sp>
        <p:nvSpPr>
          <p:cNvPr id="1134" name="Shape 530"/>
          <p:cNvSpPr/>
          <p:nvPr/>
        </p:nvSpPr>
        <p:spPr>
          <a:xfrm>
            <a:off x="554400" y="2560680"/>
            <a:ext cx="119880" cy="805320"/>
          </a:xfrm>
          <a:prstGeom prst="roundRect">
            <a:avLst>
              <a:gd name="adj" fmla="val 16667"/>
            </a:avLst>
          </a:prstGeom>
          <a:solidFill>
            <a:srgbClr val="2D3B8E"/>
          </a:solidFill>
          <a:ln w="12700">
            <a:solidFill>
              <a:srgbClr val="2D3B8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400" b="0" u="none" strike="noStrike">
              <a:solidFill>
                <a:srgbClr val="FFFFFF"/>
              </a:solidFill>
              <a:effectLst/>
              <a:uFillTx/>
              <a:latin typeface="Arial"/>
            </a:endParaRPr>
          </a:p>
        </p:txBody>
      </p:sp>
      <p:sp>
        <p:nvSpPr>
          <p:cNvPr id="1135" name="Text 556"/>
          <p:cNvSpPr/>
          <p:nvPr/>
        </p:nvSpPr>
        <p:spPr>
          <a:xfrm>
            <a:off x="757305" y="2488680"/>
            <a:ext cx="3930480" cy="32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1" u="none" strike="noStrike" dirty="0">
                <a:solidFill>
                  <a:srgbClr val="1A1F3C"/>
                </a:solidFill>
                <a:effectLst/>
                <a:uFillTx/>
                <a:latin typeface="Cambria"/>
                <a:ea typeface="Cambria"/>
              </a:rPr>
              <a:t>Klasyfikacja zero/</a:t>
            </a:r>
            <a:r>
              <a:rPr lang="pl-PL" sz="1600" b="1" u="none" strike="noStrike" dirty="0" err="1">
                <a:solidFill>
                  <a:srgbClr val="1A1F3C"/>
                </a:solidFill>
                <a:effectLst/>
                <a:uFillTx/>
                <a:latin typeface="Cambria"/>
                <a:ea typeface="Cambria"/>
              </a:rPr>
              <a:t>few-shot</a:t>
            </a:r>
            <a:endParaRPr lang="pl-PL" sz="1600" b="0" u="none" strike="noStrike" dirty="0">
              <a:solidFill>
                <a:srgbClr val="000000"/>
              </a:solidFill>
              <a:effectLst/>
              <a:uFillTx/>
              <a:latin typeface="Arial"/>
            </a:endParaRPr>
          </a:p>
        </p:txBody>
      </p:sp>
      <p:sp>
        <p:nvSpPr>
          <p:cNvPr id="1136" name="Text 557"/>
          <p:cNvSpPr/>
          <p:nvPr/>
        </p:nvSpPr>
        <p:spPr>
          <a:xfrm>
            <a:off x="738255" y="2846880"/>
            <a:ext cx="3978105"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400" b="0" u="none" strike="noStrike" dirty="0">
                <a:solidFill>
                  <a:srgbClr val="4A5280"/>
                </a:solidFill>
                <a:effectLst/>
                <a:uFillTx/>
                <a:latin typeface="Calibri"/>
                <a:ea typeface="Calibri"/>
              </a:rPr>
              <a:t>Przyporządkowanie wypowiedzi do kategorii bez wytrenowania modelu na danych oznaczonych</a:t>
            </a:r>
            <a:endParaRPr lang="pl-PL" sz="1400" b="0" u="none" strike="noStrike" dirty="0">
              <a:solidFill>
                <a:srgbClr val="000000"/>
              </a:solidFill>
              <a:effectLst/>
              <a:uFillTx/>
              <a:latin typeface="Arial"/>
            </a:endParaRPr>
          </a:p>
        </p:txBody>
      </p:sp>
      <p:sp>
        <p:nvSpPr>
          <p:cNvPr id="1137" name="Shape 531"/>
          <p:cNvSpPr/>
          <p:nvPr/>
        </p:nvSpPr>
        <p:spPr>
          <a:xfrm>
            <a:off x="554400" y="3523680"/>
            <a:ext cx="119880" cy="805320"/>
          </a:xfrm>
          <a:prstGeom prst="roundRect">
            <a:avLst>
              <a:gd name="adj" fmla="val 16667"/>
            </a:avLst>
          </a:prstGeom>
          <a:solidFill>
            <a:srgbClr val="5B8FF9"/>
          </a:solidFill>
          <a:ln w="12700">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400" b="0" u="none" strike="noStrike">
              <a:solidFill>
                <a:srgbClr val="FFFFFF"/>
              </a:solidFill>
              <a:effectLst/>
              <a:uFillTx/>
              <a:latin typeface="Arial"/>
            </a:endParaRPr>
          </a:p>
        </p:txBody>
      </p:sp>
      <p:sp>
        <p:nvSpPr>
          <p:cNvPr id="1138" name="Text 558"/>
          <p:cNvSpPr/>
          <p:nvPr/>
        </p:nvSpPr>
        <p:spPr>
          <a:xfrm>
            <a:off x="757305" y="3559680"/>
            <a:ext cx="3930480" cy="32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1" u="none" strike="noStrike">
                <a:solidFill>
                  <a:srgbClr val="1A1F3C"/>
                </a:solidFill>
                <a:effectLst/>
                <a:uFillTx/>
                <a:latin typeface="Cambria"/>
                <a:ea typeface="Cambria"/>
              </a:rPr>
              <a:t>Wykrywanie tematów</a:t>
            </a:r>
            <a:endParaRPr lang="pl-PL" sz="1600" b="0" u="none" strike="noStrike">
              <a:solidFill>
                <a:srgbClr val="000000"/>
              </a:solidFill>
              <a:effectLst/>
              <a:uFillTx/>
              <a:latin typeface="Arial"/>
            </a:endParaRPr>
          </a:p>
        </p:txBody>
      </p:sp>
      <p:sp>
        <p:nvSpPr>
          <p:cNvPr id="1139" name="Text 559"/>
          <p:cNvSpPr/>
          <p:nvPr/>
        </p:nvSpPr>
        <p:spPr>
          <a:xfrm>
            <a:off x="738255" y="3882240"/>
            <a:ext cx="3844774"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400" b="0" u="none" strike="noStrike" dirty="0" err="1">
                <a:solidFill>
                  <a:srgbClr val="4A5280"/>
                </a:solidFill>
                <a:effectLst/>
                <a:uFillTx/>
                <a:latin typeface="Calibri"/>
                <a:ea typeface="Calibri"/>
              </a:rPr>
              <a:t>BERTopic</a:t>
            </a:r>
            <a:r>
              <a:rPr lang="pl-PL" sz="1400" b="0" u="none" strike="noStrike" dirty="0">
                <a:solidFill>
                  <a:srgbClr val="4A5280"/>
                </a:solidFill>
                <a:effectLst/>
                <a:uFillTx/>
                <a:latin typeface="Calibri"/>
                <a:ea typeface="Calibri"/>
              </a:rPr>
              <a:t> (</a:t>
            </a:r>
            <a:r>
              <a:rPr lang="pl-PL" sz="1400" b="0" u="none" strike="noStrike" dirty="0" err="1">
                <a:solidFill>
                  <a:srgbClr val="4A5280"/>
                </a:solidFill>
                <a:effectLst/>
                <a:uFillTx/>
                <a:latin typeface="Calibri"/>
                <a:ea typeface="Calibri"/>
              </a:rPr>
              <a:t>embeddingi</a:t>
            </a:r>
            <a:r>
              <a:rPr lang="pl-PL" sz="1400" b="0" u="none" strike="noStrike" dirty="0">
                <a:solidFill>
                  <a:srgbClr val="4A5280"/>
                </a:solidFill>
                <a:effectLst/>
                <a:uFillTx/>
                <a:latin typeface="Calibri"/>
                <a:ea typeface="Calibri"/>
              </a:rPr>
              <a:t> + HDBSCAN), LDA: automat. grupowanie znaczeniowe dużych zbiorów tekstu</a:t>
            </a:r>
            <a:endParaRPr lang="pl-PL" sz="1400" b="0" u="none" strike="noStrike" dirty="0">
              <a:solidFill>
                <a:srgbClr val="000000"/>
              </a:solidFill>
              <a:effectLst/>
              <a:uFillTx/>
              <a:latin typeface="Arial"/>
            </a:endParaRPr>
          </a:p>
        </p:txBody>
      </p:sp>
      <p:sp>
        <p:nvSpPr>
          <p:cNvPr id="1140" name="Shape 532"/>
          <p:cNvSpPr/>
          <p:nvPr/>
        </p:nvSpPr>
        <p:spPr>
          <a:xfrm>
            <a:off x="554400" y="4487040"/>
            <a:ext cx="119880" cy="805320"/>
          </a:xfrm>
          <a:prstGeom prst="roundRect">
            <a:avLst>
              <a:gd name="adj" fmla="val 16667"/>
            </a:avLst>
          </a:prstGeom>
          <a:solidFill>
            <a:srgbClr val="2D7DD2"/>
          </a:solidFill>
          <a:ln w="12700">
            <a:solidFill>
              <a:srgbClr val="2D7DD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400" b="0" u="none" strike="noStrike">
              <a:solidFill>
                <a:srgbClr val="FFFFFF"/>
              </a:solidFill>
              <a:effectLst/>
              <a:uFillTx/>
              <a:latin typeface="Arial"/>
            </a:endParaRPr>
          </a:p>
        </p:txBody>
      </p:sp>
      <p:sp>
        <p:nvSpPr>
          <p:cNvPr id="1141" name="Text 560"/>
          <p:cNvSpPr/>
          <p:nvPr/>
        </p:nvSpPr>
        <p:spPr>
          <a:xfrm>
            <a:off x="757305" y="4487040"/>
            <a:ext cx="3930480" cy="32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1" u="none" strike="noStrike" dirty="0">
                <a:solidFill>
                  <a:srgbClr val="1A1F3C"/>
                </a:solidFill>
                <a:effectLst/>
                <a:uFillTx/>
                <a:latin typeface="Cambria"/>
                <a:ea typeface="Cambria"/>
              </a:rPr>
              <a:t>Analiza sentymentu</a:t>
            </a:r>
            <a:endParaRPr lang="pl-PL" sz="1600" b="0" u="none" strike="noStrike" dirty="0">
              <a:solidFill>
                <a:srgbClr val="000000"/>
              </a:solidFill>
              <a:effectLst/>
              <a:uFillTx/>
              <a:latin typeface="Arial"/>
            </a:endParaRPr>
          </a:p>
        </p:txBody>
      </p:sp>
      <p:sp>
        <p:nvSpPr>
          <p:cNvPr id="1142" name="Text 561"/>
          <p:cNvSpPr/>
          <p:nvPr/>
        </p:nvSpPr>
        <p:spPr>
          <a:xfrm>
            <a:off x="738255" y="4809960"/>
            <a:ext cx="3978105"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400" b="0" u="none" strike="noStrike" dirty="0">
                <a:solidFill>
                  <a:srgbClr val="4A5280"/>
                </a:solidFill>
                <a:effectLst/>
                <a:uFillTx/>
                <a:latin typeface="Calibri"/>
                <a:ea typeface="Calibri"/>
              </a:rPr>
              <a:t>Gotowe </a:t>
            </a:r>
            <a:r>
              <a:rPr lang="pl-PL" sz="1400" b="0" u="none" strike="noStrike" dirty="0" err="1">
                <a:solidFill>
                  <a:srgbClr val="4A5280"/>
                </a:solidFill>
                <a:effectLst/>
                <a:uFillTx/>
                <a:latin typeface="Calibri"/>
                <a:ea typeface="Calibri"/>
              </a:rPr>
              <a:t>pipeline'y</a:t>
            </a:r>
            <a:r>
              <a:rPr lang="pl-PL" sz="1400" b="0" u="none" strike="noStrike" dirty="0">
                <a:solidFill>
                  <a:srgbClr val="4A5280"/>
                </a:solidFill>
                <a:effectLst/>
                <a:uFillTx/>
                <a:latin typeface="Calibri"/>
                <a:ea typeface="Calibri"/>
              </a:rPr>
              <a:t>: VADER, </a:t>
            </a:r>
            <a:r>
              <a:rPr lang="pl-PL" sz="1400" b="0" u="none" strike="noStrike" dirty="0" err="1">
                <a:solidFill>
                  <a:srgbClr val="4A5280"/>
                </a:solidFill>
                <a:effectLst/>
                <a:uFillTx/>
                <a:latin typeface="Calibri"/>
                <a:ea typeface="Calibri"/>
              </a:rPr>
              <a:t>cardiffnlp</a:t>
            </a:r>
            <a:r>
              <a:rPr lang="pl-PL" sz="1400" b="0" u="none" strike="noStrike" dirty="0">
                <a:solidFill>
                  <a:srgbClr val="4A5280"/>
                </a:solidFill>
                <a:effectLst/>
                <a:uFillTx/>
                <a:latin typeface="Calibri"/>
                <a:ea typeface="Calibri"/>
              </a:rPr>
              <a:t>/</a:t>
            </a:r>
            <a:r>
              <a:rPr lang="pl-PL" sz="1400" b="0" u="none" strike="noStrike" dirty="0" err="1">
                <a:solidFill>
                  <a:srgbClr val="4A5280"/>
                </a:solidFill>
                <a:effectLst/>
                <a:uFillTx/>
                <a:latin typeface="Calibri"/>
                <a:ea typeface="Calibri"/>
              </a:rPr>
              <a:t>twitter-roberta</a:t>
            </a:r>
            <a:r>
              <a:rPr lang="pl-PL" sz="1400" dirty="0">
                <a:solidFill>
                  <a:srgbClr val="4A5280"/>
                </a:solidFill>
                <a:latin typeface="Calibri"/>
                <a:ea typeface="Calibri"/>
              </a:rPr>
              <a:t>:</a:t>
            </a:r>
            <a:r>
              <a:rPr lang="pl-PL" sz="1400" b="0" u="none" strike="noStrike" dirty="0">
                <a:solidFill>
                  <a:srgbClr val="4A5280"/>
                </a:solidFill>
                <a:effectLst/>
                <a:uFillTx/>
                <a:latin typeface="Calibri"/>
                <a:ea typeface="Calibri"/>
              </a:rPr>
              <a:t> ocena </a:t>
            </a:r>
            <a:r>
              <a:rPr lang="pl-PL" sz="1400" b="0" u="none" strike="noStrike" dirty="0" err="1">
                <a:solidFill>
                  <a:srgbClr val="4A5280"/>
                </a:solidFill>
                <a:effectLst/>
                <a:uFillTx/>
                <a:latin typeface="Calibri"/>
                <a:ea typeface="Calibri"/>
              </a:rPr>
              <a:t>walencji</a:t>
            </a:r>
            <a:r>
              <a:rPr lang="pl-PL" sz="1400" b="0" u="none" strike="noStrike" dirty="0">
                <a:solidFill>
                  <a:srgbClr val="4A5280"/>
                </a:solidFill>
                <a:effectLst/>
                <a:uFillTx/>
                <a:latin typeface="Calibri"/>
                <a:ea typeface="Calibri"/>
              </a:rPr>
              <a:t> wypowiedzi.</a:t>
            </a:r>
            <a:endParaRPr lang="pl-PL" sz="1400" b="0" u="none" strike="noStrike" dirty="0">
              <a:solidFill>
                <a:srgbClr val="000000"/>
              </a:solidFill>
              <a:effectLst/>
              <a:uFillTx/>
              <a:latin typeface="Arial"/>
            </a:endParaRPr>
          </a:p>
        </p:txBody>
      </p:sp>
      <p:sp>
        <p:nvSpPr>
          <p:cNvPr id="1143" name="Shape 533"/>
          <p:cNvSpPr/>
          <p:nvPr/>
        </p:nvSpPr>
        <p:spPr>
          <a:xfrm>
            <a:off x="4947840" y="1108800"/>
            <a:ext cx="4804800" cy="2241000"/>
          </a:xfrm>
          <a:prstGeom prst="roundRect">
            <a:avLst>
              <a:gd name="adj" fmla="val 4255"/>
            </a:avLst>
          </a:prstGeom>
          <a:solidFill>
            <a:srgbClr val="F8F9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1144" name="Text 562"/>
          <p:cNvSpPr/>
          <p:nvPr/>
        </p:nvSpPr>
        <p:spPr>
          <a:xfrm>
            <a:off x="5037011" y="1168920"/>
            <a:ext cx="4558553" cy="32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1" u="none" strike="noStrike" dirty="0">
                <a:solidFill>
                  <a:srgbClr val="1E2761"/>
                </a:solidFill>
                <a:effectLst/>
                <a:uFillTx/>
                <a:latin typeface="Cambria"/>
                <a:ea typeface="Cambria"/>
              </a:rPr>
              <a:t>Redukcja wymiarowości </a:t>
            </a:r>
            <a:r>
              <a:rPr lang="pl-PL" sz="1600" u="none" strike="noStrike" dirty="0">
                <a:solidFill>
                  <a:srgbClr val="1E2761"/>
                </a:solidFill>
                <a:effectLst/>
                <a:uFillTx/>
                <a:latin typeface="Cambria"/>
                <a:ea typeface="Cambria"/>
              </a:rPr>
              <a:t>(PCA / UMAP)</a:t>
            </a:r>
            <a:endParaRPr lang="pl-PL" sz="1600" u="none" strike="noStrike" dirty="0">
              <a:solidFill>
                <a:srgbClr val="000000"/>
              </a:solidFill>
              <a:effectLst/>
              <a:uFillTx/>
              <a:latin typeface="Arial"/>
            </a:endParaRPr>
          </a:p>
        </p:txBody>
      </p:sp>
      <p:sp>
        <p:nvSpPr>
          <p:cNvPr id="1145" name="Shape 534"/>
          <p:cNvSpPr/>
          <p:nvPr/>
        </p:nvSpPr>
        <p:spPr>
          <a:xfrm>
            <a:off x="6117886" y="2016000"/>
            <a:ext cx="145136" cy="140040"/>
          </a:xfrm>
          <a:prstGeom prst="ellipse">
            <a:avLst/>
          </a:prstGeom>
          <a:solidFill>
            <a:srgbClr val="1E2761">
              <a:alpha val="90000"/>
            </a:srgbClr>
          </a:solidFill>
          <a:ln w="63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146" name="Shape 535"/>
          <p:cNvSpPr/>
          <p:nvPr/>
        </p:nvSpPr>
        <p:spPr>
          <a:xfrm>
            <a:off x="6050355" y="2119680"/>
            <a:ext cx="145136" cy="140040"/>
          </a:xfrm>
          <a:prstGeom prst="ellipse">
            <a:avLst/>
          </a:prstGeom>
          <a:solidFill>
            <a:srgbClr val="1E2761">
              <a:alpha val="90000"/>
            </a:srgbClr>
          </a:solidFill>
          <a:ln w="63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147" name="Shape 536"/>
          <p:cNvSpPr/>
          <p:nvPr/>
        </p:nvSpPr>
        <p:spPr>
          <a:xfrm>
            <a:off x="5890667" y="2058480"/>
            <a:ext cx="145136" cy="140040"/>
          </a:xfrm>
          <a:prstGeom prst="ellipse">
            <a:avLst/>
          </a:prstGeom>
          <a:solidFill>
            <a:srgbClr val="1E2761">
              <a:alpha val="90000"/>
            </a:srgbClr>
          </a:solidFill>
          <a:ln w="63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148" name="Shape 537"/>
          <p:cNvSpPr/>
          <p:nvPr/>
        </p:nvSpPr>
        <p:spPr>
          <a:xfrm>
            <a:off x="5840299" y="1951920"/>
            <a:ext cx="145136" cy="140040"/>
          </a:xfrm>
          <a:prstGeom prst="ellipse">
            <a:avLst/>
          </a:prstGeom>
          <a:solidFill>
            <a:srgbClr val="1E2761">
              <a:alpha val="90000"/>
            </a:srgbClr>
          </a:solidFill>
          <a:ln w="63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149" name="Shape 538"/>
          <p:cNvSpPr/>
          <p:nvPr/>
        </p:nvSpPr>
        <p:spPr>
          <a:xfrm>
            <a:off x="6030953" y="1946880"/>
            <a:ext cx="145136" cy="140040"/>
          </a:xfrm>
          <a:prstGeom prst="ellipse">
            <a:avLst/>
          </a:prstGeom>
          <a:solidFill>
            <a:srgbClr val="1E2761">
              <a:alpha val="90000"/>
            </a:srgbClr>
          </a:solidFill>
          <a:ln w="63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150" name="Shape 539"/>
          <p:cNvSpPr/>
          <p:nvPr/>
        </p:nvSpPr>
        <p:spPr>
          <a:xfrm>
            <a:off x="7580444" y="1864800"/>
            <a:ext cx="145136" cy="140040"/>
          </a:xfrm>
          <a:prstGeom prst="ellipse">
            <a:avLst/>
          </a:prstGeom>
          <a:solidFill>
            <a:srgbClr val="5B8FF9">
              <a:alpha val="90000"/>
            </a:srgbClr>
          </a:solidFill>
          <a:ln w="63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151" name="Shape 540"/>
          <p:cNvSpPr/>
          <p:nvPr/>
        </p:nvSpPr>
        <p:spPr>
          <a:xfrm>
            <a:off x="7512912" y="1968480"/>
            <a:ext cx="145136" cy="140040"/>
          </a:xfrm>
          <a:prstGeom prst="ellipse">
            <a:avLst/>
          </a:prstGeom>
          <a:solidFill>
            <a:srgbClr val="5B8FF9">
              <a:alpha val="90000"/>
            </a:srgbClr>
          </a:solidFill>
          <a:ln w="63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152" name="Shape 541"/>
          <p:cNvSpPr/>
          <p:nvPr/>
        </p:nvSpPr>
        <p:spPr>
          <a:xfrm>
            <a:off x="7353598" y="1907280"/>
            <a:ext cx="145136" cy="140040"/>
          </a:xfrm>
          <a:prstGeom prst="ellipse">
            <a:avLst/>
          </a:prstGeom>
          <a:solidFill>
            <a:srgbClr val="5B8FF9">
              <a:alpha val="90000"/>
            </a:srgbClr>
          </a:solidFill>
          <a:ln w="63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153" name="Shape 542"/>
          <p:cNvSpPr/>
          <p:nvPr/>
        </p:nvSpPr>
        <p:spPr>
          <a:xfrm>
            <a:off x="7302856" y="1800720"/>
            <a:ext cx="145136" cy="140040"/>
          </a:xfrm>
          <a:prstGeom prst="ellipse">
            <a:avLst/>
          </a:prstGeom>
          <a:solidFill>
            <a:srgbClr val="5B8FF9">
              <a:alpha val="90000"/>
            </a:srgbClr>
          </a:solidFill>
          <a:ln w="63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154" name="Shape 543"/>
          <p:cNvSpPr/>
          <p:nvPr/>
        </p:nvSpPr>
        <p:spPr>
          <a:xfrm>
            <a:off x="7493884" y="1795680"/>
            <a:ext cx="145136" cy="140040"/>
          </a:xfrm>
          <a:prstGeom prst="ellipse">
            <a:avLst/>
          </a:prstGeom>
          <a:solidFill>
            <a:srgbClr val="5B8FF9">
              <a:alpha val="90000"/>
            </a:srgbClr>
          </a:solidFill>
          <a:ln w="63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155" name="Shape 544"/>
          <p:cNvSpPr/>
          <p:nvPr/>
        </p:nvSpPr>
        <p:spPr>
          <a:xfrm>
            <a:off x="6849165" y="2721600"/>
            <a:ext cx="145136" cy="140040"/>
          </a:xfrm>
          <a:prstGeom prst="ellipse">
            <a:avLst/>
          </a:prstGeom>
          <a:solidFill>
            <a:srgbClr val="3ECFB2">
              <a:alpha val="90000"/>
            </a:srgbClr>
          </a:solidFill>
          <a:ln w="63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1156" name="Shape 545"/>
          <p:cNvSpPr/>
          <p:nvPr/>
        </p:nvSpPr>
        <p:spPr>
          <a:xfrm>
            <a:off x="6723803" y="2830320"/>
            <a:ext cx="145136" cy="140040"/>
          </a:xfrm>
          <a:prstGeom prst="ellipse">
            <a:avLst/>
          </a:prstGeom>
          <a:solidFill>
            <a:srgbClr val="3ECFB2">
              <a:alpha val="90000"/>
            </a:srgbClr>
          </a:solidFill>
          <a:ln w="63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1157" name="Shape 546"/>
          <p:cNvSpPr/>
          <p:nvPr/>
        </p:nvSpPr>
        <p:spPr>
          <a:xfrm>
            <a:off x="6598441" y="2721600"/>
            <a:ext cx="145136" cy="140040"/>
          </a:xfrm>
          <a:prstGeom prst="ellipse">
            <a:avLst/>
          </a:prstGeom>
          <a:solidFill>
            <a:srgbClr val="3ECFB2">
              <a:alpha val="90000"/>
            </a:srgbClr>
          </a:solidFill>
          <a:ln w="63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1158" name="Shape 547"/>
          <p:cNvSpPr/>
          <p:nvPr/>
        </p:nvSpPr>
        <p:spPr>
          <a:xfrm>
            <a:off x="6723803" y="2612880"/>
            <a:ext cx="145136" cy="140040"/>
          </a:xfrm>
          <a:prstGeom prst="ellipse">
            <a:avLst/>
          </a:prstGeom>
          <a:solidFill>
            <a:srgbClr val="3ECFB2">
              <a:alpha val="90000"/>
            </a:srgbClr>
          </a:solidFill>
          <a:ln w="63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1159" name="Shape 548"/>
          <p:cNvSpPr/>
          <p:nvPr/>
        </p:nvSpPr>
        <p:spPr>
          <a:xfrm>
            <a:off x="8729596" y="2620800"/>
            <a:ext cx="145136" cy="140040"/>
          </a:xfrm>
          <a:prstGeom prst="ellipse">
            <a:avLst/>
          </a:prstGeom>
          <a:solidFill>
            <a:srgbClr val="7B5EA7">
              <a:alpha val="90000"/>
            </a:srgbClr>
          </a:solidFill>
          <a:ln w="63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160" name="Shape 549"/>
          <p:cNvSpPr/>
          <p:nvPr/>
        </p:nvSpPr>
        <p:spPr>
          <a:xfrm>
            <a:off x="8604234" y="2729520"/>
            <a:ext cx="145136" cy="140040"/>
          </a:xfrm>
          <a:prstGeom prst="ellipse">
            <a:avLst/>
          </a:prstGeom>
          <a:solidFill>
            <a:srgbClr val="7B5EA7">
              <a:alpha val="90000"/>
            </a:srgbClr>
          </a:solidFill>
          <a:ln w="63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161" name="Shape 550"/>
          <p:cNvSpPr/>
          <p:nvPr/>
        </p:nvSpPr>
        <p:spPr>
          <a:xfrm>
            <a:off x="8478872" y="2620800"/>
            <a:ext cx="145136" cy="140040"/>
          </a:xfrm>
          <a:prstGeom prst="ellipse">
            <a:avLst/>
          </a:prstGeom>
          <a:solidFill>
            <a:srgbClr val="7B5EA7">
              <a:alpha val="90000"/>
            </a:srgbClr>
          </a:solidFill>
          <a:ln w="63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162" name="Shape 551"/>
          <p:cNvSpPr/>
          <p:nvPr/>
        </p:nvSpPr>
        <p:spPr>
          <a:xfrm>
            <a:off x="8604234" y="2512080"/>
            <a:ext cx="145136" cy="140040"/>
          </a:xfrm>
          <a:prstGeom prst="ellipse">
            <a:avLst/>
          </a:prstGeom>
          <a:solidFill>
            <a:srgbClr val="7B5EA7">
              <a:alpha val="90000"/>
            </a:srgbClr>
          </a:solidFill>
          <a:ln w="63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163" name="Shape 552"/>
          <p:cNvSpPr/>
          <p:nvPr/>
        </p:nvSpPr>
        <p:spPr>
          <a:xfrm>
            <a:off x="4947840" y="3490920"/>
            <a:ext cx="4804800" cy="1892880"/>
          </a:xfrm>
          <a:prstGeom prst="roundRect">
            <a:avLst>
              <a:gd name="adj" fmla="val 6250"/>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1164" name="Text 563"/>
          <p:cNvSpPr/>
          <p:nvPr/>
        </p:nvSpPr>
        <p:spPr>
          <a:xfrm>
            <a:off x="5077260" y="3549060"/>
            <a:ext cx="4491395" cy="30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1" u="none" strike="noStrike" dirty="0">
                <a:solidFill>
                  <a:srgbClr val="1E2761"/>
                </a:solidFill>
                <a:effectLst/>
                <a:uFillTx/>
                <a:latin typeface="Cambria"/>
                <a:ea typeface="Cambria"/>
              </a:rPr>
              <a:t>Klasyfikacja tematów</a:t>
            </a:r>
            <a:endParaRPr lang="pl-PL" sz="1600" b="0" u="none" strike="noStrike" dirty="0">
              <a:solidFill>
                <a:srgbClr val="000000"/>
              </a:solidFill>
              <a:effectLst/>
              <a:uFillTx/>
              <a:latin typeface="Arial"/>
            </a:endParaRPr>
          </a:p>
        </p:txBody>
      </p:sp>
      <p:sp>
        <p:nvSpPr>
          <p:cNvPr id="1165" name="Text 564"/>
          <p:cNvSpPr/>
          <p:nvPr/>
        </p:nvSpPr>
        <p:spPr>
          <a:xfrm>
            <a:off x="5104169" y="4023720"/>
            <a:ext cx="2610964" cy="241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400" b="1" u="none" strike="noStrike">
                <a:solidFill>
                  <a:srgbClr val="4A5280"/>
                </a:solidFill>
                <a:effectLst/>
                <a:uFillTx/>
                <a:latin typeface="Calibri"/>
                <a:ea typeface="Calibri"/>
              </a:rPr>
              <a:t>Wypowiedź</a:t>
            </a:r>
            <a:endParaRPr lang="pl-PL" sz="1400" b="0" u="none" strike="noStrike">
              <a:solidFill>
                <a:srgbClr val="000000"/>
              </a:solidFill>
              <a:effectLst/>
              <a:uFillTx/>
              <a:latin typeface="Arial"/>
            </a:endParaRPr>
          </a:p>
        </p:txBody>
      </p:sp>
      <p:sp>
        <p:nvSpPr>
          <p:cNvPr id="1166" name="Text 565"/>
          <p:cNvSpPr/>
          <p:nvPr/>
        </p:nvSpPr>
        <p:spPr>
          <a:xfrm>
            <a:off x="7726367" y="4023720"/>
            <a:ext cx="1148033" cy="241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400" b="1" u="none" strike="noStrike" dirty="0">
                <a:solidFill>
                  <a:srgbClr val="4A5280"/>
                </a:solidFill>
                <a:effectLst/>
                <a:uFillTx/>
                <a:latin typeface="Calibri"/>
                <a:ea typeface="Calibri"/>
              </a:rPr>
              <a:t>Temat (AI)</a:t>
            </a:r>
            <a:endParaRPr lang="pl-PL" sz="1400" b="0" u="none" strike="noStrike" dirty="0">
              <a:solidFill>
                <a:srgbClr val="000000"/>
              </a:solidFill>
              <a:effectLst/>
              <a:uFillTx/>
              <a:latin typeface="Arial"/>
            </a:endParaRPr>
          </a:p>
        </p:txBody>
      </p:sp>
      <p:sp>
        <p:nvSpPr>
          <p:cNvPr id="1167" name="Text 566"/>
          <p:cNvSpPr/>
          <p:nvPr/>
        </p:nvSpPr>
        <p:spPr>
          <a:xfrm>
            <a:off x="8865405" y="4023720"/>
            <a:ext cx="782394" cy="241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400" b="1" u="none" strike="noStrike">
                <a:solidFill>
                  <a:srgbClr val="4A5280"/>
                </a:solidFill>
                <a:effectLst/>
                <a:uFillTx/>
                <a:latin typeface="Calibri"/>
                <a:ea typeface="Calibri"/>
              </a:rPr>
              <a:t>Weryf.</a:t>
            </a:r>
            <a:endParaRPr lang="pl-PL" sz="1400" b="0" u="none" strike="noStrike">
              <a:solidFill>
                <a:srgbClr val="000000"/>
              </a:solidFill>
              <a:effectLst/>
              <a:uFillTx/>
              <a:latin typeface="Arial"/>
            </a:endParaRPr>
          </a:p>
        </p:txBody>
      </p:sp>
      <p:sp>
        <p:nvSpPr>
          <p:cNvPr id="1168" name="Text 567"/>
          <p:cNvSpPr/>
          <p:nvPr/>
        </p:nvSpPr>
        <p:spPr>
          <a:xfrm>
            <a:off x="5037011" y="4305960"/>
            <a:ext cx="2678122" cy="291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400" b="0" i="1" u="none" strike="noStrike" dirty="0">
                <a:solidFill>
                  <a:srgbClr val="1A1F3C"/>
                </a:solidFill>
                <a:effectLst/>
                <a:uFillTx/>
                <a:latin typeface="Calibri"/>
                <a:ea typeface="Calibri"/>
              </a:rPr>
              <a:t>„Czuję się wyczerpany pracą...”</a:t>
            </a:r>
            <a:endParaRPr lang="pl-PL" sz="1400" b="0" u="none" strike="noStrike" dirty="0">
              <a:solidFill>
                <a:srgbClr val="000000"/>
              </a:solidFill>
              <a:effectLst/>
              <a:uFillTx/>
              <a:latin typeface="Arial"/>
            </a:endParaRPr>
          </a:p>
        </p:txBody>
      </p:sp>
      <p:sp>
        <p:nvSpPr>
          <p:cNvPr id="1169" name="Text 568"/>
          <p:cNvSpPr/>
          <p:nvPr/>
        </p:nvSpPr>
        <p:spPr>
          <a:xfrm>
            <a:off x="7688389" y="4305960"/>
            <a:ext cx="1154003" cy="291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300" b="0" u="none" strike="noStrike" dirty="0">
                <a:solidFill>
                  <a:srgbClr val="1A1F3C"/>
                </a:solidFill>
                <a:effectLst/>
                <a:uFillTx/>
                <a:latin typeface="Calibri"/>
                <a:ea typeface="Calibri"/>
              </a:rPr>
              <a:t>Wyczerpanie</a:t>
            </a:r>
            <a:endParaRPr lang="pl-PL" sz="1300" b="0" u="none" strike="noStrike" dirty="0">
              <a:solidFill>
                <a:srgbClr val="000000"/>
              </a:solidFill>
              <a:effectLst/>
              <a:uFillTx/>
              <a:latin typeface="Arial"/>
            </a:endParaRPr>
          </a:p>
        </p:txBody>
      </p:sp>
      <p:sp>
        <p:nvSpPr>
          <p:cNvPr id="1170" name="Text 569"/>
          <p:cNvSpPr/>
          <p:nvPr/>
        </p:nvSpPr>
        <p:spPr>
          <a:xfrm>
            <a:off x="8865405" y="4305960"/>
            <a:ext cx="782394" cy="291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300" b="0" u="none" strike="noStrike">
                <a:solidFill>
                  <a:srgbClr val="3A9F6E"/>
                </a:solidFill>
                <a:effectLst/>
                <a:uFillTx/>
                <a:latin typeface="Calibri"/>
                <a:ea typeface="Calibri"/>
              </a:rPr>
              <a:t>✓</a:t>
            </a:r>
            <a:endParaRPr lang="pl-PL" sz="1300" b="0" u="none" strike="noStrike">
              <a:solidFill>
                <a:srgbClr val="000000"/>
              </a:solidFill>
              <a:effectLst/>
              <a:uFillTx/>
              <a:latin typeface="Arial"/>
            </a:endParaRPr>
          </a:p>
        </p:txBody>
      </p:sp>
      <p:sp>
        <p:nvSpPr>
          <p:cNvPr id="1171" name="Text 570"/>
          <p:cNvSpPr/>
          <p:nvPr/>
        </p:nvSpPr>
        <p:spPr>
          <a:xfrm>
            <a:off x="5037011" y="4618080"/>
            <a:ext cx="2678122" cy="291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400" b="0" i="1" u="none" strike="noStrike">
                <a:solidFill>
                  <a:srgbClr val="1A1F3C"/>
                </a:solidFill>
                <a:effectLst/>
                <a:uFillTx/>
                <a:latin typeface="Calibri"/>
                <a:ea typeface="Calibri"/>
              </a:rPr>
              <a:t>„Nie mogę spać od tygodni...”</a:t>
            </a:r>
            <a:endParaRPr lang="pl-PL" sz="1400" b="0" u="none" strike="noStrike">
              <a:solidFill>
                <a:srgbClr val="000000"/>
              </a:solidFill>
              <a:effectLst/>
              <a:uFillTx/>
              <a:latin typeface="Arial"/>
            </a:endParaRPr>
          </a:p>
        </p:txBody>
      </p:sp>
      <p:sp>
        <p:nvSpPr>
          <p:cNvPr id="1172" name="Text 571"/>
          <p:cNvSpPr/>
          <p:nvPr/>
        </p:nvSpPr>
        <p:spPr>
          <a:xfrm>
            <a:off x="7726367" y="4618080"/>
            <a:ext cx="1095799" cy="291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300" b="0" u="none" strike="noStrike">
                <a:solidFill>
                  <a:srgbClr val="1A1F3C"/>
                </a:solidFill>
                <a:effectLst/>
                <a:uFillTx/>
                <a:latin typeface="Calibri"/>
                <a:ea typeface="Calibri"/>
              </a:rPr>
              <a:t>Sen</a:t>
            </a:r>
            <a:endParaRPr lang="pl-PL" sz="1300" b="0" u="none" strike="noStrike">
              <a:solidFill>
                <a:srgbClr val="000000"/>
              </a:solidFill>
              <a:effectLst/>
              <a:uFillTx/>
              <a:latin typeface="Arial"/>
            </a:endParaRPr>
          </a:p>
        </p:txBody>
      </p:sp>
      <p:sp>
        <p:nvSpPr>
          <p:cNvPr id="1173" name="Text 572"/>
          <p:cNvSpPr/>
          <p:nvPr/>
        </p:nvSpPr>
        <p:spPr>
          <a:xfrm>
            <a:off x="8865405" y="4618080"/>
            <a:ext cx="782394" cy="291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300" b="0" u="none" strike="noStrike">
                <a:solidFill>
                  <a:srgbClr val="3A9F6E"/>
                </a:solidFill>
                <a:effectLst/>
                <a:uFillTx/>
                <a:latin typeface="Calibri"/>
                <a:ea typeface="Calibri"/>
              </a:rPr>
              <a:t>✓</a:t>
            </a:r>
            <a:endParaRPr lang="pl-PL" sz="1300" b="0" u="none" strike="noStrike">
              <a:solidFill>
                <a:srgbClr val="000000"/>
              </a:solidFill>
              <a:effectLst/>
              <a:uFillTx/>
              <a:latin typeface="Arial"/>
            </a:endParaRPr>
          </a:p>
        </p:txBody>
      </p:sp>
      <p:sp>
        <p:nvSpPr>
          <p:cNvPr id="1174" name="Text 573"/>
          <p:cNvSpPr/>
          <p:nvPr/>
        </p:nvSpPr>
        <p:spPr>
          <a:xfrm>
            <a:off x="5037011" y="4930920"/>
            <a:ext cx="2678122" cy="291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400" b="0" i="1" u="none" strike="noStrike">
                <a:solidFill>
                  <a:srgbClr val="1A1F3C"/>
                </a:solidFill>
                <a:effectLst/>
                <a:uFillTx/>
                <a:latin typeface="Calibri"/>
                <a:ea typeface="Calibri"/>
              </a:rPr>
              <a:t>„Stresuję się przed egzaminem...”</a:t>
            </a:r>
            <a:endParaRPr lang="pl-PL" sz="1400" b="0" u="none" strike="noStrike">
              <a:solidFill>
                <a:srgbClr val="000000"/>
              </a:solidFill>
              <a:effectLst/>
              <a:uFillTx/>
              <a:latin typeface="Arial"/>
            </a:endParaRPr>
          </a:p>
        </p:txBody>
      </p:sp>
      <p:sp>
        <p:nvSpPr>
          <p:cNvPr id="1175" name="Text 574"/>
          <p:cNvSpPr/>
          <p:nvPr/>
        </p:nvSpPr>
        <p:spPr>
          <a:xfrm>
            <a:off x="7726367" y="4930920"/>
            <a:ext cx="1095799" cy="291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300" b="0" u="none" strike="noStrike">
                <a:solidFill>
                  <a:srgbClr val="1A1F3C"/>
                </a:solidFill>
                <a:effectLst/>
                <a:uFillTx/>
                <a:latin typeface="Calibri"/>
                <a:ea typeface="Calibri"/>
              </a:rPr>
              <a:t>Lęk</a:t>
            </a:r>
            <a:endParaRPr lang="pl-PL" sz="1300" b="0" u="none" strike="noStrike">
              <a:solidFill>
                <a:srgbClr val="000000"/>
              </a:solidFill>
              <a:effectLst/>
              <a:uFillTx/>
              <a:latin typeface="Arial"/>
            </a:endParaRPr>
          </a:p>
        </p:txBody>
      </p:sp>
      <p:sp>
        <p:nvSpPr>
          <p:cNvPr id="1176" name="Text 575"/>
          <p:cNvSpPr/>
          <p:nvPr/>
        </p:nvSpPr>
        <p:spPr>
          <a:xfrm>
            <a:off x="8865405" y="4930920"/>
            <a:ext cx="782394" cy="291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300" b="0" u="none" strike="noStrike">
                <a:solidFill>
                  <a:srgbClr val="D64045"/>
                </a:solidFill>
                <a:effectLst/>
                <a:uFillTx/>
                <a:latin typeface="Calibri"/>
                <a:ea typeface="Calibri"/>
              </a:rPr>
              <a:t>✗ → Stres</a:t>
            </a:r>
            <a:endParaRPr lang="pl-PL" sz="1300" b="0" u="none" strike="noStrike">
              <a:solidFill>
                <a:srgbClr val="000000"/>
              </a:solidFill>
              <a:effectLst/>
              <a:uFillTx/>
              <a:latin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99"/>
            <a:ext cx="10080625" cy="1008063"/>
          </a:xfrm>
          <a:prstGeom prst="rect">
            <a:avLst/>
          </a:prstGeom>
          <a:solidFill>
            <a:srgbClr val="1E2761"/>
          </a:solidFill>
          <a:ln w="12700">
            <a:solidFill>
              <a:srgbClr val="1E2761"/>
            </a:solidFill>
            <a:prstDash val="solid"/>
          </a:ln>
        </p:spPr>
      </p:sp>
      <p:sp>
        <p:nvSpPr>
          <p:cNvPr id="3" name="Text 1"/>
          <p:cNvSpPr/>
          <p:nvPr/>
        </p:nvSpPr>
        <p:spPr>
          <a:xfrm>
            <a:off x="453628" y="70664"/>
            <a:ext cx="9173369" cy="504031"/>
          </a:xfrm>
          <a:prstGeom prst="rect">
            <a:avLst/>
          </a:prstGeom>
          <a:noFill/>
          <a:ln/>
        </p:spPr>
        <p:txBody>
          <a:bodyPr wrap="square" rtlCol="0" anchor="b"/>
          <a:lstStyle/>
          <a:p>
            <a:r>
              <a:rPr lang="en-US" sz="2200" b="1" dirty="0">
                <a:solidFill>
                  <a:srgbClr val="FFFFFF"/>
                </a:solidFill>
                <a:latin typeface="Cambria" pitchFamily="34" charset="0"/>
                <a:ea typeface="Cambria" pitchFamily="34" charset="-122"/>
                <a:cs typeface="Cambria" pitchFamily="34" charset="-120"/>
              </a:rPr>
              <a:t>BRAKI DANYCH, OUTLIERY I DECYZJE PREPROCESSINGOWE</a:t>
            </a:r>
            <a:endParaRPr lang="en-US" sz="2200" dirty="0"/>
          </a:p>
        </p:txBody>
      </p:sp>
      <p:sp>
        <p:nvSpPr>
          <p:cNvPr id="4" name="Text 2"/>
          <p:cNvSpPr/>
          <p:nvPr/>
        </p:nvSpPr>
        <p:spPr>
          <a:xfrm>
            <a:off x="453628" y="594856"/>
            <a:ext cx="9173369" cy="332661"/>
          </a:xfrm>
          <a:prstGeom prst="rect">
            <a:avLst/>
          </a:prstGeom>
          <a:noFill/>
          <a:ln/>
        </p:spPr>
        <p:txBody>
          <a:bodyPr wrap="square" rtlCol="0" anchor="t"/>
          <a:lstStyle/>
          <a:p>
            <a:r>
              <a:rPr lang="en-US" sz="1400" i="1" dirty="0">
                <a:solidFill>
                  <a:srgbClr val="CADCFC"/>
                </a:solidFill>
                <a:latin typeface="Calibri" pitchFamily="34" charset="0"/>
                <a:ea typeface="Calibri" pitchFamily="34" charset="-122"/>
                <a:cs typeface="Calibri" pitchFamily="34" charset="-120"/>
              </a:rPr>
              <a:t>Preprocessing jest częścią analizy, a nie neutralną czynnością techniczną</a:t>
            </a:r>
            <a:endParaRPr lang="en-US" sz="1400" dirty="0"/>
          </a:p>
        </p:txBody>
      </p:sp>
      <p:sp>
        <p:nvSpPr>
          <p:cNvPr id="5" name="Shape 3"/>
          <p:cNvSpPr/>
          <p:nvPr/>
        </p:nvSpPr>
        <p:spPr>
          <a:xfrm>
            <a:off x="403224" y="1108968"/>
            <a:ext cx="2993946" cy="1512094"/>
          </a:xfrm>
          <a:prstGeom prst="roundRect">
            <a:avLst>
              <a:gd name="adj" fmla="val 6667"/>
            </a:avLst>
          </a:prstGeom>
          <a:solidFill>
            <a:srgbClr val="FFFFFF"/>
          </a:solidFill>
          <a:ln>
            <a:solidFill>
              <a:schemeClr val="bg2">
                <a:lumMod val="90000"/>
              </a:schemeClr>
            </a:solidFill>
          </a:ln>
          <a:effectLst>
            <a:outerShdw blurRad="76200" dist="25400" dir="2700000" algn="bl" rotWithShape="0">
              <a:srgbClr val="000000">
                <a:alpha val="8000"/>
              </a:srgbClr>
            </a:outerShdw>
          </a:effectLst>
        </p:spPr>
      </p:sp>
      <p:sp>
        <p:nvSpPr>
          <p:cNvPr id="6" name="Shape 4"/>
          <p:cNvSpPr/>
          <p:nvPr/>
        </p:nvSpPr>
        <p:spPr>
          <a:xfrm>
            <a:off x="403224" y="1108968"/>
            <a:ext cx="2993946" cy="463709"/>
          </a:xfrm>
          <a:prstGeom prst="roundRect">
            <a:avLst>
              <a:gd name="adj" fmla="val 21499"/>
            </a:avLst>
          </a:prstGeom>
          <a:solidFill>
            <a:srgbClr val="7030A0"/>
          </a:solidFill>
          <a:ln/>
        </p:spPr>
      </p:sp>
      <p:sp>
        <p:nvSpPr>
          <p:cNvPr id="7" name="Text 5"/>
          <p:cNvSpPr/>
          <p:nvPr/>
        </p:nvSpPr>
        <p:spPr>
          <a:xfrm>
            <a:off x="403224" y="1108968"/>
            <a:ext cx="2993946" cy="463709"/>
          </a:xfrm>
          <a:prstGeom prst="rect">
            <a:avLst/>
          </a:prstGeom>
          <a:noFill/>
          <a:ln/>
        </p:spPr>
        <p:txBody>
          <a:bodyPr wrap="square" rtlCol="0" anchor="ctr"/>
          <a:lstStyle/>
          <a:p>
            <a:pPr algn="ctr"/>
            <a:r>
              <a:rPr lang="en-US" sz="2400" b="1" dirty="0">
                <a:solidFill>
                  <a:srgbClr val="FFFFFF"/>
                </a:solidFill>
                <a:latin typeface="Cambria" pitchFamily="34" charset="0"/>
                <a:ea typeface="Cambria" pitchFamily="34" charset="-122"/>
                <a:cs typeface="Cambria" pitchFamily="34" charset="-120"/>
              </a:rPr>
              <a:t>MCAR</a:t>
            </a:r>
            <a:endParaRPr lang="en-US" sz="2400" dirty="0"/>
          </a:p>
        </p:txBody>
      </p:sp>
      <p:sp>
        <p:nvSpPr>
          <p:cNvPr id="8" name="Text 6"/>
          <p:cNvSpPr/>
          <p:nvPr/>
        </p:nvSpPr>
        <p:spPr>
          <a:xfrm>
            <a:off x="544353" y="1673483"/>
            <a:ext cx="2711688" cy="887095"/>
          </a:xfrm>
          <a:prstGeom prst="rect">
            <a:avLst/>
          </a:prstGeom>
          <a:noFill/>
          <a:ln/>
        </p:spPr>
        <p:txBody>
          <a:bodyPr wrap="square" rtlCol="0" anchor="ctr"/>
          <a:lstStyle/>
          <a:p>
            <a:pPr>
              <a:lnSpc>
                <a:spcPct val="110000"/>
              </a:lnSpc>
            </a:pPr>
            <a:r>
              <a:rPr lang="pl-PL" sz="1600" dirty="0">
                <a:solidFill>
                  <a:srgbClr val="1A1F3C"/>
                </a:solidFill>
                <a:latin typeface="Calibri" pitchFamily="34" charset="0"/>
                <a:ea typeface="Calibri" pitchFamily="34" charset="-122"/>
                <a:cs typeface="Calibri" pitchFamily="34" charset="-120"/>
              </a:rPr>
              <a:t>Braki całkowicie losowe: bezpiecznie ignorować lub imputować</a:t>
            </a:r>
          </a:p>
        </p:txBody>
      </p:sp>
      <p:sp>
        <p:nvSpPr>
          <p:cNvPr id="9" name="Shape 7"/>
          <p:cNvSpPr/>
          <p:nvPr/>
        </p:nvSpPr>
        <p:spPr>
          <a:xfrm>
            <a:off x="3538299" y="1108968"/>
            <a:ext cx="2993946" cy="1512094"/>
          </a:xfrm>
          <a:prstGeom prst="roundRect">
            <a:avLst>
              <a:gd name="adj" fmla="val 6667"/>
            </a:avLst>
          </a:prstGeom>
          <a:solidFill>
            <a:srgbClr val="FFFFFF"/>
          </a:solidFill>
          <a:ln>
            <a:solidFill>
              <a:schemeClr val="bg2">
                <a:lumMod val="90000"/>
              </a:schemeClr>
            </a:solidFill>
          </a:ln>
          <a:effectLst>
            <a:outerShdw blurRad="76200" dist="25400" dir="2700000" algn="bl" rotWithShape="0">
              <a:srgbClr val="000000">
                <a:alpha val="8000"/>
              </a:srgbClr>
            </a:outerShdw>
          </a:effectLst>
        </p:spPr>
      </p:sp>
      <p:sp>
        <p:nvSpPr>
          <p:cNvPr id="10" name="Shape 8"/>
          <p:cNvSpPr/>
          <p:nvPr/>
        </p:nvSpPr>
        <p:spPr>
          <a:xfrm>
            <a:off x="3538299" y="1108968"/>
            <a:ext cx="2993946" cy="463709"/>
          </a:xfrm>
          <a:prstGeom prst="roundRect">
            <a:avLst>
              <a:gd name="adj" fmla="val 21499"/>
            </a:avLst>
          </a:prstGeom>
          <a:solidFill>
            <a:srgbClr val="5B8FF9"/>
          </a:solidFill>
          <a:ln/>
        </p:spPr>
      </p:sp>
      <p:sp>
        <p:nvSpPr>
          <p:cNvPr id="11" name="Text 9"/>
          <p:cNvSpPr/>
          <p:nvPr/>
        </p:nvSpPr>
        <p:spPr>
          <a:xfrm>
            <a:off x="3538299" y="1108968"/>
            <a:ext cx="2993946" cy="463709"/>
          </a:xfrm>
          <a:prstGeom prst="rect">
            <a:avLst/>
          </a:prstGeom>
          <a:noFill/>
          <a:ln/>
        </p:spPr>
        <p:txBody>
          <a:bodyPr wrap="square" rtlCol="0" anchor="ctr"/>
          <a:lstStyle/>
          <a:p>
            <a:pPr algn="ctr"/>
            <a:r>
              <a:rPr lang="en-US" sz="2400" b="1" dirty="0">
                <a:solidFill>
                  <a:srgbClr val="FFFFFF"/>
                </a:solidFill>
                <a:latin typeface="Cambria" pitchFamily="34" charset="0"/>
                <a:ea typeface="Cambria" pitchFamily="34" charset="-122"/>
                <a:cs typeface="Cambria" pitchFamily="34" charset="-120"/>
              </a:rPr>
              <a:t>MAR</a:t>
            </a:r>
            <a:endParaRPr lang="en-US" sz="2400" dirty="0"/>
          </a:p>
        </p:txBody>
      </p:sp>
      <p:sp>
        <p:nvSpPr>
          <p:cNvPr id="12" name="Text 10"/>
          <p:cNvSpPr/>
          <p:nvPr/>
        </p:nvSpPr>
        <p:spPr>
          <a:xfrm>
            <a:off x="3679428" y="1673483"/>
            <a:ext cx="2711688" cy="887095"/>
          </a:xfrm>
          <a:prstGeom prst="rect">
            <a:avLst/>
          </a:prstGeom>
          <a:noFill/>
          <a:ln/>
        </p:spPr>
        <p:txBody>
          <a:bodyPr wrap="square" rtlCol="0" anchor="ctr"/>
          <a:lstStyle/>
          <a:p>
            <a:pPr>
              <a:lnSpc>
                <a:spcPct val="125000"/>
              </a:lnSpc>
            </a:pPr>
            <a:r>
              <a:rPr lang="pl-PL" sz="1600" dirty="0">
                <a:solidFill>
                  <a:srgbClr val="1A1F3C"/>
                </a:solidFill>
                <a:latin typeface="Calibri" pitchFamily="34" charset="0"/>
                <a:ea typeface="Calibri" pitchFamily="34" charset="-122"/>
                <a:cs typeface="Calibri" pitchFamily="34" charset="-120"/>
              </a:rPr>
              <a:t>Brak zależy od innych obserwowanych zmiennych</a:t>
            </a:r>
          </a:p>
        </p:txBody>
      </p:sp>
      <p:sp>
        <p:nvSpPr>
          <p:cNvPr id="13" name="Shape 11"/>
          <p:cNvSpPr/>
          <p:nvPr/>
        </p:nvSpPr>
        <p:spPr>
          <a:xfrm>
            <a:off x="6673373" y="1108968"/>
            <a:ext cx="2993946" cy="1512094"/>
          </a:xfrm>
          <a:prstGeom prst="roundRect">
            <a:avLst>
              <a:gd name="adj" fmla="val 6667"/>
            </a:avLst>
          </a:prstGeom>
          <a:solidFill>
            <a:srgbClr val="FFFFFF"/>
          </a:solidFill>
          <a:ln>
            <a:solidFill>
              <a:schemeClr val="bg2">
                <a:lumMod val="90000"/>
              </a:schemeClr>
            </a:solidFill>
          </a:ln>
          <a:effectLst>
            <a:outerShdw blurRad="76200" dist="25400" dir="2700000" algn="bl" rotWithShape="0">
              <a:srgbClr val="000000">
                <a:alpha val="8000"/>
              </a:srgbClr>
            </a:outerShdw>
          </a:effectLst>
        </p:spPr>
      </p:sp>
      <p:sp>
        <p:nvSpPr>
          <p:cNvPr id="14" name="Shape 12"/>
          <p:cNvSpPr/>
          <p:nvPr/>
        </p:nvSpPr>
        <p:spPr>
          <a:xfrm>
            <a:off x="6673373" y="1108968"/>
            <a:ext cx="2993946" cy="463709"/>
          </a:xfrm>
          <a:prstGeom prst="roundRect">
            <a:avLst>
              <a:gd name="adj" fmla="val 18760"/>
            </a:avLst>
          </a:prstGeom>
          <a:solidFill>
            <a:srgbClr val="D64045"/>
          </a:solidFill>
          <a:ln/>
        </p:spPr>
      </p:sp>
      <p:sp>
        <p:nvSpPr>
          <p:cNvPr id="15" name="Text 13"/>
          <p:cNvSpPr/>
          <p:nvPr/>
        </p:nvSpPr>
        <p:spPr>
          <a:xfrm>
            <a:off x="6673373" y="1108968"/>
            <a:ext cx="2993946" cy="463709"/>
          </a:xfrm>
          <a:prstGeom prst="rect">
            <a:avLst/>
          </a:prstGeom>
          <a:noFill/>
          <a:ln/>
        </p:spPr>
        <p:txBody>
          <a:bodyPr wrap="square" rtlCol="0" anchor="ctr"/>
          <a:lstStyle/>
          <a:p>
            <a:pPr algn="ctr"/>
            <a:r>
              <a:rPr lang="en-US" sz="2400" b="1" dirty="0">
                <a:solidFill>
                  <a:srgbClr val="FFFFFF"/>
                </a:solidFill>
                <a:latin typeface="Cambria" pitchFamily="34" charset="0"/>
                <a:ea typeface="Cambria" pitchFamily="34" charset="-122"/>
                <a:cs typeface="Cambria" pitchFamily="34" charset="-120"/>
              </a:rPr>
              <a:t>MNAR</a:t>
            </a:r>
            <a:endParaRPr lang="en-US" sz="2400" dirty="0"/>
          </a:p>
        </p:txBody>
      </p:sp>
      <p:sp>
        <p:nvSpPr>
          <p:cNvPr id="16" name="Text 14"/>
          <p:cNvSpPr/>
          <p:nvPr/>
        </p:nvSpPr>
        <p:spPr>
          <a:xfrm>
            <a:off x="6814502" y="1673483"/>
            <a:ext cx="2711688" cy="887095"/>
          </a:xfrm>
          <a:prstGeom prst="rect">
            <a:avLst/>
          </a:prstGeom>
          <a:noFill/>
          <a:ln/>
        </p:spPr>
        <p:txBody>
          <a:bodyPr wrap="square" rtlCol="0" anchor="ctr"/>
          <a:lstStyle/>
          <a:p>
            <a:pPr>
              <a:lnSpc>
                <a:spcPct val="110000"/>
              </a:lnSpc>
            </a:pPr>
            <a:r>
              <a:rPr lang="pl-PL" sz="1600" dirty="0">
                <a:solidFill>
                  <a:srgbClr val="1A1F3C"/>
                </a:solidFill>
                <a:latin typeface="Calibri" pitchFamily="34" charset="0"/>
                <a:ea typeface="Calibri" pitchFamily="34" charset="-122"/>
                <a:cs typeface="Calibri" pitchFamily="34" charset="-120"/>
              </a:rPr>
              <a:t>Brak zależy od samej nieobserwowanej wartości: najtrudniejszy przypadek.</a:t>
            </a:r>
          </a:p>
        </p:txBody>
      </p:sp>
      <p:sp>
        <p:nvSpPr>
          <p:cNvPr id="17" name="Shape 15"/>
          <p:cNvSpPr/>
          <p:nvPr/>
        </p:nvSpPr>
        <p:spPr>
          <a:xfrm>
            <a:off x="403225" y="2802513"/>
            <a:ext cx="9274175" cy="1461691"/>
          </a:xfrm>
          <a:prstGeom prst="roundRect">
            <a:avLst>
              <a:gd name="adj" fmla="val 6897"/>
            </a:avLst>
          </a:prstGeom>
          <a:solidFill>
            <a:srgbClr val="F8F9FF"/>
          </a:solidFill>
          <a:ln/>
          <a:effectLst>
            <a:outerShdw blurRad="76200" dist="25400" dir="2700000" algn="bl" rotWithShape="0">
              <a:srgbClr val="000000">
                <a:alpha val="8000"/>
              </a:srgbClr>
            </a:outerShdw>
          </a:effectLst>
        </p:spPr>
      </p:sp>
      <p:sp>
        <p:nvSpPr>
          <p:cNvPr id="18" name="Text 16"/>
          <p:cNvSpPr/>
          <p:nvPr/>
        </p:nvSpPr>
        <p:spPr>
          <a:xfrm>
            <a:off x="554434" y="2852916"/>
            <a:ext cx="4334669" cy="282258"/>
          </a:xfrm>
          <a:prstGeom prst="rect">
            <a:avLst/>
          </a:prstGeom>
          <a:noFill/>
          <a:ln/>
        </p:spPr>
        <p:txBody>
          <a:bodyPr wrap="square" rtlCol="0" anchor="ctr"/>
          <a:lstStyle/>
          <a:p>
            <a:r>
              <a:rPr lang="en-US" sz="1600" b="1" dirty="0">
                <a:solidFill>
                  <a:srgbClr val="1E2761"/>
                </a:solidFill>
                <a:latin typeface="Cambria" pitchFamily="34" charset="0"/>
                <a:ea typeface="Cambria" pitchFamily="34" charset="-122"/>
                <a:cs typeface="Cambria" pitchFamily="34" charset="-120"/>
              </a:rPr>
              <a:t>Przed winsoryzacją</a:t>
            </a:r>
            <a:endParaRPr lang="en-US" sz="1600" dirty="0"/>
          </a:p>
        </p:txBody>
      </p:sp>
      <p:sp>
        <p:nvSpPr>
          <p:cNvPr id="19" name="Text 17"/>
          <p:cNvSpPr/>
          <p:nvPr/>
        </p:nvSpPr>
        <p:spPr>
          <a:xfrm>
            <a:off x="5191521" y="2852916"/>
            <a:ext cx="4334669" cy="282258"/>
          </a:xfrm>
          <a:prstGeom prst="rect">
            <a:avLst/>
          </a:prstGeom>
          <a:noFill/>
          <a:ln/>
        </p:spPr>
        <p:txBody>
          <a:bodyPr wrap="square" rtlCol="0" anchor="ctr"/>
          <a:lstStyle/>
          <a:p>
            <a:r>
              <a:rPr lang="en-US" sz="1600" b="1" dirty="0">
                <a:solidFill>
                  <a:srgbClr val="1E2761"/>
                </a:solidFill>
                <a:latin typeface="Cambria" pitchFamily="34" charset="0"/>
                <a:ea typeface="Cambria" pitchFamily="34" charset="-122"/>
                <a:cs typeface="Cambria" pitchFamily="34" charset="-120"/>
              </a:rPr>
              <a:t>Po winsoryzacji</a:t>
            </a:r>
            <a:endParaRPr lang="en-US" sz="1600" dirty="0"/>
          </a:p>
        </p:txBody>
      </p:sp>
      <p:sp>
        <p:nvSpPr>
          <p:cNvPr id="20" name="Shape 18"/>
          <p:cNvSpPr/>
          <p:nvPr/>
        </p:nvSpPr>
        <p:spPr>
          <a:xfrm>
            <a:off x="5040312" y="2873077"/>
            <a:ext cx="0" cy="1310481"/>
          </a:xfrm>
          <a:prstGeom prst="line">
            <a:avLst/>
          </a:prstGeom>
          <a:noFill/>
          <a:ln w="12700">
            <a:solidFill>
              <a:srgbClr val="D8DCEE"/>
            </a:solidFill>
            <a:prstDash val="dash"/>
          </a:ln>
        </p:spPr>
      </p:sp>
      <p:sp>
        <p:nvSpPr>
          <p:cNvPr id="21" name="Shape 19"/>
          <p:cNvSpPr/>
          <p:nvPr/>
        </p:nvSpPr>
        <p:spPr>
          <a:xfrm>
            <a:off x="705643" y="3593842"/>
            <a:ext cx="162000" cy="162000"/>
          </a:xfrm>
          <a:prstGeom prst="ellipse">
            <a:avLst/>
          </a:prstGeom>
          <a:solidFill>
            <a:srgbClr val="5B8FF9"/>
          </a:solidFill>
          <a:ln/>
        </p:spPr>
      </p:sp>
      <p:sp>
        <p:nvSpPr>
          <p:cNvPr id="22" name="Shape 20"/>
          <p:cNvSpPr/>
          <p:nvPr/>
        </p:nvSpPr>
        <p:spPr>
          <a:xfrm>
            <a:off x="1129030" y="3571664"/>
            <a:ext cx="162000" cy="162000"/>
          </a:xfrm>
          <a:prstGeom prst="ellipse">
            <a:avLst/>
          </a:prstGeom>
          <a:solidFill>
            <a:srgbClr val="5B8FF9"/>
          </a:solidFill>
          <a:ln/>
        </p:spPr>
      </p:sp>
      <p:sp>
        <p:nvSpPr>
          <p:cNvPr id="23" name="Shape 21"/>
          <p:cNvSpPr/>
          <p:nvPr/>
        </p:nvSpPr>
        <p:spPr>
          <a:xfrm>
            <a:off x="1552416" y="3549487"/>
            <a:ext cx="162000" cy="162000"/>
          </a:xfrm>
          <a:prstGeom prst="ellipse">
            <a:avLst/>
          </a:prstGeom>
          <a:solidFill>
            <a:srgbClr val="5B8FF9"/>
          </a:solidFill>
          <a:ln/>
        </p:spPr>
      </p:sp>
      <p:sp>
        <p:nvSpPr>
          <p:cNvPr id="24" name="Shape 22"/>
          <p:cNvSpPr/>
          <p:nvPr/>
        </p:nvSpPr>
        <p:spPr>
          <a:xfrm>
            <a:off x="1975802" y="3527310"/>
            <a:ext cx="162000" cy="162000"/>
          </a:xfrm>
          <a:prstGeom prst="ellipse">
            <a:avLst/>
          </a:prstGeom>
          <a:solidFill>
            <a:srgbClr val="5B8FF9"/>
          </a:solidFill>
          <a:ln/>
        </p:spPr>
      </p:sp>
      <p:sp>
        <p:nvSpPr>
          <p:cNvPr id="25" name="Shape 23"/>
          <p:cNvSpPr/>
          <p:nvPr/>
        </p:nvSpPr>
        <p:spPr>
          <a:xfrm>
            <a:off x="2399188" y="3505133"/>
            <a:ext cx="162000" cy="162000"/>
          </a:xfrm>
          <a:prstGeom prst="ellipse">
            <a:avLst/>
          </a:prstGeom>
          <a:solidFill>
            <a:srgbClr val="5B8FF9"/>
          </a:solidFill>
          <a:ln/>
        </p:spPr>
      </p:sp>
      <p:sp>
        <p:nvSpPr>
          <p:cNvPr id="26" name="Shape 24"/>
          <p:cNvSpPr/>
          <p:nvPr/>
        </p:nvSpPr>
        <p:spPr>
          <a:xfrm>
            <a:off x="2822575" y="3582754"/>
            <a:ext cx="162000" cy="162000"/>
          </a:xfrm>
          <a:prstGeom prst="ellipse">
            <a:avLst/>
          </a:prstGeom>
          <a:solidFill>
            <a:srgbClr val="5B8FF9"/>
          </a:solidFill>
          <a:ln/>
        </p:spPr>
      </p:sp>
      <p:sp>
        <p:nvSpPr>
          <p:cNvPr id="27" name="Shape 25"/>
          <p:cNvSpPr/>
          <p:nvPr/>
        </p:nvSpPr>
        <p:spPr>
          <a:xfrm>
            <a:off x="3245961" y="3538399"/>
            <a:ext cx="162000" cy="162000"/>
          </a:xfrm>
          <a:prstGeom prst="ellipse">
            <a:avLst/>
          </a:prstGeom>
          <a:solidFill>
            <a:srgbClr val="5B8FF9"/>
          </a:solidFill>
          <a:ln/>
        </p:spPr>
      </p:sp>
      <p:sp>
        <p:nvSpPr>
          <p:cNvPr id="28" name="Shape 26"/>
          <p:cNvSpPr/>
          <p:nvPr/>
        </p:nvSpPr>
        <p:spPr>
          <a:xfrm>
            <a:off x="3669347" y="3560576"/>
            <a:ext cx="162000" cy="162000"/>
          </a:xfrm>
          <a:prstGeom prst="ellipse">
            <a:avLst/>
          </a:prstGeom>
          <a:solidFill>
            <a:srgbClr val="5B8FF9"/>
          </a:solidFill>
          <a:ln/>
        </p:spPr>
      </p:sp>
      <p:sp>
        <p:nvSpPr>
          <p:cNvPr id="29" name="Shape 27"/>
          <p:cNvSpPr/>
          <p:nvPr/>
        </p:nvSpPr>
        <p:spPr>
          <a:xfrm>
            <a:off x="4092733" y="3128117"/>
            <a:ext cx="162000" cy="162000"/>
          </a:xfrm>
          <a:prstGeom prst="ellipse">
            <a:avLst/>
          </a:prstGeom>
          <a:solidFill>
            <a:srgbClr val="D64045"/>
          </a:solidFill>
          <a:ln/>
        </p:spPr>
      </p:sp>
      <p:sp>
        <p:nvSpPr>
          <p:cNvPr id="30" name="Shape 28"/>
          <p:cNvSpPr/>
          <p:nvPr/>
        </p:nvSpPr>
        <p:spPr>
          <a:xfrm>
            <a:off x="4516120" y="3948680"/>
            <a:ext cx="162000" cy="162000"/>
          </a:xfrm>
          <a:prstGeom prst="ellipse">
            <a:avLst/>
          </a:prstGeom>
          <a:solidFill>
            <a:srgbClr val="D64045"/>
          </a:solidFill>
          <a:ln/>
        </p:spPr>
      </p:sp>
      <p:sp>
        <p:nvSpPr>
          <p:cNvPr id="31" name="Shape 29"/>
          <p:cNvSpPr/>
          <p:nvPr/>
        </p:nvSpPr>
        <p:spPr>
          <a:xfrm>
            <a:off x="604837" y="3205738"/>
            <a:ext cx="4233863" cy="0"/>
          </a:xfrm>
          <a:prstGeom prst="line">
            <a:avLst/>
          </a:prstGeom>
          <a:noFill/>
          <a:ln w="12700">
            <a:solidFill>
              <a:srgbClr val="D64045"/>
            </a:solidFill>
            <a:prstDash val="dash"/>
          </a:ln>
        </p:spPr>
      </p:sp>
      <p:sp>
        <p:nvSpPr>
          <p:cNvPr id="32" name="Shape 30"/>
          <p:cNvSpPr/>
          <p:nvPr/>
        </p:nvSpPr>
        <p:spPr>
          <a:xfrm>
            <a:off x="604837" y="3810575"/>
            <a:ext cx="4233863" cy="0"/>
          </a:xfrm>
          <a:prstGeom prst="line">
            <a:avLst/>
          </a:prstGeom>
          <a:noFill/>
          <a:ln w="12700">
            <a:solidFill>
              <a:srgbClr val="D64045"/>
            </a:solidFill>
            <a:prstDash val="dash"/>
          </a:ln>
        </p:spPr>
      </p:sp>
      <p:sp>
        <p:nvSpPr>
          <p:cNvPr id="33" name="Shape 31"/>
          <p:cNvSpPr/>
          <p:nvPr/>
        </p:nvSpPr>
        <p:spPr>
          <a:xfrm>
            <a:off x="5342731" y="3593842"/>
            <a:ext cx="162000" cy="162000"/>
          </a:xfrm>
          <a:prstGeom prst="ellipse">
            <a:avLst/>
          </a:prstGeom>
          <a:solidFill>
            <a:srgbClr val="3A9F6E"/>
          </a:solidFill>
          <a:ln/>
        </p:spPr>
      </p:sp>
      <p:sp>
        <p:nvSpPr>
          <p:cNvPr id="34" name="Shape 32"/>
          <p:cNvSpPr/>
          <p:nvPr/>
        </p:nvSpPr>
        <p:spPr>
          <a:xfrm>
            <a:off x="5766117" y="3571664"/>
            <a:ext cx="162000" cy="162000"/>
          </a:xfrm>
          <a:prstGeom prst="ellipse">
            <a:avLst/>
          </a:prstGeom>
          <a:solidFill>
            <a:srgbClr val="3A9F6E"/>
          </a:solidFill>
          <a:ln/>
        </p:spPr>
      </p:sp>
      <p:sp>
        <p:nvSpPr>
          <p:cNvPr id="35" name="Shape 33"/>
          <p:cNvSpPr/>
          <p:nvPr/>
        </p:nvSpPr>
        <p:spPr>
          <a:xfrm>
            <a:off x="6189503" y="3549487"/>
            <a:ext cx="162000" cy="162000"/>
          </a:xfrm>
          <a:prstGeom prst="ellipse">
            <a:avLst/>
          </a:prstGeom>
          <a:solidFill>
            <a:srgbClr val="3A9F6E"/>
          </a:solidFill>
          <a:ln/>
        </p:spPr>
      </p:sp>
      <p:sp>
        <p:nvSpPr>
          <p:cNvPr id="36" name="Shape 34"/>
          <p:cNvSpPr/>
          <p:nvPr/>
        </p:nvSpPr>
        <p:spPr>
          <a:xfrm>
            <a:off x="6612890" y="3527310"/>
            <a:ext cx="162000" cy="162000"/>
          </a:xfrm>
          <a:prstGeom prst="ellipse">
            <a:avLst/>
          </a:prstGeom>
          <a:solidFill>
            <a:srgbClr val="3A9F6E"/>
          </a:solidFill>
          <a:ln/>
        </p:spPr>
      </p:sp>
      <p:sp>
        <p:nvSpPr>
          <p:cNvPr id="37" name="Shape 35"/>
          <p:cNvSpPr/>
          <p:nvPr/>
        </p:nvSpPr>
        <p:spPr>
          <a:xfrm>
            <a:off x="7036276" y="3505133"/>
            <a:ext cx="162000" cy="162000"/>
          </a:xfrm>
          <a:prstGeom prst="ellipse">
            <a:avLst/>
          </a:prstGeom>
          <a:solidFill>
            <a:srgbClr val="3A9F6E"/>
          </a:solidFill>
          <a:ln/>
        </p:spPr>
      </p:sp>
      <p:sp>
        <p:nvSpPr>
          <p:cNvPr id="38" name="Shape 36"/>
          <p:cNvSpPr/>
          <p:nvPr/>
        </p:nvSpPr>
        <p:spPr>
          <a:xfrm>
            <a:off x="7459662" y="3582754"/>
            <a:ext cx="162000" cy="162000"/>
          </a:xfrm>
          <a:prstGeom prst="ellipse">
            <a:avLst/>
          </a:prstGeom>
          <a:solidFill>
            <a:srgbClr val="3A9F6E"/>
          </a:solidFill>
          <a:ln/>
        </p:spPr>
      </p:sp>
      <p:sp>
        <p:nvSpPr>
          <p:cNvPr id="39" name="Shape 37"/>
          <p:cNvSpPr/>
          <p:nvPr/>
        </p:nvSpPr>
        <p:spPr>
          <a:xfrm>
            <a:off x="7883048" y="3538399"/>
            <a:ext cx="162000" cy="162000"/>
          </a:xfrm>
          <a:prstGeom prst="ellipse">
            <a:avLst/>
          </a:prstGeom>
          <a:solidFill>
            <a:srgbClr val="3A9F6E"/>
          </a:solidFill>
          <a:ln/>
        </p:spPr>
      </p:sp>
      <p:sp>
        <p:nvSpPr>
          <p:cNvPr id="40" name="Shape 38"/>
          <p:cNvSpPr/>
          <p:nvPr/>
        </p:nvSpPr>
        <p:spPr>
          <a:xfrm>
            <a:off x="8306435" y="3560576"/>
            <a:ext cx="162000" cy="162000"/>
          </a:xfrm>
          <a:prstGeom prst="ellipse">
            <a:avLst/>
          </a:prstGeom>
          <a:solidFill>
            <a:srgbClr val="3A9F6E"/>
          </a:solidFill>
          <a:ln/>
        </p:spPr>
      </p:sp>
      <p:sp>
        <p:nvSpPr>
          <p:cNvPr id="41" name="Shape 39"/>
          <p:cNvSpPr/>
          <p:nvPr/>
        </p:nvSpPr>
        <p:spPr>
          <a:xfrm>
            <a:off x="8729821" y="3372068"/>
            <a:ext cx="162000" cy="162000"/>
          </a:xfrm>
          <a:prstGeom prst="ellipse">
            <a:avLst/>
          </a:prstGeom>
          <a:solidFill>
            <a:srgbClr val="3A9F6E"/>
          </a:solidFill>
          <a:ln/>
        </p:spPr>
      </p:sp>
      <p:sp>
        <p:nvSpPr>
          <p:cNvPr id="42" name="Shape 40"/>
          <p:cNvSpPr/>
          <p:nvPr/>
        </p:nvSpPr>
        <p:spPr>
          <a:xfrm>
            <a:off x="9153207" y="3760172"/>
            <a:ext cx="162000" cy="162000"/>
          </a:xfrm>
          <a:prstGeom prst="ellipse">
            <a:avLst/>
          </a:prstGeom>
          <a:solidFill>
            <a:srgbClr val="3A9F6E"/>
          </a:solidFill>
          <a:ln/>
        </p:spPr>
      </p:sp>
      <p:sp>
        <p:nvSpPr>
          <p:cNvPr id="43" name="Shape 41"/>
          <p:cNvSpPr/>
          <p:nvPr/>
        </p:nvSpPr>
        <p:spPr>
          <a:xfrm>
            <a:off x="5241924" y="3205738"/>
            <a:ext cx="4233863" cy="0"/>
          </a:xfrm>
          <a:prstGeom prst="line">
            <a:avLst/>
          </a:prstGeom>
          <a:noFill/>
          <a:ln w="12700">
            <a:solidFill>
              <a:srgbClr val="3A9F6E"/>
            </a:solidFill>
            <a:prstDash val="dash"/>
          </a:ln>
        </p:spPr>
      </p:sp>
      <p:sp>
        <p:nvSpPr>
          <p:cNvPr id="44" name="Shape 42"/>
          <p:cNvSpPr/>
          <p:nvPr/>
        </p:nvSpPr>
        <p:spPr>
          <a:xfrm>
            <a:off x="5241924" y="3810575"/>
            <a:ext cx="4233863" cy="0"/>
          </a:xfrm>
          <a:prstGeom prst="line">
            <a:avLst/>
          </a:prstGeom>
          <a:noFill/>
          <a:ln w="12700">
            <a:solidFill>
              <a:srgbClr val="3A9F6E"/>
            </a:solidFill>
            <a:prstDash val="dash"/>
          </a:ln>
        </p:spPr>
      </p:sp>
      <p:sp>
        <p:nvSpPr>
          <p:cNvPr id="45" name="Shape 43"/>
          <p:cNvSpPr/>
          <p:nvPr/>
        </p:nvSpPr>
        <p:spPr>
          <a:xfrm>
            <a:off x="403225" y="4435574"/>
            <a:ext cx="9274175" cy="554434"/>
          </a:xfrm>
          <a:prstGeom prst="roundRect">
            <a:avLst>
              <a:gd name="adj" fmla="val 18182"/>
            </a:avLst>
          </a:prstGeom>
          <a:solidFill>
            <a:srgbClr val="FFFFFF"/>
          </a:solidFill>
          <a:ln/>
          <a:effectLst>
            <a:outerShdw blurRad="76200" dist="25400" dir="2700000" algn="bl" rotWithShape="0">
              <a:srgbClr val="000000">
                <a:alpha val="8000"/>
              </a:srgbClr>
            </a:outerShdw>
          </a:effectLst>
        </p:spPr>
      </p:sp>
      <p:sp>
        <p:nvSpPr>
          <p:cNvPr id="46" name="Shape 44"/>
          <p:cNvSpPr/>
          <p:nvPr/>
        </p:nvSpPr>
        <p:spPr>
          <a:xfrm>
            <a:off x="554434" y="4617025"/>
            <a:ext cx="201613" cy="201613"/>
          </a:xfrm>
          <a:prstGeom prst="ellipse">
            <a:avLst/>
          </a:prstGeom>
          <a:solidFill>
            <a:srgbClr val="1E2761"/>
          </a:solidFill>
          <a:ln w="12700">
            <a:solidFill>
              <a:srgbClr val="1E2761"/>
            </a:solidFill>
            <a:prstDash val="solid"/>
          </a:ln>
        </p:spPr>
      </p:sp>
      <p:sp>
        <p:nvSpPr>
          <p:cNvPr id="47" name="Text 45"/>
          <p:cNvSpPr/>
          <p:nvPr/>
        </p:nvSpPr>
        <p:spPr>
          <a:xfrm>
            <a:off x="816531" y="4536381"/>
            <a:ext cx="1754028" cy="342741"/>
          </a:xfrm>
          <a:prstGeom prst="rect">
            <a:avLst/>
          </a:prstGeom>
          <a:noFill/>
          <a:ln/>
        </p:spPr>
        <p:txBody>
          <a:bodyPr wrap="square" rtlCol="0" anchor="ctr"/>
          <a:lstStyle/>
          <a:p>
            <a:pPr>
              <a:lnSpc>
                <a:spcPct val="105000"/>
              </a:lnSpc>
            </a:pPr>
            <a:r>
              <a:rPr lang="en-US" sz="1400" dirty="0">
                <a:solidFill>
                  <a:srgbClr val="1A1F3C"/>
                </a:solidFill>
                <a:latin typeface="Calibri" pitchFamily="34" charset="0"/>
                <a:ea typeface="Calibri" pitchFamily="34" charset="-122"/>
                <a:cs typeface="Calibri" pitchFamily="34" charset="-120"/>
              </a:rPr>
              <a:t>Imputacja vs listwise deletion</a:t>
            </a:r>
            <a:endParaRPr lang="en-US" sz="1400" dirty="0"/>
          </a:p>
        </p:txBody>
      </p:sp>
      <p:sp>
        <p:nvSpPr>
          <p:cNvPr id="48" name="Shape 46"/>
          <p:cNvSpPr/>
          <p:nvPr/>
        </p:nvSpPr>
        <p:spPr>
          <a:xfrm>
            <a:off x="2872977" y="4617025"/>
            <a:ext cx="201613" cy="201613"/>
          </a:xfrm>
          <a:prstGeom prst="ellipse">
            <a:avLst/>
          </a:prstGeom>
          <a:solidFill>
            <a:srgbClr val="1E2761"/>
          </a:solidFill>
          <a:ln w="12700">
            <a:solidFill>
              <a:srgbClr val="1E2761"/>
            </a:solidFill>
            <a:prstDash val="solid"/>
          </a:ln>
        </p:spPr>
      </p:sp>
      <p:sp>
        <p:nvSpPr>
          <p:cNvPr id="49" name="Text 47"/>
          <p:cNvSpPr/>
          <p:nvPr/>
        </p:nvSpPr>
        <p:spPr>
          <a:xfrm>
            <a:off x="3135075" y="4536381"/>
            <a:ext cx="1754028" cy="342741"/>
          </a:xfrm>
          <a:prstGeom prst="rect">
            <a:avLst/>
          </a:prstGeom>
          <a:noFill/>
          <a:ln/>
        </p:spPr>
        <p:txBody>
          <a:bodyPr wrap="square" rtlCol="0" anchor="ctr"/>
          <a:lstStyle/>
          <a:p>
            <a:pPr>
              <a:lnSpc>
                <a:spcPct val="105000"/>
              </a:lnSpc>
            </a:pPr>
            <a:r>
              <a:rPr lang="en-US" sz="1400" dirty="0">
                <a:solidFill>
                  <a:srgbClr val="1A1F3C"/>
                </a:solidFill>
                <a:latin typeface="Calibri" pitchFamily="34" charset="0"/>
                <a:ea typeface="Calibri" pitchFamily="34" charset="-122"/>
                <a:cs typeface="Calibri" pitchFamily="34" charset="-120"/>
              </a:rPr>
              <a:t>Standaryzacja zmiennych</a:t>
            </a:r>
            <a:endParaRPr lang="en-US" sz="1400" dirty="0"/>
          </a:p>
        </p:txBody>
      </p:sp>
      <p:sp>
        <p:nvSpPr>
          <p:cNvPr id="50" name="Shape 48"/>
          <p:cNvSpPr/>
          <p:nvPr/>
        </p:nvSpPr>
        <p:spPr>
          <a:xfrm>
            <a:off x="5191521" y="4617025"/>
            <a:ext cx="201613" cy="201613"/>
          </a:xfrm>
          <a:prstGeom prst="ellipse">
            <a:avLst/>
          </a:prstGeom>
          <a:solidFill>
            <a:srgbClr val="1E2761"/>
          </a:solidFill>
          <a:ln w="12700">
            <a:solidFill>
              <a:srgbClr val="1E2761"/>
            </a:solidFill>
            <a:prstDash val="solid"/>
          </a:ln>
        </p:spPr>
      </p:sp>
      <p:sp>
        <p:nvSpPr>
          <p:cNvPr id="51" name="Text 49"/>
          <p:cNvSpPr/>
          <p:nvPr/>
        </p:nvSpPr>
        <p:spPr>
          <a:xfrm>
            <a:off x="5453619" y="4536381"/>
            <a:ext cx="1754028" cy="342741"/>
          </a:xfrm>
          <a:prstGeom prst="rect">
            <a:avLst/>
          </a:prstGeom>
          <a:noFill/>
          <a:ln/>
        </p:spPr>
        <p:txBody>
          <a:bodyPr wrap="square" rtlCol="0" anchor="ctr"/>
          <a:lstStyle/>
          <a:p>
            <a:pPr>
              <a:lnSpc>
                <a:spcPct val="105000"/>
              </a:lnSpc>
            </a:pPr>
            <a:r>
              <a:rPr lang="en-US" sz="1400" dirty="0">
                <a:solidFill>
                  <a:srgbClr val="1A1F3C"/>
                </a:solidFill>
                <a:latin typeface="Calibri" pitchFamily="34" charset="0"/>
                <a:ea typeface="Calibri" pitchFamily="34" charset="-122"/>
                <a:cs typeface="Calibri" pitchFamily="34" charset="-120"/>
              </a:rPr>
              <a:t>Kryteria </a:t>
            </a:r>
            <a:r>
              <a:rPr lang="en-US" sz="1400" dirty="0" err="1">
                <a:solidFill>
                  <a:srgbClr val="1A1F3C"/>
                </a:solidFill>
                <a:latin typeface="Calibri" pitchFamily="34" charset="0"/>
                <a:ea typeface="Calibri" pitchFamily="34" charset="-122"/>
                <a:cs typeface="Calibri" pitchFamily="34" charset="-120"/>
              </a:rPr>
              <a:t>usuwania</a:t>
            </a:r>
            <a:r>
              <a:rPr lang="en-US" sz="1400" dirty="0">
                <a:solidFill>
                  <a:srgbClr val="1A1F3C"/>
                </a:solidFill>
                <a:latin typeface="Calibri" pitchFamily="34" charset="0"/>
                <a:ea typeface="Calibri" pitchFamily="34" charset="-122"/>
                <a:cs typeface="Calibri" pitchFamily="34" charset="-120"/>
              </a:rPr>
              <a:t> - </a:t>
            </a:r>
            <a:r>
              <a:rPr lang="en-US" sz="1400" dirty="0" err="1">
                <a:solidFill>
                  <a:srgbClr val="1A1F3C"/>
                </a:solidFill>
                <a:latin typeface="Calibri" pitchFamily="34" charset="0"/>
                <a:ea typeface="Calibri" pitchFamily="34" charset="-122"/>
                <a:cs typeface="Calibri" pitchFamily="34" charset="-120"/>
              </a:rPr>
              <a:t>prerejestrowane</a:t>
            </a:r>
            <a:endParaRPr lang="en-US" sz="1400" dirty="0">
              <a:solidFill>
                <a:srgbClr val="1A1F3C"/>
              </a:solidFill>
              <a:latin typeface="Calibri" pitchFamily="34" charset="0"/>
              <a:ea typeface="Calibri" pitchFamily="34" charset="-122"/>
              <a:cs typeface="Calibri" pitchFamily="34" charset="-120"/>
            </a:endParaRPr>
          </a:p>
        </p:txBody>
      </p:sp>
      <p:sp>
        <p:nvSpPr>
          <p:cNvPr id="52" name="Shape 50"/>
          <p:cNvSpPr/>
          <p:nvPr/>
        </p:nvSpPr>
        <p:spPr>
          <a:xfrm>
            <a:off x="7510065" y="4617025"/>
            <a:ext cx="201613" cy="201613"/>
          </a:xfrm>
          <a:prstGeom prst="ellipse">
            <a:avLst/>
          </a:prstGeom>
          <a:solidFill>
            <a:srgbClr val="1E2761"/>
          </a:solidFill>
          <a:ln w="12700">
            <a:solidFill>
              <a:srgbClr val="1E2761"/>
            </a:solidFill>
            <a:prstDash val="solid"/>
          </a:ln>
        </p:spPr>
      </p:sp>
      <p:sp>
        <p:nvSpPr>
          <p:cNvPr id="53" name="Text 51"/>
          <p:cNvSpPr/>
          <p:nvPr/>
        </p:nvSpPr>
        <p:spPr>
          <a:xfrm>
            <a:off x="7772163" y="4536381"/>
            <a:ext cx="1754028" cy="342741"/>
          </a:xfrm>
          <a:prstGeom prst="rect">
            <a:avLst/>
          </a:prstGeom>
          <a:noFill/>
          <a:ln/>
        </p:spPr>
        <p:txBody>
          <a:bodyPr wrap="square" rtlCol="0" anchor="ctr"/>
          <a:lstStyle/>
          <a:p>
            <a:pPr>
              <a:lnSpc>
                <a:spcPct val="105000"/>
              </a:lnSpc>
            </a:pPr>
            <a:r>
              <a:rPr lang="en-US" sz="1400" dirty="0">
                <a:solidFill>
                  <a:srgbClr val="1A1F3C"/>
                </a:solidFill>
                <a:latin typeface="Calibri" pitchFamily="34" charset="0"/>
                <a:ea typeface="Calibri" pitchFamily="34" charset="-122"/>
                <a:cs typeface="Calibri" pitchFamily="34" charset="-120"/>
              </a:rPr>
              <a:t>Analiza wrażliwości</a:t>
            </a:r>
            <a:endParaRPr lang="en-US" sz="1400" dirty="0"/>
          </a:p>
        </p:txBody>
      </p:sp>
      <p:sp>
        <p:nvSpPr>
          <p:cNvPr id="54" name="Shape 52"/>
          <p:cNvSpPr/>
          <p:nvPr/>
        </p:nvSpPr>
        <p:spPr>
          <a:xfrm>
            <a:off x="403225" y="5179318"/>
            <a:ext cx="9274175" cy="352822"/>
          </a:xfrm>
          <a:prstGeom prst="roundRect">
            <a:avLst>
              <a:gd name="adj" fmla="val 18182"/>
            </a:avLst>
          </a:prstGeom>
          <a:solidFill>
            <a:srgbClr val="EEF3FF"/>
          </a:solidFill>
          <a:ln>
            <a:solidFill>
              <a:schemeClr val="accent1">
                <a:lumMod val="40000"/>
                <a:lumOff val="60000"/>
              </a:schemeClr>
            </a:solidFill>
          </a:ln>
          <a:effectLst>
            <a:outerShdw blurRad="76200" dist="25400" dir="2700000" algn="bl" rotWithShape="0">
              <a:srgbClr val="000000">
                <a:alpha val="8000"/>
              </a:srgbClr>
            </a:outerShdw>
          </a:effectLst>
        </p:spPr>
        <p:txBody>
          <a:bodyPr anchor="ctr"/>
          <a:lstStyle/>
          <a:p>
            <a:pPr algn="ctr"/>
            <a:r>
              <a:rPr lang="pl-PL" sz="1600" dirty="0"/>
              <a:t>Kryteria usuwania obserwacji ustalamy przed analizą, najlepiej w </a:t>
            </a:r>
            <a:r>
              <a:rPr lang="pl-PL" sz="1600" dirty="0" err="1"/>
              <a:t>prerejestracji</a:t>
            </a:r>
            <a:r>
              <a:rPr lang="pl-PL" sz="1600" dirty="0"/>
              <a:t>, nie po zobaczeniu wyników</a:t>
            </a:r>
          </a:p>
        </p:txBody>
      </p:sp>
    </p:spTree>
    <p:extLst>
      <p:ext uri="{BB962C8B-B14F-4D97-AF65-F5344CB8AC3E}">
        <p14:creationId xmlns:p14="http://schemas.microsoft.com/office/powerpoint/2010/main" val="29718012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1181" name="Shape 36"/>
          <p:cNvSpPr/>
          <p:nvPr/>
        </p:nvSpPr>
        <p:spPr>
          <a:xfrm>
            <a:off x="360" y="360"/>
            <a:ext cx="10079640" cy="1006920"/>
          </a:xfrm>
          <a:prstGeom prst="rect">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182" name="Text 43"/>
          <p:cNvSpPr/>
          <p:nvPr/>
        </p:nvSpPr>
        <p:spPr>
          <a:xfrm>
            <a:off x="453240" y="70560"/>
            <a:ext cx="917244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defTabSz="914400">
              <a:lnSpc>
                <a:spcPct val="100000"/>
              </a:lnSpc>
              <a:tabLst>
                <a:tab pos="0" algn="l"/>
              </a:tabLst>
            </a:pPr>
            <a:r>
              <a:rPr lang="pl-PL" sz="2200" b="1" u="none" strike="noStrike" dirty="0">
                <a:solidFill>
                  <a:srgbClr val="FFFFFF"/>
                </a:solidFill>
                <a:effectLst/>
                <a:uFillTx/>
                <a:latin typeface="Cambria"/>
                <a:ea typeface="Cambria"/>
              </a:rPr>
              <a:t>KLASYCZNE STATYSTYKI NADAL SĄ POTRZEBNE</a:t>
            </a:r>
            <a:endParaRPr lang="pl-PL" sz="2200" b="0" u="none" strike="noStrike" dirty="0">
              <a:solidFill>
                <a:srgbClr val="000000"/>
              </a:solidFill>
              <a:effectLst/>
              <a:uFillTx/>
              <a:latin typeface="Arial"/>
            </a:endParaRPr>
          </a:p>
        </p:txBody>
      </p:sp>
      <p:sp>
        <p:nvSpPr>
          <p:cNvPr id="1183" name="Text 44"/>
          <p:cNvSpPr/>
          <p:nvPr/>
        </p:nvSpPr>
        <p:spPr>
          <a:xfrm>
            <a:off x="453240" y="594720"/>
            <a:ext cx="9172440" cy="331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pl-PL" sz="1400" b="0" i="1" u="none" strike="noStrike">
                <a:solidFill>
                  <a:srgbClr val="CADCFC"/>
                </a:solidFill>
                <a:effectLst/>
                <a:uFillTx/>
                <a:latin typeface="Calibri"/>
                <a:ea typeface="Calibri"/>
              </a:rPr>
              <a:t>Fundament analizy: czego ML nie zastąpi</a:t>
            </a:r>
            <a:endParaRPr lang="pl-PL" sz="1400" b="0" u="none" strike="noStrike">
              <a:solidFill>
                <a:srgbClr val="000000"/>
              </a:solidFill>
              <a:effectLst/>
              <a:uFillTx/>
              <a:latin typeface="Arial"/>
            </a:endParaRPr>
          </a:p>
        </p:txBody>
      </p:sp>
      <p:sp>
        <p:nvSpPr>
          <p:cNvPr id="1184" name="Shape 37"/>
          <p:cNvSpPr/>
          <p:nvPr/>
        </p:nvSpPr>
        <p:spPr>
          <a:xfrm>
            <a:off x="403200" y="1108800"/>
            <a:ext cx="2993040" cy="1631880"/>
          </a:xfrm>
          <a:prstGeom prst="roundRect">
            <a:avLst>
              <a:gd name="adj" fmla="val 6173"/>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600" b="0" u="none" strike="noStrike">
              <a:solidFill>
                <a:srgbClr val="000000"/>
              </a:solidFill>
              <a:effectLst/>
              <a:uFillTx/>
              <a:latin typeface="Arial"/>
            </a:endParaRPr>
          </a:p>
        </p:txBody>
      </p:sp>
      <p:sp>
        <p:nvSpPr>
          <p:cNvPr id="1185" name="Shape 38"/>
          <p:cNvSpPr/>
          <p:nvPr/>
        </p:nvSpPr>
        <p:spPr>
          <a:xfrm>
            <a:off x="402840" y="1108800"/>
            <a:ext cx="2993040" cy="462600"/>
          </a:xfrm>
          <a:prstGeom prst="roundRect">
            <a:avLst>
              <a:gd name="adj" fmla="val 17391"/>
            </a:avLst>
          </a:prstGeom>
          <a:solidFill>
            <a:srgbClr val="1E276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600" b="0" u="none" strike="noStrike">
              <a:solidFill>
                <a:srgbClr val="FFFFFF"/>
              </a:solidFill>
              <a:effectLst/>
              <a:uFillTx/>
              <a:latin typeface="Arial"/>
            </a:endParaRPr>
          </a:p>
        </p:txBody>
      </p:sp>
      <p:sp>
        <p:nvSpPr>
          <p:cNvPr id="1186" name="Text 45"/>
          <p:cNvSpPr/>
          <p:nvPr/>
        </p:nvSpPr>
        <p:spPr>
          <a:xfrm>
            <a:off x="503640" y="1108800"/>
            <a:ext cx="2791440" cy="46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b="1" u="none" strike="noStrike" dirty="0">
                <a:solidFill>
                  <a:srgbClr val="FFFFFF"/>
                </a:solidFill>
                <a:effectLst/>
                <a:uFillTx/>
                <a:latin typeface="Cambria"/>
                <a:ea typeface="Cambria"/>
              </a:rPr>
              <a:t>ANOVA i jej warianty</a:t>
            </a:r>
            <a:endParaRPr lang="pl-PL" b="0" u="none" strike="noStrike" dirty="0">
              <a:solidFill>
                <a:srgbClr val="000000"/>
              </a:solidFill>
              <a:effectLst/>
              <a:uFillTx/>
              <a:latin typeface="Arial"/>
            </a:endParaRPr>
          </a:p>
        </p:txBody>
      </p:sp>
      <p:sp>
        <p:nvSpPr>
          <p:cNvPr id="1187" name="Text 46"/>
          <p:cNvSpPr/>
          <p:nvPr/>
        </p:nvSpPr>
        <p:spPr>
          <a:xfrm>
            <a:off x="544320" y="1663200"/>
            <a:ext cx="2710800" cy="986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25000"/>
              </a:lnSpc>
              <a:tabLst>
                <a:tab pos="0" algn="l"/>
              </a:tabLst>
            </a:pPr>
            <a:r>
              <a:rPr lang="pl-PL" sz="1600" b="0" u="none" strike="noStrike">
                <a:solidFill>
                  <a:srgbClr val="1A1F3C"/>
                </a:solidFill>
                <a:effectLst/>
                <a:uFillTx/>
                <a:latin typeface="Calibri"/>
                <a:ea typeface="Calibri"/>
              </a:rPr>
              <a:t>Testy różnic między warunkami, efekty główne i interakcje.</a:t>
            </a:r>
            <a:endParaRPr lang="pl-PL" sz="1600" b="0" u="none" strike="noStrike">
              <a:solidFill>
                <a:srgbClr val="000000"/>
              </a:solidFill>
              <a:effectLst/>
              <a:uFillTx/>
              <a:latin typeface="Arial"/>
            </a:endParaRPr>
          </a:p>
        </p:txBody>
      </p:sp>
      <p:sp>
        <p:nvSpPr>
          <p:cNvPr id="1188" name="Shape 39"/>
          <p:cNvSpPr/>
          <p:nvPr/>
        </p:nvSpPr>
        <p:spPr>
          <a:xfrm>
            <a:off x="3538080" y="1108800"/>
            <a:ext cx="2993040" cy="1631880"/>
          </a:xfrm>
          <a:prstGeom prst="roundRect">
            <a:avLst>
              <a:gd name="adj" fmla="val 6173"/>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600" b="0" u="none" strike="noStrike">
              <a:solidFill>
                <a:srgbClr val="000000"/>
              </a:solidFill>
              <a:effectLst/>
              <a:uFillTx/>
              <a:latin typeface="Arial"/>
            </a:endParaRPr>
          </a:p>
        </p:txBody>
      </p:sp>
      <p:sp>
        <p:nvSpPr>
          <p:cNvPr id="1189" name="Shape 50"/>
          <p:cNvSpPr/>
          <p:nvPr/>
        </p:nvSpPr>
        <p:spPr>
          <a:xfrm>
            <a:off x="3538080" y="1108800"/>
            <a:ext cx="2993040" cy="462600"/>
          </a:xfrm>
          <a:prstGeom prst="roundRect">
            <a:avLst>
              <a:gd name="adj" fmla="val 17391"/>
            </a:avLst>
          </a:prstGeom>
          <a:solidFill>
            <a:srgbClr val="2D3B8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600" b="0" u="none" strike="noStrike">
              <a:solidFill>
                <a:srgbClr val="FFFFFF"/>
              </a:solidFill>
              <a:effectLst/>
              <a:uFillTx/>
              <a:latin typeface="Arial"/>
            </a:endParaRPr>
          </a:p>
        </p:txBody>
      </p:sp>
      <p:sp>
        <p:nvSpPr>
          <p:cNvPr id="1190" name="Text 47"/>
          <p:cNvSpPr/>
          <p:nvPr/>
        </p:nvSpPr>
        <p:spPr>
          <a:xfrm>
            <a:off x="3638880" y="1108800"/>
            <a:ext cx="2791440" cy="46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b="1" u="none" strike="noStrike" dirty="0">
                <a:solidFill>
                  <a:srgbClr val="FFFFFF"/>
                </a:solidFill>
                <a:effectLst/>
                <a:uFillTx/>
                <a:latin typeface="Cambria"/>
                <a:ea typeface="Cambria"/>
              </a:rPr>
              <a:t>Regresja liniowa/</a:t>
            </a:r>
            <a:r>
              <a:rPr lang="pl-PL" b="1" u="none" strike="noStrike" dirty="0" err="1">
                <a:solidFill>
                  <a:srgbClr val="FFFFFF"/>
                </a:solidFill>
                <a:effectLst/>
                <a:uFillTx/>
                <a:latin typeface="Cambria"/>
                <a:ea typeface="Cambria"/>
              </a:rPr>
              <a:t>logist</a:t>
            </a:r>
            <a:r>
              <a:rPr lang="pl-PL" b="1" u="none" strike="noStrike" dirty="0">
                <a:solidFill>
                  <a:srgbClr val="FFFFFF"/>
                </a:solidFill>
                <a:effectLst/>
                <a:uFillTx/>
                <a:latin typeface="Cambria"/>
                <a:ea typeface="Cambria"/>
              </a:rPr>
              <a:t>.</a:t>
            </a:r>
            <a:endParaRPr lang="pl-PL" b="0" u="none" strike="noStrike" dirty="0">
              <a:solidFill>
                <a:srgbClr val="000000"/>
              </a:solidFill>
              <a:effectLst/>
              <a:uFillTx/>
              <a:latin typeface="Arial"/>
            </a:endParaRPr>
          </a:p>
        </p:txBody>
      </p:sp>
      <p:sp>
        <p:nvSpPr>
          <p:cNvPr id="1191" name="Text 48"/>
          <p:cNvSpPr/>
          <p:nvPr/>
        </p:nvSpPr>
        <p:spPr>
          <a:xfrm>
            <a:off x="3679200" y="1663200"/>
            <a:ext cx="2710800" cy="986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25000"/>
              </a:lnSpc>
              <a:tabLst>
                <a:tab pos="0" algn="l"/>
              </a:tabLst>
            </a:pPr>
            <a:r>
              <a:rPr lang="pl-PL" sz="1600" b="0" u="none" strike="noStrike">
                <a:solidFill>
                  <a:srgbClr val="1A1F3C"/>
                </a:solidFill>
                <a:effectLst/>
                <a:uFillTx/>
                <a:latin typeface="Calibri"/>
                <a:ea typeface="Calibri"/>
              </a:rPr>
              <a:t>Modelowanie predyktorów zmiennych wynikowych.</a:t>
            </a:r>
            <a:endParaRPr lang="pl-PL" sz="1600" b="0" u="none" strike="noStrike">
              <a:solidFill>
                <a:srgbClr val="000000"/>
              </a:solidFill>
              <a:effectLst/>
              <a:uFillTx/>
              <a:latin typeface="Arial"/>
            </a:endParaRPr>
          </a:p>
        </p:txBody>
      </p:sp>
      <p:sp>
        <p:nvSpPr>
          <p:cNvPr id="1192" name="Shape 51"/>
          <p:cNvSpPr/>
          <p:nvPr/>
        </p:nvSpPr>
        <p:spPr>
          <a:xfrm>
            <a:off x="6673320" y="1108800"/>
            <a:ext cx="2993040" cy="1631880"/>
          </a:xfrm>
          <a:prstGeom prst="roundRect">
            <a:avLst>
              <a:gd name="adj" fmla="val 6173"/>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600" b="0" u="none" strike="noStrike">
              <a:solidFill>
                <a:srgbClr val="000000"/>
              </a:solidFill>
              <a:effectLst/>
              <a:uFillTx/>
              <a:latin typeface="Arial"/>
            </a:endParaRPr>
          </a:p>
        </p:txBody>
      </p:sp>
      <p:sp>
        <p:nvSpPr>
          <p:cNvPr id="1193" name="Shape 52"/>
          <p:cNvSpPr/>
          <p:nvPr/>
        </p:nvSpPr>
        <p:spPr>
          <a:xfrm>
            <a:off x="6673320" y="1108800"/>
            <a:ext cx="2993040" cy="462600"/>
          </a:xfrm>
          <a:prstGeom prst="roundRect">
            <a:avLst>
              <a:gd name="adj" fmla="val 17391"/>
            </a:avLst>
          </a:prstGeom>
          <a:solidFill>
            <a:srgbClr val="5B8FF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600" b="0" u="none" strike="noStrike">
              <a:solidFill>
                <a:srgbClr val="FFFFFF"/>
              </a:solidFill>
              <a:effectLst/>
              <a:uFillTx/>
              <a:latin typeface="Arial"/>
            </a:endParaRPr>
          </a:p>
        </p:txBody>
      </p:sp>
      <p:sp>
        <p:nvSpPr>
          <p:cNvPr id="1194" name="Text 49"/>
          <p:cNvSpPr/>
          <p:nvPr/>
        </p:nvSpPr>
        <p:spPr>
          <a:xfrm>
            <a:off x="6774120" y="1108800"/>
            <a:ext cx="2791440" cy="46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b="1" u="none" strike="noStrike" dirty="0">
                <a:solidFill>
                  <a:srgbClr val="FFFFFF"/>
                </a:solidFill>
                <a:effectLst/>
                <a:uFillTx/>
                <a:latin typeface="Cambria"/>
                <a:ea typeface="Cambria"/>
              </a:rPr>
              <a:t>Modele mieszane (LMM)</a:t>
            </a:r>
            <a:endParaRPr lang="pl-PL" b="0" u="none" strike="noStrike" dirty="0">
              <a:solidFill>
                <a:srgbClr val="000000"/>
              </a:solidFill>
              <a:effectLst/>
              <a:uFillTx/>
              <a:latin typeface="Arial"/>
            </a:endParaRPr>
          </a:p>
        </p:txBody>
      </p:sp>
      <p:sp>
        <p:nvSpPr>
          <p:cNvPr id="1195" name="Text 50"/>
          <p:cNvSpPr/>
          <p:nvPr/>
        </p:nvSpPr>
        <p:spPr>
          <a:xfrm>
            <a:off x="6814080" y="1663200"/>
            <a:ext cx="2710800" cy="986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25000"/>
              </a:lnSpc>
              <a:tabLst>
                <a:tab pos="0" algn="l"/>
              </a:tabLst>
            </a:pPr>
            <a:r>
              <a:rPr lang="pl-PL" sz="1600" b="0" u="none" strike="noStrike">
                <a:solidFill>
                  <a:srgbClr val="1A1F3C"/>
                </a:solidFill>
                <a:effectLst/>
                <a:uFillTx/>
                <a:latin typeface="Calibri"/>
                <a:ea typeface="Calibri"/>
              </a:rPr>
              <a:t>Dane hierarchiczne, pomiary powtarzane, EMA.</a:t>
            </a:r>
            <a:endParaRPr lang="pl-PL" sz="1600" b="0" u="none" strike="noStrike">
              <a:solidFill>
                <a:srgbClr val="000000"/>
              </a:solidFill>
              <a:effectLst/>
              <a:uFillTx/>
              <a:latin typeface="Arial"/>
            </a:endParaRPr>
          </a:p>
        </p:txBody>
      </p:sp>
      <p:sp>
        <p:nvSpPr>
          <p:cNvPr id="1196" name="Shape 53"/>
          <p:cNvSpPr/>
          <p:nvPr/>
        </p:nvSpPr>
        <p:spPr>
          <a:xfrm>
            <a:off x="403200" y="2903040"/>
            <a:ext cx="2993040" cy="1631880"/>
          </a:xfrm>
          <a:prstGeom prst="roundRect">
            <a:avLst>
              <a:gd name="adj" fmla="val 6173"/>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600" b="0" u="none" strike="noStrike">
              <a:solidFill>
                <a:srgbClr val="000000"/>
              </a:solidFill>
              <a:effectLst/>
              <a:uFillTx/>
              <a:latin typeface="Arial"/>
            </a:endParaRPr>
          </a:p>
        </p:txBody>
      </p:sp>
      <p:sp>
        <p:nvSpPr>
          <p:cNvPr id="1197" name="Shape 54"/>
          <p:cNvSpPr/>
          <p:nvPr/>
        </p:nvSpPr>
        <p:spPr>
          <a:xfrm>
            <a:off x="402840" y="2903040"/>
            <a:ext cx="2993040" cy="462600"/>
          </a:xfrm>
          <a:prstGeom prst="roundRect">
            <a:avLst>
              <a:gd name="adj" fmla="val 17391"/>
            </a:avLst>
          </a:prstGeom>
          <a:solidFill>
            <a:srgbClr val="2D7DD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600" b="0" u="none" strike="noStrike">
              <a:solidFill>
                <a:srgbClr val="FFFFFF"/>
              </a:solidFill>
              <a:effectLst/>
              <a:uFillTx/>
              <a:latin typeface="Arial"/>
            </a:endParaRPr>
          </a:p>
        </p:txBody>
      </p:sp>
      <p:sp>
        <p:nvSpPr>
          <p:cNvPr id="1198" name="Text 51"/>
          <p:cNvSpPr/>
          <p:nvPr/>
        </p:nvSpPr>
        <p:spPr>
          <a:xfrm>
            <a:off x="503640" y="2903040"/>
            <a:ext cx="2791440" cy="46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b="1" u="none" strike="noStrike" dirty="0">
                <a:solidFill>
                  <a:srgbClr val="FFFFFF"/>
                </a:solidFill>
                <a:effectLst/>
                <a:uFillTx/>
                <a:latin typeface="Cambria"/>
                <a:ea typeface="Cambria"/>
              </a:rPr>
              <a:t>Korekcje wielokrotności</a:t>
            </a:r>
            <a:endParaRPr lang="pl-PL" b="0" u="none" strike="noStrike" dirty="0">
              <a:solidFill>
                <a:srgbClr val="000000"/>
              </a:solidFill>
              <a:effectLst/>
              <a:uFillTx/>
              <a:latin typeface="Arial"/>
            </a:endParaRPr>
          </a:p>
        </p:txBody>
      </p:sp>
      <p:sp>
        <p:nvSpPr>
          <p:cNvPr id="1199" name="Text 69"/>
          <p:cNvSpPr/>
          <p:nvPr/>
        </p:nvSpPr>
        <p:spPr>
          <a:xfrm>
            <a:off x="544320" y="3457440"/>
            <a:ext cx="2710800" cy="986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25000"/>
              </a:lnSpc>
              <a:tabLst>
                <a:tab pos="0" algn="l"/>
              </a:tabLst>
            </a:pPr>
            <a:r>
              <a:rPr lang="pl-PL" sz="1600" b="0" u="none" strike="noStrike" dirty="0" err="1">
                <a:solidFill>
                  <a:srgbClr val="1A1F3C"/>
                </a:solidFill>
                <a:effectLst/>
                <a:uFillTx/>
                <a:latin typeface="Calibri"/>
                <a:ea typeface="Calibri"/>
              </a:rPr>
              <a:t>Bonferroni</a:t>
            </a:r>
            <a:r>
              <a:rPr lang="pl-PL" sz="1600" b="0" u="none" strike="noStrike" dirty="0">
                <a:solidFill>
                  <a:srgbClr val="1A1F3C"/>
                </a:solidFill>
                <a:effectLst/>
                <a:uFillTx/>
                <a:latin typeface="Calibri"/>
                <a:ea typeface="Calibri"/>
              </a:rPr>
              <a:t>, FDR (</a:t>
            </a:r>
            <a:r>
              <a:rPr lang="pl-PL" sz="1600" b="0" u="none" strike="noStrike" dirty="0" err="1">
                <a:solidFill>
                  <a:srgbClr val="1A1F3C"/>
                </a:solidFill>
                <a:effectLst/>
                <a:uFillTx/>
                <a:latin typeface="Calibri"/>
                <a:ea typeface="Calibri"/>
              </a:rPr>
              <a:t>Benjamini-Hochberg</a:t>
            </a:r>
            <a:r>
              <a:rPr lang="pl-PL" sz="1600" b="0" u="none" strike="noStrike" dirty="0">
                <a:solidFill>
                  <a:srgbClr val="1A1F3C"/>
                </a:solidFill>
                <a:effectLst/>
                <a:uFillTx/>
                <a:latin typeface="Calibri"/>
                <a:ea typeface="Calibri"/>
              </a:rPr>
              <a:t>) - kontrola α.</a:t>
            </a:r>
            <a:endParaRPr lang="pl-PL" sz="1600" b="0" u="none" strike="noStrike" dirty="0">
              <a:solidFill>
                <a:srgbClr val="000000"/>
              </a:solidFill>
              <a:effectLst/>
              <a:uFillTx/>
              <a:latin typeface="Arial"/>
            </a:endParaRPr>
          </a:p>
        </p:txBody>
      </p:sp>
      <p:sp>
        <p:nvSpPr>
          <p:cNvPr id="1200" name="Shape 55"/>
          <p:cNvSpPr/>
          <p:nvPr/>
        </p:nvSpPr>
        <p:spPr>
          <a:xfrm>
            <a:off x="3538080" y="2903040"/>
            <a:ext cx="2993040" cy="1631880"/>
          </a:xfrm>
          <a:prstGeom prst="roundRect">
            <a:avLst>
              <a:gd name="adj" fmla="val 6173"/>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600" b="0" u="none" strike="noStrike">
              <a:solidFill>
                <a:srgbClr val="000000"/>
              </a:solidFill>
              <a:effectLst/>
              <a:uFillTx/>
              <a:latin typeface="Arial"/>
            </a:endParaRPr>
          </a:p>
        </p:txBody>
      </p:sp>
      <p:sp>
        <p:nvSpPr>
          <p:cNvPr id="1201" name="Shape 56"/>
          <p:cNvSpPr/>
          <p:nvPr/>
        </p:nvSpPr>
        <p:spPr>
          <a:xfrm>
            <a:off x="3538080" y="2903040"/>
            <a:ext cx="2993040" cy="462600"/>
          </a:xfrm>
          <a:prstGeom prst="roundRect">
            <a:avLst>
              <a:gd name="adj" fmla="val 17391"/>
            </a:avLst>
          </a:prstGeom>
          <a:solidFill>
            <a:srgbClr val="3A9F6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600" b="0" u="none" strike="noStrike">
              <a:solidFill>
                <a:srgbClr val="FFFFFF"/>
              </a:solidFill>
              <a:effectLst/>
              <a:uFillTx/>
              <a:latin typeface="Arial"/>
            </a:endParaRPr>
          </a:p>
        </p:txBody>
      </p:sp>
      <p:sp>
        <p:nvSpPr>
          <p:cNvPr id="1202" name="Text 70"/>
          <p:cNvSpPr/>
          <p:nvPr/>
        </p:nvSpPr>
        <p:spPr>
          <a:xfrm>
            <a:off x="3638880" y="2903040"/>
            <a:ext cx="2791440" cy="46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b="1" u="none" strike="noStrike" dirty="0">
                <a:solidFill>
                  <a:srgbClr val="FFFFFF"/>
                </a:solidFill>
                <a:effectLst/>
                <a:uFillTx/>
                <a:latin typeface="Cambria"/>
                <a:ea typeface="Cambria"/>
              </a:rPr>
              <a:t>Wielkość efektu</a:t>
            </a:r>
            <a:endParaRPr lang="pl-PL" b="0" u="none" strike="noStrike" dirty="0">
              <a:solidFill>
                <a:srgbClr val="000000"/>
              </a:solidFill>
              <a:effectLst/>
              <a:uFillTx/>
              <a:latin typeface="Arial"/>
            </a:endParaRPr>
          </a:p>
        </p:txBody>
      </p:sp>
      <p:sp>
        <p:nvSpPr>
          <p:cNvPr id="1203" name="Text 71"/>
          <p:cNvSpPr/>
          <p:nvPr/>
        </p:nvSpPr>
        <p:spPr>
          <a:xfrm>
            <a:off x="3679200" y="3457440"/>
            <a:ext cx="2710800" cy="986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25000"/>
              </a:lnSpc>
              <a:tabLst>
                <a:tab pos="0" algn="l"/>
              </a:tabLst>
            </a:pPr>
            <a:r>
              <a:rPr lang="pl-PL" sz="1600" b="0" u="none" strike="noStrike">
                <a:solidFill>
                  <a:srgbClr val="1A1F3C"/>
                </a:solidFill>
                <a:effectLst/>
                <a:uFillTx/>
                <a:latin typeface="Calibri"/>
                <a:ea typeface="Calibri"/>
              </a:rPr>
              <a:t>Cohen's d, η², ω², r , a nie tylko p &lt; 0,05.</a:t>
            </a:r>
            <a:endParaRPr lang="pl-PL" sz="1600" b="0" u="none" strike="noStrike">
              <a:solidFill>
                <a:srgbClr val="000000"/>
              </a:solidFill>
              <a:effectLst/>
              <a:uFillTx/>
              <a:latin typeface="Arial"/>
            </a:endParaRPr>
          </a:p>
        </p:txBody>
      </p:sp>
      <p:sp>
        <p:nvSpPr>
          <p:cNvPr id="1204" name="Shape 57"/>
          <p:cNvSpPr/>
          <p:nvPr/>
        </p:nvSpPr>
        <p:spPr>
          <a:xfrm>
            <a:off x="6673320" y="2903040"/>
            <a:ext cx="2993040" cy="1631880"/>
          </a:xfrm>
          <a:prstGeom prst="roundRect">
            <a:avLst>
              <a:gd name="adj" fmla="val 6173"/>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600" b="0" u="none" strike="noStrike">
              <a:solidFill>
                <a:srgbClr val="000000"/>
              </a:solidFill>
              <a:effectLst/>
              <a:uFillTx/>
              <a:latin typeface="Arial"/>
            </a:endParaRPr>
          </a:p>
        </p:txBody>
      </p:sp>
      <p:sp>
        <p:nvSpPr>
          <p:cNvPr id="1205" name="Shape 58"/>
          <p:cNvSpPr/>
          <p:nvPr/>
        </p:nvSpPr>
        <p:spPr>
          <a:xfrm>
            <a:off x="6673320" y="2903040"/>
            <a:ext cx="2993040" cy="462600"/>
          </a:xfrm>
          <a:prstGeom prst="roundRect">
            <a:avLst>
              <a:gd name="adj" fmla="val 17391"/>
            </a:avLst>
          </a:prstGeom>
          <a:solidFill>
            <a:srgbClr val="7B5EA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600" b="0" u="none" strike="noStrike">
              <a:solidFill>
                <a:srgbClr val="FFFFFF"/>
              </a:solidFill>
              <a:effectLst/>
              <a:uFillTx/>
              <a:latin typeface="Arial"/>
            </a:endParaRPr>
          </a:p>
        </p:txBody>
      </p:sp>
      <p:sp>
        <p:nvSpPr>
          <p:cNvPr id="1206" name="Text 72"/>
          <p:cNvSpPr/>
          <p:nvPr/>
        </p:nvSpPr>
        <p:spPr>
          <a:xfrm>
            <a:off x="6774120" y="2903040"/>
            <a:ext cx="2791440" cy="46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b="1" u="none" strike="noStrike" dirty="0">
                <a:solidFill>
                  <a:srgbClr val="FFFFFF"/>
                </a:solidFill>
                <a:effectLst/>
                <a:uFillTx/>
                <a:latin typeface="Cambria"/>
                <a:ea typeface="Cambria"/>
              </a:rPr>
              <a:t>Przedziały ufności</a:t>
            </a:r>
            <a:endParaRPr lang="pl-PL" b="0" u="none" strike="noStrike" dirty="0">
              <a:solidFill>
                <a:srgbClr val="000000"/>
              </a:solidFill>
              <a:effectLst/>
              <a:uFillTx/>
              <a:latin typeface="Arial"/>
            </a:endParaRPr>
          </a:p>
        </p:txBody>
      </p:sp>
      <p:sp>
        <p:nvSpPr>
          <p:cNvPr id="1207" name="Text 73"/>
          <p:cNvSpPr/>
          <p:nvPr/>
        </p:nvSpPr>
        <p:spPr>
          <a:xfrm>
            <a:off x="6814080" y="3457440"/>
            <a:ext cx="2710800" cy="986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25000"/>
              </a:lnSpc>
              <a:tabLst>
                <a:tab pos="0" algn="l"/>
              </a:tabLst>
            </a:pPr>
            <a:r>
              <a:rPr lang="pl-PL" sz="1600" b="0" u="none" strike="noStrike">
                <a:solidFill>
                  <a:srgbClr val="1A1F3C"/>
                </a:solidFill>
                <a:effectLst/>
                <a:uFillTx/>
                <a:latin typeface="Calibri"/>
                <a:ea typeface="Calibri"/>
              </a:rPr>
              <a:t>Zamiast lub obok wartości p.</a:t>
            </a:r>
            <a:endParaRPr lang="pl-PL" sz="1600" b="0" u="none" strike="noStrike">
              <a:solidFill>
                <a:srgbClr val="000000"/>
              </a:solidFill>
              <a:effectLst/>
              <a:uFillTx/>
              <a:latin typeface="Arial"/>
            </a:endParaRPr>
          </a:p>
        </p:txBody>
      </p:sp>
      <p:sp>
        <p:nvSpPr>
          <p:cNvPr id="1208" name="Shape 59"/>
          <p:cNvSpPr/>
          <p:nvPr/>
        </p:nvSpPr>
        <p:spPr>
          <a:xfrm>
            <a:off x="402840" y="4819649"/>
            <a:ext cx="9273240" cy="542535"/>
          </a:xfrm>
          <a:prstGeom prst="roundRect">
            <a:avLst>
              <a:gd name="adj" fmla="val 16129"/>
            </a:avLst>
          </a:prstGeom>
          <a:solidFill>
            <a:srgbClr val="EEF3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pPr algn="ctr"/>
            <a:r>
              <a:rPr lang="pl-PL" dirty="0">
                <a:solidFill>
                  <a:srgbClr val="1E2761"/>
                </a:solidFill>
                <a:ea typeface="Calibri"/>
              </a:rPr>
              <a:t>Wartość p mówi o prawdopodobieństwie przy H₀, a nie o wielkości efektu. Raportujmy oba.</a:t>
            </a:r>
            <a:endParaRPr lang="pl-PL" dirty="0">
              <a:solidFill>
                <a:srgbClr val="000000"/>
              </a:solidFill>
              <a:latin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1210" name="Shape 567"/>
          <p:cNvSpPr/>
          <p:nvPr/>
        </p:nvSpPr>
        <p:spPr>
          <a:xfrm>
            <a:off x="360" y="360"/>
            <a:ext cx="10079640" cy="1006920"/>
          </a:xfrm>
          <a:prstGeom prst="rect">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211" name="Text 591"/>
          <p:cNvSpPr/>
          <p:nvPr/>
        </p:nvSpPr>
        <p:spPr>
          <a:xfrm>
            <a:off x="453240" y="70560"/>
            <a:ext cx="917244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defTabSz="914400">
              <a:lnSpc>
                <a:spcPct val="100000"/>
              </a:lnSpc>
              <a:tabLst>
                <a:tab pos="0" algn="l"/>
              </a:tabLst>
            </a:pPr>
            <a:r>
              <a:rPr lang="pl-PL" sz="2200" b="1" u="none" strike="noStrike" dirty="0">
                <a:solidFill>
                  <a:srgbClr val="FFFFFF"/>
                </a:solidFill>
                <a:effectLst/>
                <a:uFillTx/>
                <a:latin typeface="Cambria"/>
                <a:ea typeface="Cambria"/>
              </a:rPr>
              <a:t>JASP, JAMOVI, R I PYTHON</a:t>
            </a:r>
            <a:endParaRPr lang="pl-PL" sz="2200" b="0" u="none" strike="noStrike" dirty="0">
              <a:solidFill>
                <a:srgbClr val="000000"/>
              </a:solidFill>
              <a:effectLst/>
              <a:uFillTx/>
              <a:latin typeface="Arial"/>
            </a:endParaRPr>
          </a:p>
        </p:txBody>
      </p:sp>
      <p:sp>
        <p:nvSpPr>
          <p:cNvPr id="1212" name="Text 592"/>
          <p:cNvSpPr/>
          <p:nvPr/>
        </p:nvSpPr>
        <p:spPr>
          <a:xfrm>
            <a:off x="453240" y="594720"/>
            <a:ext cx="9172440" cy="331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pl-PL" sz="1400" b="0" i="1" u="none" strike="noStrike">
                <a:solidFill>
                  <a:srgbClr val="CADCFC"/>
                </a:solidFill>
                <a:effectLst/>
                <a:uFillTx/>
                <a:latin typeface="Calibri"/>
                <a:ea typeface="Calibri"/>
              </a:rPr>
              <a:t>Wybór narzędzia analitycznego: kryteria i porównanie</a:t>
            </a:r>
            <a:endParaRPr lang="pl-PL" sz="1400" b="0" u="none" strike="noStrike">
              <a:solidFill>
                <a:srgbClr val="000000"/>
              </a:solidFill>
              <a:effectLst/>
              <a:uFillTx/>
              <a:latin typeface="Arial"/>
            </a:endParaRPr>
          </a:p>
        </p:txBody>
      </p:sp>
      <p:sp>
        <p:nvSpPr>
          <p:cNvPr id="1213" name="Shape 568"/>
          <p:cNvSpPr/>
          <p:nvPr/>
        </p:nvSpPr>
        <p:spPr>
          <a:xfrm>
            <a:off x="402840" y="1213575"/>
            <a:ext cx="9273240" cy="429645"/>
          </a:xfrm>
          <a:prstGeom prst="roundRect">
            <a:avLst>
              <a:gd name="adj" fmla="val 15385"/>
            </a:avLst>
          </a:prstGeom>
          <a:solidFill>
            <a:srgbClr val="1E276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400" b="0" u="none" strike="noStrike">
              <a:solidFill>
                <a:srgbClr val="FFFFFF"/>
              </a:solidFill>
              <a:effectLst/>
              <a:uFillTx/>
              <a:latin typeface="Arial"/>
            </a:endParaRPr>
          </a:p>
        </p:txBody>
      </p:sp>
      <p:sp>
        <p:nvSpPr>
          <p:cNvPr id="1214" name="Text 593"/>
          <p:cNvSpPr/>
          <p:nvPr/>
        </p:nvSpPr>
        <p:spPr>
          <a:xfrm>
            <a:off x="483480" y="1213575"/>
            <a:ext cx="1631880" cy="382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500" b="1" u="none" strike="noStrike">
                <a:solidFill>
                  <a:srgbClr val="FFFFFF"/>
                </a:solidFill>
                <a:effectLst/>
                <a:uFillTx/>
                <a:latin typeface="Cambria"/>
                <a:ea typeface="Cambria"/>
              </a:rPr>
              <a:t>Narzędzie</a:t>
            </a:r>
            <a:endParaRPr lang="pl-PL" sz="1500" b="0" u="none" strike="noStrike">
              <a:solidFill>
                <a:srgbClr val="000000"/>
              </a:solidFill>
              <a:effectLst/>
              <a:uFillTx/>
              <a:latin typeface="Arial"/>
            </a:endParaRPr>
          </a:p>
        </p:txBody>
      </p:sp>
      <p:sp>
        <p:nvSpPr>
          <p:cNvPr id="1215" name="Text 594"/>
          <p:cNvSpPr/>
          <p:nvPr/>
        </p:nvSpPr>
        <p:spPr>
          <a:xfrm>
            <a:off x="2197440" y="1213575"/>
            <a:ext cx="1783440" cy="382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500" b="1" u="none" strike="noStrike">
                <a:solidFill>
                  <a:srgbClr val="FFFFFF"/>
                </a:solidFill>
                <a:effectLst/>
                <a:uFillTx/>
                <a:latin typeface="Cambria"/>
                <a:ea typeface="Cambria"/>
              </a:rPr>
              <a:t>Krzywa uczenia</a:t>
            </a:r>
            <a:endParaRPr lang="pl-PL" sz="1500" b="0" u="none" strike="noStrike">
              <a:solidFill>
                <a:srgbClr val="000000"/>
              </a:solidFill>
              <a:effectLst/>
              <a:uFillTx/>
              <a:latin typeface="Arial"/>
            </a:endParaRPr>
          </a:p>
        </p:txBody>
      </p:sp>
      <p:sp>
        <p:nvSpPr>
          <p:cNvPr id="1216" name="Text 595"/>
          <p:cNvSpPr/>
          <p:nvPr/>
        </p:nvSpPr>
        <p:spPr>
          <a:xfrm>
            <a:off x="4322534" y="1213575"/>
            <a:ext cx="1270785" cy="382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500" b="1" u="none" strike="noStrike" dirty="0" err="1">
                <a:solidFill>
                  <a:srgbClr val="FFFFFF"/>
                </a:solidFill>
                <a:effectLst/>
                <a:uFillTx/>
                <a:latin typeface="Cambria"/>
                <a:ea typeface="Cambria"/>
              </a:rPr>
              <a:t>Bayesian</a:t>
            </a:r>
            <a:endParaRPr lang="pl-PL" sz="1500" b="0" u="none" strike="noStrike" dirty="0">
              <a:solidFill>
                <a:srgbClr val="000000"/>
              </a:solidFill>
              <a:effectLst/>
              <a:uFillTx/>
              <a:latin typeface="Arial"/>
            </a:endParaRPr>
          </a:p>
        </p:txBody>
      </p:sp>
      <p:sp>
        <p:nvSpPr>
          <p:cNvPr id="1217" name="Text 596"/>
          <p:cNvSpPr/>
          <p:nvPr/>
        </p:nvSpPr>
        <p:spPr>
          <a:xfrm>
            <a:off x="6036134" y="1213575"/>
            <a:ext cx="1469565" cy="382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500" b="1" u="none" strike="noStrike" dirty="0">
                <a:solidFill>
                  <a:srgbClr val="FFFFFF"/>
                </a:solidFill>
                <a:effectLst/>
                <a:uFillTx/>
                <a:latin typeface="Cambria"/>
                <a:ea typeface="Cambria"/>
              </a:rPr>
              <a:t>Elastyczność</a:t>
            </a:r>
            <a:endParaRPr lang="pl-PL" sz="1500" b="0" u="none" strike="noStrike" dirty="0">
              <a:solidFill>
                <a:srgbClr val="000000"/>
              </a:solidFill>
              <a:effectLst/>
              <a:uFillTx/>
              <a:latin typeface="Arial"/>
            </a:endParaRPr>
          </a:p>
        </p:txBody>
      </p:sp>
      <p:sp>
        <p:nvSpPr>
          <p:cNvPr id="1218" name="Text 597"/>
          <p:cNvSpPr/>
          <p:nvPr/>
        </p:nvSpPr>
        <p:spPr>
          <a:xfrm>
            <a:off x="7648574" y="1213575"/>
            <a:ext cx="1956945" cy="382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500" b="1" u="none" strike="noStrike" dirty="0">
                <a:solidFill>
                  <a:srgbClr val="FFFFFF"/>
                </a:solidFill>
                <a:effectLst/>
                <a:uFillTx/>
                <a:latin typeface="Cambria"/>
                <a:ea typeface="Cambria"/>
              </a:rPr>
              <a:t>Ekosystem ML</a:t>
            </a:r>
            <a:endParaRPr lang="pl-PL" sz="1500" b="0" u="none" strike="noStrike" dirty="0">
              <a:solidFill>
                <a:srgbClr val="000000"/>
              </a:solidFill>
              <a:effectLst/>
              <a:uFillTx/>
              <a:latin typeface="Arial"/>
            </a:endParaRPr>
          </a:p>
        </p:txBody>
      </p:sp>
      <p:sp>
        <p:nvSpPr>
          <p:cNvPr id="1219" name="Shape 569"/>
          <p:cNvSpPr/>
          <p:nvPr/>
        </p:nvSpPr>
        <p:spPr>
          <a:xfrm>
            <a:off x="403200" y="1713600"/>
            <a:ext cx="9273240" cy="762666"/>
          </a:xfrm>
          <a:prstGeom prst="roundRect">
            <a:avLst>
              <a:gd name="adj" fmla="val 12195"/>
            </a:avLst>
          </a:prstGeom>
          <a:solidFill>
            <a:srgbClr val="FFFFFF"/>
          </a:solidFill>
          <a:ln w="0">
            <a:solidFill>
              <a:schemeClr val="bg2"/>
            </a:solid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400" b="0" u="none" strike="noStrike">
              <a:solidFill>
                <a:srgbClr val="000000"/>
              </a:solidFill>
              <a:effectLst/>
              <a:uFillTx/>
              <a:latin typeface="Arial"/>
            </a:endParaRPr>
          </a:p>
        </p:txBody>
      </p:sp>
      <p:sp>
        <p:nvSpPr>
          <p:cNvPr id="1220" name="Shape 570"/>
          <p:cNvSpPr/>
          <p:nvPr/>
        </p:nvSpPr>
        <p:spPr>
          <a:xfrm>
            <a:off x="483480" y="1834669"/>
            <a:ext cx="1561320" cy="520528"/>
          </a:xfrm>
          <a:prstGeom prst="roundRect">
            <a:avLst>
              <a:gd name="adj" fmla="val 12500"/>
            </a:avLst>
          </a:prstGeom>
          <a:solidFill>
            <a:srgbClr val="1E276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400" b="0" u="none" strike="noStrike">
              <a:solidFill>
                <a:srgbClr val="FFFFFF"/>
              </a:solidFill>
              <a:effectLst/>
              <a:uFillTx/>
              <a:latin typeface="Arial"/>
            </a:endParaRPr>
          </a:p>
        </p:txBody>
      </p:sp>
      <p:sp>
        <p:nvSpPr>
          <p:cNvPr id="1221" name="Text 598"/>
          <p:cNvSpPr/>
          <p:nvPr/>
        </p:nvSpPr>
        <p:spPr>
          <a:xfrm>
            <a:off x="483480" y="1834669"/>
            <a:ext cx="1561320" cy="52052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b="1" u="none" strike="noStrike" dirty="0">
                <a:solidFill>
                  <a:srgbClr val="FFFFFF"/>
                </a:solidFill>
                <a:effectLst/>
                <a:uFillTx/>
                <a:latin typeface="Cambria"/>
                <a:ea typeface="Cambria"/>
              </a:rPr>
              <a:t>JASP</a:t>
            </a:r>
            <a:endParaRPr lang="pl-PL" b="0" u="none" strike="noStrike" dirty="0">
              <a:solidFill>
                <a:srgbClr val="000000"/>
              </a:solidFill>
              <a:effectLst/>
              <a:uFillTx/>
              <a:latin typeface="Arial"/>
            </a:endParaRPr>
          </a:p>
        </p:txBody>
      </p:sp>
      <p:sp>
        <p:nvSpPr>
          <p:cNvPr id="1222" name="Text 599"/>
          <p:cNvSpPr/>
          <p:nvPr/>
        </p:nvSpPr>
        <p:spPr>
          <a:xfrm>
            <a:off x="2197439" y="1769145"/>
            <a:ext cx="2042177" cy="6509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15000"/>
              </a:lnSpc>
              <a:tabLst>
                <a:tab pos="0" algn="l"/>
              </a:tabLst>
            </a:pPr>
            <a:r>
              <a:rPr lang="pl-PL" b="0" u="none" strike="noStrike" dirty="0">
                <a:solidFill>
                  <a:srgbClr val="4A5280"/>
                </a:solidFill>
                <a:effectLst/>
                <a:uFillTx/>
                <a:latin typeface="Calibri"/>
                <a:ea typeface="Calibri"/>
              </a:rPr>
              <a:t>Niska (GUI)</a:t>
            </a:r>
            <a:endParaRPr lang="pl-PL" b="0" u="none" strike="noStrike" dirty="0">
              <a:solidFill>
                <a:srgbClr val="000000"/>
              </a:solidFill>
              <a:effectLst/>
              <a:uFillTx/>
              <a:latin typeface="Arial"/>
            </a:endParaRPr>
          </a:p>
        </p:txBody>
      </p:sp>
      <p:sp>
        <p:nvSpPr>
          <p:cNvPr id="1223" name="Text 600"/>
          <p:cNvSpPr/>
          <p:nvPr/>
        </p:nvSpPr>
        <p:spPr>
          <a:xfrm>
            <a:off x="4310538" y="1769145"/>
            <a:ext cx="1630562" cy="6509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15000"/>
              </a:lnSpc>
              <a:tabLst>
                <a:tab pos="0" algn="l"/>
              </a:tabLst>
            </a:pPr>
            <a:r>
              <a:rPr lang="pl-PL" b="0" u="none" strike="noStrike" dirty="0">
                <a:solidFill>
                  <a:srgbClr val="1A1F3C"/>
                </a:solidFill>
                <a:effectLst/>
                <a:uFillTx/>
                <a:latin typeface="Calibri"/>
                <a:ea typeface="Calibri"/>
              </a:rPr>
              <a:t>Tak (natywnie)</a:t>
            </a:r>
            <a:endParaRPr lang="pl-PL" b="0" u="none" strike="noStrike" dirty="0">
              <a:solidFill>
                <a:srgbClr val="000000"/>
              </a:solidFill>
              <a:effectLst/>
              <a:uFillTx/>
              <a:latin typeface="Arial"/>
            </a:endParaRPr>
          </a:p>
        </p:txBody>
      </p:sp>
      <p:sp>
        <p:nvSpPr>
          <p:cNvPr id="1224" name="Text 601"/>
          <p:cNvSpPr/>
          <p:nvPr/>
        </p:nvSpPr>
        <p:spPr>
          <a:xfrm>
            <a:off x="6200775" y="1769145"/>
            <a:ext cx="1035584" cy="6509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b="0" u="none" strike="noStrike" dirty="0">
                <a:solidFill>
                  <a:srgbClr val="1A1F3C"/>
                </a:solidFill>
                <a:effectLst/>
                <a:uFillTx/>
                <a:latin typeface="Calibri"/>
                <a:ea typeface="Calibri"/>
              </a:rPr>
              <a:t>Niska</a:t>
            </a:r>
            <a:endParaRPr lang="pl-PL" b="0" u="none" strike="noStrike" dirty="0">
              <a:solidFill>
                <a:srgbClr val="000000"/>
              </a:solidFill>
              <a:effectLst/>
              <a:uFillTx/>
              <a:latin typeface="Arial"/>
            </a:endParaRPr>
          </a:p>
        </p:txBody>
      </p:sp>
      <p:sp>
        <p:nvSpPr>
          <p:cNvPr id="1225" name="Text 602"/>
          <p:cNvSpPr/>
          <p:nvPr/>
        </p:nvSpPr>
        <p:spPr>
          <a:xfrm>
            <a:off x="7648574" y="1769145"/>
            <a:ext cx="1956945" cy="6509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15000"/>
              </a:lnSpc>
              <a:tabLst>
                <a:tab pos="0" algn="l"/>
              </a:tabLst>
            </a:pPr>
            <a:r>
              <a:rPr lang="pl-PL" b="0" u="none" strike="noStrike" dirty="0">
                <a:solidFill>
                  <a:srgbClr val="1A1F3C"/>
                </a:solidFill>
                <a:effectLst/>
                <a:uFillTx/>
                <a:latin typeface="Calibri"/>
                <a:ea typeface="Calibri"/>
              </a:rPr>
              <a:t>Brak</a:t>
            </a:r>
            <a:endParaRPr lang="pl-PL" b="0" u="none" strike="noStrike" dirty="0">
              <a:solidFill>
                <a:srgbClr val="000000"/>
              </a:solidFill>
              <a:effectLst/>
              <a:uFillTx/>
              <a:latin typeface="Arial"/>
            </a:endParaRPr>
          </a:p>
        </p:txBody>
      </p:sp>
      <p:sp>
        <p:nvSpPr>
          <p:cNvPr id="1226" name="Shape 571"/>
          <p:cNvSpPr/>
          <p:nvPr/>
        </p:nvSpPr>
        <p:spPr>
          <a:xfrm>
            <a:off x="403200" y="2551767"/>
            <a:ext cx="9273240" cy="762666"/>
          </a:xfrm>
          <a:prstGeom prst="roundRect">
            <a:avLst>
              <a:gd name="adj" fmla="val 12195"/>
            </a:avLst>
          </a:prstGeom>
          <a:solidFill>
            <a:srgbClr val="F0F3FF"/>
          </a:solidFill>
          <a:ln w="0">
            <a:solidFill>
              <a:schemeClr val="bg2"/>
            </a:solid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400" b="0" u="none" strike="noStrike">
              <a:solidFill>
                <a:srgbClr val="000000"/>
              </a:solidFill>
              <a:effectLst/>
              <a:uFillTx/>
              <a:latin typeface="Arial"/>
            </a:endParaRPr>
          </a:p>
        </p:txBody>
      </p:sp>
      <p:sp>
        <p:nvSpPr>
          <p:cNvPr id="1227" name="Shape 572"/>
          <p:cNvSpPr/>
          <p:nvPr/>
        </p:nvSpPr>
        <p:spPr>
          <a:xfrm>
            <a:off x="483480" y="2672836"/>
            <a:ext cx="1561320" cy="520528"/>
          </a:xfrm>
          <a:prstGeom prst="roundRect">
            <a:avLst>
              <a:gd name="adj" fmla="val 12500"/>
            </a:avLst>
          </a:prstGeom>
          <a:solidFill>
            <a:srgbClr val="2D3B8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400" b="0" u="none" strike="noStrike">
              <a:solidFill>
                <a:srgbClr val="FFFFFF"/>
              </a:solidFill>
              <a:effectLst/>
              <a:uFillTx/>
              <a:latin typeface="Arial"/>
            </a:endParaRPr>
          </a:p>
        </p:txBody>
      </p:sp>
      <p:sp>
        <p:nvSpPr>
          <p:cNvPr id="1228" name="Text 603"/>
          <p:cNvSpPr/>
          <p:nvPr/>
        </p:nvSpPr>
        <p:spPr>
          <a:xfrm>
            <a:off x="483480" y="2672836"/>
            <a:ext cx="1561320" cy="52052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b="1" u="none" strike="noStrike" dirty="0" err="1">
                <a:solidFill>
                  <a:srgbClr val="FFFFFF"/>
                </a:solidFill>
                <a:effectLst/>
                <a:uFillTx/>
                <a:latin typeface="Cambria"/>
                <a:ea typeface="Cambria"/>
              </a:rPr>
              <a:t>jamovi</a:t>
            </a:r>
            <a:endParaRPr lang="pl-PL" b="0" u="none" strike="noStrike" dirty="0">
              <a:solidFill>
                <a:srgbClr val="000000"/>
              </a:solidFill>
              <a:effectLst/>
              <a:uFillTx/>
              <a:latin typeface="Arial"/>
            </a:endParaRPr>
          </a:p>
        </p:txBody>
      </p:sp>
      <p:sp>
        <p:nvSpPr>
          <p:cNvPr id="1229" name="Text 604"/>
          <p:cNvSpPr/>
          <p:nvPr/>
        </p:nvSpPr>
        <p:spPr>
          <a:xfrm>
            <a:off x="2197439" y="2607645"/>
            <a:ext cx="2042177" cy="6509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15000"/>
              </a:lnSpc>
              <a:tabLst>
                <a:tab pos="0" algn="l"/>
              </a:tabLst>
            </a:pPr>
            <a:r>
              <a:rPr lang="pl-PL" b="0" u="none" strike="noStrike" dirty="0">
                <a:solidFill>
                  <a:srgbClr val="4A5280"/>
                </a:solidFill>
                <a:effectLst/>
                <a:uFillTx/>
                <a:latin typeface="Calibri"/>
                <a:ea typeface="Calibri"/>
              </a:rPr>
              <a:t>Niska (GUI nad R)</a:t>
            </a:r>
            <a:endParaRPr lang="pl-PL" b="0" u="none" strike="noStrike" dirty="0">
              <a:solidFill>
                <a:srgbClr val="000000"/>
              </a:solidFill>
              <a:effectLst/>
              <a:uFillTx/>
              <a:latin typeface="Arial"/>
            </a:endParaRPr>
          </a:p>
        </p:txBody>
      </p:sp>
      <p:sp>
        <p:nvSpPr>
          <p:cNvPr id="1230" name="Text 605"/>
          <p:cNvSpPr/>
          <p:nvPr/>
        </p:nvSpPr>
        <p:spPr>
          <a:xfrm>
            <a:off x="4310538" y="2607645"/>
            <a:ext cx="1630562" cy="6509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15000"/>
              </a:lnSpc>
              <a:tabLst>
                <a:tab pos="0" algn="l"/>
              </a:tabLst>
            </a:pPr>
            <a:r>
              <a:rPr lang="pl-PL" b="0" u="none" strike="noStrike" dirty="0">
                <a:solidFill>
                  <a:srgbClr val="1A1F3C"/>
                </a:solidFill>
                <a:effectLst/>
                <a:uFillTx/>
                <a:latin typeface="Calibri"/>
                <a:ea typeface="Calibri"/>
              </a:rPr>
              <a:t>Częściowo</a:t>
            </a:r>
            <a:endParaRPr lang="pl-PL" b="0" u="none" strike="noStrike" dirty="0">
              <a:solidFill>
                <a:srgbClr val="000000"/>
              </a:solidFill>
              <a:effectLst/>
              <a:uFillTx/>
              <a:latin typeface="Arial"/>
            </a:endParaRPr>
          </a:p>
        </p:txBody>
      </p:sp>
      <p:sp>
        <p:nvSpPr>
          <p:cNvPr id="1231" name="Text 606"/>
          <p:cNvSpPr/>
          <p:nvPr/>
        </p:nvSpPr>
        <p:spPr>
          <a:xfrm>
            <a:off x="6200775" y="2607645"/>
            <a:ext cx="1035584" cy="6509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b="0" u="none" strike="noStrike">
                <a:solidFill>
                  <a:srgbClr val="1A1F3C"/>
                </a:solidFill>
                <a:effectLst/>
                <a:uFillTx/>
                <a:latin typeface="Calibri"/>
                <a:ea typeface="Calibri"/>
              </a:rPr>
              <a:t>Średnia</a:t>
            </a:r>
            <a:endParaRPr lang="pl-PL" b="0" u="none" strike="noStrike">
              <a:solidFill>
                <a:srgbClr val="000000"/>
              </a:solidFill>
              <a:effectLst/>
              <a:uFillTx/>
              <a:latin typeface="Arial"/>
            </a:endParaRPr>
          </a:p>
        </p:txBody>
      </p:sp>
      <p:sp>
        <p:nvSpPr>
          <p:cNvPr id="1232" name="Text 607"/>
          <p:cNvSpPr/>
          <p:nvPr/>
        </p:nvSpPr>
        <p:spPr>
          <a:xfrm>
            <a:off x="7648574" y="2607645"/>
            <a:ext cx="1956945" cy="6509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15000"/>
              </a:lnSpc>
              <a:tabLst>
                <a:tab pos="0" algn="l"/>
              </a:tabLst>
            </a:pPr>
            <a:r>
              <a:rPr lang="pl-PL" b="0" u="none" strike="noStrike">
                <a:solidFill>
                  <a:srgbClr val="1A1F3C"/>
                </a:solidFill>
                <a:effectLst/>
                <a:uFillTx/>
                <a:latin typeface="Calibri"/>
                <a:ea typeface="Calibri"/>
              </a:rPr>
              <a:t>Ograniczony</a:t>
            </a:r>
            <a:endParaRPr lang="pl-PL" b="0" u="none" strike="noStrike">
              <a:solidFill>
                <a:srgbClr val="000000"/>
              </a:solidFill>
              <a:effectLst/>
              <a:uFillTx/>
              <a:latin typeface="Arial"/>
            </a:endParaRPr>
          </a:p>
        </p:txBody>
      </p:sp>
      <p:sp>
        <p:nvSpPr>
          <p:cNvPr id="1233" name="Shape 573"/>
          <p:cNvSpPr/>
          <p:nvPr/>
        </p:nvSpPr>
        <p:spPr>
          <a:xfrm>
            <a:off x="403200" y="3390267"/>
            <a:ext cx="9273240" cy="762666"/>
          </a:xfrm>
          <a:prstGeom prst="roundRect">
            <a:avLst>
              <a:gd name="adj" fmla="val 12195"/>
            </a:avLst>
          </a:prstGeom>
          <a:solidFill>
            <a:srgbClr val="FFFFFF"/>
          </a:solidFill>
          <a:ln w="0">
            <a:solidFill>
              <a:schemeClr val="bg2"/>
            </a:solid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400" b="0" u="none" strike="noStrike">
              <a:solidFill>
                <a:srgbClr val="000000"/>
              </a:solidFill>
              <a:effectLst/>
              <a:uFillTx/>
              <a:latin typeface="Arial"/>
            </a:endParaRPr>
          </a:p>
        </p:txBody>
      </p:sp>
      <p:sp>
        <p:nvSpPr>
          <p:cNvPr id="1234" name="Shape 574"/>
          <p:cNvSpPr/>
          <p:nvPr/>
        </p:nvSpPr>
        <p:spPr>
          <a:xfrm>
            <a:off x="483480" y="3511003"/>
            <a:ext cx="1561320" cy="520528"/>
          </a:xfrm>
          <a:prstGeom prst="roundRect">
            <a:avLst>
              <a:gd name="adj" fmla="val 12500"/>
            </a:avLst>
          </a:prstGeom>
          <a:solidFill>
            <a:srgbClr val="5B8FF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400" b="0" u="none" strike="noStrike">
              <a:solidFill>
                <a:srgbClr val="FFFFFF"/>
              </a:solidFill>
              <a:effectLst/>
              <a:uFillTx/>
              <a:latin typeface="Arial"/>
            </a:endParaRPr>
          </a:p>
        </p:txBody>
      </p:sp>
      <p:sp>
        <p:nvSpPr>
          <p:cNvPr id="1235" name="Text 608"/>
          <p:cNvSpPr/>
          <p:nvPr/>
        </p:nvSpPr>
        <p:spPr>
          <a:xfrm>
            <a:off x="483480" y="3511003"/>
            <a:ext cx="1561320" cy="52052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b="1" u="none" strike="noStrike" dirty="0">
                <a:solidFill>
                  <a:srgbClr val="FFFFFF"/>
                </a:solidFill>
                <a:effectLst/>
                <a:uFillTx/>
                <a:latin typeface="Cambria"/>
                <a:ea typeface="Cambria"/>
              </a:rPr>
              <a:t>R</a:t>
            </a:r>
            <a:endParaRPr lang="pl-PL" b="0" u="none" strike="noStrike" dirty="0">
              <a:solidFill>
                <a:srgbClr val="000000"/>
              </a:solidFill>
              <a:effectLst/>
              <a:uFillTx/>
              <a:latin typeface="Arial"/>
            </a:endParaRPr>
          </a:p>
        </p:txBody>
      </p:sp>
      <p:sp>
        <p:nvSpPr>
          <p:cNvPr id="1236" name="Text 609"/>
          <p:cNvSpPr/>
          <p:nvPr/>
        </p:nvSpPr>
        <p:spPr>
          <a:xfrm>
            <a:off x="2197439" y="3445812"/>
            <a:ext cx="2042177" cy="6509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15000"/>
              </a:lnSpc>
              <a:tabLst>
                <a:tab pos="0" algn="l"/>
              </a:tabLst>
            </a:pPr>
            <a:r>
              <a:rPr lang="pl-PL" b="0" u="none" strike="noStrike" dirty="0">
                <a:solidFill>
                  <a:srgbClr val="4A5280"/>
                </a:solidFill>
                <a:effectLst/>
                <a:uFillTx/>
                <a:latin typeface="Calibri"/>
                <a:ea typeface="Calibri"/>
              </a:rPr>
              <a:t>Średnia/wysoka</a:t>
            </a:r>
            <a:endParaRPr lang="pl-PL" b="0" u="none" strike="noStrike" dirty="0">
              <a:solidFill>
                <a:srgbClr val="000000"/>
              </a:solidFill>
              <a:effectLst/>
              <a:uFillTx/>
              <a:latin typeface="Arial"/>
            </a:endParaRPr>
          </a:p>
        </p:txBody>
      </p:sp>
      <p:sp>
        <p:nvSpPr>
          <p:cNvPr id="1237" name="Text 610"/>
          <p:cNvSpPr/>
          <p:nvPr/>
        </p:nvSpPr>
        <p:spPr>
          <a:xfrm>
            <a:off x="4310538" y="3445812"/>
            <a:ext cx="1630562" cy="6509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tabLst>
                <a:tab pos="0" algn="l"/>
              </a:tabLst>
            </a:pPr>
            <a:r>
              <a:rPr lang="pl-PL" b="0" u="none" strike="noStrike" dirty="0">
                <a:solidFill>
                  <a:srgbClr val="1A1F3C"/>
                </a:solidFill>
                <a:effectLst/>
                <a:uFillTx/>
                <a:latin typeface="Calibri"/>
                <a:ea typeface="Calibri"/>
              </a:rPr>
              <a:t>Tak </a:t>
            </a:r>
            <a:r>
              <a:rPr lang="pl-PL" b="0" u="none" strike="noStrike" spc="-40" dirty="0">
                <a:solidFill>
                  <a:srgbClr val="1A1F3C"/>
                </a:solidFill>
                <a:effectLst/>
                <a:uFillTx/>
                <a:latin typeface="Calibri"/>
                <a:ea typeface="Calibri"/>
              </a:rPr>
              <a:t>(</a:t>
            </a:r>
            <a:r>
              <a:rPr lang="pl-PL" b="0" u="none" strike="noStrike" spc="-40" dirty="0" err="1">
                <a:solidFill>
                  <a:srgbClr val="1A1F3C"/>
                </a:solidFill>
                <a:effectLst/>
                <a:uFillTx/>
                <a:latin typeface="Calibri"/>
                <a:ea typeface="Calibri"/>
              </a:rPr>
              <a:t>brms</a:t>
            </a:r>
            <a:r>
              <a:rPr lang="pl-PL" b="0" u="none" strike="noStrike" spc="-40" dirty="0">
                <a:solidFill>
                  <a:srgbClr val="1A1F3C"/>
                </a:solidFill>
                <a:effectLst/>
                <a:uFillTx/>
                <a:latin typeface="Calibri"/>
                <a:ea typeface="Calibri"/>
              </a:rPr>
              <a:t>, stan)</a:t>
            </a:r>
            <a:endParaRPr lang="pl-PL" b="0" u="none" strike="noStrike" spc="-40" dirty="0">
              <a:solidFill>
                <a:srgbClr val="000000"/>
              </a:solidFill>
              <a:effectLst/>
              <a:uFillTx/>
              <a:latin typeface="Arial"/>
            </a:endParaRPr>
          </a:p>
        </p:txBody>
      </p:sp>
      <p:sp>
        <p:nvSpPr>
          <p:cNvPr id="1238" name="Text 611"/>
          <p:cNvSpPr/>
          <p:nvPr/>
        </p:nvSpPr>
        <p:spPr>
          <a:xfrm>
            <a:off x="6200775" y="3445812"/>
            <a:ext cx="1035584" cy="6509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b="0" u="none" strike="noStrike">
                <a:solidFill>
                  <a:srgbClr val="1A1F3C"/>
                </a:solidFill>
                <a:effectLst/>
                <a:uFillTx/>
                <a:latin typeface="Calibri"/>
                <a:ea typeface="Calibri"/>
              </a:rPr>
              <a:t>Wysoka</a:t>
            </a:r>
            <a:endParaRPr lang="pl-PL" b="0" u="none" strike="noStrike">
              <a:solidFill>
                <a:srgbClr val="000000"/>
              </a:solidFill>
              <a:effectLst/>
              <a:uFillTx/>
              <a:latin typeface="Arial"/>
            </a:endParaRPr>
          </a:p>
        </p:txBody>
      </p:sp>
      <p:sp>
        <p:nvSpPr>
          <p:cNvPr id="1239" name="Text 612"/>
          <p:cNvSpPr/>
          <p:nvPr/>
        </p:nvSpPr>
        <p:spPr>
          <a:xfrm>
            <a:off x="7648574" y="3445812"/>
            <a:ext cx="1956945" cy="6509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tabLst>
                <a:tab pos="0" algn="l"/>
              </a:tabLst>
            </a:pPr>
            <a:r>
              <a:rPr lang="pl-PL" b="0" u="none" strike="noStrike" dirty="0">
                <a:solidFill>
                  <a:srgbClr val="1A1F3C"/>
                </a:solidFill>
                <a:effectLst/>
                <a:uFillTx/>
                <a:latin typeface="Calibri"/>
                <a:ea typeface="Calibri"/>
              </a:rPr>
              <a:t>Dobry (</a:t>
            </a:r>
            <a:r>
              <a:rPr lang="pl-PL" b="0" u="none" strike="noStrike" dirty="0" err="1">
                <a:solidFill>
                  <a:srgbClr val="1A1F3C"/>
                </a:solidFill>
                <a:effectLst/>
                <a:uFillTx/>
                <a:latin typeface="Calibri"/>
                <a:ea typeface="Calibri"/>
              </a:rPr>
              <a:t>caret</a:t>
            </a:r>
            <a:r>
              <a:rPr lang="pl-PL" b="0" u="none" strike="noStrike" dirty="0">
                <a:solidFill>
                  <a:srgbClr val="1A1F3C"/>
                </a:solidFill>
                <a:effectLst/>
                <a:uFillTx/>
                <a:latin typeface="Calibri"/>
                <a:ea typeface="Calibri"/>
              </a:rPr>
              <a:t>, </a:t>
            </a:r>
            <a:r>
              <a:rPr lang="pl-PL" b="0" u="none" strike="noStrike" dirty="0" err="1">
                <a:solidFill>
                  <a:srgbClr val="1A1F3C"/>
                </a:solidFill>
                <a:effectLst/>
                <a:uFillTx/>
                <a:latin typeface="Calibri"/>
                <a:ea typeface="Calibri"/>
              </a:rPr>
              <a:t>tidymodels</a:t>
            </a:r>
            <a:r>
              <a:rPr lang="pl-PL" b="0" u="none" strike="noStrike" dirty="0">
                <a:solidFill>
                  <a:srgbClr val="1A1F3C"/>
                </a:solidFill>
                <a:effectLst/>
                <a:uFillTx/>
                <a:latin typeface="Calibri"/>
                <a:ea typeface="Calibri"/>
              </a:rPr>
              <a:t>)</a:t>
            </a:r>
            <a:endParaRPr lang="pl-PL" b="0" u="none" strike="noStrike" dirty="0">
              <a:solidFill>
                <a:srgbClr val="000000"/>
              </a:solidFill>
              <a:effectLst/>
              <a:uFillTx/>
              <a:latin typeface="Arial"/>
            </a:endParaRPr>
          </a:p>
        </p:txBody>
      </p:sp>
      <p:sp>
        <p:nvSpPr>
          <p:cNvPr id="1240" name="Shape 575"/>
          <p:cNvSpPr/>
          <p:nvPr/>
        </p:nvSpPr>
        <p:spPr>
          <a:xfrm>
            <a:off x="403200" y="4228434"/>
            <a:ext cx="9273240" cy="762666"/>
          </a:xfrm>
          <a:prstGeom prst="roundRect">
            <a:avLst>
              <a:gd name="adj" fmla="val 12195"/>
            </a:avLst>
          </a:prstGeom>
          <a:solidFill>
            <a:srgbClr val="F0F3FF"/>
          </a:solidFill>
          <a:ln w="0">
            <a:solidFill>
              <a:schemeClr val="bg2"/>
            </a:solid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400" b="0" u="none" strike="noStrike">
              <a:solidFill>
                <a:srgbClr val="000000"/>
              </a:solidFill>
              <a:effectLst/>
              <a:uFillTx/>
              <a:latin typeface="Arial"/>
            </a:endParaRPr>
          </a:p>
        </p:txBody>
      </p:sp>
      <p:sp>
        <p:nvSpPr>
          <p:cNvPr id="1241" name="Shape 576"/>
          <p:cNvSpPr/>
          <p:nvPr/>
        </p:nvSpPr>
        <p:spPr>
          <a:xfrm>
            <a:off x="483480" y="4349170"/>
            <a:ext cx="1561320" cy="520528"/>
          </a:xfrm>
          <a:prstGeom prst="roundRect">
            <a:avLst>
              <a:gd name="adj" fmla="val 12500"/>
            </a:avLst>
          </a:prstGeom>
          <a:solidFill>
            <a:srgbClr val="2D7DD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400" b="0" u="none" strike="noStrike">
              <a:solidFill>
                <a:srgbClr val="FFFFFF"/>
              </a:solidFill>
              <a:effectLst/>
              <a:uFillTx/>
              <a:latin typeface="Arial"/>
            </a:endParaRPr>
          </a:p>
        </p:txBody>
      </p:sp>
      <p:sp>
        <p:nvSpPr>
          <p:cNvPr id="1242" name="Text 613"/>
          <p:cNvSpPr/>
          <p:nvPr/>
        </p:nvSpPr>
        <p:spPr>
          <a:xfrm>
            <a:off x="483480" y="4349170"/>
            <a:ext cx="1561320" cy="52052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b="1" u="none" strike="noStrike" dirty="0" err="1">
                <a:solidFill>
                  <a:srgbClr val="FFFFFF"/>
                </a:solidFill>
                <a:effectLst/>
                <a:uFillTx/>
                <a:latin typeface="Cambria"/>
                <a:ea typeface="Cambria"/>
              </a:rPr>
              <a:t>Python</a:t>
            </a:r>
            <a:endParaRPr lang="pl-PL" b="0" u="none" strike="noStrike" dirty="0">
              <a:solidFill>
                <a:srgbClr val="000000"/>
              </a:solidFill>
              <a:effectLst/>
              <a:uFillTx/>
              <a:latin typeface="Arial"/>
            </a:endParaRPr>
          </a:p>
        </p:txBody>
      </p:sp>
      <p:sp>
        <p:nvSpPr>
          <p:cNvPr id="1243" name="Text 614"/>
          <p:cNvSpPr/>
          <p:nvPr/>
        </p:nvSpPr>
        <p:spPr>
          <a:xfrm>
            <a:off x="2197439" y="4283980"/>
            <a:ext cx="2042177" cy="6509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15000"/>
              </a:lnSpc>
              <a:tabLst>
                <a:tab pos="0" algn="l"/>
              </a:tabLst>
            </a:pPr>
            <a:r>
              <a:rPr lang="pl-PL" b="0" u="none" strike="noStrike" dirty="0">
                <a:solidFill>
                  <a:srgbClr val="4A5280"/>
                </a:solidFill>
                <a:effectLst/>
                <a:uFillTx/>
                <a:latin typeface="Calibri"/>
                <a:ea typeface="Calibri"/>
              </a:rPr>
              <a:t>Średnia/wysoka</a:t>
            </a:r>
            <a:endParaRPr lang="pl-PL" b="0" u="none" strike="noStrike" dirty="0">
              <a:solidFill>
                <a:srgbClr val="000000"/>
              </a:solidFill>
              <a:effectLst/>
              <a:uFillTx/>
              <a:latin typeface="Arial"/>
            </a:endParaRPr>
          </a:p>
        </p:txBody>
      </p:sp>
      <p:sp>
        <p:nvSpPr>
          <p:cNvPr id="1244" name="Text 615"/>
          <p:cNvSpPr/>
          <p:nvPr/>
        </p:nvSpPr>
        <p:spPr>
          <a:xfrm>
            <a:off x="4310538" y="4283980"/>
            <a:ext cx="1212221" cy="6509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tabLst>
                <a:tab pos="0" algn="l"/>
              </a:tabLst>
            </a:pPr>
            <a:r>
              <a:rPr lang="pl-PL" b="0" u="none" strike="noStrike">
                <a:solidFill>
                  <a:srgbClr val="1A1F3C"/>
                </a:solidFill>
                <a:effectLst/>
                <a:uFillTx/>
                <a:latin typeface="Calibri"/>
                <a:ea typeface="Calibri"/>
              </a:rPr>
              <a:t>Tak</a:t>
            </a:r>
            <a:endParaRPr lang="pl-PL" b="0" u="none" strike="noStrike">
              <a:solidFill>
                <a:srgbClr val="000000"/>
              </a:solidFill>
              <a:effectLst/>
              <a:uFillTx/>
              <a:latin typeface="Arial"/>
            </a:endParaRPr>
          </a:p>
          <a:p>
            <a:pPr defTabSz="914400">
              <a:tabLst>
                <a:tab pos="0" algn="l"/>
              </a:tabLst>
            </a:pPr>
            <a:r>
              <a:rPr lang="pl-PL" b="0" u="none" strike="noStrike">
                <a:solidFill>
                  <a:srgbClr val="1A1F3C"/>
                </a:solidFill>
                <a:effectLst/>
                <a:uFillTx/>
                <a:latin typeface="Calibri"/>
                <a:ea typeface="Calibri"/>
              </a:rPr>
              <a:t>(PyMC)</a:t>
            </a:r>
            <a:endParaRPr lang="pl-PL" b="0" u="none" strike="noStrike">
              <a:solidFill>
                <a:srgbClr val="000000"/>
              </a:solidFill>
              <a:effectLst/>
              <a:uFillTx/>
              <a:latin typeface="Arial"/>
            </a:endParaRPr>
          </a:p>
        </p:txBody>
      </p:sp>
      <p:sp>
        <p:nvSpPr>
          <p:cNvPr id="1245" name="Text 616"/>
          <p:cNvSpPr/>
          <p:nvPr/>
        </p:nvSpPr>
        <p:spPr>
          <a:xfrm>
            <a:off x="6200775" y="4283980"/>
            <a:ext cx="1035584" cy="6509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b="0" u="none" strike="noStrike">
                <a:solidFill>
                  <a:srgbClr val="1A1F3C"/>
                </a:solidFill>
                <a:effectLst/>
                <a:uFillTx/>
                <a:latin typeface="Calibri"/>
                <a:ea typeface="Calibri"/>
              </a:rPr>
              <a:t>Pełna</a:t>
            </a:r>
            <a:endParaRPr lang="pl-PL" b="0" u="none" strike="noStrike">
              <a:solidFill>
                <a:srgbClr val="000000"/>
              </a:solidFill>
              <a:effectLst/>
              <a:uFillTx/>
              <a:latin typeface="Arial"/>
            </a:endParaRPr>
          </a:p>
        </p:txBody>
      </p:sp>
      <p:sp>
        <p:nvSpPr>
          <p:cNvPr id="1246" name="Text 617"/>
          <p:cNvSpPr/>
          <p:nvPr/>
        </p:nvSpPr>
        <p:spPr>
          <a:xfrm>
            <a:off x="7648574" y="4283980"/>
            <a:ext cx="1956945" cy="6509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tabLst>
                <a:tab pos="0" algn="l"/>
              </a:tabLst>
            </a:pPr>
            <a:r>
              <a:rPr lang="pl-PL" b="0" u="none" strike="noStrike">
                <a:solidFill>
                  <a:srgbClr val="1A1F3C"/>
                </a:solidFill>
                <a:effectLst/>
                <a:uFillTx/>
                <a:latin typeface="Calibri"/>
                <a:ea typeface="Calibri"/>
              </a:rPr>
              <a:t>Bardzo dobry (sklearn, torch)</a:t>
            </a:r>
            <a:endParaRPr lang="pl-PL" b="0" u="none" strike="noStrike">
              <a:solidFill>
                <a:srgbClr val="000000"/>
              </a:solidFill>
              <a:effectLst/>
              <a:uFillTx/>
              <a:latin typeface="Arial"/>
            </a:endParaRPr>
          </a:p>
        </p:txBody>
      </p:sp>
      <p:sp>
        <p:nvSpPr>
          <p:cNvPr id="1247" name="Text 618"/>
          <p:cNvSpPr/>
          <p:nvPr/>
        </p:nvSpPr>
        <p:spPr>
          <a:xfrm>
            <a:off x="171450" y="5221800"/>
            <a:ext cx="9658350" cy="32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000" b="0" u="none" strike="noStrike" dirty="0">
                <a:effectLst/>
                <a:uFillTx/>
                <a:latin typeface="Calibri"/>
                <a:ea typeface="Calibri"/>
              </a:rPr>
              <a:t>Skrypt analizy to część danych badania! Analiza bez zapisanych kroków jest </a:t>
            </a:r>
            <a:r>
              <a:rPr lang="pl-PL" sz="2000" b="0" u="none" strike="noStrike" dirty="0" err="1">
                <a:effectLst/>
                <a:uFillTx/>
                <a:latin typeface="Calibri"/>
                <a:ea typeface="Calibri"/>
              </a:rPr>
              <a:t>niereplikowalna</a:t>
            </a:r>
            <a:r>
              <a:rPr lang="pl-PL" sz="2000" b="0" u="none" strike="noStrike" dirty="0">
                <a:effectLst/>
                <a:uFillTx/>
                <a:latin typeface="Calibri"/>
                <a:ea typeface="Calibri"/>
              </a:rPr>
              <a:t>.</a:t>
            </a:r>
            <a:endParaRPr lang="pl-PL" sz="2000" b="0" u="none" strike="noStrike" dirty="0">
              <a:effectLst/>
              <a:uFillTx/>
              <a:latin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1248" name="Shape 40"/>
          <p:cNvSpPr/>
          <p:nvPr/>
        </p:nvSpPr>
        <p:spPr>
          <a:xfrm>
            <a:off x="360" y="360"/>
            <a:ext cx="10079640" cy="1006920"/>
          </a:xfrm>
          <a:prstGeom prst="rect">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249" name="Text 102"/>
          <p:cNvSpPr/>
          <p:nvPr/>
        </p:nvSpPr>
        <p:spPr>
          <a:xfrm>
            <a:off x="453240" y="70560"/>
            <a:ext cx="917244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defTabSz="914400">
              <a:lnSpc>
                <a:spcPct val="100000"/>
              </a:lnSpc>
              <a:tabLst>
                <a:tab pos="0" algn="l"/>
              </a:tabLst>
            </a:pPr>
            <a:r>
              <a:rPr lang="pl-PL" sz="2200" b="1" u="none" strike="noStrike" dirty="0">
                <a:solidFill>
                  <a:srgbClr val="FFFFFF"/>
                </a:solidFill>
                <a:effectLst/>
                <a:uFillTx/>
                <a:latin typeface="Cambria"/>
                <a:ea typeface="Cambria"/>
              </a:rPr>
              <a:t>BŁĘDY WYNIKAJĄCE Z OGRANICZEŃ NUMERYCZNYCH</a:t>
            </a:r>
            <a:endParaRPr lang="pl-PL" sz="2200" b="0" u="none" strike="noStrike" dirty="0">
              <a:solidFill>
                <a:srgbClr val="000000"/>
              </a:solidFill>
              <a:effectLst/>
              <a:uFillTx/>
              <a:latin typeface="Arial"/>
            </a:endParaRPr>
          </a:p>
        </p:txBody>
      </p:sp>
      <p:sp>
        <p:nvSpPr>
          <p:cNvPr id="1250" name="Text 103"/>
          <p:cNvSpPr/>
          <p:nvPr/>
        </p:nvSpPr>
        <p:spPr>
          <a:xfrm>
            <a:off x="453240" y="594720"/>
            <a:ext cx="9172440" cy="331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pl-PL" sz="1400" b="0" i="1" u="none" strike="noStrike">
                <a:solidFill>
                  <a:srgbClr val="CADCFC"/>
                </a:solidFill>
                <a:effectLst/>
                <a:uFillTx/>
                <a:latin typeface="Calibri"/>
                <a:ea typeface="Calibri"/>
              </a:rPr>
              <a:t>Dlaczego obliczenia komputerowe nie są idealnie dokładne?</a:t>
            </a:r>
            <a:endParaRPr lang="pl-PL" sz="1400" b="0" u="none" strike="noStrike">
              <a:solidFill>
                <a:srgbClr val="000000"/>
              </a:solidFill>
              <a:effectLst/>
              <a:uFillTx/>
              <a:latin typeface="Arial"/>
            </a:endParaRPr>
          </a:p>
        </p:txBody>
      </p:sp>
      <p:sp>
        <p:nvSpPr>
          <p:cNvPr id="1251" name="Shape 84"/>
          <p:cNvSpPr/>
          <p:nvPr/>
        </p:nvSpPr>
        <p:spPr>
          <a:xfrm>
            <a:off x="833760" y="5238720"/>
            <a:ext cx="8807760" cy="354960"/>
          </a:xfrm>
          <a:prstGeom prst="roundRect">
            <a:avLst>
              <a:gd name="adj" fmla="val 14286"/>
            </a:avLst>
          </a:prstGeom>
          <a:solidFill>
            <a:srgbClr val="FFF3CD"/>
          </a:solidFill>
          <a:ln w="0">
            <a:solidFill>
              <a:srgbClr val="FFC000"/>
            </a:solid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600" b="1" u="none" strike="noStrike">
                <a:solidFill>
                  <a:srgbClr val="7B4F00"/>
                </a:solidFill>
                <a:effectLst/>
                <a:uFillTx/>
                <a:latin typeface="Calibri"/>
                <a:ea typeface="Calibri"/>
              </a:rPr>
              <a:t>Wynik nie jest faktem, ale rezultatem danych, modelu, algorytmu i ograniczonej precyzji kwantyzacji</a:t>
            </a:r>
            <a:endParaRPr lang="pl-PL" sz="1600" b="0" u="none" strike="noStrike">
              <a:solidFill>
                <a:srgbClr val="000000"/>
              </a:solidFill>
              <a:effectLst/>
              <a:uFillTx/>
              <a:latin typeface="Arial"/>
            </a:endParaRPr>
          </a:p>
        </p:txBody>
      </p:sp>
      <p:pic>
        <p:nvPicPr>
          <p:cNvPr id="1252" name="Obraz 1251"/>
          <p:cNvPicPr/>
          <p:nvPr/>
        </p:nvPicPr>
        <p:blipFill rotWithShape="1">
          <a:blip r:embed="rId3">
            <a:extLst>
              <a:ext uri="{BEBA8EAE-BF5A-486C-A8C5-ECC9F3942E4B}">
                <a14:imgProps xmlns:a14="http://schemas.microsoft.com/office/drawing/2010/main">
                  <a14:imgLayer r:embed="rId4">
                    <a14:imgEffect>
                      <a14:sharpenSoften amount="25000"/>
                    </a14:imgEffect>
                  </a14:imgLayer>
                </a14:imgProps>
              </a:ext>
            </a:extLst>
          </a:blip>
          <a:srcRect t="716" b="-1"/>
          <a:stretch/>
        </p:blipFill>
        <p:spPr>
          <a:xfrm>
            <a:off x="279300" y="1038224"/>
            <a:ext cx="9655200" cy="4190775"/>
          </a:xfrm>
          <a:prstGeom prst="rect">
            <a:avLst/>
          </a:prstGeom>
          <a:noFill/>
          <a:ln w="0">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1253" name="Shape 577"/>
          <p:cNvSpPr/>
          <p:nvPr/>
        </p:nvSpPr>
        <p:spPr>
          <a:xfrm>
            <a:off x="360" y="360"/>
            <a:ext cx="10079640" cy="1006920"/>
          </a:xfrm>
          <a:prstGeom prst="rect">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254" name="Text 619"/>
          <p:cNvSpPr/>
          <p:nvPr/>
        </p:nvSpPr>
        <p:spPr>
          <a:xfrm>
            <a:off x="453240" y="70560"/>
            <a:ext cx="917244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defTabSz="914400">
              <a:lnSpc>
                <a:spcPct val="100000"/>
              </a:lnSpc>
              <a:tabLst>
                <a:tab pos="0" algn="l"/>
              </a:tabLst>
            </a:pPr>
            <a:r>
              <a:rPr lang="pl-PL" sz="2200" b="1" u="none" strike="noStrike">
                <a:solidFill>
                  <a:srgbClr val="FFFFFF"/>
                </a:solidFill>
                <a:effectLst/>
                <a:uFillTx/>
                <a:latin typeface="Cambria"/>
                <a:ea typeface="Cambria"/>
              </a:rPr>
              <a:t>BAYESIAN WORKFLOW DLA PSYCHOLOGII</a:t>
            </a:r>
            <a:endParaRPr lang="pl-PL" sz="2200" b="0" u="none" strike="noStrike">
              <a:solidFill>
                <a:srgbClr val="000000"/>
              </a:solidFill>
              <a:effectLst/>
              <a:uFillTx/>
              <a:latin typeface="Arial"/>
            </a:endParaRPr>
          </a:p>
        </p:txBody>
      </p:sp>
      <p:sp>
        <p:nvSpPr>
          <p:cNvPr id="1255" name="Text 620"/>
          <p:cNvSpPr/>
          <p:nvPr/>
        </p:nvSpPr>
        <p:spPr>
          <a:xfrm>
            <a:off x="453240" y="594720"/>
            <a:ext cx="9172440" cy="331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pl-PL" sz="1400" b="0" i="1" u="none" strike="noStrike">
                <a:solidFill>
                  <a:srgbClr val="CADCFC"/>
                </a:solidFill>
                <a:effectLst/>
                <a:uFillTx/>
                <a:latin typeface="Calibri"/>
                <a:ea typeface="Calibri"/>
              </a:rPr>
              <a:t>Kiedy i jak stosować podejście bayesowskie?</a:t>
            </a:r>
            <a:endParaRPr lang="pl-PL" sz="1400" b="0" u="none" strike="noStrike">
              <a:solidFill>
                <a:srgbClr val="000000"/>
              </a:solidFill>
              <a:effectLst/>
              <a:uFillTx/>
              <a:latin typeface="Arial"/>
            </a:endParaRPr>
          </a:p>
        </p:txBody>
      </p:sp>
      <p:sp>
        <p:nvSpPr>
          <p:cNvPr id="1256" name="Shape 578"/>
          <p:cNvSpPr/>
          <p:nvPr/>
        </p:nvSpPr>
        <p:spPr>
          <a:xfrm>
            <a:off x="403200" y="1108800"/>
            <a:ext cx="4534920" cy="2014920"/>
          </a:xfrm>
          <a:prstGeom prst="roundRect">
            <a:avLst>
              <a:gd name="adj" fmla="val 5000"/>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400" b="0" u="none" strike="noStrike">
              <a:solidFill>
                <a:srgbClr val="000000"/>
              </a:solidFill>
              <a:effectLst/>
              <a:uFillTx/>
              <a:latin typeface="Arial"/>
            </a:endParaRPr>
          </a:p>
        </p:txBody>
      </p:sp>
      <p:sp>
        <p:nvSpPr>
          <p:cNvPr id="1257" name="Text 621"/>
          <p:cNvSpPr/>
          <p:nvPr/>
        </p:nvSpPr>
        <p:spPr>
          <a:xfrm>
            <a:off x="516300" y="1149870"/>
            <a:ext cx="4232880" cy="342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b="1" u="none" strike="noStrike" dirty="0">
                <a:solidFill>
                  <a:srgbClr val="1E2761"/>
                </a:solidFill>
                <a:effectLst/>
                <a:uFillTx/>
                <a:latin typeface="Cambria"/>
                <a:ea typeface="Cambria"/>
              </a:rPr>
              <a:t>Kiedy warto</a:t>
            </a:r>
            <a:endParaRPr lang="pl-PL" b="0" u="none" strike="noStrike" dirty="0">
              <a:solidFill>
                <a:srgbClr val="000000"/>
              </a:solidFill>
              <a:effectLst/>
              <a:uFillTx/>
              <a:latin typeface="Arial"/>
            </a:endParaRPr>
          </a:p>
        </p:txBody>
      </p:sp>
      <p:sp>
        <p:nvSpPr>
          <p:cNvPr id="1258" name="Shape 579"/>
          <p:cNvSpPr/>
          <p:nvPr/>
        </p:nvSpPr>
        <p:spPr>
          <a:xfrm>
            <a:off x="566700" y="1592640"/>
            <a:ext cx="200520" cy="200520"/>
          </a:xfrm>
          <a:prstGeom prst="ellipse">
            <a:avLst/>
          </a:prstGeom>
          <a:solidFill>
            <a:srgbClr val="5B8FF9"/>
          </a:solidFill>
          <a:ln w="12700">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400" b="0" u="none" strike="noStrike">
              <a:solidFill>
                <a:srgbClr val="FFFFFF"/>
              </a:solidFill>
              <a:effectLst/>
              <a:uFillTx/>
              <a:latin typeface="Arial"/>
            </a:endParaRPr>
          </a:p>
        </p:txBody>
      </p:sp>
      <p:sp>
        <p:nvSpPr>
          <p:cNvPr id="1259" name="Text 622"/>
          <p:cNvSpPr/>
          <p:nvPr/>
        </p:nvSpPr>
        <p:spPr>
          <a:xfrm>
            <a:off x="839055" y="1521720"/>
            <a:ext cx="3930480" cy="342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400" b="0" u="none" strike="noStrike" dirty="0">
                <a:solidFill>
                  <a:srgbClr val="1A1F3C"/>
                </a:solidFill>
                <a:effectLst/>
                <a:uFillTx/>
                <a:latin typeface="Calibri"/>
                <a:ea typeface="Calibri"/>
              </a:rPr>
              <a:t>Małe próby - szerokie CI w podejściu klasycznym</a:t>
            </a:r>
            <a:endParaRPr lang="pl-PL" sz="1400" b="0" u="none" strike="noStrike" dirty="0">
              <a:solidFill>
                <a:srgbClr val="000000"/>
              </a:solidFill>
              <a:effectLst/>
              <a:uFillTx/>
              <a:latin typeface="Arial"/>
            </a:endParaRPr>
          </a:p>
        </p:txBody>
      </p:sp>
      <p:sp>
        <p:nvSpPr>
          <p:cNvPr id="1260" name="Shape 580"/>
          <p:cNvSpPr/>
          <p:nvPr/>
        </p:nvSpPr>
        <p:spPr>
          <a:xfrm>
            <a:off x="566700" y="1955520"/>
            <a:ext cx="200520" cy="200520"/>
          </a:xfrm>
          <a:prstGeom prst="ellipse">
            <a:avLst/>
          </a:prstGeom>
          <a:solidFill>
            <a:srgbClr val="5B8FF9"/>
          </a:solidFill>
          <a:ln w="12700">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400" b="0" u="none" strike="noStrike">
              <a:solidFill>
                <a:srgbClr val="FFFFFF"/>
              </a:solidFill>
              <a:effectLst/>
              <a:uFillTx/>
              <a:latin typeface="Arial"/>
            </a:endParaRPr>
          </a:p>
        </p:txBody>
      </p:sp>
      <p:sp>
        <p:nvSpPr>
          <p:cNvPr id="1261" name="Text 623"/>
          <p:cNvSpPr/>
          <p:nvPr/>
        </p:nvSpPr>
        <p:spPr>
          <a:xfrm>
            <a:off x="839055" y="1884960"/>
            <a:ext cx="3930480" cy="342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400" b="0" u="none" strike="noStrike">
                <a:solidFill>
                  <a:srgbClr val="1A1F3C"/>
                </a:solidFill>
                <a:effectLst/>
                <a:uFillTx/>
                <a:latin typeface="Calibri"/>
                <a:ea typeface="Calibri"/>
              </a:rPr>
              <a:t>Modele hierarchiczne, wiele poziomów grupowania</a:t>
            </a:r>
            <a:endParaRPr lang="pl-PL" sz="1400" b="0" u="none" strike="noStrike">
              <a:solidFill>
                <a:srgbClr val="000000"/>
              </a:solidFill>
              <a:effectLst/>
              <a:uFillTx/>
              <a:latin typeface="Arial"/>
            </a:endParaRPr>
          </a:p>
        </p:txBody>
      </p:sp>
      <p:sp>
        <p:nvSpPr>
          <p:cNvPr id="1262" name="Shape 581"/>
          <p:cNvSpPr/>
          <p:nvPr/>
        </p:nvSpPr>
        <p:spPr>
          <a:xfrm>
            <a:off x="566700" y="2318400"/>
            <a:ext cx="200520" cy="200520"/>
          </a:xfrm>
          <a:prstGeom prst="ellipse">
            <a:avLst/>
          </a:prstGeom>
          <a:solidFill>
            <a:srgbClr val="5B8FF9"/>
          </a:solidFill>
          <a:ln w="12700">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400" b="0" u="none" strike="noStrike">
              <a:solidFill>
                <a:srgbClr val="FFFFFF"/>
              </a:solidFill>
              <a:effectLst/>
              <a:uFillTx/>
              <a:latin typeface="Arial"/>
            </a:endParaRPr>
          </a:p>
        </p:txBody>
      </p:sp>
      <p:sp>
        <p:nvSpPr>
          <p:cNvPr id="1263" name="Text 624"/>
          <p:cNvSpPr/>
          <p:nvPr/>
        </p:nvSpPr>
        <p:spPr>
          <a:xfrm>
            <a:off x="839055" y="2247840"/>
            <a:ext cx="3930480" cy="342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400" b="0" u="none" strike="noStrike">
                <a:solidFill>
                  <a:srgbClr val="1A1F3C"/>
                </a:solidFill>
                <a:effectLst/>
                <a:uFillTx/>
                <a:latin typeface="Calibri"/>
                <a:ea typeface="Calibri"/>
              </a:rPr>
              <a:t>Potrzeba kwantyfikacji niepewności</a:t>
            </a:r>
            <a:endParaRPr lang="pl-PL" sz="1400" b="0" u="none" strike="noStrike">
              <a:solidFill>
                <a:srgbClr val="000000"/>
              </a:solidFill>
              <a:effectLst/>
              <a:uFillTx/>
              <a:latin typeface="Arial"/>
            </a:endParaRPr>
          </a:p>
        </p:txBody>
      </p:sp>
      <p:sp>
        <p:nvSpPr>
          <p:cNvPr id="1264" name="Shape 582"/>
          <p:cNvSpPr/>
          <p:nvPr/>
        </p:nvSpPr>
        <p:spPr>
          <a:xfrm>
            <a:off x="566700" y="2681280"/>
            <a:ext cx="200520" cy="200520"/>
          </a:xfrm>
          <a:prstGeom prst="ellipse">
            <a:avLst/>
          </a:prstGeom>
          <a:solidFill>
            <a:srgbClr val="5B8FF9"/>
          </a:solidFill>
          <a:ln w="12700">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400" b="0" u="none" strike="noStrike">
              <a:solidFill>
                <a:srgbClr val="FFFFFF"/>
              </a:solidFill>
              <a:effectLst/>
              <a:uFillTx/>
              <a:latin typeface="Arial"/>
            </a:endParaRPr>
          </a:p>
        </p:txBody>
      </p:sp>
      <p:sp>
        <p:nvSpPr>
          <p:cNvPr id="1265" name="Text 625"/>
          <p:cNvSpPr/>
          <p:nvPr/>
        </p:nvSpPr>
        <p:spPr>
          <a:xfrm>
            <a:off x="839055" y="2611080"/>
            <a:ext cx="3930480" cy="342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400" b="0" u="none" strike="noStrike">
                <a:solidFill>
                  <a:srgbClr val="1A1F3C"/>
                </a:solidFill>
                <a:effectLst/>
                <a:uFillTx/>
                <a:latin typeface="Calibri"/>
                <a:ea typeface="Calibri"/>
              </a:rPr>
              <a:t>Aktualizacja wiedzy w miarę napływu danych</a:t>
            </a:r>
            <a:endParaRPr lang="pl-PL" sz="1400" b="0" u="none" strike="noStrike">
              <a:solidFill>
                <a:srgbClr val="000000"/>
              </a:solidFill>
              <a:effectLst/>
              <a:uFillTx/>
              <a:latin typeface="Arial"/>
            </a:endParaRPr>
          </a:p>
        </p:txBody>
      </p:sp>
      <p:sp>
        <p:nvSpPr>
          <p:cNvPr id="1266" name="Shape 583"/>
          <p:cNvSpPr/>
          <p:nvPr/>
        </p:nvSpPr>
        <p:spPr>
          <a:xfrm>
            <a:off x="5141160" y="1108800"/>
            <a:ext cx="4534920" cy="2014920"/>
          </a:xfrm>
          <a:prstGeom prst="roundRect">
            <a:avLst>
              <a:gd name="adj" fmla="val 5000"/>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400" b="0" u="none" strike="noStrike">
              <a:solidFill>
                <a:srgbClr val="000000"/>
              </a:solidFill>
              <a:effectLst/>
              <a:uFillTx/>
              <a:latin typeface="Arial"/>
            </a:endParaRPr>
          </a:p>
        </p:txBody>
      </p:sp>
      <p:sp>
        <p:nvSpPr>
          <p:cNvPr id="1267" name="Text 626"/>
          <p:cNvSpPr/>
          <p:nvPr/>
        </p:nvSpPr>
        <p:spPr>
          <a:xfrm>
            <a:off x="5292000" y="1168920"/>
            <a:ext cx="4232880" cy="342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b="1" u="none" strike="noStrike" dirty="0">
                <a:solidFill>
                  <a:srgbClr val="1E2761"/>
                </a:solidFill>
                <a:effectLst/>
                <a:uFillTx/>
                <a:latin typeface="Cambria"/>
                <a:ea typeface="Cambria"/>
              </a:rPr>
              <a:t>Pakiety</a:t>
            </a:r>
            <a:endParaRPr lang="pl-PL" b="0" u="none" strike="noStrike" dirty="0">
              <a:solidFill>
                <a:srgbClr val="000000"/>
              </a:solidFill>
              <a:effectLst/>
              <a:uFillTx/>
              <a:latin typeface="Arial"/>
            </a:endParaRPr>
          </a:p>
        </p:txBody>
      </p:sp>
      <p:sp>
        <p:nvSpPr>
          <p:cNvPr id="1268" name="Text 627"/>
          <p:cNvSpPr/>
          <p:nvPr/>
        </p:nvSpPr>
        <p:spPr>
          <a:xfrm>
            <a:off x="5313825" y="1592640"/>
            <a:ext cx="14101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2000" b="1" u="none" strike="noStrike" dirty="0" err="1">
                <a:solidFill>
                  <a:schemeClr val="accent1"/>
                </a:solidFill>
                <a:uFillTx/>
                <a:latin typeface="Calibri"/>
                <a:ea typeface="Calibri"/>
              </a:rPr>
              <a:t>brms</a:t>
            </a:r>
            <a:r>
              <a:rPr lang="pl-PL" sz="2000" b="1" u="none" strike="noStrike" dirty="0">
                <a:solidFill>
                  <a:schemeClr val="accent1"/>
                </a:solidFill>
                <a:uFillTx/>
                <a:latin typeface="Calibri"/>
                <a:ea typeface="Calibri"/>
              </a:rPr>
              <a:t> (R)</a:t>
            </a:r>
            <a:endParaRPr lang="pl-PL" sz="2000" b="0" u="none" strike="noStrike" dirty="0">
              <a:solidFill>
                <a:schemeClr val="accent1"/>
              </a:solidFill>
              <a:uFillTx/>
              <a:latin typeface="Arial"/>
            </a:endParaRPr>
          </a:p>
        </p:txBody>
      </p:sp>
      <p:sp>
        <p:nvSpPr>
          <p:cNvPr id="1269" name="Text 628"/>
          <p:cNvSpPr/>
          <p:nvPr/>
        </p:nvSpPr>
        <p:spPr>
          <a:xfrm>
            <a:off x="6591240" y="1592640"/>
            <a:ext cx="298404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500" b="0" u="none" strike="noStrike" dirty="0">
                <a:solidFill>
                  <a:srgbClr val="4A5280"/>
                </a:solidFill>
                <a:effectLst/>
                <a:uFillTx/>
                <a:latin typeface="Calibri"/>
                <a:ea typeface="Calibri"/>
              </a:rPr>
              <a:t>interfejs do Stan, składnia jak lme4</a:t>
            </a:r>
            <a:endParaRPr lang="pl-PL" sz="1500" b="0" u="none" strike="noStrike" dirty="0">
              <a:solidFill>
                <a:srgbClr val="000000"/>
              </a:solidFill>
              <a:effectLst/>
              <a:uFillTx/>
              <a:latin typeface="Arial"/>
            </a:endParaRPr>
          </a:p>
        </p:txBody>
      </p:sp>
      <p:sp>
        <p:nvSpPr>
          <p:cNvPr id="1270" name="Text 629"/>
          <p:cNvSpPr/>
          <p:nvPr/>
        </p:nvSpPr>
        <p:spPr>
          <a:xfrm>
            <a:off x="5313825" y="2066400"/>
            <a:ext cx="14101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2000" b="1" u="none" strike="noStrike">
                <a:solidFill>
                  <a:schemeClr val="accent1"/>
                </a:solidFill>
                <a:uFillTx/>
                <a:latin typeface="Calibri"/>
                <a:ea typeface="Calibri"/>
              </a:rPr>
              <a:t>PyMC</a:t>
            </a:r>
            <a:endParaRPr lang="pl-PL" sz="2000" b="0" u="none" strike="noStrike">
              <a:solidFill>
                <a:schemeClr val="accent1"/>
              </a:solidFill>
              <a:uFillTx/>
              <a:latin typeface="Arial"/>
            </a:endParaRPr>
          </a:p>
        </p:txBody>
      </p:sp>
      <p:sp>
        <p:nvSpPr>
          <p:cNvPr id="1271" name="Text 630"/>
          <p:cNvSpPr/>
          <p:nvPr/>
        </p:nvSpPr>
        <p:spPr>
          <a:xfrm>
            <a:off x="6604200" y="2066400"/>
            <a:ext cx="31489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500" b="0" u="none" strike="noStrike" dirty="0">
                <a:solidFill>
                  <a:srgbClr val="4A5280"/>
                </a:solidFill>
                <a:effectLst/>
                <a:uFillTx/>
                <a:latin typeface="Calibri"/>
                <a:ea typeface="Calibri"/>
              </a:rPr>
              <a:t>modelowanie </a:t>
            </a:r>
            <a:r>
              <a:rPr lang="pl-PL" sz="1500" b="0" u="none" strike="noStrike" dirty="0" err="1">
                <a:solidFill>
                  <a:srgbClr val="4A5280"/>
                </a:solidFill>
                <a:effectLst/>
                <a:uFillTx/>
                <a:latin typeface="Calibri"/>
                <a:ea typeface="Calibri"/>
              </a:rPr>
              <a:t>bayesowskie</a:t>
            </a:r>
            <a:r>
              <a:rPr lang="pl-PL" sz="1500" b="0" u="none" strike="noStrike" dirty="0">
                <a:solidFill>
                  <a:srgbClr val="4A5280"/>
                </a:solidFill>
                <a:effectLst/>
                <a:uFillTx/>
                <a:latin typeface="Calibri"/>
                <a:ea typeface="Calibri"/>
              </a:rPr>
              <a:t> </a:t>
            </a:r>
          </a:p>
          <a:p>
            <a:pPr defTabSz="914400">
              <a:lnSpc>
                <a:spcPct val="100000"/>
              </a:lnSpc>
              <a:tabLst>
                <a:tab pos="0" algn="l"/>
              </a:tabLst>
            </a:pPr>
            <a:r>
              <a:rPr lang="pl-PL" sz="1500" b="0" u="none" strike="noStrike" dirty="0">
                <a:solidFill>
                  <a:srgbClr val="4A5280"/>
                </a:solidFill>
                <a:effectLst/>
                <a:uFillTx/>
                <a:latin typeface="Calibri"/>
                <a:ea typeface="Calibri"/>
              </a:rPr>
              <a:t>w </a:t>
            </a:r>
            <a:r>
              <a:rPr lang="pl-PL" sz="1500" b="0" u="none" strike="noStrike" dirty="0" err="1">
                <a:solidFill>
                  <a:srgbClr val="4A5280"/>
                </a:solidFill>
                <a:effectLst/>
                <a:uFillTx/>
                <a:latin typeface="Calibri"/>
                <a:ea typeface="Calibri"/>
              </a:rPr>
              <a:t>Pythonie</a:t>
            </a:r>
            <a:endParaRPr lang="pl-PL" sz="1500" b="0" u="none" strike="noStrike" dirty="0">
              <a:solidFill>
                <a:srgbClr val="000000"/>
              </a:solidFill>
              <a:effectLst/>
              <a:uFillTx/>
              <a:latin typeface="Arial"/>
            </a:endParaRPr>
          </a:p>
        </p:txBody>
      </p:sp>
      <p:sp>
        <p:nvSpPr>
          <p:cNvPr id="1272" name="Text 631"/>
          <p:cNvSpPr/>
          <p:nvPr/>
        </p:nvSpPr>
        <p:spPr>
          <a:xfrm>
            <a:off x="5313825" y="2540160"/>
            <a:ext cx="14101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2000" b="1" u="none" strike="noStrike">
                <a:solidFill>
                  <a:schemeClr val="accent1"/>
                </a:solidFill>
                <a:uFillTx/>
                <a:latin typeface="Calibri"/>
                <a:ea typeface="Calibri"/>
              </a:rPr>
              <a:t>JASP</a:t>
            </a:r>
            <a:endParaRPr lang="pl-PL" sz="2000" b="0" u="none" strike="noStrike">
              <a:solidFill>
                <a:schemeClr val="accent1"/>
              </a:solidFill>
              <a:uFillTx/>
              <a:latin typeface="Arial"/>
            </a:endParaRPr>
          </a:p>
        </p:txBody>
      </p:sp>
      <p:sp>
        <p:nvSpPr>
          <p:cNvPr id="1273" name="Text 632"/>
          <p:cNvSpPr/>
          <p:nvPr/>
        </p:nvSpPr>
        <p:spPr>
          <a:xfrm>
            <a:off x="6602040" y="2540160"/>
            <a:ext cx="300924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500" b="0" u="none" strike="noStrike">
                <a:solidFill>
                  <a:srgbClr val="4A5280"/>
                </a:solidFill>
                <a:effectLst/>
                <a:uFillTx/>
                <a:latin typeface="Calibri"/>
                <a:ea typeface="Calibri"/>
              </a:rPr>
              <a:t>GUI, bez programowania</a:t>
            </a:r>
            <a:endParaRPr lang="pl-PL" sz="1500" b="0" u="none" strike="noStrike">
              <a:solidFill>
                <a:srgbClr val="000000"/>
              </a:solidFill>
              <a:effectLst/>
              <a:uFillTx/>
              <a:latin typeface="Arial"/>
            </a:endParaRPr>
          </a:p>
        </p:txBody>
      </p:sp>
      <p:sp>
        <p:nvSpPr>
          <p:cNvPr id="1274" name="Shape 584"/>
          <p:cNvSpPr/>
          <p:nvPr/>
        </p:nvSpPr>
        <p:spPr>
          <a:xfrm>
            <a:off x="403200" y="3306239"/>
            <a:ext cx="4534920" cy="2037285"/>
          </a:xfrm>
          <a:prstGeom prst="roundRect">
            <a:avLst>
              <a:gd name="adj" fmla="val 5128"/>
            </a:avLst>
          </a:prstGeom>
          <a:solidFill>
            <a:srgbClr val="FCFBFD"/>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1275" name="Text 633"/>
          <p:cNvSpPr/>
          <p:nvPr/>
        </p:nvSpPr>
        <p:spPr>
          <a:xfrm>
            <a:off x="526980" y="3332180"/>
            <a:ext cx="4195861" cy="30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1" u="none" strike="noStrike" dirty="0">
                <a:solidFill>
                  <a:srgbClr val="1E2761"/>
                </a:solidFill>
                <a:effectLst/>
                <a:uFillTx/>
                <a:latin typeface="Cambria"/>
                <a:ea typeface="Cambria"/>
              </a:rPr>
              <a:t>Aktualizacja bayesowska</a:t>
            </a:r>
            <a:endParaRPr lang="pl-PL" sz="1600" b="1" u="none" strike="noStrike" dirty="0">
              <a:solidFill>
                <a:srgbClr val="000000"/>
              </a:solidFill>
              <a:effectLst/>
              <a:uFillTx/>
              <a:latin typeface="Arial"/>
            </a:endParaRPr>
          </a:p>
        </p:txBody>
      </p:sp>
      <p:sp>
        <p:nvSpPr>
          <p:cNvPr id="1276" name="Shape 585"/>
          <p:cNvSpPr/>
          <p:nvPr/>
        </p:nvSpPr>
        <p:spPr>
          <a:xfrm>
            <a:off x="547576" y="3850920"/>
            <a:ext cx="1108490" cy="1087560"/>
          </a:xfrm>
          <a:prstGeom prst="ellipse">
            <a:avLst/>
          </a:prstGeom>
          <a:solidFill>
            <a:srgbClr val="8A93C0">
              <a:alpha val="45000"/>
            </a:srgbClr>
          </a:solidFill>
          <a:ln w="25400">
            <a:solidFill>
              <a:srgbClr val="8A93C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277" name="Text 634"/>
          <p:cNvSpPr/>
          <p:nvPr/>
        </p:nvSpPr>
        <p:spPr>
          <a:xfrm>
            <a:off x="547576" y="4989960"/>
            <a:ext cx="1033574" cy="261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600" b="1" u="none" strike="noStrike" dirty="0">
                <a:solidFill>
                  <a:srgbClr val="8A93C0"/>
                </a:solidFill>
                <a:effectLst/>
                <a:uFillTx/>
                <a:latin typeface="Calibri"/>
                <a:ea typeface="Calibri"/>
              </a:rPr>
              <a:t>Prior</a:t>
            </a:r>
            <a:endParaRPr lang="pl-PL" sz="1600" b="0" u="none" strike="noStrike" dirty="0">
              <a:solidFill>
                <a:srgbClr val="000000"/>
              </a:solidFill>
              <a:effectLst/>
              <a:uFillTx/>
              <a:latin typeface="Arial"/>
            </a:endParaRPr>
          </a:p>
        </p:txBody>
      </p:sp>
      <p:sp>
        <p:nvSpPr>
          <p:cNvPr id="1278" name="Shape 586"/>
          <p:cNvSpPr/>
          <p:nvPr/>
        </p:nvSpPr>
        <p:spPr>
          <a:xfrm>
            <a:off x="2043636" y="3850920"/>
            <a:ext cx="1108490" cy="1087560"/>
          </a:xfrm>
          <a:prstGeom prst="ellipse">
            <a:avLst/>
          </a:prstGeom>
          <a:solidFill>
            <a:srgbClr val="5B8FF9">
              <a:alpha val="45000"/>
            </a:srgbClr>
          </a:solidFill>
          <a:ln w="25400">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279" name="Text 635"/>
          <p:cNvSpPr/>
          <p:nvPr/>
        </p:nvSpPr>
        <p:spPr>
          <a:xfrm>
            <a:off x="2043636" y="4989960"/>
            <a:ext cx="1108490" cy="261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600" b="1" u="none" strike="noStrike" dirty="0" err="1">
                <a:solidFill>
                  <a:srgbClr val="5B8FF9"/>
                </a:solidFill>
                <a:effectLst/>
                <a:uFillTx/>
                <a:latin typeface="Calibri"/>
                <a:ea typeface="Calibri"/>
              </a:rPr>
              <a:t>Likelihood</a:t>
            </a:r>
            <a:endParaRPr lang="pl-PL" sz="1600" b="0" u="none" strike="noStrike" dirty="0">
              <a:solidFill>
                <a:srgbClr val="000000"/>
              </a:solidFill>
              <a:effectLst/>
              <a:uFillTx/>
              <a:latin typeface="Arial"/>
            </a:endParaRPr>
          </a:p>
        </p:txBody>
      </p:sp>
      <p:sp>
        <p:nvSpPr>
          <p:cNvPr id="1280" name="Shape 587"/>
          <p:cNvSpPr/>
          <p:nvPr/>
        </p:nvSpPr>
        <p:spPr>
          <a:xfrm>
            <a:off x="3587666" y="3850920"/>
            <a:ext cx="1108490" cy="1087560"/>
          </a:xfrm>
          <a:prstGeom prst="ellipse">
            <a:avLst/>
          </a:prstGeom>
          <a:solidFill>
            <a:srgbClr val="1E2761">
              <a:alpha val="45000"/>
            </a:srgbClr>
          </a:solidFill>
          <a:ln w="254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281" name="Text 636"/>
          <p:cNvSpPr/>
          <p:nvPr/>
        </p:nvSpPr>
        <p:spPr>
          <a:xfrm>
            <a:off x="3587321" y="4989960"/>
            <a:ext cx="1108835" cy="261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600" b="1" u="none" strike="noStrike" dirty="0" err="1">
                <a:solidFill>
                  <a:srgbClr val="1E2761"/>
                </a:solidFill>
                <a:effectLst/>
                <a:uFillTx/>
                <a:latin typeface="Calibri"/>
                <a:ea typeface="Calibri"/>
              </a:rPr>
              <a:t>Posterior</a:t>
            </a:r>
            <a:endParaRPr lang="pl-PL" sz="1600" b="0" u="none" strike="noStrike" dirty="0">
              <a:solidFill>
                <a:srgbClr val="000000"/>
              </a:solidFill>
              <a:effectLst/>
              <a:uFillTx/>
              <a:latin typeface="Arial"/>
            </a:endParaRPr>
          </a:p>
        </p:txBody>
      </p:sp>
      <p:sp>
        <p:nvSpPr>
          <p:cNvPr id="1282" name="Shape 588"/>
          <p:cNvSpPr/>
          <p:nvPr/>
        </p:nvSpPr>
        <p:spPr>
          <a:xfrm>
            <a:off x="5139360" y="3316320"/>
            <a:ext cx="4536720" cy="947880"/>
          </a:xfrm>
          <a:prstGeom prst="roundRect">
            <a:avLst>
              <a:gd name="adj" fmla="val 10000"/>
            </a:avLst>
          </a:prstGeom>
          <a:solidFill>
            <a:srgbClr val="EEF3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600" b="0" u="none" strike="noStrike">
              <a:solidFill>
                <a:srgbClr val="000000"/>
              </a:solidFill>
              <a:effectLst/>
              <a:uFillTx/>
              <a:latin typeface="Arial"/>
            </a:endParaRPr>
          </a:p>
        </p:txBody>
      </p:sp>
      <p:sp>
        <p:nvSpPr>
          <p:cNvPr id="1283" name="Text 637"/>
          <p:cNvSpPr/>
          <p:nvPr/>
        </p:nvSpPr>
        <p:spPr>
          <a:xfrm>
            <a:off x="5290560" y="3396960"/>
            <a:ext cx="4142570" cy="300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2000" b="1" u="none" strike="noStrike" dirty="0">
                <a:solidFill>
                  <a:srgbClr val="1E2761"/>
                </a:solidFill>
                <a:effectLst/>
                <a:uFillTx/>
                <a:latin typeface="Cambria"/>
                <a:ea typeface="Cambria"/>
              </a:rPr>
              <a:t>BF₁₀ = 7,3</a:t>
            </a:r>
            <a:endParaRPr lang="pl-PL" sz="2000" b="0" u="none" strike="noStrike" dirty="0">
              <a:solidFill>
                <a:srgbClr val="000000"/>
              </a:solidFill>
              <a:effectLst/>
              <a:uFillTx/>
              <a:latin typeface="Arial"/>
            </a:endParaRPr>
          </a:p>
        </p:txBody>
      </p:sp>
      <p:sp>
        <p:nvSpPr>
          <p:cNvPr id="1284" name="Text 638"/>
          <p:cNvSpPr/>
          <p:nvPr/>
        </p:nvSpPr>
        <p:spPr>
          <a:xfrm>
            <a:off x="5210175" y="3772695"/>
            <a:ext cx="4465905" cy="41014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tabLst>
                <a:tab pos="0" algn="l"/>
              </a:tabLst>
            </a:pPr>
            <a:r>
              <a:rPr lang="pl-PL" sz="1600" b="0" u="none" strike="noStrike" dirty="0">
                <a:solidFill>
                  <a:srgbClr val="4A5280"/>
                </a:solidFill>
                <a:effectLst/>
                <a:uFillTx/>
                <a:latin typeface="Calibri"/>
                <a:ea typeface="Calibri"/>
              </a:rPr>
              <a:t>Dane</a:t>
            </a:r>
            <a:r>
              <a:rPr lang="pl-PL" sz="1600" b="0" u="none" strike="noStrike" spc="-100" dirty="0">
                <a:solidFill>
                  <a:srgbClr val="4A5280"/>
                </a:solidFill>
                <a:effectLst/>
                <a:uFillTx/>
                <a:latin typeface="Calibri"/>
                <a:ea typeface="Calibri"/>
              </a:rPr>
              <a:t> 7</a:t>
            </a:r>
            <a:r>
              <a:rPr lang="pl-PL" sz="1600" b="0" u="none" strike="noStrike" spc="-200" dirty="0">
                <a:solidFill>
                  <a:srgbClr val="4A5280"/>
                </a:solidFill>
                <a:effectLst/>
                <a:uFillTx/>
                <a:latin typeface="Calibri"/>
                <a:ea typeface="Calibri"/>
              </a:rPr>
              <a:t>×</a:t>
            </a:r>
            <a:r>
              <a:rPr lang="pl-PL" sz="1600" b="0" u="none" strike="noStrike" spc="-100" dirty="0">
                <a:solidFill>
                  <a:srgbClr val="4A5280"/>
                </a:solidFill>
                <a:effectLst/>
                <a:uFillTx/>
                <a:latin typeface="Calibri"/>
                <a:ea typeface="Calibri"/>
              </a:rPr>
              <a:t> </a:t>
            </a:r>
            <a:r>
              <a:rPr lang="pl-PL" sz="1600" b="0" u="none" strike="noStrike" dirty="0">
                <a:solidFill>
                  <a:srgbClr val="4A5280"/>
                </a:solidFill>
                <a:effectLst/>
                <a:uFillTx/>
                <a:latin typeface="Calibri"/>
                <a:ea typeface="Calibri"/>
              </a:rPr>
              <a:t>bardziej prawdopodobne przy H₁ niż przy H₀</a:t>
            </a:r>
            <a:endParaRPr lang="pl-PL" sz="1600" b="0" u="none" strike="noStrike" dirty="0">
              <a:solidFill>
                <a:srgbClr val="000000"/>
              </a:solidFill>
              <a:effectLst/>
              <a:uFillTx/>
              <a:latin typeface="Arial"/>
            </a:endParaRPr>
          </a:p>
        </p:txBody>
      </p:sp>
      <p:sp>
        <p:nvSpPr>
          <p:cNvPr id="1285" name="Shape 589"/>
          <p:cNvSpPr/>
          <p:nvPr/>
        </p:nvSpPr>
        <p:spPr>
          <a:xfrm>
            <a:off x="5139360" y="4338975"/>
            <a:ext cx="4536720" cy="1004549"/>
          </a:xfrm>
          <a:prstGeom prst="roundRect">
            <a:avLst>
              <a:gd name="adj" fmla="val 12048"/>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600" b="0" u="none" strike="noStrike">
              <a:solidFill>
                <a:srgbClr val="000000"/>
              </a:solidFill>
              <a:effectLst/>
              <a:uFillTx/>
              <a:latin typeface="Arial"/>
            </a:endParaRPr>
          </a:p>
        </p:txBody>
      </p:sp>
      <p:sp>
        <p:nvSpPr>
          <p:cNvPr id="1286" name="Text 639"/>
          <p:cNvSpPr/>
          <p:nvPr/>
        </p:nvSpPr>
        <p:spPr>
          <a:xfrm>
            <a:off x="5248275" y="4394700"/>
            <a:ext cx="3945260" cy="261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1" u="none" strike="noStrike" dirty="0">
                <a:solidFill>
                  <a:srgbClr val="1E2761"/>
                </a:solidFill>
                <a:effectLst/>
                <a:uFillTx/>
                <a:latin typeface="Cambria"/>
                <a:ea typeface="Cambria"/>
              </a:rPr>
              <a:t>Przepływ informacji/pracy</a:t>
            </a:r>
            <a:endParaRPr lang="pl-PL" sz="1600" b="0" u="none" strike="noStrike" dirty="0">
              <a:solidFill>
                <a:srgbClr val="000000"/>
              </a:solidFill>
              <a:effectLst/>
              <a:uFillTx/>
              <a:latin typeface="Arial"/>
            </a:endParaRPr>
          </a:p>
        </p:txBody>
      </p:sp>
      <p:sp>
        <p:nvSpPr>
          <p:cNvPr id="1287" name="Text 640"/>
          <p:cNvSpPr/>
          <p:nvPr/>
        </p:nvSpPr>
        <p:spPr>
          <a:xfrm>
            <a:off x="5261984" y="4709940"/>
            <a:ext cx="4349295"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tabLst>
                <a:tab pos="0" algn="l"/>
              </a:tabLst>
            </a:pPr>
            <a:r>
              <a:rPr lang="pl-PL" sz="1600" dirty="0">
                <a:solidFill>
                  <a:srgbClr val="1A1F3C"/>
                </a:solidFill>
                <a:ea typeface="Calibri"/>
              </a:rPr>
              <a:t>Weryfikacja predykcji a priori → dopasowanie modelu → weryfikacja predykcji a posteriori</a:t>
            </a:r>
            <a:endParaRPr lang="pl-PL" sz="1600" b="0" u="none" strike="noStrike" dirty="0">
              <a:solidFill>
                <a:srgbClr val="000000"/>
              </a:solidFill>
              <a:effectLst/>
              <a:uFillTx/>
              <a:latin typeface="Arial"/>
            </a:endParaRPr>
          </a:p>
        </p:txBody>
      </p:sp>
      <p:pic>
        <p:nvPicPr>
          <p:cNvPr id="3" name="Obraz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3200" y="3617781"/>
            <a:ext cx="4534920" cy="1725743"/>
          </a:xfrm>
          <a:prstGeom prst="roundRect">
            <a:avLst>
              <a:gd name="adj" fmla="val 6555"/>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1288" name="Shape 590"/>
          <p:cNvSpPr/>
          <p:nvPr/>
        </p:nvSpPr>
        <p:spPr>
          <a:xfrm>
            <a:off x="360" y="360"/>
            <a:ext cx="10079640" cy="1006920"/>
          </a:xfrm>
          <a:prstGeom prst="rect">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289" name="Text 641"/>
          <p:cNvSpPr/>
          <p:nvPr/>
        </p:nvSpPr>
        <p:spPr>
          <a:xfrm>
            <a:off x="453240" y="70560"/>
            <a:ext cx="917244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defTabSz="914400">
              <a:lnSpc>
                <a:spcPct val="100000"/>
              </a:lnSpc>
              <a:tabLst>
                <a:tab pos="0" algn="l"/>
              </a:tabLst>
            </a:pPr>
            <a:r>
              <a:rPr lang="pl-PL" sz="2200" b="1" u="none" strike="noStrike">
                <a:solidFill>
                  <a:srgbClr val="FFFFFF"/>
                </a:solidFill>
                <a:effectLst/>
                <a:uFillTx/>
                <a:latin typeface="Cambria"/>
                <a:ea typeface="Cambria"/>
              </a:rPr>
              <a:t>MACHINE LEARNING BEZ MITOLOGII</a:t>
            </a:r>
            <a:endParaRPr lang="pl-PL" sz="2200" b="0" u="none" strike="noStrike">
              <a:solidFill>
                <a:srgbClr val="000000"/>
              </a:solidFill>
              <a:effectLst/>
              <a:uFillTx/>
              <a:latin typeface="Arial"/>
            </a:endParaRPr>
          </a:p>
        </p:txBody>
      </p:sp>
      <p:sp>
        <p:nvSpPr>
          <p:cNvPr id="1290" name="Text 642"/>
          <p:cNvSpPr/>
          <p:nvPr/>
        </p:nvSpPr>
        <p:spPr>
          <a:xfrm>
            <a:off x="453240" y="594720"/>
            <a:ext cx="9172440" cy="331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pl-PL" sz="1300" b="0" i="1" u="none" strike="noStrike">
                <a:solidFill>
                  <a:srgbClr val="CADCFC"/>
                </a:solidFill>
                <a:effectLst/>
                <a:uFillTx/>
                <a:latin typeface="Calibri"/>
                <a:ea typeface="Calibri"/>
              </a:rPr>
              <a:t>Uczenie maszynowe w psychologii: kiedy i jak stosować</a:t>
            </a:r>
            <a:endParaRPr lang="pl-PL" sz="1300" b="0" u="none" strike="noStrike">
              <a:solidFill>
                <a:srgbClr val="000000"/>
              </a:solidFill>
              <a:effectLst/>
              <a:uFillTx/>
              <a:latin typeface="Arial"/>
            </a:endParaRPr>
          </a:p>
        </p:txBody>
      </p:sp>
      <p:sp>
        <p:nvSpPr>
          <p:cNvPr id="1291" name="Shape 591"/>
          <p:cNvSpPr/>
          <p:nvPr/>
        </p:nvSpPr>
        <p:spPr>
          <a:xfrm>
            <a:off x="403200" y="1180800"/>
            <a:ext cx="4434480" cy="885960"/>
          </a:xfrm>
          <a:prstGeom prst="roundRect">
            <a:avLst>
              <a:gd name="adj" fmla="val 11364"/>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600" b="0" u="none" strike="noStrike">
              <a:solidFill>
                <a:srgbClr val="000000"/>
              </a:solidFill>
              <a:effectLst/>
              <a:uFillTx/>
              <a:latin typeface="Arial"/>
            </a:endParaRPr>
          </a:p>
        </p:txBody>
      </p:sp>
      <p:sp>
        <p:nvSpPr>
          <p:cNvPr id="1292" name="Shape 592"/>
          <p:cNvSpPr/>
          <p:nvPr/>
        </p:nvSpPr>
        <p:spPr>
          <a:xfrm>
            <a:off x="402840" y="1180800"/>
            <a:ext cx="1510920" cy="885960"/>
          </a:xfrm>
          <a:prstGeom prst="roundRect">
            <a:avLst>
              <a:gd name="adj" fmla="val 9091"/>
            </a:avLst>
          </a:prstGeom>
          <a:solidFill>
            <a:srgbClr val="1E276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600" b="0" u="none" strike="noStrike">
              <a:solidFill>
                <a:srgbClr val="FFFFFF"/>
              </a:solidFill>
              <a:effectLst/>
              <a:uFillTx/>
              <a:latin typeface="Arial"/>
            </a:endParaRPr>
          </a:p>
        </p:txBody>
      </p:sp>
      <p:sp>
        <p:nvSpPr>
          <p:cNvPr id="1293" name="Text 643"/>
          <p:cNvSpPr/>
          <p:nvPr/>
        </p:nvSpPr>
        <p:spPr>
          <a:xfrm>
            <a:off x="402840" y="1180800"/>
            <a:ext cx="1510920" cy="885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b="1" u="none" strike="noStrike" dirty="0">
                <a:solidFill>
                  <a:srgbClr val="FFFFFF"/>
                </a:solidFill>
                <a:effectLst/>
                <a:uFillTx/>
                <a:latin typeface="Cambria"/>
                <a:ea typeface="Cambria"/>
              </a:rPr>
              <a:t>Klasyfikacja</a:t>
            </a:r>
            <a:endParaRPr lang="pl-PL" b="0" u="none" strike="noStrike" dirty="0">
              <a:solidFill>
                <a:srgbClr val="000000"/>
              </a:solidFill>
              <a:effectLst/>
              <a:uFillTx/>
              <a:latin typeface="Arial"/>
            </a:endParaRPr>
          </a:p>
        </p:txBody>
      </p:sp>
      <p:sp>
        <p:nvSpPr>
          <p:cNvPr id="1294" name="Text 644"/>
          <p:cNvSpPr/>
          <p:nvPr/>
        </p:nvSpPr>
        <p:spPr>
          <a:xfrm>
            <a:off x="2016000" y="1180800"/>
            <a:ext cx="2821320" cy="885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20000"/>
              </a:lnSpc>
              <a:tabLst>
                <a:tab pos="0" algn="l"/>
              </a:tabLst>
            </a:pPr>
            <a:r>
              <a:rPr lang="pl-PL" sz="1600" b="0" u="none" strike="noStrike" dirty="0">
                <a:solidFill>
                  <a:srgbClr val="1A1F3C"/>
                </a:solidFill>
                <a:effectLst/>
                <a:uFillTx/>
                <a:latin typeface="Calibri"/>
                <a:ea typeface="Calibri"/>
              </a:rPr>
              <a:t>Przewidywanie kategorii </a:t>
            </a:r>
            <a:br>
              <a:rPr lang="pl-PL" sz="1600" b="0" u="none" strike="noStrike" dirty="0">
                <a:solidFill>
                  <a:srgbClr val="1A1F3C"/>
                </a:solidFill>
                <a:effectLst/>
                <a:uFillTx/>
                <a:latin typeface="Calibri"/>
                <a:ea typeface="Calibri"/>
              </a:rPr>
            </a:br>
            <a:r>
              <a:rPr lang="pl-PL" sz="1600" b="0" u="none" strike="noStrike" dirty="0">
                <a:solidFill>
                  <a:srgbClr val="1A1F3C"/>
                </a:solidFill>
                <a:effectLst/>
                <a:uFillTx/>
                <a:latin typeface="Calibri"/>
                <a:ea typeface="Calibri"/>
              </a:rPr>
              <a:t>(np. grupa kliniczna/ kontrolna)</a:t>
            </a:r>
            <a:endParaRPr lang="pl-PL" sz="1600" b="0" u="none" strike="noStrike" dirty="0">
              <a:solidFill>
                <a:srgbClr val="000000"/>
              </a:solidFill>
              <a:effectLst/>
              <a:uFillTx/>
              <a:latin typeface="Arial"/>
            </a:endParaRPr>
          </a:p>
        </p:txBody>
      </p:sp>
      <p:sp>
        <p:nvSpPr>
          <p:cNvPr id="1295" name="Shape 593"/>
          <p:cNvSpPr/>
          <p:nvPr/>
        </p:nvSpPr>
        <p:spPr>
          <a:xfrm>
            <a:off x="403200" y="2188800"/>
            <a:ext cx="4434480" cy="885960"/>
          </a:xfrm>
          <a:prstGeom prst="roundRect">
            <a:avLst>
              <a:gd name="adj" fmla="val 11364"/>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600" b="0" u="none" strike="noStrike">
              <a:solidFill>
                <a:srgbClr val="000000"/>
              </a:solidFill>
              <a:effectLst/>
              <a:uFillTx/>
              <a:latin typeface="Arial"/>
            </a:endParaRPr>
          </a:p>
        </p:txBody>
      </p:sp>
      <p:sp>
        <p:nvSpPr>
          <p:cNvPr id="1296" name="Shape 594"/>
          <p:cNvSpPr/>
          <p:nvPr/>
        </p:nvSpPr>
        <p:spPr>
          <a:xfrm>
            <a:off x="402840" y="2188800"/>
            <a:ext cx="1510920" cy="885960"/>
          </a:xfrm>
          <a:prstGeom prst="roundRect">
            <a:avLst>
              <a:gd name="adj" fmla="val 9091"/>
            </a:avLst>
          </a:prstGeom>
          <a:solidFill>
            <a:srgbClr val="5B8FF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600" b="0" u="none" strike="noStrike">
              <a:solidFill>
                <a:srgbClr val="FFFFFF"/>
              </a:solidFill>
              <a:effectLst/>
              <a:uFillTx/>
              <a:latin typeface="Arial"/>
            </a:endParaRPr>
          </a:p>
        </p:txBody>
      </p:sp>
      <p:sp>
        <p:nvSpPr>
          <p:cNvPr id="1297" name="Text 645"/>
          <p:cNvSpPr/>
          <p:nvPr/>
        </p:nvSpPr>
        <p:spPr>
          <a:xfrm>
            <a:off x="402840" y="2188800"/>
            <a:ext cx="1510920" cy="885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900" b="1" u="none" strike="noStrike" dirty="0">
                <a:solidFill>
                  <a:srgbClr val="FFFFFF"/>
                </a:solidFill>
                <a:effectLst/>
                <a:uFillTx/>
                <a:latin typeface="Cambria"/>
                <a:ea typeface="Cambria"/>
              </a:rPr>
              <a:t>Regresja</a:t>
            </a:r>
            <a:endParaRPr lang="pl-PL" sz="1900" b="0" u="none" strike="noStrike" dirty="0">
              <a:solidFill>
                <a:srgbClr val="000000"/>
              </a:solidFill>
              <a:effectLst/>
              <a:uFillTx/>
              <a:latin typeface="Arial"/>
            </a:endParaRPr>
          </a:p>
        </p:txBody>
      </p:sp>
      <p:sp>
        <p:nvSpPr>
          <p:cNvPr id="1298" name="Text 646"/>
          <p:cNvSpPr/>
          <p:nvPr/>
        </p:nvSpPr>
        <p:spPr>
          <a:xfrm>
            <a:off x="2016000" y="2188800"/>
            <a:ext cx="2720880" cy="885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20000"/>
              </a:lnSpc>
              <a:tabLst>
                <a:tab pos="0" algn="l"/>
              </a:tabLst>
            </a:pPr>
            <a:r>
              <a:rPr lang="pl-PL" sz="1600" b="0" u="none" strike="noStrike">
                <a:solidFill>
                  <a:srgbClr val="1A1F3C"/>
                </a:solidFill>
                <a:effectLst/>
                <a:uFillTx/>
                <a:latin typeface="Calibri"/>
                <a:ea typeface="Calibri"/>
              </a:rPr>
              <a:t>Przewidywanie wartości ciągłej (np. poziom stresu)</a:t>
            </a:r>
            <a:endParaRPr lang="pl-PL" sz="1600" b="0" u="none" strike="noStrike">
              <a:solidFill>
                <a:srgbClr val="000000"/>
              </a:solidFill>
              <a:effectLst/>
              <a:uFillTx/>
              <a:latin typeface="Arial"/>
            </a:endParaRPr>
          </a:p>
        </p:txBody>
      </p:sp>
      <p:sp>
        <p:nvSpPr>
          <p:cNvPr id="1299" name="Shape 595"/>
          <p:cNvSpPr/>
          <p:nvPr/>
        </p:nvSpPr>
        <p:spPr>
          <a:xfrm>
            <a:off x="403200" y="3196800"/>
            <a:ext cx="4434480" cy="814320"/>
          </a:xfrm>
          <a:prstGeom prst="roundRect">
            <a:avLst>
              <a:gd name="adj" fmla="val 11364"/>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600" b="0" u="none" strike="noStrike">
              <a:solidFill>
                <a:srgbClr val="000000"/>
              </a:solidFill>
              <a:effectLst/>
              <a:uFillTx/>
              <a:latin typeface="Arial"/>
            </a:endParaRPr>
          </a:p>
        </p:txBody>
      </p:sp>
      <p:sp>
        <p:nvSpPr>
          <p:cNvPr id="1300" name="Shape 596"/>
          <p:cNvSpPr/>
          <p:nvPr/>
        </p:nvSpPr>
        <p:spPr>
          <a:xfrm>
            <a:off x="402840" y="3196800"/>
            <a:ext cx="1510920" cy="814320"/>
          </a:xfrm>
          <a:prstGeom prst="roundRect">
            <a:avLst>
              <a:gd name="adj" fmla="val 9091"/>
            </a:avLst>
          </a:prstGeom>
          <a:solidFill>
            <a:srgbClr val="3ECFB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1301" name="Text 647"/>
          <p:cNvSpPr/>
          <p:nvPr/>
        </p:nvSpPr>
        <p:spPr>
          <a:xfrm>
            <a:off x="339636" y="3188091"/>
            <a:ext cx="1600251" cy="81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800" b="1" u="none" strike="noStrike" spc="-30" dirty="0">
                <a:solidFill>
                  <a:srgbClr val="FFFFFF"/>
                </a:solidFill>
                <a:effectLst/>
                <a:uFillTx/>
                <a:latin typeface="Cambria"/>
                <a:ea typeface="Cambria"/>
              </a:rPr>
              <a:t>Klasteryzacja</a:t>
            </a:r>
            <a:endParaRPr lang="pl-PL" sz="1800" b="0" u="none" strike="noStrike" spc="-30" dirty="0">
              <a:solidFill>
                <a:srgbClr val="000000"/>
              </a:solidFill>
              <a:effectLst/>
              <a:uFillTx/>
              <a:latin typeface="Arial"/>
            </a:endParaRPr>
          </a:p>
        </p:txBody>
      </p:sp>
      <p:sp>
        <p:nvSpPr>
          <p:cNvPr id="1302" name="Text 648"/>
          <p:cNvSpPr/>
          <p:nvPr/>
        </p:nvSpPr>
        <p:spPr>
          <a:xfrm>
            <a:off x="2016000" y="3196800"/>
            <a:ext cx="2720880" cy="885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20000"/>
              </a:lnSpc>
              <a:tabLst>
                <a:tab pos="0" algn="l"/>
              </a:tabLst>
            </a:pPr>
            <a:r>
              <a:rPr lang="pl-PL" sz="1600" b="0" u="none" strike="noStrike">
                <a:solidFill>
                  <a:srgbClr val="1A1F3C"/>
                </a:solidFill>
                <a:effectLst/>
                <a:uFillTx/>
                <a:latin typeface="Calibri"/>
                <a:ea typeface="Calibri"/>
              </a:rPr>
              <a:t>Wykrywanie ukrytej struktury w danych bez etykiet</a:t>
            </a:r>
            <a:endParaRPr lang="pl-PL" sz="1600" b="0" u="none" strike="noStrike">
              <a:solidFill>
                <a:srgbClr val="000000"/>
              </a:solidFill>
              <a:effectLst/>
              <a:uFillTx/>
              <a:latin typeface="Arial"/>
            </a:endParaRPr>
          </a:p>
        </p:txBody>
      </p:sp>
      <p:sp>
        <p:nvSpPr>
          <p:cNvPr id="1303" name="Text 649"/>
          <p:cNvSpPr/>
          <p:nvPr/>
        </p:nvSpPr>
        <p:spPr>
          <a:xfrm>
            <a:off x="402840" y="4465440"/>
            <a:ext cx="4434480" cy="73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50000"/>
              </a:lnSpc>
              <a:tabLst>
                <a:tab pos="0" algn="l"/>
              </a:tabLst>
            </a:pPr>
            <a:r>
              <a:rPr lang="pl-PL" sz="2000" u="none" strike="noStrike" dirty="0">
                <a:solidFill>
                  <a:srgbClr val="1E2761"/>
                </a:solidFill>
                <a:effectLst/>
                <a:uFillTx/>
                <a:latin typeface="Cambria Math" panose="02040503050406030204" pitchFamily="18" charset="0"/>
                <a:ea typeface="Cambria Math" panose="02040503050406030204" pitchFamily="18" charset="0"/>
              </a:rPr>
              <a:t>ML jest narzędziem predykcji, </a:t>
            </a:r>
            <a:br>
              <a:rPr sz="2000" dirty="0">
                <a:latin typeface="Cambria Math" panose="02040503050406030204" pitchFamily="18" charset="0"/>
                <a:ea typeface="Cambria Math" panose="02040503050406030204" pitchFamily="18" charset="0"/>
              </a:rPr>
            </a:br>
            <a:r>
              <a:rPr lang="pl-PL" sz="2000" u="none" strike="noStrike" dirty="0">
                <a:solidFill>
                  <a:srgbClr val="1E2761"/>
                </a:solidFill>
                <a:effectLst/>
                <a:uFillTx/>
                <a:latin typeface="Cambria Math" panose="02040503050406030204" pitchFamily="18" charset="0"/>
                <a:ea typeface="Cambria Math" panose="02040503050406030204" pitchFamily="18" charset="0"/>
              </a:rPr>
              <a:t>a nie wyjaśniania przyczynowego.</a:t>
            </a:r>
            <a:endParaRPr lang="pl-PL" sz="2000" u="none" strike="noStrike" dirty="0">
              <a:solidFill>
                <a:srgbClr val="000000"/>
              </a:solidFill>
              <a:effectLst/>
              <a:uFillTx/>
              <a:latin typeface="Cambria Math" panose="02040503050406030204" pitchFamily="18" charset="0"/>
              <a:ea typeface="Cambria Math" panose="02040503050406030204" pitchFamily="18" charset="0"/>
            </a:endParaRPr>
          </a:p>
        </p:txBody>
      </p:sp>
      <p:sp>
        <p:nvSpPr>
          <p:cNvPr id="1304" name="Shape 597"/>
          <p:cNvSpPr/>
          <p:nvPr/>
        </p:nvSpPr>
        <p:spPr>
          <a:xfrm>
            <a:off x="5141160" y="1108800"/>
            <a:ext cx="4535280" cy="2569320"/>
          </a:xfrm>
          <a:prstGeom prst="roundRect">
            <a:avLst>
              <a:gd name="adj" fmla="val 3922"/>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600" b="0" u="none" strike="noStrike">
              <a:solidFill>
                <a:srgbClr val="000000"/>
              </a:solidFill>
              <a:effectLst/>
              <a:uFillTx/>
              <a:latin typeface="Arial"/>
            </a:endParaRPr>
          </a:p>
        </p:txBody>
      </p:sp>
      <p:sp>
        <p:nvSpPr>
          <p:cNvPr id="1305" name="Text 650"/>
          <p:cNvSpPr/>
          <p:nvPr/>
        </p:nvSpPr>
        <p:spPr>
          <a:xfrm>
            <a:off x="5292000" y="1168920"/>
            <a:ext cx="4232880" cy="32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800" b="1" u="none" strike="noStrike">
                <a:solidFill>
                  <a:srgbClr val="1E2761"/>
                </a:solidFill>
                <a:effectLst/>
                <a:uFillTx/>
                <a:latin typeface="Cambria"/>
                <a:ea typeface="Cambria"/>
              </a:rPr>
              <a:t>Pipeline i pułapki</a:t>
            </a:r>
            <a:endParaRPr lang="pl-PL" sz="1800" b="0" u="none" strike="noStrike">
              <a:solidFill>
                <a:srgbClr val="000000"/>
              </a:solidFill>
              <a:effectLst/>
              <a:uFillTx/>
              <a:latin typeface="Arial"/>
            </a:endParaRPr>
          </a:p>
        </p:txBody>
      </p:sp>
      <p:sp>
        <p:nvSpPr>
          <p:cNvPr id="1306" name="Shape 598"/>
          <p:cNvSpPr/>
          <p:nvPr/>
        </p:nvSpPr>
        <p:spPr>
          <a:xfrm>
            <a:off x="5400000" y="1572120"/>
            <a:ext cx="4031280" cy="321480"/>
          </a:xfrm>
          <a:prstGeom prst="roundRect">
            <a:avLst>
              <a:gd name="adj" fmla="val 18750"/>
            </a:avLst>
          </a:prstGeom>
          <a:solidFill>
            <a:srgbClr val="2D3B8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3200" b="0" u="none" strike="noStrike">
              <a:solidFill>
                <a:srgbClr val="FFFFFF"/>
              </a:solidFill>
              <a:effectLst/>
              <a:uFillTx/>
              <a:latin typeface="Arial"/>
            </a:endParaRPr>
          </a:p>
        </p:txBody>
      </p:sp>
      <p:sp>
        <p:nvSpPr>
          <p:cNvPr id="1307" name="Text 651"/>
          <p:cNvSpPr/>
          <p:nvPr/>
        </p:nvSpPr>
        <p:spPr>
          <a:xfrm>
            <a:off x="5400000" y="1572120"/>
            <a:ext cx="4031280" cy="32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600" b="0" u="none" strike="noStrike">
                <a:solidFill>
                  <a:srgbClr val="FFFFFF"/>
                </a:solidFill>
                <a:effectLst/>
                <a:uFillTx/>
                <a:latin typeface="Calibri"/>
                <a:ea typeface="Calibri"/>
              </a:rPr>
              <a:t>Dane</a:t>
            </a:r>
            <a:endParaRPr lang="pl-PL" sz="1600" b="0" u="none" strike="noStrike">
              <a:solidFill>
                <a:srgbClr val="000000"/>
              </a:solidFill>
              <a:effectLst/>
              <a:uFillTx/>
              <a:latin typeface="Arial"/>
            </a:endParaRPr>
          </a:p>
        </p:txBody>
      </p:sp>
      <p:sp>
        <p:nvSpPr>
          <p:cNvPr id="1308" name="Shape 599"/>
          <p:cNvSpPr/>
          <p:nvPr/>
        </p:nvSpPr>
        <p:spPr>
          <a:xfrm>
            <a:off x="5400000" y="1975320"/>
            <a:ext cx="4031280" cy="321480"/>
          </a:xfrm>
          <a:prstGeom prst="roundRect">
            <a:avLst>
              <a:gd name="adj" fmla="val 18750"/>
            </a:avLst>
          </a:prstGeom>
          <a:solidFill>
            <a:srgbClr val="D64045"/>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3200" b="0" u="none" strike="noStrike">
              <a:solidFill>
                <a:srgbClr val="FFFFFF"/>
              </a:solidFill>
              <a:effectLst/>
              <a:uFillTx/>
              <a:latin typeface="Arial"/>
            </a:endParaRPr>
          </a:p>
        </p:txBody>
      </p:sp>
      <p:sp>
        <p:nvSpPr>
          <p:cNvPr id="1309" name="Text 652"/>
          <p:cNvSpPr/>
          <p:nvPr/>
        </p:nvSpPr>
        <p:spPr>
          <a:xfrm>
            <a:off x="5400000" y="1975680"/>
            <a:ext cx="4031280" cy="32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500" b="0" u="none" strike="noStrike" dirty="0">
                <a:solidFill>
                  <a:srgbClr val="FFFFFF"/>
                </a:solidFill>
                <a:effectLst/>
                <a:uFillTx/>
                <a:latin typeface="Calibri"/>
                <a:ea typeface="Calibri"/>
              </a:rPr>
              <a:t>Podział (</a:t>
            </a:r>
            <a:r>
              <a:rPr lang="pl-PL" sz="1500" b="0" u="none" strike="noStrike" dirty="0" err="1">
                <a:solidFill>
                  <a:srgbClr val="FFFFFF"/>
                </a:solidFill>
                <a:effectLst/>
                <a:uFillTx/>
                <a:latin typeface="Calibri"/>
                <a:ea typeface="Calibri"/>
              </a:rPr>
              <a:t>train</a:t>
            </a:r>
            <a:r>
              <a:rPr lang="pl-PL" sz="1500" b="0" u="none" strike="noStrike" dirty="0">
                <a:solidFill>
                  <a:srgbClr val="FFFFFF"/>
                </a:solidFill>
                <a:effectLst/>
                <a:uFillTx/>
                <a:latin typeface="Calibri"/>
                <a:ea typeface="Calibri"/>
              </a:rPr>
              <a:t>/</a:t>
            </a:r>
            <a:r>
              <a:rPr lang="pl-PL" sz="1500" b="0" u="none" strike="noStrike" dirty="0" err="1">
                <a:solidFill>
                  <a:srgbClr val="FFFFFF"/>
                </a:solidFill>
                <a:effectLst/>
                <a:uFillTx/>
                <a:latin typeface="Calibri"/>
                <a:ea typeface="Calibri"/>
              </a:rPr>
              <a:t>val</a:t>
            </a:r>
            <a:r>
              <a:rPr lang="pl-PL" sz="1500" b="0" u="none" strike="noStrike" dirty="0">
                <a:solidFill>
                  <a:srgbClr val="FFFFFF"/>
                </a:solidFill>
                <a:effectLst/>
                <a:uFillTx/>
                <a:latin typeface="Calibri"/>
                <a:ea typeface="Calibri"/>
              </a:rPr>
              <a:t>/test)  -  ⚠ ryzyko przecieku</a:t>
            </a:r>
            <a:endParaRPr lang="pl-PL" sz="1500" b="0" u="none" strike="noStrike" dirty="0">
              <a:solidFill>
                <a:srgbClr val="000000"/>
              </a:solidFill>
              <a:effectLst/>
              <a:uFillTx/>
              <a:latin typeface="Arial"/>
            </a:endParaRPr>
          </a:p>
        </p:txBody>
      </p:sp>
      <p:sp>
        <p:nvSpPr>
          <p:cNvPr id="1310" name="Shape 600"/>
          <p:cNvSpPr/>
          <p:nvPr/>
        </p:nvSpPr>
        <p:spPr>
          <a:xfrm>
            <a:off x="5400000" y="2378880"/>
            <a:ext cx="4031280" cy="321480"/>
          </a:xfrm>
          <a:prstGeom prst="roundRect">
            <a:avLst>
              <a:gd name="adj" fmla="val 18750"/>
            </a:avLst>
          </a:prstGeom>
          <a:solidFill>
            <a:srgbClr val="2D3B8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3200" b="0" u="none" strike="noStrike">
              <a:solidFill>
                <a:srgbClr val="FFFFFF"/>
              </a:solidFill>
              <a:effectLst/>
              <a:uFillTx/>
              <a:latin typeface="Arial"/>
            </a:endParaRPr>
          </a:p>
        </p:txBody>
      </p:sp>
      <p:sp>
        <p:nvSpPr>
          <p:cNvPr id="1311" name="Text 653"/>
          <p:cNvSpPr/>
          <p:nvPr/>
        </p:nvSpPr>
        <p:spPr>
          <a:xfrm>
            <a:off x="5400000" y="2378880"/>
            <a:ext cx="4031280" cy="32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600" b="0" u="none" strike="noStrike">
                <a:solidFill>
                  <a:srgbClr val="FFFFFF"/>
                </a:solidFill>
                <a:effectLst/>
                <a:uFillTx/>
                <a:latin typeface="Calibri"/>
                <a:ea typeface="Calibri"/>
              </a:rPr>
              <a:t>Preprocessing</a:t>
            </a:r>
            <a:endParaRPr lang="pl-PL" sz="1600" b="0" u="none" strike="noStrike">
              <a:solidFill>
                <a:srgbClr val="000000"/>
              </a:solidFill>
              <a:effectLst/>
              <a:uFillTx/>
              <a:latin typeface="Arial"/>
            </a:endParaRPr>
          </a:p>
        </p:txBody>
      </p:sp>
      <p:sp>
        <p:nvSpPr>
          <p:cNvPr id="1312" name="Shape 601"/>
          <p:cNvSpPr/>
          <p:nvPr/>
        </p:nvSpPr>
        <p:spPr>
          <a:xfrm>
            <a:off x="5400000" y="2782080"/>
            <a:ext cx="4031280" cy="321480"/>
          </a:xfrm>
          <a:prstGeom prst="roundRect">
            <a:avLst>
              <a:gd name="adj" fmla="val 18750"/>
            </a:avLst>
          </a:prstGeom>
          <a:solidFill>
            <a:srgbClr val="2D3B8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3200" b="0" u="none" strike="noStrike">
              <a:solidFill>
                <a:srgbClr val="FFFFFF"/>
              </a:solidFill>
              <a:effectLst/>
              <a:uFillTx/>
              <a:latin typeface="Arial"/>
            </a:endParaRPr>
          </a:p>
        </p:txBody>
      </p:sp>
      <p:sp>
        <p:nvSpPr>
          <p:cNvPr id="1313" name="Text 654"/>
          <p:cNvSpPr/>
          <p:nvPr/>
        </p:nvSpPr>
        <p:spPr>
          <a:xfrm>
            <a:off x="5400000" y="2782080"/>
            <a:ext cx="4031280" cy="32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600" b="0" u="none" strike="noStrike">
                <a:solidFill>
                  <a:srgbClr val="FFFFFF"/>
                </a:solidFill>
                <a:effectLst/>
                <a:uFillTx/>
                <a:latin typeface="Calibri"/>
                <a:ea typeface="Calibri"/>
              </a:rPr>
              <a:t>Model</a:t>
            </a:r>
            <a:endParaRPr lang="pl-PL" sz="1600" b="0" u="none" strike="noStrike">
              <a:solidFill>
                <a:srgbClr val="000000"/>
              </a:solidFill>
              <a:effectLst/>
              <a:uFillTx/>
              <a:latin typeface="Arial"/>
            </a:endParaRPr>
          </a:p>
        </p:txBody>
      </p:sp>
      <p:sp>
        <p:nvSpPr>
          <p:cNvPr id="1314" name="Shape 602"/>
          <p:cNvSpPr/>
          <p:nvPr/>
        </p:nvSpPr>
        <p:spPr>
          <a:xfrm>
            <a:off x="5400000" y="3185280"/>
            <a:ext cx="4031280" cy="321480"/>
          </a:xfrm>
          <a:prstGeom prst="roundRect">
            <a:avLst>
              <a:gd name="adj" fmla="val 18750"/>
            </a:avLst>
          </a:prstGeom>
          <a:solidFill>
            <a:srgbClr val="2D3B8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3200" b="0" u="none" strike="noStrike">
              <a:solidFill>
                <a:srgbClr val="FFFFFF"/>
              </a:solidFill>
              <a:effectLst/>
              <a:uFillTx/>
              <a:latin typeface="Arial"/>
            </a:endParaRPr>
          </a:p>
        </p:txBody>
      </p:sp>
      <p:sp>
        <p:nvSpPr>
          <p:cNvPr id="1315" name="Text 655"/>
          <p:cNvSpPr/>
          <p:nvPr/>
        </p:nvSpPr>
        <p:spPr>
          <a:xfrm>
            <a:off x="5400000" y="3185280"/>
            <a:ext cx="4031280" cy="32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600" b="0" u="none" strike="noStrike">
                <a:solidFill>
                  <a:srgbClr val="FFFFFF"/>
                </a:solidFill>
                <a:effectLst/>
                <a:uFillTx/>
                <a:latin typeface="Calibri"/>
                <a:ea typeface="Calibri"/>
              </a:rPr>
              <a:t>Ocena (CV, AUC)</a:t>
            </a:r>
            <a:endParaRPr lang="pl-PL" sz="1600" b="0" u="none" strike="noStrike">
              <a:solidFill>
                <a:srgbClr val="000000"/>
              </a:solidFill>
              <a:effectLst/>
              <a:uFillTx/>
              <a:latin typeface="Arial"/>
            </a:endParaRPr>
          </a:p>
        </p:txBody>
      </p:sp>
      <p:sp>
        <p:nvSpPr>
          <p:cNvPr id="1316" name="Shape 603"/>
          <p:cNvSpPr/>
          <p:nvPr/>
        </p:nvSpPr>
        <p:spPr>
          <a:xfrm>
            <a:off x="5141160" y="3881160"/>
            <a:ext cx="4535280" cy="1460520"/>
          </a:xfrm>
          <a:prstGeom prst="roundRect">
            <a:avLst>
              <a:gd name="adj" fmla="val 6897"/>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800" b="0" u="none" strike="noStrike">
              <a:solidFill>
                <a:srgbClr val="000000"/>
              </a:solidFill>
              <a:effectLst/>
              <a:uFillTx/>
              <a:latin typeface="Arial"/>
            </a:endParaRPr>
          </a:p>
        </p:txBody>
      </p:sp>
      <p:sp>
        <p:nvSpPr>
          <p:cNvPr id="1317" name="Text 656"/>
          <p:cNvSpPr/>
          <p:nvPr/>
        </p:nvSpPr>
        <p:spPr>
          <a:xfrm>
            <a:off x="5292000" y="3931200"/>
            <a:ext cx="4232880" cy="30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800" b="1" u="none" strike="noStrike">
                <a:solidFill>
                  <a:srgbClr val="1E2761"/>
                </a:solidFill>
                <a:effectLst/>
                <a:uFillTx/>
                <a:latin typeface="Cambria"/>
                <a:ea typeface="Cambria"/>
              </a:rPr>
              <a:t>Niezbalansowane klasy</a:t>
            </a:r>
            <a:endParaRPr lang="pl-PL" sz="1800" b="0" u="none" strike="noStrike">
              <a:solidFill>
                <a:srgbClr val="000000"/>
              </a:solidFill>
              <a:effectLst/>
              <a:uFillTx/>
              <a:latin typeface="Arial"/>
            </a:endParaRPr>
          </a:p>
        </p:txBody>
      </p:sp>
      <p:sp>
        <p:nvSpPr>
          <p:cNvPr id="1318" name="Text 657"/>
          <p:cNvSpPr/>
          <p:nvPr/>
        </p:nvSpPr>
        <p:spPr>
          <a:xfrm>
            <a:off x="5292000" y="4292220"/>
            <a:ext cx="4232880" cy="553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20000"/>
              </a:lnSpc>
              <a:tabLst>
                <a:tab pos="0" algn="l"/>
              </a:tabLst>
            </a:pPr>
            <a:r>
              <a:rPr lang="pl-PL" sz="1400" b="0" u="none" strike="noStrike">
                <a:solidFill>
                  <a:srgbClr val="1A1F3C"/>
                </a:solidFill>
                <a:effectLst/>
                <a:uFillTx/>
                <a:latin typeface="Calibri"/>
                <a:ea typeface="Calibri"/>
              </a:rPr>
              <a:t>Model przewidujący zawsze klasę większościową </a:t>
            </a:r>
            <a:br>
              <a:rPr sz="1400"/>
            </a:br>
            <a:r>
              <a:rPr lang="pl-PL" sz="1400" b="0" u="none" strike="noStrike">
                <a:solidFill>
                  <a:srgbClr val="1A1F3C"/>
                </a:solidFill>
                <a:effectLst/>
                <a:uFillTx/>
                <a:latin typeface="Calibri"/>
                <a:ea typeface="Calibri"/>
              </a:rPr>
              <a:t>(95% / 5%) ma 95% accuracy, ale jest bezużyteczny.</a:t>
            </a:r>
            <a:endParaRPr lang="pl-PL" sz="1400" b="0" u="none" strike="noStrike">
              <a:solidFill>
                <a:srgbClr val="000000"/>
              </a:solidFill>
              <a:effectLst/>
              <a:uFillTx/>
              <a:latin typeface="Arial"/>
            </a:endParaRPr>
          </a:p>
        </p:txBody>
      </p:sp>
      <p:sp>
        <p:nvSpPr>
          <p:cNvPr id="1319" name="Text 658"/>
          <p:cNvSpPr/>
          <p:nvPr/>
        </p:nvSpPr>
        <p:spPr>
          <a:xfrm>
            <a:off x="5292000" y="4897020"/>
            <a:ext cx="4232880" cy="351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500" b="1" u="none" strike="noStrike" dirty="0">
                <a:solidFill>
                  <a:srgbClr val="3A9F6E"/>
                </a:solidFill>
                <a:effectLst/>
                <a:uFillTx/>
                <a:latin typeface="Calibri"/>
                <a:ea typeface="Calibri"/>
              </a:rPr>
              <a:t>Stosuj F1 lub AUC-ROC zamiast samej </a:t>
            </a:r>
            <a:r>
              <a:rPr lang="pl-PL" sz="1500" b="1" u="none" strike="noStrike" dirty="0" err="1">
                <a:solidFill>
                  <a:srgbClr val="3A9F6E"/>
                </a:solidFill>
                <a:effectLst/>
                <a:uFillTx/>
                <a:latin typeface="Calibri"/>
                <a:ea typeface="Calibri"/>
              </a:rPr>
              <a:t>accuracy</a:t>
            </a:r>
            <a:r>
              <a:rPr lang="pl-PL" sz="1500" b="1" u="none" strike="noStrike" dirty="0">
                <a:solidFill>
                  <a:srgbClr val="3A9F6E"/>
                </a:solidFill>
                <a:effectLst/>
                <a:uFillTx/>
                <a:latin typeface="Calibri"/>
                <a:ea typeface="Calibri"/>
              </a:rPr>
              <a:t>.</a:t>
            </a:r>
            <a:endParaRPr lang="pl-PL" sz="1500" b="0" u="none" strike="noStrike" dirty="0">
              <a:solidFill>
                <a:srgbClr val="000000"/>
              </a:solidFill>
              <a:effectLst/>
              <a:uFillTx/>
              <a:latin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1320" name="Shape 604"/>
          <p:cNvSpPr/>
          <p:nvPr/>
        </p:nvSpPr>
        <p:spPr>
          <a:xfrm>
            <a:off x="360" y="360"/>
            <a:ext cx="10079640" cy="1006920"/>
          </a:xfrm>
          <a:prstGeom prst="rect">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321" name="Text 659"/>
          <p:cNvSpPr/>
          <p:nvPr/>
        </p:nvSpPr>
        <p:spPr>
          <a:xfrm>
            <a:off x="453240" y="70560"/>
            <a:ext cx="917244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defTabSz="914400">
              <a:lnSpc>
                <a:spcPct val="100000"/>
              </a:lnSpc>
              <a:tabLst>
                <a:tab pos="0" algn="l"/>
              </a:tabLst>
            </a:pPr>
            <a:r>
              <a:rPr lang="pl-PL" sz="2200" b="1" u="none" strike="noStrike">
                <a:solidFill>
                  <a:srgbClr val="FFFFFF"/>
                </a:solidFill>
                <a:effectLst/>
                <a:uFillTx/>
                <a:latin typeface="Cambria"/>
                <a:ea typeface="Cambria"/>
              </a:rPr>
              <a:t>DEEP LEARNING W PSYCHOLOGII</a:t>
            </a:r>
            <a:endParaRPr lang="pl-PL" sz="2200" b="0" u="none" strike="noStrike">
              <a:solidFill>
                <a:srgbClr val="000000"/>
              </a:solidFill>
              <a:effectLst/>
              <a:uFillTx/>
              <a:latin typeface="Arial"/>
            </a:endParaRPr>
          </a:p>
        </p:txBody>
      </p:sp>
      <p:sp>
        <p:nvSpPr>
          <p:cNvPr id="1322" name="Text 660"/>
          <p:cNvSpPr/>
          <p:nvPr/>
        </p:nvSpPr>
        <p:spPr>
          <a:xfrm>
            <a:off x="453240" y="594720"/>
            <a:ext cx="9172440" cy="331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pl-PL" sz="1400" b="0" i="1" u="none" strike="noStrike" dirty="0">
                <a:solidFill>
                  <a:srgbClr val="CADCFC"/>
                </a:solidFill>
                <a:effectLst/>
                <a:uFillTx/>
                <a:latin typeface="Calibri"/>
                <a:ea typeface="Calibri"/>
              </a:rPr>
              <a:t>Kiedy jest sens, a kiedy nie</a:t>
            </a:r>
            <a:endParaRPr lang="pl-PL" sz="1400" b="0" u="none" strike="noStrike" dirty="0">
              <a:solidFill>
                <a:srgbClr val="000000"/>
              </a:solidFill>
              <a:effectLst/>
              <a:uFillTx/>
              <a:latin typeface="Arial"/>
            </a:endParaRPr>
          </a:p>
        </p:txBody>
      </p:sp>
      <p:sp>
        <p:nvSpPr>
          <p:cNvPr id="1323" name="Shape 605"/>
          <p:cNvSpPr/>
          <p:nvPr/>
        </p:nvSpPr>
        <p:spPr>
          <a:xfrm>
            <a:off x="403200" y="1108800"/>
            <a:ext cx="4535280" cy="1877490"/>
          </a:xfrm>
          <a:prstGeom prst="roundRect">
            <a:avLst>
              <a:gd name="adj" fmla="val 4762"/>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000000"/>
              </a:solidFill>
              <a:effectLst/>
              <a:uFillTx/>
              <a:latin typeface="Arial"/>
            </a:endParaRPr>
          </a:p>
        </p:txBody>
      </p:sp>
      <p:sp>
        <p:nvSpPr>
          <p:cNvPr id="1324" name="Text 661"/>
          <p:cNvSpPr/>
          <p:nvPr/>
        </p:nvSpPr>
        <p:spPr>
          <a:xfrm>
            <a:off x="453240" y="1168920"/>
            <a:ext cx="4485240" cy="32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800" b="1" u="none" strike="noStrike" dirty="0">
                <a:solidFill>
                  <a:srgbClr val="1E2761"/>
                </a:solidFill>
                <a:effectLst/>
                <a:uFillTx/>
                <a:latin typeface="Cambria"/>
                <a:ea typeface="Cambria"/>
              </a:rPr>
              <a:t>Dziedziny dominacji uczenia głębokiego</a:t>
            </a:r>
            <a:endParaRPr lang="pl-PL" sz="1800" b="0" u="none" strike="noStrike" dirty="0">
              <a:solidFill>
                <a:srgbClr val="000000"/>
              </a:solidFill>
              <a:effectLst/>
              <a:uFillTx/>
              <a:latin typeface="Arial"/>
            </a:endParaRPr>
          </a:p>
        </p:txBody>
      </p:sp>
      <p:sp>
        <p:nvSpPr>
          <p:cNvPr id="1325" name="Shape 606"/>
          <p:cNvSpPr/>
          <p:nvPr/>
        </p:nvSpPr>
        <p:spPr>
          <a:xfrm>
            <a:off x="604800" y="1668840"/>
            <a:ext cx="200520" cy="200520"/>
          </a:xfrm>
          <a:prstGeom prst="ellipse">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3200" b="0" u="none" strike="noStrike">
              <a:solidFill>
                <a:srgbClr val="FFFFFF"/>
              </a:solidFill>
              <a:effectLst/>
              <a:uFillTx/>
              <a:latin typeface="Arial"/>
            </a:endParaRPr>
          </a:p>
        </p:txBody>
      </p:sp>
      <p:sp>
        <p:nvSpPr>
          <p:cNvPr id="1326" name="Text 662"/>
          <p:cNvSpPr/>
          <p:nvPr/>
        </p:nvSpPr>
        <p:spPr>
          <a:xfrm>
            <a:off x="886680" y="1559820"/>
            <a:ext cx="393048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800" b="1" u="none" strike="noStrike" dirty="0">
                <a:solidFill>
                  <a:srgbClr val="1A1F3C"/>
                </a:solidFill>
                <a:effectLst/>
                <a:uFillTx/>
                <a:latin typeface="Calibri"/>
                <a:ea typeface="Calibri"/>
              </a:rPr>
              <a:t>Obraz</a:t>
            </a:r>
            <a:r>
              <a:rPr lang="pl-PL" sz="1800" b="0" u="none" strike="noStrike" dirty="0">
                <a:solidFill>
                  <a:srgbClr val="1A1F3C"/>
                </a:solidFill>
                <a:effectLst/>
                <a:uFillTx/>
                <a:latin typeface="Calibri"/>
                <a:ea typeface="Calibri"/>
              </a:rPr>
              <a:t>: twarze, gesty</a:t>
            </a:r>
            <a:endParaRPr lang="pl-PL" sz="1800" b="0" u="none" strike="noStrike" dirty="0">
              <a:solidFill>
                <a:srgbClr val="000000"/>
              </a:solidFill>
              <a:effectLst/>
              <a:uFillTx/>
              <a:latin typeface="Arial"/>
            </a:endParaRPr>
          </a:p>
        </p:txBody>
      </p:sp>
      <p:sp>
        <p:nvSpPr>
          <p:cNvPr id="1327" name="Shape 607"/>
          <p:cNvSpPr/>
          <p:nvPr/>
        </p:nvSpPr>
        <p:spPr>
          <a:xfrm>
            <a:off x="604800" y="2092200"/>
            <a:ext cx="200520" cy="200520"/>
          </a:xfrm>
          <a:prstGeom prst="ellipse">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3200" b="0" u="none" strike="noStrike">
              <a:solidFill>
                <a:srgbClr val="FFFFFF"/>
              </a:solidFill>
              <a:effectLst/>
              <a:uFillTx/>
              <a:latin typeface="Arial"/>
            </a:endParaRPr>
          </a:p>
        </p:txBody>
      </p:sp>
      <p:sp>
        <p:nvSpPr>
          <p:cNvPr id="1328" name="Text 663"/>
          <p:cNvSpPr/>
          <p:nvPr/>
        </p:nvSpPr>
        <p:spPr>
          <a:xfrm>
            <a:off x="886680" y="1983540"/>
            <a:ext cx="393048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800" b="1" u="none" strike="noStrike" dirty="0">
                <a:solidFill>
                  <a:srgbClr val="1A1F3C"/>
                </a:solidFill>
                <a:effectLst/>
                <a:uFillTx/>
                <a:latin typeface="Calibri"/>
                <a:ea typeface="Calibri"/>
              </a:rPr>
              <a:t>Mowa</a:t>
            </a:r>
            <a:r>
              <a:rPr lang="pl-PL" sz="1800" b="0" u="none" strike="noStrike" dirty="0">
                <a:solidFill>
                  <a:srgbClr val="1A1F3C"/>
                </a:solidFill>
                <a:effectLst/>
                <a:uFillTx/>
                <a:latin typeface="Calibri"/>
                <a:ea typeface="Calibri"/>
              </a:rPr>
              <a:t>: ASR, emocje głosowe</a:t>
            </a:r>
            <a:endParaRPr lang="pl-PL" sz="1800" b="0" u="none" strike="noStrike" dirty="0">
              <a:solidFill>
                <a:srgbClr val="000000"/>
              </a:solidFill>
              <a:effectLst/>
              <a:uFillTx/>
              <a:latin typeface="Arial"/>
            </a:endParaRPr>
          </a:p>
        </p:txBody>
      </p:sp>
      <p:sp>
        <p:nvSpPr>
          <p:cNvPr id="1329" name="Shape 608"/>
          <p:cNvSpPr/>
          <p:nvPr/>
        </p:nvSpPr>
        <p:spPr>
          <a:xfrm>
            <a:off x="604800" y="2515560"/>
            <a:ext cx="200520" cy="200520"/>
          </a:xfrm>
          <a:prstGeom prst="ellipse">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3200" b="0" u="none" strike="noStrike">
              <a:solidFill>
                <a:srgbClr val="FFFFFF"/>
              </a:solidFill>
              <a:effectLst/>
              <a:uFillTx/>
              <a:latin typeface="Arial"/>
            </a:endParaRPr>
          </a:p>
        </p:txBody>
      </p:sp>
      <p:sp>
        <p:nvSpPr>
          <p:cNvPr id="1330" name="Text 664"/>
          <p:cNvSpPr/>
          <p:nvPr/>
        </p:nvSpPr>
        <p:spPr>
          <a:xfrm>
            <a:off x="886680" y="2406900"/>
            <a:ext cx="393048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800" b="1" u="none" strike="noStrike" dirty="0">
                <a:solidFill>
                  <a:srgbClr val="1A1F3C"/>
                </a:solidFill>
                <a:effectLst/>
                <a:uFillTx/>
                <a:latin typeface="Calibri"/>
                <a:ea typeface="Calibri"/>
              </a:rPr>
              <a:t>Tekst</a:t>
            </a:r>
            <a:r>
              <a:rPr lang="pl-PL" sz="1800" b="0" u="none" strike="noStrike" dirty="0">
                <a:solidFill>
                  <a:srgbClr val="1A1F3C"/>
                </a:solidFill>
                <a:effectLst/>
                <a:uFillTx/>
                <a:latin typeface="Calibri"/>
                <a:ea typeface="Calibri"/>
              </a:rPr>
              <a:t>: NLP, klasyfikacja</a:t>
            </a:r>
            <a:endParaRPr lang="pl-PL" sz="1800" b="0" u="none" strike="noStrike" dirty="0">
              <a:solidFill>
                <a:srgbClr val="000000"/>
              </a:solidFill>
              <a:effectLst/>
              <a:uFillTx/>
              <a:latin typeface="Arial"/>
            </a:endParaRPr>
          </a:p>
        </p:txBody>
      </p:sp>
      <p:sp>
        <p:nvSpPr>
          <p:cNvPr id="1331" name="Shape 609"/>
          <p:cNvSpPr/>
          <p:nvPr/>
        </p:nvSpPr>
        <p:spPr>
          <a:xfrm>
            <a:off x="403200" y="3175560"/>
            <a:ext cx="4535280" cy="2065320"/>
          </a:xfrm>
          <a:prstGeom prst="roundRect">
            <a:avLst>
              <a:gd name="adj" fmla="val 5405"/>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600" b="0" u="none" strike="noStrike">
              <a:solidFill>
                <a:srgbClr val="000000"/>
              </a:solidFill>
              <a:effectLst/>
              <a:uFillTx/>
              <a:latin typeface="Arial"/>
            </a:endParaRPr>
          </a:p>
        </p:txBody>
      </p:sp>
      <p:sp>
        <p:nvSpPr>
          <p:cNvPr id="1332" name="Text 665"/>
          <p:cNvSpPr/>
          <p:nvPr/>
        </p:nvSpPr>
        <p:spPr>
          <a:xfrm>
            <a:off x="554400" y="3254175"/>
            <a:ext cx="4232880" cy="30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800" b="1" u="none" strike="noStrike" dirty="0">
                <a:solidFill>
                  <a:srgbClr val="1E2761"/>
                </a:solidFill>
                <a:effectLst/>
                <a:uFillTx/>
                <a:latin typeface="Cambria"/>
                <a:ea typeface="Cambria"/>
              </a:rPr>
              <a:t>Modele wstępnie wytrenowane</a:t>
            </a:r>
            <a:endParaRPr lang="pl-PL" sz="1800" b="0" u="none" strike="noStrike" dirty="0">
              <a:solidFill>
                <a:srgbClr val="000000"/>
              </a:solidFill>
              <a:effectLst/>
              <a:uFillTx/>
              <a:latin typeface="Arial"/>
            </a:endParaRPr>
          </a:p>
        </p:txBody>
      </p:sp>
      <p:sp>
        <p:nvSpPr>
          <p:cNvPr id="1333" name="Text 666"/>
          <p:cNvSpPr/>
          <p:nvPr/>
        </p:nvSpPr>
        <p:spPr>
          <a:xfrm>
            <a:off x="554400" y="3684750"/>
            <a:ext cx="2014920" cy="30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2000" b="1" u="none" strike="noStrike" dirty="0">
                <a:solidFill>
                  <a:srgbClr val="2D7DD2"/>
                </a:solidFill>
                <a:effectLst/>
                <a:uFillTx/>
                <a:latin typeface="Consolas" panose="020B0609020204030204" pitchFamily="49" charset="0"/>
                <a:ea typeface="Calibri"/>
              </a:rPr>
              <a:t>wav2vec2</a:t>
            </a:r>
            <a:endParaRPr lang="pl-PL" sz="2000" b="0" u="none" strike="noStrike" dirty="0">
              <a:solidFill>
                <a:srgbClr val="000000"/>
              </a:solidFill>
              <a:effectLst/>
              <a:uFillTx/>
              <a:latin typeface="Consolas" panose="020B0609020204030204" pitchFamily="49" charset="0"/>
            </a:endParaRPr>
          </a:p>
        </p:txBody>
      </p:sp>
      <p:sp>
        <p:nvSpPr>
          <p:cNvPr id="1334" name="Text 667"/>
          <p:cNvSpPr/>
          <p:nvPr/>
        </p:nvSpPr>
        <p:spPr>
          <a:xfrm>
            <a:off x="554400" y="3966990"/>
            <a:ext cx="2014920" cy="281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0" i="1" u="none" strike="noStrike">
                <a:solidFill>
                  <a:srgbClr val="4A5280"/>
                </a:solidFill>
                <a:effectLst/>
                <a:uFillTx/>
                <a:latin typeface="Calibri"/>
                <a:ea typeface="Calibri"/>
              </a:rPr>
              <a:t>mowa</a:t>
            </a:r>
            <a:endParaRPr lang="pl-PL" sz="1600" b="0" u="none" strike="noStrike">
              <a:solidFill>
                <a:srgbClr val="000000"/>
              </a:solidFill>
              <a:effectLst/>
              <a:uFillTx/>
              <a:latin typeface="Arial"/>
            </a:endParaRPr>
          </a:p>
        </p:txBody>
      </p:sp>
      <p:sp>
        <p:nvSpPr>
          <p:cNvPr id="1335" name="Text 668"/>
          <p:cNvSpPr/>
          <p:nvPr/>
        </p:nvSpPr>
        <p:spPr>
          <a:xfrm>
            <a:off x="2721600" y="3684750"/>
            <a:ext cx="2014920" cy="30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2000" b="1" u="none" strike="noStrike">
                <a:solidFill>
                  <a:srgbClr val="2D7DD2"/>
                </a:solidFill>
                <a:effectLst/>
                <a:uFillTx/>
                <a:latin typeface="Consolas" panose="020B0609020204030204" pitchFamily="49" charset="0"/>
                <a:ea typeface="Calibri"/>
              </a:rPr>
              <a:t>CLIP</a:t>
            </a:r>
            <a:endParaRPr lang="pl-PL" sz="2000" b="0" u="none" strike="noStrike">
              <a:solidFill>
                <a:srgbClr val="000000"/>
              </a:solidFill>
              <a:effectLst/>
              <a:uFillTx/>
              <a:latin typeface="Consolas" panose="020B0609020204030204" pitchFamily="49" charset="0"/>
            </a:endParaRPr>
          </a:p>
        </p:txBody>
      </p:sp>
      <p:sp>
        <p:nvSpPr>
          <p:cNvPr id="1336" name="Text 669"/>
          <p:cNvSpPr/>
          <p:nvPr/>
        </p:nvSpPr>
        <p:spPr>
          <a:xfrm>
            <a:off x="2721600" y="3966990"/>
            <a:ext cx="2014920" cy="281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0" i="1" u="none" strike="noStrike">
                <a:solidFill>
                  <a:srgbClr val="4A5280"/>
                </a:solidFill>
                <a:effectLst/>
                <a:uFillTx/>
                <a:latin typeface="Calibri"/>
                <a:ea typeface="Calibri"/>
              </a:rPr>
              <a:t>obraz + tekst</a:t>
            </a:r>
            <a:endParaRPr lang="pl-PL" sz="1600" b="0" u="none" strike="noStrike">
              <a:solidFill>
                <a:srgbClr val="000000"/>
              </a:solidFill>
              <a:effectLst/>
              <a:uFillTx/>
              <a:latin typeface="Arial"/>
            </a:endParaRPr>
          </a:p>
        </p:txBody>
      </p:sp>
      <p:sp>
        <p:nvSpPr>
          <p:cNvPr id="1337" name="Text 670"/>
          <p:cNvSpPr/>
          <p:nvPr/>
        </p:nvSpPr>
        <p:spPr>
          <a:xfrm>
            <a:off x="554400" y="4471995"/>
            <a:ext cx="2014920" cy="30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2000" b="1" u="none" strike="noStrike">
                <a:solidFill>
                  <a:srgbClr val="2D7DD2"/>
                </a:solidFill>
                <a:effectLst/>
                <a:uFillTx/>
                <a:latin typeface="Consolas" panose="020B0609020204030204" pitchFamily="49" charset="0"/>
                <a:ea typeface="Calibri"/>
              </a:rPr>
              <a:t>BERT/RoBERTa</a:t>
            </a:r>
            <a:endParaRPr lang="pl-PL" sz="2000" b="0" u="none" strike="noStrike">
              <a:solidFill>
                <a:srgbClr val="000000"/>
              </a:solidFill>
              <a:effectLst/>
              <a:uFillTx/>
              <a:latin typeface="Consolas" panose="020B0609020204030204" pitchFamily="49" charset="0"/>
            </a:endParaRPr>
          </a:p>
        </p:txBody>
      </p:sp>
      <p:sp>
        <p:nvSpPr>
          <p:cNvPr id="1338" name="Text 671"/>
          <p:cNvSpPr/>
          <p:nvPr/>
        </p:nvSpPr>
        <p:spPr>
          <a:xfrm>
            <a:off x="554400" y="4754235"/>
            <a:ext cx="2014920" cy="281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0" i="1" u="none" strike="noStrike">
                <a:solidFill>
                  <a:srgbClr val="4A5280"/>
                </a:solidFill>
                <a:effectLst/>
                <a:uFillTx/>
                <a:latin typeface="Calibri"/>
                <a:ea typeface="Calibri"/>
              </a:rPr>
              <a:t>tekst</a:t>
            </a:r>
            <a:endParaRPr lang="pl-PL" sz="1600" b="0" u="none" strike="noStrike">
              <a:solidFill>
                <a:srgbClr val="000000"/>
              </a:solidFill>
              <a:effectLst/>
              <a:uFillTx/>
              <a:latin typeface="Arial"/>
            </a:endParaRPr>
          </a:p>
        </p:txBody>
      </p:sp>
      <p:sp>
        <p:nvSpPr>
          <p:cNvPr id="1339" name="Text 672"/>
          <p:cNvSpPr/>
          <p:nvPr/>
        </p:nvSpPr>
        <p:spPr>
          <a:xfrm>
            <a:off x="2721600" y="4471995"/>
            <a:ext cx="2014920" cy="30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2000" b="1" u="none" strike="noStrike">
                <a:solidFill>
                  <a:srgbClr val="2D7DD2"/>
                </a:solidFill>
                <a:effectLst/>
                <a:uFillTx/>
                <a:latin typeface="Consolas" panose="020B0609020204030204" pitchFamily="49" charset="0"/>
                <a:ea typeface="Calibri"/>
              </a:rPr>
              <a:t>MediaPipe</a:t>
            </a:r>
            <a:endParaRPr lang="pl-PL" sz="2000" b="0" u="none" strike="noStrike">
              <a:solidFill>
                <a:srgbClr val="000000"/>
              </a:solidFill>
              <a:effectLst/>
              <a:uFillTx/>
              <a:latin typeface="Consolas" panose="020B0609020204030204" pitchFamily="49" charset="0"/>
            </a:endParaRPr>
          </a:p>
        </p:txBody>
      </p:sp>
      <p:sp>
        <p:nvSpPr>
          <p:cNvPr id="1340" name="Text 673"/>
          <p:cNvSpPr/>
          <p:nvPr/>
        </p:nvSpPr>
        <p:spPr>
          <a:xfrm>
            <a:off x="2721600" y="4754235"/>
            <a:ext cx="2014920" cy="281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0" i="1" u="none" strike="noStrike">
                <a:solidFill>
                  <a:srgbClr val="4A5280"/>
                </a:solidFill>
                <a:effectLst/>
                <a:uFillTx/>
                <a:latin typeface="Calibri"/>
                <a:ea typeface="Calibri"/>
              </a:rPr>
              <a:t>pozycja ciała, twarz</a:t>
            </a:r>
            <a:endParaRPr lang="pl-PL" sz="1600" b="0" u="none" strike="noStrike">
              <a:solidFill>
                <a:srgbClr val="000000"/>
              </a:solidFill>
              <a:effectLst/>
              <a:uFillTx/>
              <a:latin typeface="Arial"/>
            </a:endParaRPr>
          </a:p>
        </p:txBody>
      </p:sp>
      <p:sp>
        <p:nvSpPr>
          <p:cNvPr id="1341" name="Shape 610"/>
          <p:cNvSpPr/>
          <p:nvPr/>
        </p:nvSpPr>
        <p:spPr>
          <a:xfrm>
            <a:off x="5141160" y="1108800"/>
            <a:ext cx="4535280" cy="1863720"/>
          </a:xfrm>
          <a:prstGeom prst="roundRect">
            <a:avLst>
              <a:gd name="adj" fmla="val 5405"/>
            </a:avLst>
          </a:prstGeom>
          <a:solidFill>
            <a:srgbClr val="EEF3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100" b="0" u="none" strike="noStrike">
              <a:solidFill>
                <a:srgbClr val="000000"/>
              </a:solidFill>
              <a:effectLst/>
              <a:uFillTx/>
              <a:latin typeface="Arial"/>
            </a:endParaRPr>
          </a:p>
        </p:txBody>
      </p:sp>
      <p:sp>
        <p:nvSpPr>
          <p:cNvPr id="1342" name="Text 674"/>
          <p:cNvSpPr/>
          <p:nvPr/>
        </p:nvSpPr>
        <p:spPr>
          <a:xfrm>
            <a:off x="5292000" y="1168920"/>
            <a:ext cx="1611720" cy="30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800" b="1" u="none" strike="noStrike">
                <a:solidFill>
                  <a:srgbClr val="1E2761"/>
                </a:solidFill>
                <a:effectLst/>
                <a:uFillTx/>
                <a:latin typeface="Calibri"/>
                <a:ea typeface="Calibri"/>
              </a:rPr>
              <a:t>Mała próba</a:t>
            </a:r>
            <a:endParaRPr lang="pl-PL" sz="1800" b="0" u="none" strike="noStrike">
              <a:solidFill>
                <a:srgbClr val="000000"/>
              </a:solidFill>
              <a:effectLst/>
              <a:uFillTx/>
              <a:latin typeface="Arial"/>
            </a:endParaRPr>
          </a:p>
        </p:txBody>
      </p:sp>
      <p:sp>
        <p:nvSpPr>
          <p:cNvPr id="1343" name="Text 675"/>
          <p:cNvSpPr/>
          <p:nvPr/>
        </p:nvSpPr>
        <p:spPr>
          <a:xfrm>
            <a:off x="8013960" y="1168920"/>
            <a:ext cx="1611720" cy="30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pl-PL" sz="1800" b="1" u="none" strike="noStrike">
                <a:solidFill>
                  <a:srgbClr val="1E2761"/>
                </a:solidFill>
                <a:effectLst/>
                <a:uFillTx/>
                <a:latin typeface="Calibri"/>
                <a:ea typeface="Calibri"/>
              </a:rPr>
              <a:t>Duża próba</a:t>
            </a:r>
            <a:endParaRPr lang="pl-PL" sz="1800" b="0" u="none" strike="noStrike">
              <a:solidFill>
                <a:srgbClr val="000000"/>
              </a:solidFill>
              <a:effectLst/>
              <a:uFillTx/>
              <a:latin typeface="Arial"/>
            </a:endParaRPr>
          </a:p>
        </p:txBody>
      </p:sp>
      <p:sp>
        <p:nvSpPr>
          <p:cNvPr id="1344" name="Shape 611"/>
          <p:cNvSpPr/>
          <p:nvPr/>
        </p:nvSpPr>
        <p:spPr>
          <a:xfrm>
            <a:off x="5342400" y="1632960"/>
            <a:ext cx="4132080" cy="99720"/>
          </a:xfrm>
          <a:prstGeom prst="roundRect">
            <a:avLst>
              <a:gd name="adj" fmla="val 50000"/>
            </a:avLst>
          </a:prstGeom>
          <a:solidFill>
            <a:srgbClr val="C9D4F2"/>
          </a:solidFill>
          <a:ln w="0">
            <a:noFill/>
          </a:ln>
        </p:spPr>
        <p:style>
          <a:lnRef idx="0">
            <a:scrgbClr r="0" g="0" b="0"/>
          </a:lnRef>
          <a:fillRef idx="0">
            <a:scrgbClr r="0" g="0" b="0"/>
          </a:fillRef>
          <a:effectRef idx="0">
            <a:scrgbClr r="0" g="0" b="0"/>
          </a:effectRef>
          <a:fontRef idx="minor"/>
        </p:style>
        <p:txBody>
          <a:bodyPr lIns="90000" tIns="25920" rIns="90000" bIns="25920" anchor="t">
            <a:noAutofit/>
          </a:bodyPr>
          <a:lstStyle/>
          <a:p>
            <a:pPr>
              <a:lnSpc>
                <a:spcPct val="100000"/>
              </a:lnSpc>
            </a:pPr>
            <a:endParaRPr lang="pl-PL" sz="3200" b="0" u="none" strike="noStrike">
              <a:solidFill>
                <a:srgbClr val="000000"/>
              </a:solidFill>
              <a:effectLst/>
              <a:uFillTx/>
              <a:latin typeface="Arial"/>
            </a:endParaRPr>
          </a:p>
        </p:txBody>
      </p:sp>
      <p:sp>
        <p:nvSpPr>
          <p:cNvPr id="1345" name="Shape 612"/>
          <p:cNvSpPr/>
          <p:nvPr/>
        </p:nvSpPr>
        <p:spPr>
          <a:xfrm>
            <a:off x="5463720" y="1562400"/>
            <a:ext cx="261000" cy="261000"/>
          </a:xfrm>
          <a:prstGeom prst="ellipse">
            <a:avLst/>
          </a:prstGeom>
          <a:solidFill>
            <a:srgbClr val="5B8FF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3200" b="0" u="none" strike="noStrike">
              <a:solidFill>
                <a:srgbClr val="FFFFFF"/>
              </a:solidFill>
              <a:effectLst/>
              <a:uFillTx/>
              <a:latin typeface="Arial"/>
            </a:endParaRPr>
          </a:p>
        </p:txBody>
      </p:sp>
      <p:sp>
        <p:nvSpPr>
          <p:cNvPr id="1346" name="Text 676"/>
          <p:cNvSpPr/>
          <p:nvPr/>
        </p:nvSpPr>
        <p:spPr>
          <a:xfrm>
            <a:off x="5140080" y="1935360"/>
            <a:ext cx="1108440" cy="553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10000"/>
              </a:lnSpc>
              <a:tabLst>
                <a:tab pos="0" algn="l"/>
              </a:tabLst>
            </a:pPr>
            <a:r>
              <a:rPr lang="pl-PL" sz="1400" b="0" u="none" strike="noStrike" dirty="0">
                <a:solidFill>
                  <a:srgbClr val="1A1F3C"/>
                </a:solidFill>
                <a:effectLst/>
                <a:uFillTx/>
                <a:latin typeface="Calibri"/>
                <a:ea typeface="Calibri"/>
              </a:rPr>
              <a:t>Klasyczne</a:t>
            </a:r>
            <a:endParaRPr lang="pl-PL" sz="1400" b="0" u="none" strike="noStrike" dirty="0">
              <a:solidFill>
                <a:srgbClr val="000000"/>
              </a:solidFill>
              <a:effectLst/>
              <a:uFillTx/>
              <a:latin typeface="Arial"/>
            </a:endParaRPr>
          </a:p>
          <a:p>
            <a:pPr algn="ctr" defTabSz="914400">
              <a:lnSpc>
                <a:spcPct val="110000"/>
              </a:lnSpc>
              <a:tabLst>
                <a:tab pos="0" algn="l"/>
              </a:tabLst>
            </a:pPr>
            <a:r>
              <a:rPr lang="pl-PL" sz="1400" b="0" u="none" strike="noStrike" dirty="0">
                <a:solidFill>
                  <a:srgbClr val="1A1F3C"/>
                </a:solidFill>
                <a:effectLst/>
                <a:uFillTx/>
                <a:latin typeface="Calibri"/>
                <a:ea typeface="Calibri"/>
              </a:rPr>
              <a:t>ML</a:t>
            </a:r>
            <a:endParaRPr lang="pl-PL" sz="1400" b="0" u="none" strike="noStrike" dirty="0">
              <a:solidFill>
                <a:srgbClr val="000000"/>
              </a:solidFill>
              <a:effectLst/>
              <a:uFillTx/>
              <a:latin typeface="Arial"/>
            </a:endParaRPr>
          </a:p>
        </p:txBody>
      </p:sp>
      <p:sp>
        <p:nvSpPr>
          <p:cNvPr id="1347" name="Shape 613"/>
          <p:cNvSpPr/>
          <p:nvPr/>
        </p:nvSpPr>
        <p:spPr>
          <a:xfrm>
            <a:off x="7227720" y="1562400"/>
            <a:ext cx="261000" cy="261000"/>
          </a:xfrm>
          <a:prstGeom prst="ellipse">
            <a:avLst/>
          </a:prstGeom>
          <a:solidFill>
            <a:srgbClr val="5B8FF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3200" b="0" u="none" strike="noStrike">
              <a:solidFill>
                <a:srgbClr val="FFFFFF"/>
              </a:solidFill>
              <a:effectLst/>
              <a:uFillTx/>
              <a:latin typeface="Arial"/>
            </a:endParaRPr>
          </a:p>
        </p:txBody>
      </p:sp>
      <p:sp>
        <p:nvSpPr>
          <p:cNvPr id="1348" name="Text 677"/>
          <p:cNvSpPr/>
          <p:nvPr/>
        </p:nvSpPr>
        <p:spPr>
          <a:xfrm>
            <a:off x="6703560" y="1935360"/>
            <a:ext cx="1411740" cy="553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10000"/>
              </a:lnSpc>
              <a:tabLst>
                <a:tab pos="0" algn="l"/>
              </a:tabLst>
            </a:pPr>
            <a:r>
              <a:rPr lang="pl-PL" sz="1400" b="0" u="none" strike="noStrike" dirty="0">
                <a:solidFill>
                  <a:srgbClr val="1A1F3C"/>
                </a:solidFill>
                <a:effectLst/>
                <a:uFillTx/>
                <a:latin typeface="Calibri"/>
                <a:ea typeface="Calibri"/>
              </a:rPr>
              <a:t>Fine-</a:t>
            </a:r>
            <a:r>
              <a:rPr lang="pl-PL" sz="1400" b="0" u="none" strike="noStrike" dirty="0" err="1">
                <a:solidFill>
                  <a:srgbClr val="1A1F3C"/>
                </a:solidFill>
                <a:effectLst/>
                <a:uFillTx/>
                <a:latin typeface="Calibri"/>
                <a:ea typeface="Calibri"/>
              </a:rPr>
              <a:t>tuning</a:t>
            </a:r>
            <a:endParaRPr lang="pl-PL" sz="1400" b="0" u="none" strike="noStrike" dirty="0">
              <a:solidFill>
                <a:srgbClr val="000000"/>
              </a:solidFill>
              <a:effectLst/>
              <a:uFillTx/>
              <a:latin typeface="Arial"/>
            </a:endParaRPr>
          </a:p>
          <a:p>
            <a:pPr algn="ctr" defTabSz="914400">
              <a:lnSpc>
                <a:spcPct val="110000"/>
              </a:lnSpc>
              <a:tabLst>
                <a:tab pos="0" algn="l"/>
              </a:tabLst>
            </a:pPr>
            <a:r>
              <a:rPr lang="pl-PL" sz="1400" b="0" u="none" strike="noStrike" dirty="0" err="1">
                <a:solidFill>
                  <a:srgbClr val="1A1F3C"/>
                </a:solidFill>
                <a:effectLst/>
                <a:uFillTx/>
                <a:latin typeface="Calibri"/>
                <a:ea typeface="Calibri"/>
              </a:rPr>
              <a:t>pretrenowanego</a:t>
            </a:r>
            <a:r>
              <a:rPr lang="pl-PL" sz="1400" b="0" u="none" strike="noStrike" dirty="0">
                <a:solidFill>
                  <a:srgbClr val="1A1F3C"/>
                </a:solidFill>
                <a:effectLst/>
                <a:uFillTx/>
                <a:latin typeface="Calibri"/>
                <a:ea typeface="Calibri"/>
              </a:rPr>
              <a:t> modelu</a:t>
            </a:r>
            <a:endParaRPr lang="pl-PL" sz="1400" b="0" u="none" strike="noStrike" dirty="0">
              <a:solidFill>
                <a:srgbClr val="000000"/>
              </a:solidFill>
              <a:effectLst/>
              <a:uFillTx/>
              <a:latin typeface="Arial"/>
            </a:endParaRPr>
          </a:p>
        </p:txBody>
      </p:sp>
      <p:sp>
        <p:nvSpPr>
          <p:cNvPr id="1349" name="Shape 614"/>
          <p:cNvSpPr/>
          <p:nvPr/>
        </p:nvSpPr>
        <p:spPr>
          <a:xfrm>
            <a:off x="8941320" y="1562400"/>
            <a:ext cx="261000" cy="261000"/>
          </a:xfrm>
          <a:prstGeom prst="ellipse">
            <a:avLst/>
          </a:prstGeom>
          <a:solidFill>
            <a:srgbClr val="5B8FF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3200" b="0" u="none" strike="noStrike">
              <a:solidFill>
                <a:srgbClr val="FFFFFF"/>
              </a:solidFill>
              <a:effectLst/>
              <a:uFillTx/>
              <a:latin typeface="Arial"/>
            </a:endParaRPr>
          </a:p>
        </p:txBody>
      </p:sp>
      <p:sp>
        <p:nvSpPr>
          <p:cNvPr id="1350" name="Text 678"/>
          <p:cNvSpPr/>
          <p:nvPr/>
        </p:nvSpPr>
        <p:spPr>
          <a:xfrm>
            <a:off x="8417160" y="1935360"/>
            <a:ext cx="1309320" cy="553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10000"/>
              </a:lnSpc>
              <a:tabLst>
                <a:tab pos="0" algn="l"/>
              </a:tabLst>
            </a:pPr>
            <a:r>
              <a:rPr lang="pl-PL" sz="1400" b="0" u="none" strike="noStrike">
                <a:solidFill>
                  <a:srgbClr val="1A1F3C"/>
                </a:solidFill>
                <a:effectLst/>
                <a:uFillTx/>
                <a:latin typeface="Calibri"/>
                <a:ea typeface="Calibri"/>
              </a:rPr>
              <a:t>Trening</a:t>
            </a:r>
            <a:endParaRPr lang="pl-PL" sz="1400" b="0" u="none" strike="noStrike">
              <a:solidFill>
                <a:srgbClr val="000000"/>
              </a:solidFill>
              <a:effectLst/>
              <a:uFillTx/>
              <a:latin typeface="Arial"/>
            </a:endParaRPr>
          </a:p>
          <a:p>
            <a:pPr algn="ctr" defTabSz="914400">
              <a:lnSpc>
                <a:spcPct val="110000"/>
              </a:lnSpc>
              <a:tabLst>
                <a:tab pos="0" algn="l"/>
              </a:tabLst>
            </a:pPr>
            <a:r>
              <a:rPr lang="pl-PL" sz="1400" b="0" u="none" strike="noStrike">
                <a:solidFill>
                  <a:srgbClr val="1A1F3C"/>
                </a:solidFill>
                <a:effectLst/>
                <a:uFillTx/>
                <a:latin typeface="Calibri"/>
                <a:ea typeface="Calibri"/>
              </a:rPr>
              <a:t>od zera</a:t>
            </a:r>
            <a:endParaRPr lang="pl-PL" sz="1400" b="0" u="none" strike="noStrike">
              <a:solidFill>
                <a:srgbClr val="000000"/>
              </a:solidFill>
              <a:effectLst/>
              <a:uFillTx/>
              <a:latin typeface="Arial"/>
            </a:endParaRPr>
          </a:p>
        </p:txBody>
      </p:sp>
      <p:sp>
        <p:nvSpPr>
          <p:cNvPr id="1351" name="Shape 615"/>
          <p:cNvSpPr/>
          <p:nvPr/>
        </p:nvSpPr>
        <p:spPr>
          <a:xfrm>
            <a:off x="5141160" y="3175560"/>
            <a:ext cx="4535280" cy="2065320"/>
          </a:xfrm>
          <a:prstGeom prst="roundRect">
            <a:avLst>
              <a:gd name="adj" fmla="val 4878"/>
            </a:avLst>
          </a:prstGeom>
          <a:solidFill>
            <a:srgbClr val="FFF3CD"/>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600" b="0" u="none" strike="noStrike">
              <a:solidFill>
                <a:srgbClr val="000000"/>
              </a:solidFill>
              <a:effectLst/>
              <a:uFillTx/>
              <a:latin typeface="Arial"/>
            </a:endParaRPr>
          </a:p>
        </p:txBody>
      </p:sp>
      <p:sp>
        <p:nvSpPr>
          <p:cNvPr id="1352" name="Text 679"/>
          <p:cNvSpPr/>
          <p:nvPr/>
        </p:nvSpPr>
        <p:spPr>
          <a:xfrm>
            <a:off x="5244375" y="3254175"/>
            <a:ext cx="4232880" cy="30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b="1" u="none" strike="noStrike" dirty="0">
                <a:solidFill>
                  <a:srgbClr val="7B4F00"/>
                </a:solidFill>
                <a:effectLst/>
                <a:uFillTx/>
                <a:latin typeface="Cambria"/>
                <a:ea typeface="Cambria"/>
              </a:rPr>
              <a:t>Ograniczenia interpretowalności</a:t>
            </a:r>
            <a:endParaRPr lang="pl-PL" b="0" u="none" strike="noStrike" dirty="0">
              <a:solidFill>
                <a:srgbClr val="000000"/>
              </a:solidFill>
              <a:effectLst/>
              <a:uFillTx/>
              <a:latin typeface="Arial"/>
            </a:endParaRPr>
          </a:p>
        </p:txBody>
      </p:sp>
      <p:sp>
        <p:nvSpPr>
          <p:cNvPr id="1353" name="Text 680"/>
          <p:cNvSpPr/>
          <p:nvPr/>
        </p:nvSpPr>
        <p:spPr>
          <a:xfrm>
            <a:off x="5235115" y="3605535"/>
            <a:ext cx="4348806" cy="1512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just" defTabSz="914400">
              <a:lnSpc>
                <a:spcPts val="2200"/>
              </a:lnSpc>
              <a:tabLst>
                <a:tab pos="0" algn="l"/>
              </a:tabLst>
            </a:pPr>
            <a:r>
              <a:rPr lang="pl-PL" sz="1600" b="0" u="none" strike="noStrike" dirty="0">
                <a:solidFill>
                  <a:srgbClr val="7B4F00"/>
                </a:solidFill>
                <a:effectLst/>
                <a:uFillTx/>
                <a:latin typeface="Calibri"/>
                <a:ea typeface="Calibri"/>
              </a:rPr>
              <a:t>Dla małych prób model głęboki jest ryzykiem </a:t>
            </a:r>
            <a:r>
              <a:rPr lang="pl-PL" sz="1600" b="0" u="none" strike="noStrike" dirty="0" err="1">
                <a:solidFill>
                  <a:srgbClr val="7B4F00"/>
                </a:solidFill>
                <a:effectLst/>
                <a:uFillTx/>
                <a:latin typeface="Calibri"/>
                <a:ea typeface="Calibri"/>
              </a:rPr>
              <a:t>overfittingu</a:t>
            </a:r>
            <a:r>
              <a:rPr lang="pl-PL" sz="1600" dirty="0">
                <a:solidFill>
                  <a:srgbClr val="7B4F00"/>
                </a:solidFill>
                <a:latin typeface="Calibri"/>
                <a:ea typeface="Calibri"/>
              </a:rPr>
              <a:t>;</a:t>
            </a:r>
            <a:r>
              <a:rPr lang="pl-PL" sz="1600" b="0" u="none" strike="noStrike" dirty="0">
                <a:solidFill>
                  <a:srgbClr val="7B4F00"/>
                </a:solidFill>
                <a:effectLst/>
                <a:uFillTx/>
                <a:latin typeface="Calibri"/>
                <a:ea typeface="Calibri"/>
              </a:rPr>
              <a:t> klasyczny SVM lub model </a:t>
            </a:r>
            <a:r>
              <a:rPr lang="pl-PL" sz="1600" b="0" u="none" strike="noStrike" dirty="0" err="1">
                <a:solidFill>
                  <a:srgbClr val="7B4F00"/>
                </a:solidFill>
                <a:effectLst/>
                <a:uFillTx/>
                <a:latin typeface="Calibri"/>
                <a:ea typeface="Calibri"/>
              </a:rPr>
              <a:t>bayesowski</a:t>
            </a:r>
            <a:r>
              <a:rPr lang="pl-PL" sz="1600" b="0" u="none" strike="noStrike" dirty="0">
                <a:solidFill>
                  <a:srgbClr val="7B4F00"/>
                </a:solidFill>
                <a:effectLst/>
                <a:uFillTx/>
                <a:latin typeface="Calibri"/>
                <a:ea typeface="Calibri"/>
              </a:rPr>
              <a:t> może generalizować lepiej. Gdy musimy wyjaśnić, dlaczego model przypisał uczestnikowi dane ryzyko, czarna skrzynka jest problematyczna.</a:t>
            </a:r>
            <a:endParaRPr lang="pl-PL" sz="1600" b="0" u="none" strike="noStrike" dirty="0">
              <a:solidFill>
                <a:srgbClr val="000000"/>
              </a:solidFill>
              <a:effectLst/>
              <a:uFillTx/>
              <a:latin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1354" name="Shape 616"/>
          <p:cNvSpPr/>
          <p:nvPr/>
        </p:nvSpPr>
        <p:spPr>
          <a:xfrm>
            <a:off x="360" y="360"/>
            <a:ext cx="10079640" cy="1006920"/>
          </a:xfrm>
          <a:prstGeom prst="rect">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355" name="Text 681"/>
          <p:cNvSpPr/>
          <p:nvPr/>
        </p:nvSpPr>
        <p:spPr>
          <a:xfrm>
            <a:off x="453240" y="70560"/>
            <a:ext cx="917244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defTabSz="914400">
              <a:lnSpc>
                <a:spcPct val="100000"/>
              </a:lnSpc>
              <a:tabLst>
                <a:tab pos="0" algn="l"/>
              </a:tabLst>
            </a:pPr>
            <a:r>
              <a:rPr lang="pl-PL" sz="2200" b="1" u="none" strike="noStrike" dirty="0">
                <a:solidFill>
                  <a:srgbClr val="FFFFFF"/>
                </a:solidFill>
                <a:effectLst/>
                <a:uFillTx/>
                <a:latin typeface="Cambria"/>
                <a:ea typeface="Cambria"/>
              </a:rPr>
              <a:t>EXPLAINABLE AI I INTERPRETOWALNOŚĆ</a:t>
            </a:r>
            <a:endParaRPr lang="pl-PL" sz="2200" b="0" u="none" strike="noStrike" dirty="0">
              <a:solidFill>
                <a:srgbClr val="000000"/>
              </a:solidFill>
              <a:effectLst/>
              <a:uFillTx/>
              <a:latin typeface="Arial"/>
            </a:endParaRPr>
          </a:p>
        </p:txBody>
      </p:sp>
      <p:sp>
        <p:nvSpPr>
          <p:cNvPr id="1356" name="Text 682"/>
          <p:cNvSpPr/>
          <p:nvPr/>
        </p:nvSpPr>
        <p:spPr>
          <a:xfrm>
            <a:off x="453240" y="594720"/>
            <a:ext cx="9172440" cy="331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pl-PL" sz="1400" b="0" i="1" u="none" strike="noStrike">
                <a:solidFill>
                  <a:srgbClr val="CADCFC"/>
                </a:solidFill>
                <a:effectLst/>
                <a:uFillTx/>
                <a:latin typeface="Calibri"/>
                <a:ea typeface="Calibri"/>
              </a:rPr>
              <a:t>Dlaczego model podjął taką decyzję?</a:t>
            </a:r>
            <a:endParaRPr lang="pl-PL" sz="1400" b="0" u="none" strike="noStrike">
              <a:solidFill>
                <a:srgbClr val="000000"/>
              </a:solidFill>
              <a:effectLst/>
              <a:uFillTx/>
              <a:latin typeface="Arial"/>
            </a:endParaRPr>
          </a:p>
        </p:txBody>
      </p:sp>
      <p:sp>
        <p:nvSpPr>
          <p:cNvPr id="1357" name="Shape 617"/>
          <p:cNvSpPr/>
          <p:nvPr/>
        </p:nvSpPr>
        <p:spPr>
          <a:xfrm>
            <a:off x="403200" y="1108800"/>
            <a:ext cx="4535280" cy="885960"/>
          </a:xfrm>
          <a:prstGeom prst="roundRect">
            <a:avLst>
              <a:gd name="adj" fmla="val 11364"/>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400" b="0" u="none" strike="noStrike">
              <a:solidFill>
                <a:srgbClr val="000000"/>
              </a:solidFill>
              <a:effectLst/>
              <a:uFillTx/>
              <a:latin typeface="Arial"/>
            </a:endParaRPr>
          </a:p>
        </p:txBody>
      </p:sp>
      <p:sp>
        <p:nvSpPr>
          <p:cNvPr id="1358" name="Shape 618"/>
          <p:cNvSpPr/>
          <p:nvPr/>
        </p:nvSpPr>
        <p:spPr>
          <a:xfrm>
            <a:off x="402840" y="1108800"/>
            <a:ext cx="1510920" cy="885960"/>
          </a:xfrm>
          <a:prstGeom prst="roundRect">
            <a:avLst>
              <a:gd name="adj" fmla="val 9091"/>
            </a:avLst>
          </a:prstGeom>
          <a:solidFill>
            <a:srgbClr val="1E276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4000" b="0" u="none" strike="noStrike">
              <a:solidFill>
                <a:srgbClr val="FFFFFF"/>
              </a:solidFill>
              <a:effectLst/>
              <a:uFillTx/>
              <a:latin typeface="Arial"/>
            </a:endParaRPr>
          </a:p>
        </p:txBody>
      </p:sp>
      <p:sp>
        <p:nvSpPr>
          <p:cNvPr id="1359" name="Text 683"/>
          <p:cNvSpPr/>
          <p:nvPr/>
        </p:nvSpPr>
        <p:spPr>
          <a:xfrm>
            <a:off x="402840" y="1108800"/>
            <a:ext cx="1510920" cy="885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200" b="1" u="none" strike="noStrike">
                <a:solidFill>
                  <a:srgbClr val="FFFFFF"/>
                </a:solidFill>
                <a:effectLst/>
                <a:uFillTx/>
                <a:latin typeface="Cambria"/>
                <a:ea typeface="Cambria"/>
              </a:rPr>
              <a:t>SHAP</a:t>
            </a:r>
            <a:endParaRPr lang="pl-PL" sz="2200" b="0" u="none" strike="noStrike">
              <a:solidFill>
                <a:srgbClr val="000000"/>
              </a:solidFill>
              <a:effectLst/>
              <a:uFillTx/>
              <a:latin typeface="Arial"/>
            </a:endParaRPr>
          </a:p>
        </p:txBody>
      </p:sp>
      <p:sp>
        <p:nvSpPr>
          <p:cNvPr id="1360" name="Text 684"/>
          <p:cNvSpPr/>
          <p:nvPr/>
        </p:nvSpPr>
        <p:spPr>
          <a:xfrm>
            <a:off x="2016000" y="1108800"/>
            <a:ext cx="2821680" cy="885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20000"/>
              </a:lnSpc>
              <a:tabLst>
                <a:tab pos="0" algn="l"/>
              </a:tabLst>
            </a:pPr>
            <a:r>
              <a:rPr lang="pl-PL" sz="1500" b="0" u="none" strike="noStrike">
                <a:solidFill>
                  <a:srgbClr val="1A1F3C"/>
                </a:solidFill>
                <a:effectLst/>
                <a:uFillTx/>
                <a:latin typeface="Calibri"/>
                <a:ea typeface="Calibri"/>
              </a:rPr>
              <a:t>Wkład każdej cechy w predykcję modelu, bazujący na teorii gier.</a:t>
            </a:r>
            <a:endParaRPr lang="pl-PL" sz="1500" b="0" u="none" strike="noStrike">
              <a:solidFill>
                <a:srgbClr val="000000"/>
              </a:solidFill>
              <a:effectLst/>
              <a:uFillTx/>
              <a:latin typeface="Arial"/>
            </a:endParaRPr>
          </a:p>
        </p:txBody>
      </p:sp>
      <p:sp>
        <p:nvSpPr>
          <p:cNvPr id="1361" name="Shape 619"/>
          <p:cNvSpPr/>
          <p:nvPr/>
        </p:nvSpPr>
        <p:spPr>
          <a:xfrm>
            <a:off x="403200" y="2116800"/>
            <a:ext cx="4535280" cy="885960"/>
          </a:xfrm>
          <a:prstGeom prst="roundRect">
            <a:avLst>
              <a:gd name="adj" fmla="val 11364"/>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400" b="0" u="none" strike="noStrike">
              <a:solidFill>
                <a:srgbClr val="000000"/>
              </a:solidFill>
              <a:effectLst/>
              <a:uFillTx/>
              <a:latin typeface="Arial"/>
            </a:endParaRPr>
          </a:p>
        </p:txBody>
      </p:sp>
      <p:sp>
        <p:nvSpPr>
          <p:cNvPr id="1362" name="Shape 620"/>
          <p:cNvSpPr/>
          <p:nvPr/>
        </p:nvSpPr>
        <p:spPr>
          <a:xfrm>
            <a:off x="402840" y="2116800"/>
            <a:ext cx="1510920" cy="885960"/>
          </a:xfrm>
          <a:prstGeom prst="roundRect">
            <a:avLst>
              <a:gd name="adj" fmla="val 9091"/>
            </a:avLst>
          </a:prstGeom>
          <a:solidFill>
            <a:srgbClr val="2D3B8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4000" b="0" u="none" strike="noStrike">
              <a:solidFill>
                <a:srgbClr val="FFFFFF"/>
              </a:solidFill>
              <a:effectLst/>
              <a:uFillTx/>
              <a:latin typeface="Arial"/>
            </a:endParaRPr>
          </a:p>
        </p:txBody>
      </p:sp>
      <p:sp>
        <p:nvSpPr>
          <p:cNvPr id="1363" name="Text 685"/>
          <p:cNvSpPr/>
          <p:nvPr/>
        </p:nvSpPr>
        <p:spPr>
          <a:xfrm>
            <a:off x="402840" y="2116800"/>
            <a:ext cx="1510920" cy="885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200" b="1" u="none" strike="noStrike">
                <a:solidFill>
                  <a:srgbClr val="FFFFFF"/>
                </a:solidFill>
                <a:effectLst/>
                <a:uFillTx/>
                <a:latin typeface="Cambria"/>
                <a:ea typeface="Cambria"/>
              </a:rPr>
              <a:t>LIME</a:t>
            </a:r>
            <a:endParaRPr lang="pl-PL" sz="2200" b="0" u="none" strike="noStrike">
              <a:solidFill>
                <a:srgbClr val="000000"/>
              </a:solidFill>
              <a:effectLst/>
              <a:uFillTx/>
              <a:latin typeface="Arial"/>
            </a:endParaRPr>
          </a:p>
        </p:txBody>
      </p:sp>
      <p:sp>
        <p:nvSpPr>
          <p:cNvPr id="1364" name="Text 686"/>
          <p:cNvSpPr/>
          <p:nvPr/>
        </p:nvSpPr>
        <p:spPr>
          <a:xfrm>
            <a:off x="2016000" y="2116800"/>
            <a:ext cx="2821680" cy="885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20000"/>
              </a:lnSpc>
              <a:tabLst>
                <a:tab pos="0" algn="l"/>
              </a:tabLst>
            </a:pPr>
            <a:r>
              <a:rPr lang="pl-PL" sz="1500" b="0" u="none" strike="noStrike">
                <a:solidFill>
                  <a:srgbClr val="1A1F3C"/>
                </a:solidFill>
                <a:effectLst/>
                <a:uFillTx/>
                <a:latin typeface="Calibri"/>
                <a:ea typeface="Calibri"/>
              </a:rPr>
              <a:t>Lokalne przybliżenie modelu liniowego wokół jednej predykcji.</a:t>
            </a:r>
            <a:endParaRPr lang="pl-PL" sz="1500" b="0" u="none" strike="noStrike">
              <a:solidFill>
                <a:srgbClr val="000000"/>
              </a:solidFill>
              <a:effectLst/>
              <a:uFillTx/>
              <a:latin typeface="Arial"/>
            </a:endParaRPr>
          </a:p>
        </p:txBody>
      </p:sp>
      <p:sp>
        <p:nvSpPr>
          <p:cNvPr id="1365" name="Shape 621"/>
          <p:cNvSpPr/>
          <p:nvPr/>
        </p:nvSpPr>
        <p:spPr>
          <a:xfrm>
            <a:off x="403200" y="3125160"/>
            <a:ext cx="4535280" cy="885960"/>
          </a:xfrm>
          <a:prstGeom prst="roundRect">
            <a:avLst>
              <a:gd name="adj" fmla="val 11364"/>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400" b="0" u="none" strike="noStrike">
              <a:solidFill>
                <a:srgbClr val="000000"/>
              </a:solidFill>
              <a:effectLst/>
              <a:uFillTx/>
              <a:latin typeface="Arial"/>
            </a:endParaRPr>
          </a:p>
        </p:txBody>
      </p:sp>
      <p:sp>
        <p:nvSpPr>
          <p:cNvPr id="1366" name="Shape 622"/>
          <p:cNvSpPr/>
          <p:nvPr/>
        </p:nvSpPr>
        <p:spPr>
          <a:xfrm>
            <a:off x="402840" y="3124800"/>
            <a:ext cx="1510920" cy="885960"/>
          </a:xfrm>
          <a:prstGeom prst="roundRect">
            <a:avLst>
              <a:gd name="adj" fmla="val 9091"/>
            </a:avLst>
          </a:prstGeom>
          <a:solidFill>
            <a:srgbClr val="5B8FF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4000" b="0" u="none" strike="noStrike">
              <a:solidFill>
                <a:srgbClr val="FFFFFF"/>
              </a:solidFill>
              <a:effectLst/>
              <a:uFillTx/>
              <a:latin typeface="Arial"/>
            </a:endParaRPr>
          </a:p>
        </p:txBody>
      </p:sp>
      <p:sp>
        <p:nvSpPr>
          <p:cNvPr id="1367" name="Text 687"/>
          <p:cNvSpPr/>
          <p:nvPr/>
        </p:nvSpPr>
        <p:spPr>
          <a:xfrm>
            <a:off x="402840" y="3124800"/>
            <a:ext cx="1510920" cy="885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200" b="1" u="none" strike="noStrike">
                <a:solidFill>
                  <a:srgbClr val="FFFFFF"/>
                </a:solidFill>
                <a:effectLst/>
                <a:uFillTx/>
                <a:latin typeface="Cambria"/>
                <a:ea typeface="Cambria"/>
              </a:rPr>
              <a:t>Attention maps</a:t>
            </a:r>
            <a:endParaRPr lang="pl-PL" sz="2200" b="0" u="none" strike="noStrike">
              <a:solidFill>
                <a:srgbClr val="000000"/>
              </a:solidFill>
              <a:effectLst/>
              <a:uFillTx/>
              <a:latin typeface="Arial"/>
            </a:endParaRPr>
          </a:p>
        </p:txBody>
      </p:sp>
      <p:sp>
        <p:nvSpPr>
          <p:cNvPr id="1368" name="Text 688"/>
          <p:cNvSpPr/>
          <p:nvPr/>
        </p:nvSpPr>
        <p:spPr>
          <a:xfrm>
            <a:off x="2016000" y="3124800"/>
            <a:ext cx="2821680" cy="885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20000"/>
              </a:lnSpc>
              <a:tabLst>
                <a:tab pos="0" algn="l"/>
              </a:tabLst>
            </a:pPr>
            <a:r>
              <a:rPr lang="pl-PL" sz="1500" b="0" u="none" strike="noStrike">
                <a:solidFill>
                  <a:srgbClr val="1A1F3C"/>
                </a:solidFill>
                <a:effectLst/>
                <a:uFillTx/>
                <a:latin typeface="Calibri"/>
                <a:ea typeface="Calibri"/>
              </a:rPr>
              <a:t>Wizualizacja, na czym skupia się model transformerowy.</a:t>
            </a:r>
            <a:endParaRPr lang="pl-PL" sz="1500" b="0" u="none" strike="noStrike">
              <a:solidFill>
                <a:srgbClr val="000000"/>
              </a:solidFill>
              <a:effectLst/>
              <a:uFillTx/>
              <a:latin typeface="Arial"/>
            </a:endParaRPr>
          </a:p>
        </p:txBody>
      </p:sp>
      <p:sp>
        <p:nvSpPr>
          <p:cNvPr id="1369" name="Shape 623"/>
          <p:cNvSpPr/>
          <p:nvPr/>
        </p:nvSpPr>
        <p:spPr>
          <a:xfrm>
            <a:off x="403200" y="4233960"/>
            <a:ext cx="4535280" cy="1107720"/>
          </a:xfrm>
          <a:prstGeom prst="roundRect">
            <a:avLst>
              <a:gd name="adj" fmla="val 9091"/>
            </a:avLst>
          </a:prstGeom>
          <a:solidFill>
            <a:srgbClr val="FFF3CD"/>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400" b="0" u="none" strike="noStrike">
              <a:solidFill>
                <a:srgbClr val="000000"/>
              </a:solidFill>
              <a:effectLst/>
              <a:uFillTx/>
              <a:latin typeface="Arial"/>
            </a:endParaRPr>
          </a:p>
        </p:txBody>
      </p:sp>
      <p:sp>
        <p:nvSpPr>
          <p:cNvPr id="1370" name="Text 689"/>
          <p:cNvSpPr/>
          <p:nvPr/>
        </p:nvSpPr>
        <p:spPr>
          <a:xfrm>
            <a:off x="554400" y="4284000"/>
            <a:ext cx="4232880" cy="30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1" u="none" strike="noStrike">
                <a:solidFill>
                  <a:srgbClr val="7B4F00"/>
                </a:solidFill>
                <a:effectLst/>
                <a:uFillTx/>
                <a:latin typeface="Cambria"/>
                <a:ea typeface="Cambria"/>
              </a:rPr>
              <a:t>Analiza błędów</a:t>
            </a:r>
            <a:endParaRPr lang="pl-PL" sz="1600" b="0" u="none" strike="noStrike">
              <a:solidFill>
                <a:srgbClr val="000000"/>
              </a:solidFill>
              <a:effectLst/>
              <a:uFillTx/>
              <a:latin typeface="Arial"/>
            </a:endParaRPr>
          </a:p>
        </p:txBody>
      </p:sp>
      <p:sp>
        <p:nvSpPr>
          <p:cNvPr id="1371" name="Text 690"/>
          <p:cNvSpPr/>
          <p:nvPr/>
        </p:nvSpPr>
        <p:spPr>
          <a:xfrm>
            <a:off x="554400" y="4596480"/>
            <a:ext cx="4232880" cy="654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20000"/>
              </a:lnSpc>
              <a:tabLst>
                <a:tab pos="0" algn="l"/>
              </a:tabLst>
            </a:pPr>
            <a:r>
              <a:rPr lang="pl-PL" sz="1400" b="0" u="none" strike="noStrike">
                <a:solidFill>
                  <a:srgbClr val="7B4F00"/>
                </a:solidFill>
                <a:effectLst/>
                <a:uFillTx/>
                <a:latin typeface="Calibri"/>
                <a:ea typeface="Calibri"/>
              </a:rPr>
              <a:t>Dla których podgrup model myli się najczęściej? </a:t>
            </a:r>
            <a:br>
              <a:rPr sz="1400"/>
            </a:br>
            <a:r>
              <a:rPr lang="pl-PL" sz="1400" b="0" u="none" strike="noStrike">
                <a:solidFill>
                  <a:srgbClr val="7B4F00"/>
                </a:solidFill>
                <a:effectLst/>
                <a:uFillTx/>
                <a:latin typeface="Calibri"/>
                <a:ea typeface="Calibri"/>
              </a:rPr>
              <a:t>To może ujawnić bias systemowy.</a:t>
            </a:r>
            <a:endParaRPr lang="pl-PL" sz="1400" b="0" u="none" strike="noStrike">
              <a:solidFill>
                <a:srgbClr val="000000"/>
              </a:solidFill>
              <a:effectLst/>
              <a:uFillTx/>
              <a:latin typeface="Arial"/>
            </a:endParaRPr>
          </a:p>
        </p:txBody>
      </p:sp>
      <p:sp>
        <p:nvSpPr>
          <p:cNvPr id="1372" name="Shape 624"/>
          <p:cNvSpPr/>
          <p:nvPr/>
        </p:nvSpPr>
        <p:spPr>
          <a:xfrm>
            <a:off x="5141160" y="1108800"/>
            <a:ext cx="4535280" cy="4232880"/>
          </a:xfrm>
          <a:prstGeom prst="roundRect">
            <a:avLst>
              <a:gd name="adj" fmla="val 2381"/>
            </a:avLst>
          </a:prstGeom>
          <a:solidFill>
            <a:srgbClr val="FFFF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400" b="0" u="none" strike="noStrike">
              <a:solidFill>
                <a:srgbClr val="000000"/>
              </a:solidFill>
              <a:effectLst/>
              <a:uFillTx/>
              <a:latin typeface="Arial"/>
            </a:endParaRPr>
          </a:p>
        </p:txBody>
      </p:sp>
      <p:sp>
        <p:nvSpPr>
          <p:cNvPr id="1373" name="Text 691"/>
          <p:cNvSpPr/>
          <p:nvPr/>
        </p:nvSpPr>
        <p:spPr>
          <a:xfrm>
            <a:off x="5292000" y="1168920"/>
            <a:ext cx="4232880" cy="32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600" b="1" u="none" strike="noStrike">
                <a:solidFill>
                  <a:srgbClr val="1E2761"/>
                </a:solidFill>
                <a:effectLst/>
                <a:uFillTx/>
                <a:latin typeface="Cambria"/>
                <a:ea typeface="Cambria"/>
              </a:rPr>
              <a:t>Co model widzi u tego uczestnika? (SHAP)</a:t>
            </a:r>
            <a:endParaRPr lang="pl-PL" sz="1600" b="0" u="none" strike="noStrike">
              <a:solidFill>
                <a:srgbClr val="000000"/>
              </a:solidFill>
              <a:effectLst/>
              <a:uFillTx/>
              <a:latin typeface="Arial"/>
            </a:endParaRPr>
          </a:p>
        </p:txBody>
      </p:sp>
      <p:sp>
        <p:nvSpPr>
          <p:cNvPr id="1374" name="Text 692"/>
          <p:cNvSpPr/>
          <p:nvPr/>
        </p:nvSpPr>
        <p:spPr>
          <a:xfrm>
            <a:off x="5292360" y="1632960"/>
            <a:ext cx="196452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400" b="0" u="none" strike="noStrike">
                <a:solidFill>
                  <a:srgbClr val="1A1F3C"/>
                </a:solidFill>
                <a:effectLst/>
                <a:uFillTx/>
                <a:latin typeface="Calibri"/>
                <a:ea typeface="Calibri"/>
              </a:rPr>
              <a:t>Sen (jakość)</a:t>
            </a:r>
            <a:endParaRPr lang="pl-PL" sz="1400" b="0" u="none" strike="noStrike">
              <a:solidFill>
                <a:srgbClr val="000000"/>
              </a:solidFill>
              <a:effectLst/>
              <a:uFillTx/>
              <a:latin typeface="Arial"/>
            </a:endParaRPr>
          </a:p>
        </p:txBody>
      </p:sp>
      <p:sp>
        <p:nvSpPr>
          <p:cNvPr id="1375" name="Shape 625"/>
          <p:cNvSpPr/>
          <p:nvPr/>
        </p:nvSpPr>
        <p:spPr>
          <a:xfrm>
            <a:off x="7805160" y="1713600"/>
            <a:ext cx="1208520" cy="341640"/>
          </a:xfrm>
          <a:prstGeom prst="rect">
            <a:avLst/>
          </a:prstGeom>
          <a:solidFill>
            <a:srgbClr val="D64045"/>
          </a:solidFill>
          <a:ln w="12700">
            <a:solidFill>
              <a:srgbClr val="D6404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800" b="0" u="none" strike="noStrike">
              <a:solidFill>
                <a:srgbClr val="FFFFFF"/>
              </a:solidFill>
              <a:effectLst/>
              <a:uFillTx/>
              <a:latin typeface="Arial"/>
            </a:endParaRPr>
          </a:p>
        </p:txBody>
      </p:sp>
      <p:sp>
        <p:nvSpPr>
          <p:cNvPr id="1376" name="Text 693"/>
          <p:cNvSpPr/>
          <p:nvPr/>
        </p:nvSpPr>
        <p:spPr>
          <a:xfrm>
            <a:off x="7805160" y="1713600"/>
            <a:ext cx="1208520" cy="342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300" b="1" u="none" strike="noStrike">
                <a:solidFill>
                  <a:srgbClr val="FFFFFF"/>
                </a:solidFill>
                <a:effectLst/>
                <a:uFillTx/>
                <a:latin typeface="Calibri"/>
                <a:ea typeface="Calibri"/>
              </a:rPr>
              <a:t>+0.80</a:t>
            </a:r>
            <a:endParaRPr lang="pl-PL" sz="1300" b="0" u="none" strike="noStrike">
              <a:solidFill>
                <a:srgbClr val="000000"/>
              </a:solidFill>
              <a:effectLst/>
              <a:uFillTx/>
              <a:latin typeface="Arial"/>
            </a:endParaRPr>
          </a:p>
        </p:txBody>
      </p:sp>
      <p:sp>
        <p:nvSpPr>
          <p:cNvPr id="1377" name="Text 694"/>
          <p:cNvSpPr/>
          <p:nvPr/>
        </p:nvSpPr>
        <p:spPr>
          <a:xfrm>
            <a:off x="5292360" y="2217600"/>
            <a:ext cx="196452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400" b="0" u="none" strike="noStrike">
                <a:solidFill>
                  <a:srgbClr val="1A1F3C"/>
                </a:solidFill>
                <a:effectLst/>
                <a:uFillTx/>
                <a:latin typeface="Calibri"/>
                <a:ea typeface="Calibri"/>
              </a:rPr>
              <a:t>Izolacja społeczna</a:t>
            </a:r>
            <a:endParaRPr lang="pl-PL" sz="1400" b="0" u="none" strike="noStrike">
              <a:solidFill>
                <a:srgbClr val="000000"/>
              </a:solidFill>
              <a:effectLst/>
              <a:uFillTx/>
              <a:latin typeface="Arial"/>
            </a:endParaRPr>
          </a:p>
        </p:txBody>
      </p:sp>
      <p:sp>
        <p:nvSpPr>
          <p:cNvPr id="1378" name="Shape 626"/>
          <p:cNvSpPr/>
          <p:nvPr/>
        </p:nvSpPr>
        <p:spPr>
          <a:xfrm>
            <a:off x="7805160" y="2298240"/>
            <a:ext cx="981720" cy="341640"/>
          </a:xfrm>
          <a:prstGeom prst="rect">
            <a:avLst/>
          </a:prstGeom>
          <a:solidFill>
            <a:srgbClr val="D64045"/>
          </a:solidFill>
          <a:ln w="12700">
            <a:solidFill>
              <a:srgbClr val="D6404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800" b="0" u="none" strike="noStrike">
              <a:solidFill>
                <a:srgbClr val="FFFFFF"/>
              </a:solidFill>
              <a:effectLst/>
              <a:uFillTx/>
              <a:latin typeface="Arial"/>
            </a:endParaRPr>
          </a:p>
        </p:txBody>
      </p:sp>
      <p:sp>
        <p:nvSpPr>
          <p:cNvPr id="1379" name="Text 695"/>
          <p:cNvSpPr/>
          <p:nvPr/>
        </p:nvSpPr>
        <p:spPr>
          <a:xfrm>
            <a:off x="7805160" y="2298240"/>
            <a:ext cx="982080" cy="342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300" b="1" u="none" strike="noStrike">
                <a:solidFill>
                  <a:srgbClr val="FFFFFF"/>
                </a:solidFill>
                <a:effectLst/>
                <a:uFillTx/>
                <a:latin typeface="Calibri"/>
                <a:ea typeface="Calibri"/>
              </a:rPr>
              <a:t>+0.65</a:t>
            </a:r>
            <a:endParaRPr lang="pl-PL" sz="1300" b="0" u="none" strike="noStrike">
              <a:solidFill>
                <a:srgbClr val="000000"/>
              </a:solidFill>
              <a:effectLst/>
              <a:uFillTx/>
              <a:latin typeface="Arial"/>
            </a:endParaRPr>
          </a:p>
        </p:txBody>
      </p:sp>
      <p:sp>
        <p:nvSpPr>
          <p:cNvPr id="1380" name="Text 696"/>
          <p:cNvSpPr/>
          <p:nvPr/>
        </p:nvSpPr>
        <p:spPr>
          <a:xfrm>
            <a:off x="5292360" y="2802240"/>
            <a:ext cx="196452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400" b="0" u="none" strike="noStrike">
                <a:solidFill>
                  <a:srgbClr val="1A1F3C"/>
                </a:solidFill>
                <a:effectLst/>
                <a:uFillTx/>
                <a:latin typeface="Calibri"/>
                <a:ea typeface="Calibri"/>
              </a:rPr>
              <a:t>Aktywność fizyczna</a:t>
            </a:r>
            <a:endParaRPr lang="pl-PL" sz="1400" b="0" u="none" strike="noStrike">
              <a:solidFill>
                <a:srgbClr val="000000"/>
              </a:solidFill>
              <a:effectLst/>
              <a:uFillTx/>
              <a:latin typeface="Arial"/>
            </a:endParaRPr>
          </a:p>
        </p:txBody>
      </p:sp>
      <p:sp>
        <p:nvSpPr>
          <p:cNvPr id="1381" name="Shape 627"/>
          <p:cNvSpPr/>
          <p:nvPr/>
        </p:nvSpPr>
        <p:spPr>
          <a:xfrm>
            <a:off x="7049160" y="2882880"/>
            <a:ext cx="754920" cy="341640"/>
          </a:xfrm>
          <a:prstGeom prst="rect">
            <a:avLst/>
          </a:prstGeom>
          <a:solidFill>
            <a:srgbClr val="2D7DD2"/>
          </a:solidFill>
          <a:ln w="12700">
            <a:solidFill>
              <a:srgbClr val="2D7DD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800" b="0" u="none" strike="noStrike">
              <a:solidFill>
                <a:srgbClr val="FFFFFF"/>
              </a:solidFill>
              <a:effectLst/>
              <a:uFillTx/>
              <a:latin typeface="Arial"/>
            </a:endParaRPr>
          </a:p>
        </p:txBody>
      </p:sp>
      <p:sp>
        <p:nvSpPr>
          <p:cNvPr id="1382" name="Text 697"/>
          <p:cNvSpPr/>
          <p:nvPr/>
        </p:nvSpPr>
        <p:spPr>
          <a:xfrm>
            <a:off x="7049160" y="2882880"/>
            <a:ext cx="754920" cy="342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300" b="1" u="none" strike="noStrike">
                <a:solidFill>
                  <a:srgbClr val="FFFFFF"/>
                </a:solidFill>
                <a:effectLst/>
                <a:uFillTx/>
                <a:latin typeface="Calibri"/>
                <a:ea typeface="Calibri"/>
              </a:rPr>
              <a:t>−0.50</a:t>
            </a:r>
            <a:endParaRPr lang="pl-PL" sz="1300" b="0" u="none" strike="noStrike">
              <a:solidFill>
                <a:srgbClr val="000000"/>
              </a:solidFill>
              <a:effectLst/>
              <a:uFillTx/>
              <a:latin typeface="Arial"/>
            </a:endParaRPr>
          </a:p>
        </p:txBody>
      </p:sp>
      <p:sp>
        <p:nvSpPr>
          <p:cNvPr id="1383" name="Text 698"/>
          <p:cNvSpPr/>
          <p:nvPr/>
        </p:nvSpPr>
        <p:spPr>
          <a:xfrm>
            <a:off x="5292360" y="3386880"/>
            <a:ext cx="196452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400" b="0" u="none" strike="noStrike">
                <a:solidFill>
                  <a:srgbClr val="1A1F3C"/>
                </a:solidFill>
                <a:effectLst/>
                <a:uFillTx/>
                <a:latin typeface="Calibri"/>
                <a:ea typeface="Calibri"/>
              </a:rPr>
              <a:t>Nastrój (średnia tyg.)</a:t>
            </a:r>
            <a:endParaRPr lang="pl-PL" sz="1400" b="0" u="none" strike="noStrike">
              <a:solidFill>
                <a:srgbClr val="000000"/>
              </a:solidFill>
              <a:effectLst/>
              <a:uFillTx/>
              <a:latin typeface="Arial"/>
            </a:endParaRPr>
          </a:p>
        </p:txBody>
      </p:sp>
      <p:sp>
        <p:nvSpPr>
          <p:cNvPr id="1384" name="Shape 628"/>
          <p:cNvSpPr/>
          <p:nvPr/>
        </p:nvSpPr>
        <p:spPr>
          <a:xfrm>
            <a:off x="7805160" y="3467880"/>
            <a:ext cx="679320" cy="341640"/>
          </a:xfrm>
          <a:prstGeom prst="rect">
            <a:avLst/>
          </a:prstGeom>
          <a:solidFill>
            <a:srgbClr val="D64045"/>
          </a:solidFill>
          <a:ln w="12700">
            <a:solidFill>
              <a:srgbClr val="D6404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800" b="0" u="none" strike="noStrike">
              <a:solidFill>
                <a:srgbClr val="FFFFFF"/>
              </a:solidFill>
              <a:effectLst/>
              <a:uFillTx/>
              <a:latin typeface="Arial"/>
            </a:endParaRPr>
          </a:p>
        </p:txBody>
      </p:sp>
      <p:sp>
        <p:nvSpPr>
          <p:cNvPr id="1385" name="Text 699"/>
          <p:cNvSpPr/>
          <p:nvPr/>
        </p:nvSpPr>
        <p:spPr>
          <a:xfrm>
            <a:off x="7805160" y="3467880"/>
            <a:ext cx="679680" cy="342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300" b="1" u="none" strike="noStrike">
                <a:solidFill>
                  <a:srgbClr val="FFFFFF"/>
                </a:solidFill>
                <a:effectLst/>
                <a:uFillTx/>
                <a:latin typeface="Calibri"/>
                <a:ea typeface="Calibri"/>
              </a:rPr>
              <a:t>+0.45</a:t>
            </a:r>
            <a:endParaRPr lang="pl-PL" sz="1300" b="0" u="none" strike="noStrike">
              <a:solidFill>
                <a:srgbClr val="000000"/>
              </a:solidFill>
              <a:effectLst/>
              <a:uFillTx/>
              <a:latin typeface="Arial"/>
            </a:endParaRPr>
          </a:p>
        </p:txBody>
      </p:sp>
      <p:sp>
        <p:nvSpPr>
          <p:cNvPr id="1386" name="Text 700"/>
          <p:cNvSpPr/>
          <p:nvPr/>
        </p:nvSpPr>
        <p:spPr>
          <a:xfrm>
            <a:off x="5292360" y="3971880"/>
            <a:ext cx="196452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400" b="0" u="none" strike="noStrike">
                <a:solidFill>
                  <a:srgbClr val="1A1F3C"/>
                </a:solidFill>
                <a:effectLst/>
                <a:uFillTx/>
                <a:latin typeface="Calibri"/>
                <a:ea typeface="Calibri"/>
              </a:rPr>
              <a:t>Wsparcie społeczne</a:t>
            </a:r>
            <a:endParaRPr lang="pl-PL" sz="1400" b="0" u="none" strike="noStrike">
              <a:solidFill>
                <a:srgbClr val="000000"/>
              </a:solidFill>
              <a:effectLst/>
              <a:uFillTx/>
              <a:latin typeface="Arial"/>
            </a:endParaRPr>
          </a:p>
        </p:txBody>
      </p:sp>
      <p:sp>
        <p:nvSpPr>
          <p:cNvPr id="1387" name="Shape 629"/>
          <p:cNvSpPr/>
          <p:nvPr/>
        </p:nvSpPr>
        <p:spPr>
          <a:xfrm>
            <a:off x="7220160" y="4052520"/>
            <a:ext cx="584280" cy="341640"/>
          </a:xfrm>
          <a:prstGeom prst="rect">
            <a:avLst/>
          </a:prstGeom>
          <a:solidFill>
            <a:srgbClr val="2D7DD2"/>
          </a:solidFill>
          <a:ln w="12700">
            <a:solidFill>
              <a:srgbClr val="2D7DD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388" name="Text 701"/>
          <p:cNvSpPr/>
          <p:nvPr/>
        </p:nvSpPr>
        <p:spPr>
          <a:xfrm>
            <a:off x="7172280" y="4052520"/>
            <a:ext cx="632160" cy="342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300" b="1" u="none" strike="noStrike">
                <a:solidFill>
                  <a:srgbClr val="FFFFFF"/>
                </a:solidFill>
                <a:effectLst/>
                <a:uFillTx/>
                <a:latin typeface="Calibri"/>
                <a:ea typeface="Calibri"/>
              </a:rPr>
              <a:t>−0.35</a:t>
            </a:r>
            <a:endParaRPr lang="pl-PL" sz="1300" b="0" u="none" strike="noStrike">
              <a:solidFill>
                <a:srgbClr val="000000"/>
              </a:solidFill>
              <a:effectLst/>
              <a:uFillTx/>
              <a:latin typeface="Arial"/>
            </a:endParaRPr>
          </a:p>
        </p:txBody>
      </p:sp>
      <p:sp>
        <p:nvSpPr>
          <p:cNvPr id="1389" name="Shape 630"/>
          <p:cNvSpPr/>
          <p:nvPr/>
        </p:nvSpPr>
        <p:spPr>
          <a:xfrm>
            <a:off x="7805160" y="1562400"/>
            <a:ext cx="360" cy="3024360"/>
          </a:xfrm>
          <a:prstGeom prst="line">
            <a:avLst/>
          </a:prstGeom>
          <a:ln w="12700">
            <a:solidFill>
              <a:srgbClr val="1A1F3C"/>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pl-PL" sz="2800" b="0" u="none" strike="noStrike">
              <a:solidFill>
                <a:srgbClr val="000000"/>
              </a:solidFill>
              <a:effectLst/>
              <a:uFillTx/>
              <a:latin typeface="Arial"/>
            </a:endParaRPr>
          </a:p>
        </p:txBody>
      </p:sp>
      <p:sp>
        <p:nvSpPr>
          <p:cNvPr id="1390" name="Text 702"/>
          <p:cNvSpPr/>
          <p:nvPr/>
        </p:nvSpPr>
        <p:spPr>
          <a:xfrm>
            <a:off x="5292000" y="4606920"/>
            <a:ext cx="4232880" cy="30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500" b="0" i="1" u="none" strike="noStrike">
                <a:solidFill>
                  <a:srgbClr val="8A93C0"/>
                </a:solidFill>
                <a:effectLst/>
                <a:uFillTx/>
                <a:latin typeface="Calibri"/>
                <a:ea typeface="Calibri"/>
              </a:rPr>
              <a:t>← zmniejsza ryzyko        zwiększa ryzyko →</a:t>
            </a:r>
            <a:endParaRPr lang="pl-PL" sz="1500" b="0" u="none" strike="noStrike">
              <a:solidFill>
                <a:srgbClr val="000000"/>
              </a:solidFill>
              <a:effectLst/>
              <a:uFillTx/>
              <a:latin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 y="99"/>
            <a:ext cx="10080625" cy="1008063"/>
          </a:xfrm>
          <a:prstGeom prst="rect">
            <a:avLst/>
          </a:prstGeom>
          <a:solidFill>
            <a:srgbClr val="1E2761"/>
          </a:solidFill>
          <a:ln w="12700">
            <a:solidFill>
              <a:srgbClr val="1E2761"/>
            </a:solidFill>
            <a:prstDash val="solid"/>
          </a:ln>
        </p:spPr>
      </p:sp>
      <p:sp>
        <p:nvSpPr>
          <p:cNvPr id="3" name="Text 1"/>
          <p:cNvSpPr/>
          <p:nvPr/>
        </p:nvSpPr>
        <p:spPr>
          <a:xfrm>
            <a:off x="453628" y="70664"/>
            <a:ext cx="9173369" cy="504031"/>
          </a:xfrm>
          <a:prstGeom prst="rect">
            <a:avLst/>
          </a:prstGeom>
          <a:noFill/>
          <a:ln/>
        </p:spPr>
        <p:txBody>
          <a:bodyPr wrap="square" rtlCol="0" anchor="b"/>
          <a:lstStyle/>
          <a:p>
            <a:r>
              <a:rPr lang="en-US" sz="2200" b="1" dirty="0">
                <a:solidFill>
                  <a:srgbClr val="FFFFFF"/>
                </a:solidFill>
                <a:latin typeface="Cambria" pitchFamily="34" charset="0"/>
                <a:ea typeface="Cambria" pitchFamily="34" charset="-122"/>
                <a:cs typeface="Cambria" pitchFamily="34" charset="-120"/>
              </a:rPr>
              <a:t>INTERPRETACJA WYNIKÓW I GRANICE WNIOSKOWANIA</a:t>
            </a:r>
            <a:endParaRPr lang="en-US" sz="2200" dirty="0"/>
          </a:p>
        </p:txBody>
      </p:sp>
      <p:sp>
        <p:nvSpPr>
          <p:cNvPr id="4" name="Text 2"/>
          <p:cNvSpPr/>
          <p:nvPr/>
        </p:nvSpPr>
        <p:spPr>
          <a:xfrm>
            <a:off x="453628" y="594856"/>
            <a:ext cx="9173369" cy="332661"/>
          </a:xfrm>
          <a:prstGeom prst="rect">
            <a:avLst/>
          </a:prstGeom>
          <a:noFill/>
          <a:ln/>
        </p:spPr>
        <p:txBody>
          <a:bodyPr wrap="square" rtlCol="0" anchor="t"/>
          <a:lstStyle/>
          <a:p>
            <a:r>
              <a:rPr lang="en-US" sz="1158" i="1" dirty="0">
                <a:solidFill>
                  <a:srgbClr val="CADCFC"/>
                </a:solidFill>
                <a:latin typeface="Calibri" pitchFamily="34" charset="0"/>
                <a:ea typeface="Calibri" pitchFamily="34" charset="-122"/>
                <a:cs typeface="Calibri" pitchFamily="34" charset="-120"/>
              </a:rPr>
              <a:t>Co można, a czego nie można powiedzieć na podstawie wyników</a:t>
            </a:r>
            <a:endParaRPr lang="en-US" sz="1158" dirty="0"/>
          </a:p>
        </p:txBody>
      </p:sp>
      <p:sp>
        <p:nvSpPr>
          <p:cNvPr id="5" name="Shape 3"/>
          <p:cNvSpPr/>
          <p:nvPr/>
        </p:nvSpPr>
        <p:spPr>
          <a:xfrm>
            <a:off x="403225" y="1108969"/>
            <a:ext cx="4536281" cy="3856434"/>
          </a:xfrm>
          <a:prstGeom prst="roundRect">
            <a:avLst>
              <a:gd name="adj" fmla="val 2532"/>
            </a:avLst>
          </a:prstGeom>
          <a:solidFill>
            <a:srgbClr val="FFFFFF"/>
          </a:solidFill>
          <a:ln/>
          <a:effectLst>
            <a:outerShdw blurRad="76200" dist="25400" dir="2700000" algn="bl" rotWithShape="0">
              <a:srgbClr val="000000">
                <a:alpha val="8000"/>
              </a:srgbClr>
            </a:outerShdw>
          </a:effectLst>
        </p:spPr>
      </p:sp>
      <p:sp>
        <p:nvSpPr>
          <p:cNvPr id="6" name="Text 4"/>
          <p:cNvSpPr/>
          <p:nvPr/>
        </p:nvSpPr>
        <p:spPr>
          <a:xfrm>
            <a:off x="554434" y="1169452"/>
            <a:ext cx="4233863" cy="302419"/>
          </a:xfrm>
          <a:prstGeom prst="rect">
            <a:avLst/>
          </a:prstGeom>
          <a:noFill/>
          <a:ln/>
        </p:spPr>
        <p:txBody>
          <a:bodyPr wrap="square" rtlCol="0" anchor="ctr"/>
          <a:lstStyle/>
          <a:p>
            <a:r>
              <a:rPr lang="en-US" b="1" dirty="0">
                <a:solidFill>
                  <a:srgbClr val="1E2761"/>
                </a:solidFill>
                <a:latin typeface="Cambria" pitchFamily="34" charset="0"/>
                <a:ea typeface="Cambria" pitchFamily="34" charset="-122"/>
                <a:cs typeface="Cambria" pitchFamily="34" charset="-120"/>
              </a:rPr>
              <a:t>Od wyniku do uzasadnionego wniosku</a:t>
            </a:r>
            <a:endParaRPr lang="en-US" dirty="0"/>
          </a:p>
        </p:txBody>
      </p:sp>
      <p:grpSp>
        <p:nvGrpSpPr>
          <p:cNvPr id="46" name="Grupa 45"/>
          <p:cNvGrpSpPr/>
          <p:nvPr/>
        </p:nvGrpSpPr>
        <p:grpSpPr>
          <a:xfrm>
            <a:off x="705643" y="1633161"/>
            <a:ext cx="3931444" cy="3053139"/>
            <a:chOff x="705643" y="1633161"/>
            <a:chExt cx="3931444" cy="2580639"/>
          </a:xfrm>
        </p:grpSpPr>
        <p:sp>
          <p:nvSpPr>
            <p:cNvPr id="7" name="Shape 5"/>
            <p:cNvSpPr/>
            <p:nvPr/>
          </p:nvSpPr>
          <p:spPr>
            <a:xfrm>
              <a:off x="705643" y="1633161"/>
              <a:ext cx="3931444" cy="584676"/>
            </a:xfrm>
            <a:prstGeom prst="roundRect">
              <a:avLst>
                <a:gd name="adj" fmla="val 12069"/>
              </a:avLst>
            </a:prstGeom>
            <a:solidFill>
              <a:srgbClr val="1E2761"/>
            </a:solidFill>
            <a:ln/>
            <a:effectLst>
              <a:outerShdw blurRad="76200" dist="25400" dir="2700000" algn="bl" rotWithShape="0">
                <a:srgbClr val="000000">
                  <a:alpha val="8000"/>
                </a:srgbClr>
              </a:outerShdw>
            </a:effectLst>
          </p:spPr>
        </p:sp>
        <p:sp>
          <p:nvSpPr>
            <p:cNvPr id="8" name="Text 6"/>
            <p:cNvSpPr/>
            <p:nvPr/>
          </p:nvSpPr>
          <p:spPr>
            <a:xfrm>
              <a:off x="705643" y="1633161"/>
              <a:ext cx="3931444" cy="584676"/>
            </a:xfrm>
            <a:prstGeom prst="rect">
              <a:avLst/>
            </a:prstGeom>
            <a:noFill/>
            <a:ln/>
          </p:spPr>
          <p:txBody>
            <a:bodyPr wrap="square" rtlCol="0" anchor="ctr"/>
            <a:lstStyle/>
            <a:p>
              <a:pPr algn="ctr"/>
              <a:r>
                <a:rPr lang="en-US" sz="1600" b="1" dirty="0">
                  <a:solidFill>
                    <a:srgbClr val="FFFFFF"/>
                  </a:solidFill>
                  <a:latin typeface="Cambria" pitchFamily="34" charset="0"/>
                  <a:ea typeface="Cambria" pitchFamily="34" charset="-122"/>
                  <a:cs typeface="Cambria" pitchFamily="34" charset="-120"/>
                </a:rPr>
                <a:t>Wynik badania</a:t>
              </a:r>
              <a:endParaRPr lang="en-US" sz="1600" dirty="0"/>
            </a:p>
          </p:txBody>
        </p:sp>
        <p:sp>
          <p:nvSpPr>
            <p:cNvPr id="9" name="Shape 7"/>
            <p:cNvSpPr/>
            <p:nvPr/>
          </p:nvSpPr>
          <p:spPr>
            <a:xfrm>
              <a:off x="1058465" y="2298482"/>
              <a:ext cx="3225800" cy="584676"/>
            </a:xfrm>
            <a:prstGeom prst="roundRect">
              <a:avLst>
                <a:gd name="adj" fmla="val 12069"/>
              </a:avLst>
            </a:prstGeom>
            <a:solidFill>
              <a:srgbClr val="2D3B8E"/>
            </a:solidFill>
            <a:ln/>
            <a:effectLst>
              <a:outerShdw blurRad="76200" dist="25400" dir="2700000" algn="bl" rotWithShape="0">
                <a:srgbClr val="000000">
                  <a:alpha val="8000"/>
                </a:srgbClr>
              </a:outerShdw>
            </a:effectLst>
          </p:spPr>
        </p:sp>
        <p:sp>
          <p:nvSpPr>
            <p:cNvPr id="10" name="Text 8"/>
            <p:cNvSpPr/>
            <p:nvPr/>
          </p:nvSpPr>
          <p:spPr>
            <a:xfrm>
              <a:off x="1058465" y="2298482"/>
              <a:ext cx="3225800" cy="584676"/>
            </a:xfrm>
            <a:prstGeom prst="rect">
              <a:avLst/>
            </a:prstGeom>
            <a:noFill/>
            <a:ln/>
          </p:spPr>
          <p:txBody>
            <a:bodyPr wrap="square" rtlCol="0" anchor="ctr"/>
            <a:lstStyle/>
            <a:p>
              <a:pPr algn="ctr"/>
              <a:r>
                <a:rPr lang="en-US" sz="1600" b="1" dirty="0">
                  <a:solidFill>
                    <a:srgbClr val="FFFFFF"/>
                  </a:solidFill>
                  <a:latin typeface="Cambria" pitchFamily="34" charset="0"/>
                  <a:ea typeface="Cambria" pitchFamily="34" charset="-122"/>
                  <a:cs typeface="Cambria" pitchFamily="34" charset="-120"/>
                </a:rPr>
                <a:t>Tylko ta populacja</a:t>
              </a:r>
              <a:endParaRPr lang="en-US" sz="1600" dirty="0"/>
            </a:p>
          </p:txBody>
        </p:sp>
        <p:sp>
          <p:nvSpPr>
            <p:cNvPr id="11" name="Shape 9"/>
            <p:cNvSpPr/>
            <p:nvPr/>
          </p:nvSpPr>
          <p:spPr>
            <a:xfrm>
              <a:off x="1411287" y="2963803"/>
              <a:ext cx="2520156" cy="584676"/>
            </a:xfrm>
            <a:prstGeom prst="roundRect">
              <a:avLst>
                <a:gd name="adj" fmla="val 12069"/>
              </a:avLst>
            </a:prstGeom>
            <a:solidFill>
              <a:srgbClr val="5B8FF9"/>
            </a:solidFill>
            <a:ln/>
            <a:effectLst>
              <a:outerShdw blurRad="76200" dist="25400" dir="2700000" algn="bl" rotWithShape="0">
                <a:srgbClr val="000000">
                  <a:alpha val="8000"/>
                </a:srgbClr>
              </a:outerShdw>
            </a:effectLst>
          </p:spPr>
        </p:sp>
        <p:sp>
          <p:nvSpPr>
            <p:cNvPr id="12" name="Text 10"/>
            <p:cNvSpPr/>
            <p:nvPr/>
          </p:nvSpPr>
          <p:spPr>
            <a:xfrm>
              <a:off x="1411287" y="2963803"/>
              <a:ext cx="2520156" cy="584676"/>
            </a:xfrm>
            <a:prstGeom prst="rect">
              <a:avLst/>
            </a:prstGeom>
            <a:noFill/>
            <a:ln/>
          </p:spPr>
          <p:txBody>
            <a:bodyPr wrap="square" rtlCol="0" anchor="ctr"/>
            <a:lstStyle/>
            <a:p>
              <a:pPr algn="ctr"/>
              <a:r>
                <a:rPr lang="en-US" sz="1600" b="1" dirty="0">
                  <a:solidFill>
                    <a:srgbClr val="FFFFFF"/>
                  </a:solidFill>
                  <a:latin typeface="Cambria" pitchFamily="34" charset="0"/>
                  <a:ea typeface="Cambria" pitchFamily="34" charset="-122"/>
                  <a:cs typeface="Cambria" pitchFamily="34" charset="-120"/>
                </a:rPr>
                <a:t>Korelacja, nie przyczynowość</a:t>
              </a:r>
              <a:endParaRPr lang="en-US" sz="1600" dirty="0"/>
            </a:p>
          </p:txBody>
        </p:sp>
        <p:sp>
          <p:nvSpPr>
            <p:cNvPr id="13" name="Shape 11"/>
            <p:cNvSpPr/>
            <p:nvPr/>
          </p:nvSpPr>
          <p:spPr>
            <a:xfrm>
              <a:off x="1713706" y="3629124"/>
              <a:ext cx="1915319" cy="584676"/>
            </a:xfrm>
            <a:prstGeom prst="roundRect">
              <a:avLst>
                <a:gd name="adj" fmla="val 12069"/>
              </a:avLst>
            </a:prstGeom>
            <a:solidFill>
              <a:srgbClr val="3A9F6E"/>
            </a:solidFill>
            <a:ln/>
            <a:effectLst>
              <a:outerShdw blurRad="76200" dist="25400" dir="2700000" algn="bl" rotWithShape="0">
                <a:srgbClr val="000000">
                  <a:alpha val="8000"/>
                </a:srgbClr>
              </a:outerShdw>
            </a:effectLst>
          </p:spPr>
        </p:sp>
        <p:sp>
          <p:nvSpPr>
            <p:cNvPr id="14" name="Text 12"/>
            <p:cNvSpPr/>
            <p:nvPr/>
          </p:nvSpPr>
          <p:spPr>
            <a:xfrm>
              <a:off x="1713706" y="3629124"/>
              <a:ext cx="1915319" cy="584676"/>
            </a:xfrm>
            <a:prstGeom prst="rect">
              <a:avLst/>
            </a:prstGeom>
            <a:noFill/>
            <a:ln/>
          </p:spPr>
          <p:txBody>
            <a:bodyPr wrap="square" rtlCol="0" anchor="ctr"/>
            <a:lstStyle/>
            <a:p>
              <a:pPr algn="ctr"/>
              <a:r>
                <a:rPr lang="en-US" sz="1600" b="1" dirty="0">
                  <a:solidFill>
                    <a:srgbClr val="FFFFFF"/>
                  </a:solidFill>
                  <a:latin typeface="Cambria" pitchFamily="34" charset="0"/>
                  <a:ea typeface="Cambria" pitchFamily="34" charset="-122"/>
                  <a:cs typeface="Cambria" pitchFamily="34" charset="-120"/>
                </a:rPr>
                <a:t>Uzasadniony wniosek</a:t>
              </a:r>
              <a:endParaRPr lang="en-US" sz="1600" dirty="0"/>
            </a:p>
          </p:txBody>
        </p:sp>
      </p:grpSp>
      <p:grpSp>
        <p:nvGrpSpPr>
          <p:cNvPr id="47" name="Grupa 46"/>
          <p:cNvGrpSpPr/>
          <p:nvPr/>
        </p:nvGrpSpPr>
        <p:grpSpPr>
          <a:xfrm>
            <a:off x="5241925" y="1108968"/>
            <a:ext cx="4435475" cy="1982014"/>
            <a:chOff x="5241925" y="1108968"/>
            <a:chExt cx="4435475" cy="2016126"/>
          </a:xfrm>
        </p:grpSpPr>
        <p:sp>
          <p:nvSpPr>
            <p:cNvPr id="15" name="Shape 13"/>
            <p:cNvSpPr/>
            <p:nvPr/>
          </p:nvSpPr>
          <p:spPr>
            <a:xfrm>
              <a:off x="5241925" y="1108968"/>
              <a:ext cx="4435475" cy="2016126"/>
            </a:xfrm>
            <a:prstGeom prst="roundRect">
              <a:avLst>
                <a:gd name="adj" fmla="val 4878"/>
              </a:avLst>
            </a:prstGeom>
            <a:solidFill>
              <a:srgbClr val="FFFFFF"/>
            </a:solidFill>
            <a:ln/>
            <a:effectLst>
              <a:outerShdw blurRad="76200" dist="25400" dir="2700000" algn="bl" rotWithShape="0">
                <a:srgbClr val="000000">
                  <a:alpha val="8000"/>
                </a:srgbClr>
              </a:outerShdw>
            </a:effectLst>
          </p:spPr>
        </p:sp>
        <p:sp>
          <p:nvSpPr>
            <p:cNvPr id="16" name="Text 14"/>
            <p:cNvSpPr/>
            <p:nvPr/>
          </p:nvSpPr>
          <p:spPr>
            <a:xfrm>
              <a:off x="5393134" y="1169452"/>
              <a:ext cx="4133056" cy="302419"/>
            </a:xfrm>
            <a:prstGeom prst="rect">
              <a:avLst/>
            </a:prstGeom>
            <a:noFill/>
            <a:ln/>
          </p:spPr>
          <p:txBody>
            <a:bodyPr wrap="square" rtlCol="0" anchor="ctr"/>
            <a:lstStyle/>
            <a:p>
              <a:r>
                <a:rPr lang="en-US" b="1" dirty="0">
                  <a:solidFill>
                    <a:srgbClr val="1E2761"/>
                  </a:solidFill>
                  <a:latin typeface="Cambria" pitchFamily="34" charset="0"/>
                  <a:ea typeface="Cambria" pitchFamily="34" charset="-122"/>
                  <a:cs typeface="Cambria" pitchFamily="34" charset="-120"/>
                </a:rPr>
                <a:t>O czym łatwo zapomnieć</a:t>
              </a:r>
              <a:endParaRPr lang="en-US" dirty="0"/>
            </a:p>
          </p:txBody>
        </p:sp>
        <p:sp>
          <p:nvSpPr>
            <p:cNvPr id="17" name="Shape 15"/>
            <p:cNvSpPr/>
            <p:nvPr/>
          </p:nvSpPr>
          <p:spPr>
            <a:xfrm>
              <a:off x="5393134" y="1633160"/>
              <a:ext cx="201613" cy="201613"/>
            </a:xfrm>
            <a:prstGeom prst="ellipse">
              <a:avLst/>
            </a:prstGeom>
            <a:solidFill>
              <a:srgbClr val="D64045"/>
            </a:solidFill>
            <a:ln w="12700">
              <a:solidFill>
                <a:srgbClr val="D64045"/>
              </a:solidFill>
              <a:prstDash val="solid"/>
            </a:ln>
          </p:spPr>
        </p:sp>
        <p:sp>
          <p:nvSpPr>
            <p:cNvPr id="18" name="Text 16"/>
            <p:cNvSpPr/>
            <p:nvPr/>
          </p:nvSpPr>
          <p:spPr>
            <a:xfrm>
              <a:off x="5655230" y="1562596"/>
              <a:ext cx="3931444" cy="342741"/>
            </a:xfrm>
            <a:prstGeom prst="rect">
              <a:avLst/>
            </a:prstGeom>
            <a:noFill/>
            <a:ln/>
          </p:spPr>
          <p:txBody>
            <a:bodyPr wrap="square" rtlCol="0" anchor="ctr"/>
            <a:lstStyle/>
            <a:p>
              <a:r>
                <a:rPr lang="en-US" sz="1400" dirty="0">
                  <a:solidFill>
                    <a:srgbClr val="1A1F3C"/>
                  </a:solidFill>
                  <a:latin typeface="Calibri" pitchFamily="34" charset="0"/>
                  <a:ea typeface="Calibri" pitchFamily="34" charset="-122"/>
                  <a:cs typeface="Calibri" pitchFamily="34" charset="-120"/>
                </a:rPr>
                <a:t>Efekt statystycznie istotny ≠ praktycznie znaczący</a:t>
              </a:r>
              <a:endParaRPr lang="en-US" sz="1400" dirty="0"/>
            </a:p>
          </p:txBody>
        </p:sp>
        <p:sp>
          <p:nvSpPr>
            <p:cNvPr id="19" name="Shape 17"/>
            <p:cNvSpPr/>
            <p:nvPr/>
          </p:nvSpPr>
          <p:spPr>
            <a:xfrm>
              <a:off x="5393134" y="1996063"/>
              <a:ext cx="201613" cy="201613"/>
            </a:xfrm>
            <a:prstGeom prst="ellipse">
              <a:avLst/>
            </a:prstGeom>
            <a:solidFill>
              <a:srgbClr val="D64045"/>
            </a:solidFill>
            <a:ln w="12700">
              <a:solidFill>
                <a:srgbClr val="D64045"/>
              </a:solidFill>
              <a:prstDash val="solid"/>
            </a:ln>
          </p:spPr>
        </p:sp>
        <p:sp>
          <p:nvSpPr>
            <p:cNvPr id="20" name="Text 18"/>
            <p:cNvSpPr/>
            <p:nvPr/>
          </p:nvSpPr>
          <p:spPr>
            <a:xfrm>
              <a:off x="5655230" y="1925499"/>
              <a:ext cx="3931444" cy="342741"/>
            </a:xfrm>
            <a:prstGeom prst="rect">
              <a:avLst/>
            </a:prstGeom>
            <a:noFill/>
            <a:ln/>
          </p:spPr>
          <p:txBody>
            <a:bodyPr wrap="square" rtlCol="0" anchor="ctr"/>
            <a:lstStyle/>
            <a:p>
              <a:r>
                <a:rPr lang="en-US" sz="1400" dirty="0">
                  <a:solidFill>
                    <a:srgbClr val="1A1F3C"/>
                  </a:solidFill>
                  <a:latin typeface="Calibri" pitchFamily="34" charset="0"/>
                  <a:ea typeface="Calibri" pitchFamily="34" charset="-122"/>
                  <a:cs typeface="Calibri" pitchFamily="34" charset="-120"/>
                </a:rPr>
                <a:t>Niepewność modelu to część wyniku, nie dodatek</a:t>
              </a:r>
              <a:endParaRPr lang="en-US" sz="1400" dirty="0"/>
            </a:p>
          </p:txBody>
        </p:sp>
        <p:sp>
          <p:nvSpPr>
            <p:cNvPr id="21" name="Shape 19"/>
            <p:cNvSpPr/>
            <p:nvPr/>
          </p:nvSpPr>
          <p:spPr>
            <a:xfrm>
              <a:off x="5393134" y="2358965"/>
              <a:ext cx="201613" cy="201613"/>
            </a:xfrm>
            <a:prstGeom prst="ellipse">
              <a:avLst/>
            </a:prstGeom>
            <a:solidFill>
              <a:srgbClr val="D64045"/>
            </a:solidFill>
            <a:ln w="12700">
              <a:solidFill>
                <a:srgbClr val="D64045"/>
              </a:solidFill>
              <a:prstDash val="solid"/>
            </a:ln>
          </p:spPr>
        </p:sp>
        <p:sp>
          <p:nvSpPr>
            <p:cNvPr id="22" name="Text 20"/>
            <p:cNvSpPr/>
            <p:nvPr/>
          </p:nvSpPr>
          <p:spPr>
            <a:xfrm>
              <a:off x="5655230" y="2288401"/>
              <a:ext cx="3931444" cy="342741"/>
            </a:xfrm>
            <a:prstGeom prst="rect">
              <a:avLst/>
            </a:prstGeom>
            <a:noFill/>
            <a:ln/>
          </p:spPr>
          <p:txBody>
            <a:bodyPr wrap="square" rtlCol="0" anchor="ctr"/>
            <a:lstStyle/>
            <a:p>
              <a:r>
                <a:rPr lang="en-US" sz="1400" dirty="0">
                  <a:solidFill>
                    <a:srgbClr val="1A1F3C"/>
                  </a:solidFill>
                  <a:latin typeface="Calibri" pitchFamily="34" charset="0"/>
                  <a:ea typeface="Calibri" pitchFamily="34" charset="-122"/>
                  <a:cs typeface="Calibri" pitchFamily="34" charset="-120"/>
                </a:rPr>
                <a:t>Model AI mówi „co”, rzadko „dlaczego”</a:t>
              </a:r>
              <a:endParaRPr lang="en-US" sz="1400" dirty="0"/>
            </a:p>
          </p:txBody>
        </p:sp>
        <p:sp>
          <p:nvSpPr>
            <p:cNvPr id="23" name="Shape 21"/>
            <p:cNvSpPr/>
            <p:nvPr/>
          </p:nvSpPr>
          <p:spPr>
            <a:xfrm>
              <a:off x="5393134" y="2721868"/>
              <a:ext cx="201613" cy="201613"/>
            </a:xfrm>
            <a:prstGeom prst="ellipse">
              <a:avLst/>
            </a:prstGeom>
            <a:solidFill>
              <a:srgbClr val="D64045"/>
            </a:solidFill>
            <a:ln w="12700">
              <a:solidFill>
                <a:srgbClr val="D64045"/>
              </a:solidFill>
              <a:prstDash val="solid"/>
            </a:ln>
          </p:spPr>
        </p:sp>
        <p:sp>
          <p:nvSpPr>
            <p:cNvPr id="24" name="Text 22"/>
            <p:cNvSpPr/>
            <p:nvPr/>
          </p:nvSpPr>
          <p:spPr>
            <a:xfrm>
              <a:off x="5655230" y="2651304"/>
              <a:ext cx="3931444" cy="342741"/>
            </a:xfrm>
            <a:prstGeom prst="rect">
              <a:avLst/>
            </a:prstGeom>
            <a:noFill/>
            <a:ln/>
          </p:spPr>
          <p:txBody>
            <a:bodyPr wrap="square" rtlCol="0" anchor="ctr"/>
            <a:lstStyle/>
            <a:p>
              <a:r>
                <a:rPr lang="en-US" sz="1400" dirty="0">
                  <a:solidFill>
                    <a:srgbClr val="1A1F3C"/>
                  </a:solidFill>
                  <a:latin typeface="Calibri" pitchFamily="34" charset="0"/>
                  <a:ea typeface="Calibri" pitchFamily="34" charset="-122"/>
                  <a:cs typeface="Calibri" pitchFamily="34" charset="-120"/>
                </a:rPr>
                <a:t>Generalizacja ograniczona do zbadanej populacji</a:t>
              </a:r>
              <a:endParaRPr lang="en-US" sz="1400" dirty="0"/>
            </a:p>
          </p:txBody>
        </p:sp>
      </p:grpSp>
      <p:grpSp>
        <p:nvGrpSpPr>
          <p:cNvPr id="48" name="Grupa 47"/>
          <p:cNvGrpSpPr/>
          <p:nvPr/>
        </p:nvGrpSpPr>
        <p:grpSpPr>
          <a:xfrm>
            <a:off x="5241924" y="3196233"/>
            <a:ext cx="4435475" cy="1764109"/>
            <a:chOff x="5241925" y="3326706"/>
            <a:chExt cx="4435475" cy="1764109"/>
          </a:xfrm>
        </p:grpSpPr>
        <p:sp>
          <p:nvSpPr>
            <p:cNvPr id="25" name="Shape 23"/>
            <p:cNvSpPr/>
            <p:nvPr/>
          </p:nvSpPr>
          <p:spPr>
            <a:xfrm>
              <a:off x="5241925" y="3326706"/>
              <a:ext cx="4435475" cy="1764109"/>
            </a:xfrm>
            <a:prstGeom prst="roundRect">
              <a:avLst>
                <a:gd name="adj" fmla="val 5714"/>
              </a:avLst>
            </a:prstGeom>
            <a:solidFill>
              <a:srgbClr val="F8F9FF"/>
            </a:solidFill>
            <a:ln/>
            <a:effectLst>
              <a:outerShdw blurRad="76200" dist="25400" dir="2700000" algn="bl" rotWithShape="0">
                <a:srgbClr val="000000">
                  <a:alpha val="8000"/>
                </a:srgbClr>
              </a:outerShdw>
            </a:effectLst>
          </p:spPr>
        </p:sp>
        <p:sp>
          <p:nvSpPr>
            <p:cNvPr id="26" name="Text 24"/>
            <p:cNvSpPr/>
            <p:nvPr/>
          </p:nvSpPr>
          <p:spPr>
            <a:xfrm>
              <a:off x="5393134" y="3377108"/>
              <a:ext cx="4133056" cy="282258"/>
            </a:xfrm>
            <a:prstGeom prst="rect">
              <a:avLst/>
            </a:prstGeom>
            <a:noFill/>
            <a:ln/>
          </p:spPr>
          <p:txBody>
            <a:bodyPr wrap="square" rtlCol="0" anchor="ctr"/>
            <a:lstStyle/>
            <a:p>
              <a:r>
                <a:rPr lang="en-US" sz="1600" b="1" dirty="0">
                  <a:solidFill>
                    <a:srgbClr val="1E2761"/>
                  </a:solidFill>
                  <a:latin typeface="Cambria" pitchFamily="34" charset="0"/>
                  <a:ea typeface="Cambria" pitchFamily="34" charset="-122"/>
                  <a:cs typeface="Cambria" pitchFamily="34" charset="-120"/>
                </a:rPr>
                <a:t>Niepewność jest częścią wyniku</a:t>
              </a:r>
              <a:endParaRPr lang="en-US" sz="1600" dirty="0"/>
            </a:p>
          </p:txBody>
        </p:sp>
        <p:sp>
          <p:nvSpPr>
            <p:cNvPr id="27" name="Shape 25"/>
            <p:cNvSpPr/>
            <p:nvPr/>
          </p:nvSpPr>
          <p:spPr>
            <a:xfrm>
              <a:off x="5607050" y="4259758"/>
              <a:ext cx="504031" cy="705644"/>
            </a:xfrm>
            <a:prstGeom prst="rect">
              <a:avLst/>
            </a:prstGeom>
            <a:solidFill>
              <a:srgbClr val="5B8FF9"/>
            </a:solidFill>
            <a:ln/>
          </p:spPr>
        </p:sp>
        <p:sp>
          <p:nvSpPr>
            <p:cNvPr id="28" name="Shape 26"/>
            <p:cNvSpPr/>
            <p:nvPr/>
          </p:nvSpPr>
          <p:spPr>
            <a:xfrm>
              <a:off x="5859065" y="4007743"/>
              <a:ext cx="0" cy="504031"/>
            </a:xfrm>
            <a:prstGeom prst="line">
              <a:avLst/>
            </a:prstGeom>
            <a:noFill/>
            <a:ln w="19050">
              <a:solidFill>
                <a:srgbClr val="1E2761"/>
              </a:solidFill>
              <a:prstDash val="solid"/>
            </a:ln>
          </p:spPr>
        </p:sp>
        <p:sp>
          <p:nvSpPr>
            <p:cNvPr id="29" name="Shape 27"/>
            <p:cNvSpPr/>
            <p:nvPr/>
          </p:nvSpPr>
          <p:spPr>
            <a:xfrm>
              <a:off x="5758259" y="4007743"/>
              <a:ext cx="201613" cy="0"/>
            </a:xfrm>
            <a:prstGeom prst="line">
              <a:avLst/>
            </a:prstGeom>
            <a:noFill/>
            <a:ln w="19050">
              <a:solidFill>
                <a:srgbClr val="1E2761"/>
              </a:solidFill>
              <a:prstDash val="solid"/>
            </a:ln>
          </p:spPr>
        </p:sp>
        <p:sp>
          <p:nvSpPr>
            <p:cNvPr id="30" name="Shape 28"/>
            <p:cNvSpPr/>
            <p:nvPr/>
          </p:nvSpPr>
          <p:spPr>
            <a:xfrm>
              <a:off x="5758259" y="4511774"/>
              <a:ext cx="201613" cy="0"/>
            </a:xfrm>
            <a:prstGeom prst="line">
              <a:avLst/>
            </a:prstGeom>
            <a:noFill/>
            <a:ln w="19050">
              <a:solidFill>
                <a:srgbClr val="1E2761"/>
              </a:solidFill>
              <a:prstDash val="solid"/>
            </a:ln>
          </p:spPr>
        </p:sp>
        <p:sp>
          <p:nvSpPr>
            <p:cNvPr id="31" name="Shape 29"/>
            <p:cNvSpPr/>
            <p:nvPr/>
          </p:nvSpPr>
          <p:spPr>
            <a:xfrm>
              <a:off x="6514306" y="3856533"/>
              <a:ext cx="504031" cy="1108869"/>
            </a:xfrm>
            <a:prstGeom prst="rect">
              <a:avLst/>
            </a:prstGeom>
            <a:solidFill>
              <a:srgbClr val="5B8FF9"/>
            </a:solidFill>
            <a:ln/>
          </p:spPr>
        </p:sp>
        <p:sp>
          <p:nvSpPr>
            <p:cNvPr id="32" name="Shape 30"/>
            <p:cNvSpPr/>
            <p:nvPr/>
          </p:nvSpPr>
          <p:spPr>
            <a:xfrm>
              <a:off x="6766321" y="3675082"/>
              <a:ext cx="0" cy="362903"/>
            </a:xfrm>
            <a:prstGeom prst="line">
              <a:avLst/>
            </a:prstGeom>
            <a:noFill/>
            <a:ln w="19050">
              <a:solidFill>
                <a:srgbClr val="1E2761"/>
              </a:solidFill>
              <a:prstDash val="solid"/>
            </a:ln>
          </p:spPr>
        </p:sp>
        <p:sp>
          <p:nvSpPr>
            <p:cNvPr id="33" name="Shape 31"/>
            <p:cNvSpPr/>
            <p:nvPr/>
          </p:nvSpPr>
          <p:spPr>
            <a:xfrm>
              <a:off x="6665515" y="3675082"/>
              <a:ext cx="201613" cy="0"/>
            </a:xfrm>
            <a:prstGeom prst="line">
              <a:avLst/>
            </a:prstGeom>
            <a:noFill/>
            <a:ln w="19050">
              <a:solidFill>
                <a:srgbClr val="1E2761"/>
              </a:solidFill>
              <a:prstDash val="solid"/>
            </a:ln>
          </p:spPr>
        </p:sp>
        <p:sp>
          <p:nvSpPr>
            <p:cNvPr id="34" name="Shape 32"/>
            <p:cNvSpPr/>
            <p:nvPr/>
          </p:nvSpPr>
          <p:spPr>
            <a:xfrm>
              <a:off x="6665515" y="4037985"/>
              <a:ext cx="201613" cy="0"/>
            </a:xfrm>
            <a:prstGeom prst="line">
              <a:avLst/>
            </a:prstGeom>
            <a:noFill/>
            <a:ln w="19050">
              <a:solidFill>
                <a:srgbClr val="1E2761"/>
              </a:solidFill>
              <a:prstDash val="solid"/>
            </a:ln>
          </p:spPr>
        </p:sp>
        <p:sp>
          <p:nvSpPr>
            <p:cNvPr id="35" name="Shape 33"/>
            <p:cNvSpPr/>
            <p:nvPr/>
          </p:nvSpPr>
          <p:spPr>
            <a:xfrm>
              <a:off x="7421562" y="4461371"/>
              <a:ext cx="504031" cy="504031"/>
            </a:xfrm>
            <a:prstGeom prst="rect">
              <a:avLst/>
            </a:prstGeom>
            <a:solidFill>
              <a:srgbClr val="5B8FF9"/>
            </a:solidFill>
            <a:ln/>
          </p:spPr>
        </p:sp>
        <p:sp>
          <p:nvSpPr>
            <p:cNvPr id="36" name="Shape 34"/>
            <p:cNvSpPr/>
            <p:nvPr/>
          </p:nvSpPr>
          <p:spPr>
            <a:xfrm>
              <a:off x="7673578" y="4138791"/>
              <a:ext cx="0" cy="645160"/>
            </a:xfrm>
            <a:prstGeom prst="line">
              <a:avLst/>
            </a:prstGeom>
            <a:noFill/>
            <a:ln w="19050">
              <a:solidFill>
                <a:srgbClr val="1E2761"/>
              </a:solidFill>
              <a:prstDash val="solid"/>
            </a:ln>
          </p:spPr>
        </p:sp>
        <p:sp>
          <p:nvSpPr>
            <p:cNvPr id="37" name="Shape 35"/>
            <p:cNvSpPr/>
            <p:nvPr/>
          </p:nvSpPr>
          <p:spPr>
            <a:xfrm>
              <a:off x="7572771" y="4138791"/>
              <a:ext cx="201613" cy="0"/>
            </a:xfrm>
            <a:prstGeom prst="line">
              <a:avLst/>
            </a:prstGeom>
            <a:noFill/>
            <a:ln w="19050">
              <a:solidFill>
                <a:srgbClr val="1E2761"/>
              </a:solidFill>
              <a:prstDash val="solid"/>
            </a:ln>
          </p:spPr>
        </p:sp>
        <p:sp>
          <p:nvSpPr>
            <p:cNvPr id="38" name="Shape 36"/>
            <p:cNvSpPr/>
            <p:nvPr/>
          </p:nvSpPr>
          <p:spPr>
            <a:xfrm>
              <a:off x="7572771" y="4783951"/>
              <a:ext cx="201613" cy="0"/>
            </a:xfrm>
            <a:prstGeom prst="line">
              <a:avLst/>
            </a:prstGeom>
            <a:noFill/>
            <a:ln w="19050">
              <a:solidFill>
                <a:srgbClr val="1E2761"/>
              </a:solidFill>
              <a:prstDash val="solid"/>
            </a:ln>
          </p:spPr>
        </p:sp>
        <p:sp>
          <p:nvSpPr>
            <p:cNvPr id="39" name="Shape 37"/>
            <p:cNvSpPr/>
            <p:nvPr/>
          </p:nvSpPr>
          <p:spPr>
            <a:xfrm>
              <a:off x="8328818" y="4108549"/>
              <a:ext cx="504031" cy="856853"/>
            </a:xfrm>
            <a:prstGeom prst="rect">
              <a:avLst/>
            </a:prstGeom>
            <a:solidFill>
              <a:srgbClr val="5B8FF9"/>
            </a:solidFill>
            <a:ln/>
          </p:spPr>
        </p:sp>
        <p:sp>
          <p:nvSpPr>
            <p:cNvPr id="40" name="Shape 38"/>
            <p:cNvSpPr/>
            <p:nvPr/>
          </p:nvSpPr>
          <p:spPr>
            <a:xfrm>
              <a:off x="8580834" y="3906937"/>
              <a:ext cx="0" cy="403225"/>
            </a:xfrm>
            <a:prstGeom prst="line">
              <a:avLst/>
            </a:prstGeom>
            <a:noFill/>
            <a:ln w="19050">
              <a:solidFill>
                <a:srgbClr val="1E2761"/>
              </a:solidFill>
              <a:prstDash val="solid"/>
            </a:ln>
          </p:spPr>
        </p:sp>
        <p:sp>
          <p:nvSpPr>
            <p:cNvPr id="41" name="Shape 39"/>
            <p:cNvSpPr/>
            <p:nvPr/>
          </p:nvSpPr>
          <p:spPr>
            <a:xfrm>
              <a:off x="8480027" y="3906937"/>
              <a:ext cx="201613" cy="0"/>
            </a:xfrm>
            <a:prstGeom prst="line">
              <a:avLst/>
            </a:prstGeom>
            <a:noFill/>
            <a:ln w="19050">
              <a:solidFill>
                <a:srgbClr val="1E2761"/>
              </a:solidFill>
              <a:prstDash val="solid"/>
            </a:ln>
          </p:spPr>
        </p:sp>
        <p:sp>
          <p:nvSpPr>
            <p:cNvPr id="42" name="Shape 40"/>
            <p:cNvSpPr/>
            <p:nvPr/>
          </p:nvSpPr>
          <p:spPr>
            <a:xfrm>
              <a:off x="8480027" y="4310162"/>
              <a:ext cx="201613" cy="0"/>
            </a:xfrm>
            <a:prstGeom prst="line">
              <a:avLst/>
            </a:prstGeom>
            <a:noFill/>
            <a:ln w="19050">
              <a:solidFill>
                <a:srgbClr val="1E2761"/>
              </a:solidFill>
              <a:prstDash val="solid"/>
            </a:ln>
          </p:spPr>
        </p:sp>
        <p:sp>
          <p:nvSpPr>
            <p:cNvPr id="43" name="Shape 41"/>
            <p:cNvSpPr/>
            <p:nvPr/>
          </p:nvSpPr>
          <p:spPr>
            <a:xfrm>
              <a:off x="5506243" y="4965402"/>
              <a:ext cx="4032250" cy="0"/>
            </a:xfrm>
            <a:prstGeom prst="line">
              <a:avLst/>
            </a:prstGeom>
            <a:noFill/>
            <a:ln w="12700">
              <a:solidFill>
                <a:srgbClr val="1A1F3C"/>
              </a:solidFill>
              <a:prstDash val="solid"/>
            </a:ln>
          </p:spPr>
        </p:sp>
      </p:grpSp>
      <p:sp>
        <p:nvSpPr>
          <p:cNvPr id="44" name="Shape 42"/>
          <p:cNvSpPr/>
          <p:nvPr/>
        </p:nvSpPr>
        <p:spPr>
          <a:xfrm>
            <a:off x="393700" y="5137348"/>
            <a:ext cx="9340849" cy="372983"/>
          </a:xfrm>
          <a:prstGeom prst="roundRect">
            <a:avLst>
              <a:gd name="adj" fmla="val 18182"/>
            </a:avLst>
          </a:prstGeom>
          <a:solidFill>
            <a:srgbClr val="EEF3FF"/>
          </a:solidFill>
          <a:ln/>
          <a:effectLst>
            <a:outerShdw blurRad="76200" dist="25400" dir="2700000" algn="bl" rotWithShape="0">
              <a:srgbClr val="000000">
                <a:alpha val="8000"/>
              </a:srgbClr>
            </a:outerShdw>
          </a:effectLst>
        </p:spPr>
        <p:txBody>
          <a:bodyPr anchor="ctr"/>
          <a:lstStyle/>
          <a:p>
            <a:pPr algn="ctr"/>
            <a:r>
              <a:rPr lang="pl-PL" sz="1600" dirty="0">
                <a:solidFill>
                  <a:srgbClr val="1E2761"/>
                </a:solidFill>
                <a:latin typeface="Cambria Math" panose="02040503050406030204" pitchFamily="18" charset="0"/>
                <a:ea typeface="Cambria Math" panose="02040503050406030204" pitchFamily="18" charset="0"/>
                <a:cs typeface="Calibri" pitchFamily="34" charset="-120"/>
              </a:rPr>
              <a:t>Publikowalny wynik to nie tylko istotność statystyczna, ale poprawnie ograniczony zakres wnioskowania</a:t>
            </a:r>
            <a:endParaRPr lang="pl-PL" sz="16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4565009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1395" name="Shape 33"/>
          <p:cNvSpPr/>
          <p:nvPr/>
        </p:nvSpPr>
        <p:spPr>
          <a:xfrm>
            <a:off x="360" y="360"/>
            <a:ext cx="10079640" cy="1006920"/>
          </a:xfrm>
          <a:prstGeom prst="rect">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396" name="Text 16"/>
          <p:cNvSpPr/>
          <p:nvPr/>
        </p:nvSpPr>
        <p:spPr>
          <a:xfrm>
            <a:off x="453240" y="70560"/>
            <a:ext cx="917244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defTabSz="914400">
              <a:lnSpc>
                <a:spcPct val="100000"/>
              </a:lnSpc>
              <a:tabLst>
                <a:tab pos="0" algn="l"/>
              </a:tabLst>
            </a:pPr>
            <a:r>
              <a:rPr lang="pl-PL" sz="2200" b="1" u="none" strike="noStrike" dirty="0">
                <a:solidFill>
                  <a:srgbClr val="FFFFFF"/>
                </a:solidFill>
                <a:effectLst/>
                <a:uFillTx/>
                <a:latin typeface="Cambria"/>
                <a:ea typeface="Cambria"/>
              </a:rPr>
              <a:t>GRANICE LUDZKIEGO POZNANIA</a:t>
            </a:r>
            <a:endParaRPr lang="pl-PL" sz="2200" b="0" u="none" strike="noStrike" dirty="0">
              <a:solidFill>
                <a:srgbClr val="000000"/>
              </a:solidFill>
              <a:effectLst/>
              <a:uFillTx/>
              <a:latin typeface="Arial"/>
            </a:endParaRPr>
          </a:p>
        </p:txBody>
      </p:sp>
      <p:sp>
        <p:nvSpPr>
          <p:cNvPr id="1397" name="Text 17"/>
          <p:cNvSpPr/>
          <p:nvPr/>
        </p:nvSpPr>
        <p:spPr>
          <a:xfrm>
            <a:off x="453240" y="594720"/>
            <a:ext cx="9172440" cy="331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pl-PL" sz="1400" b="0" i="1" u="none" strike="noStrike">
                <a:solidFill>
                  <a:srgbClr val="CADCFC"/>
                </a:solidFill>
                <a:effectLst/>
                <a:uFillTx/>
                <a:latin typeface="Calibri"/>
                <a:ea typeface="Calibri"/>
              </a:rPr>
              <a:t>Co można, a czego nie można powiedzieć na podstawie wyników?</a:t>
            </a:r>
            <a:endParaRPr lang="pl-PL" sz="1400" b="0" u="none" strike="noStrike">
              <a:solidFill>
                <a:srgbClr val="000000"/>
              </a:solidFill>
              <a:effectLst/>
              <a:uFillTx/>
              <a:latin typeface="Arial"/>
            </a:endParaRPr>
          </a:p>
        </p:txBody>
      </p:sp>
      <p:sp>
        <p:nvSpPr>
          <p:cNvPr id="1398" name="Shape 34"/>
          <p:cNvSpPr/>
          <p:nvPr/>
        </p:nvSpPr>
        <p:spPr>
          <a:xfrm>
            <a:off x="1553400" y="5047200"/>
            <a:ext cx="7483680" cy="522720"/>
          </a:xfrm>
          <a:prstGeom prst="roundRect">
            <a:avLst>
              <a:gd name="adj" fmla="val 14286"/>
            </a:avLst>
          </a:prstGeom>
          <a:solidFill>
            <a:srgbClr val="FFF3CD"/>
          </a:solidFill>
          <a:ln w="0">
            <a:solidFill>
              <a:srgbClr val="FFC000"/>
            </a:solid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1800" b="1" u="none" strike="noStrike" dirty="0">
                <a:solidFill>
                  <a:srgbClr val="7B4F00"/>
                </a:solidFill>
                <a:effectLst/>
                <a:uFillTx/>
                <a:latin typeface="Calibri"/>
                <a:ea typeface="Calibri"/>
              </a:rPr>
              <a:t>Doświadczenie subiektywne nie jest kopią rzeczywistości, </a:t>
            </a:r>
            <a:endParaRPr lang="pl-PL" sz="1800" b="0" u="none" strike="noStrike" dirty="0">
              <a:solidFill>
                <a:srgbClr val="000000"/>
              </a:solidFill>
              <a:effectLst/>
              <a:uFillTx/>
              <a:latin typeface="Arial"/>
            </a:endParaRPr>
          </a:p>
          <a:p>
            <a:pPr algn="ctr" defTabSz="914400">
              <a:lnSpc>
                <a:spcPct val="100000"/>
              </a:lnSpc>
              <a:tabLst>
                <a:tab pos="0" algn="l"/>
              </a:tabLst>
            </a:pPr>
            <a:r>
              <a:rPr lang="pl-PL" sz="1800" b="1" u="none" strike="noStrike" dirty="0">
                <a:solidFill>
                  <a:srgbClr val="7B4F00"/>
                </a:solidFill>
                <a:effectLst/>
                <a:uFillTx/>
                <a:latin typeface="Calibri"/>
                <a:ea typeface="Calibri"/>
              </a:rPr>
              <a:t>lecz predykcyjną konstrukcją mózgu korygowaną przez dane zmysłowe</a:t>
            </a:r>
            <a:endParaRPr lang="pl-PL" sz="1800" b="0" u="none" strike="noStrike" dirty="0">
              <a:solidFill>
                <a:srgbClr val="000000"/>
              </a:solidFill>
              <a:effectLst/>
              <a:uFillTx/>
              <a:latin typeface="Arial"/>
            </a:endParaRPr>
          </a:p>
        </p:txBody>
      </p:sp>
      <p:pic>
        <p:nvPicPr>
          <p:cNvPr id="1399" name="Obraz 1398"/>
          <p:cNvPicPr/>
          <p:nvPr/>
        </p:nvPicPr>
        <p:blipFill>
          <a:blip r:embed="rId3"/>
          <a:srcRect t="14467" b="11366"/>
          <a:stretch/>
        </p:blipFill>
        <p:spPr>
          <a:xfrm>
            <a:off x="514440" y="1036215"/>
            <a:ext cx="9486720" cy="3958920"/>
          </a:xfrm>
          <a:prstGeom prst="rect">
            <a:avLst/>
          </a:prstGeom>
          <a:noFill/>
          <a:ln w="0">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1400" name="Shape 13"/>
          <p:cNvSpPr/>
          <p:nvPr/>
        </p:nvSpPr>
        <p:spPr>
          <a:xfrm>
            <a:off x="360" y="360"/>
            <a:ext cx="10079640" cy="1006920"/>
          </a:xfrm>
          <a:prstGeom prst="rect">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401" name="Text 5"/>
          <p:cNvSpPr/>
          <p:nvPr/>
        </p:nvSpPr>
        <p:spPr>
          <a:xfrm>
            <a:off x="453240" y="70560"/>
            <a:ext cx="917244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defTabSz="914400">
              <a:lnSpc>
                <a:spcPct val="100000"/>
              </a:lnSpc>
              <a:tabLst>
                <a:tab pos="0" algn="l"/>
              </a:tabLst>
            </a:pPr>
            <a:r>
              <a:rPr lang="pl-PL" sz="2200" b="1" u="none" strike="noStrike" dirty="0">
                <a:solidFill>
                  <a:srgbClr val="FFFFFF"/>
                </a:solidFill>
                <a:effectLst/>
                <a:uFillTx/>
                <a:latin typeface="Cambria"/>
                <a:ea typeface="Cambria"/>
              </a:rPr>
              <a:t>EPISTEMOLOGICZNE GRANICE INTERPRETACJI WYNIKÓW</a:t>
            </a:r>
            <a:endParaRPr lang="pl-PL" sz="2200" b="0" u="none" strike="noStrike" dirty="0">
              <a:solidFill>
                <a:srgbClr val="000000"/>
              </a:solidFill>
              <a:effectLst/>
              <a:uFillTx/>
              <a:latin typeface="Arial"/>
            </a:endParaRPr>
          </a:p>
        </p:txBody>
      </p:sp>
      <p:sp>
        <p:nvSpPr>
          <p:cNvPr id="1402" name="Text 21"/>
          <p:cNvSpPr/>
          <p:nvPr/>
        </p:nvSpPr>
        <p:spPr>
          <a:xfrm>
            <a:off x="453240" y="594720"/>
            <a:ext cx="9172440" cy="331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pl-PL" sz="1400" b="0" i="1" u="none" strike="noStrike">
                <a:solidFill>
                  <a:srgbClr val="CADCFC"/>
                </a:solidFill>
                <a:effectLst/>
                <a:uFillTx/>
                <a:latin typeface="Calibri"/>
                <a:ea typeface="Calibri"/>
              </a:rPr>
              <a:t>Od predykcji i korelacji do ostrożnego wnioskowania naukowego</a:t>
            </a:r>
            <a:endParaRPr lang="pl-PL" sz="1400" b="0" u="none" strike="noStrike">
              <a:solidFill>
                <a:srgbClr val="000000"/>
              </a:solidFill>
              <a:effectLst/>
              <a:uFillTx/>
              <a:latin typeface="Arial"/>
            </a:endParaRPr>
          </a:p>
        </p:txBody>
      </p:sp>
      <p:sp>
        <p:nvSpPr>
          <p:cNvPr id="1403" name="Shape 83"/>
          <p:cNvSpPr/>
          <p:nvPr/>
        </p:nvSpPr>
        <p:spPr>
          <a:xfrm>
            <a:off x="646920" y="5186880"/>
            <a:ext cx="8912880" cy="440640"/>
          </a:xfrm>
          <a:prstGeom prst="roundRect">
            <a:avLst>
              <a:gd name="adj" fmla="val 14286"/>
            </a:avLst>
          </a:prstGeom>
          <a:solidFill>
            <a:srgbClr val="FFF3CD"/>
          </a:solidFill>
          <a:ln w="0">
            <a:solidFill>
              <a:srgbClr val="FFC000"/>
            </a:solid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200" b="1" u="none" strike="noStrike">
                <a:solidFill>
                  <a:srgbClr val="7B4F00"/>
                </a:solidFill>
                <a:effectLst/>
                <a:uFillTx/>
                <a:latin typeface="Calibri"/>
                <a:ea typeface="Calibri"/>
              </a:rPr>
              <a:t>Granice interpretacji określają naukową wiarygodność wniosku</a:t>
            </a:r>
            <a:endParaRPr lang="pl-PL" sz="2200" b="0" u="none" strike="noStrike">
              <a:solidFill>
                <a:srgbClr val="000000"/>
              </a:solidFill>
              <a:effectLst/>
              <a:uFillTx/>
              <a:latin typeface="Arial"/>
            </a:endParaRPr>
          </a:p>
        </p:txBody>
      </p:sp>
      <p:pic>
        <p:nvPicPr>
          <p:cNvPr id="1404" name="Obraz 1403"/>
          <p:cNvPicPr/>
          <p:nvPr/>
        </p:nvPicPr>
        <p:blipFill>
          <a:blip r:embed="rId3"/>
          <a:srcRect t="14748" b="15262"/>
          <a:stretch/>
        </p:blipFill>
        <p:spPr>
          <a:xfrm>
            <a:off x="0" y="1050120"/>
            <a:ext cx="10027080" cy="3948840"/>
          </a:xfrm>
          <a:prstGeom prst="rect">
            <a:avLst/>
          </a:prstGeom>
          <a:noFill/>
          <a:ln w="0">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9" name="Shape 42"/>
          <p:cNvSpPr/>
          <p:nvPr/>
        </p:nvSpPr>
        <p:spPr>
          <a:xfrm>
            <a:off x="393700" y="4897440"/>
            <a:ext cx="9340849" cy="612891"/>
          </a:xfrm>
          <a:prstGeom prst="roundRect">
            <a:avLst>
              <a:gd name="adj" fmla="val 18182"/>
            </a:avLst>
          </a:prstGeom>
          <a:solidFill>
            <a:srgbClr val="EEF3FF"/>
          </a:solidFill>
          <a:ln>
            <a:solidFill>
              <a:srgbClr val="B9BED9"/>
            </a:solidFill>
          </a:ln>
          <a:effectLst>
            <a:outerShdw blurRad="76200" dist="25400" dir="2700000" algn="bl" rotWithShape="0">
              <a:srgbClr val="000000">
                <a:alpha val="8000"/>
              </a:srgbClr>
            </a:outerShdw>
          </a:effectLst>
        </p:spPr>
        <p:txBody>
          <a:bodyPr anchor="ctr"/>
          <a:lstStyle/>
          <a:p>
            <a:pPr algn="ctr"/>
            <a:r>
              <a:rPr lang="pl-PL" dirty="0">
                <a:solidFill>
                  <a:srgbClr val="1E2761"/>
                </a:solidFill>
                <a:latin typeface="Cambria Math" panose="02040503050406030204" pitchFamily="18" charset="0"/>
                <a:ea typeface="Cambria Math" panose="02040503050406030204" pitchFamily="18" charset="0"/>
                <a:cs typeface="Calibri" pitchFamily="34" charset="-120"/>
              </a:rPr>
              <a:t>Dla większości projektów wystarczą określony </a:t>
            </a:r>
            <a:r>
              <a:rPr lang="pl-PL" dirty="0" err="1">
                <a:solidFill>
                  <a:srgbClr val="1E2761"/>
                </a:solidFill>
                <a:latin typeface="Cambria Math" panose="02040503050406030204" pitchFamily="18" charset="0"/>
                <a:ea typeface="Cambria Math" panose="02040503050406030204" pitchFamily="18" charset="0"/>
                <a:cs typeface="Calibri" pitchFamily="34" charset="-120"/>
              </a:rPr>
              <a:t>seed</a:t>
            </a:r>
            <a:r>
              <a:rPr lang="pl-PL" dirty="0">
                <a:solidFill>
                  <a:srgbClr val="1E2761"/>
                </a:solidFill>
                <a:latin typeface="Cambria Math" panose="02040503050406030204" pitchFamily="18" charset="0"/>
                <a:ea typeface="Cambria Math" panose="02040503050406030204" pitchFamily="18" charset="0"/>
                <a:cs typeface="Calibri" pitchFamily="34" charset="-120"/>
              </a:rPr>
              <a:t> i plik z wersjami bibliotek; </a:t>
            </a:r>
          </a:p>
          <a:p>
            <a:pPr algn="ctr"/>
            <a:r>
              <a:rPr lang="pl-PL" dirty="0" err="1">
                <a:solidFill>
                  <a:srgbClr val="1E2761"/>
                </a:solidFill>
                <a:latin typeface="Cambria Math" panose="02040503050406030204" pitchFamily="18" charset="0"/>
                <a:ea typeface="Cambria Math" panose="02040503050406030204" pitchFamily="18" charset="0"/>
                <a:cs typeface="Calibri" pitchFamily="34" charset="-120"/>
              </a:rPr>
              <a:t>Dockera</a:t>
            </a:r>
            <a:r>
              <a:rPr lang="pl-PL" dirty="0">
                <a:solidFill>
                  <a:srgbClr val="1E2761"/>
                </a:solidFill>
                <a:latin typeface="Cambria Math" panose="02040503050406030204" pitchFamily="18" charset="0"/>
                <a:ea typeface="Cambria Math" panose="02040503050406030204" pitchFamily="18" charset="0"/>
                <a:cs typeface="Calibri" pitchFamily="34" charset="-120"/>
              </a:rPr>
              <a:t> stosujemy dopiero w większych, długoterminowych projektach.</a:t>
            </a:r>
          </a:p>
        </p:txBody>
      </p:sp>
      <p:sp>
        <p:nvSpPr>
          <p:cNvPr id="1405" name="Shape 631"/>
          <p:cNvSpPr/>
          <p:nvPr/>
        </p:nvSpPr>
        <p:spPr>
          <a:xfrm>
            <a:off x="360" y="360"/>
            <a:ext cx="10079640" cy="1006920"/>
          </a:xfrm>
          <a:prstGeom prst="rect">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406" name="Text 703"/>
          <p:cNvSpPr/>
          <p:nvPr/>
        </p:nvSpPr>
        <p:spPr>
          <a:xfrm>
            <a:off x="453240" y="70560"/>
            <a:ext cx="917244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defTabSz="914400">
              <a:lnSpc>
                <a:spcPct val="100000"/>
              </a:lnSpc>
              <a:tabLst>
                <a:tab pos="0" algn="l"/>
              </a:tabLst>
            </a:pPr>
            <a:r>
              <a:rPr lang="pl-PL" sz="2200" b="1" u="none" strike="noStrike">
                <a:solidFill>
                  <a:srgbClr val="FFFFFF"/>
                </a:solidFill>
                <a:effectLst/>
                <a:uFillTx/>
                <a:latin typeface="Cambria"/>
                <a:ea typeface="Cambria"/>
              </a:rPr>
              <a:t>REPLIKOWALNOŚĆ OBLICZENIOWA</a:t>
            </a:r>
            <a:endParaRPr lang="pl-PL" sz="2200" b="0" u="none" strike="noStrike">
              <a:solidFill>
                <a:srgbClr val="000000"/>
              </a:solidFill>
              <a:effectLst/>
              <a:uFillTx/>
              <a:latin typeface="Arial"/>
            </a:endParaRPr>
          </a:p>
        </p:txBody>
      </p:sp>
      <p:sp>
        <p:nvSpPr>
          <p:cNvPr id="1407" name="Text 704"/>
          <p:cNvSpPr/>
          <p:nvPr/>
        </p:nvSpPr>
        <p:spPr>
          <a:xfrm>
            <a:off x="453240" y="594720"/>
            <a:ext cx="9172440" cy="331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pl-PL" sz="1400" b="0" i="1" u="none" strike="noStrike">
                <a:solidFill>
                  <a:srgbClr val="CADCFC"/>
                </a:solidFill>
                <a:effectLst/>
                <a:uFillTx/>
                <a:latin typeface="Calibri"/>
                <a:ea typeface="Calibri"/>
              </a:rPr>
              <a:t>Seed, wersje, kontenery</a:t>
            </a:r>
            <a:endParaRPr lang="pl-PL" sz="1400" b="0" u="none" strike="noStrike">
              <a:solidFill>
                <a:srgbClr val="000000"/>
              </a:solidFill>
              <a:effectLst/>
              <a:uFillTx/>
              <a:latin typeface="Arial"/>
            </a:endParaRPr>
          </a:p>
        </p:txBody>
      </p:sp>
      <p:sp>
        <p:nvSpPr>
          <p:cNvPr id="1408" name="Shape 632"/>
          <p:cNvSpPr/>
          <p:nvPr/>
        </p:nvSpPr>
        <p:spPr>
          <a:xfrm>
            <a:off x="403200" y="1159200"/>
            <a:ext cx="4197376" cy="785160"/>
          </a:xfrm>
          <a:prstGeom prst="roundRect">
            <a:avLst>
              <a:gd name="adj" fmla="val 10256"/>
            </a:avLst>
          </a:prstGeom>
          <a:solidFill>
            <a:srgbClr val="1E2761"/>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600" b="0" u="none" strike="noStrike">
              <a:solidFill>
                <a:srgbClr val="FFFFFF"/>
              </a:solidFill>
              <a:effectLst/>
              <a:uFillTx/>
              <a:latin typeface="Arial"/>
            </a:endParaRPr>
          </a:p>
        </p:txBody>
      </p:sp>
      <p:sp>
        <p:nvSpPr>
          <p:cNvPr id="1409" name="Shape 633"/>
          <p:cNvSpPr/>
          <p:nvPr/>
        </p:nvSpPr>
        <p:spPr>
          <a:xfrm>
            <a:off x="524160" y="1280160"/>
            <a:ext cx="543600" cy="543600"/>
          </a:xfrm>
          <a:prstGeom prst="ellipse">
            <a:avLst/>
          </a:prstGeom>
          <a:solidFill>
            <a:srgbClr val="FFFFFF">
              <a:alpha val="8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600" b="0" u="none" strike="noStrike">
              <a:solidFill>
                <a:srgbClr val="000000"/>
              </a:solidFill>
              <a:effectLst/>
              <a:uFillTx/>
              <a:latin typeface="Arial"/>
            </a:endParaRPr>
          </a:p>
        </p:txBody>
      </p:sp>
      <p:sp>
        <p:nvSpPr>
          <p:cNvPr id="1410" name="Text 705"/>
          <p:cNvSpPr/>
          <p:nvPr/>
        </p:nvSpPr>
        <p:spPr>
          <a:xfrm>
            <a:off x="524160" y="1280160"/>
            <a:ext cx="543600" cy="54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400" b="1" u="none" strike="noStrike">
                <a:solidFill>
                  <a:srgbClr val="1E2761"/>
                </a:solidFill>
                <a:effectLst/>
                <a:uFillTx/>
                <a:latin typeface="Cambria"/>
                <a:ea typeface="Cambria"/>
              </a:rPr>
              <a:t>1</a:t>
            </a:r>
            <a:endParaRPr lang="pl-PL" sz="2400" b="0" u="none" strike="noStrike">
              <a:solidFill>
                <a:srgbClr val="000000"/>
              </a:solidFill>
              <a:effectLst/>
              <a:uFillTx/>
              <a:latin typeface="Arial"/>
            </a:endParaRPr>
          </a:p>
        </p:txBody>
      </p:sp>
      <p:sp>
        <p:nvSpPr>
          <p:cNvPr id="1411" name="Text 706"/>
          <p:cNvSpPr/>
          <p:nvPr/>
        </p:nvSpPr>
        <p:spPr>
          <a:xfrm>
            <a:off x="1209600" y="1243680"/>
            <a:ext cx="3073680" cy="292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tabLst>
                <a:tab pos="0" algn="l"/>
              </a:tabLst>
            </a:pPr>
            <a:r>
              <a:rPr lang="pl-PL" sz="2000" b="1" u="none" strike="noStrike" dirty="0">
                <a:solidFill>
                  <a:srgbClr val="FFFFFF"/>
                </a:solidFill>
                <a:effectLst/>
                <a:uFillTx/>
                <a:latin typeface="Cambria"/>
                <a:ea typeface="Cambria"/>
              </a:rPr>
              <a:t>Ziarno losowości </a:t>
            </a:r>
            <a:r>
              <a:rPr lang="pl-PL" sz="2000" u="none" strike="noStrike" dirty="0">
                <a:solidFill>
                  <a:srgbClr val="FFFFFF"/>
                </a:solidFill>
                <a:effectLst/>
                <a:uFillTx/>
                <a:latin typeface="Cambria"/>
                <a:ea typeface="Cambria"/>
              </a:rPr>
              <a:t>(</a:t>
            </a:r>
            <a:r>
              <a:rPr lang="pl-PL" sz="2000" u="none" strike="noStrike" dirty="0" err="1">
                <a:solidFill>
                  <a:srgbClr val="FFFFFF"/>
                </a:solidFill>
                <a:effectLst/>
                <a:uFillTx/>
                <a:latin typeface="Cambria"/>
                <a:ea typeface="Cambria"/>
              </a:rPr>
              <a:t>seed</a:t>
            </a:r>
            <a:r>
              <a:rPr lang="pl-PL" sz="2000" u="none" strike="noStrike" dirty="0">
                <a:solidFill>
                  <a:srgbClr val="FFFFFF"/>
                </a:solidFill>
                <a:effectLst/>
                <a:uFillTx/>
                <a:latin typeface="Cambria"/>
                <a:ea typeface="Cambria"/>
              </a:rPr>
              <a:t>)</a:t>
            </a:r>
            <a:endParaRPr lang="pl-PL" sz="2000" b="0" u="none" strike="noStrike" dirty="0">
              <a:solidFill>
                <a:srgbClr val="000000"/>
              </a:solidFill>
              <a:effectLst/>
              <a:uFillTx/>
              <a:latin typeface="Arial"/>
            </a:endParaRPr>
          </a:p>
        </p:txBody>
      </p:sp>
      <p:sp>
        <p:nvSpPr>
          <p:cNvPr id="1412" name="Text 707"/>
          <p:cNvSpPr/>
          <p:nvPr/>
        </p:nvSpPr>
        <p:spPr>
          <a:xfrm>
            <a:off x="1209600" y="1539135"/>
            <a:ext cx="3248100" cy="32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400" b="0" u="none" strike="noStrike" dirty="0" err="1">
                <a:solidFill>
                  <a:srgbClr val="FFFFFF"/>
                </a:solidFill>
                <a:effectLst/>
                <a:uFillTx/>
                <a:latin typeface="Calibri"/>
                <a:ea typeface="Calibri"/>
              </a:rPr>
              <a:t>np.random.seed</a:t>
            </a:r>
            <a:r>
              <a:rPr lang="pl-PL" sz="1400" b="0" u="none" strike="noStrike" dirty="0">
                <a:solidFill>
                  <a:srgbClr val="FFFFFF"/>
                </a:solidFill>
                <a:effectLst/>
                <a:uFillTx/>
                <a:latin typeface="Calibri"/>
                <a:ea typeface="Calibri"/>
              </a:rPr>
              <a:t>(42) - warunek konieczny</a:t>
            </a:r>
            <a:endParaRPr lang="pl-PL" sz="1400" b="0" u="none" strike="noStrike" dirty="0">
              <a:solidFill>
                <a:srgbClr val="000000"/>
              </a:solidFill>
              <a:effectLst/>
              <a:uFillTx/>
              <a:latin typeface="Arial"/>
            </a:endParaRPr>
          </a:p>
        </p:txBody>
      </p:sp>
      <p:sp>
        <p:nvSpPr>
          <p:cNvPr id="1413" name="Shape 634"/>
          <p:cNvSpPr/>
          <p:nvPr/>
        </p:nvSpPr>
        <p:spPr>
          <a:xfrm>
            <a:off x="403199" y="2086920"/>
            <a:ext cx="5121301" cy="785160"/>
          </a:xfrm>
          <a:prstGeom prst="roundRect">
            <a:avLst>
              <a:gd name="adj" fmla="val 10256"/>
            </a:avLst>
          </a:prstGeom>
          <a:solidFill>
            <a:srgbClr val="2D3B8E"/>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414" name="Shape 635"/>
          <p:cNvSpPr/>
          <p:nvPr/>
        </p:nvSpPr>
        <p:spPr>
          <a:xfrm>
            <a:off x="524160" y="2207520"/>
            <a:ext cx="543600" cy="543600"/>
          </a:xfrm>
          <a:prstGeom prst="ellipse">
            <a:avLst/>
          </a:prstGeom>
          <a:solidFill>
            <a:srgbClr val="FFFFFF">
              <a:alpha val="8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600" b="0" u="none" strike="noStrike">
              <a:solidFill>
                <a:srgbClr val="000000"/>
              </a:solidFill>
              <a:effectLst/>
              <a:uFillTx/>
              <a:latin typeface="Arial"/>
            </a:endParaRPr>
          </a:p>
        </p:txBody>
      </p:sp>
      <p:sp>
        <p:nvSpPr>
          <p:cNvPr id="1415" name="Text 708"/>
          <p:cNvSpPr/>
          <p:nvPr/>
        </p:nvSpPr>
        <p:spPr>
          <a:xfrm>
            <a:off x="524160" y="2207520"/>
            <a:ext cx="543600" cy="54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400" b="1" u="none" strike="noStrike">
                <a:solidFill>
                  <a:srgbClr val="2D3B8E"/>
                </a:solidFill>
                <a:effectLst/>
                <a:uFillTx/>
                <a:latin typeface="Cambria"/>
                <a:ea typeface="Cambria"/>
              </a:rPr>
              <a:t>2</a:t>
            </a:r>
            <a:endParaRPr lang="pl-PL" sz="2400" b="0" u="none" strike="noStrike">
              <a:solidFill>
                <a:srgbClr val="000000"/>
              </a:solidFill>
              <a:effectLst/>
              <a:uFillTx/>
              <a:latin typeface="Arial"/>
            </a:endParaRPr>
          </a:p>
        </p:txBody>
      </p:sp>
      <p:sp>
        <p:nvSpPr>
          <p:cNvPr id="1416" name="Text 709"/>
          <p:cNvSpPr/>
          <p:nvPr/>
        </p:nvSpPr>
        <p:spPr>
          <a:xfrm>
            <a:off x="1209600" y="2205300"/>
            <a:ext cx="3999426" cy="27327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2000" b="1" u="none" strike="noStrike" dirty="0">
                <a:solidFill>
                  <a:srgbClr val="FFFFFF"/>
                </a:solidFill>
                <a:effectLst/>
                <a:uFillTx/>
                <a:latin typeface="Cambria"/>
                <a:ea typeface="Cambria"/>
              </a:rPr>
              <a:t>Wersjonowanie bibliotek</a:t>
            </a:r>
            <a:endParaRPr lang="pl-PL" sz="2000" b="0" u="none" strike="noStrike" dirty="0">
              <a:solidFill>
                <a:srgbClr val="000000"/>
              </a:solidFill>
              <a:effectLst/>
              <a:uFillTx/>
              <a:latin typeface="Arial"/>
            </a:endParaRPr>
          </a:p>
        </p:txBody>
      </p:sp>
      <p:sp>
        <p:nvSpPr>
          <p:cNvPr id="1417" name="Text 710"/>
          <p:cNvSpPr/>
          <p:nvPr/>
        </p:nvSpPr>
        <p:spPr>
          <a:xfrm>
            <a:off x="1209600" y="2500755"/>
            <a:ext cx="3999426" cy="32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400" b="0" u="none" strike="noStrike" dirty="0">
                <a:solidFill>
                  <a:srgbClr val="FFFFFF"/>
                </a:solidFill>
                <a:effectLst/>
                <a:uFillTx/>
                <a:latin typeface="Calibri"/>
                <a:ea typeface="Calibri"/>
              </a:rPr>
              <a:t>pip </a:t>
            </a:r>
            <a:r>
              <a:rPr lang="pl-PL" sz="1400" b="0" u="none" strike="noStrike" dirty="0" err="1">
                <a:solidFill>
                  <a:srgbClr val="FFFFFF"/>
                </a:solidFill>
                <a:effectLst/>
                <a:uFillTx/>
                <a:latin typeface="Calibri"/>
                <a:ea typeface="Calibri"/>
              </a:rPr>
              <a:t>freeze</a:t>
            </a:r>
            <a:r>
              <a:rPr lang="pl-PL" sz="1400" b="0" u="none" strike="noStrike" dirty="0">
                <a:solidFill>
                  <a:srgbClr val="FFFFFF"/>
                </a:solidFill>
                <a:effectLst/>
                <a:uFillTx/>
                <a:latin typeface="Calibri"/>
                <a:ea typeface="Calibri"/>
              </a:rPr>
              <a:t>, </a:t>
            </a:r>
            <a:r>
              <a:rPr lang="pl-PL" sz="1400" b="0" u="none" strike="noStrike" dirty="0" err="1">
                <a:solidFill>
                  <a:srgbClr val="FFFFFF"/>
                </a:solidFill>
                <a:effectLst/>
                <a:uFillTx/>
                <a:latin typeface="Calibri"/>
                <a:ea typeface="Calibri"/>
              </a:rPr>
              <a:t>conda</a:t>
            </a:r>
            <a:r>
              <a:rPr lang="pl-PL" sz="1400" b="0" u="none" strike="noStrike" dirty="0">
                <a:solidFill>
                  <a:srgbClr val="FFFFFF"/>
                </a:solidFill>
                <a:effectLst/>
                <a:uFillTx/>
                <a:latin typeface="Calibri"/>
                <a:ea typeface="Calibri"/>
              </a:rPr>
              <a:t> export, </a:t>
            </a:r>
            <a:r>
              <a:rPr lang="pl-PL" sz="1400" b="0" u="none" strike="noStrike" dirty="0" err="1">
                <a:solidFill>
                  <a:srgbClr val="FFFFFF"/>
                </a:solidFill>
                <a:effectLst/>
                <a:uFillTx/>
                <a:latin typeface="Calibri"/>
                <a:ea typeface="Calibri"/>
              </a:rPr>
              <a:t>renv</a:t>
            </a:r>
            <a:r>
              <a:rPr lang="pl-PL" sz="1400" b="0" u="none" strike="noStrike" dirty="0">
                <a:solidFill>
                  <a:srgbClr val="FFFFFF"/>
                </a:solidFill>
                <a:effectLst/>
                <a:uFillTx/>
                <a:latin typeface="Calibri"/>
                <a:ea typeface="Calibri"/>
              </a:rPr>
              <a:t> (R)</a:t>
            </a:r>
            <a:endParaRPr lang="pl-PL" sz="1400" b="0" u="none" strike="noStrike" dirty="0">
              <a:solidFill>
                <a:srgbClr val="000000"/>
              </a:solidFill>
              <a:effectLst/>
              <a:uFillTx/>
              <a:latin typeface="Arial"/>
            </a:endParaRPr>
          </a:p>
        </p:txBody>
      </p:sp>
      <p:sp>
        <p:nvSpPr>
          <p:cNvPr id="1418" name="Shape 636"/>
          <p:cNvSpPr/>
          <p:nvPr/>
        </p:nvSpPr>
        <p:spPr>
          <a:xfrm>
            <a:off x="403200" y="3014280"/>
            <a:ext cx="6235725" cy="785160"/>
          </a:xfrm>
          <a:prstGeom prst="roundRect">
            <a:avLst>
              <a:gd name="adj" fmla="val 10256"/>
            </a:avLst>
          </a:prstGeom>
          <a:solidFill>
            <a:srgbClr val="5B8FF9"/>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419" name="Shape 637"/>
          <p:cNvSpPr/>
          <p:nvPr/>
        </p:nvSpPr>
        <p:spPr>
          <a:xfrm>
            <a:off x="524160" y="3134880"/>
            <a:ext cx="543600" cy="543600"/>
          </a:xfrm>
          <a:prstGeom prst="ellipse">
            <a:avLst/>
          </a:prstGeom>
          <a:solidFill>
            <a:srgbClr val="FFFFFF">
              <a:alpha val="8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600" b="0" u="none" strike="noStrike">
              <a:solidFill>
                <a:srgbClr val="000000"/>
              </a:solidFill>
              <a:effectLst/>
              <a:uFillTx/>
              <a:latin typeface="Arial"/>
            </a:endParaRPr>
          </a:p>
        </p:txBody>
      </p:sp>
      <p:sp>
        <p:nvSpPr>
          <p:cNvPr id="1420" name="Text 711"/>
          <p:cNvSpPr/>
          <p:nvPr/>
        </p:nvSpPr>
        <p:spPr>
          <a:xfrm>
            <a:off x="524160" y="3134880"/>
            <a:ext cx="543600" cy="54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400" b="1" u="none" strike="noStrike">
                <a:solidFill>
                  <a:srgbClr val="5B8FF9"/>
                </a:solidFill>
                <a:effectLst/>
                <a:uFillTx/>
                <a:latin typeface="Cambria"/>
                <a:ea typeface="Cambria"/>
              </a:rPr>
              <a:t>3</a:t>
            </a:r>
            <a:endParaRPr lang="pl-PL" sz="2400" b="0" u="none" strike="noStrike">
              <a:solidFill>
                <a:srgbClr val="000000"/>
              </a:solidFill>
              <a:effectLst/>
              <a:uFillTx/>
              <a:latin typeface="Arial"/>
            </a:endParaRPr>
          </a:p>
        </p:txBody>
      </p:sp>
      <p:sp>
        <p:nvSpPr>
          <p:cNvPr id="1421" name="Text 712"/>
          <p:cNvSpPr/>
          <p:nvPr/>
        </p:nvSpPr>
        <p:spPr>
          <a:xfrm>
            <a:off x="1209600" y="3094560"/>
            <a:ext cx="5257875" cy="361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2000" b="1" u="none" strike="noStrike" dirty="0">
                <a:solidFill>
                  <a:srgbClr val="FFFFFF"/>
                </a:solidFill>
                <a:effectLst/>
                <a:uFillTx/>
                <a:latin typeface="Cambria"/>
                <a:ea typeface="Cambria"/>
              </a:rPr>
              <a:t>Git</a:t>
            </a:r>
            <a:endParaRPr lang="pl-PL" sz="2000" b="0" u="none" strike="noStrike" dirty="0">
              <a:solidFill>
                <a:srgbClr val="000000"/>
              </a:solidFill>
              <a:effectLst/>
              <a:uFillTx/>
              <a:latin typeface="Arial"/>
            </a:endParaRPr>
          </a:p>
        </p:txBody>
      </p:sp>
      <p:sp>
        <p:nvSpPr>
          <p:cNvPr id="1422" name="Text 713"/>
          <p:cNvSpPr/>
          <p:nvPr/>
        </p:nvSpPr>
        <p:spPr>
          <a:xfrm>
            <a:off x="1209600" y="3418230"/>
            <a:ext cx="5257875" cy="32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400" b="0" u="none" strike="noStrike" dirty="0">
                <a:solidFill>
                  <a:srgbClr val="FFFFFF"/>
                </a:solidFill>
                <a:effectLst/>
                <a:uFillTx/>
                <a:latin typeface="Calibri"/>
                <a:ea typeface="Calibri"/>
              </a:rPr>
              <a:t>Historia zmian kodu, </a:t>
            </a:r>
            <a:r>
              <a:rPr lang="pl-PL" sz="1400" b="0" u="none" strike="noStrike" dirty="0" err="1">
                <a:solidFill>
                  <a:srgbClr val="FFFFFF"/>
                </a:solidFill>
                <a:effectLst/>
                <a:uFillTx/>
                <a:latin typeface="Calibri"/>
                <a:ea typeface="Calibri"/>
              </a:rPr>
              <a:t>tagowanie</a:t>
            </a:r>
            <a:r>
              <a:rPr lang="pl-PL" sz="1400" b="0" u="none" strike="noStrike" dirty="0">
                <a:solidFill>
                  <a:srgbClr val="FFFFFF"/>
                </a:solidFill>
                <a:effectLst/>
                <a:uFillTx/>
                <a:latin typeface="Calibri"/>
                <a:ea typeface="Calibri"/>
              </a:rPr>
              <a:t> wersji przy submisji (publikacji)</a:t>
            </a:r>
            <a:endParaRPr lang="pl-PL" sz="1400" b="0" u="none" strike="noStrike" dirty="0">
              <a:solidFill>
                <a:srgbClr val="000000"/>
              </a:solidFill>
              <a:effectLst/>
              <a:uFillTx/>
              <a:latin typeface="Arial"/>
            </a:endParaRPr>
          </a:p>
        </p:txBody>
      </p:sp>
      <p:sp>
        <p:nvSpPr>
          <p:cNvPr id="1423" name="Shape 638"/>
          <p:cNvSpPr/>
          <p:nvPr/>
        </p:nvSpPr>
        <p:spPr>
          <a:xfrm>
            <a:off x="403200" y="3941280"/>
            <a:ext cx="7207275" cy="785160"/>
          </a:xfrm>
          <a:prstGeom prst="roundRect">
            <a:avLst>
              <a:gd name="adj" fmla="val 10256"/>
            </a:avLst>
          </a:prstGeom>
          <a:solidFill>
            <a:srgbClr val="2D7DD2"/>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424" name="Shape 639"/>
          <p:cNvSpPr/>
          <p:nvPr/>
        </p:nvSpPr>
        <p:spPr>
          <a:xfrm>
            <a:off x="524160" y="4062240"/>
            <a:ext cx="543600" cy="543600"/>
          </a:xfrm>
          <a:prstGeom prst="ellipse">
            <a:avLst/>
          </a:prstGeom>
          <a:solidFill>
            <a:srgbClr val="FFFFFF">
              <a:alpha val="8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600" b="0" u="none" strike="noStrike">
              <a:solidFill>
                <a:srgbClr val="000000"/>
              </a:solidFill>
              <a:effectLst/>
              <a:uFillTx/>
              <a:latin typeface="Arial"/>
            </a:endParaRPr>
          </a:p>
        </p:txBody>
      </p:sp>
      <p:sp>
        <p:nvSpPr>
          <p:cNvPr id="1425" name="Text 714"/>
          <p:cNvSpPr/>
          <p:nvPr/>
        </p:nvSpPr>
        <p:spPr>
          <a:xfrm>
            <a:off x="524160" y="4062240"/>
            <a:ext cx="543600" cy="54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400" b="1" u="none" strike="noStrike">
                <a:solidFill>
                  <a:srgbClr val="2D7DD2"/>
                </a:solidFill>
                <a:effectLst/>
                <a:uFillTx/>
                <a:latin typeface="Cambria"/>
                <a:ea typeface="Cambria"/>
              </a:rPr>
              <a:t>4</a:t>
            </a:r>
            <a:endParaRPr lang="pl-PL" sz="2400" b="0" u="none" strike="noStrike">
              <a:solidFill>
                <a:srgbClr val="000000"/>
              </a:solidFill>
              <a:effectLst/>
              <a:uFillTx/>
              <a:latin typeface="Arial"/>
            </a:endParaRPr>
          </a:p>
        </p:txBody>
      </p:sp>
      <p:sp>
        <p:nvSpPr>
          <p:cNvPr id="1426" name="Text 715"/>
          <p:cNvSpPr/>
          <p:nvPr/>
        </p:nvSpPr>
        <p:spPr>
          <a:xfrm>
            <a:off x="1209600" y="4031805"/>
            <a:ext cx="6400875" cy="29343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2000" b="1" u="none" strike="noStrike" dirty="0">
                <a:solidFill>
                  <a:srgbClr val="FFFFFF"/>
                </a:solidFill>
                <a:effectLst/>
                <a:uFillTx/>
                <a:latin typeface="Cambria"/>
                <a:ea typeface="Cambria"/>
              </a:rPr>
              <a:t>Kontenery </a:t>
            </a:r>
            <a:r>
              <a:rPr lang="pl-PL" sz="2000" u="none" strike="noStrike" dirty="0">
                <a:solidFill>
                  <a:srgbClr val="FFFFFF"/>
                </a:solidFill>
                <a:effectLst/>
                <a:uFillTx/>
                <a:latin typeface="Cambria"/>
                <a:ea typeface="Cambria"/>
              </a:rPr>
              <a:t>(Docker)</a:t>
            </a:r>
            <a:endParaRPr lang="pl-PL" sz="2000" u="none" strike="noStrike" dirty="0">
              <a:solidFill>
                <a:srgbClr val="000000"/>
              </a:solidFill>
              <a:effectLst/>
              <a:uFillTx/>
              <a:latin typeface="Arial"/>
            </a:endParaRPr>
          </a:p>
        </p:txBody>
      </p:sp>
      <p:sp>
        <p:nvSpPr>
          <p:cNvPr id="1427" name="Text 716"/>
          <p:cNvSpPr/>
          <p:nvPr/>
        </p:nvSpPr>
        <p:spPr>
          <a:xfrm>
            <a:off x="1209600" y="4355115"/>
            <a:ext cx="6162750" cy="32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400" b="0" u="none" strike="noStrike" dirty="0">
                <a:solidFill>
                  <a:srgbClr val="FFFFFF"/>
                </a:solidFill>
                <a:effectLst/>
                <a:uFillTx/>
                <a:latin typeface="Calibri"/>
                <a:ea typeface="Calibri"/>
              </a:rPr>
              <a:t>Zamrożone środowisko obliczeniowe; pełna izolacja</a:t>
            </a:r>
            <a:endParaRPr lang="pl-PL" sz="1400" b="0" u="none" strike="noStrike" dirty="0">
              <a:solidFill>
                <a:srgbClr val="000000"/>
              </a:solidFill>
              <a:effectLst/>
              <a:uFillTx/>
              <a:latin typeface="Arial"/>
            </a:endParaRPr>
          </a:p>
        </p:txBody>
      </p:sp>
      <p:sp>
        <p:nvSpPr>
          <p:cNvPr id="1428" name="Shape 640"/>
          <p:cNvSpPr/>
          <p:nvPr/>
        </p:nvSpPr>
        <p:spPr>
          <a:xfrm>
            <a:off x="7886161" y="1159200"/>
            <a:ext cx="1848388" cy="3577680"/>
          </a:xfrm>
          <a:prstGeom prst="roundRect">
            <a:avLst>
              <a:gd name="adj" fmla="val 11765"/>
            </a:avLst>
          </a:prstGeom>
          <a:solidFill>
            <a:srgbClr val="EEF3FF"/>
          </a:solidFill>
          <a:ln w="0">
            <a:solidFill>
              <a:srgbClr val="B9BED9"/>
            </a:solid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1429" name="Text 717"/>
          <p:cNvSpPr/>
          <p:nvPr/>
        </p:nvSpPr>
        <p:spPr>
          <a:xfrm>
            <a:off x="8058150" y="1965600"/>
            <a:ext cx="161793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800" b="1" u="none" strike="noStrike" dirty="0">
                <a:solidFill>
                  <a:srgbClr val="1E2761"/>
                </a:solidFill>
                <a:effectLst/>
                <a:uFillTx/>
                <a:latin typeface="Cambria"/>
                <a:ea typeface="Cambria"/>
              </a:rPr>
              <a:t>DVC</a:t>
            </a:r>
            <a:endParaRPr lang="pl-PL" sz="2800" b="0" u="none" strike="noStrike" dirty="0">
              <a:solidFill>
                <a:srgbClr val="000000"/>
              </a:solidFill>
              <a:effectLst/>
              <a:uFillTx/>
              <a:latin typeface="Arial"/>
            </a:endParaRPr>
          </a:p>
        </p:txBody>
      </p:sp>
      <p:sp>
        <p:nvSpPr>
          <p:cNvPr id="1430" name="Text 718"/>
          <p:cNvSpPr/>
          <p:nvPr/>
        </p:nvSpPr>
        <p:spPr>
          <a:xfrm>
            <a:off x="7886160" y="2419200"/>
            <a:ext cx="1848388" cy="2317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15000"/>
              </a:lnSpc>
              <a:tabLst>
                <a:tab pos="0" algn="l"/>
              </a:tabLst>
            </a:pPr>
            <a:r>
              <a:rPr lang="pl-PL" b="0" u="none" strike="noStrike" dirty="0">
                <a:solidFill>
                  <a:srgbClr val="4A5280"/>
                </a:solidFill>
                <a:effectLst/>
                <a:uFillTx/>
                <a:latin typeface="Calibri"/>
                <a:ea typeface="Calibri"/>
              </a:rPr>
              <a:t>wersjonowanie</a:t>
            </a:r>
            <a:endParaRPr lang="pl-PL" b="0" u="none" strike="noStrike" dirty="0">
              <a:solidFill>
                <a:srgbClr val="000000"/>
              </a:solidFill>
              <a:effectLst/>
              <a:uFillTx/>
              <a:latin typeface="Arial"/>
            </a:endParaRPr>
          </a:p>
          <a:p>
            <a:pPr algn="ctr">
              <a:lnSpc>
                <a:spcPct val="115000"/>
              </a:lnSpc>
              <a:tabLst>
                <a:tab pos="0" algn="l"/>
              </a:tabLst>
            </a:pPr>
            <a:r>
              <a:rPr lang="pl-PL" b="0" u="none" strike="noStrike" dirty="0">
                <a:solidFill>
                  <a:srgbClr val="4A5280"/>
                </a:solidFill>
                <a:effectLst/>
                <a:uFillTx/>
                <a:latin typeface="Calibri"/>
                <a:ea typeface="Calibri"/>
              </a:rPr>
              <a:t>danych i</a:t>
            </a:r>
            <a:r>
              <a:rPr lang="pl-PL" dirty="0">
                <a:solidFill>
                  <a:srgbClr val="000000"/>
                </a:solidFill>
                <a:latin typeface="Arial"/>
              </a:rPr>
              <a:t> </a:t>
            </a:r>
            <a:r>
              <a:rPr lang="pl-PL" b="0" u="none" strike="noStrike" dirty="0">
                <a:solidFill>
                  <a:srgbClr val="4A5280"/>
                </a:solidFill>
                <a:effectLst/>
                <a:uFillTx/>
                <a:latin typeface="Calibri"/>
                <a:ea typeface="Calibri"/>
              </a:rPr>
              <a:t>kodu</a:t>
            </a:r>
            <a:endParaRPr lang="pl-PL" b="0" u="none" strike="noStrike" dirty="0">
              <a:solidFill>
                <a:srgbClr val="000000"/>
              </a:solidFill>
              <a:effectLst/>
              <a:uFillTx/>
              <a:latin typeface="Arial"/>
            </a:endParaRPr>
          </a:p>
        </p:txBody>
      </p:sp>
      <p:sp>
        <p:nvSpPr>
          <p:cNvPr id="2" name="Prostokąt 1"/>
          <p:cNvSpPr/>
          <p:nvPr/>
        </p:nvSpPr>
        <p:spPr>
          <a:xfrm>
            <a:off x="7867111" y="2286330"/>
            <a:ext cx="1890864" cy="340093"/>
          </a:xfrm>
          <a:prstGeom prst="rect">
            <a:avLst/>
          </a:prstGeom>
        </p:spPr>
        <p:txBody>
          <a:bodyPr wrap="square">
            <a:spAutoFit/>
          </a:bodyPr>
          <a:lstStyle/>
          <a:p>
            <a:pPr algn="ctr">
              <a:lnSpc>
                <a:spcPct val="115000"/>
              </a:lnSpc>
              <a:tabLst>
                <a:tab pos="0" algn="l"/>
              </a:tabLst>
            </a:pPr>
            <a:r>
              <a:rPr lang="pl-PL" sz="1400" dirty="0">
                <a:solidFill>
                  <a:srgbClr val="4A5280"/>
                </a:solidFill>
                <a:latin typeface="Georgia Pro Cond Light" panose="02040306050405020303" pitchFamily="18" charset="0"/>
                <a:ea typeface="Calibri"/>
              </a:rPr>
              <a:t>(</a:t>
            </a:r>
            <a:r>
              <a:rPr lang="pl-PL" sz="1400" dirty="0">
                <a:latin typeface="Georgia Pro Cond Light" panose="02040306050405020303" pitchFamily="18" charset="0"/>
              </a:rPr>
              <a:t>version </a:t>
            </a:r>
            <a:r>
              <a:rPr lang="pl-PL" sz="1400" dirty="0" err="1">
                <a:latin typeface="Georgia Pro Cond Light" panose="02040306050405020303" pitchFamily="18" charset="0"/>
              </a:rPr>
              <a:t>control</a:t>
            </a:r>
            <a:r>
              <a:rPr lang="pl-PL" sz="1400" dirty="0">
                <a:latin typeface="Georgia Pro Cond Light" panose="02040306050405020303" pitchFamily="18" charset="0"/>
              </a:rPr>
              <a:t> system)</a:t>
            </a:r>
            <a:endParaRPr lang="pl-PL" sz="1400" dirty="0">
              <a:solidFill>
                <a:srgbClr val="000000"/>
              </a:solidFill>
              <a:latin typeface="Georgia Pro Cond Light" panose="02040306050405020303" pitchFamily="18"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1432" name="Shape 641"/>
          <p:cNvSpPr/>
          <p:nvPr/>
        </p:nvSpPr>
        <p:spPr>
          <a:xfrm>
            <a:off x="360" y="360"/>
            <a:ext cx="10079640" cy="1006920"/>
          </a:xfrm>
          <a:prstGeom prst="rect">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433" name="Text 720"/>
          <p:cNvSpPr/>
          <p:nvPr/>
        </p:nvSpPr>
        <p:spPr>
          <a:xfrm>
            <a:off x="453240" y="70560"/>
            <a:ext cx="917244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defTabSz="914400">
              <a:lnSpc>
                <a:spcPct val="100000"/>
              </a:lnSpc>
              <a:tabLst>
                <a:tab pos="0" algn="l"/>
              </a:tabLst>
            </a:pPr>
            <a:r>
              <a:rPr lang="pl-PL" sz="2200" b="1" u="none" strike="noStrike">
                <a:solidFill>
                  <a:srgbClr val="FFFFFF"/>
                </a:solidFill>
                <a:effectLst/>
                <a:uFillTx/>
                <a:latin typeface="Cambria"/>
                <a:ea typeface="Cambria"/>
              </a:rPr>
              <a:t>PUBLIKOWANIE DANYCH I KODU</a:t>
            </a:r>
            <a:endParaRPr lang="pl-PL" sz="2200" b="0" u="none" strike="noStrike">
              <a:solidFill>
                <a:srgbClr val="000000"/>
              </a:solidFill>
              <a:effectLst/>
              <a:uFillTx/>
              <a:latin typeface="Arial"/>
            </a:endParaRPr>
          </a:p>
        </p:txBody>
      </p:sp>
      <p:sp>
        <p:nvSpPr>
          <p:cNvPr id="1434" name="Text 721"/>
          <p:cNvSpPr/>
          <p:nvPr/>
        </p:nvSpPr>
        <p:spPr>
          <a:xfrm>
            <a:off x="453240" y="594720"/>
            <a:ext cx="9172440" cy="331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pl-PL" sz="1400" b="0" i="1" u="none" strike="noStrike" dirty="0">
                <a:solidFill>
                  <a:srgbClr val="CADCFC"/>
                </a:solidFill>
                <a:effectLst/>
                <a:uFillTx/>
                <a:latin typeface="Calibri"/>
                <a:ea typeface="Calibri"/>
              </a:rPr>
              <a:t>Otwarty pakiet </a:t>
            </a:r>
            <a:r>
              <a:rPr lang="pl-PL" sz="1400" b="0" i="1" u="none" strike="noStrike" dirty="0" err="1">
                <a:solidFill>
                  <a:srgbClr val="CADCFC"/>
                </a:solidFill>
                <a:effectLst/>
                <a:uFillTx/>
                <a:latin typeface="Calibri"/>
                <a:ea typeface="Calibri"/>
              </a:rPr>
              <a:t>replikacyjny</a:t>
            </a:r>
            <a:r>
              <a:rPr lang="pl-PL" sz="1400" b="0" i="1" u="none" strike="noStrike" dirty="0">
                <a:solidFill>
                  <a:srgbClr val="CADCFC"/>
                </a:solidFill>
                <a:effectLst/>
                <a:uFillTx/>
                <a:latin typeface="Calibri"/>
                <a:ea typeface="Calibri"/>
              </a:rPr>
              <a:t>: co, gdzie i jak udostępnić</a:t>
            </a:r>
            <a:endParaRPr lang="pl-PL" sz="1400" b="0" u="none" strike="noStrike" dirty="0">
              <a:solidFill>
                <a:srgbClr val="000000"/>
              </a:solidFill>
              <a:effectLst/>
              <a:uFillTx/>
              <a:latin typeface="Arial"/>
            </a:endParaRPr>
          </a:p>
        </p:txBody>
      </p:sp>
      <p:grpSp>
        <p:nvGrpSpPr>
          <p:cNvPr id="2" name="Grupa 1"/>
          <p:cNvGrpSpPr/>
          <p:nvPr/>
        </p:nvGrpSpPr>
        <p:grpSpPr>
          <a:xfrm>
            <a:off x="402841" y="1127101"/>
            <a:ext cx="9263160" cy="1431360"/>
            <a:chOff x="402841" y="1218375"/>
            <a:chExt cx="9263160" cy="1301985"/>
          </a:xfrm>
        </p:grpSpPr>
        <p:sp>
          <p:nvSpPr>
            <p:cNvPr id="1435" name="Shape 642"/>
            <p:cNvSpPr/>
            <p:nvPr/>
          </p:nvSpPr>
          <p:spPr>
            <a:xfrm>
              <a:off x="402841" y="1218375"/>
              <a:ext cx="9263160" cy="1301985"/>
            </a:xfrm>
            <a:prstGeom prst="roundRect">
              <a:avLst>
                <a:gd name="adj" fmla="val 6452"/>
              </a:avLst>
            </a:prstGeom>
            <a:solidFill>
              <a:srgbClr val="F8F9FF"/>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600" b="0" u="none" strike="noStrike">
                <a:solidFill>
                  <a:srgbClr val="000000"/>
                </a:solidFill>
                <a:effectLst/>
                <a:uFillTx/>
                <a:latin typeface="Arial"/>
              </a:endParaRPr>
            </a:p>
          </p:txBody>
        </p:sp>
        <p:sp>
          <p:nvSpPr>
            <p:cNvPr id="1436" name="Shape 643"/>
            <p:cNvSpPr/>
            <p:nvPr/>
          </p:nvSpPr>
          <p:spPr>
            <a:xfrm>
              <a:off x="554400" y="1360800"/>
              <a:ext cx="2586720" cy="1006920"/>
            </a:xfrm>
            <a:prstGeom prst="roundRect">
              <a:avLst>
                <a:gd name="adj" fmla="val 8000"/>
              </a:avLst>
            </a:prstGeom>
            <a:solidFill>
              <a:srgbClr val="1E2761"/>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3600" b="0" u="none" strike="noStrike">
                <a:solidFill>
                  <a:srgbClr val="FFFFFF"/>
                </a:solidFill>
                <a:effectLst/>
                <a:uFillTx/>
                <a:latin typeface="Arial"/>
              </a:endParaRPr>
            </a:p>
          </p:txBody>
        </p:sp>
        <p:sp>
          <p:nvSpPr>
            <p:cNvPr id="1437" name="Text 722"/>
            <p:cNvSpPr/>
            <p:nvPr/>
          </p:nvSpPr>
          <p:spPr>
            <a:xfrm>
              <a:off x="567539" y="1360800"/>
              <a:ext cx="2520689" cy="1006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tabLst>
                  <a:tab pos="0" algn="l"/>
                </a:tabLst>
              </a:pPr>
              <a:r>
                <a:rPr lang="pl-PL" sz="2700" b="1" u="none" strike="noStrike" dirty="0">
                  <a:solidFill>
                    <a:srgbClr val="FFFFFF"/>
                  </a:solidFill>
                  <a:effectLst/>
                  <a:uFillTx/>
                  <a:latin typeface="Cambria Math" panose="02040503050406030204" pitchFamily="18" charset="0"/>
                  <a:ea typeface="Cambria Math" panose="02040503050406030204" pitchFamily="18" charset="0"/>
                </a:rPr>
                <a:t>Dane</a:t>
              </a:r>
              <a:r>
                <a:rPr lang="pl-PL" sz="2700" b="0" u="none" strike="noStrike" spc="-100" dirty="0">
                  <a:solidFill>
                    <a:srgbClr val="FFFFFF"/>
                  </a:solidFill>
                  <a:effectLst/>
                  <a:uFillTx/>
                  <a:latin typeface="Cambria Math" panose="02040503050406030204" pitchFamily="18" charset="0"/>
                  <a:ea typeface="Cambria Math" panose="02040503050406030204" pitchFamily="18" charset="0"/>
                </a:rPr>
                <a:t> + </a:t>
              </a:r>
              <a:r>
                <a:rPr lang="pl-PL" sz="2700" b="1" u="none" strike="noStrike" dirty="0">
                  <a:solidFill>
                    <a:srgbClr val="FFFFFF"/>
                  </a:solidFill>
                  <a:effectLst/>
                  <a:uFillTx/>
                  <a:latin typeface="Cambria Math" panose="02040503050406030204" pitchFamily="18" charset="0"/>
                  <a:ea typeface="Cambria Math" panose="02040503050406030204" pitchFamily="18" charset="0"/>
                </a:rPr>
                <a:t>skrypty</a:t>
              </a:r>
              <a:endParaRPr lang="pl-PL" sz="2700" b="1" u="none" strike="noStrike" dirty="0">
                <a:solidFill>
                  <a:srgbClr val="000000"/>
                </a:solidFill>
                <a:effectLst/>
                <a:uFillTx/>
                <a:latin typeface="Cambria Math" panose="02040503050406030204" pitchFamily="18" charset="0"/>
                <a:ea typeface="Cambria Math" panose="02040503050406030204" pitchFamily="18" charset="0"/>
              </a:endParaRPr>
            </a:p>
            <a:p>
              <a:pPr algn="ctr" defTabSz="914400">
                <a:tabLst>
                  <a:tab pos="0" algn="l"/>
                </a:tabLst>
              </a:pPr>
              <a:r>
                <a:rPr lang="pl-PL" sz="2700" b="0" u="none" strike="noStrike" spc="-100" dirty="0">
                  <a:solidFill>
                    <a:srgbClr val="FFFFFF"/>
                  </a:solidFill>
                  <a:effectLst/>
                  <a:uFillTx/>
                  <a:latin typeface="Cambria Math" panose="02040503050406030204" pitchFamily="18" charset="0"/>
                  <a:ea typeface="Cambria Math" panose="02040503050406030204" pitchFamily="18" charset="0"/>
                </a:rPr>
                <a:t>+ </a:t>
              </a:r>
              <a:r>
                <a:rPr lang="pl-PL" sz="2700" b="1" u="none" strike="noStrike" dirty="0">
                  <a:solidFill>
                    <a:srgbClr val="FFFFFF"/>
                  </a:solidFill>
                  <a:effectLst/>
                  <a:uFillTx/>
                  <a:latin typeface="Cambria Math" panose="02040503050406030204" pitchFamily="18" charset="0"/>
                  <a:ea typeface="Cambria Math" panose="02040503050406030204" pitchFamily="18" charset="0"/>
                </a:rPr>
                <a:t>materiały</a:t>
              </a:r>
              <a:endParaRPr lang="pl-PL" sz="2700" b="1" u="none" strike="noStrike" dirty="0">
                <a:solidFill>
                  <a:srgbClr val="000000"/>
                </a:solidFill>
                <a:effectLst/>
                <a:uFillTx/>
                <a:latin typeface="Cambria Math" panose="02040503050406030204" pitchFamily="18" charset="0"/>
                <a:ea typeface="Cambria Math" panose="02040503050406030204" pitchFamily="18" charset="0"/>
              </a:endParaRPr>
            </a:p>
          </p:txBody>
        </p:sp>
        <p:sp>
          <p:nvSpPr>
            <p:cNvPr id="1438" name="Shape 644"/>
            <p:cNvSpPr/>
            <p:nvPr/>
          </p:nvSpPr>
          <p:spPr>
            <a:xfrm>
              <a:off x="3160950" y="1864800"/>
              <a:ext cx="201600" cy="360"/>
            </a:xfrm>
            <a:prstGeom prst="line">
              <a:avLst/>
            </a:prstGeom>
            <a:ln w="25400">
              <a:solidFill>
                <a:srgbClr val="1E2761"/>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3600" b="0" u="none" strike="noStrike">
                <a:solidFill>
                  <a:srgbClr val="000000"/>
                </a:solidFill>
                <a:effectLst/>
                <a:uFillTx/>
                <a:latin typeface="Arial"/>
              </a:endParaRPr>
            </a:p>
          </p:txBody>
        </p:sp>
        <p:sp>
          <p:nvSpPr>
            <p:cNvPr id="1439" name="Shape 645"/>
            <p:cNvSpPr/>
            <p:nvPr/>
          </p:nvSpPr>
          <p:spPr>
            <a:xfrm>
              <a:off x="3382380" y="1360800"/>
              <a:ext cx="1758780" cy="1006920"/>
            </a:xfrm>
            <a:prstGeom prst="roundRect">
              <a:avLst>
                <a:gd name="adj" fmla="val 8000"/>
              </a:avLst>
            </a:prstGeom>
            <a:solidFill>
              <a:srgbClr val="2D3B8E"/>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3600" b="0" u="none" strike="noStrike">
                <a:solidFill>
                  <a:srgbClr val="FFFFFF"/>
                </a:solidFill>
                <a:effectLst/>
                <a:uFillTx/>
                <a:latin typeface="Arial"/>
              </a:endParaRPr>
            </a:p>
          </p:txBody>
        </p:sp>
        <p:sp>
          <p:nvSpPr>
            <p:cNvPr id="1440" name="Text 723"/>
            <p:cNvSpPr/>
            <p:nvPr/>
          </p:nvSpPr>
          <p:spPr>
            <a:xfrm>
              <a:off x="3382380" y="1360800"/>
              <a:ext cx="1758780" cy="1006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tabLst>
                  <a:tab pos="0" algn="l"/>
                </a:tabLst>
              </a:pPr>
              <a:r>
                <a:rPr lang="pl-PL" sz="2700" b="1" u="none" strike="noStrike" dirty="0" err="1">
                  <a:solidFill>
                    <a:srgbClr val="FFFFFF"/>
                  </a:solidFill>
                  <a:effectLst/>
                  <a:uFillTx/>
                  <a:latin typeface="Cambria Math" panose="02040503050406030204" pitchFamily="18" charset="0"/>
                  <a:ea typeface="Cambria Math" panose="02040503050406030204" pitchFamily="18" charset="0"/>
                </a:rPr>
                <a:t>Zenodo</a:t>
              </a:r>
              <a:r>
                <a:rPr lang="pl-PL" sz="2700" b="0" u="none" strike="noStrike" dirty="0">
                  <a:solidFill>
                    <a:srgbClr val="FFFFFF"/>
                  </a:solidFill>
                  <a:effectLst/>
                  <a:uFillTx/>
                  <a:latin typeface="Cambria Math" panose="02040503050406030204" pitchFamily="18" charset="0"/>
                  <a:ea typeface="Cambria Math" panose="02040503050406030204" pitchFamily="18" charset="0"/>
                </a:rPr>
                <a:t> </a:t>
              </a:r>
            </a:p>
            <a:p>
              <a:pPr algn="ctr" defTabSz="914400">
                <a:tabLst>
                  <a:tab pos="0" algn="l"/>
                </a:tabLst>
              </a:pPr>
              <a:r>
                <a:rPr lang="pl-PL" sz="2700" b="0" u="none" strike="noStrike" dirty="0">
                  <a:solidFill>
                    <a:srgbClr val="FFFFFF"/>
                  </a:solidFill>
                  <a:effectLst/>
                  <a:uFillTx/>
                  <a:latin typeface="Amble LtCn" pitchFamily="2" charset="0"/>
                  <a:ea typeface="Cambria Math" panose="02040503050406030204" pitchFamily="18" charset="0"/>
                </a:rPr>
                <a:t>/</a:t>
              </a:r>
              <a:r>
                <a:rPr lang="pl-PL" sz="2700" b="0" u="none" strike="noStrike" spc="-100" dirty="0">
                  <a:solidFill>
                    <a:srgbClr val="FFFFFF"/>
                  </a:solidFill>
                  <a:effectLst/>
                  <a:uFillTx/>
                  <a:latin typeface="Cambria Math" panose="02040503050406030204" pitchFamily="18" charset="0"/>
                  <a:ea typeface="Cambria Math" panose="02040503050406030204" pitchFamily="18" charset="0"/>
                </a:rPr>
                <a:t> </a:t>
              </a:r>
              <a:r>
                <a:rPr lang="pl-PL" sz="2700" b="1" u="none" strike="noStrike" dirty="0">
                  <a:solidFill>
                    <a:srgbClr val="FFFFFF"/>
                  </a:solidFill>
                  <a:effectLst/>
                  <a:uFillTx/>
                  <a:latin typeface="Cambria Math" panose="02040503050406030204" pitchFamily="18" charset="0"/>
                  <a:ea typeface="Cambria Math" panose="02040503050406030204" pitchFamily="18" charset="0"/>
                </a:rPr>
                <a:t>OSF</a:t>
              </a:r>
              <a:endParaRPr lang="pl-PL" sz="2700" b="1" u="none" strike="noStrike" dirty="0">
                <a:solidFill>
                  <a:srgbClr val="000000"/>
                </a:solidFill>
                <a:effectLst/>
                <a:uFillTx/>
                <a:latin typeface="Cambria Math" panose="02040503050406030204" pitchFamily="18" charset="0"/>
                <a:ea typeface="Cambria Math" panose="02040503050406030204" pitchFamily="18" charset="0"/>
              </a:endParaRPr>
            </a:p>
          </p:txBody>
        </p:sp>
        <p:sp>
          <p:nvSpPr>
            <p:cNvPr id="1441" name="Shape 646"/>
            <p:cNvSpPr/>
            <p:nvPr/>
          </p:nvSpPr>
          <p:spPr>
            <a:xfrm>
              <a:off x="5145660" y="1864800"/>
              <a:ext cx="201600" cy="360"/>
            </a:xfrm>
            <a:prstGeom prst="line">
              <a:avLst/>
            </a:prstGeom>
            <a:ln w="25400">
              <a:solidFill>
                <a:srgbClr val="1E2761"/>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3600" b="0" u="none" strike="noStrike">
                <a:solidFill>
                  <a:srgbClr val="000000"/>
                </a:solidFill>
                <a:effectLst/>
                <a:uFillTx/>
                <a:latin typeface="Arial"/>
              </a:endParaRPr>
            </a:p>
          </p:txBody>
        </p:sp>
        <p:sp>
          <p:nvSpPr>
            <p:cNvPr id="1442" name="Shape 647"/>
            <p:cNvSpPr/>
            <p:nvPr/>
          </p:nvSpPr>
          <p:spPr>
            <a:xfrm>
              <a:off x="5347260" y="1360800"/>
              <a:ext cx="1964520" cy="1006920"/>
            </a:xfrm>
            <a:prstGeom prst="roundRect">
              <a:avLst>
                <a:gd name="adj" fmla="val 8000"/>
              </a:avLst>
            </a:prstGeom>
            <a:solidFill>
              <a:srgbClr val="7030A0"/>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3600" b="0" u="none" strike="noStrike">
                <a:solidFill>
                  <a:srgbClr val="FFFFFF"/>
                </a:solidFill>
                <a:effectLst/>
                <a:uFillTx/>
                <a:latin typeface="Arial"/>
              </a:endParaRPr>
            </a:p>
          </p:txBody>
        </p:sp>
        <p:sp>
          <p:nvSpPr>
            <p:cNvPr id="1443" name="Text 724"/>
            <p:cNvSpPr/>
            <p:nvPr/>
          </p:nvSpPr>
          <p:spPr>
            <a:xfrm>
              <a:off x="5346900" y="1360800"/>
              <a:ext cx="1964520" cy="1006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15000"/>
                </a:lnSpc>
                <a:tabLst>
                  <a:tab pos="0" algn="l"/>
                </a:tabLst>
              </a:pPr>
              <a:r>
                <a:rPr lang="pl-PL" sz="2800" b="1" u="none" strike="noStrike" dirty="0">
                  <a:solidFill>
                    <a:srgbClr val="FFFFFF"/>
                  </a:solidFill>
                  <a:effectLst/>
                  <a:uFillTx/>
                  <a:latin typeface="Georgia Pro" panose="02040502050405020303" pitchFamily="18" charset="0"/>
                  <a:ea typeface="Calibri"/>
                </a:rPr>
                <a:t>DOI</a:t>
              </a:r>
              <a:endParaRPr lang="pl-PL" sz="2800" b="1" u="none" strike="noStrike" dirty="0">
                <a:solidFill>
                  <a:srgbClr val="000000"/>
                </a:solidFill>
                <a:effectLst/>
                <a:uFillTx/>
                <a:latin typeface="Georgia Pro" panose="02040502050405020303" pitchFamily="18" charset="0"/>
              </a:endParaRPr>
            </a:p>
          </p:txBody>
        </p:sp>
        <p:sp>
          <p:nvSpPr>
            <p:cNvPr id="1444" name="Shape 648"/>
            <p:cNvSpPr/>
            <p:nvPr/>
          </p:nvSpPr>
          <p:spPr>
            <a:xfrm>
              <a:off x="7312860" y="1864800"/>
              <a:ext cx="201600" cy="360"/>
            </a:xfrm>
            <a:prstGeom prst="line">
              <a:avLst/>
            </a:prstGeom>
            <a:ln w="25400">
              <a:solidFill>
                <a:srgbClr val="1E2761"/>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3600" b="0" u="none" strike="noStrike">
                <a:solidFill>
                  <a:srgbClr val="000000"/>
                </a:solidFill>
                <a:effectLst/>
                <a:uFillTx/>
                <a:latin typeface="Arial"/>
              </a:endParaRPr>
            </a:p>
          </p:txBody>
        </p:sp>
        <p:sp>
          <p:nvSpPr>
            <p:cNvPr id="1445" name="Shape 649"/>
            <p:cNvSpPr/>
            <p:nvPr/>
          </p:nvSpPr>
          <p:spPr>
            <a:xfrm>
              <a:off x="7514460" y="1360800"/>
              <a:ext cx="1964520" cy="1006920"/>
            </a:xfrm>
            <a:prstGeom prst="roundRect">
              <a:avLst>
                <a:gd name="adj" fmla="val 8000"/>
              </a:avLst>
            </a:prstGeom>
            <a:solidFill>
              <a:srgbClr val="3A9F6E"/>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3600" b="0" u="none" strike="noStrike">
                <a:solidFill>
                  <a:srgbClr val="FFFFFF"/>
                </a:solidFill>
                <a:effectLst/>
                <a:uFillTx/>
                <a:latin typeface="Arial"/>
              </a:endParaRPr>
            </a:p>
          </p:txBody>
        </p:sp>
        <p:sp>
          <p:nvSpPr>
            <p:cNvPr id="1446" name="Text 725"/>
            <p:cNvSpPr/>
            <p:nvPr/>
          </p:nvSpPr>
          <p:spPr>
            <a:xfrm>
              <a:off x="7514460" y="1360800"/>
              <a:ext cx="1964520" cy="1006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tabLst>
                  <a:tab pos="0" algn="l"/>
                </a:tabLst>
              </a:pPr>
              <a:r>
                <a:rPr lang="pl-PL" sz="2800" b="1" u="none" strike="noStrike" dirty="0">
                  <a:solidFill>
                    <a:srgbClr val="FFFFFF"/>
                  </a:solidFill>
                  <a:effectLst/>
                  <a:uFillTx/>
                  <a:latin typeface="Cambria Math" panose="02040503050406030204" pitchFamily="18" charset="0"/>
                  <a:ea typeface="Cambria Math" panose="02040503050406030204" pitchFamily="18" charset="0"/>
                </a:rPr>
                <a:t>Artykuł</a:t>
              </a:r>
              <a:endParaRPr lang="pl-PL" sz="2800" b="1" u="none" strike="noStrike" dirty="0">
                <a:solidFill>
                  <a:srgbClr val="000000"/>
                </a:solidFill>
                <a:effectLst/>
                <a:uFillTx/>
                <a:latin typeface="Cambria Math" panose="02040503050406030204" pitchFamily="18" charset="0"/>
                <a:ea typeface="Cambria Math" panose="02040503050406030204" pitchFamily="18" charset="0"/>
              </a:endParaRPr>
            </a:p>
            <a:p>
              <a:pPr algn="ctr" defTabSz="914400">
                <a:tabLst>
                  <a:tab pos="0" algn="l"/>
                </a:tabLst>
              </a:pPr>
              <a:r>
                <a:rPr lang="pl-PL" sz="2600" b="0" u="none" strike="noStrike" dirty="0">
                  <a:solidFill>
                    <a:srgbClr val="FFFFFF"/>
                  </a:solidFill>
                  <a:effectLst/>
                  <a:uFillTx/>
                  <a:latin typeface="Cambria Math" panose="02040503050406030204" pitchFamily="18" charset="0"/>
                  <a:ea typeface="Cambria Math" panose="02040503050406030204" pitchFamily="18" charset="0"/>
                </a:rPr>
                <a:t>(link)</a:t>
              </a:r>
              <a:endParaRPr lang="pl-PL" sz="2600" b="0" u="none" strike="noStrike" dirty="0">
                <a:solidFill>
                  <a:srgbClr val="000000"/>
                </a:solidFill>
                <a:effectLst/>
                <a:uFillTx/>
                <a:latin typeface="Cambria Math" panose="02040503050406030204" pitchFamily="18" charset="0"/>
                <a:ea typeface="Cambria Math" panose="02040503050406030204" pitchFamily="18" charset="0"/>
              </a:endParaRPr>
            </a:p>
          </p:txBody>
        </p:sp>
      </p:grpSp>
      <p:grpSp>
        <p:nvGrpSpPr>
          <p:cNvPr id="5" name="Grupa 4"/>
          <p:cNvGrpSpPr/>
          <p:nvPr/>
        </p:nvGrpSpPr>
        <p:grpSpPr>
          <a:xfrm>
            <a:off x="402840" y="2768025"/>
            <a:ext cx="3284716" cy="1259280"/>
            <a:chOff x="402840" y="2768025"/>
            <a:chExt cx="2993400" cy="1259280"/>
          </a:xfrm>
        </p:grpSpPr>
        <p:sp>
          <p:nvSpPr>
            <p:cNvPr id="1447" name="Shape 650"/>
            <p:cNvSpPr/>
            <p:nvPr/>
          </p:nvSpPr>
          <p:spPr>
            <a:xfrm>
              <a:off x="403200" y="2768385"/>
              <a:ext cx="2993040" cy="1258920"/>
            </a:xfrm>
            <a:prstGeom prst="roundRect">
              <a:avLst>
                <a:gd name="adj" fmla="val 8000"/>
              </a:avLst>
            </a:prstGeom>
            <a:solidFill>
              <a:srgbClr val="FFFFFF"/>
            </a:solidFill>
            <a:ln w="0">
              <a:solidFill>
                <a:srgbClr val="B9BED9"/>
              </a:solid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600" b="0" u="none" strike="noStrike">
                <a:solidFill>
                  <a:srgbClr val="000000"/>
                </a:solidFill>
                <a:effectLst/>
                <a:uFillTx/>
                <a:latin typeface="Arial"/>
              </a:endParaRPr>
            </a:p>
          </p:txBody>
        </p:sp>
        <p:sp>
          <p:nvSpPr>
            <p:cNvPr id="1448" name="Shape 651"/>
            <p:cNvSpPr/>
            <p:nvPr/>
          </p:nvSpPr>
          <p:spPr>
            <a:xfrm>
              <a:off x="402840" y="2768025"/>
              <a:ext cx="2993040" cy="402120"/>
            </a:xfrm>
            <a:prstGeom prst="roundRect">
              <a:avLst>
                <a:gd name="adj" fmla="val 24737"/>
              </a:avLst>
            </a:prstGeom>
            <a:solidFill>
              <a:srgbClr val="1E276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600" b="0" u="none" strike="noStrike">
                <a:solidFill>
                  <a:srgbClr val="FFFFFF"/>
                </a:solidFill>
                <a:effectLst/>
                <a:uFillTx/>
                <a:latin typeface="Arial"/>
              </a:endParaRPr>
            </a:p>
          </p:txBody>
        </p:sp>
        <p:sp>
          <p:nvSpPr>
            <p:cNvPr id="1449" name="Text 726"/>
            <p:cNvSpPr/>
            <p:nvPr/>
          </p:nvSpPr>
          <p:spPr>
            <a:xfrm>
              <a:off x="402840" y="2768025"/>
              <a:ext cx="299304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200" b="1" u="none" strike="noStrike" dirty="0" err="1">
                  <a:solidFill>
                    <a:srgbClr val="FFFFFF"/>
                  </a:solidFill>
                  <a:effectLst/>
                  <a:uFillTx/>
                  <a:latin typeface="Cambria"/>
                  <a:ea typeface="Cambria"/>
                </a:rPr>
                <a:t>Zenodo</a:t>
              </a:r>
              <a:endParaRPr lang="pl-PL" sz="2200" b="0" u="none" strike="noStrike" dirty="0">
                <a:solidFill>
                  <a:srgbClr val="000000"/>
                </a:solidFill>
                <a:effectLst/>
                <a:uFillTx/>
                <a:latin typeface="Arial"/>
              </a:endParaRPr>
            </a:p>
          </p:txBody>
        </p:sp>
        <p:sp>
          <p:nvSpPr>
            <p:cNvPr id="1450" name="Text 727"/>
            <p:cNvSpPr/>
            <p:nvPr/>
          </p:nvSpPr>
          <p:spPr>
            <a:xfrm>
              <a:off x="418519" y="3251865"/>
              <a:ext cx="2977361" cy="72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tabLst>
                  <a:tab pos="0" algn="l"/>
                </a:tabLst>
              </a:pPr>
              <a:r>
                <a:rPr lang="pl-PL" sz="1600" b="0" u="none" strike="noStrike" dirty="0">
                  <a:solidFill>
                    <a:srgbClr val="1A1F3C"/>
                  </a:solidFill>
                  <a:effectLst/>
                  <a:uFillTx/>
                  <a:latin typeface="Calibri"/>
                  <a:ea typeface="Calibri"/>
                </a:rPr>
                <a:t>Bezpłatne archiwum z DOI, integracja z GitHub. Prowadzone przez CERN.</a:t>
              </a:r>
              <a:endParaRPr lang="pl-PL" sz="1600" b="0" u="none" strike="noStrike" dirty="0">
                <a:solidFill>
                  <a:srgbClr val="000000"/>
                </a:solidFill>
                <a:effectLst/>
                <a:uFillTx/>
                <a:latin typeface="Arial"/>
              </a:endParaRPr>
            </a:p>
          </p:txBody>
        </p:sp>
      </p:grpSp>
      <p:grpSp>
        <p:nvGrpSpPr>
          <p:cNvPr id="4" name="Grupa 3"/>
          <p:cNvGrpSpPr/>
          <p:nvPr/>
        </p:nvGrpSpPr>
        <p:grpSpPr>
          <a:xfrm>
            <a:off x="3865402" y="2772068"/>
            <a:ext cx="2853195" cy="1259280"/>
            <a:chOff x="3538080" y="2768025"/>
            <a:chExt cx="2993040" cy="1259280"/>
          </a:xfrm>
        </p:grpSpPr>
        <p:sp>
          <p:nvSpPr>
            <p:cNvPr id="1451" name="Shape 652"/>
            <p:cNvSpPr/>
            <p:nvPr/>
          </p:nvSpPr>
          <p:spPr>
            <a:xfrm>
              <a:off x="3538080" y="2768385"/>
              <a:ext cx="2992680" cy="1258920"/>
            </a:xfrm>
            <a:prstGeom prst="roundRect">
              <a:avLst>
                <a:gd name="adj" fmla="val 8000"/>
              </a:avLst>
            </a:prstGeom>
            <a:solidFill>
              <a:srgbClr val="FFFFFF"/>
            </a:solidFill>
            <a:ln w="0">
              <a:solidFill>
                <a:srgbClr val="B9BED9"/>
              </a:solid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600" b="0" u="none" strike="noStrike">
                <a:solidFill>
                  <a:srgbClr val="000000"/>
                </a:solidFill>
                <a:effectLst/>
                <a:uFillTx/>
                <a:latin typeface="Arial"/>
              </a:endParaRPr>
            </a:p>
          </p:txBody>
        </p:sp>
        <p:sp>
          <p:nvSpPr>
            <p:cNvPr id="1452" name="Shape 653"/>
            <p:cNvSpPr/>
            <p:nvPr/>
          </p:nvSpPr>
          <p:spPr>
            <a:xfrm>
              <a:off x="3538080" y="2768025"/>
              <a:ext cx="2993040" cy="402120"/>
            </a:xfrm>
            <a:prstGeom prst="roundRect">
              <a:avLst>
                <a:gd name="adj" fmla="val 23158"/>
              </a:avLst>
            </a:prstGeom>
            <a:solidFill>
              <a:srgbClr val="5B8FF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600" b="0" u="none" strike="noStrike">
                <a:solidFill>
                  <a:srgbClr val="FFFFFF"/>
                </a:solidFill>
                <a:effectLst/>
                <a:uFillTx/>
                <a:latin typeface="Arial"/>
              </a:endParaRPr>
            </a:p>
          </p:txBody>
        </p:sp>
        <p:sp>
          <p:nvSpPr>
            <p:cNvPr id="1453" name="Text 728"/>
            <p:cNvSpPr/>
            <p:nvPr/>
          </p:nvSpPr>
          <p:spPr>
            <a:xfrm>
              <a:off x="3538080" y="2768025"/>
              <a:ext cx="299304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200" b="1" u="none" strike="noStrike" dirty="0">
                  <a:solidFill>
                    <a:srgbClr val="FFFFFF"/>
                  </a:solidFill>
                  <a:effectLst/>
                  <a:uFillTx/>
                  <a:latin typeface="Cambria"/>
                  <a:ea typeface="Cambria"/>
                </a:rPr>
                <a:t>OSF</a:t>
              </a:r>
              <a:endParaRPr lang="pl-PL" sz="2200" b="0" u="none" strike="noStrike" dirty="0">
                <a:solidFill>
                  <a:srgbClr val="000000"/>
                </a:solidFill>
                <a:effectLst/>
                <a:uFillTx/>
                <a:latin typeface="Arial"/>
              </a:endParaRPr>
            </a:p>
          </p:txBody>
        </p:sp>
        <p:sp>
          <p:nvSpPr>
            <p:cNvPr id="1454" name="Text 729"/>
            <p:cNvSpPr/>
            <p:nvPr/>
          </p:nvSpPr>
          <p:spPr>
            <a:xfrm>
              <a:off x="3659040" y="3251865"/>
              <a:ext cx="2750760" cy="72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tabLst>
                  <a:tab pos="0" algn="l"/>
                </a:tabLst>
              </a:pPr>
              <a:r>
                <a:rPr lang="pl-PL" sz="1600" b="0" u="none" strike="noStrike" dirty="0">
                  <a:solidFill>
                    <a:srgbClr val="1A1F3C"/>
                  </a:solidFill>
                  <a:effectLst/>
                  <a:uFillTx/>
                  <a:latin typeface="Calibri"/>
                  <a:ea typeface="Calibri"/>
                </a:rPr>
                <a:t>Zarządzanie projektem, </a:t>
              </a:r>
              <a:r>
                <a:rPr lang="pl-PL" sz="1600" b="0" u="none" strike="noStrike" dirty="0" err="1">
                  <a:solidFill>
                    <a:srgbClr val="1A1F3C"/>
                  </a:solidFill>
                  <a:effectLst/>
                  <a:uFillTx/>
                  <a:latin typeface="Calibri"/>
                  <a:ea typeface="Calibri"/>
                </a:rPr>
                <a:t>prerejestracja</a:t>
              </a:r>
              <a:r>
                <a:rPr lang="pl-PL" sz="1600" b="0" u="none" strike="noStrike" dirty="0">
                  <a:solidFill>
                    <a:srgbClr val="1A1F3C"/>
                  </a:solidFill>
                  <a:effectLst/>
                  <a:uFillTx/>
                  <a:latin typeface="Calibri"/>
                  <a:ea typeface="Calibri"/>
                </a:rPr>
                <a:t>, udostępnianie danych i materiałów.</a:t>
              </a:r>
              <a:endParaRPr lang="pl-PL" sz="1600" b="0" u="none" strike="noStrike" dirty="0">
                <a:solidFill>
                  <a:srgbClr val="000000"/>
                </a:solidFill>
                <a:effectLst/>
                <a:uFillTx/>
                <a:latin typeface="Arial"/>
              </a:endParaRPr>
            </a:p>
          </p:txBody>
        </p:sp>
      </p:grpSp>
      <p:grpSp>
        <p:nvGrpSpPr>
          <p:cNvPr id="3" name="Grupa 2"/>
          <p:cNvGrpSpPr/>
          <p:nvPr/>
        </p:nvGrpSpPr>
        <p:grpSpPr>
          <a:xfrm>
            <a:off x="6896100" y="2768025"/>
            <a:ext cx="2770260" cy="1259280"/>
            <a:chOff x="6673320" y="2768025"/>
            <a:chExt cx="2993040" cy="1259280"/>
          </a:xfrm>
        </p:grpSpPr>
        <p:sp>
          <p:nvSpPr>
            <p:cNvPr id="1455" name="Shape 654"/>
            <p:cNvSpPr/>
            <p:nvPr/>
          </p:nvSpPr>
          <p:spPr>
            <a:xfrm>
              <a:off x="6673320" y="2768385"/>
              <a:ext cx="2992680" cy="1258920"/>
            </a:xfrm>
            <a:prstGeom prst="roundRect">
              <a:avLst>
                <a:gd name="adj" fmla="val 8000"/>
              </a:avLst>
            </a:prstGeom>
            <a:solidFill>
              <a:srgbClr val="FFFFFF"/>
            </a:solidFill>
            <a:ln w="0">
              <a:solidFill>
                <a:srgbClr val="B9BED9"/>
              </a:solid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600" b="0" u="none" strike="noStrike">
                <a:solidFill>
                  <a:srgbClr val="000000"/>
                </a:solidFill>
                <a:effectLst/>
                <a:uFillTx/>
                <a:latin typeface="Arial"/>
              </a:endParaRPr>
            </a:p>
          </p:txBody>
        </p:sp>
        <p:sp>
          <p:nvSpPr>
            <p:cNvPr id="1456" name="Shape 655"/>
            <p:cNvSpPr/>
            <p:nvPr/>
          </p:nvSpPr>
          <p:spPr>
            <a:xfrm>
              <a:off x="6673320" y="2768025"/>
              <a:ext cx="2993040" cy="402120"/>
            </a:xfrm>
            <a:prstGeom prst="roundRect">
              <a:avLst>
                <a:gd name="adj" fmla="val 23790"/>
              </a:avLst>
            </a:prstGeom>
            <a:solidFill>
              <a:srgbClr val="2D7DD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600" b="0" u="none" strike="noStrike">
                <a:solidFill>
                  <a:srgbClr val="FFFFFF"/>
                </a:solidFill>
                <a:effectLst/>
                <a:uFillTx/>
                <a:latin typeface="Arial"/>
              </a:endParaRPr>
            </a:p>
          </p:txBody>
        </p:sp>
        <p:sp>
          <p:nvSpPr>
            <p:cNvPr id="1457" name="Text 730"/>
            <p:cNvSpPr/>
            <p:nvPr/>
          </p:nvSpPr>
          <p:spPr>
            <a:xfrm>
              <a:off x="6673320" y="2768025"/>
              <a:ext cx="299304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200" b="1" u="none" strike="noStrike">
                  <a:solidFill>
                    <a:srgbClr val="FFFFFF"/>
                  </a:solidFill>
                  <a:effectLst/>
                  <a:uFillTx/>
                  <a:latin typeface="Cambria"/>
                  <a:ea typeface="Cambria"/>
                </a:rPr>
                <a:t>GitHub / GitLab</a:t>
              </a:r>
              <a:endParaRPr lang="pl-PL" sz="2200" b="0" u="none" strike="noStrike">
                <a:solidFill>
                  <a:srgbClr val="000000"/>
                </a:solidFill>
                <a:effectLst/>
                <a:uFillTx/>
                <a:latin typeface="Arial"/>
              </a:endParaRPr>
            </a:p>
          </p:txBody>
        </p:sp>
        <p:sp>
          <p:nvSpPr>
            <p:cNvPr id="1458" name="Text 731"/>
            <p:cNvSpPr/>
            <p:nvPr/>
          </p:nvSpPr>
          <p:spPr>
            <a:xfrm>
              <a:off x="6763406" y="3251865"/>
              <a:ext cx="2828128" cy="72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20000"/>
                </a:lnSpc>
                <a:tabLst>
                  <a:tab pos="0" algn="l"/>
                </a:tabLst>
              </a:pPr>
              <a:r>
                <a:rPr lang="pl-PL" sz="1600" b="0" u="none" strike="noStrike" dirty="0">
                  <a:solidFill>
                    <a:srgbClr val="1A1F3C"/>
                  </a:solidFill>
                  <a:effectLst/>
                  <a:uFillTx/>
                  <a:latin typeface="Calibri"/>
                  <a:ea typeface="Calibri"/>
                </a:rPr>
                <a:t>Kod, historia wersji, README z instrukcją replikacji.</a:t>
              </a:r>
              <a:endParaRPr lang="pl-PL" sz="1600" b="0" u="none" strike="noStrike" dirty="0">
                <a:solidFill>
                  <a:srgbClr val="000000"/>
                </a:solidFill>
                <a:effectLst/>
                <a:uFillTx/>
                <a:latin typeface="Arial"/>
              </a:endParaRPr>
            </a:p>
          </p:txBody>
        </p:sp>
      </p:grpSp>
      <p:sp>
        <p:nvSpPr>
          <p:cNvPr id="1459" name="Shape 656"/>
          <p:cNvSpPr/>
          <p:nvPr/>
        </p:nvSpPr>
        <p:spPr>
          <a:xfrm>
            <a:off x="403200" y="4266975"/>
            <a:ext cx="4534920" cy="1006920"/>
          </a:xfrm>
          <a:prstGeom prst="roundRect">
            <a:avLst>
              <a:gd name="adj" fmla="val 10000"/>
            </a:avLst>
          </a:prstGeom>
          <a:solidFill>
            <a:srgbClr val="EEF3FF"/>
          </a:solidFill>
          <a:ln w="0">
            <a:solidFill>
              <a:srgbClr val="B9BED9"/>
            </a:solid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600" b="0" u="none" strike="noStrike">
              <a:solidFill>
                <a:srgbClr val="000000"/>
              </a:solidFill>
              <a:effectLst/>
              <a:uFillTx/>
              <a:latin typeface="Arial"/>
            </a:endParaRPr>
          </a:p>
        </p:txBody>
      </p:sp>
      <p:sp>
        <p:nvSpPr>
          <p:cNvPr id="1460" name="Text 732"/>
          <p:cNvSpPr/>
          <p:nvPr/>
        </p:nvSpPr>
        <p:spPr>
          <a:xfrm>
            <a:off x="554400" y="4383495"/>
            <a:ext cx="4232880" cy="281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2000" b="1" u="none" strike="noStrike" dirty="0">
                <a:solidFill>
                  <a:srgbClr val="1E2761"/>
                </a:solidFill>
                <a:effectLst/>
                <a:uFillTx/>
                <a:latin typeface="Cambria"/>
                <a:ea typeface="Cambria"/>
              </a:rPr>
              <a:t>Licencje</a:t>
            </a:r>
            <a:endParaRPr lang="pl-PL" sz="2000" b="0" u="none" strike="noStrike" dirty="0">
              <a:solidFill>
                <a:srgbClr val="000000"/>
              </a:solidFill>
              <a:effectLst/>
              <a:uFillTx/>
              <a:latin typeface="Arial"/>
            </a:endParaRPr>
          </a:p>
        </p:txBody>
      </p:sp>
      <p:sp>
        <p:nvSpPr>
          <p:cNvPr id="1461" name="Text 733"/>
          <p:cNvSpPr/>
          <p:nvPr/>
        </p:nvSpPr>
        <p:spPr>
          <a:xfrm>
            <a:off x="554400" y="4685895"/>
            <a:ext cx="4232880" cy="553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1800" b="1" u="none" strike="noStrike" dirty="0">
                <a:solidFill>
                  <a:srgbClr val="1A1F3C"/>
                </a:solidFill>
                <a:effectLst/>
                <a:uFillTx/>
                <a:latin typeface="Cambria Math" panose="02040503050406030204" pitchFamily="18" charset="0"/>
                <a:ea typeface="Cambria Math" panose="02040503050406030204" pitchFamily="18" charset="0"/>
              </a:rPr>
              <a:t>Dane</a:t>
            </a:r>
            <a:r>
              <a:rPr lang="pl-PL" sz="1800" b="0" u="none" strike="noStrike" dirty="0">
                <a:solidFill>
                  <a:srgbClr val="1A1F3C"/>
                </a:solidFill>
                <a:effectLst/>
                <a:uFillTx/>
                <a:latin typeface="Cambria Math" panose="02040503050406030204" pitchFamily="18" charset="0"/>
                <a:ea typeface="Cambria Math" panose="02040503050406030204" pitchFamily="18" charset="0"/>
              </a:rPr>
              <a:t>: CC BY 4.0      </a:t>
            </a:r>
            <a:r>
              <a:rPr lang="pl-PL" sz="1800" b="1" u="none" strike="noStrike" dirty="0">
                <a:solidFill>
                  <a:srgbClr val="1A1F3C"/>
                </a:solidFill>
                <a:effectLst/>
                <a:uFillTx/>
                <a:latin typeface="Cambria Math" panose="02040503050406030204" pitchFamily="18" charset="0"/>
                <a:ea typeface="Cambria Math" panose="02040503050406030204" pitchFamily="18" charset="0"/>
              </a:rPr>
              <a:t>Kod</a:t>
            </a:r>
            <a:r>
              <a:rPr lang="pl-PL" sz="1800" b="0" u="none" strike="noStrike" dirty="0">
                <a:solidFill>
                  <a:srgbClr val="1A1F3C"/>
                </a:solidFill>
                <a:effectLst/>
                <a:uFillTx/>
                <a:latin typeface="Cambria Math" panose="02040503050406030204" pitchFamily="18" charset="0"/>
                <a:ea typeface="Cambria Math" panose="02040503050406030204" pitchFamily="18" charset="0"/>
              </a:rPr>
              <a:t>: MIT / Apache 2.0</a:t>
            </a:r>
            <a:endParaRPr lang="pl-PL" sz="1800" b="0" u="none" strike="noStrike" dirty="0">
              <a:solidFill>
                <a:srgbClr val="000000"/>
              </a:solidFill>
              <a:effectLst/>
              <a:uFillTx/>
              <a:latin typeface="Cambria Math" panose="02040503050406030204" pitchFamily="18" charset="0"/>
              <a:ea typeface="Cambria Math" panose="02040503050406030204" pitchFamily="18" charset="0"/>
            </a:endParaRPr>
          </a:p>
        </p:txBody>
      </p:sp>
      <p:sp>
        <p:nvSpPr>
          <p:cNvPr id="1462" name="Shape 657"/>
          <p:cNvSpPr/>
          <p:nvPr/>
        </p:nvSpPr>
        <p:spPr>
          <a:xfrm>
            <a:off x="5141160" y="4266975"/>
            <a:ext cx="4534920" cy="1006920"/>
          </a:xfrm>
          <a:prstGeom prst="roundRect">
            <a:avLst>
              <a:gd name="adj" fmla="val 10000"/>
            </a:avLst>
          </a:prstGeom>
          <a:solidFill>
            <a:srgbClr val="FFF3CD"/>
          </a:solidFill>
          <a:ln w="0">
            <a:solidFill>
              <a:schemeClr val="accent4"/>
            </a:solid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600" b="0" u="none" strike="noStrike">
              <a:solidFill>
                <a:srgbClr val="000000"/>
              </a:solidFill>
              <a:effectLst/>
              <a:uFillTx/>
              <a:latin typeface="Arial"/>
            </a:endParaRPr>
          </a:p>
        </p:txBody>
      </p:sp>
      <p:sp>
        <p:nvSpPr>
          <p:cNvPr id="1463" name="Text 734"/>
          <p:cNvSpPr/>
          <p:nvPr/>
        </p:nvSpPr>
        <p:spPr>
          <a:xfrm>
            <a:off x="5292000" y="4354920"/>
            <a:ext cx="4232880" cy="281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pl-PL" sz="2000" b="1" u="none" strike="noStrike" dirty="0">
                <a:solidFill>
                  <a:srgbClr val="7B4F00"/>
                </a:solidFill>
                <a:effectLst/>
                <a:uFillTx/>
                <a:latin typeface="Cambria"/>
                <a:ea typeface="Cambria"/>
              </a:rPr>
              <a:t>README</a:t>
            </a:r>
            <a:endParaRPr lang="pl-PL" sz="2000" b="0" u="none" strike="noStrike" dirty="0">
              <a:solidFill>
                <a:srgbClr val="000000"/>
              </a:solidFill>
              <a:effectLst/>
              <a:uFillTx/>
              <a:latin typeface="Arial"/>
            </a:endParaRPr>
          </a:p>
        </p:txBody>
      </p:sp>
      <p:sp>
        <p:nvSpPr>
          <p:cNvPr id="1464" name="Text 735"/>
          <p:cNvSpPr/>
          <p:nvPr/>
        </p:nvSpPr>
        <p:spPr>
          <a:xfrm>
            <a:off x="5292000" y="4685895"/>
            <a:ext cx="4232880" cy="553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tabLst>
                <a:tab pos="0" algn="l"/>
              </a:tabLst>
            </a:pPr>
            <a:r>
              <a:rPr lang="pl-PL" sz="1600" b="0" u="none" strike="noStrike" dirty="0">
                <a:solidFill>
                  <a:srgbClr val="7B4F00"/>
                </a:solidFill>
                <a:effectLst/>
                <a:uFillTx/>
                <a:latin typeface="Calibri"/>
                <a:ea typeface="Calibri"/>
              </a:rPr>
              <a:t>Bez dokumentacji nawet dostępne dane są bezużyteczne dla zewnętrznego badacza.</a:t>
            </a:r>
            <a:endParaRPr lang="pl-PL" sz="1600" b="0" u="none" strike="noStrike" dirty="0">
              <a:solidFill>
                <a:srgbClr val="000000"/>
              </a:solidFill>
              <a:effectLst/>
              <a:uFillTx/>
              <a:latin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1465" name="Shape 658"/>
          <p:cNvSpPr/>
          <p:nvPr/>
        </p:nvSpPr>
        <p:spPr>
          <a:xfrm>
            <a:off x="360" y="360"/>
            <a:ext cx="10079640" cy="1006920"/>
          </a:xfrm>
          <a:prstGeom prst="rect">
            <a:avLst/>
          </a:prstGeom>
          <a:solidFill>
            <a:srgbClr val="1E2761"/>
          </a:solidFill>
          <a:ln w="12700">
            <a:solidFill>
              <a:srgbClr val="1E276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466" name="Text 736"/>
          <p:cNvSpPr/>
          <p:nvPr/>
        </p:nvSpPr>
        <p:spPr>
          <a:xfrm>
            <a:off x="453240" y="70560"/>
            <a:ext cx="9172440"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defTabSz="914400">
              <a:lnSpc>
                <a:spcPct val="100000"/>
              </a:lnSpc>
              <a:tabLst>
                <a:tab pos="0" algn="l"/>
              </a:tabLst>
            </a:pPr>
            <a:r>
              <a:rPr lang="pl-PL" sz="2200" b="1" u="none" strike="noStrike" dirty="0">
                <a:solidFill>
                  <a:srgbClr val="FFFFFF"/>
                </a:solidFill>
                <a:effectLst/>
                <a:uFillTx/>
                <a:latin typeface="Cambria"/>
                <a:ea typeface="Cambria"/>
              </a:rPr>
              <a:t>ETYKA, RODO I ODPOWIEDZIALNOŚĆ BADACZA</a:t>
            </a:r>
            <a:endParaRPr lang="pl-PL" sz="2200" b="0" u="none" strike="noStrike" dirty="0">
              <a:solidFill>
                <a:srgbClr val="000000"/>
              </a:solidFill>
              <a:effectLst/>
              <a:uFillTx/>
              <a:latin typeface="Arial"/>
            </a:endParaRPr>
          </a:p>
        </p:txBody>
      </p:sp>
      <p:sp>
        <p:nvSpPr>
          <p:cNvPr id="1467" name="Text 737"/>
          <p:cNvSpPr/>
          <p:nvPr/>
        </p:nvSpPr>
        <p:spPr>
          <a:xfrm>
            <a:off x="453240" y="594720"/>
            <a:ext cx="9172440" cy="331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tabLst>
                <a:tab pos="0" algn="l"/>
              </a:tabLst>
            </a:pPr>
            <a:r>
              <a:rPr lang="pl-PL" sz="1400" b="0" i="1" u="none" strike="noStrike" dirty="0">
                <a:solidFill>
                  <a:srgbClr val="CADCFC"/>
                </a:solidFill>
                <a:effectLst/>
                <a:uFillTx/>
                <a:latin typeface="Calibri"/>
                <a:ea typeface="Calibri"/>
              </a:rPr>
              <a:t>Odpowiedzialność etyczna w cyfrowym badaniu empirycznym</a:t>
            </a:r>
            <a:endParaRPr lang="pl-PL" sz="1400" b="0" u="none" strike="noStrike" dirty="0">
              <a:solidFill>
                <a:srgbClr val="000000"/>
              </a:solidFill>
              <a:effectLst/>
              <a:uFillTx/>
              <a:latin typeface="Arial"/>
            </a:endParaRPr>
          </a:p>
        </p:txBody>
      </p:sp>
      <p:sp>
        <p:nvSpPr>
          <p:cNvPr id="1468" name="Shape 659"/>
          <p:cNvSpPr/>
          <p:nvPr/>
        </p:nvSpPr>
        <p:spPr>
          <a:xfrm>
            <a:off x="403200" y="1108800"/>
            <a:ext cx="1793160" cy="3295800"/>
          </a:xfrm>
          <a:prstGeom prst="roundRect">
            <a:avLst>
              <a:gd name="adj" fmla="val 5618"/>
            </a:avLst>
          </a:prstGeom>
          <a:solidFill>
            <a:srgbClr val="1E2761"/>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469" name="Text 738"/>
          <p:cNvSpPr/>
          <p:nvPr/>
        </p:nvSpPr>
        <p:spPr>
          <a:xfrm>
            <a:off x="504000" y="1310400"/>
            <a:ext cx="1591560" cy="603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600" b="1" u="none" strike="noStrike" dirty="0">
                <a:solidFill>
                  <a:srgbClr val="FFFFFF"/>
                </a:solidFill>
                <a:effectLst/>
                <a:uFillTx/>
                <a:latin typeface="Cambria"/>
                <a:ea typeface="Cambria"/>
              </a:rPr>
              <a:t>Zgoda</a:t>
            </a:r>
            <a:endParaRPr lang="pl-PL" sz="2600" b="0" u="none" strike="noStrike" dirty="0">
              <a:solidFill>
                <a:srgbClr val="000000"/>
              </a:solidFill>
              <a:effectLst/>
              <a:uFillTx/>
              <a:latin typeface="Arial"/>
            </a:endParaRPr>
          </a:p>
        </p:txBody>
      </p:sp>
      <p:sp>
        <p:nvSpPr>
          <p:cNvPr id="1470" name="Shape 660"/>
          <p:cNvSpPr/>
          <p:nvPr/>
        </p:nvSpPr>
        <p:spPr>
          <a:xfrm>
            <a:off x="705600" y="2066400"/>
            <a:ext cx="1189440" cy="360"/>
          </a:xfrm>
          <a:prstGeom prst="line">
            <a:avLst/>
          </a:prstGeom>
          <a:ln w="12700">
            <a:solidFill>
              <a:srgbClr val="FFFFFF">
                <a:alpha val="60000"/>
              </a:srgbClr>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3600" b="0" u="none" strike="noStrike">
              <a:solidFill>
                <a:srgbClr val="000000"/>
              </a:solidFill>
              <a:effectLst/>
              <a:uFillTx/>
              <a:latin typeface="Arial"/>
            </a:endParaRPr>
          </a:p>
        </p:txBody>
      </p:sp>
      <p:sp>
        <p:nvSpPr>
          <p:cNvPr id="1471" name="Text 739"/>
          <p:cNvSpPr/>
          <p:nvPr/>
        </p:nvSpPr>
        <p:spPr>
          <a:xfrm>
            <a:off x="434189" y="2182275"/>
            <a:ext cx="1722719" cy="2105414"/>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30000"/>
              </a:lnSpc>
              <a:tabLst>
                <a:tab pos="0" algn="l"/>
              </a:tabLst>
            </a:pPr>
            <a:r>
              <a:rPr lang="pl-PL" sz="1600" b="0" u="none" strike="noStrike" dirty="0">
                <a:solidFill>
                  <a:srgbClr val="FFFFFF"/>
                </a:solidFill>
                <a:effectLst/>
                <a:uFillTx/>
                <a:latin typeface="Calibri"/>
                <a:ea typeface="Calibri"/>
              </a:rPr>
              <a:t>Opis procedury, zakresu danych, ryzyka, możliwości wycofania.</a:t>
            </a:r>
            <a:endParaRPr lang="pl-PL" sz="1600" b="0" u="none" strike="noStrike" dirty="0">
              <a:solidFill>
                <a:srgbClr val="000000"/>
              </a:solidFill>
              <a:effectLst/>
              <a:uFillTx/>
              <a:latin typeface="Arial"/>
            </a:endParaRPr>
          </a:p>
        </p:txBody>
      </p:sp>
      <p:sp>
        <p:nvSpPr>
          <p:cNvPr id="1472" name="Shape 661"/>
          <p:cNvSpPr/>
          <p:nvPr/>
        </p:nvSpPr>
        <p:spPr>
          <a:xfrm>
            <a:off x="2268000" y="1108800"/>
            <a:ext cx="1793160" cy="3295800"/>
          </a:xfrm>
          <a:prstGeom prst="roundRect">
            <a:avLst>
              <a:gd name="adj" fmla="val 5618"/>
            </a:avLst>
          </a:prstGeom>
          <a:solidFill>
            <a:srgbClr val="2D3B8E"/>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473" name="Text 740"/>
          <p:cNvSpPr/>
          <p:nvPr/>
        </p:nvSpPr>
        <p:spPr>
          <a:xfrm>
            <a:off x="2268000" y="1310400"/>
            <a:ext cx="1692360" cy="603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600" b="1" u="none" strike="noStrike" dirty="0">
                <a:solidFill>
                  <a:srgbClr val="FFFFFF"/>
                </a:solidFill>
                <a:effectLst/>
                <a:uFillTx/>
                <a:latin typeface="Cambria"/>
                <a:ea typeface="Cambria"/>
              </a:rPr>
              <a:t>Dane wrażliwe</a:t>
            </a:r>
            <a:endParaRPr lang="pl-PL" sz="2600" b="0" u="none" strike="noStrike" dirty="0">
              <a:solidFill>
                <a:srgbClr val="000000"/>
              </a:solidFill>
              <a:effectLst/>
              <a:uFillTx/>
              <a:latin typeface="Arial"/>
            </a:endParaRPr>
          </a:p>
        </p:txBody>
      </p:sp>
      <p:sp>
        <p:nvSpPr>
          <p:cNvPr id="1474" name="Shape 662"/>
          <p:cNvSpPr/>
          <p:nvPr/>
        </p:nvSpPr>
        <p:spPr>
          <a:xfrm>
            <a:off x="2570400" y="2066400"/>
            <a:ext cx="1189440" cy="360"/>
          </a:xfrm>
          <a:prstGeom prst="line">
            <a:avLst/>
          </a:prstGeom>
          <a:ln w="12700">
            <a:solidFill>
              <a:srgbClr val="FFFFFF">
                <a:alpha val="60000"/>
              </a:srgbClr>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3600" b="0" u="none" strike="noStrike">
              <a:solidFill>
                <a:srgbClr val="000000"/>
              </a:solidFill>
              <a:effectLst/>
              <a:uFillTx/>
              <a:latin typeface="Arial"/>
            </a:endParaRPr>
          </a:p>
        </p:txBody>
      </p:sp>
      <p:sp>
        <p:nvSpPr>
          <p:cNvPr id="1475" name="Text 741"/>
          <p:cNvSpPr/>
          <p:nvPr/>
        </p:nvSpPr>
        <p:spPr>
          <a:xfrm>
            <a:off x="2205526" y="2182275"/>
            <a:ext cx="1894154" cy="2105414"/>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30000"/>
              </a:lnSpc>
              <a:tabLst>
                <a:tab pos="0" algn="l"/>
              </a:tabLst>
            </a:pPr>
            <a:r>
              <a:rPr lang="pl-PL" sz="1600" b="0" u="none" strike="noStrike" dirty="0">
                <a:solidFill>
                  <a:srgbClr val="FFFFFF"/>
                </a:solidFill>
                <a:effectLst/>
                <a:uFillTx/>
                <a:latin typeface="Calibri"/>
                <a:ea typeface="Calibri"/>
              </a:rPr>
              <a:t>RODO art. 9 - zdrowie psychiczne, biometria, orientacja</a:t>
            </a:r>
            <a:endParaRPr lang="pl-PL" sz="1600" b="0" u="none" strike="noStrike" dirty="0">
              <a:solidFill>
                <a:srgbClr val="000000"/>
              </a:solidFill>
              <a:effectLst/>
              <a:uFillTx/>
              <a:latin typeface="Arial"/>
            </a:endParaRPr>
          </a:p>
        </p:txBody>
      </p:sp>
      <p:sp>
        <p:nvSpPr>
          <p:cNvPr id="1476" name="Shape 663"/>
          <p:cNvSpPr/>
          <p:nvPr/>
        </p:nvSpPr>
        <p:spPr>
          <a:xfrm>
            <a:off x="4133160" y="1108800"/>
            <a:ext cx="1793160" cy="3295800"/>
          </a:xfrm>
          <a:prstGeom prst="roundRect">
            <a:avLst>
              <a:gd name="adj" fmla="val 5618"/>
            </a:avLst>
          </a:prstGeom>
          <a:solidFill>
            <a:srgbClr val="255DDD"/>
          </a:solidFill>
          <a:ln w="0">
            <a:solidFill>
              <a:srgbClr val="084EDA"/>
            </a:solid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477" name="Text 742"/>
          <p:cNvSpPr/>
          <p:nvPr/>
        </p:nvSpPr>
        <p:spPr>
          <a:xfrm>
            <a:off x="4128255" y="1310400"/>
            <a:ext cx="1785240" cy="603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400" b="1" u="none" strike="noStrike" dirty="0">
                <a:solidFill>
                  <a:srgbClr val="FFFFFF"/>
                </a:solidFill>
                <a:effectLst/>
                <a:uFillTx/>
                <a:latin typeface="Cambria"/>
                <a:ea typeface="Cambria"/>
              </a:rPr>
              <a:t>Monitoring</a:t>
            </a:r>
            <a:endParaRPr lang="pl-PL" sz="2400" b="0" u="none" strike="noStrike" dirty="0">
              <a:solidFill>
                <a:srgbClr val="000000"/>
              </a:solidFill>
              <a:effectLst/>
              <a:uFillTx/>
              <a:latin typeface="Arial"/>
            </a:endParaRPr>
          </a:p>
        </p:txBody>
      </p:sp>
      <p:sp>
        <p:nvSpPr>
          <p:cNvPr id="1478" name="Shape 664"/>
          <p:cNvSpPr/>
          <p:nvPr/>
        </p:nvSpPr>
        <p:spPr>
          <a:xfrm>
            <a:off x="4435560" y="2066400"/>
            <a:ext cx="1189440" cy="360"/>
          </a:xfrm>
          <a:prstGeom prst="line">
            <a:avLst/>
          </a:prstGeom>
          <a:ln w="12700">
            <a:solidFill>
              <a:srgbClr val="FFFFFF">
                <a:alpha val="60000"/>
              </a:srgbClr>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3200" b="0" u="none" strike="noStrike">
              <a:solidFill>
                <a:srgbClr val="000000"/>
              </a:solidFill>
              <a:effectLst/>
              <a:uFillTx/>
              <a:latin typeface="Arial"/>
            </a:endParaRPr>
          </a:p>
        </p:txBody>
      </p:sp>
      <p:sp>
        <p:nvSpPr>
          <p:cNvPr id="1479" name="Text 743"/>
          <p:cNvSpPr/>
          <p:nvPr/>
        </p:nvSpPr>
        <p:spPr>
          <a:xfrm>
            <a:off x="4128255" y="2182275"/>
            <a:ext cx="1710569" cy="2105414"/>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30000"/>
              </a:lnSpc>
              <a:tabLst>
                <a:tab pos="0" algn="l"/>
              </a:tabLst>
            </a:pPr>
            <a:r>
              <a:rPr lang="pl-PL" sz="1600" b="0" u="none" strike="noStrike" dirty="0">
                <a:solidFill>
                  <a:srgbClr val="FFFFFF"/>
                </a:solidFill>
                <a:effectLst/>
                <a:uFillTx/>
                <a:latin typeface="Calibri"/>
                <a:ea typeface="Calibri"/>
              </a:rPr>
              <a:t>Wyraźna zgoda na zbieranie danych w tle (lokalizacja, aktywność).</a:t>
            </a:r>
            <a:endParaRPr lang="pl-PL" sz="1600" b="0" u="none" strike="noStrike" dirty="0">
              <a:solidFill>
                <a:srgbClr val="000000"/>
              </a:solidFill>
              <a:effectLst/>
              <a:uFillTx/>
              <a:latin typeface="Arial"/>
            </a:endParaRPr>
          </a:p>
        </p:txBody>
      </p:sp>
      <p:sp>
        <p:nvSpPr>
          <p:cNvPr id="1480" name="Shape 665"/>
          <p:cNvSpPr/>
          <p:nvPr/>
        </p:nvSpPr>
        <p:spPr>
          <a:xfrm>
            <a:off x="5997960" y="1108800"/>
            <a:ext cx="1793160" cy="3295800"/>
          </a:xfrm>
          <a:prstGeom prst="roundRect">
            <a:avLst>
              <a:gd name="adj" fmla="val 5618"/>
            </a:avLst>
          </a:prstGeom>
          <a:solidFill>
            <a:srgbClr val="D64045"/>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481" name="Text 744"/>
          <p:cNvSpPr/>
          <p:nvPr/>
        </p:nvSpPr>
        <p:spPr>
          <a:xfrm>
            <a:off x="6098760" y="1310400"/>
            <a:ext cx="1591560" cy="603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600" b="1" u="none" strike="noStrike" dirty="0" err="1">
                <a:solidFill>
                  <a:srgbClr val="FFFFFF"/>
                </a:solidFill>
                <a:effectLst/>
                <a:uFillTx/>
                <a:latin typeface="Cambria"/>
                <a:ea typeface="Cambria"/>
              </a:rPr>
              <a:t>Bias</a:t>
            </a:r>
            <a:endParaRPr lang="pl-PL" sz="2600" b="0" u="none" strike="noStrike" dirty="0">
              <a:solidFill>
                <a:srgbClr val="000000"/>
              </a:solidFill>
              <a:effectLst/>
              <a:uFillTx/>
              <a:latin typeface="Arial"/>
            </a:endParaRPr>
          </a:p>
        </p:txBody>
      </p:sp>
      <p:sp>
        <p:nvSpPr>
          <p:cNvPr id="1482" name="Shape 666"/>
          <p:cNvSpPr/>
          <p:nvPr/>
        </p:nvSpPr>
        <p:spPr>
          <a:xfrm>
            <a:off x="6300360" y="2066400"/>
            <a:ext cx="1189440" cy="360"/>
          </a:xfrm>
          <a:prstGeom prst="line">
            <a:avLst/>
          </a:prstGeom>
          <a:ln w="12700">
            <a:solidFill>
              <a:srgbClr val="FFFFFF">
                <a:alpha val="60000"/>
              </a:srgbClr>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4000" b="0" u="none" strike="noStrike">
              <a:solidFill>
                <a:srgbClr val="000000"/>
              </a:solidFill>
              <a:effectLst/>
              <a:uFillTx/>
              <a:latin typeface="Arial"/>
            </a:endParaRPr>
          </a:p>
        </p:txBody>
      </p:sp>
      <p:sp>
        <p:nvSpPr>
          <p:cNvPr id="1483" name="Text 745"/>
          <p:cNvSpPr/>
          <p:nvPr/>
        </p:nvSpPr>
        <p:spPr>
          <a:xfrm>
            <a:off x="6028424" y="2182275"/>
            <a:ext cx="1724595" cy="2105414"/>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30000"/>
              </a:lnSpc>
              <a:tabLst>
                <a:tab pos="0" algn="l"/>
              </a:tabLst>
            </a:pPr>
            <a:r>
              <a:rPr lang="pl-PL" sz="1600" b="0" u="none" strike="noStrike" dirty="0">
                <a:solidFill>
                  <a:srgbClr val="FFFFFF"/>
                </a:solidFill>
                <a:effectLst/>
                <a:uFillTx/>
                <a:latin typeface="Calibri"/>
                <a:ea typeface="Calibri"/>
              </a:rPr>
              <a:t>Modele AI mogą dyskryminować grupy </a:t>
            </a:r>
            <a:r>
              <a:rPr lang="pl-PL" sz="1600" b="0" u="none" strike="noStrike" dirty="0" err="1">
                <a:solidFill>
                  <a:srgbClr val="FFFFFF"/>
                </a:solidFill>
                <a:effectLst/>
                <a:uFillTx/>
                <a:latin typeface="Calibri"/>
                <a:ea typeface="Calibri"/>
              </a:rPr>
              <a:t>niedoreprezen-towane</a:t>
            </a:r>
            <a:r>
              <a:rPr lang="pl-PL" sz="1600" b="0" u="none" strike="noStrike" dirty="0">
                <a:solidFill>
                  <a:srgbClr val="FFFFFF"/>
                </a:solidFill>
                <a:effectLst/>
                <a:uFillTx/>
                <a:latin typeface="Calibri"/>
                <a:ea typeface="Calibri"/>
              </a:rPr>
              <a:t> w danych</a:t>
            </a:r>
            <a:endParaRPr lang="pl-PL" sz="1600" b="0" u="none" strike="noStrike" dirty="0">
              <a:solidFill>
                <a:srgbClr val="000000"/>
              </a:solidFill>
              <a:effectLst/>
              <a:uFillTx/>
              <a:latin typeface="Arial"/>
            </a:endParaRPr>
          </a:p>
        </p:txBody>
      </p:sp>
      <p:sp>
        <p:nvSpPr>
          <p:cNvPr id="1484" name="Shape 667"/>
          <p:cNvSpPr/>
          <p:nvPr/>
        </p:nvSpPr>
        <p:spPr>
          <a:xfrm>
            <a:off x="7862760" y="1108800"/>
            <a:ext cx="1793160" cy="3295800"/>
          </a:xfrm>
          <a:prstGeom prst="roundRect">
            <a:avLst>
              <a:gd name="adj" fmla="val 5618"/>
            </a:avLst>
          </a:prstGeom>
          <a:solidFill>
            <a:srgbClr val="7B5EA7"/>
          </a:solidFill>
          <a:ln w="0">
            <a:no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ctr">
              <a:lnSpc>
                <a:spcPct val="100000"/>
              </a:lnSpc>
              <a:tabLst>
                <a:tab pos="408240" algn="l"/>
              </a:tabLst>
            </a:pPr>
            <a:endParaRPr lang="pl-PL" sz="1800" b="0" u="none" strike="noStrike">
              <a:solidFill>
                <a:srgbClr val="FFFFFF"/>
              </a:solidFill>
              <a:effectLst/>
              <a:uFillTx/>
              <a:latin typeface="Arial"/>
            </a:endParaRPr>
          </a:p>
        </p:txBody>
      </p:sp>
      <p:sp>
        <p:nvSpPr>
          <p:cNvPr id="1485" name="Text 746"/>
          <p:cNvSpPr/>
          <p:nvPr/>
        </p:nvSpPr>
        <p:spPr>
          <a:xfrm>
            <a:off x="7822440" y="1310400"/>
            <a:ext cx="1809000" cy="603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pl-PL" sz="2600" b="1" u="none" strike="noStrike" dirty="0">
                <a:solidFill>
                  <a:srgbClr val="FFFFFF"/>
                </a:solidFill>
                <a:effectLst/>
                <a:uFillTx/>
                <a:latin typeface="Cambria"/>
                <a:ea typeface="Cambria"/>
              </a:rPr>
              <a:t>Granice AI</a:t>
            </a:r>
            <a:endParaRPr lang="pl-PL" sz="2600" b="0" u="none" strike="noStrike" dirty="0">
              <a:solidFill>
                <a:srgbClr val="000000"/>
              </a:solidFill>
              <a:effectLst/>
              <a:uFillTx/>
              <a:latin typeface="Arial"/>
            </a:endParaRPr>
          </a:p>
        </p:txBody>
      </p:sp>
      <p:sp>
        <p:nvSpPr>
          <p:cNvPr id="1486" name="Shape 668"/>
          <p:cNvSpPr/>
          <p:nvPr/>
        </p:nvSpPr>
        <p:spPr>
          <a:xfrm>
            <a:off x="8165160" y="2066400"/>
            <a:ext cx="1189440" cy="360"/>
          </a:xfrm>
          <a:prstGeom prst="line">
            <a:avLst/>
          </a:prstGeom>
          <a:ln w="12700">
            <a:solidFill>
              <a:srgbClr val="FFFFFF">
                <a:alpha val="60000"/>
              </a:srgbClr>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4000" b="0" u="none" strike="noStrike">
              <a:solidFill>
                <a:srgbClr val="000000"/>
              </a:solidFill>
              <a:effectLst/>
              <a:uFillTx/>
              <a:latin typeface="Arial"/>
            </a:endParaRPr>
          </a:p>
        </p:txBody>
      </p:sp>
      <p:sp>
        <p:nvSpPr>
          <p:cNvPr id="1487" name="Text 747"/>
          <p:cNvSpPr/>
          <p:nvPr/>
        </p:nvSpPr>
        <p:spPr>
          <a:xfrm>
            <a:off x="7862760" y="2182275"/>
            <a:ext cx="1762920" cy="2105414"/>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30000"/>
              </a:lnSpc>
              <a:tabLst>
                <a:tab pos="0" algn="l"/>
              </a:tabLst>
            </a:pPr>
            <a:r>
              <a:rPr lang="pl-PL" sz="1600" b="0" u="none" strike="noStrike" dirty="0">
                <a:solidFill>
                  <a:srgbClr val="FFFFFF"/>
                </a:solidFill>
                <a:effectLst/>
                <a:uFillTx/>
                <a:latin typeface="Calibri"/>
                <a:ea typeface="Calibri"/>
              </a:rPr>
              <a:t>Decyzje kliniczne nie mogą opierać się wyłącznie na modelu</a:t>
            </a:r>
            <a:endParaRPr lang="pl-PL" sz="1600" b="0" u="none" strike="noStrike" dirty="0">
              <a:solidFill>
                <a:srgbClr val="000000"/>
              </a:solidFill>
              <a:effectLst/>
              <a:uFillTx/>
              <a:latin typeface="Arial"/>
            </a:endParaRPr>
          </a:p>
        </p:txBody>
      </p:sp>
      <p:sp>
        <p:nvSpPr>
          <p:cNvPr id="1488" name="Shape 669"/>
          <p:cNvSpPr/>
          <p:nvPr/>
        </p:nvSpPr>
        <p:spPr>
          <a:xfrm>
            <a:off x="403200" y="4672755"/>
            <a:ext cx="9273240" cy="850365"/>
          </a:xfrm>
          <a:prstGeom prst="roundRect">
            <a:avLst>
              <a:gd name="adj" fmla="val 16667"/>
            </a:avLst>
          </a:prstGeom>
          <a:solidFill>
            <a:srgbClr val="EEF3FF"/>
          </a:solidFill>
          <a:ln w="0">
            <a:solidFill>
              <a:srgbClr val="B9BED9"/>
            </a:solidFill>
          </a:ln>
          <a:effectLst>
            <a:outerShdw blurRad="76320" dist="25455" dir="2700000" algn="bl" rotWithShape="0">
              <a:srgbClr val="000000">
                <a:alpha val="8000"/>
              </a:srgbClr>
            </a:outerShdw>
          </a:effectLst>
        </p:spPr>
        <p:style>
          <a:lnRef idx="0">
            <a:scrgbClr r="0" g="0" b="0"/>
          </a:lnRef>
          <a:fillRef idx="0">
            <a:scrgbClr r="0" g="0" b="0"/>
          </a:fillRef>
          <a:effectRef idx="0">
            <a:scrgbClr r="0" g="0" b="0"/>
          </a:effectRef>
          <a:fontRef idx="minor"/>
        </p:style>
        <p:txBody>
          <a:bodyPr lIns="90000" tIns="45000" rIns="90000" bIns="45000" anchor="ctr">
            <a:noAutofit/>
          </a:bodyPr>
          <a:lstStyle/>
          <a:p>
            <a:pPr algn="ctr"/>
            <a:r>
              <a:rPr lang="pl-PL" sz="2000" u="none" strike="noStrike" dirty="0">
                <a:solidFill>
                  <a:srgbClr val="1E2761"/>
                </a:solidFill>
                <a:effectLst/>
                <a:uFillTx/>
                <a:latin typeface="Cambria Math" panose="02040503050406030204" pitchFamily="18" charset="0"/>
                <a:ea typeface="Cambria Math" panose="02040503050406030204" pitchFamily="18" charset="0"/>
              </a:rPr>
              <a:t>Komisja etyczna ocenia protokół przed badaniem i to jest mechanizm </a:t>
            </a:r>
            <a:br>
              <a:rPr lang="pl-PL" sz="2000" dirty="0">
                <a:latin typeface="Cambria Math" panose="02040503050406030204" pitchFamily="18" charset="0"/>
                <a:ea typeface="Cambria Math" panose="02040503050406030204" pitchFamily="18" charset="0"/>
              </a:rPr>
            </a:br>
            <a:r>
              <a:rPr lang="pl-PL" sz="2000" u="none" strike="noStrike" dirty="0">
                <a:solidFill>
                  <a:srgbClr val="1E2761"/>
                </a:solidFill>
                <a:effectLst/>
                <a:uFillTx/>
                <a:latin typeface="Cambria Math" panose="02040503050406030204" pitchFamily="18" charset="0"/>
                <a:ea typeface="Cambria Math" panose="02040503050406030204" pitchFamily="18" charset="0"/>
              </a:rPr>
              <a:t>ochrony uczestnika i badacza, a nie biurokratyczna przeszkoda.</a:t>
            </a:r>
            <a:endParaRPr lang="pl-PL" sz="2000" dirty="0">
              <a:solidFill>
                <a:srgbClr val="000000"/>
              </a:solidFill>
              <a:latin typeface="Cambria Math" panose="02040503050406030204" pitchFamily="18" charset="0"/>
              <a:ea typeface="Cambria Math" panose="02040503050406030204" pitchFamily="18"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1492" name="Shape 87"/>
          <p:cNvSpPr/>
          <p:nvPr/>
        </p:nvSpPr>
        <p:spPr>
          <a:xfrm>
            <a:off x="403200" y="1213591"/>
            <a:ext cx="4535640" cy="593663"/>
          </a:xfrm>
          <a:prstGeom prst="roundRect">
            <a:avLst>
              <a:gd name="adj" fmla="val 15385"/>
            </a:avLst>
          </a:prstGeom>
          <a:solidFill>
            <a:srgbClr val="2D3B8E"/>
          </a:solidFill>
          <a:ln w="9525">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pl-PL" sz="2800" b="0" u="none" strike="noStrike">
              <a:solidFill>
                <a:srgbClr val="FFFFFF"/>
              </a:solidFill>
              <a:effectLst/>
              <a:uFillTx/>
              <a:latin typeface="Arial"/>
            </a:endParaRPr>
          </a:p>
        </p:txBody>
      </p:sp>
      <p:sp>
        <p:nvSpPr>
          <p:cNvPr id="1493" name="Shape 88"/>
          <p:cNvSpPr/>
          <p:nvPr/>
        </p:nvSpPr>
        <p:spPr>
          <a:xfrm>
            <a:off x="502530" y="1343431"/>
            <a:ext cx="360000" cy="360000"/>
          </a:xfrm>
          <a:prstGeom prst="ellipse">
            <a:avLst/>
          </a:prstGeom>
          <a:solidFill>
            <a:srgbClr val="5B8FF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pl-PL" sz="2800" b="0" u="none" strike="noStrike">
              <a:solidFill>
                <a:srgbClr val="FFFFFF"/>
              </a:solidFill>
              <a:effectLst/>
              <a:uFillTx/>
              <a:latin typeface="Arial"/>
            </a:endParaRPr>
          </a:p>
        </p:txBody>
      </p:sp>
      <p:sp>
        <p:nvSpPr>
          <p:cNvPr id="1494" name="Text 106"/>
          <p:cNvSpPr/>
          <p:nvPr/>
        </p:nvSpPr>
        <p:spPr>
          <a:xfrm>
            <a:off x="483480" y="1295806"/>
            <a:ext cx="402840" cy="45625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2000" b="1" u="none" strike="noStrike">
                <a:solidFill>
                  <a:srgbClr val="FFFFFF"/>
                </a:solidFill>
                <a:effectLst/>
                <a:uFillTx/>
                <a:latin typeface="Cambria"/>
                <a:ea typeface="Cambria"/>
              </a:rPr>
              <a:t>1</a:t>
            </a:r>
            <a:endParaRPr lang="pl-PL" sz="2000" b="0" u="none" strike="noStrike">
              <a:solidFill>
                <a:srgbClr val="FFFFFF"/>
              </a:solidFill>
              <a:effectLst/>
              <a:uFillTx/>
              <a:latin typeface="Arial"/>
            </a:endParaRPr>
          </a:p>
        </p:txBody>
      </p:sp>
      <p:sp>
        <p:nvSpPr>
          <p:cNvPr id="1495" name="Text 107"/>
          <p:cNvSpPr/>
          <p:nvPr/>
        </p:nvSpPr>
        <p:spPr>
          <a:xfrm>
            <a:off x="987480" y="1258408"/>
            <a:ext cx="3850560" cy="52475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tabLst>
                <a:tab pos="0" algn="l"/>
              </a:tabLst>
            </a:pPr>
            <a:r>
              <a:rPr lang="pl-PL" sz="1400" b="0" u="none" strike="noStrike" dirty="0" err="1">
                <a:solidFill>
                  <a:srgbClr val="FFFFFF"/>
                </a:solidFill>
                <a:effectLst/>
                <a:uFillTx/>
                <a:latin typeface="Calibri"/>
                <a:ea typeface="Calibri"/>
              </a:rPr>
              <a:t>Prerejestruj</a:t>
            </a:r>
            <a:r>
              <a:rPr lang="pl-PL" sz="1400" b="0" u="none" strike="noStrike" dirty="0">
                <a:solidFill>
                  <a:srgbClr val="FFFFFF"/>
                </a:solidFill>
                <a:effectLst/>
                <a:uFillTx/>
                <a:latin typeface="Calibri"/>
                <a:ea typeface="Calibri"/>
              </a:rPr>
              <a:t> hipotezy i plan analizy na OSF </a:t>
            </a:r>
            <a:br>
              <a:rPr lang="pl-PL" sz="1400" b="0" u="none" strike="noStrike" dirty="0">
                <a:solidFill>
                  <a:srgbClr val="FFFFFF"/>
                </a:solidFill>
                <a:effectLst/>
                <a:uFillTx/>
                <a:latin typeface="Calibri"/>
                <a:ea typeface="Calibri"/>
              </a:rPr>
            </a:br>
            <a:r>
              <a:rPr lang="pl-PL" sz="1400" b="0" u="none" strike="noStrike" dirty="0">
                <a:solidFill>
                  <a:srgbClr val="FFFFFF"/>
                </a:solidFill>
                <a:effectLst/>
                <a:uFillTx/>
                <a:latin typeface="Calibri"/>
                <a:ea typeface="Calibri"/>
              </a:rPr>
              <a:t>przed zebraniem danych</a:t>
            </a:r>
            <a:endParaRPr lang="pl-PL" sz="1400" b="0" u="none" strike="noStrike" dirty="0">
              <a:solidFill>
                <a:srgbClr val="FFFFFF"/>
              </a:solidFill>
              <a:effectLst/>
              <a:uFillTx/>
              <a:latin typeface="Arial"/>
            </a:endParaRPr>
          </a:p>
        </p:txBody>
      </p:sp>
      <p:sp>
        <p:nvSpPr>
          <p:cNvPr id="1496" name="Shape 89"/>
          <p:cNvSpPr/>
          <p:nvPr/>
        </p:nvSpPr>
        <p:spPr>
          <a:xfrm>
            <a:off x="403200" y="1921827"/>
            <a:ext cx="4535640" cy="593663"/>
          </a:xfrm>
          <a:prstGeom prst="roundRect">
            <a:avLst>
              <a:gd name="adj" fmla="val 15385"/>
            </a:avLst>
          </a:prstGeom>
          <a:solidFill>
            <a:srgbClr val="2D3B8E"/>
          </a:solidFill>
          <a:ln w="9525">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pl-PL" sz="2800" b="0" u="none" strike="noStrike">
              <a:solidFill>
                <a:srgbClr val="FFFFFF"/>
              </a:solidFill>
              <a:effectLst/>
              <a:uFillTx/>
              <a:latin typeface="Arial"/>
            </a:endParaRPr>
          </a:p>
        </p:txBody>
      </p:sp>
      <p:sp>
        <p:nvSpPr>
          <p:cNvPr id="1497" name="Shape 90"/>
          <p:cNvSpPr/>
          <p:nvPr/>
        </p:nvSpPr>
        <p:spPr>
          <a:xfrm>
            <a:off x="502530" y="2051260"/>
            <a:ext cx="360000" cy="360000"/>
          </a:xfrm>
          <a:prstGeom prst="ellipse">
            <a:avLst/>
          </a:prstGeom>
          <a:solidFill>
            <a:srgbClr val="5B8FF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pl-PL" sz="2800" b="0" u="none" strike="noStrike">
              <a:solidFill>
                <a:srgbClr val="FFFFFF"/>
              </a:solidFill>
              <a:effectLst/>
              <a:uFillTx/>
              <a:latin typeface="Arial"/>
            </a:endParaRPr>
          </a:p>
        </p:txBody>
      </p:sp>
      <p:sp>
        <p:nvSpPr>
          <p:cNvPr id="1498" name="Text 108"/>
          <p:cNvSpPr/>
          <p:nvPr/>
        </p:nvSpPr>
        <p:spPr>
          <a:xfrm>
            <a:off x="483480" y="2003635"/>
            <a:ext cx="402840" cy="45625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2000" b="1" u="none" strike="noStrike">
                <a:solidFill>
                  <a:srgbClr val="FFFFFF"/>
                </a:solidFill>
                <a:effectLst/>
                <a:uFillTx/>
                <a:latin typeface="Cambria"/>
                <a:ea typeface="Cambria"/>
              </a:rPr>
              <a:t>2</a:t>
            </a:r>
            <a:endParaRPr lang="pl-PL" sz="2000" b="0" u="none" strike="noStrike">
              <a:solidFill>
                <a:srgbClr val="FFFFFF"/>
              </a:solidFill>
              <a:effectLst/>
              <a:uFillTx/>
              <a:latin typeface="Arial"/>
            </a:endParaRPr>
          </a:p>
        </p:txBody>
      </p:sp>
      <p:sp>
        <p:nvSpPr>
          <p:cNvPr id="1499" name="Text 109"/>
          <p:cNvSpPr/>
          <p:nvPr/>
        </p:nvSpPr>
        <p:spPr>
          <a:xfrm>
            <a:off x="987480" y="1966236"/>
            <a:ext cx="3850560" cy="52475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tabLst>
                <a:tab pos="0" algn="l"/>
              </a:tabLst>
            </a:pPr>
            <a:r>
              <a:rPr lang="pl-PL" sz="1400" b="0" u="none" strike="noStrike">
                <a:solidFill>
                  <a:srgbClr val="FFFFFF"/>
                </a:solidFill>
                <a:effectLst/>
                <a:uFillTx/>
                <a:latin typeface="Calibri"/>
                <a:ea typeface="Calibri"/>
              </a:rPr>
              <a:t>Ustrukturyzuj projekt: data/raw, data/processed, scripts, README</a:t>
            </a:r>
            <a:endParaRPr lang="pl-PL" sz="1400" b="0" u="none" strike="noStrike">
              <a:solidFill>
                <a:srgbClr val="FFFFFF"/>
              </a:solidFill>
              <a:effectLst/>
              <a:uFillTx/>
              <a:latin typeface="Arial"/>
            </a:endParaRPr>
          </a:p>
        </p:txBody>
      </p:sp>
      <p:sp>
        <p:nvSpPr>
          <p:cNvPr id="1500" name="Shape 91"/>
          <p:cNvSpPr/>
          <p:nvPr/>
        </p:nvSpPr>
        <p:spPr>
          <a:xfrm>
            <a:off x="403200" y="2629656"/>
            <a:ext cx="4535640" cy="593663"/>
          </a:xfrm>
          <a:prstGeom prst="roundRect">
            <a:avLst>
              <a:gd name="adj" fmla="val 15385"/>
            </a:avLst>
          </a:prstGeom>
          <a:solidFill>
            <a:srgbClr val="2D3B8E"/>
          </a:solidFill>
          <a:ln w="9525">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pl-PL" sz="2800" b="0" u="none" strike="noStrike">
              <a:solidFill>
                <a:srgbClr val="FFFFFF"/>
              </a:solidFill>
              <a:effectLst/>
              <a:uFillTx/>
              <a:latin typeface="Arial"/>
            </a:endParaRPr>
          </a:p>
        </p:txBody>
      </p:sp>
      <p:sp>
        <p:nvSpPr>
          <p:cNvPr id="1501" name="Shape 92"/>
          <p:cNvSpPr/>
          <p:nvPr/>
        </p:nvSpPr>
        <p:spPr>
          <a:xfrm>
            <a:off x="502530" y="2759088"/>
            <a:ext cx="360000" cy="360000"/>
          </a:xfrm>
          <a:prstGeom prst="ellipse">
            <a:avLst/>
          </a:prstGeom>
          <a:solidFill>
            <a:srgbClr val="5B8FF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pl-PL" sz="2800" b="0" u="none" strike="noStrike">
              <a:solidFill>
                <a:srgbClr val="FFFFFF"/>
              </a:solidFill>
              <a:effectLst/>
              <a:uFillTx/>
              <a:latin typeface="Arial"/>
            </a:endParaRPr>
          </a:p>
        </p:txBody>
      </p:sp>
      <p:sp>
        <p:nvSpPr>
          <p:cNvPr id="1502" name="Text 110"/>
          <p:cNvSpPr/>
          <p:nvPr/>
        </p:nvSpPr>
        <p:spPr>
          <a:xfrm>
            <a:off x="483480" y="2711463"/>
            <a:ext cx="402840" cy="45625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2000" b="1" u="none" strike="noStrike">
                <a:solidFill>
                  <a:srgbClr val="FFFFFF"/>
                </a:solidFill>
                <a:effectLst/>
                <a:uFillTx/>
                <a:latin typeface="Cambria"/>
                <a:ea typeface="Cambria"/>
              </a:rPr>
              <a:t>3</a:t>
            </a:r>
            <a:endParaRPr lang="pl-PL" sz="2000" b="0" u="none" strike="noStrike">
              <a:solidFill>
                <a:srgbClr val="FFFFFF"/>
              </a:solidFill>
              <a:effectLst/>
              <a:uFillTx/>
              <a:latin typeface="Arial"/>
            </a:endParaRPr>
          </a:p>
        </p:txBody>
      </p:sp>
      <p:sp>
        <p:nvSpPr>
          <p:cNvPr id="1503" name="Text 111"/>
          <p:cNvSpPr/>
          <p:nvPr/>
        </p:nvSpPr>
        <p:spPr>
          <a:xfrm>
            <a:off x="987480" y="2674065"/>
            <a:ext cx="3850560" cy="52475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tabLst>
                <a:tab pos="0" algn="l"/>
              </a:tabLst>
            </a:pPr>
            <a:r>
              <a:rPr lang="pl-PL" sz="1400" b="0" u="none" strike="noStrike">
                <a:solidFill>
                  <a:srgbClr val="FFFFFF"/>
                </a:solidFill>
                <a:effectLst/>
                <a:uFillTx/>
                <a:latin typeface="Calibri"/>
                <a:ea typeface="Calibri"/>
              </a:rPr>
              <a:t>Zainstaluj Git i commituj zmiany kodu po każdej sesji analitycznej</a:t>
            </a:r>
            <a:endParaRPr lang="pl-PL" sz="1400" b="0" u="none" strike="noStrike">
              <a:solidFill>
                <a:srgbClr val="FFFFFF"/>
              </a:solidFill>
              <a:effectLst/>
              <a:uFillTx/>
              <a:latin typeface="Arial"/>
            </a:endParaRPr>
          </a:p>
        </p:txBody>
      </p:sp>
      <p:sp>
        <p:nvSpPr>
          <p:cNvPr id="1504" name="Shape 93"/>
          <p:cNvSpPr/>
          <p:nvPr/>
        </p:nvSpPr>
        <p:spPr>
          <a:xfrm>
            <a:off x="403200" y="3337484"/>
            <a:ext cx="4535640" cy="593663"/>
          </a:xfrm>
          <a:prstGeom prst="roundRect">
            <a:avLst>
              <a:gd name="adj" fmla="val 15385"/>
            </a:avLst>
          </a:prstGeom>
          <a:solidFill>
            <a:srgbClr val="2D3B8E"/>
          </a:solidFill>
          <a:ln w="9525">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pl-PL" sz="2800" b="0" u="none" strike="noStrike">
              <a:solidFill>
                <a:srgbClr val="FFFFFF"/>
              </a:solidFill>
              <a:effectLst/>
              <a:uFillTx/>
              <a:latin typeface="Arial"/>
            </a:endParaRPr>
          </a:p>
        </p:txBody>
      </p:sp>
      <p:sp>
        <p:nvSpPr>
          <p:cNvPr id="1505" name="Shape 94"/>
          <p:cNvSpPr/>
          <p:nvPr/>
        </p:nvSpPr>
        <p:spPr>
          <a:xfrm>
            <a:off x="502530" y="3467324"/>
            <a:ext cx="360000" cy="360000"/>
          </a:xfrm>
          <a:prstGeom prst="ellipse">
            <a:avLst/>
          </a:prstGeom>
          <a:solidFill>
            <a:srgbClr val="5B8FF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pl-PL" sz="2800" b="0" u="none" strike="noStrike">
              <a:solidFill>
                <a:srgbClr val="FFFFFF"/>
              </a:solidFill>
              <a:effectLst/>
              <a:uFillTx/>
              <a:latin typeface="Arial"/>
            </a:endParaRPr>
          </a:p>
        </p:txBody>
      </p:sp>
      <p:sp>
        <p:nvSpPr>
          <p:cNvPr id="1506" name="Text 112"/>
          <p:cNvSpPr/>
          <p:nvPr/>
        </p:nvSpPr>
        <p:spPr>
          <a:xfrm>
            <a:off x="483480" y="3419699"/>
            <a:ext cx="402840" cy="45625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2000" b="1" u="none" strike="noStrike">
                <a:solidFill>
                  <a:srgbClr val="FFFFFF"/>
                </a:solidFill>
                <a:effectLst/>
                <a:uFillTx/>
                <a:latin typeface="Cambria"/>
                <a:ea typeface="Cambria"/>
              </a:rPr>
              <a:t>4</a:t>
            </a:r>
            <a:endParaRPr lang="pl-PL" sz="2000" b="0" u="none" strike="noStrike">
              <a:solidFill>
                <a:srgbClr val="FFFFFF"/>
              </a:solidFill>
              <a:effectLst/>
              <a:uFillTx/>
              <a:latin typeface="Arial"/>
            </a:endParaRPr>
          </a:p>
        </p:txBody>
      </p:sp>
      <p:sp>
        <p:nvSpPr>
          <p:cNvPr id="1507" name="Text 113"/>
          <p:cNvSpPr/>
          <p:nvPr/>
        </p:nvSpPr>
        <p:spPr>
          <a:xfrm>
            <a:off x="987480" y="3381893"/>
            <a:ext cx="3850560" cy="52475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10000"/>
              </a:lnSpc>
              <a:tabLst>
                <a:tab pos="0" algn="l"/>
              </a:tabLst>
            </a:pPr>
            <a:r>
              <a:rPr lang="pl-PL" sz="1400" b="0" u="none" strike="noStrike" dirty="0">
                <a:solidFill>
                  <a:srgbClr val="FFFFFF"/>
                </a:solidFill>
                <a:effectLst/>
                <a:uFillTx/>
                <a:latin typeface="Calibri"/>
                <a:ea typeface="Calibri"/>
              </a:rPr>
              <a:t>Ustaw ziarno losowości we wszystkich skryptach</a:t>
            </a:r>
            <a:endParaRPr lang="pl-PL" sz="1400" b="0" u="none" strike="noStrike" dirty="0">
              <a:solidFill>
                <a:srgbClr val="FFFFFF"/>
              </a:solidFill>
              <a:effectLst/>
              <a:uFillTx/>
              <a:latin typeface="Arial"/>
            </a:endParaRPr>
          </a:p>
        </p:txBody>
      </p:sp>
      <p:sp>
        <p:nvSpPr>
          <p:cNvPr id="1508" name="Shape 95"/>
          <p:cNvSpPr/>
          <p:nvPr/>
        </p:nvSpPr>
        <p:spPr>
          <a:xfrm>
            <a:off x="403200" y="4045312"/>
            <a:ext cx="4535640" cy="593663"/>
          </a:xfrm>
          <a:prstGeom prst="roundRect">
            <a:avLst>
              <a:gd name="adj" fmla="val 15385"/>
            </a:avLst>
          </a:prstGeom>
          <a:solidFill>
            <a:srgbClr val="2D3B8E"/>
          </a:solidFill>
          <a:ln w="9525">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pl-PL" sz="2800" b="0" u="none" strike="noStrike">
              <a:solidFill>
                <a:srgbClr val="FFFFFF"/>
              </a:solidFill>
              <a:effectLst/>
              <a:uFillTx/>
              <a:latin typeface="Arial"/>
            </a:endParaRPr>
          </a:p>
        </p:txBody>
      </p:sp>
      <p:sp>
        <p:nvSpPr>
          <p:cNvPr id="1509" name="Shape 96"/>
          <p:cNvSpPr/>
          <p:nvPr/>
        </p:nvSpPr>
        <p:spPr>
          <a:xfrm>
            <a:off x="502530" y="4174745"/>
            <a:ext cx="360000" cy="360000"/>
          </a:xfrm>
          <a:prstGeom prst="ellipse">
            <a:avLst/>
          </a:prstGeom>
          <a:solidFill>
            <a:srgbClr val="5B8FF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pl-PL" sz="2800" b="0" u="none" strike="noStrike">
              <a:solidFill>
                <a:srgbClr val="FFFFFF"/>
              </a:solidFill>
              <a:effectLst/>
              <a:uFillTx/>
              <a:latin typeface="Arial"/>
            </a:endParaRPr>
          </a:p>
        </p:txBody>
      </p:sp>
      <p:sp>
        <p:nvSpPr>
          <p:cNvPr id="1510" name="Text 114"/>
          <p:cNvSpPr/>
          <p:nvPr/>
        </p:nvSpPr>
        <p:spPr>
          <a:xfrm>
            <a:off x="483480" y="4127120"/>
            <a:ext cx="402840" cy="45625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2000" b="1" u="none" strike="noStrike" dirty="0">
                <a:solidFill>
                  <a:srgbClr val="FFFFFF"/>
                </a:solidFill>
                <a:effectLst/>
                <a:uFillTx/>
                <a:latin typeface="Cambria"/>
                <a:ea typeface="Cambria"/>
              </a:rPr>
              <a:t>5</a:t>
            </a:r>
            <a:endParaRPr lang="pl-PL" sz="2000" b="0" u="none" strike="noStrike" dirty="0">
              <a:solidFill>
                <a:srgbClr val="FFFFFF"/>
              </a:solidFill>
              <a:effectLst/>
              <a:uFillTx/>
              <a:latin typeface="Arial"/>
            </a:endParaRPr>
          </a:p>
        </p:txBody>
      </p:sp>
      <p:sp>
        <p:nvSpPr>
          <p:cNvPr id="1511" name="Text 115"/>
          <p:cNvSpPr/>
          <p:nvPr/>
        </p:nvSpPr>
        <p:spPr>
          <a:xfrm>
            <a:off x="987480" y="4089722"/>
            <a:ext cx="3850560" cy="52475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tabLst>
                <a:tab pos="0" algn="l"/>
              </a:tabLst>
            </a:pPr>
            <a:r>
              <a:rPr lang="pl-PL" sz="1400" b="0" u="none" strike="noStrike" dirty="0">
                <a:solidFill>
                  <a:srgbClr val="FFFFFF"/>
                </a:solidFill>
                <a:effectLst/>
                <a:uFillTx/>
                <a:latin typeface="Calibri"/>
                <a:ea typeface="Calibri"/>
              </a:rPr>
              <a:t>Oblicz moc statystyczną przed badaniem (G*Power, </a:t>
            </a:r>
            <a:r>
              <a:rPr lang="pl-PL" sz="1400" b="0" u="none" strike="noStrike" dirty="0" err="1">
                <a:solidFill>
                  <a:srgbClr val="FFFFFF"/>
                </a:solidFill>
                <a:effectLst/>
                <a:uFillTx/>
                <a:latin typeface="Calibri"/>
                <a:ea typeface="Calibri"/>
              </a:rPr>
              <a:t>pwr</a:t>
            </a:r>
            <a:r>
              <a:rPr lang="pl-PL" sz="1400" b="0" u="none" strike="noStrike" dirty="0">
                <a:solidFill>
                  <a:srgbClr val="FFFFFF"/>
                </a:solidFill>
                <a:effectLst/>
                <a:uFillTx/>
                <a:latin typeface="Calibri"/>
                <a:ea typeface="Calibri"/>
              </a:rPr>
              <a:t> w R)</a:t>
            </a:r>
            <a:endParaRPr lang="pl-PL" sz="1400" b="0" u="none" strike="noStrike" dirty="0">
              <a:solidFill>
                <a:srgbClr val="FFFFFF"/>
              </a:solidFill>
              <a:effectLst/>
              <a:uFillTx/>
              <a:latin typeface="Arial"/>
            </a:endParaRPr>
          </a:p>
        </p:txBody>
      </p:sp>
      <p:sp>
        <p:nvSpPr>
          <p:cNvPr id="1512" name="Shape 97"/>
          <p:cNvSpPr/>
          <p:nvPr/>
        </p:nvSpPr>
        <p:spPr>
          <a:xfrm>
            <a:off x="5190360" y="1213591"/>
            <a:ext cx="4535640" cy="593663"/>
          </a:xfrm>
          <a:prstGeom prst="roundRect">
            <a:avLst>
              <a:gd name="adj" fmla="val 15385"/>
            </a:avLst>
          </a:prstGeom>
          <a:solidFill>
            <a:srgbClr val="2D3B8E"/>
          </a:solidFill>
          <a:ln w="9525">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pl-PL" sz="2800" b="0" u="none" strike="noStrike">
              <a:solidFill>
                <a:srgbClr val="FFFFFF"/>
              </a:solidFill>
              <a:effectLst/>
              <a:uFillTx/>
              <a:latin typeface="Arial"/>
            </a:endParaRPr>
          </a:p>
        </p:txBody>
      </p:sp>
      <p:sp>
        <p:nvSpPr>
          <p:cNvPr id="1513" name="Shape 98"/>
          <p:cNvSpPr/>
          <p:nvPr/>
        </p:nvSpPr>
        <p:spPr>
          <a:xfrm>
            <a:off x="5289690" y="1343431"/>
            <a:ext cx="360000" cy="360000"/>
          </a:xfrm>
          <a:prstGeom prst="ellipse">
            <a:avLst/>
          </a:prstGeom>
          <a:solidFill>
            <a:srgbClr val="5B8FF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pl-PL" sz="2800" b="0" u="none" strike="noStrike">
              <a:solidFill>
                <a:srgbClr val="FFFFFF"/>
              </a:solidFill>
              <a:effectLst/>
              <a:uFillTx/>
              <a:latin typeface="Arial"/>
            </a:endParaRPr>
          </a:p>
        </p:txBody>
      </p:sp>
      <p:sp>
        <p:nvSpPr>
          <p:cNvPr id="1514" name="Text 116"/>
          <p:cNvSpPr/>
          <p:nvPr/>
        </p:nvSpPr>
        <p:spPr>
          <a:xfrm>
            <a:off x="5270640" y="1295806"/>
            <a:ext cx="402840" cy="45625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2000" b="1" u="none" strike="noStrike">
                <a:solidFill>
                  <a:srgbClr val="FFFFFF"/>
                </a:solidFill>
                <a:effectLst/>
                <a:uFillTx/>
                <a:latin typeface="Cambria"/>
                <a:ea typeface="Cambria"/>
              </a:rPr>
              <a:t>6</a:t>
            </a:r>
            <a:endParaRPr lang="pl-PL" sz="2000" b="0" u="none" strike="noStrike">
              <a:solidFill>
                <a:srgbClr val="FFFFFF"/>
              </a:solidFill>
              <a:effectLst/>
              <a:uFillTx/>
              <a:latin typeface="Arial"/>
            </a:endParaRPr>
          </a:p>
        </p:txBody>
      </p:sp>
      <p:sp>
        <p:nvSpPr>
          <p:cNvPr id="1515" name="Text 117"/>
          <p:cNvSpPr/>
          <p:nvPr/>
        </p:nvSpPr>
        <p:spPr>
          <a:xfrm>
            <a:off x="5774640" y="1258408"/>
            <a:ext cx="3850560" cy="52475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tabLst>
                <a:tab pos="0" algn="l"/>
              </a:tabLst>
            </a:pPr>
            <a:r>
              <a:rPr lang="pl-PL" sz="1400" b="0" u="none" strike="noStrike" dirty="0" err="1">
                <a:solidFill>
                  <a:srgbClr val="FFFFFF"/>
                </a:solidFill>
                <a:effectLst/>
                <a:uFillTx/>
                <a:latin typeface="Calibri"/>
                <a:ea typeface="Calibri"/>
              </a:rPr>
              <a:t>Przepilotuj</a:t>
            </a:r>
            <a:r>
              <a:rPr lang="pl-PL" sz="1400" b="0" u="none" strike="noStrike" dirty="0">
                <a:solidFill>
                  <a:srgbClr val="FFFFFF"/>
                </a:solidFill>
                <a:effectLst/>
                <a:uFillTx/>
                <a:latin typeface="Calibri"/>
                <a:ea typeface="Calibri"/>
              </a:rPr>
              <a:t> bodźce. Walidacja przed właściwym badaniem</a:t>
            </a:r>
            <a:endParaRPr lang="pl-PL" sz="1400" b="0" u="none" strike="noStrike" dirty="0">
              <a:solidFill>
                <a:srgbClr val="FFFFFF"/>
              </a:solidFill>
              <a:effectLst/>
              <a:uFillTx/>
              <a:latin typeface="Arial"/>
            </a:endParaRPr>
          </a:p>
        </p:txBody>
      </p:sp>
      <p:sp>
        <p:nvSpPr>
          <p:cNvPr id="1516" name="Shape 99"/>
          <p:cNvSpPr/>
          <p:nvPr/>
        </p:nvSpPr>
        <p:spPr>
          <a:xfrm>
            <a:off x="5190360" y="1921827"/>
            <a:ext cx="4535640" cy="593663"/>
          </a:xfrm>
          <a:prstGeom prst="roundRect">
            <a:avLst>
              <a:gd name="adj" fmla="val 15385"/>
            </a:avLst>
          </a:prstGeom>
          <a:solidFill>
            <a:srgbClr val="2D3B8E"/>
          </a:solidFill>
          <a:ln w="9525">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pl-PL" sz="2800" b="0" u="none" strike="noStrike">
              <a:solidFill>
                <a:srgbClr val="FFFFFF"/>
              </a:solidFill>
              <a:effectLst/>
              <a:uFillTx/>
              <a:latin typeface="Arial"/>
            </a:endParaRPr>
          </a:p>
        </p:txBody>
      </p:sp>
      <p:sp>
        <p:nvSpPr>
          <p:cNvPr id="1517" name="Shape 100"/>
          <p:cNvSpPr/>
          <p:nvPr/>
        </p:nvSpPr>
        <p:spPr>
          <a:xfrm>
            <a:off x="5289690" y="2051260"/>
            <a:ext cx="360000" cy="360000"/>
          </a:xfrm>
          <a:prstGeom prst="ellipse">
            <a:avLst/>
          </a:prstGeom>
          <a:solidFill>
            <a:srgbClr val="5B8FF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pl-PL" sz="2800" b="0" u="none" strike="noStrike">
              <a:solidFill>
                <a:srgbClr val="FFFFFF"/>
              </a:solidFill>
              <a:effectLst/>
              <a:uFillTx/>
              <a:latin typeface="Arial"/>
            </a:endParaRPr>
          </a:p>
        </p:txBody>
      </p:sp>
      <p:sp>
        <p:nvSpPr>
          <p:cNvPr id="1518" name="Text 118"/>
          <p:cNvSpPr/>
          <p:nvPr/>
        </p:nvSpPr>
        <p:spPr>
          <a:xfrm>
            <a:off x="5270640" y="2003635"/>
            <a:ext cx="402840" cy="45625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2000" b="1" u="none" strike="noStrike">
                <a:solidFill>
                  <a:srgbClr val="FFFFFF"/>
                </a:solidFill>
                <a:effectLst/>
                <a:uFillTx/>
                <a:latin typeface="Cambria"/>
                <a:ea typeface="Cambria"/>
              </a:rPr>
              <a:t>7</a:t>
            </a:r>
            <a:endParaRPr lang="pl-PL" sz="2000" b="0" u="none" strike="noStrike">
              <a:solidFill>
                <a:srgbClr val="FFFFFF"/>
              </a:solidFill>
              <a:effectLst/>
              <a:uFillTx/>
              <a:latin typeface="Arial"/>
            </a:endParaRPr>
          </a:p>
        </p:txBody>
      </p:sp>
      <p:sp>
        <p:nvSpPr>
          <p:cNvPr id="1519" name="Text 119"/>
          <p:cNvSpPr/>
          <p:nvPr/>
        </p:nvSpPr>
        <p:spPr>
          <a:xfrm>
            <a:off x="5774640" y="1966236"/>
            <a:ext cx="3850560" cy="52475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10000"/>
              </a:lnSpc>
              <a:tabLst>
                <a:tab pos="0" algn="l"/>
              </a:tabLst>
            </a:pPr>
            <a:r>
              <a:rPr lang="pl-PL" sz="1400" b="0" u="none" strike="noStrike">
                <a:solidFill>
                  <a:srgbClr val="FFFFFF"/>
                </a:solidFill>
                <a:effectLst/>
                <a:uFillTx/>
                <a:latin typeface="Calibri"/>
                <a:ea typeface="Calibri"/>
              </a:rPr>
              <a:t>Wybierz narzędzie analizy i zapisz jego wersję</a:t>
            </a:r>
            <a:endParaRPr lang="pl-PL" sz="1400" b="0" u="none" strike="noStrike">
              <a:solidFill>
                <a:srgbClr val="FFFFFF"/>
              </a:solidFill>
              <a:effectLst/>
              <a:uFillTx/>
              <a:latin typeface="Arial"/>
            </a:endParaRPr>
          </a:p>
        </p:txBody>
      </p:sp>
      <p:sp>
        <p:nvSpPr>
          <p:cNvPr id="1520" name="Shape 101"/>
          <p:cNvSpPr/>
          <p:nvPr/>
        </p:nvSpPr>
        <p:spPr>
          <a:xfrm>
            <a:off x="5190360" y="2629656"/>
            <a:ext cx="4535640" cy="593663"/>
          </a:xfrm>
          <a:prstGeom prst="roundRect">
            <a:avLst>
              <a:gd name="adj" fmla="val 15385"/>
            </a:avLst>
          </a:prstGeom>
          <a:solidFill>
            <a:srgbClr val="2D3B8E"/>
          </a:solidFill>
          <a:ln w="9525">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pl-PL" sz="2800" b="0" u="none" strike="noStrike">
              <a:solidFill>
                <a:srgbClr val="FFFFFF"/>
              </a:solidFill>
              <a:effectLst/>
              <a:uFillTx/>
              <a:latin typeface="Arial"/>
            </a:endParaRPr>
          </a:p>
        </p:txBody>
      </p:sp>
      <p:sp>
        <p:nvSpPr>
          <p:cNvPr id="1521" name="Shape 102"/>
          <p:cNvSpPr/>
          <p:nvPr/>
        </p:nvSpPr>
        <p:spPr>
          <a:xfrm>
            <a:off x="5289690" y="2759088"/>
            <a:ext cx="360000" cy="360000"/>
          </a:xfrm>
          <a:prstGeom prst="ellipse">
            <a:avLst/>
          </a:prstGeom>
          <a:solidFill>
            <a:srgbClr val="5B8FF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pl-PL" sz="2800" b="0" u="none" strike="noStrike">
              <a:solidFill>
                <a:srgbClr val="FFFFFF"/>
              </a:solidFill>
              <a:effectLst/>
              <a:uFillTx/>
              <a:latin typeface="Arial"/>
            </a:endParaRPr>
          </a:p>
        </p:txBody>
      </p:sp>
      <p:sp>
        <p:nvSpPr>
          <p:cNvPr id="1522" name="Text 120"/>
          <p:cNvSpPr/>
          <p:nvPr/>
        </p:nvSpPr>
        <p:spPr>
          <a:xfrm>
            <a:off x="5270640" y="2711463"/>
            <a:ext cx="402840" cy="45625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2000" b="1" u="none" strike="noStrike">
                <a:solidFill>
                  <a:srgbClr val="FFFFFF"/>
                </a:solidFill>
                <a:effectLst/>
                <a:uFillTx/>
                <a:latin typeface="Cambria"/>
                <a:ea typeface="Cambria"/>
              </a:rPr>
              <a:t>8</a:t>
            </a:r>
            <a:endParaRPr lang="pl-PL" sz="2000" b="0" u="none" strike="noStrike">
              <a:solidFill>
                <a:srgbClr val="FFFFFF"/>
              </a:solidFill>
              <a:effectLst/>
              <a:uFillTx/>
              <a:latin typeface="Arial"/>
            </a:endParaRPr>
          </a:p>
        </p:txBody>
      </p:sp>
      <p:sp>
        <p:nvSpPr>
          <p:cNvPr id="1523" name="Text 121"/>
          <p:cNvSpPr/>
          <p:nvPr/>
        </p:nvSpPr>
        <p:spPr>
          <a:xfrm>
            <a:off x="5774640" y="2674065"/>
            <a:ext cx="3850560" cy="52475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tabLst>
                <a:tab pos="0" algn="l"/>
              </a:tabLst>
            </a:pPr>
            <a:r>
              <a:rPr lang="pl-PL" sz="1400" b="0" u="none" strike="noStrike">
                <a:solidFill>
                  <a:srgbClr val="FFFFFF"/>
                </a:solidFill>
                <a:effectLst/>
                <a:uFillTx/>
                <a:latin typeface="Calibri"/>
                <a:ea typeface="Calibri"/>
              </a:rPr>
              <a:t>Udostępnij materiały na OSF lub GitHub </a:t>
            </a:r>
            <a:br>
              <a:rPr sz="1400"/>
            </a:br>
            <a:r>
              <a:rPr lang="pl-PL" sz="1400" b="0" u="none" strike="noStrike">
                <a:solidFill>
                  <a:srgbClr val="FFFFFF"/>
                </a:solidFill>
                <a:effectLst/>
                <a:uFillTx/>
                <a:latin typeface="Calibri"/>
                <a:ea typeface="Calibri"/>
              </a:rPr>
              <a:t>wraz ze złożeniem (submisją) artykułu</a:t>
            </a:r>
            <a:endParaRPr lang="pl-PL" sz="1400" b="0" u="none" strike="noStrike">
              <a:solidFill>
                <a:srgbClr val="FFFFFF"/>
              </a:solidFill>
              <a:effectLst/>
              <a:uFillTx/>
              <a:latin typeface="Arial"/>
            </a:endParaRPr>
          </a:p>
        </p:txBody>
      </p:sp>
      <p:sp>
        <p:nvSpPr>
          <p:cNvPr id="1524" name="Shape 103"/>
          <p:cNvSpPr/>
          <p:nvPr/>
        </p:nvSpPr>
        <p:spPr>
          <a:xfrm>
            <a:off x="5190360" y="3337484"/>
            <a:ext cx="4535640" cy="593663"/>
          </a:xfrm>
          <a:prstGeom prst="roundRect">
            <a:avLst>
              <a:gd name="adj" fmla="val 15385"/>
            </a:avLst>
          </a:prstGeom>
          <a:solidFill>
            <a:srgbClr val="2D3B8E"/>
          </a:solidFill>
          <a:ln w="9525">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pl-PL" sz="2800" b="0" u="none" strike="noStrike">
              <a:solidFill>
                <a:srgbClr val="FFFFFF"/>
              </a:solidFill>
              <a:effectLst/>
              <a:uFillTx/>
              <a:latin typeface="Arial"/>
            </a:endParaRPr>
          </a:p>
        </p:txBody>
      </p:sp>
      <p:sp>
        <p:nvSpPr>
          <p:cNvPr id="1525" name="Shape 104"/>
          <p:cNvSpPr/>
          <p:nvPr/>
        </p:nvSpPr>
        <p:spPr>
          <a:xfrm>
            <a:off x="5289690" y="3467324"/>
            <a:ext cx="360000" cy="360000"/>
          </a:xfrm>
          <a:prstGeom prst="ellipse">
            <a:avLst/>
          </a:prstGeom>
          <a:solidFill>
            <a:srgbClr val="5B8FF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pl-PL" sz="2800" b="0" u="none" strike="noStrike">
              <a:solidFill>
                <a:srgbClr val="FFFFFF"/>
              </a:solidFill>
              <a:effectLst/>
              <a:uFillTx/>
              <a:latin typeface="Arial"/>
            </a:endParaRPr>
          </a:p>
        </p:txBody>
      </p:sp>
      <p:sp>
        <p:nvSpPr>
          <p:cNvPr id="1526" name="Text 122"/>
          <p:cNvSpPr/>
          <p:nvPr/>
        </p:nvSpPr>
        <p:spPr>
          <a:xfrm>
            <a:off x="5270640" y="3419699"/>
            <a:ext cx="402840" cy="45625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2000" b="1" u="none" strike="noStrike">
                <a:solidFill>
                  <a:srgbClr val="FFFFFF"/>
                </a:solidFill>
                <a:effectLst/>
                <a:uFillTx/>
                <a:latin typeface="Cambria"/>
                <a:ea typeface="Cambria"/>
              </a:rPr>
              <a:t>9</a:t>
            </a:r>
            <a:endParaRPr lang="pl-PL" sz="2000" b="0" u="none" strike="noStrike">
              <a:solidFill>
                <a:srgbClr val="FFFFFF"/>
              </a:solidFill>
              <a:effectLst/>
              <a:uFillTx/>
              <a:latin typeface="Arial"/>
            </a:endParaRPr>
          </a:p>
        </p:txBody>
      </p:sp>
      <p:sp>
        <p:nvSpPr>
          <p:cNvPr id="1527" name="Text 123"/>
          <p:cNvSpPr/>
          <p:nvPr/>
        </p:nvSpPr>
        <p:spPr>
          <a:xfrm>
            <a:off x="5774640" y="3381893"/>
            <a:ext cx="3850560" cy="52475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tabLst>
                <a:tab pos="0" algn="l"/>
              </a:tabLst>
            </a:pPr>
            <a:r>
              <a:rPr lang="pl-PL" sz="1400" b="0" u="none" strike="noStrike" dirty="0">
                <a:solidFill>
                  <a:srgbClr val="FFFFFF"/>
                </a:solidFill>
                <a:effectLst/>
                <a:uFillTx/>
                <a:latin typeface="Calibri"/>
                <a:ea typeface="Calibri"/>
              </a:rPr>
              <a:t>Udokumentuj proces przetwarzania danych: </a:t>
            </a:r>
            <a:br>
              <a:rPr lang="pl-PL" sz="1400" b="0" u="none" strike="noStrike" dirty="0">
                <a:solidFill>
                  <a:srgbClr val="FFFFFF"/>
                </a:solidFill>
                <a:effectLst/>
                <a:uFillTx/>
                <a:latin typeface="Calibri"/>
                <a:ea typeface="Calibri"/>
              </a:rPr>
            </a:br>
            <a:r>
              <a:rPr lang="pl-PL" sz="1400" b="0" u="none" strike="noStrike" dirty="0">
                <a:solidFill>
                  <a:srgbClr val="FFFFFF"/>
                </a:solidFill>
                <a:effectLst/>
                <a:uFillTx/>
                <a:latin typeface="Calibri"/>
                <a:ea typeface="Calibri"/>
              </a:rPr>
              <a:t>kto co przetwarzał i kiedy</a:t>
            </a:r>
            <a:endParaRPr lang="pl-PL" sz="1400" b="0" u="none" strike="noStrike" dirty="0">
              <a:solidFill>
                <a:srgbClr val="FFFFFF"/>
              </a:solidFill>
              <a:effectLst/>
              <a:uFillTx/>
              <a:latin typeface="Arial"/>
            </a:endParaRPr>
          </a:p>
        </p:txBody>
      </p:sp>
      <p:sp>
        <p:nvSpPr>
          <p:cNvPr id="1528" name="Shape 105"/>
          <p:cNvSpPr/>
          <p:nvPr/>
        </p:nvSpPr>
        <p:spPr>
          <a:xfrm>
            <a:off x="5190360" y="4045312"/>
            <a:ext cx="4535640" cy="593663"/>
          </a:xfrm>
          <a:prstGeom prst="roundRect">
            <a:avLst>
              <a:gd name="adj" fmla="val 15385"/>
            </a:avLst>
          </a:prstGeom>
          <a:solidFill>
            <a:srgbClr val="2D3B8E"/>
          </a:solidFill>
          <a:ln w="9525">
            <a:solidFill>
              <a:srgbClr val="5B8F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pl-PL" sz="2800" b="0" u="none" strike="noStrike">
              <a:solidFill>
                <a:srgbClr val="FFFFFF"/>
              </a:solidFill>
              <a:effectLst/>
              <a:uFillTx/>
              <a:latin typeface="Arial"/>
            </a:endParaRPr>
          </a:p>
        </p:txBody>
      </p:sp>
      <p:sp>
        <p:nvSpPr>
          <p:cNvPr id="1529" name="Shape 106"/>
          <p:cNvSpPr/>
          <p:nvPr/>
        </p:nvSpPr>
        <p:spPr>
          <a:xfrm>
            <a:off x="5283570" y="4184270"/>
            <a:ext cx="360000" cy="360000"/>
          </a:xfrm>
          <a:prstGeom prst="ellipse">
            <a:avLst/>
          </a:prstGeom>
          <a:solidFill>
            <a:srgbClr val="5B8FF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pl-PL" sz="1800" b="0" u="none" strike="noStrike">
              <a:solidFill>
                <a:srgbClr val="FFFFFF"/>
              </a:solidFill>
              <a:effectLst/>
              <a:uFillTx/>
              <a:latin typeface="Arial"/>
            </a:endParaRPr>
          </a:p>
        </p:txBody>
      </p:sp>
      <p:sp>
        <p:nvSpPr>
          <p:cNvPr id="1530" name="Text 124"/>
          <p:cNvSpPr/>
          <p:nvPr/>
        </p:nvSpPr>
        <p:spPr>
          <a:xfrm>
            <a:off x="5234640" y="4127120"/>
            <a:ext cx="464400" cy="45625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b="1" u="none" strike="noStrike" dirty="0">
                <a:solidFill>
                  <a:srgbClr val="FFFFFF"/>
                </a:solidFill>
                <a:effectLst/>
                <a:uFillTx/>
                <a:latin typeface="Cambria"/>
                <a:ea typeface="Cambria"/>
              </a:rPr>
              <a:t>10</a:t>
            </a:r>
            <a:endParaRPr lang="pl-PL" b="0" u="none" strike="noStrike" dirty="0">
              <a:solidFill>
                <a:srgbClr val="FFFFFF"/>
              </a:solidFill>
              <a:effectLst/>
              <a:uFillTx/>
              <a:latin typeface="Arial"/>
            </a:endParaRPr>
          </a:p>
        </p:txBody>
      </p:sp>
      <p:sp>
        <p:nvSpPr>
          <p:cNvPr id="1531" name="Text 125"/>
          <p:cNvSpPr/>
          <p:nvPr/>
        </p:nvSpPr>
        <p:spPr>
          <a:xfrm>
            <a:off x="5774640" y="4089722"/>
            <a:ext cx="3850560" cy="52475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10000"/>
              </a:lnSpc>
              <a:tabLst>
                <a:tab pos="0" algn="l"/>
              </a:tabLst>
            </a:pPr>
            <a:r>
              <a:rPr lang="pl-PL" sz="1400" b="0" u="none" strike="noStrike" dirty="0">
                <a:solidFill>
                  <a:srgbClr val="FFFFFF"/>
                </a:solidFill>
                <a:effectLst/>
                <a:uFillTx/>
                <a:latin typeface="Calibri"/>
                <a:ea typeface="Calibri"/>
              </a:rPr>
              <a:t>Skonsultuj protokół z komisją etyczną </a:t>
            </a:r>
            <a:br>
              <a:rPr lang="pl-PL" sz="1400" b="0" u="none" strike="noStrike" dirty="0">
                <a:solidFill>
                  <a:srgbClr val="FFFFFF"/>
                </a:solidFill>
                <a:effectLst/>
                <a:uFillTx/>
                <a:latin typeface="Calibri"/>
                <a:ea typeface="Calibri"/>
              </a:rPr>
            </a:br>
            <a:r>
              <a:rPr lang="pl-PL" sz="1400" b="0" u="none" strike="noStrike" dirty="0">
                <a:solidFill>
                  <a:srgbClr val="FFFFFF"/>
                </a:solidFill>
                <a:effectLst/>
                <a:uFillTx/>
                <a:latin typeface="Calibri"/>
                <a:ea typeface="Calibri"/>
              </a:rPr>
              <a:t>przed pierwszą sesją</a:t>
            </a:r>
            <a:endParaRPr lang="pl-PL" sz="1400" b="0" u="none" strike="noStrike" dirty="0">
              <a:solidFill>
                <a:srgbClr val="FFFFFF"/>
              </a:solidFill>
              <a:effectLst/>
              <a:uFillTx/>
              <a:latin typeface="Arial"/>
            </a:endParaRPr>
          </a:p>
        </p:txBody>
      </p:sp>
      <p:sp>
        <p:nvSpPr>
          <p:cNvPr id="1532" name="Shape 107"/>
          <p:cNvSpPr/>
          <p:nvPr/>
        </p:nvSpPr>
        <p:spPr>
          <a:xfrm>
            <a:off x="402840" y="4952999"/>
            <a:ext cx="9323160" cy="437129"/>
          </a:xfrm>
          <a:prstGeom prst="roundRect">
            <a:avLst>
              <a:gd name="adj" fmla="val 25464"/>
            </a:avLst>
          </a:prstGeom>
          <a:solidFill>
            <a:schemeClr val="accent3">
              <a:lumMod val="50000"/>
              <a:alpha val="85000"/>
            </a:schemeClr>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r>
              <a:rPr lang="pl-PL" sz="1600" b="1" dirty="0">
                <a:solidFill>
                  <a:srgbClr val="FFFFFF"/>
                </a:solidFill>
                <a:latin typeface="Verdana" panose="020B0604030504040204" pitchFamily="34" charset="0"/>
                <a:ea typeface="Verdana" panose="020B0604030504040204" pitchFamily="34" charset="0"/>
                <a:cs typeface="Calibri Light" panose="020F0302020204030204" pitchFamily="34" charset="0"/>
              </a:rPr>
              <a:t>Dobra nauka </a:t>
            </a:r>
            <a:r>
              <a:rPr lang="pl-PL" sz="1600" dirty="0">
                <a:solidFill>
                  <a:srgbClr val="FFFFFF"/>
                </a:solidFill>
                <a:latin typeface="Verdana" panose="020B0604030504040204" pitchFamily="34" charset="0"/>
                <a:ea typeface="Verdana" panose="020B0604030504040204" pitchFamily="34" charset="0"/>
                <a:cs typeface="Calibri Light" panose="020F0302020204030204" pitchFamily="34" charset="0"/>
              </a:rPr>
              <a:t>to suma </a:t>
            </a:r>
            <a:r>
              <a:rPr lang="pl-PL" sz="1600" b="1" dirty="0">
                <a:solidFill>
                  <a:srgbClr val="FFFFFF"/>
                </a:solidFill>
                <a:latin typeface="Verdana" panose="020B0604030504040204" pitchFamily="34" charset="0"/>
                <a:ea typeface="Verdana" panose="020B0604030504040204" pitchFamily="34" charset="0"/>
                <a:cs typeface="Calibri Light" panose="020F0302020204030204" pitchFamily="34" charset="0"/>
              </a:rPr>
              <a:t>dobrych decyzji</a:t>
            </a:r>
            <a:r>
              <a:rPr lang="pl-PL" sz="1600" dirty="0">
                <a:solidFill>
                  <a:srgbClr val="FFFFFF"/>
                </a:solidFill>
                <a:latin typeface="Verdana" panose="020B0604030504040204" pitchFamily="34" charset="0"/>
                <a:ea typeface="Verdana" panose="020B0604030504040204" pitchFamily="34" charset="0"/>
                <a:cs typeface="Calibri Light" panose="020F0302020204030204" pitchFamily="34" charset="0"/>
              </a:rPr>
              <a:t>: metodologicznych, technicznych i etycznych</a:t>
            </a:r>
          </a:p>
        </p:txBody>
      </p:sp>
      <p:sp>
        <p:nvSpPr>
          <p:cNvPr id="47" name="Text 736"/>
          <p:cNvSpPr/>
          <p:nvPr/>
        </p:nvSpPr>
        <p:spPr>
          <a:xfrm>
            <a:off x="453240" y="70560"/>
            <a:ext cx="5116922" cy="502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tabLst>
                <a:tab pos="0" algn="l"/>
              </a:tabLst>
            </a:pPr>
            <a:r>
              <a:rPr lang="pl-PL" sz="2200" b="1" u="none" strike="noStrike" dirty="0">
                <a:solidFill>
                  <a:srgbClr val="FFFFFF"/>
                </a:solidFill>
                <a:effectLst/>
                <a:uFillTx/>
                <a:latin typeface="Cambria"/>
                <a:ea typeface="Cambria"/>
              </a:rPr>
              <a:t>PRAKTYCZNA LISTA STARTOWA</a:t>
            </a:r>
          </a:p>
        </p:txBody>
      </p:sp>
      <p:sp>
        <p:nvSpPr>
          <p:cNvPr id="48" name="Text 737"/>
          <p:cNvSpPr/>
          <p:nvPr/>
        </p:nvSpPr>
        <p:spPr>
          <a:xfrm>
            <a:off x="453240" y="594720"/>
            <a:ext cx="4307224" cy="331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tabLst>
                <a:tab pos="0" algn="l"/>
              </a:tabLst>
            </a:pPr>
            <a:r>
              <a:rPr lang="pl-PL" sz="1400" i="1" dirty="0">
                <a:solidFill>
                  <a:srgbClr val="CADCFC"/>
                </a:solidFill>
                <a:ea typeface="Calibri"/>
              </a:rPr>
              <a:t>10 rzeczy do wdrożenia (najlepiej już od jutra)</a:t>
            </a:r>
            <a:endParaRPr lang="pl-PL" sz="1400" b="0" u="none" strike="noStrike" dirty="0">
              <a:solidFill>
                <a:srgbClr val="FFFFFF"/>
              </a:solidFill>
              <a:effectLst/>
              <a:uFillTx/>
              <a:latin typeface="Arial"/>
            </a:endParaRPr>
          </a:p>
        </p:txBody>
      </p:sp>
    </p:spTree>
  </p:cSld>
  <p:clrMapOvr>
    <a:masterClrMapping/>
  </p:clrMapOvr>
</p:sld>
</file>

<file path=ppt/theme/theme1.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d3bbb6c1-804c-41f0-8e4c-83d4933748df"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kument" ma:contentTypeID="0x0101005F40A22102435644A9AC13772F5A288F" ma:contentTypeVersion="12" ma:contentTypeDescription="Utwórz nowy dokument." ma:contentTypeScope="" ma:versionID="b63cca81a07487a0beeaa5494f66d05e">
  <xsd:schema xmlns:xsd="http://www.w3.org/2001/XMLSchema" xmlns:xs="http://www.w3.org/2001/XMLSchema" xmlns:p="http://schemas.microsoft.com/office/2006/metadata/properties" xmlns:ns3="d3bbb6c1-804c-41f0-8e4c-83d4933748df" targetNamespace="http://schemas.microsoft.com/office/2006/metadata/properties" ma:root="true" ma:fieldsID="9b1cc1f1b2acd333346206515e746ff8" ns3:_="">
    <xsd:import namespace="d3bbb6c1-804c-41f0-8e4c-83d4933748df"/>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element ref="ns3:MediaServiceSystemTags" minOccurs="0"/>
                <xsd:element ref="ns3:MediaServiceGenerationTime" minOccurs="0"/>
                <xsd:element ref="ns3:MediaServiceEventHashCode" minOccurs="0"/>
                <xsd:element ref="ns3:MediaLengthInSeconds" minOccurs="0"/>
                <xsd:element ref="ns3:MediaServiceOCR"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3bbb6c1-804c-41f0-8e4c-83d4933748df"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zawartości"/>
        <xsd:element ref="dc:title" minOccurs="0" maxOccurs="1" ma:index="4" ma:displayName="Tytuł"/>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3926919-AFD7-46E9-A2E9-2DFCB87E9B45}">
  <ds:schemaRefs>
    <ds:schemaRef ds:uri="http://schemas.microsoft.com/sharepoint/v3/contenttype/forms"/>
  </ds:schemaRefs>
</ds:datastoreItem>
</file>

<file path=customXml/itemProps2.xml><?xml version="1.0" encoding="utf-8"?>
<ds:datastoreItem xmlns:ds="http://schemas.openxmlformats.org/officeDocument/2006/customXml" ds:itemID="{76B759EE-706D-4C34-B26F-BC1CFC27D10A}">
  <ds:schemaRefs>
    <ds:schemaRef ds:uri="http://schemas.microsoft.com/office/infopath/2007/PartnerControls"/>
    <ds:schemaRef ds:uri="http://schemas.microsoft.com/office/2006/documentManagement/types"/>
    <ds:schemaRef ds:uri="http://schemas.microsoft.com/office/2006/metadata/properties"/>
    <ds:schemaRef ds:uri="http://purl.org/dc/elements/1.1/"/>
    <ds:schemaRef ds:uri="d3bbb6c1-804c-41f0-8e4c-83d4933748df"/>
    <ds:schemaRef ds:uri="http://schemas.openxmlformats.org/package/2006/metadata/core-properties"/>
    <ds:schemaRef ds:uri="http://purl.org/dc/terms/"/>
    <ds:schemaRef ds:uri="http://www.w3.org/XML/1998/namespace"/>
    <ds:schemaRef ds:uri="http://purl.org/dc/dcmitype/"/>
  </ds:schemaRefs>
</ds:datastoreItem>
</file>

<file path=customXml/itemProps3.xml><?xml version="1.0" encoding="utf-8"?>
<ds:datastoreItem xmlns:ds="http://schemas.openxmlformats.org/officeDocument/2006/customXml" ds:itemID="{8A9DE930-5988-4E8B-BB0A-E7628F74DDA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3bbb6c1-804c-41f0-8e4c-83d4933748d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Words>8661</Words>
  <Application>Microsoft Office PowerPoint</Application>
  <PresentationFormat>Niestandardowy</PresentationFormat>
  <Paragraphs>1104</Paragraphs>
  <Slides>51</Slides>
  <Notes>51</Notes>
  <HiddenSlides>0</HiddenSlides>
  <MMClips>0</MMClips>
  <ScaleCrop>false</ScaleCrop>
  <HeadingPairs>
    <vt:vector size="4" baseType="variant">
      <vt:variant>
        <vt:lpstr>Motyw</vt:lpstr>
      </vt:variant>
      <vt:variant>
        <vt:i4>3</vt:i4>
      </vt:variant>
      <vt:variant>
        <vt:lpstr>Tytuły slajdów</vt:lpstr>
      </vt:variant>
      <vt:variant>
        <vt:i4>51</vt:i4>
      </vt:variant>
    </vt:vector>
  </HeadingPairs>
  <TitlesOfParts>
    <vt:vector size="54" baseType="lpstr">
      <vt:lpstr>Office</vt:lpstr>
      <vt:lpstr>Office Theme</vt:lpstr>
      <vt:lpstr>Office Theme</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Vivid</dc:title>
  <dc:subject/>
  <dc:creator>Andromeda</dc:creator>
  <dc:description>This work is licensed under a Creative Commons 0 License.
It makes use of the works of fsanchez.</dc:description>
  <cp:lastModifiedBy>Mateusz Pomianek</cp:lastModifiedBy>
  <cp:revision>243</cp:revision>
  <dcterms:created xsi:type="dcterms:W3CDTF">2026-06-17T13:41:45Z</dcterms:created>
  <dcterms:modified xsi:type="dcterms:W3CDTF">2026-06-26T10:54:10Z</dcterms:modified>
  <dc:language>pl-PL</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0x0101005F40A22102435644A9AC13772F5A288F</vt:lpwstr>
  </property>
</Properties>
</file>