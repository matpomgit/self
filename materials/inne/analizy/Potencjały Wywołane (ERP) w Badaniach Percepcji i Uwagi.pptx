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83" r:id="rId3"/>
    <p:sldId id="257" r:id="rId4"/>
    <p:sldId id="258" r:id="rId5"/>
    <p:sldId id="259" r:id="rId6"/>
    <p:sldId id="260" r:id="rId7"/>
    <p:sldId id="261" r:id="rId8"/>
    <p:sldId id="263" r:id="rId9"/>
    <p:sldId id="262" r:id="rId10"/>
    <p:sldId id="267" r:id="rId11"/>
    <p:sldId id="268" r:id="rId12"/>
    <p:sldId id="264" r:id="rId13"/>
    <p:sldId id="265" r:id="rId14"/>
    <p:sldId id="266" r:id="rId15"/>
    <p:sldId id="269" r:id="rId16"/>
    <p:sldId id="276" r:id="rId17"/>
    <p:sldId id="272" r:id="rId18"/>
    <p:sldId id="277" r:id="rId19"/>
    <p:sldId id="280" r:id="rId20"/>
    <p:sldId id="281" r:id="rId21"/>
    <p:sldId id="282" r:id="rId22"/>
    <p:sldId id="284" r:id="rId23"/>
    <p:sldId id="285" r:id="rId24"/>
    <p:sldId id="286" r:id="rId25"/>
    <p:sldId id="278" r:id="rId26"/>
    <p:sldId id="279" r:id="rId27"/>
    <p:sldId id="270" r:id="rId28"/>
    <p:sldId id="271"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4660"/>
  </p:normalViewPr>
  <p:slideViewPr>
    <p:cSldViewPr snapToGrid="0">
      <p:cViewPr varScale="1">
        <p:scale>
          <a:sx n="108" d="100"/>
          <a:sy n="108" d="100"/>
        </p:scale>
        <p:origin x="190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pl-PL" smtClean="0"/>
              <a:t>Kliknij, aby edytować styl</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smtClean="0"/>
              <a:t>Kliknij, aby edytować styl wzorca podtytułu</a:t>
            </a:r>
            <a:endParaRPr lang="en-US" dirty="0"/>
          </a:p>
        </p:txBody>
      </p:sp>
      <p:sp>
        <p:nvSpPr>
          <p:cNvPr id="4" name="Date Placeholder 3"/>
          <p:cNvSpPr>
            <a:spLocks noGrp="1"/>
          </p:cNvSpPr>
          <p:nvPr>
            <p:ph type="dt" sz="half" idx="10"/>
          </p:nvPr>
        </p:nvSpPr>
        <p:spPr/>
        <p:txBody>
          <a:bodyPr/>
          <a:lstStyle/>
          <a:p>
            <a:fld id="{1E33D782-D1BA-4804-A7E4-5357AFD4FFC5}" type="datetimeFigureOut">
              <a:rPr lang="pl-PL" smtClean="0"/>
              <a:t>22.10.2025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4134852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dirty="0"/>
          </a:p>
        </p:txBody>
      </p:sp>
      <p:sp>
        <p:nvSpPr>
          <p:cNvPr id="3" name="Content Placeholder 2"/>
          <p:cNvSpPr>
            <a:spLocks noGrp="1"/>
          </p:cNvSpPr>
          <p:nvPr>
            <p:ph idx="1"/>
          </p:nvPr>
        </p:nvSpPr>
        <p:spPr/>
        <p:txBody>
          <a:body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Date Placeholder 3"/>
          <p:cNvSpPr>
            <a:spLocks noGrp="1"/>
          </p:cNvSpPr>
          <p:nvPr>
            <p:ph type="dt" sz="half" idx="10"/>
          </p:nvPr>
        </p:nvSpPr>
        <p:spPr/>
        <p:txBody>
          <a:bodyPr/>
          <a:lstStyle/>
          <a:p>
            <a:fld id="{1E33D782-D1BA-4804-A7E4-5357AFD4FFC5}" type="datetimeFigureOut">
              <a:rPr lang="pl-PL" smtClean="0"/>
              <a:t>22.10.2025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2025079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pl-PL" smtClean="0"/>
              <a:t>Kliknij, aby edytować styl</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smtClean="0"/>
              <a:t>Edytuj style wzorca tekstu</a:t>
            </a:r>
          </a:p>
        </p:txBody>
      </p:sp>
      <p:sp>
        <p:nvSpPr>
          <p:cNvPr id="4" name="Date Placeholder 3"/>
          <p:cNvSpPr>
            <a:spLocks noGrp="1"/>
          </p:cNvSpPr>
          <p:nvPr>
            <p:ph type="dt" sz="half" idx="10"/>
          </p:nvPr>
        </p:nvSpPr>
        <p:spPr/>
        <p:txBody>
          <a:bodyPr/>
          <a:lstStyle/>
          <a:p>
            <a:fld id="{1E33D782-D1BA-4804-A7E4-5357AFD4FFC5}" type="datetimeFigureOut">
              <a:rPr lang="pl-PL" smtClean="0"/>
              <a:t>22.10.2025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1517329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5" name="Date Placeholder 4"/>
          <p:cNvSpPr>
            <a:spLocks noGrp="1"/>
          </p:cNvSpPr>
          <p:nvPr>
            <p:ph type="dt" sz="half" idx="10"/>
          </p:nvPr>
        </p:nvSpPr>
        <p:spPr/>
        <p:txBody>
          <a:bodyPr/>
          <a:lstStyle/>
          <a:p>
            <a:fld id="{1E33D782-D1BA-4804-A7E4-5357AFD4FFC5}" type="datetimeFigureOut">
              <a:rPr lang="pl-PL" smtClean="0"/>
              <a:t>22.10.2025</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512079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pl-PL" smtClean="0"/>
              <a:t>Kliknij, aby edytować styl</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smtClean="0"/>
              <a:t>Edytuj style wzorca tekstu</a:t>
            </a:r>
          </a:p>
        </p:txBody>
      </p:sp>
      <p:sp>
        <p:nvSpPr>
          <p:cNvPr id="4" name="Content Placeholder 3"/>
          <p:cNvSpPr>
            <a:spLocks noGrp="1"/>
          </p:cNvSpPr>
          <p:nvPr>
            <p:ph sz="half" idx="2"/>
          </p:nvPr>
        </p:nvSpPr>
        <p:spPr>
          <a:xfrm>
            <a:off x="629842" y="2505075"/>
            <a:ext cx="3868340" cy="3684588"/>
          </a:xfrm>
        </p:spPr>
        <p:txBody>
          <a:body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smtClean="0"/>
              <a:t>Edytuj style wzorca tekstu</a:t>
            </a:r>
          </a:p>
        </p:txBody>
      </p:sp>
      <p:sp>
        <p:nvSpPr>
          <p:cNvPr id="6" name="Content Placeholder 5"/>
          <p:cNvSpPr>
            <a:spLocks noGrp="1"/>
          </p:cNvSpPr>
          <p:nvPr>
            <p:ph sz="quarter" idx="4"/>
          </p:nvPr>
        </p:nvSpPr>
        <p:spPr>
          <a:xfrm>
            <a:off x="4629150" y="2505075"/>
            <a:ext cx="3887391" cy="3684588"/>
          </a:xfrm>
        </p:spPr>
        <p:txBody>
          <a:body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7" name="Date Placeholder 6"/>
          <p:cNvSpPr>
            <a:spLocks noGrp="1"/>
          </p:cNvSpPr>
          <p:nvPr>
            <p:ph type="dt" sz="half" idx="10"/>
          </p:nvPr>
        </p:nvSpPr>
        <p:spPr/>
        <p:txBody>
          <a:bodyPr/>
          <a:lstStyle/>
          <a:p>
            <a:fld id="{1E33D782-D1BA-4804-A7E4-5357AFD4FFC5}" type="datetimeFigureOut">
              <a:rPr lang="pl-PL" smtClean="0"/>
              <a:t>22.10.2025</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1095702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dirty="0"/>
          </a:p>
        </p:txBody>
      </p:sp>
      <p:sp>
        <p:nvSpPr>
          <p:cNvPr id="3" name="Date Placeholder 2"/>
          <p:cNvSpPr>
            <a:spLocks noGrp="1"/>
          </p:cNvSpPr>
          <p:nvPr>
            <p:ph type="dt" sz="half" idx="10"/>
          </p:nvPr>
        </p:nvSpPr>
        <p:spPr/>
        <p:txBody>
          <a:bodyPr/>
          <a:lstStyle/>
          <a:p>
            <a:fld id="{1E33D782-D1BA-4804-A7E4-5357AFD4FFC5}" type="datetimeFigureOut">
              <a:rPr lang="pl-PL" smtClean="0"/>
              <a:t>22.10.2025</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525181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3D782-D1BA-4804-A7E4-5357AFD4FFC5}" type="datetimeFigureOut">
              <a:rPr lang="pl-PL" smtClean="0"/>
              <a:t>22.10.2025</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3237882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l-PL" smtClean="0"/>
              <a:t>Kliknij, aby edytować styl</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smtClean="0"/>
              <a:t>Edytuj style wzorca tekstu</a:t>
            </a:r>
          </a:p>
        </p:txBody>
      </p:sp>
      <p:sp>
        <p:nvSpPr>
          <p:cNvPr id="5" name="Date Placeholder 4"/>
          <p:cNvSpPr>
            <a:spLocks noGrp="1"/>
          </p:cNvSpPr>
          <p:nvPr>
            <p:ph type="dt" sz="half" idx="10"/>
          </p:nvPr>
        </p:nvSpPr>
        <p:spPr/>
        <p:txBody>
          <a:bodyPr/>
          <a:lstStyle/>
          <a:p>
            <a:fld id="{1E33D782-D1BA-4804-A7E4-5357AFD4FFC5}" type="datetimeFigureOut">
              <a:rPr lang="pl-PL" smtClean="0"/>
              <a:t>22.10.2025</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3346379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l-PL" smtClean="0"/>
              <a:t>Kliknij, aby edytować styl</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smtClean="0"/>
              <a:t>Kliknij ikonę, aby dodać obraz</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smtClean="0"/>
              <a:t>Edytuj style wzorca tekstu</a:t>
            </a:r>
          </a:p>
        </p:txBody>
      </p:sp>
      <p:sp>
        <p:nvSpPr>
          <p:cNvPr id="5" name="Date Placeholder 4"/>
          <p:cNvSpPr>
            <a:spLocks noGrp="1"/>
          </p:cNvSpPr>
          <p:nvPr>
            <p:ph type="dt" sz="half" idx="10"/>
          </p:nvPr>
        </p:nvSpPr>
        <p:spPr/>
        <p:txBody>
          <a:bodyPr/>
          <a:lstStyle/>
          <a:p>
            <a:fld id="{1E33D782-D1BA-4804-A7E4-5357AFD4FFC5}" type="datetimeFigureOut">
              <a:rPr lang="pl-PL" smtClean="0"/>
              <a:t>22.10.2025</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4076786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Date Placeholder 3"/>
          <p:cNvSpPr>
            <a:spLocks noGrp="1"/>
          </p:cNvSpPr>
          <p:nvPr>
            <p:ph type="dt" sz="half" idx="10"/>
          </p:nvPr>
        </p:nvSpPr>
        <p:spPr/>
        <p:txBody>
          <a:bodyPr/>
          <a:lstStyle/>
          <a:p>
            <a:fld id="{1E33D782-D1BA-4804-A7E4-5357AFD4FFC5}" type="datetimeFigureOut">
              <a:rPr lang="pl-PL" smtClean="0"/>
              <a:t>22.10.2025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189261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pl-PL" smtClean="0"/>
              <a:t>Kliknij, aby edytować styl</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Date Placeholder 3"/>
          <p:cNvSpPr>
            <a:spLocks noGrp="1"/>
          </p:cNvSpPr>
          <p:nvPr>
            <p:ph type="dt" sz="half" idx="10"/>
          </p:nvPr>
        </p:nvSpPr>
        <p:spPr/>
        <p:txBody>
          <a:bodyPr/>
          <a:lstStyle/>
          <a:p>
            <a:fld id="{1E33D782-D1BA-4804-A7E4-5357AFD4FFC5}" type="datetimeFigureOut">
              <a:rPr lang="pl-PL" smtClean="0"/>
              <a:t>22.10.2025</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977C1FA-CE3A-429C-A4C6-8C5D2248BC37}" type="slidenum">
              <a:rPr lang="pl-PL" smtClean="0"/>
              <a:t>‹#›</a:t>
            </a:fld>
            <a:endParaRPr lang="pl-PL"/>
          </a:p>
        </p:txBody>
      </p:sp>
    </p:spTree>
    <p:extLst>
      <p:ext uri="{BB962C8B-B14F-4D97-AF65-F5344CB8AC3E}">
        <p14:creationId xmlns:p14="http://schemas.microsoft.com/office/powerpoint/2010/main" val="2708265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l-PL" smtClean="0"/>
              <a:t>Kliknij, aby edytować styl</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l-PL" smtClean="0"/>
              <a:t>Edytuj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33D782-D1BA-4804-A7E4-5357AFD4FFC5}" type="datetimeFigureOut">
              <a:rPr lang="pl-PL" smtClean="0"/>
              <a:t>22.10.2025</a:t>
            </a:fld>
            <a:endParaRPr lang="pl-PL"/>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77C1FA-CE3A-429C-A4C6-8C5D2248BC37}" type="slidenum">
              <a:rPr lang="pl-PL" smtClean="0"/>
              <a:t>‹#›</a:t>
            </a:fld>
            <a:endParaRPr lang="pl-PL"/>
          </a:p>
        </p:txBody>
      </p:sp>
    </p:spTree>
    <p:extLst>
      <p:ext uri="{BB962C8B-B14F-4D97-AF65-F5344CB8AC3E}">
        <p14:creationId xmlns:p14="http://schemas.microsoft.com/office/powerpoint/2010/main" val="251114129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p:txBody>
          <a:bodyPr>
            <a:normAutofit/>
          </a:bodyPr>
          <a:lstStyle/>
          <a:p>
            <a:r>
              <a:rPr lang="pl-PL" sz="4000" b="1" dirty="0"/>
              <a:t>Potencjały Wywołane (ERP) </a:t>
            </a:r>
            <a:br>
              <a:rPr lang="pl-PL" sz="4000" b="1" dirty="0"/>
            </a:br>
            <a:r>
              <a:rPr lang="pl-PL" sz="4000" dirty="0"/>
              <a:t>w badaniach percepcji i uwagi</a:t>
            </a:r>
          </a:p>
        </p:txBody>
      </p:sp>
      <p:sp>
        <p:nvSpPr>
          <p:cNvPr id="3" name="Podtytuł 2"/>
          <p:cNvSpPr>
            <a:spLocks noGrp="1"/>
          </p:cNvSpPr>
          <p:nvPr>
            <p:ph type="subTitle" idx="1"/>
          </p:nvPr>
        </p:nvSpPr>
        <p:spPr>
          <a:xfrm>
            <a:off x="1143000" y="4445417"/>
            <a:ext cx="6858000" cy="1655763"/>
          </a:xfrm>
        </p:spPr>
        <p:txBody>
          <a:bodyPr anchor="b"/>
          <a:lstStyle/>
          <a:p>
            <a:r>
              <a:rPr lang="pl-PL" b="1" dirty="0" smtClean="0"/>
              <a:t>dr inż. Mateusz Pomianek</a:t>
            </a:r>
          </a:p>
          <a:p>
            <a:r>
              <a:rPr lang="pl-PL" sz="2000" dirty="0"/>
              <a:t>Politechnika Rzeszowska</a:t>
            </a:r>
          </a:p>
          <a:p>
            <a:r>
              <a:rPr lang="pl-PL" sz="1800" dirty="0"/>
              <a:t>2025</a:t>
            </a:r>
            <a:endParaRPr lang="pl-PL" sz="2000" dirty="0"/>
          </a:p>
        </p:txBody>
      </p:sp>
    </p:spTree>
    <p:extLst>
      <p:ext uri="{BB962C8B-B14F-4D97-AF65-F5344CB8AC3E}">
        <p14:creationId xmlns:p14="http://schemas.microsoft.com/office/powerpoint/2010/main" val="3231931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628650" y="365127"/>
            <a:ext cx="7886700" cy="815604"/>
          </a:xfrm>
        </p:spPr>
        <p:txBody>
          <a:bodyPr>
            <a:normAutofit/>
          </a:bodyPr>
          <a:lstStyle/>
          <a:p>
            <a:r>
              <a:rPr lang="pl-PL" sz="4000" dirty="0" smtClean="0"/>
              <a:t>Literatura</a:t>
            </a:r>
            <a:endParaRPr lang="pl-PL" sz="4000" dirty="0"/>
          </a:p>
        </p:txBody>
      </p:sp>
      <p:sp>
        <p:nvSpPr>
          <p:cNvPr id="3" name="Symbol zastępczy zawartości 2"/>
          <p:cNvSpPr>
            <a:spLocks noGrp="1"/>
          </p:cNvSpPr>
          <p:nvPr>
            <p:ph idx="1"/>
          </p:nvPr>
        </p:nvSpPr>
        <p:spPr>
          <a:xfrm>
            <a:off x="372863" y="1296140"/>
            <a:ext cx="8142488" cy="4880823"/>
          </a:xfrm>
        </p:spPr>
        <p:txBody>
          <a:bodyPr>
            <a:noAutofit/>
          </a:bodyPr>
          <a:lstStyle/>
          <a:p>
            <a:pPr marL="360000" indent="-360000">
              <a:lnSpc>
                <a:spcPct val="100000"/>
              </a:lnSpc>
              <a:spcBef>
                <a:spcPts val="0"/>
              </a:spcBef>
              <a:spcAft>
                <a:spcPts val="600"/>
              </a:spcAft>
              <a:buFont typeface="+mj-lt"/>
              <a:buAutoNum type="arabicPeriod"/>
            </a:pPr>
            <a:r>
              <a:rPr lang="pl-PL" sz="1200" dirty="0" err="1"/>
              <a:t>Picton</a:t>
            </a:r>
            <a:r>
              <a:rPr lang="pl-PL" sz="1200" dirty="0"/>
              <a:t>, T. W., </a:t>
            </a:r>
            <a:r>
              <a:rPr lang="pl-PL" sz="1200" dirty="0" err="1"/>
              <a:t>Hillyard</a:t>
            </a:r>
            <a:r>
              <a:rPr lang="pl-PL" sz="1200" dirty="0"/>
              <a:t>, S. A., </a:t>
            </a:r>
            <a:r>
              <a:rPr lang="pl-PL" sz="1200" dirty="0" err="1"/>
              <a:t>Krausz</a:t>
            </a:r>
            <a:r>
              <a:rPr lang="pl-PL" sz="1200" dirty="0"/>
              <a:t>, H. I., &amp; </a:t>
            </a:r>
            <a:r>
              <a:rPr lang="pl-PL" sz="1200" dirty="0" err="1"/>
              <a:t>Galambos</a:t>
            </a:r>
            <a:r>
              <a:rPr lang="pl-PL" sz="1200" dirty="0"/>
              <a:t>, R. (1974). Human </a:t>
            </a:r>
            <a:r>
              <a:rPr lang="pl-PL" sz="1200" dirty="0" err="1"/>
              <a:t>auditory</a:t>
            </a:r>
            <a:r>
              <a:rPr lang="pl-PL" sz="1200" dirty="0"/>
              <a:t> </a:t>
            </a:r>
            <a:r>
              <a:rPr lang="pl-PL" sz="1200" dirty="0" err="1"/>
              <a:t>evoked</a:t>
            </a:r>
            <a:r>
              <a:rPr lang="pl-PL" sz="1200" dirty="0"/>
              <a:t> </a:t>
            </a:r>
            <a:r>
              <a:rPr lang="pl-PL" sz="1200" dirty="0" err="1"/>
              <a:t>potentials</a:t>
            </a:r>
            <a:r>
              <a:rPr lang="pl-PL" sz="1200" dirty="0"/>
              <a:t>. I: Evaluation of </a:t>
            </a:r>
            <a:r>
              <a:rPr lang="pl-PL" sz="1200" dirty="0" err="1"/>
              <a:t>components</a:t>
            </a:r>
            <a:r>
              <a:rPr lang="pl-PL" sz="1200" dirty="0"/>
              <a:t>. </a:t>
            </a:r>
            <a:r>
              <a:rPr lang="pl-PL" sz="1200" i="1" dirty="0" err="1"/>
              <a:t>Electroencephalography</a:t>
            </a:r>
            <a:r>
              <a:rPr lang="pl-PL" sz="1200" i="1" dirty="0"/>
              <a:t> and </a:t>
            </a:r>
            <a:r>
              <a:rPr lang="pl-PL" sz="1200" i="1" dirty="0" err="1"/>
              <a:t>Clinical</a:t>
            </a:r>
            <a:r>
              <a:rPr lang="pl-PL" sz="1200" i="1" dirty="0"/>
              <a:t> </a:t>
            </a:r>
            <a:r>
              <a:rPr lang="pl-PL" sz="1200" i="1" dirty="0" err="1"/>
              <a:t>Neurophysiology</a:t>
            </a:r>
            <a:r>
              <a:rPr lang="pl-PL" sz="1200" dirty="0"/>
              <a:t>, 36(2), 179-190.</a:t>
            </a:r>
          </a:p>
          <a:p>
            <a:pPr marL="360000" indent="-360000">
              <a:lnSpc>
                <a:spcPct val="100000"/>
              </a:lnSpc>
              <a:spcBef>
                <a:spcPts val="0"/>
              </a:spcBef>
              <a:spcAft>
                <a:spcPts val="600"/>
              </a:spcAft>
              <a:buFont typeface="+mj-lt"/>
              <a:buAutoNum type="arabicPeriod"/>
            </a:pPr>
            <a:r>
              <a:rPr lang="pl-PL" sz="1200" dirty="0" err="1" smtClean="0"/>
              <a:t>Nunez</a:t>
            </a:r>
            <a:r>
              <a:rPr lang="pl-PL" sz="1200" dirty="0"/>
              <a:t>, P. L., &amp; </a:t>
            </a:r>
            <a:r>
              <a:rPr lang="pl-PL" sz="1200" dirty="0" err="1"/>
              <a:t>Srinivasan</a:t>
            </a:r>
            <a:r>
              <a:rPr lang="pl-PL" sz="1200" dirty="0"/>
              <a:t>, R. (2006). </a:t>
            </a:r>
            <a:r>
              <a:rPr lang="pl-PL" sz="1200" i="1" dirty="0" err="1"/>
              <a:t>Electric</a:t>
            </a:r>
            <a:r>
              <a:rPr lang="pl-PL" sz="1200" i="1" dirty="0"/>
              <a:t> </a:t>
            </a:r>
            <a:r>
              <a:rPr lang="pl-PL" sz="1200" i="1" dirty="0" err="1"/>
              <a:t>fields</a:t>
            </a:r>
            <a:r>
              <a:rPr lang="pl-PL" sz="1200" i="1" dirty="0"/>
              <a:t> of the </a:t>
            </a:r>
            <a:r>
              <a:rPr lang="pl-PL" sz="1200" i="1" dirty="0" err="1"/>
              <a:t>brain</a:t>
            </a:r>
            <a:r>
              <a:rPr lang="pl-PL" sz="1200" i="1" dirty="0"/>
              <a:t>: The </a:t>
            </a:r>
            <a:r>
              <a:rPr lang="pl-PL" sz="1200" i="1" dirty="0" err="1"/>
              <a:t>neurophysics</a:t>
            </a:r>
            <a:r>
              <a:rPr lang="pl-PL" sz="1200" i="1" dirty="0"/>
              <a:t> of EEG</a:t>
            </a:r>
            <a:r>
              <a:rPr lang="pl-PL" sz="1200" dirty="0"/>
              <a:t>. Oxford University Press.</a:t>
            </a:r>
          </a:p>
          <a:p>
            <a:pPr marL="360000" indent="-360000">
              <a:lnSpc>
                <a:spcPct val="100000"/>
              </a:lnSpc>
              <a:spcBef>
                <a:spcPts val="0"/>
              </a:spcBef>
              <a:spcAft>
                <a:spcPts val="600"/>
              </a:spcAft>
              <a:buFont typeface="+mj-lt"/>
              <a:buAutoNum type="arabicPeriod"/>
            </a:pPr>
            <a:r>
              <a:rPr lang="pl-PL" sz="1200" dirty="0" smtClean="0"/>
              <a:t>Odom</a:t>
            </a:r>
            <a:r>
              <a:rPr lang="pl-PL" sz="1200" dirty="0"/>
              <a:t>, J. V., Bach, M., </a:t>
            </a:r>
            <a:r>
              <a:rPr lang="pl-PL" sz="1200" dirty="0" err="1"/>
              <a:t>Brigell</a:t>
            </a:r>
            <a:r>
              <a:rPr lang="pl-PL" sz="1200" dirty="0"/>
              <a:t>, M., Kaplan, P. W., </a:t>
            </a:r>
            <a:r>
              <a:rPr lang="pl-PL" sz="1200" dirty="0" err="1"/>
              <a:t>McCulloch</a:t>
            </a:r>
            <a:r>
              <a:rPr lang="pl-PL" sz="1200" dirty="0"/>
              <a:t>, S. J., &amp; </a:t>
            </a:r>
            <a:r>
              <a:rPr lang="pl-PL" sz="1200" dirty="0" err="1"/>
              <a:t>Westall</a:t>
            </a:r>
            <a:r>
              <a:rPr lang="pl-PL" sz="1200" dirty="0"/>
              <a:t>, C. (2004). </a:t>
            </a:r>
            <a:r>
              <a:rPr lang="pl-PL" sz="1200" dirty="0" err="1"/>
              <a:t>Pattern</a:t>
            </a:r>
            <a:r>
              <a:rPr lang="pl-PL" sz="1200" dirty="0"/>
              <a:t> </a:t>
            </a:r>
            <a:r>
              <a:rPr lang="pl-PL" sz="1200" dirty="0" err="1"/>
              <a:t>electroretinogram</a:t>
            </a:r>
            <a:r>
              <a:rPr lang="pl-PL" sz="1200" dirty="0"/>
              <a:t> and </a:t>
            </a:r>
            <a:r>
              <a:rPr lang="pl-PL" sz="1200" dirty="0" err="1"/>
              <a:t>visual</a:t>
            </a:r>
            <a:r>
              <a:rPr lang="pl-PL" sz="1200" dirty="0"/>
              <a:t> </a:t>
            </a:r>
            <a:r>
              <a:rPr lang="pl-PL" sz="1200" dirty="0" err="1"/>
              <a:t>evoked</a:t>
            </a:r>
            <a:r>
              <a:rPr lang="pl-PL" sz="1200" dirty="0"/>
              <a:t> </a:t>
            </a:r>
            <a:r>
              <a:rPr lang="pl-PL" sz="1200" dirty="0" err="1"/>
              <a:t>potential</a:t>
            </a:r>
            <a:r>
              <a:rPr lang="pl-PL" sz="1200" dirty="0"/>
              <a:t>. </a:t>
            </a:r>
            <a:r>
              <a:rPr lang="pl-PL" sz="1200" i="1" dirty="0" err="1"/>
              <a:t>Journal</a:t>
            </a:r>
            <a:r>
              <a:rPr lang="pl-PL" sz="1200" i="1" dirty="0"/>
              <a:t> of </a:t>
            </a:r>
            <a:r>
              <a:rPr lang="pl-PL" sz="1200" i="1" dirty="0" err="1"/>
              <a:t>Clinical</a:t>
            </a:r>
            <a:r>
              <a:rPr lang="pl-PL" sz="1200" i="1" dirty="0"/>
              <a:t> </a:t>
            </a:r>
            <a:r>
              <a:rPr lang="pl-PL" sz="1200" i="1" dirty="0" err="1"/>
              <a:t>Neurophysiology</a:t>
            </a:r>
            <a:r>
              <a:rPr lang="pl-PL" sz="1200" dirty="0"/>
              <a:t>, 21(3), 164-183</a:t>
            </a:r>
            <a:r>
              <a:rPr lang="pl-PL" sz="1200" dirty="0" smtClean="0"/>
              <a:t>.</a:t>
            </a:r>
          </a:p>
          <a:p>
            <a:pPr marL="360000" indent="-360000">
              <a:lnSpc>
                <a:spcPct val="100000"/>
              </a:lnSpc>
              <a:spcBef>
                <a:spcPts val="0"/>
              </a:spcBef>
              <a:spcAft>
                <a:spcPts val="600"/>
              </a:spcAft>
              <a:buFont typeface="+mj-lt"/>
              <a:buAutoNum type="arabicPeriod"/>
            </a:pPr>
            <a:r>
              <a:rPr lang="pl-PL" sz="1200" dirty="0" err="1"/>
              <a:t>Golob</a:t>
            </a:r>
            <a:r>
              <a:rPr lang="pl-PL" sz="1200" dirty="0"/>
              <a:t>, E. J., &amp; Starr, A. (2000). Sensory event-</a:t>
            </a:r>
            <a:r>
              <a:rPr lang="pl-PL" sz="1200" dirty="0" err="1"/>
              <a:t>related</a:t>
            </a:r>
            <a:r>
              <a:rPr lang="pl-PL" sz="1200" dirty="0"/>
              <a:t> </a:t>
            </a:r>
            <a:r>
              <a:rPr lang="pl-PL" sz="1200" dirty="0" err="1"/>
              <a:t>potentials</a:t>
            </a:r>
            <a:r>
              <a:rPr lang="pl-PL" sz="1200" dirty="0"/>
              <a:t> in </a:t>
            </a:r>
            <a:r>
              <a:rPr lang="pl-PL" sz="1200" dirty="0" err="1"/>
              <a:t>aging</a:t>
            </a:r>
            <a:r>
              <a:rPr lang="pl-PL" sz="1200" dirty="0"/>
              <a:t>. </a:t>
            </a:r>
            <a:r>
              <a:rPr lang="pl-PL" sz="1200" i="1" dirty="0"/>
              <a:t>Brain </a:t>
            </a:r>
            <a:r>
              <a:rPr lang="pl-PL" sz="1200" i="1" dirty="0" err="1"/>
              <a:t>Research</a:t>
            </a:r>
            <a:r>
              <a:rPr lang="pl-PL" sz="1200" i="1" dirty="0"/>
              <a:t> </a:t>
            </a:r>
            <a:r>
              <a:rPr lang="pl-PL" sz="1200" i="1" dirty="0" err="1"/>
              <a:t>Bulletin</a:t>
            </a:r>
            <a:r>
              <a:rPr lang="pl-PL" sz="1200" dirty="0"/>
              <a:t>, 51(3</a:t>
            </a:r>
            <a:r>
              <a:rPr lang="pl-PL" sz="1200" dirty="0" smtClean="0"/>
              <a:t>).</a:t>
            </a:r>
          </a:p>
          <a:p>
            <a:pPr marL="360000" indent="-360000">
              <a:lnSpc>
                <a:spcPct val="100000"/>
              </a:lnSpc>
              <a:spcBef>
                <a:spcPts val="0"/>
              </a:spcBef>
              <a:spcAft>
                <a:spcPts val="600"/>
              </a:spcAft>
              <a:buFont typeface="+mj-lt"/>
              <a:buAutoNum type="arabicPeriod"/>
            </a:pPr>
            <a:r>
              <a:rPr lang="pl-PL" sz="1200" dirty="0" err="1" smtClean="0"/>
              <a:t>Polich</a:t>
            </a:r>
            <a:r>
              <a:rPr lang="pl-PL" sz="1200" dirty="0"/>
              <a:t>, J., &amp; Kok, A. (1995). </a:t>
            </a:r>
            <a:r>
              <a:rPr lang="pl-PL" sz="1200" dirty="0" err="1"/>
              <a:t>Cognitive</a:t>
            </a:r>
            <a:r>
              <a:rPr lang="pl-PL" sz="1200" dirty="0"/>
              <a:t> </a:t>
            </a:r>
            <a:r>
              <a:rPr lang="pl-PL" sz="1200" dirty="0" err="1"/>
              <a:t>psychophysiology</a:t>
            </a:r>
            <a:r>
              <a:rPr lang="pl-PL" sz="1200" dirty="0"/>
              <a:t> of the P300: </a:t>
            </a:r>
            <a:r>
              <a:rPr lang="pl-PL" sz="1200" dirty="0" err="1"/>
              <a:t>An</a:t>
            </a:r>
            <a:r>
              <a:rPr lang="pl-PL" sz="1200" dirty="0"/>
              <a:t> </a:t>
            </a:r>
            <a:r>
              <a:rPr lang="pl-PL" sz="1200" dirty="0" err="1"/>
              <a:t>integrative</a:t>
            </a:r>
            <a:r>
              <a:rPr lang="pl-PL" sz="1200" dirty="0"/>
              <a:t> </a:t>
            </a:r>
            <a:r>
              <a:rPr lang="pl-PL" sz="1200" dirty="0" err="1"/>
              <a:t>review</a:t>
            </a:r>
            <a:r>
              <a:rPr lang="pl-PL" sz="1200" dirty="0"/>
              <a:t> of the </a:t>
            </a:r>
            <a:r>
              <a:rPr lang="pl-PL" sz="1200" dirty="0" err="1"/>
              <a:t>literature</a:t>
            </a:r>
            <a:r>
              <a:rPr lang="pl-PL" sz="1200" dirty="0"/>
              <a:t>. </a:t>
            </a:r>
            <a:r>
              <a:rPr lang="pl-PL" sz="1200" i="1" dirty="0" err="1"/>
              <a:t>Biological</a:t>
            </a:r>
            <a:r>
              <a:rPr lang="pl-PL" sz="1200" i="1" dirty="0"/>
              <a:t> </a:t>
            </a:r>
            <a:r>
              <a:rPr lang="pl-PL" sz="1200" i="1" dirty="0" err="1"/>
              <a:t>Psychology</a:t>
            </a:r>
            <a:r>
              <a:rPr lang="pl-PL" sz="1200" dirty="0"/>
              <a:t>, 41(2), 103-140</a:t>
            </a:r>
            <a:r>
              <a:rPr lang="pl-PL" sz="1200" dirty="0" smtClean="0"/>
              <a:t>.</a:t>
            </a:r>
            <a:endParaRPr lang="pl-PL" sz="1200" dirty="0"/>
          </a:p>
          <a:p>
            <a:pPr marL="360000" indent="-360000">
              <a:lnSpc>
                <a:spcPct val="100000"/>
              </a:lnSpc>
              <a:spcBef>
                <a:spcPts val="0"/>
              </a:spcBef>
              <a:spcAft>
                <a:spcPts val="600"/>
              </a:spcAft>
              <a:buFont typeface="+mj-lt"/>
              <a:buAutoNum type="arabicPeriod"/>
            </a:pPr>
            <a:r>
              <a:rPr lang="pl-PL" sz="1200" dirty="0" err="1" smtClean="0"/>
              <a:t>Folstein</a:t>
            </a:r>
            <a:r>
              <a:rPr lang="pl-PL" sz="1200" dirty="0"/>
              <a:t>, J. R., &amp; Van </a:t>
            </a:r>
            <a:r>
              <a:rPr lang="pl-PL" sz="1200" dirty="0" err="1"/>
              <a:t>Petten</a:t>
            </a:r>
            <a:r>
              <a:rPr lang="pl-PL" sz="1200" dirty="0"/>
              <a:t>, C. (2008). Influence of </a:t>
            </a:r>
            <a:r>
              <a:rPr lang="pl-PL" sz="1200" dirty="0" err="1"/>
              <a:t>cognitive</a:t>
            </a:r>
            <a:r>
              <a:rPr lang="pl-PL" sz="1200" dirty="0"/>
              <a:t> </a:t>
            </a:r>
            <a:r>
              <a:rPr lang="pl-PL" sz="1200" dirty="0" err="1"/>
              <a:t>control</a:t>
            </a:r>
            <a:r>
              <a:rPr lang="pl-PL" sz="1200" dirty="0"/>
              <a:t> on the N2 component of the event-</a:t>
            </a:r>
            <a:r>
              <a:rPr lang="pl-PL" sz="1200" dirty="0" err="1"/>
              <a:t>related</a:t>
            </a:r>
            <a:r>
              <a:rPr lang="pl-PL" sz="1200" dirty="0"/>
              <a:t> </a:t>
            </a:r>
            <a:r>
              <a:rPr lang="pl-PL" sz="1200" dirty="0" err="1"/>
              <a:t>potential</a:t>
            </a:r>
            <a:r>
              <a:rPr lang="pl-PL" sz="1200" dirty="0"/>
              <a:t>. </a:t>
            </a:r>
            <a:r>
              <a:rPr lang="pl-PL" sz="1200" i="1" dirty="0" err="1"/>
              <a:t>Psychophysiology</a:t>
            </a:r>
            <a:r>
              <a:rPr lang="pl-PL" sz="1200" dirty="0"/>
              <a:t>, 45(5</a:t>
            </a:r>
            <a:r>
              <a:rPr lang="pl-PL" sz="1200" dirty="0" smtClean="0"/>
              <a:t>).</a:t>
            </a:r>
          </a:p>
          <a:p>
            <a:pPr marL="360000" indent="-360000">
              <a:lnSpc>
                <a:spcPct val="100000"/>
              </a:lnSpc>
              <a:spcBef>
                <a:spcPts val="0"/>
              </a:spcBef>
              <a:spcAft>
                <a:spcPts val="600"/>
              </a:spcAft>
              <a:buFont typeface="+mj-lt"/>
              <a:buAutoNum type="arabicPeriod"/>
            </a:pPr>
            <a:r>
              <a:rPr lang="pl-PL" sz="1200" dirty="0" err="1"/>
              <a:t>Pritchard</a:t>
            </a:r>
            <a:r>
              <a:rPr lang="pl-PL" sz="1200" dirty="0"/>
              <a:t>, W. S., Brandt, M. E., &amp; </a:t>
            </a:r>
            <a:r>
              <a:rPr lang="pl-PL" sz="1200" dirty="0" err="1"/>
              <a:t>Tucker</a:t>
            </a:r>
            <a:r>
              <a:rPr lang="pl-PL" sz="1200" dirty="0"/>
              <a:t>, D. M. (1991). The P300 component of the event-</a:t>
            </a:r>
            <a:r>
              <a:rPr lang="pl-PL" sz="1200" dirty="0" err="1"/>
              <a:t>related</a:t>
            </a:r>
            <a:r>
              <a:rPr lang="pl-PL" sz="1200" dirty="0"/>
              <a:t> </a:t>
            </a:r>
            <a:r>
              <a:rPr lang="pl-PL" sz="1200" dirty="0" err="1"/>
              <a:t>potential</a:t>
            </a:r>
            <a:r>
              <a:rPr lang="pl-PL" sz="1200" dirty="0"/>
              <a:t>: A </a:t>
            </a:r>
            <a:r>
              <a:rPr lang="pl-PL" sz="1200" dirty="0" err="1"/>
              <a:t>theoretical</a:t>
            </a:r>
            <a:r>
              <a:rPr lang="pl-PL" sz="1200" dirty="0"/>
              <a:t> </a:t>
            </a:r>
            <a:r>
              <a:rPr lang="pl-PL" sz="1200" dirty="0" err="1"/>
              <a:t>overview</a:t>
            </a:r>
            <a:r>
              <a:rPr lang="pl-PL" sz="1200" dirty="0"/>
              <a:t>. </a:t>
            </a:r>
            <a:r>
              <a:rPr lang="pl-PL" sz="1200" i="1" dirty="0" err="1"/>
              <a:t>Psychophysiology</a:t>
            </a:r>
            <a:r>
              <a:rPr lang="pl-PL" sz="1200" dirty="0"/>
              <a:t>, 28(4</a:t>
            </a:r>
            <a:r>
              <a:rPr lang="pl-PL" sz="1200" dirty="0" smtClean="0"/>
              <a:t>).</a:t>
            </a:r>
            <a:endParaRPr lang="pl-PL" sz="1200" dirty="0"/>
          </a:p>
          <a:p>
            <a:pPr marL="360000" indent="-360000">
              <a:lnSpc>
                <a:spcPct val="100000"/>
              </a:lnSpc>
              <a:spcBef>
                <a:spcPts val="0"/>
              </a:spcBef>
              <a:spcAft>
                <a:spcPts val="600"/>
              </a:spcAft>
              <a:buFont typeface="+mj-lt"/>
              <a:buAutoNum type="arabicPeriod"/>
            </a:pPr>
            <a:r>
              <a:rPr lang="pl-PL" sz="1200" dirty="0" err="1"/>
              <a:t>Bramon</a:t>
            </a:r>
            <a:r>
              <a:rPr lang="pl-PL" sz="1200" dirty="0"/>
              <a:t>, E., &amp; </a:t>
            </a:r>
            <a:r>
              <a:rPr lang="pl-PL" sz="1200" dirty="0" err="1"/>
              <a:t>Rabe-Hesketh</a:t>
            </a:r>
            <a:r>
              <a:rPr lang="pl-PL" sz="1200" dirty="0"/>
              <a:t>, S. (2007). The P300 event-</a:t>
            </a:r>
            <a:r>
              <a:rPr lang="pl-PL" sz="1200" dirty="0" err="1"/>
              <a:t>related</a:t>
            </a:r>
            <a:r>
              <a:rPr lang="pl-PL" sz="1200" dirty="0"/>
              <a:t> </a:t>
            </a:r>
            <a:r>
              <a:rPr lang="pl-PL" sz="1200" dirty="0" err="1"/>
              <a:t>potential</a:t>
            </a:r>
            <a:r>
              <a:rPr lang="pl-PL" sz="1200" dirty="0"/>
              <a:t> in </a:t>
            </a:r>
            <a:r>
              <a:rPr lang="pl-PL" sz="1200" dirty="0" err="1"/>
              <a:t>psychosis</a:t>
            </a:r>
            <a:r>
              <a:rPr lang="pl-PL" sz="1200" dirty="0"/>
              <a:t>: a meta-</a:t>
            </a:r>
            <a:r>
              <a:rPr lang="pl-PL" sz="1200" dirty="0" err="1"/>
              <a:t>analysis</a:t>
            </a:r>
            <a:r>
              <a:rPr lang="pl-PL" sz="1200" dirty="0"/>
              <a:t>. </a:t>
            </a:r>
            <a:r>
              <a:rPr lang="pl-PL" sz="1200" i="1" dirty="0" err="1"/>
              <a:t>Schizophrenia</a:t>
            </a:r>
            <a:r>
              <a:rPr lang="pl-PL" sz="1200" i="1" dirty="0"/>
              <a:t> </a:t>
            </a:r>
            <a:r>
              <a:rPr lang="pl-PL" sz="1200" i="1" dirty="0" err="1"/>
              <a:t>Research</a:t>
            </a:r>
            <a:r>
              <a:rPr lang="pl-PL" sz="1200" dirty="0"/>
              <a:t>, 94(1-3</a:t>
            </a:r>
            <a:r>
              <a:rPr lang="pl-PL" sz="1200" dirty="0" smtClean="0"/>
              <a:t>).</a:t>
            </a:r>
            <a:endParaRPr lang="pl-PL" sz="1200" dirty="0"/>
          </a:p>
          <a:p>
            <a:pPr marL="360000" indent="-360000">
              <a:lnSpc>
                <a:spcPct val="100000"/>
              </a:lnSpc>
              <a:spcBef>
                <a:spcPts val="0"/>
              </a:spcBef>
              <a:spcAft>
                <a:spcPts val="600"/>
              </a:spcAft>
              <a:buFont typeface="+mj-lt"/>
              <a:buAutoNum type="arabicPeriod"/>
            </a:pPr>
            <a:r>
              <a:rPr lang="pl-PL" sz="1200" dirty="0" smtClean="0"/>
              <a:t>Johnson</a:t>
            </a:r>
            <a:r>
              <a:rPr lang="pl-PL" sz="1200" dirty="0"/>
              <a:t>, R. (1986). A </a:t>
            </a:r>
            <a:r>
              <a:rPr lang="pl-PL" sz="1200" dirty="0" err="1"/>
              <a:t>triarchic</a:t>
            </a:r>
            <a:r>
              <a:rPr lang="pl-PL" sz="1200" dirty="0"/>
              <a:t> model of P300 </a:t>
            </a:r>
            <a:r>
              <a:rPr lang="pl-PL" sz="1200" dirty="0" err="1"/>
              <a:t>amplitude</a:t>
            </a:r>
            <a:r>
              <a:rPr lang="pl-PL" sz="1200" dirty="0"/>
              <a:t>. </a:t>
            </a:r>
            <a:r>
              <a:rPr lang="pl-PL" sz="1200" i="1" dirty="0" err="1"/>
              <a:t>Psychophysiology</a:t>
            </a:r>
            <a:r>
              <a:rPr lang="pl-PL" sz="1200" dirty="0"/>
              <a:t>, 23(3), 367-384.</a:t>
            </a:r>
          </a:p>
          <a:p>
            <a:pPr marL="360000" indent="-360000">
              <a:lnSpc>
                <a:spcPct val="100000"/>
              </a:lnSpc>
              <a:spcBef>
                <a:spcPts val="0"/>
              </a:spcBef>
              <a:spcAft>
                <a:spcPts val="600"/>
              </a:spcAft>
              <a:buFont typeface="+mj-lt"/>
              <a:buAutoNum type="arabicPeriod"/>
            </a:pPr>
            <a:r>
              <a:rPr lang="pl-PL" sz="1200" dirty="0" err="1" smtClean="0"/>
              <a:t>Hillyard</a:t>
            </a:r>
            <a:r>
              <a:rPr lang="pl-PL" sz="1200" dirty="0"/>
              <a:t>, S. A., &amp; </a:t>
            </a:r>
            <a:r>
              <a:rPr lang="pl-PL" sz="1200" dirty="0" err="1"/>
              <a:t>Picton</a:t>
            </a:r>
            <a:r>
              <a:rPr lang="pl-PL" sz="1200" dirty="0"/>
              <a:t>, T. W. (1987). </a:t>
            </a:r>
            <a:r>
              <a:rPr lang="pl-PL" sz="1200" dirty="0" err="1"/>
              <a:t>Electrophysiology</a:t>
            </a:r>
            <a:r>
              <a:rPr lang="pl-PL" sz="1200" dirty="0"/>
              <a:t> of </a:t>
            </a:r>
            <a:r>
              <a:rPr lang="pl-PL" sz="1200" dirty="0" err="1"/>
              <a:t>attention</a:t>
            </a:r>
            <a:r>
              <a:rPr lang="pl-PL" sz="1200" dirty="0"/>
              <a:t>. In F. Plum (Ed.), </a:t>
            </a:r>
            <a:r>
              <a:rPr lang="pl-PL" sz="1200" i="1" dirty="0" err="1"/>
              <a:t>Handbook</a:t>
            </a:r>
            <a:r>
              <a:rPr lang="pl-PL" sz="1200" i="1" dirty="0"/>
              <a:t> of </a:t>
            </a:r>
            <a:r>
              <a:rPr lang="pl-PL" sz="1200" i="1" dirty="0" err="1"/>
              <a:t>Physiology</a:t>
            </a:r>
            <a:r>
              <a:rPr lang="pl-PL" sz="1200" i="1" dirty="0"/>
              <a:t>, </a:t>
            </a:r>
            <a:r>
              <a:rPr lang="pl-PL" sz="1200" i="1" dirty="0" err="1"/>
              <a:t>Section</a:t>
            </a:r>
            <a:r>
              <a:rPr lang="pl-PL" sz="1200" i="1" dirty="0"/>
              <a:t> 1: The </a:t>
            </a:r>
            <a:r>
              <a:rPr lang="pl-PL" sz="1200" i="1" dirty="0" err="1"/>
              <a:t>Nervous</a:t>
            </a:r>
            <a:r>
              <a:rPr lang="pl-PL" sz="1200" i="1" dirty="0"/>
              <a:t> System, Vol. V, </a:t>
            </a:r>
            <a:r>
              <a:rPr lang="pl-PL" sz="1200" i="1" dirty="0" err="1"/>
              <a:t>Higher</a:t>
            </a:r>
            <a:r>
              <a:rPr lang="pl-PL" sz="1200" i="1" dirty="0"/>
              <a:t> </a:t>
            </a:r>
            <a:r>
              <a:rPr lang="pl-PL" sz="1200" i="1" dirty="0" err="1"/>
              <a:t>Functions</a:t>
            </a:r>
            <a:r>
              <a:rPr lang="pl-PL" sz="1200" i="1" dirty="0"/>
              <a:t> of the Brain</a:t>
            </a:r>
            <a:r>
              <a:rPr lang="pl-PL" sz="1200" dirty="0"/>
              <a:t> (pp. 209-242). American </a:t>
            </a:r>
            <a:r>
              <a:rPr lang="pl-PL" sz="1200" dirty="0" err="1"/>
              <a:t>Physiological</a:t>
            </a:r>
            <a:r>
              <a:rPr lang="pl-PL" sz="1200" dirty="0"/>
              <a:t> </a:t>
            </a:r>
            <a:r>
              <a:rPr lang="pl-PL" sz="1200" dirty="0" err="1"/>
              <a:t>Society</a:t>
            </a:r>
            <a:r>
              <a:rPr lang="pl-PL" sz="1200" dirty="0" smtClean="0"/>
              <a:t>.</a:t>
            </a:r>
            <a:endParaRPr lang="pl-PL" sz="1200" dirty="0"/>
          </a:p>
        </p:txBody>
      </p:sp>
    </p:spTree>
    <p:extLst>
      <p:ext uri="{BB962C8B-B14F-4D97-AF65-F5344CB8AC3E}">
        <p14:creationId xmlns:p14="http://schemas.microsoft.com/office/powerpoint/2010/main" val="296651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Potencjały Wywołane (ERP): definicja i mechanizm</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Potencjały wywołane (EP, ERP) to elektryczne zmiany rejestrowane na powierzchni głowy, będące odpowiedzią mózgu na określony bodziec, taki jak wzrokowy, słuchowy czy czuciowy. </a:t>
            </a:r>
          </a:p>
          <a:p>
            <a:pPr marL="0" indent="0">
              <a:buNone/>
            </a:pPr>
            <a:r>
              <a:rPr lang="pl-PL" sz="2400" dirty="0"/>
              <a:t>Rejestracja ERP polega na uśrednianiu wielu odpowiedzi mózgu na powtarzające się bodźce, co pozwala na wyizolowanie słabych sygnałów z szumu spontanicznej aktywności elektrycznej mózgu. </a:t>
            </a:r>
          </a:p>
          <a:p>
            <a:pPr marL="0" indent="0">
              <a:buNone/>
            </a:pPr>
            <a:r>
              <a:rPr lang="pl-PL" sz="2400" dirty="0"/>
              <a:t>Ta metoda umożliwia nieinwazyjne obrazowanie funkcji mózgu i badanie szczegółowych procesów poznawczych [1, 2].</a:t>
            </a:r>
          </a:p>
        </p:txBody>
      </p:sp>
    </p:spTree>
    <p:extLst>
      <p:ext uri="{BB962C8B-B14F-4D97-AF65-F5344CB8AC3E}">
        <p14:creationId xmlns:p14="http://schemas.microsoft.com/office/powerpoint/2010/main" val="2215745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Historia badań nad ERP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Po odkryciu elektroencefalografii (EEG) w 1929 roku przez Hansa Bergera, możliwość pomiaru aktywności elektrycznej mózgu otworzyła nowe perspektywy. Pierwsze rejestracje potencjałów wywołanych u świadomych ludzi miały miejsce </a:t>
            </a:r>
            <a:r>
              <a:rPr lang="pl-PL" sz="2400" dirty="0" smtClean="0"/>
              <a:t/>
            </a:r>
            <a:br>
              <a:rPr lang="pl-PL" sz="2400" dirty="0" smtClean="0"/>
            </a:br>
            <a:r>
              <a:rPr lang="pl-PL" sz="2400" dirty="0" smtClean="0"/>
              <a:t>w </a:t>
            </a:r>
            <a:r>
              <a:rPr lang="pl-PL" sz="2400" dirty="0"/>
              <a:t>latach 1935–1936 za sprawą </a:t>
            </a:r>
            <a:r>
              <a:rPr lang="pl-PL" sz="2400" dirty="0" err="1"/>
              <a:t>Pauline</a:t>
            </a:r>
            <a:r>
              <a:rPr lang="pl-PL" sz="2400" dirty="0"/>
              <a:t> i </a:t>
            </a:r>
            <a:r>
              <a:rPr lang="pl-PL" sz="2400" dirty="0" err="1"/>
              <a:t>Hallowella</a:t>
            </a:r>
            <a:r>
              <a:rPr lang="pl-PL" sz="2400" dirty="0"/>
              <a:t> Davis. </a:t>
            </a:r>
          </a:p>
          <a:p>
            <a:pPr marL="0" indent="0">
              <a:buNone/>
            </a:pPr>
            <a:r>
              <a:rPr lang="pl-PL" sz="2400" dirty="0"/>
              <a:t>Przełom nastąpił w 1964 roku, gdy Grey Walter i współpracownicy odkryli </a:t>
            </a:r>
            <a:r>
              <a:rPr lang="pl-PL" sz="2400" i="1" dirty="0" err="1"/>
              <a:t>contingent</a:t>
            </a:r>
            <a:r>
              <a:rPr lang="pl-PL" sz="2400" i="1" dirty="0"/>
              <a:t> </a:t>
            </a:r>
            <a:r>
              <a:rPr lang="pl-PL" sz="2400" i="1" dirty="0" err="1"/>
              <a:t>negative</a:t>
            </a:r>
            <a:r>
              <a:rPr lang="pl-PL" sz="2400" i="1" dirty="0"/>
              <a:t> </a:t>
            </a:r>
            <a:r>
              <a:rPr lang="pl-PL" sz="2400" i="1" dirty="0" err="1"/>
              <a:t>variation</a:t>
            </a:r>
            <a:r>
              <a:rPr lang="pl-PL" sz="2400" dirty="0"/>
              <a:t> (CNV), co zapoczątkowało nową erę badań komponentów ERP. </a:t>
            </a:r>
          </a:p>
          <a:p>
            <a:pPr marL="0" indent="0">
              <a:buNone/>
            </a:pPr>
            <a:r>
              <a:rPr lang="pl-PL" sz="2400" dirty="0"/>
              <a:t>Rozwój niedrogich komputerów w latach 80. znacząco przyczynił się do popularyzacji ERP w psychologii </a:t>
            </a:r>
            <a:r>
              <a:rPr lang="pl-PL" sz="2400" dirty="0" smtClean="0"/>
              <a:t/>
            </a:r>
            <a:br>
              <a:rPr lang="pl-PL" sz="2400" dirty="0" smtClean="0"/>
            </a:br>
            <a:r>
              <a:rPr lang="pl-PL" sz="2400" dirty="0" smtClean="0"/>
              <a:t>i </a:t>
            </a:r>
            <a:r>
              <a:rPr lang="pl-PL" sz="2400" dirty="0"/>
              <a:t>neurobiologii poznawczej, czyniąc je jedną z najczęściej stosowanych metod eksperymentalnych [2].</a:t>
            </a:r>
          </a:p>
          <a:p>
            <a:pPr marL="0" indent="0">
              <a:buNone/>
            </a:pPr>
            <a:endParaRPr lang="pl-PL" sz="2400" dirty="0"/>
          </a:p>
        </p:txBody>
      </p:sp>
    </p:spTree>
    <p:extLst>
      <p:ext uri="{BB962C8B-B14F-4D97-AF65-F5344CB8AC3E}">
        <p14:creationId xmlns:p14="http://schemas.microsoft.com/office/powerpoint/2010/main" val="196116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Autofit/>
          </a:bodyPr>
          <a:lstStyle/>
          <a:p>
            <a:r>
              <a:rPr lang="pl-PL" sz="4000" b="1" dirty="0"/>
              <a:t>Elektroencefalografia (EEG) i Magnetoencefalografia (MEG) w rejestracji ERP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Do pomiaru potencjałów wywołanych najczęściej wykorzystuje się elektroencefalografię (EEG). Metoda ta pozwala na rejestrację zmian napięcia na skórze głowy. </a:t>
            </a:r>
          </a:p>
          <a:p>
            <a:pPr marL="0" indent="0">
              <a:buNone/>
            </a:pPr>
            <a:r>
              <a:rPr lang="pl-PL" sz="2400" dirty="0"/>
              <a:t>Odpowiednikiem potencjałów wywołanych w magnetoencefalografii (MEG) jest </a:t>
            </a:r>
            <a:r>
              <a:rPr lang="pl-PL" sz="2400" i="1" dirty="0"/>
              <a:t>event-</a:t>
            </a:r>
            <a:r>
              <a:rPr lang="pl-PL" sz="2400" i="1" dirty="0" err="1"/>
              <a:t>related</a:t>
            </a:r>
            <a:r>
              <a:rPr lang="pl-PL" sz="2400" i="1" dirty="0"/>
              <a:t> field</a:t>
            </a:r>
            <a:r>
              <a:rPr lang="pl-PL" sz="2400" dirty="0"/>
              <a:t> (ERF), która mierzy pola magnetyczne generowane przez aktywność neuronalną. </a:t>
            </a:r>
          </a:p>
          <a:p>
            <a:pPr marL="0" indent="0">
              <a:buNone/>
            </a:pPr>
            <a:r>
              <a:rPr lang="pl-PL" sz="2400" dirty="0"/>
              <a:t>Zarówno EEG, jak i MEG są nieinwazyjnymi technikami, które oferują wysoką rozdzielczość czasową, co jest kluczowe dla badania szybkich procesów poznawczych [2].</a:t>
            </a:r>
          </a:p>
        </p:txBody>
      </p:sp>
    </p:spTree>
    <p:extLst>
      <p:ext uri="{BB962C8B-B14F-4D97-AF65-F5344CB8AC3E}">
        <p14:creationId xmlns:p14="http://schemas.microsoft.com/office/powerpoint/2010/main" val="2597434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Zastosowania kliniczne i badawcze ERP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Analiza ERP ma duże znaczenie w diagnostyce klinicznej, m.in. w stwardnieniu rozsianym i retinopatiach [2].</a:t>
            </a:r>
          </a:p>
          <a:p>
            <a:pPr marL="0" indent="0">
              <a:buNone/>
            </a:pPr>
            <a:r>
              <a:rPr lang="pl-PL" sz="2400" dirty="0"/>
              <a:t>Jest również szeroko stosowana w neurobiologii poznawczej do badania fizjologicznych korelatów przetwarzania informacji zmysłowych i poznawczych. </a:t>
            </a:r>
          </a:p>
          <a:p>
            <a:pPr marL="0" indent="0">
              <a:buNone/>
            </a:pPr>
            <a:r>
              <a:rPr lang="pl-PL" sz="2400" dirty="0"/>
              <a:t>Interfejs mózg-komputer (BCI) również wykorzystuje ERP (np. komponent P300) do umożliwienia komunikacji pacjentom z zespołem zamknięcia, co podkreśla praktyczne zastosowanie tej technologii [2].</a:t>
            </a:r>
          </a:p>
        </p:txBody>
      </p:sp>
    </p:spTree>
    <p:extLst>
      <p:ext uri="{BB962C8B-B14F-4D97-AF65-F5344CB8AC3E}">
        <p14:creationId xmlns:p14="http://schemas.microsoft.com/office/powerpoint/2010/main" val="1973291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Wzrokowe potencjały wywołane (VEP)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Wzrokowe potencjały wywołane (VEP) to potencjały rejestrowane z powierzchni głowy w odpowiedzi na stymulację wzrokową, np. błysk światła lub zmieniającą się czarno-białą szachownicę. Są one kluczowe w diagnostyce wzroku, ponieważ rejestrują sygnały przechodzące z siatkówki do mózgu drogą wzrokową. Z uwagi na niską amplitudę VEP, konieczne jest uśrednianie wielu odpowiedzi, aby wygasić szum tła. Najlepiej widoczny jest załamek P100, pojawiający się około 100 ms po bodźcu, dominujący w okolicy potylicznej [3].</a:t>
            </a:r>
          </a:p>
        </p:txBody>
      </p:sp>
    </p:spTree>
    <p:extLst>
      <p:ext uri="{BB962C8B-B14F-4D97-AF65-F5344CB8AC3E}">
        <p14:creationId xmlns:p14="http://schemas.microsoft.com/office/powerpoint/2010/main" val="1194640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Komponenty ERP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Komponent ERP to pojedyncza fala składowa bardziej złożonego przebiegu ERP, definiowana przez polaryzację (dodatnią lub ujemną), czas wystąpienia, rozkład na skórze głowy i wrażliwość na manipulacje zadaniami. Różne nomenklatury komponentów ERP podkreślają te cechy. </a:t>
            </a:r>
          </a:p>
          <a:p>
            <a:pPr marL="0" indent="0">
              <a:buNone/>
            </a:pPr>
            <a:r>
              <a:rPr lang="pl-PL" sz="2400" dirty="0"/>
              <a:t>Zsynchronizowane ze bodźcem szczyty i doliny fali ERP umożliwiają wizualizację przetwarzania poznawczego w czasie [4].</a:t>
            </a:r>
          </a:p>
        </p:txBody>
      </p:sp>
    </p:spTree>
    <p:extLst>
      <p:ext uri="{BB962C8B-B14F-4D97-AF65-F5344CB8AC3E}">
        <p14:creationId xmlns:p14="http://schemas.microsoft.com/office/powerpoint/2010/main" val="301221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Fala P300: poznawczy potencjał i procesy decyzyjne</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Fala P300 to poznawczy potencjał wywołany, który odzwierciedla procesy decyzyjne w korze mózgowej. Pojawia się w odpowiedzi na rzadkie bodźce (</a:t>
            </a:r>
            <a:r>
              <a:rPr lang="pl-PL" sz="2400" dirty="0" err="1"/>
              <a:t>oddball</a:t>
            </a:r>
            <a:r>
              <a:rPr lang="pl-PL" sz="2400" dirty="0"/>
              <a:t> </a:t>
            </a:r>
            <a:r>
              <a:rPr lang="pl-PL" sz="2400" dirty="0" err="1"/>
              <a:t>paradigm</a:t>
            </a:r>
            <a:r>
              <a:rPr lang="pl-PL" sz="2400" dirty="0"/>
              <a:t>), gdy badany angażuje procesy poznawcze, np. poprzez zliczanie lub naciskanie przycisku. </a:t>
            </a:r>
          </a:p>
          <a:p>
            <a:pPr marL="0" indent="0">
              <a:buNone/>
            </a:pPr>
            <a:r>
              <a:rPr lang="pl-PL" sz="2400" dirty="0"/>
              <a:t>P300 jest zazwyczaj dodatnim załamkiem o latencji 250-500 ms, z najwyższą amplitudą w okolicach ciemieniowych, i służy jako wskaźnik funkcji poznawczych [4].</a:t>
            </a:r>
          </a:p>
          <a:p>
            <a:pPr marL="0" indent="0">
              <a:buNone/>
            </a:pPr>
            <a:r>
              <a:rPr lang="pl-PL" sz="2400" dirty="0"/>
              <a:t>Obniżenie sprawności procesów poznawczych (np. w demencji) manifestuje się zmianami morfologii, amplitudy i latencji fali P300. </a:t>
            </a:r>
          </a:p>
        </p:txBody>
      </p:sp>
    </p:spTree>
    <p:extLst>
      <p:ext uri="{BB962C8B-B14F-4D97-AF65-F5344CB8AC3E}">
        <p14:creationId xmlns:p14="http://schemas.microsoft.com/office/powerpoint/2010/main" val="4157001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3600" b="1" dirty="0"/>
              <a:t>P300 w diagnostyce patologii mózgu</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smtClean="0"/>
              <a:t>P300 znalazło szerokie zastosowanie w badaniach klinicznych. </a:t>
            </a:r>
          </a:p>
          <a:p>
            <a:pPr marL="0" indent="0">
              <a:buNone/>
            </a:pPr>
            <a:r>
              <a:rPr lang="pl-PL" dirty="0" smtClean="0"/>
              <a:t>W schizofrenii obserwowano nieprawidłowości ERP, które mogą odzwierciedlać wady wiązania mnemonicznego. </a:t>
            </a:r>
          </a:p>
          <a:p>
            <a:pPr marL="0" indent="0">
              <a:buNone/>
            </a:pPr>
            <a:r>
              <a:rPr lang="pl-PL" dirty="0" smtClean="0"/>
              <a:t>W zaburzeniach hormonalnych/metabolicznych, perfuzja mózgu i poziom glukozy wpływają na parametry P300. </a:t>
            </a:r>
          </a:p>
          <a:p>
            <a:pPr marL="0" indent="0">
              <a:buNone/>
            </a:pPr>
            <a:r>
              <a:rPr lang="pl-PL" dirty="0" smtClean="0"/>
              <a:t>W uzależnieniach, amplitudy P3b są osłabione, co sugeruje leżące u podstaw problemy z niehamowaniem OUN. </a:t>
            </a:r>
          </a:p>
          <a:p>
            <a:pPr marL="0" indent="0">
              <a:buNone/>
            </a:pPr>
            <a:r>
              <a:rPr lang="pl-PL" dirty="0" smtClean="0"/>
              <a:t>W chorobach OUN, takich jak choroba Parkinsona i choroba Alzheimera, obserwuje się zmiany w amplitudzie i opóźnieniu P300, co czyni go użytecznym markerem diagnostycznym i prognostycznym [18, 19].</a:t>
            </a:r>
            <a:endParaRPr lang="pl-PL" dirty="0"/>
          </a:p>
        </p:txBody>
      </p:sp>
    </p:spTree>
    <p:extLst>
      <p:ext uri="{BB962C8B-B14F-4D97-AF65-F5344CB8AC3E}">
        <p14:creationId xmlns:p14="http://schemas.microsoft.com/office/powerpoint/2010/main" val="2653895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Interakcje środowiskowe i P300</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Amplituda P300 może odzwierciedlać procesy filtrujące i konstruktywne. Badania na osobach sugestywnych w stanach hipnotycznych wykazały, że halucynacje negatywne wiązały się z większymi amplitudami P300, podczas gdy halucynacje pozytywne z niższymi. </a:t>
            </a:r>
          </a:p>
          <a:p>
            <a:pPr marL="0" indent="0">
              <a:buNone/>
            </a:pPr>
            <a:r>
              <a:rPr lang="pl-PL" sz="2400" dirty="0"/>
              <a:t>Dodatkowo, aktywność P300 jest modulowana przez wewnętrzny stan fizjologiczny, np. rytmy dobowe, poziom zmęczenia, aktywność fizyczną oraz sezonowe nasłonecznienie, co sugeruje psychobiologiczną lub społeczną zmianę strategii poznawczych [17].</a:t>
            </a:r>
          </a:p>
        </p:txBody>
      </p:sp>
    </p:spTree>
    <p:extLst>
      <p:ext uri="{BB962C8B-B14F-4D97-AF65-F5344CB8AC3E}">
        <p14:creationId xmlns:p14="http://schemas.microsoft.com/office/powerpoint/2010/main" val="3945177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b="1" dirty="0" smtClean="0"/>
              <a:t>N200: negatywność w przetwarzaniu sensorycznym i poznawczym</a:t>
            </a:r>
            <a:endParaRPr lang="pl-PL" dirty="0"/>
          </a:p>
        </p:txBody>
      </p:sp>
      <p:sp>
        <p:nvSpPr>
          <p:cNvPr id="3" name="Symbol zastępczy zawartości 2"/>
          <p:cNvSpPr>
            <a:spLocks noGrp="1"/>
          </p:cNvSpPr>
          <p:nvPr>
            <p:ph idx="1"/>
          </p:nvPr>
        </p:nvSpPr>
        <p:spPr/>
        <p:txBody>
          <a:bodyPr>
            <a:normAutofit/>
          </a:bodyPr>
          <a:lstStyle/>
          <a:p>
            <a:pPr marL="0" indent="0">
              <a:buNone/>
            </a:pPr>
            <a:r>
              <a:rPr lang="pl-PL" sz="2400" dirty="0"/>
              <a:t>N200 (lub N2) to negatywność występująca około 180-325 ms po prezentacji bodźca wzrokowego lub słuchowego, wywołana odchyleniem od dominującego bodźca w paradygmacie </a:t>
            </a:r>
            <a:r>
              <a:rPr lang="pl-PL" sz="2400" i="1" dirty="0" err="1"/>
              <a:t>oddball</a:t>
            </a:r>
            <a:r>
              <a:rPr lang="pl-PL" sz="2400" dirty="0"/>
              <a:t>. </a:t>
            </a:r>
          </a:p>
          <a:p>
            <a:pPr marL="0" indent="0">
              <a:buNone/>
            </a:pPr>
            <a:r>
              <a:rPr lang="pl-PL" sz="2400" dirty="0"/>
              <a:t>N200 wiąże się z procesami identyfikacji i rozróżniania bodźców. Wyróżnia się różne </a:t>
            </a:r>
            <a:r>
              <a:rPr lang="pl-PL" sz="2400" dirty="0" err="1"/>
              <a:t>podskładniki</a:t>
            </a:r>
            <a:r>
              <a:rPr lang="pl-PL" sz="2400" dirty="0"/>
              <a:t> N200, takie jak N2a (mimowolne przetwarzanie), N2b (aktywne przetwarzanie, związane z uwagą i wykrywaniem zmian) oraz N2pc (wskaźnik przesunięcia uwagi w korze potyliczno-skroniowej) [8].</a:t>
            </a:r>
          </a:p>
        </p:txBody>
      </p:sp>
    </p:spTree>
    <p:extLst>
      <p:ext uri="{BB962C8B-B14F-4D97-AF65-F5344CB8AC3E}">
        <p14:creationId xmlns:p14="http://schemas.microsoft.com/office/powerpoint/2010/main" val="3503444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Wpływ wieku na Komponent N2b</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Badania wykazały, że wiek wpływa na komponent N2b. Wraz ze wzrostem wieku zaobserwowano zmniejszenie latencji N2b i zmiany w jego generowaniu fizjologicznym, co sugeruje optymalizację procesów dyskryminacji wzrokowej i poznawczej w wyniku dojrzewania. </a:t>
            </a:r>
          </a:p>
          <a:p>
            <a:pPr marL="0" indent="0">
              <a:buNone/>
            </a:pPr>
            <a:r>
              <a:rPr lang="pl-PL" sz="2400" dirty="0"/>
              <a:t>U osób starszych opóźnienie N2b znacznie wzrasta, a jego amplituda maleje. Te odkrycia sugerują, że automatyczne procesy rozróżniania bodźców pozostają stałe przez całe życie, natomiast kontrolowane procesy wymagające selektywnej uwagi osłabiają się wraz z wiekiem [8].</a:t>
            </a:r>
          </a:p>
        </p:txBody>
      </p:sp>
    </p:spTree>
    <p:extLst>
      <p:ext uri="{BB962C8B-B14F-4D97-AF65-F5344CB8AC3E}">
        <p14:creationId xmlns:p14="http://schemas.microsoft.com/office/powerpoint/2010/main" val="1224969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err="1"/>
              <a:t>Mismatch</a:t>
            </a:r>
            <a:r>
              <a:rPr lang="pl-PL" sz="4000" b="1" dirty="0"/>
              <a:t> </a:t>
            </a:r>
            <a:r>
              <a:rPr lang="pl-PL" sz="4000" b="1" dirty="0" err="1"/>
              <a:t>Negativity</a:t>
            </a:r>
            <a:r>
              <a:rPr lang="pl-PL" sz="4000" b="1" dirty="0"/>
              <a:t> (MMN)</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err="1"/>
              <a:t>Mismatch</a:t>
            </a:r>
            <a:r>
              <a:rPr lang="pl-PL" sz="2400" dirty="0"/>
              <a:t> </a:t>
            </a:r>
            <a:r>
              <a:rPr lang="pl-PL" sz="2400" dirty="0" err="1"/>
              <a:t>Negativity</a:t>
            </a:r>
            <a:r>
              <a:rPr lang="pl-PL" sz="2400" dirty="0"/>
              <a:t> (MMN), nazywana również słuchową N2a, jest wywoływana niezależnie od zadań w paradygmatach wykrywania dziwaków słuchowych. </a:t>
            </a:r>
          </a:p>
          <a:p>
            <a:pPr marL="0" indent="0">
              <a:buNone/>
            </a:pPr>
            <a:r>
              <a:rPr lang="pl-PL" sz="2400" dirty="0"/>
              <a:t>Odzwierciedla ona rozbieżność między bodźcem odchylającym a sensoryczną reprezentacją pamięci standardowego bodźca, stanowiąc automatyczny proces wykrywania nowości. </a:t>
            </a:r>
          </a:p>
          <a:p>
            <a:pPr marL="0" indent="0">
              <a:buNone/>
            </a:pPr>
            <a:r>
              <a:rPr lang="pl-PL" sz="2400" dirty="0"/>
              <a:t>MMN jest generowane niezależnie od uwagi, co wskazuje na jego rolę w analizie charakterystyki cech bodźców słuchowych w pamięci sensorycznej [9].</a:t>
            </a:r>
          </a:p>
        </p:txBody>
      </p:sp>
    </p:spTree>
    <p:extLst>
      <p:ext uri="{BB962C8B-B14F-4D97-AF65-F5344CB8AC3E}">
        <p14:creationId xmlns:p14="http://schemas.microsoft.com/office/powerpoint/2010/main" val="2904520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Rozdzielczość Czasowa vs. Przestrzenna w Badaniach ERP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ERP oferują wyjątkową rozdzielczość czasową, umożliwiając pomiar aktywności mózgu z milisekundową precyzją, co jest kluczowe dla badania szybkich procesów uwagi i percepcji. </a:t>
            </a:r>
          </a:p>
          <a:p>
            <a:pPr marL="0" indent="0">
              <a:buNone/>
            </a:pPr>
            <a:r>
              <a:rPr lang="pl-PL" sz="2400" dirty="0"/>
              <a:t>Jednakże, ta zaleta wiąże się z kompromisem w rozdzielczości przestrzennej. Lokalizacja neuronalnych generatorów ERP na podstawie danych zarejestrowanych na skórze głowy jest wyzwaniem. </a:t>
            </a:r>
          </a:p>
          <a:p>
            <a:pPr marL="0" indent="0">
              <a:buNone/>
            </a:pPr>
            <a:r>
              <a:rPr lang="pl-PL" sz="2400" dirty="0"/>
              <a:t>Niemożność precyzyjnego określenia aktywności pojedynczych neuronów jest ograniczona, ale funkcjonalne jednostki analizy ERP często korelują z procesami poznawczymi, co czyni tę technikę użyteczną [6, 7].</a:t>
            </a:r>
          </a:p>
        </p:txBody>
      </p:sp>
    </p:spTree>
    <p:extLst>
      <p:ext uri="{BB962C8B-B14F-4D97-AF65-F5344CB8AC3E}">
        <p14:creationId xmlns:p14="http://schemas.microsoft.com/office/powerpoint/2010/main" val="2529895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Neuroinformatyka i Analiza Danych ERP</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Neuroinformatyka, jako interdyscyplinarna dziedzina, łączy wiedzę z neurobiologii, informatyki, statystyki i inżynierii, aby rozwijać narzędzia i metody do analizy złożonych danych neurobiologicznych. </a:t>
            </a:r>
          </a:p>
          <a:p>
            <a:pPr marL="0" indent="0">
              <a:buNone/>
            </a:pPr>
            <a:r>
              <a:rPr lang="pl-PL" sz="2400" dirty="0"/>
              <a:t>W kontekście ERP, </a:t>
            </a:r>
            <a:r>
              <a:rPr lang="pl-PL" sz="2400" dirty="0" err="1"/>
              <a:t>neuroinformatyka</a:t>
            </a:r>
            <a:r>
              <a:rPr lang="pl-PL" sz="2400" dirty="0"/>
              <a:t> umożliwia integrację ogromnych zbiorów danych, ich przetwarzanie, wizualizację i modelowanie. </a:t>
            </a:r>
          </a:p>
        </p:txBody>
      </p:sp>
    </p:spTree>
    <p:extLst>
      <p:ext uri="{BB962C8B-B14F-4D97-AF65-F5344CB8AC3E}">
        <p14:creationId xmlns:p14="http://schemas.microsoft.com/office/powerpoint/2010/main" val="4025542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Fuzja Danych ERP z Zaawansowanymi Algorytmami</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Zaawansowane algorytmy uczenia maszynowego i sztucznej inteligencji są stosowane do ekstrakcji ukrytych wzorców w danych ERP, co pozwala na lepsze zrozumienie mechanizmów leżących u podstaw procesów poznawczych. Dzięki temu możliwe jest identyfikowanie biomarkerów dla chorób neurologicznych oraz rozwijanie spersonalizowanych interwencji terapeutycznych.</a:t>
            </a:r>
          </a:p>
        </p:txBody>
      </p:sp>
    </p:spTree>
    <p:extLst>
      <p:ext uri="{BB962C8B-B14F-4D97-AF65-F5344CB8AC3E}">
        <p14:creationId xmlns:p14="http://schemas.microsoft.com/office/powerpoint/2010/main" val="124077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Interfejsy Mózg-Komputer (BCI) oparte na ERP</a:t>
            </a:r>
            <a:endParaRPr lang="pl-PL" sz="4000" dirty="0"/>
          </a:p>
        </p:txBody>
      </p:sp>
      <p:sp>
        <p:nvSpPr>
          <p:cNvPr id="3" name="Symbol zastępczy zawartości 2"/>
          <p:cNvSpPr>
            <a:spLocks noGrp="1"/>
          </p:cNvSpPr>
          <p:nvPr>
            <p:ph idx="1"/>
          </p:nvPr>
        </p:nvSpPr>
        <p:spPr/>
        <p:txBody>
          <a:bodyPr>
            <a:normAutofit fontScale="92500" lnSpcReduction="10000"/>
          </a:bodyPr>
          <a:lstStyle/>
          <a:p>
            <a:pPr marL="0" indent="0">
              <a:buNone/>
            </a:pPr>
            <a:r>
              <a:rPr lang="pl-PL" sz="2400" dirty="0"/>
              <a:t>Jednym z najbardziej obiecujących praktycznych zastosowań ERP jest rozwój interfejsów mózg-komputer (BCI). </a:t>
            </a:r>
          </a:p>
          <a:p>
            <a:pPr marL="0" indent="0">
              <a:buNone/>
            </a:pPr>
            <a:r>
              <a:rPr lang="pl-PL" sz="2400" dirty="0"/>
              <a:t>BCI umożliwiają komunikację i kontrolę zewnętrznych urządzeń za pomocą sygnałów mózgowych, bez konieczności angażowania mięśni. ERP, zwłaszcza komponent P300, odgrywa kluczową rolę w pasywnych BCI. </a:t>
            </a:r>
          </a:p>
          <a:p>
            <a:pPr marL="0" indent="0">
              <a:buNone/>
            </a:pPr>
            <a:r>
              <a:rPr lang="pl-PL" sz="2400" dirty="0"/>
              <a:t>Systemy te, wykorzystując wykrywanie P300 w odpowiedzi na bodźce, pozwalają pacjentom z poważnymi ograniczeniami ruchowymi, np. z zespołem zamknięcia, na pisanie tekstów, sterowanie kursorem na ekranie czy nawet obsługę robotów [2]. </a:t>
            </a:r>
          </a:p>
          <a:p>
            <a:pPr marL="0" indent="0">
              <a:buNone/>
            </a:pPr>
            <a:r>
              <a:rPr lang="pl-PL" sz="2400" dirty="0"/>
              <a:t>Rozwój zaawansowanych algorytmów klasyfikacji sygnałów ERP jest niezbędny do zwiększenia precyzji i szybkości działania tych systemów.</a:t>
            </a:r>
          </a:p>
        </p:txBody>
      </p:sp>
    </p:spTree>
    <p:extLst>
      <p:ext uri="{BB962C8B-B14F-4D97-AF65-F5344CB8AC3E}">
        <p14:creationId xmlns:p14="http://schemas.microsoft.com/office/powerpoint/2010/main" val="2890245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BCI </a:t>
            </a:r>
            <a:r>
              <a:rPr lang="pl-PL" sz="4000" b="1" dirty="0" smtClean="0"/>
              <a:t>oparte na </a:t>
            </a:r>
            <a:r>
              <a:rPr lang="pl-PL" sz="4000" b="1" dirty="0"/>
              <a:t>ERP: od sygnału do intencji</a:t>
            </a:r>
            <a:endParaRPr lang="pl-PL" sz="4000" dirty="0"/>
          </a:p>
        </p:txBody>
      </p:sp>
      <p:sp>
        <p:nvSpPr>
          <p:cNvPr id="3" name="Symbol zastępczy zawartości 2"/>
          <p:cNvSpPr>
            <a:spLocks noGrp="1"/>
          </p:cNvSpPr>
          <p:nvPr>
            <p:ph idx="1"/>
          </p:nvPr>
        </p:nvSpPr>
        <p:spPr/>
        <p:txBody>
          <a:bodyPr>
            <a:normAutofit fontScale="92500" lnSpcReduction="20000"/>
          </a:bodyPr>
          <a:lstStyle/>
          <a:p>
            <a:pPr marL="0" indent="0">
              <a:buNone/>
            </a:pPr>
            <a:r>
              <a:rPr lang="pl-PL" sz="2400" dirty="0"/>
              <a:t>Interfejsy Mózg-Komputer (BCI) oparte na ERP przekształcają intencje użytkownika, wyrażone poprzez specyficzne wzorce aktywności mózgu, w komendy sterujące urządzeniami zewnętrznymi. </a:t>
            </a:r>
          </a:p>
          <a:p>
            <a:pPr marL="0" indent="0">
              <a:buNone/>
            </a:pPr>
            <a:r>
              <a:rPr lang="pl-PL" sz="2400" dirty="0"/>
              <a:t>Kluczowym elementem jest tutaj detekcja i klasyfikacja potencjałów związanych z wydarzeniami (ERP), generowanych w odpowiedzi na określone bodźce lub zdarzenia mentalne. Najczęściej wykorzystuje się tu komponent P300, który pojawia się, gdy użytkownik zwraca uwagę na rzadki lub istotny bodziec. </a:t>
            </a:r>
          </a:p>
          <a:p>
            <a:pPr marL="0" indent="0">
              <a:buNone/>
            </a:pPr>
            <a:r>
              <a:rPr lang="pl-PL" sz="2400" dirty="0"/>
              <a:t>System BCI prezentuje użytkownikowi szereg opcji (np. litery, symbole), z których każda jest sekwencyjnie podświetlana lub aktywowana w inny sposób. Kiedy pożądana opcja zostanie wyróżniona, mózg użytkownika generuje P300, które jest wykrywane przez elektrody EEG. </a:t>
            </a:r>
          </a:p>
          <a:p>
            <a:pPr marL="0" indent="0">
              <a:buNone/>
            </a:pPr>
            <a:r>
              <a:rPr lang="pl-PL" sz="2400" dirty="0"/>
              <a:t>Algorytmy przetwarzania sygnału i uczenia maszynowego identyfikują to P300, interpretując je jako wybór użytkownika.</a:t>
            </a:r>
          </a:p>
        </p:txBody>
      </p:sp>
    </p:spTree>
    <p:extLst>
      <p:ext uri="{BB962C8B-B14F-4D97-AF65-F5344CB8AC3E}">
        <p14:creationId xmlns:p14="http://schemas.microsoft.com/office/powerpoint/2010/main" val="2142158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BCI </a:t>
            </a:r>
            <a:r>
              <a:rPr lang="pl-PL" sz="4000" b="1" dirty="0"/>
              <a:t>oparte na </a:t>
            </a:r>
            <a:r>
              <a:rPr lang="pl-PL" sz="4000" b="1" dirty="0"/>
              <a:t>ERP: pokonywanie barier</a:t>
            </a:r>
            <a:endParaRPr lang="pl-PL" sz="4000" dirty="0"/>
          </a:p>
        </p:txBody>
      </p:sp>
      <p:sp>
        <p:nvSpPr>
          <p:cNvPr id="3" name="Symbol zastępczy zawartości 2"/>
          <p:cNvSpPr>
            <a:spLocks noGrp="1"/>
          </p:cNvSpPr>
          <p:nvPr>
            <p:ph idx="1"/>
          </p:nvPr>
        </p:nvSpPr>
        <p:spPr/>
        <p:txBody>
          <a:bodyPr>
            <a:noAutofit/>
          </a:bodyPr>
          <a:lstStyle/>
          <a:p>
            <a:pPr marL="0" indent="0">
              <a:buNone/>
            </a:pPr>
            <a:r>
              <a:rPr lang="pl-PL" sz="2000" dirty="0"/>
              <a:t>Pomimo obiecujących perspektyw, projektowanie efektywnych BCI opartych na ERP wiąże się z szeregiem wyzwań. Niska amplituda sygnałów ERP i ich duża zmienność międzyosobnicza wymagają zaawansowanych technik przetwarzania sygnału, takich jak uśrednianie, filtrowanie i dekompozycja komponentów (np. ICA - Independent Component Analysis), aby zwiększyć stosunek sygnału do szumu. </a:t>
            </a:r>
          </a:p>
          <a:p>
            <a:pPr marL="0" indent="0">
              <a:buNone/>
            </a:pPr>
            <a:r>
              <a:rPr lang="pl-PL" sz="2000" dirty="0"/>
              <a:t>Innym istotnym aspektem jest tzw. "dryf sygnału", czyli zmiany w charakterystyce ERP w czasie, co wymaga adaptacyjnych algorytmów klasyfikacji. </a:t>
            </a:r>
          </a:p>
          <a:p>
            <a:pPr marL="0" indent="0">
              <a:buNone/>
            </a:pPr>
            <a:r>
              <a:rPr lang="pl-PL" sz="2000" dirty="0"/>
              <a:t>Ponadto, wygoda i akceptacja przez użytkownika są kluczowe; dąży się do minimalizacji liczby elektrod, bezprzewodowych rozwiązań oraz intuicyjnych interfejsów użytkownika. Badania skupiają się również na integracji multimodalnych danych (np. ERP z </a:t>
            </a:r>
            <a:r>
              <a:rPr lang="pl-PL" sz="2000" dirty="0" err="1"/>
              <a:t>eye-trackingiem</a:t>
            </a:r>
            <a:r>
              <a:rPr lang="pl-PL" sz="2000" dirty="0"/>
              <a:t>) w celu zwiększenia precyzji i szybkości działania BCI.</a:t>
            </a:r>
          </a:p>
        </p:txBody>
      </p:sp>
    </p:spTree>
    <p:extLst>
      <p:ext uri="{BB962C8B-B14F-4D97-AF65-F5344CB8AC3E}">
        <p14:creationId xmlns:p14="http://schemas.microsoft.com/office/powerpoint/2010/main" val="1054418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BCI </a:t>
            </a:r>
            <a:r>
              <a:rPr lang="pl-PL" sz="4000" b="1" dirty="0"/>
              <a:t>oparte na </a:t>
            </a:r>
            <a:r>
              <a:rPr lang="pl-PL" sz="4000" b="1" dirty="0"/>
              <a:t>ERP: od medycyny do codzienności</a:t>
            </a:r>
            <a:endParaRPr lang="pl-PL" sz="4000" dirty="0"/>
          </a:p>
        </p:txBody>
      </p:sp>
      <p:sp>
        <p:nvSpPr>
          <p:cNvPr id="3" name="Symbol zastępczy zawartości 2"/>
          <p:cNvSpPr>
            <a:spLocks noGrp="1"/>
          </p:cNvSpPr>
          <p:nvPr>
            <p:ph idx="1"/>
          </p:nvPr>
        </p:nvSpPr>
        <p:spPr>
          <a:xfrm>
            <a:off x="628652" y="1690690"/>
            <a:ext cx="7886701" cy="4592931"/>
          </a:xfrm>
        </p:spPr>
        <p:txBody>
          <a:bodyPr>
            <a:noAutofit/>
          </a:bodyPr>
          <a:lstStyle/>
          <a:p>
            <a:pPr marL="0" indent="0">
              <a:buNone/>
            </a:pPr>
            <a:r>
              <a:rPr lang="pl-PL" sz="2400" dirty="0"/>
              <a:t>Poza zastosowaniami medycznymi, takimi jak wspieranie komunikacji u pacjentów z zespołem zamknięcia czy rehabilitacja po udarach, technologia ta ma potencjał, aby znaleźć zastosowanie w życiu codziennym. </a:t>
            </a:r>
          </a:p>
          <a:p>
            <a:pPr marL="0" indent="0">
              <a:buNone/>
            </a:pPr>
            <a:r>
              <a:rPr lang="pl-PL" sz="2400" dirty="0"/>
              <a:t>Możliwe jest wykorzystanie jej do sterowania inteligentnymi domami, wspomagania kierowców w samochodach autonomicznych (monitorowanie uwagi i zmęczenia), czy nawet w grach wideo. </a:t>
            </a:r>
          </a:p>
          <a:p>
            <a:pPr marL="0" indent="0">
              <a:buNone/>
            </a:pPr>
            <a:r>
              <a:rPr lang="pl-PL" sz="2400" dirty="0"/>
              <a:t>Rozwój bardziej zaawansowanych komponentów ERP, takich jak te związane z rozpoznawaniem błędów czy selektywną uwagą, może prowadzić do powstania BCI zdolnych do bardziej złożonej i płynnej kontroli. Kluczowe będzie dalsze doskonalenie algorytmów uczenia maszynowego, miniaturyzacja i bezinwazyjność sprzętu.</a:t>
            </a:r>
          </a:p>
        </p:txBody>
      </p:sp>
    </p:spTree>
    <p:extLst>
      <p:ext uri="{BB962C8B-B14F-4D97-AF65-F5344CB8AC3E}">
        <p14:creationId xmlns:p14="http://schemas.microsoft.com/office/powerpoint/2010/main" val="1124527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err="1"/>
              <a:t>Speller</a:t>
            </a:r>
            <a:r>
              <a:rPr lang="pl-PL" sz="4000" b="1" dirty="0"/>
              <a:t> BCI dla Osób z Zespołem </a:t>
            </a:r>
            <a:r>
              <a:rPr lang="pl-PL" sz="4000" b="1" dirty="0" smtClean="0"/>
              <a:t>Zamknięcia</a:t>
            </a:r>
            <a:endParaRPr lang="pl-PL" sz="4000" dirty="0"/>
          </a:p>
        </p:txBody>
      </p:sp>
      <p:sp>
        <p:nvSpPr>
          <p:cNvPr id="3" name="Symbol zastępczy zawartości 2"/>
          <p:cNvSpPr>
            <a:spLocks noGrp="1"/>
          </p:cNvSpPr>
          <p:nvPr>
            <p:ph idx="1"/>
          </p:nvPr>
        </p:nvSpPr>
        <p:spPr/>
        <p:txBody>
          <a:bodyPr>
            <a:normAutofit fontScale="85000" lnSpcReduction="20000"/>
          </a:bodyPr>
          <a:lstStyle/>
          <a:p>
            <a:pPr marL="0" indent="0">
              <a:buNone/>
            </a:pPr>
            <a:r>
              <a:rPr lang="pl-PL" dirty="0"/>
              <a:t>Jednym z najbardziej rozpowszechnionych i praktycznych zastosowań BCI opartych na ERP jest tzw. "P300 </a:t>
            </a:r>
            <a:r>
              <a:rPr lang="pl-PL" dirty="0" err="1"/>
              <a:t>Speller</a:t>
            </a:r>
            <a:r>
              <a:rPr lang="pl-PL" dirty="0"/>
              <a:t>". </a:t>
            </a:r>
            <a:endParaRPr lang="pl-PL" dirty="0" smtClean="0"/>
          </a:p>
          <a:p>
            <a:pPr marL="0" indent="0">
              <a:buNone/>
            </a:pPr>
            <a:r>
              <a:rPr lang="pl-PL" dirty="0" smtClean="0"/>
              <a:t>Ten </a:t>
            </a:r>
            <a:r>
              <a:rPr lang="pl-PL" dirty="0"/>
              <a:t>system umożliwia osobom z całkowitym zespołem zamknięcia (</a:t>
            </a:r>
            <a:r>
              <a:rPr lang="pl-PL" dirty="0" err="1"/>
              <a:t>Locked</a:t>
            </a:r>
            <a:r>
              <a:rPr lang="pl-PL" dirty="0"/>
              <a:t>-in </a:t>
            </a:r>
            <a:r>
              <a:rPr lang="pl-PL" dirty="0" err="1"/>
              <a:t>Syndrome</a:t>
            </a:r>
            <a:r>
              <a:rPr lang="pl-PL" dirty="0"/>
              <a:t>) lub innymi ciężkimi zaburzeniami motorycznymi komunikację poprzez wybór liter lub symboli. Interfejs prezentuje macierz znaków (np. 6x6 liter i cyfr). </a:t>
            </a:r>
            <a:endParaRPr lang="pl-PL" dirty="0" smtClean="0"/>
          </a:p>
          <a:p>
            <a:pPr marL="0" indent="0">
              <a:buNone/>
            </a:pPr>
            <a:r>
              <a:rPr lang="pl-PL" dirty="0" smtClean="0"/>
              <a:t>Wiersze </a:t>
            </a:r>
            <a:r>
              <a:rPr lang="pl-PL" dirty="0"/>
              <a:t>i kolumny macierzy są sekwencyjnie podświetlane. Użytkownik koncentruje uwagę na pożądanym znaku. Kiedy wiersz lub kolumna zawierająca wybrany znak zostanie podświetlona, mózg generuje potencjał P300. System BCI, analizując sygnały EEG, identyfikuje P300 i na tej podstawie określa, który znak został wybrany. To pozwala użytkownikom na pisanie wiadomości, sterowanie komputerem, a nawet korzystanie z </a:t>
            </a:r>
            <a:r>
              <a:rPr lang="pl-PL" dirty="0" err="1"/>
              <a:t>internetu</a:t>
            </a:r>
            <a:r>
              <a:rPr lang="pl-PL" dirty="0"/>
              <a:t>, co znacząco poprawia jakość ich życia.</a:t>
            </a:r>
          </a:p>
        </p:txBody>
      </p:sp>
    </p:spTree>
    <p:extLst>
      <p:ext uri="{BB962C8B-B14F-4D97-AF65-F5344CB8AC3E}">
        <p14:creationId xmlns:p14="http://schemas.microsoft.com/office/powerpoint/2010/main" val="1724351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ERP w Systemach Wspomagania Kierowcy (ADAS)</a:t>
            </a:r>
          </a:p>
        </p:txBody>
      </p:sp>
      <p:sp>
        <p:nvSpPr>
          <p:cNvPr id="3" name="Symbol zastępczy zawartości 2"/>
          <p:cNvSpPr>
            <a:spLocks noGrp="1"/>
          </p:cNvSpPr>
          <p:nvPr>
            <p:ph idx="1"/>
          </p:nvPr>
        </p:nvSpPr>
        <p:spPr/>
        <p:txBody>
          <a:bodyPr>
            <a:noAutofit/>
          </a:bodyPr>
          <a:lstStyle/>
          <a:p>
            <a:pPr marL="0" indent="0">
              <a:buNone/>
            </a:pPr>
            <a:r>
              <a:rPr lang="pl-PL" sz="2400" dirty="0"/>
              <a:t>ERP znajdują zastosowanie w zaawansowanych systemach wspomagania kierowcy (ADAS) do monitorowania stanu uwagi i zmęczenia. Systemy te, wykorzystując lekkie </a:t>
            </a:r>
            <a:r>
              <a:rPr lang="pl-PL" sz="2400" dirty="0" smtClean="0"/>
              <a:t>i bezprzewodowe </a:t>
            </a:r>
            <a:r>
              <a:rPr lang="pl-PL" sz="2400" dirty="0"/>
              <a:t>zestawy EEG, mogą analizować sygnały ERP generowane w odpowiedzi na bodźce </a:t>
            </a:r>
            <a:r>
              <a:rPr lang="pl-PL" sz="2400" dirty="0" smtClean="0"/>
              <a:t>drogowe.</a:t>
            </a:r>
          </a:p>
          <a:p>
            <a:pPr marL="0" indent="0">
              <a:buNone/>
            </a:pPr>
            <a:r>
              <a:rPr lang="pl-PL" sz="2400" dirty="0"/>
              <a:t>System może wykrywać te zmiany i uruchamiać alarmy mające na celu przywrócenie uwagi kierowcy. Implementacje te </a:t>
            </a:r>
            <a:r>
              <a:rPr lang="pl-PL" sz="2400" dirty="0" smtClean="0"/>
              <a:t>redukują </a:t>
            </a:r>
            <a:r>
              <a:rPr lang="pl-PL" sz="2400" dirty="0"/>
              <a:t>ryzyko wypadków spowodowanych </a:t>
            </a:r>
            <a:r>
              <a:rPr lang="pl-PL" sz="2400" b="1" dirty="0"/>
              <a:t>brakiem koncentracji </a:t>
            </a:r>
            <a:r>
              <a:rPr lang="pl-PL" sz="2400" dirty="0"/>
              <a:t>lub </a:t>
            </a:r>
            <a:r>
              <a:rPr lang="pl-PL" sz="2400" b="1" dirty="0"/>
              <a:t>mikro-snem</a:t>
            </a:r>
            <a:r>
              <a:rPr lang="pl-PL" sz="2400" dirty="0" smtClean="0"/>
              <a:t>.</a:t>
            </a:r>
          </a:p>
          <a:p>
            <a:pPr marL="0" indent="0">
              <a:buNone/>
            </a:pPr>
            <a:r>
              <a:rPr lang="pl-PL" sz="2400" dirty="0" smtClean="0"/>
              <a:t>Na </a:t>
            </a:r>
            <a:r>
              <a:rPr lang="pl-PL" sz="2400" dirty="0"/>
              <a:t>przykład, gdy kierowca jest rozproszony lub zmęczony, amplituda P300 w odpowiedzi na </a:t>
            </a:r>
            <a:r>
              <a:rPr lang="pl-PL" sz="2400" dirty="0" smtClean="0"/>
              <a:t>ważne </a:t>
            </a:r>
            <a:r>
              <a:rPr lang="pl-PL" sz="2400" dirty="0"/>
              <a:t>bodźce (np. nagłe hamowanie pojazdu poprzedzającego) może ulec zmniejszeniu, a latencja zwiększeniu. </a:t>
            </a:r>
            <a:endParaRPr lang="pl-PL" sz="2400" dirty="0" smtClean="0"/>
          </a:p>
        </p:txBody>
      </p:sp>
    </p:spTree>
    <p:extLst>
      <p:ext uri="{BB962C8B-B14F-4D97-AF65-F5344CB8AC3E}">
        <p14:creationId xmlns:p14="http://schemas.microsoft.com/office/powerpoint/2010/main" val="553301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err="1"/>
              <a:t>Neurofeedback</a:t>
            </a:r>
            <a:r>
              <a:rPr lang="pl-PL" sz="4000" b="1" dirty="0"/>
              <a:t> </a:t>
            </a:r>
            <a:r>
              <a:rPr lang="pl-PL" sz="4000" b="1" dirty="0" smtClean="0"/>
              <a:t>ERP</a:t>
            </a:r>
            <a:endParaRPr lang="pl-PL" sz="4000" b="1" dirty="0"/>
          </a:p>
        </p:txBody>
      </p:sp>
      <p:sp>
        <p:nvSpPr>
          <p:cNvPr id="3" name="Symbol zastępczy zawartości 2"/>
          <p:cNvSpPr>
            <a:spLocks noGrp="1"/>
          </p:cNvSpPr>
          <p:nvPr>
            <p:ph idx="1"/>
          </p:nvPr>
        </p:nvSpPr>
        <p:spPr/>
        <p:txBody>
          <a:bodyPr>
            <a:noAutofit/>
          </a:bodyPr>
          <a:lstStyle/>
          <a:p>
            <a:pPr marL="0" indent="0">
              <a:buNone/>
            </a:pPr>
            <a:r>
              <a:rPr lang="pl-PL" sz="2400" dirty="0" err="1"/>
              <a:t>Neurofeedback</a:t>
            </a:r>
            <a:r>
              <a:rPr lang="pl-PL" sz="2400" dirty="0"/>
              <a:t> to technika, która pozwala użytkownikom na świadome modulowanie własnej aktywności mózgu poprzez otrzymywanie informacji zwrotnej (feedbacku) w czasie rzeczywistym. </a:t>
            </a:r>
            <a:endParaRPr lang="pl-PL" sz="2400" dirty="0" smtClean="0"/>
          </a:p>
          <a:p>
            <a:pPr marL="0" indent="0">
              <a:buNone/>
            </a:pPr>
            <a:r>
              <a:rPr lang="pl-PL" sz="2400" dirty="0" smtClean="0"/>
              <a:t>W </a:t>
            </a:r>
            <a:r>
              <a:rPr lang="pl-PL" sz="2400" dirty="0"/>
              <a:t>kontekście ERP, systemy </a:t>
            </a:r>
            <a:r>
              <a:rPr lang="pl-PL" sz="2400" dirty="0" err="1"/>
              <a:t>neurofeedbacku</a:t>
            </a:r>
            <a:r>
              <a:rPr lang="pl-PL" sz="2400" dirty="0"/>
              <a:t> mogą uczyć osoby, jak wzmacniać lub osłabiać specyficzne komponenty ERP, co może prowadzić do poprawy funkcji poznawczych. </a:t>
            </a:r>
            <a:endParaRPr lang="pl-PL" sz="2400" dirty="0" smtClean="0"/>
          </a:p>
          <a:p>
            <a:pPr marL="0" indent="0">
              <a:buNone/>
            </a:pPr>
            <a:r>
              <a:rPr lang="pl-PL" sz="2400" dirty="0" smtClean="0"/>
              <a:t>Użytkownicy </a:t>
            </a:r>
            <a:r>
              <a:rPr lang="pl-PL" sz="2400" dirty="0"/>
              <a:t>otrzymują wizualne lub dźwiękowe sygnały, które informują ich o generowaniu pożądanego wzorca ERP, co pozwala na "nauczenie się" samoregulacji aktywności mózgowej. Ta metoda jest obiecująca zarówno w celach terapeutycznych, jak i w treningu poznawczym dla poprawy wydajności.</a:t>
            </a:r>
          </a:p>
        </p:txBody>
      </p:sp>
    </p:spTree>
    <p:extLst>
      <p:ext uri="{BB962C8B-B14F-4D97-AF65-F5344CB8AC3E}">
        <p14:creationId xmlns:p14="http://schemas.microsoft.com/office/powerpoint/2010/main" val="3421689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Personalizowana medycyna i terapia oparta na ERP</a:t>
            </a:r>
            <a:endParaRPr lang="pl-PL" sz="4000" dirty="0"/>
          </a:p>
        </p:txBody>
      </p:sp>
      <p:sp>
        <p:nvSpPr>
          <p:cNvPr id="3" name="Symbol zastępczy zawartości 2"/>
          <p:cNvSpPr>
            <a:spLocks noGrp="1"/>
          </p:cNvSpPr>
          <p:nvPr>
            <p:ph idx="1"/>
          </p:nvPr>
        </p:nvSpPr>
        <p:spPr/>
        <p:txBody>
          <a:bodyPr>
            <a:normAutofit fontScale="92500"/>
          </a:bodyPr>
          <a:lstStyle/>
          <a:p>
            <a:pPr marL="0" indent="0">
              <a:buNone/>
            </a:pPr>
            <a:r>
              <a:rPr lang="pl-PL" sz="2400" b="1" dirty="0"/>
              <a:t>Opis:</a:t>
            </a:r>
            <a:r>
              <a:rPr lang="pl-PL" sz="2400" dirty="0"/>
              <a:t> Neuroinformatyka otwiera drogę do personalizowanej medycyny, gdzie terapie są dostosowywane do indywidualnych charakterystyk pacjenta na podstawie danych ERP. </a:t>
            </a:r>
          </a:p>
          <a:p>
            <a:pPr marL="0" indent="0">
              <a:buNone/>
            </a:pPr>
            <a:r>
              <a:rPr lang="pl-PL" sz="2400" dirty="0"/>
              <a:t>Przykładowo, w rehabilitacji poznawczej, systemy monitorujące aktywność mózgu w czasie rzeczywistym mogą dostosowywać zadania treningowe, aby maksymalnie angażować specyficzne procesy neuronalne. Analiza ERP może również pomóc w identyfikacji pacjentów najlepiej reagujących na określone leki lub interwencje behawioralne.</a:t>
            </a:r>
          </a:p>
          <a:p>
            <a:pPr marL="0" indent="0">
              <a:buNone/>
            </a:pPr>
            <a:r>
              <a:rPr lang="pl-PL" sz="2400" dirty="0"/>
              <a:t>Tworzenie modeli predykcyjnych na podstawie danych ERP i innych informacji klinicznych pozwala na optymalizację strategii terapeutycznych, prowadząc do bardziej efektywnych i celowanych interwencji.</a:t>
            </a:r>
          </a:p>
        </p:txBody>
      </p:sp>
    </p:spTree>
    <p:extLst>
      <p:ext uri="{BB962C8B-B14F-4D97-AF65-F5344CB8AC3E}">
        <p14:creationId xmlns:p14="http://schemas.microsoft.com/office/powerpoint/2010/main" val="3729912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err="1"/>
              <a:t>Biomarkery</a:t>
            </a:r>
            <a:r>
              <a:rPr lang="pl-PL" sz="4000" b="1" dirty="0"/>
              <a:t> ERP w diagnostyce neuropsychiatrycznej</a:t>
            </a:r>
            <a:endParaRPr lang="pl-PL" sz="4000" dirty="0"/>
          </a:p>
        </p:txBody>
      </p:sp>
      <p:sp>
        <p:nvSpPr>
          <p:cNvPr id="3" name="Symbol zastępczy zawartości 2"/>
          <p:cNvSpPr>
            <a:spLocks noGrp="1"/>
          </p:cNvSpPr>
          <p:nvPr>
            <p:ph idx="1"/>
          </p:nvPr>
        </p:nvSpPr>
        <p:spPr/>
        <p:txBody>
          <a:bodyPr>
            <a:normAutofit/>
          </a:bodyPr>
          <a:lstStyle/>
          <a:p>
            <a:pPr marL="0" indent="0">
              <a:buNone/>
            </a:pPr>
            <a:r>
              <a:rPr lang="pl-PL" sz="2400" dirty="0"/>
              <a:t>Analiza ERP stanowi cenne narzędzie w poszukiwaniu </a:t>
            </a:r>
            <a:r>
              <a:rPr lang="pl-PL" sz="2400" b="1" dirty="0"/>
              <a:t>biomarkerów</a:t>
            </a:r>
            <a:r>
              <a:rPr lang="pl-PL" sz="2400" dirty="0"/>
              <a:t> dla różnych zaburzeń neuropsychiatrycznych. </a:t>
            </a:r>
          </a:p>
          <a:p>
            <a:pPr marL="0" indent="0">
              <a:buNone/>
            </a:pPr>
            <a:r>
              <a:rPr lang="pl-PL" sz="2400" dirty="0"/>
              <a:t>Charakterystyczne zmiany w latencji i amplitudzie poszczególnych komponentów ERP (np. P300, N200, MMN) są obserwowane w chorobach takich jak schizofrenia, choroba Alzheimera, choroba Parkinsona, ADHD czy depresja [18, 19]. </a:t>
            </a:r>
          </a:p>
          <a:p>
            <a:pPr marL="0" indent="0">
              <a:buNone/>
            </a:pPr>
            <a:r>
              <a:rPr lang="pl-PL" sz="2400" b="1" dirty="0"/>
              <a:t>Neuroinformatyka</a:t>
            </a:r>
            <a:r>
              <a:rPr lang="pl-PL" sz="2400" dirty="0"/>
              <a:t> wspiera rozwój algorytmów do automatycznej detekcji tych wzorców, umożliwiając wczesną diagnostykę, monitorowanie postępu choroby oraz ocenę skuteczności terapii. Tworzenie baz danych zawierających zestandaryzowane dane ERP pacjentów przyczynia się do globalnej wymiany wiedzy i przyspiesza badania kliniczne.</a:t>
            </a:r>
          </a:p>
        </p:txBody>
      </p:sp>
    </p:spTree>
    <p:extLst>
      <p:ext uri="{BB962C8B-B14F-4D97-AF65-F5344CB8AC3E}">
        <p14:creationId xmlns:p14="http://schemas.microsoft.com/office/powerpoint/2010/main" val="79709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4000" b="1" dirty="0"/>
              <a:t>Podsumowanie i dalszy rozwój</a:t>
            </a:r>
          </a:p>
        </p:txBody>
      </p:sp>
      <p:sp>
        <p:nvSpPr>
          <p:cNvPr id="3" name="Symbol zastępczy zawartości 2"/>
          <p:cNvSpPr>
            <a:spLocks noGrp="1"/>
          </p:cNvSpPr>
          <p:nvPr>
            <p:ph idx="1"/>
          </p:nvPr>
        </p:nvSpPr>
        <p:spPr/>
        <p:txBody>
          <a:bodyPr>
            <a:normAutofit/>
          </a:bodyPr>
          <a:lstStyle/>
          <a:p>
            <a:pPr marL="0" indent="0">
              <a:buNone/>
            </a:pPr>
            <a:r>
              <a:rPr lang="pl-PL" sz="2400" dirty="0"/>
              <a:t>Potencjały wywołane (ERP) odgrywają specyficzną i znaczącą rolę w procesach poznawczych, szczególnie w selektywnej uwadze, odpowiedzi bodźcowej i filtrowaniu percepcyjnym. </a:t>
            </a:r>
          </a:p>
          <a:p>
            <a:pPr marL="0" indent="0">
              <a:buNone/>
            </a:pPr>
            <a:r>
              <a:rPr lang="pl-PL" sz="2400" dirty="0"/>
              <a:t>Przyszłe zastosowania analizy ERP jako narzędzia diagnostycznego i informacyjnego stają się coraz bardziej obiecujące. W miarę zdobywania większego wglądu w naturę ERP, dążenie do integracji klinicznej z pewnością się zintensyfikuje, otwierając nowe możliwości w badaniach mózgu i medycynie [20].</a:t>
            </a:r>
          </a:p>
        </p:txBody>
      </p:sp>
    </p:spTree>
    <p:extLst>
      <p:ext uri="{BB962C8B-B14F-4D97-AF65-F5344CB8AC3E}">
        <p14:creationId xmlns:p14="http://schemas.microsoft.com/office/powerpoint/2010/main" val="403748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ytuł 3"/>
          <p:cNvSpPr>
            <a:spLocks noGrp="1"/>
          </p:cNvSpPr>
          <p:nvPr>
            <p:ph type="title"/>
          </p:nvPr>
        </p:nvSpPr>
        <p:spPr>
          <a:xfrm>
            <a:off x="698394" y="3002515"/>
            <a:ext cx="7886700" cy="994172"/>
          </a:xfrm>
        </p:spPr>
        <p:txBody>
          <a:bodyPr/>
          <a:lstStyle/>
          <a:p>
            <a:pPr algn="ctr"/>
            <a:r>
              <a:rPr lang="pl-PL" b="1" dirty="0" smtClean="0"/>
              <a:t>KONIEC</a:t>
            </a:r>
            <a:endParaRPr lang="pl-PL" b="1" dirty="0"/>
          </a:p>
        </p:txBody>
      </p:sp>
    </p:spTree>
    <p:extLst>
      <p:ext uri="{BB962C8B-B14F-4D97-AF65-F5344CB8AC3E}">
        <p14:creationId xmlns:p14="http://schemas.microsoft.com/office/powerpoint/2010/main" val="1499732370"/>
      </p:ext>
    </p:extLst>
  </p:cSld>
  <p:clrMapOvr>
    <a:masterClrMapping/>
  </p:clrMapOvr>
</p:sld>
</file>

<file path=ppt/theme/theme1.xml><?xml version="1.0" encoding="utf-8"?>
<a:theme xmlns:a="http://schemas.openxmlformats.org/drawingml/2006/main" name="Motyw pakietu Office">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2648</Words>
  <Application>Microsoft Office PowerPoint</Application>
  <PresentationFormat>Pokaz na ekranie (4:3)</PresentationFormat>
  <Paragraphs>110</Paragraphs>
  <Slides>28</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28</vt:i4>
      </vt:variant>
    </vt:vector>
  </HeadingPairs>
  <TitlesOfParts>
    <vt:vector size="32" baseType="lpstr">
      <vt:lpstr>Arial</vt:lpstr>
      <vt:lpstr>Calibri</vt:lpstr>
      <vt:lpstr>Calibri Light</vt:lpstr>
      <vt:lpstr>Motyw pakietu Office</vt:lpstr>
      <vt:lpstr>Potencjały Wywołane (ERP)  w badaniach percepcji i uwagi</vt:lpstr>
      <vt:lpstr>Literatura</vt:lpstr>
      <vt:lpstr>Potencjały Wywołane (ERP): definicja i mechanizm</vt:lpstr>
      <vt:lpstr>Historia badań nad ERP</vt:lpstr>
      <vt:lpstr>Elektroencefalografia (EEG) i Magnetoencefalografia (MEG) w rejestracji ERP</vt:lpstr>
      <vt:lpstr>Zastosowania kliniczne i badawcze ERP</vt:lpstr>
      <vt:lpstr>Wzrokowe potencjały wywołane (VEP)</vt:lpstr>
      <vt:lpstr>Komponenty ERP</vt:lpstr>
      <vt:lpstr>Fala P300: poznawczy potencjał i procesy decyzyjne</vt:lpstr>
      <vt:lpstr>P300 w diagnostyce patologii mózgu</vt:lpstr>
      <vt:lpstr>Interakcje środowiskowe i P300</vt:lpstr>
      <vt:lpstr>N200: negatywność w przetwarzaniu sensorycznym i poznawczym</vt:lpstr>
      <vt:lpstr>Wpływ wieku na Komponent N2b</vt:lpstr>
      <vt:lpstr>Mismatch Negativity (MMN)</vt:lpstr>
      <vt:lpstr>Rozdzielczość Czasowa vs. Przestrzenna w Badaniach ERP</vt:lpstr>
      <vt:lpstr>Neuroinformatyka i Analiza Danych ERP</vt:lpstr>
      <vt:lpstr>Fuzja Danych ERP z Zaawansowanymi Algorytmami</vt:lpstr>
      <vt:lpstr>Interfejsy Mózg-Komputer (BCI) oparte na ERP</vt:lpstr>
      <vt:lpstr>BCI oparte na ERP: od sygnału do intencji</vt:lpstr>
      <vt:lpstr>BCI oparte na ERP: pokonywanie barier</vt:lpstr>
      <vt:lpstr>BCI oparte na ERP: od medycyny do codzienności</vt:lpstr>
      <vt:lpstr>Speller BCI dla Osób z Zespołem Zamknięcia</vt:lpstr>
      <vt:lpstr>ERP w Systemach Wspomagania Kierowcy (ADAS)</vt:lpstr>
      <vt:lpstr>Neurofeedback ERP</vt:lpstr>
      <vt:lpstr>Personalizowana medycyna i terapia oparta na ERP</vt:lpstr>
      <vt:lpstr>Biomarkery ERP w diagnostyce neuropsychiatrycznej</vt:lpstr>
      <vt:lpstr>Podsumowanie i dalszy rozwój</vt:lpstr>
      <vt:lpstr>KONIEC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Potencjały Wywołane (ERP)  w Badaniach Percepcji i Uwagi</dc:title>
  <dc:creator>Mateusz Pomianek</dc:creator>
  <cp:lastModifiedBy>Mateusz Pomianek</cp:lastModifiedBy>
  <cp:revision>24</cp:revision>
  <dcterms:created xsi:type="dcterms:W3CDTF">2025-10-22T10:51:58Z</dcterms:created>
  <dcterms:modified xsi:type="dcterms:W3CDTF">2025-10-22T11:44:08Z</dcterms:modified>
</cp:coreProperties>
</file>