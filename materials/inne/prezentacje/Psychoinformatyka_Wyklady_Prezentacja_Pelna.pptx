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5" r:id="rId3"/>
    <p:sldId id="257" r:id="rId4"/>
    <p:sldId id="259" r:id="rId5"/>
    <p:sldId id="302" r:id="rId6"/>
    <p:sldId id="260" r:id="rId7"/>
    <p:sldId id="261" r:id="rId8"/>
    <p:sldId id="303" r:id="rId9"/>
    <p:sldId id="304" r:id="rId10"/>
    <p:sldId id="305" r:id="rId11"/>
    <p:sldId id="306" r:id="rId12"/>
    <p:sldId id="307" r:id="rId13"/>
    <p:sldId id="308" r:id="rId14"/>
    <p:sldId id="282" r:id="rId15"/>
    <p:sldId id="262" r:id="rId16"/>
    <p:sldId id="309" r:id="rId17"/>
    <p:sldId id="263" r:id="rId18"/>
    <p:sldId id="264" r:id="rId19"/>
    <p:sldId id="310" r:id="rId20"/>
    <p:sldId id="265" r:id="rId21"/>
    <p:sldId id="266" r:id="rId22"/>
    <p:sldId id="311" r:id="rId23"/>
    <p:sldId id="312" r:id="rId24"/>
    <p:sldId id="313" r:id="rId25"/>
    <p:sldId id="283" r:id="rId26"/>
    <p:sldId id="267" r:id="rId27"/>
    <p:sldId id="268" r:id="rId28"/>
    <p:sldId id="269" r:id="rId29"/>
    <p:sldId id="270" r:id="rId30"/>
    <p:sldId id="288" r:id="rId31"/>
    <p:sldId id="287" r:id="rId32"/>
    <p:sldId id="271" r:id="rId33"/>
    <p:sldId id="289" r:id="rId34"/>
    <p:sldId id="290" r:id="rId35"/>
    <p:sldId id="284" r:id="rId36"/>
    <p:sldId id="272" r:id="rId37"/>
    <p:sldId id="273" r:id="rId38"/>
    <p:sldId id="291" r:id="rId39"/>
    <p:sldId id="274" r:id="rId40"/>
    <p:sldId id="275" r:id="rId41"/>
    <p:sldId id="292" r:id="rId42"/>
    <p:sldId id="276" r:id="rId43"/>
    <p:sldId id="293" r:id="rId44"/>
    <p:sldId id="294" r:id="rId45"/>
    <p:sldId id="295" r:id="rId46"/>
    <p:sldId id="286" r:id="rId47"/>
    <p:sldId id="277" r:id="rId48"/>
    <p:sldId id="278" r:id="rId49"/>
    <p:sldId id="279" r:id="rId50"/>
    <p:sldId id="296" r:id="rId51"/>
    <p:sldId id="280" r:id="rId52"/>
    <p:sldId id="281" r:id="rId53"/>
    <p:sldId id="297" r:id="rId54"/>
    <p:sldId id="298" r:id="rId55"/>
    <p:sldId id="299" r:id="rId56"/>
    <p:sldId id="300" r:id="rId57"/>
    <p:sldId id="301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FE5C4403-0DC6-4E94-B08F-0D87D882C32D}">
          <p14:sldIdLst>
            <p14:sldId id="256"/>
          </p14:sldIdLst>
        </p14:section>
        <p14:section name="Wprowadzenie do psychoinformatyki" id="{BBEF38CA-7956-4C0A-8DE1-CC8C31037EF2}">
          <p14:sldIdLst>
            <p14:sldId id="285"/>
            <p14:sldId id="257"/>
            <p14:sldId id="259"/>
            <p14:sldId id="302"/>
            <p14:sldId id="260"/>
            <p14:sldId id="261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Analiza danych psychologicznych" id="{435C84ED-0042-43B8-B8AF-AE4A12BD7C61}">
          <p14:sldIdLst>
            <p14:sldId id="282"/>
            <p14:sldId id="262"/>
            <p14:sldId id="309"/>
            <p14:sldId id="263"/>
            <p14:sldId id="264"/>
            <p14:sldId id="310"/>
            <p14:sldId id="265"/>
            <p14:sldId id="266"/>
            <p14:sldId id="311"/>
            <p14:sldId id="312"/>
            <p14:sldId id="313"/>
          </p14:sldIdLst>
        </p14:section>
        <p14:section name="Dane multimodalne i sensoryczne" id="{88514E1D-EA3A-46E5-9B2B-D51265384EB9}">
          <p14:sldIdLst>
            <p14:sldId id="283"/>
            <p14:sldId id="267"/>
            <p14:sldId id="268"/>
            <p14:sldId id="269"/>
            <p14:sldId id="270"/>
            <p14:sldId id="288"/>
            <p14:sldId id="287"/>
            <p14:sldId id="271"/>
            <p14:sldId id="289"/>
            <p14:sldId id="290"/>
          </p14:sldIdLst>
        </p14:section>
        <p14:section name="Sztuczna inteligencja afektywna" id="{6CF04AD0-5FA5-49A6-A9AA-AB1C90D46F1A}">
          <p14:sldIdLst>
            <p14:sldId id="284"/>
            <p14:sldId id="272"/>
            <p14:sldId id="273"/>
            <p14:sldId id="291"/>
            <p14:sldId id="274"/>
            <p14:sldId id="275"/>
            <p14:sldId id="292"/>
            <p14:sldId id="276"/>
            <p14:sldId id="293"/>
            <p14:sldId id="294"/>
            <p14:sldId id="295"/>
          </p14:sldIdLst>
        </p14:section>
        <p14:section name="Praktyczne systemy psychoinformatyczne" id="{09029B6E-6F74-433F-910C-939F4C74929D}">
          <p14:sldIdLst>
            <p14:sldId id="286"/>
            <p14:sldId id="277"/>
            <p14:sldId id="278"/>
            <p14:sldId id="279"/>
            <p14:sldId id="296"/>
            <p14:sldId id="280"/>
            <p14:sldId id="281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89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cispace.com/papers/samm-a-spontaneous-micro-facial-movement-dataset-3o8lc6xjlc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 smtClean="0">
                <a:latin typeface="BIZ UDPGothic" panose="020B0400000000000000" pitchFamily="34" charset="-128"/>
                <a:ea typeface="BIZ UDPGothic" panose="020B0400000000000000" pitchFamily="34" charset="-128"/>
              </a:rPr>
              <a:t>Psychoinformatyka</a:t>
            </a:r>
            <a:endParaRPr b="1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Politechnika Rzeszowska | dr inż. Mateusz Pomianek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Wprowadzenie do </a:t>
            </a:r>
            <a:r>
              <a:rPr lang="pl-PL" dirty="0" err="1"/>
              <a:t>psychoinformatyki</a:t>
            </a:r>
            <a:endParaRPr lang="pl-PL" dirty="0"/>
          </a:p>
        </p:txBody>
      </p:sp>
      <p:sp>
        <p:nvSpPr>
          <p:cNvPr id="5" name="Podtytuł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err="1" smtClean="0"/>
              <a:t>Wyklad</a:t>
            </a:r>
            <a:r>
              <a:rPr lang="pl-PL" dirty="0" smtClean="0"/>
              <a:t> 1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1165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 smtClean="0"/>
              <a:t>Definicja</a:t>
            </a:r>
            <a:r>
              <a:rPr dirty="0" smtClean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zakres</a:t>
            </a:r>
            <a:r>
              <a:rPr dirty="0"/>
              <a:t> </a:t>
            </a:r>
            <a:r>
              <a:rPr dirty="0" err="1"/>
              <a:t>psychoinformatyki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Psychoinformatyka </a:t>
            </a:r>
            <a:r>
              <a:rPr dirty="0" err="1"/>
              <a:t>łączy</a:t>
            </a:r>
            <a:r>
              <a:rPr dirty="0"/>
              <a:t> </a:t>
            </a:r>
            <a:r>
              <a:rPr dirty="0" err="1"/>
              <a:t>psychologię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informatykę</a:t>
            </a:r>
            <a:r>
              <a:rPr dirty="0"/>
              <a:t> w </a:t>
            </a:r>
            <a:r>
              <a:rPr dirty="0" err="1"/>
              <a:t>celu</a:t>
            </a:r>
            <a:r>
              <a:rPr dirty="0"/>
              <a:t> </a:t>
            </a:r>
            <a:r>
              <a:rPr dirty="0" err="1"/>
              <a:t>analizy</a:t>
            </a:r>
            <a:r>
              <a:rPr dirty="0"/>
              <a:t> </a:t>
            </a:r>
            <a:r>
              <a:rPr dirty="0" err="1"/>
              <a:t>procesów</a:t>
            </a:r>
            <a:r>
              <a:rPr dirty="0"/>
              <a:t> </a:t>
            </a:r>
            <a:r>
              <a:rPr dirty="0" err="1"/>
              <a:t>poznawczych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emocjonalnych</a:t>
            </a:r>
            <a:r>
              <a:rPr dirty="0"/>
              <a:t>. </a:t>
            </a:r>
            <a:r>
              <a:rPr dirty="0" smtClean="0"/>
              <a:t>DOI:10.1016/j.chb.2020.106471</a:t>
            </a:r>
            <a:endParaRPr lang="pl-PL" dirty="0" smtClean="0"/>
          </a:p>
          <a:p>
            <a:r>
              <a:rPr lang="pl-PL" dirty="0"/>
              <a:t>Integracja psychologii, neurobiologii i sztucznej inteligencji umożliwia tworzenie systemów uczących się emocji. DOI:10.1037/rev0000162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Historia </a:t>
            </a:r>
            <a:r>
              <a:rPr lang="pl-PL" b="1" dirty="0" smtClean="0"/>
              <a:t>dyscypliny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Początki </a:t>
            </a:r>
            <a:r>
              <a:rPr lang="pl-PL" dirty="0"/>
              <a:t>w latach 90. XX w. i rozwój w kontekście big data </a:t>
            </a:r>
            <a:endParaRPr lang="pl-PL" dirty="0" smtClean="0"/>
          </a:p>
          <a:p>
            <a:r>
              <a:rPr lang="pl-PL" dirty="0" smtClean="0"/>
              <a:t>DOI:10.1080/00273171.2017.1389749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Cele</a:t>
            </a:r>
            <a:r>
              <a:rPr dirty="0" smtClean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zastosowania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diagnostyka, </a:t>
            </a:r>
            <a:endParaRPr lang="pl-PL" dirty="0" smtClean="0"/>
          </a:p>
          <a:p>
            <a:r>
              <a:rPr lang="pl-PL" dirty="0" smtClean="0"/>
              <a:t>terapia</a:t>
            </a:r>
            <a:r>
              <a:rPr lang="pl-PL" dirty="0"/>
              <a:t>, interwencje terapeutyczne </a:t>
            </a:r>
            <a:endParaRPr lang="pl-PL" dirty="0" smtClean="0"/>
          </a:p>
          <a:p>
            <a:r>
              <a:rPr lang="pl-PL" dirty="0" smtClean="0"/>
              <a:t>badania </a:t>
            </a:r>
            <a:r>
              <a:rPr lang="pl-PL" dirty="0"/>
              <a:t>nad interakcją człowiek–komputer</a:t>
            </a:r>
            <a:r>
              <a:rPr lang="pl-PL" dirty="0" smtClean="0"/>
              <a:t>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6603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Ewolucja</a:t>
            </a:r>
            <a:r>
              <a:rPr dirty="0" smtClean="0"/>
              <a:t> </a:t>
            </a:r>
            <a:r>
              <a:rPr dirty="0" err="1"/>
              <a:t>psychometrii</a:t>
            </a:r>
            <a:r>
              <a:rPr dirty="0"/>
              <a:t> </a:t>
            </a:r>
            <a:r>
              <a:rPr dirty="0" err="1"/>
              <a:t>cyfrowej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Przejście </a:t>
            </a:r>
            <a:r>
              <a:rPr lang="pl-PL" dirty="0"/>
              <a:t>od kwestionariuszy papierowych do testów online</a:t>
            </a:r>
          </a:p>
          <a:p>
            <a:r>
              <a:rPr dirty="0" err="1" smtClean="0"/>
              <a:t>Zastosowanie</a:t>
            </a:r>
            <a:r>
              <a:rPr dirty="0" smtClean="0"/>
              <a:t> </a:t>
            </a:r>
            <a:r>
              <a:rPr dirty="0" err="1"/>
              <a:t>danych</a:t>
            </a:r>
            <a:r>
              <a:rPr dirty="0"/>
              <a:t> </a:t>
            </a:r>
            <a:r>
              <a:rPr dirty="0" err="1"/>
              <a:t>cyfrowych</a:t>
            </a:r>
            <a:r>
              <a:rPr dirty="0"/>
              <a:t> do </a:t>
            </a:r>
            <a:r>
              <a:rPr dirty="0" err="1"/>
              <a:t>pomiaru</a:t>
            </a:r>
            <a:r>
              <a:rPr dirty="0"/>
              <a:t> </a:t>
            </a:r>
            <a:r>
              <a:rPr dirty="0" err="1"/>
              <a:t>cech</a:t>
            </a:r>
            <a:r>
              <a:rPr dirty="0"/>
              <a:t> </a:t>
            </a:r>
            <a:r>
              <a:rPr dirty="0" err="1"/>
              <a:t>psychicznych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emocji</a:t>
            </a:r>
            <a:r>
              <a:rPr dirty="0"/>
              <a:t>. DOI:10.1080/00273171.2017.1389749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Technologie</a:t>
            </a:r>
            <a:r>
              <a:rPr dirty="0" smtClean="0"/>
              <a:t> </a:t>
            </a:r>
            <a:r>
              <a:rPr dirty="0"/>
              <a:t>w </a:t>
            </a:r>
            <a:r>
              <a:rPr dirty="0" err="1"/>
              <a:t>analizie</a:t>
            </a:r>
            <a:r>
              <a:rPr dirty="0"/>
              <a:t> zachowań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Uczenie maszynowe umożliwia analizę dużych zbiorów danych behawioralnych w badaniach psychologicznych.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Integracja z </a:t>
            </a:r>
            <a:r>
              <a:rPr lang="pl-PL" dirty="0" err="1"/>
              <a:t>neuroinformatyką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wykorzystanie danych EEG i </a:t>
            </a:r>
            <a:r>
              <a:rPr lang="pl-PL" dirty="0" err="1"/>
              <a:t>fMRI</a:t>
            </a:r>
            <a:r>
              <a:rPr lang="pl-PL" dirty="0"/>
              <a:t> w analizie emocji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958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Modelowanie emocji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znaczenie afektywnego uczenia maszynowego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522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Zastosowania kliniczne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monitorowanie nastroju i depresji przez aplikacje mobilne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281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Psychoinformatyka, </a:t>
            </a:r>
            <a:r>
              <a:rPr lang="pl-PL" dirty="0"/>
              <a:t>a etyka danych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wyzwania prywatności w analizie emocji.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089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Wpływ AI na psychologię poznawczą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automatyzacja analizy procesów myślowych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134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Podsumowanie i przyszłość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kierunki badań: AI empatyczna, personalizowane interwencje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96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Analiza danych psychologicznych</a:t>
            </a:r>
          </a:p>
        </p:txBody>
      </p:sp>
      <p:sp>
        <p:nvSpPr>
          <p:cNvPr id="5" name="Podtytuł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smtClean="0"/>
              <a:t>Wykład </a:t>
            </a:r>
            <a:r>
              <a:rPr lang="pl-PL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563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Wprowadzenie do metod analizy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różnice między podejściem klasycznym a obliczeniowym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Analiza czynnikowa (EFA/CFA)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Pozwala</a:t>
            </a:r>
            <a:r>
              <a:rPr dirty="0"/>
              <a:t> </a:t>
            </a:r>
            <a:r>
              <a:rPr dirty="0" err="1"/>
              <a:t>odkrywać</a:t>
            </a:r>
            <a:r>
              <a:rPr dirty="0"/>
              <a:t> </a:t>
            </a:r>
            <a:r>
              <a:rPr dirty="0" err="1"/>
              <a:t>struktury</a:t>
            </a:r>
            <a:r>
              <a:rPr dirty="0"/>
              <a:t> </a:t>
            </a:r>
            <a:r>
              <a:rPr dirty="0" err="1"/>
              <a:t>ukrytych</a:t>
            </a:r>
            <a:r>
              <a:rPr dirty="0"/>
              <a:t> </a:t>
            </a:r>
            <a:r>
              <a:rPr dirty="0" err="1"/>
              <a:t>zmiennych</a:t>
            </a:r>
            <a:r>
              <a:rPr dirty="0"/>
              <a:t> w </a:t>
            </a:r>
            <a:r>
              <a:rPr dirty="0" err="1"/>
              <a:t>danych</a:t>
            </a:r>
            <a:r>
              <a:rPr dirty="0"/>
              <a:t> </a:t>
            </a:r>
            <a:r>
              <a:rPr dirty="0" err="1"/>
              <a:t>psychologicznych</a:t>
            </a:r>
            <a:r>
              <a:rPr dirty="0"/>
              <a:t>. </a:t>
            </a:r>
            <a:r>
              <a:rPr dirty="0" smtClean="0"/>
              <a:t>DOI:10.1080/00273171.2017.1389749</a:t>
            </a:r>
            <a:endParaRPr lang="pl-PL" dirty="0" smtClean="0"/>
          </a:p>
          <a:p>
            <a:r>
              <a:rPr lang="pl-PL" dirty="0"/>
              <a:t>zastosowania w modelowaniu cech ukrytych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643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Item </a:t>
            </a:r>
            <a:r>
              <a:rPr dirty="0"/>
              <a:t>Response Theory (IRT)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Umożliwia</a:t>
            </a:r>
            <a:r>
              <a:rPr dirty="0"/>
              <a:t> </a:t>
            </a:r>
            <a:r>
              <a:rPr dirty="0" err="1"/>
              <a:t>adaptacyjne</a:t>
            </a:r>
            <a:r>
              <a:rPr dirty="0"/>
              <a:t> </a:t>
            </a:r>
            <a:r>
              <a:rPr dirty="0" err="1"/>
              <a:t>testowanie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precyzyjne</a:t>
            </a:r>
            <a:r>
              <a:rPr dirty="0"/>
              <a:t> </a:t>
            </a:r>
            <a:r>
              <a:rPr dirty="0" err="1"/>
              <a:t>modelowanie</a:t>
            </a:r>
            <a:r>
              <a:rPr dirty="0"/>
              <a:t> </a:t>
            </a:r>
            <a:r>
              <a:rPr dirty="0" err="1"/>
              <a:t>różnic</a:t>
            </a:r>
            <a:r>
              <a:rPr dirty="0"/>
              <a:t> </a:t>
            </a:r>
            <a:r>
              <a:rPr dirty="0" err="1"/>
              <a:t>indywidualnych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/>
              <a:t>adaptacyjne testy i ocena </a:t>
            </a:r>
            <a:r>
              <a:rPr lang="pl-PL" dirty="0" smtClean="0"/>
              <a:t>rzetelności</a:t>
            </a:r>
          </a:p>
          <a:p>
            <a:r>
              <a:rPr lang="pl-PL" dirty="0" smtClean="0"/>
              <a:t>DOI:10.4324/9780203849530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Regresja wielowymiarowa i PLS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modele predykcyjne w psychologii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Uczenie maszynowe w analizie zachowań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Modele</a:t>
            </a:r>
            <a:r>
              <a:rPr dirty="0"/>
              <a:t> </a:t>
            </a:r>
            <a:r>
              <a:rPr dirty="0" err="1"/>
              <a:t>predykcyjne</a:t>
            </a:r>
            <a:r>
              <a:rPr dirty="0"/>
              <a:t> </a:t>
            </a:r>
            <a:r>
              <a:rPr dirty="0" err="1"/>
              <a:t>wspierają</a:t>
            </a:r>
            <a:r>
              <a:rPr dirty="0"/>
              <a:t> </a:t>
            </a:r>
            <a:r>
              <a:rPr dirty="0" err="1"/>
              <a:t>analizę</a:t>
            </a:r>
            <a:r>
              <a:rPr dirty="0"/>
              <a:t> </a:t>
            </a:r>
            <a:r>
              <a:rPr dirty="0" err="1"/>
              <a:t>wyników</a:t>
            </a:r>
            <a:r>
              <a:rPr dirty="0"/>
              <a:t> </a:t>
            </a:r>
            <a:r>
              <a:rPr dirty="0" err="1"/>
              <a:t>psychologicznych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klasyfikację</a:t>
            </a:r>
            <a:r>
              <a:rPr dirty="0"/>
              <a:t> zachowań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/>
              <a:t>klasyfikacja emocji, </a:t>
            </a:r>
            <a:r>
              <a:rPr lang="pl-PL" dirty="0" err="1"/>
              <a:t>clustering</a:t>
            </a:r>
            <a:r>
              <a:rPr lang="pl-PL" dirty="0"/>
              <a:t> użytkowników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4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Analiza</a:t>
            </a:r>
            <a:r>
              <a:rPr dirty="0" smtClean="0"/>
              <a:t> </a:t>
            </a:r>
            <a:r>
              <a:rPr dirty="0" err="1" smtClean="0"/>
              <a:t>sentymentu</a:t>
            </a:r>
            <a:r>
              <a:rPr lang="pl-PL" dirty="0"/>
              <a:t> i tekstu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Analiza</a:t>
            </a:r>
            <a:r>
              <a:rPr dirty="0"/>
              <a:t> </a:t>
            </a:r>
            <a:r>
              <a:rPr dirty="0" err="1"/>
              <a:t>tonacji</a:t>
            </a:r>
            <a:r>
              <a:rPr dirty="0"/>
              <a:t> </a:t>
            </a:r>
            <a:r>
              <a:rPr dirty="0" err="1"/>
              <a:t>emocjonalnej</a:t>
            </a:r>
            <a:r>
              <a:rPr dirty="0"/>
              <a:t> w </a:t>
            </a:r>
            <a:r>
              <a:rPr dirty="0" err="1"/>
              <a:t>tekstach</a:t>
            </a:r>
            <a:r>
              <a:rPr dirty="0"/>
              <a:t> </a:t>
            </a:r>
            <a:r>
              <a:rPr dirty="0" err="1"/>
              <a:t>umożliwia</a:t>
            </a:r>
            <a:r>
              <a:rPr dirty="0"/>
              <a:t> </a:t>
            </a:r>
            <a:r>
              <a:rPr dirty="0" err="1"/>
              <a:t>ocenę</a:t>
            </a:r>
            <a:r>
              <a:rPr dirty="0"/>
              <a:t> </a:t>
            </a:r>
            <a:r>
              <a:rPr dirty="0" err="1"/>
              <a:t>nastroju</a:t>
            </a:r>
            <a:r>
              <a:rPr dirty="0"/>
              <a:t> </a:t>
            </a:r>
            <a:r>
              <a:rPr dirty="0" err="1"/>
              <a:t>badanych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/>
              <a:t>NLP w psychologii język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Wizualizacja</a:t>
            </a:r>
            <a:r>
              <a:rPr dirty="0" smtClean="0"/>
              <a:t> </a:t>
            </a:r>
            <a:r>
              <a:rPr dirty="0" err="1"/>
              <a:t>danych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Wizualne</a:t>
            </a:r>
            <a:r>
              <a:rPr dirty="0"/>
              <a:t> </a:t>
            </a:r>
            <a:r>
              <a:rPr dirty="0" err="1"/>
              <a:t>przedstawienie</a:t>
            </a:r>
            <a:r>
              <a:rPr dirty="0"/>
              <a:t> </a:t>
            </a:r>
            <a:r>
              <a:rPr dirty="0" err="1"/>
              <a:t>wyników</a:t>
            </a:r>
            <a:r>
              <a:rPr dirty="0"/>
              <a:t> </a:t>
            </a:r>
            <a:r>
              <a:rPr dirty="0" err="1"/>
              <a:t>zwiększa</a:t>
            </a:r>
            <a:r>
              <a:rPr dirty="0"/>
              <a:t> </a:t>
            </a:r>
            <a:r>
              <a:rPr dirty="0" err="1"/>
              <a:t>przejrzystość</a:t>
            </a:r>
            <a:r>
              <a:rPr dirty="0"/>
              <a:t> </a:t>
            </a:r>
            <a:r>
              <a:rPr dirty="0" err="1"/>
              <a:t>interpretacji</a:t>
            </a:r>
            <a:r>
              <a:rPr dirty="0"/>
              <a:t> </a:t>
            </a:r>
            <a:r>
              <a:rPr dirty="0" err="1"/>
              <a:t>wyników</a:t>
            </a:r>
            <a:r>
              <a:rPr dirty="0"/>
              <a:t> </a:t>
            </a:r>
            <a:r>
              <a:rPr dirty="0" err="1"/>
              <a:t>badań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 err="1"/>
              <a:t>heatmapy</a:t>
            </a:r>
            <a:r>
              <a:rPr lang="pl-PL" dirty="0"/>
              <a:t>, PCA, t-SNE w badaniach emocji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365" y="29441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l-PL" b="1" dirty="0" err="1"/>
              <a:t>Replikowalność</a:t>
            </a:r>
            <a:r>
              <a:rPr lang="pl-PL" b="1" dirty="0"/>
              <a:t> analiz </a:t>
            </a:r>
            <a:r>
              <a:rPr lang="pl-PL" b="1" dirty="0" err="1" smtClean="0"/>
              <a:t>psychoinformatycznych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znaczenie open </a:t>
            </a:r>
            <a:r>
              <a:rPr lang="pl-PL" dirty="0" smtClean="0"/>
              <a:t>data</a:t>
            </a:r>
          </a:p>
          <a:p>
            <a:r>
              <a:rPr lang="en-US" dirty="0">
                <a:hlinkClick r:id="rId2"/>
              </a:rPr>
              <a:t>SAMM: A Spontaneous Micro-Facial Movement </a:t>
            </a:r>
            <a:r>
              <a:rPr lang="en-US" dirty="0" smtClean="0">
                <a:hlinkClick r:id="rId2"/>
              </a:rPr>
              <a:t>Dataset</a:t>
            </a:r>
            <a:r>
              <a:rPr lang="pl-PL" dirty="0" smtClean="0"/>
              <a:t> </a:t>
            </a:r>
            <a:endParaRPr dirty="0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65" y="3506680"/>
            <a:ext cx="2305152" cy="298710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824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Ograniczenia i błędy </a:t>
            </a:r>
            <a:r>
              <a:rPr lang="pl-PL" b="1" dirty="0" smtClean="0"/>
              <a:t>pomiarowe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 dirty="0"/>
              <a:t>interpretacja modeli </a:t>
            </a:r>
            <a:r>
              <a:rPr lang="pl-PL" sz="2400" dirty="0" smtClean="0"/>
              <a:t>psychometrycznych</a:t>
            </a:r>
          </a:p>
          <a:p>
            <a:r>
              <a:rPr lang="pl-PL" sz="2400" dirty="0"/>
              <a:t>Li, X., Hong, X., </a:t>
            </a:r>
            <a:r>
              <a:rPr lang="pl-PL" sz="2400" dirty="0" err="1"/>
              <a:t>Moilanen</a:t>
            </a:r>
            <a:r>
              <a:rPr lang="pl-PL" sz="2400" dirty="0"/>
              <a:t>, A., Huang, X., </a:t>
            </a:r>
            <a:r>
              <a:rPr lang="pl-PL" sz="2400" dirty="0" err="1"/>
              <a:t>Pfister</a:t>
            </a:r>
            <a:r>
              <a:rPr lang="pl-PL" sz="2400" dirty="0"/>
              <a:t>, T., </a:t>
            </a:r>
            <a:r>
              <a:rPr lang="pl-PL" sz="2400" dirty="0" err="1"/>
              <a:t>Zhao</a:t>
            </a:r>
            <a:r>
              <a:rPr lang="pl-PL" sz="2400" dirty="0"/>
              <a:t>, G., &amp; </a:t>
            </a:r>
            <a:r>
              <a:rPr lang="pl-PL" sz="2400" dirty="0" err="1"/>
              <a:t>Pietikäinen</a:t>
            </a:r>
            <a:r>
              <a:rPr lang="pl-PL" sz="2400" dirty="0"/>
              <a:t>, M. (2018). </a:t>
            </a:r>
            <a:r>
              <a:rPr lang="pl-PL" sz="2400" dirty="0" err="1"/>
              <a:t>Towards</a:t>
            </a:r>
            <a:r>
              <a:rPr lang="pl-PL" sz="2400" dirty="0"/>
              <a:t> Reading </a:t>
            </a:r>
            <a:r>
              <a:rPr lang="pl-PL" sz="2400" dirty="0" err="1"/>
              <a:t>Hidden</a:t>
            </a:r>
            <a:r>
              <a:rPr lang="pl-PL" sz="2400" dirty="0"/>
              <a:t> </a:t>
            </a:r>
            <a:r>
              <a:rPr lang="pl-PL" sz="2400" dirty="0" err="1"/>
              <a:t>Emotions</a:t>
            </a:r>
            <a:r>
              <a:rPr lang="pl-PL" sz="2400" dirty="0"/>
              <a:t>: A </a:t>
            </a:r>
            <a:r>
              <a:rPr lang="pl-PL" sz="2400" dirty="0" err="1"/>
              <a:t>Comparative</a:t>
            </a:r>
            <a:r>
              <a:rPr lang="pl-PL" sz="2400" dirty="0"/>
              <a:t> </a:t>
            </a:r>
            <a:r>
              <a:rPr lang="pl-PL" sz="2400" dirty="0" err="1"/>
              <a:t>Study</a:t>
            </a:r>
            <a:r>
              <a:rPr lang="pl-PL" sz="2400" dirty="0"/>
              <a:t> of </a:t>
            </a:r>
            <a:r>
              <a:rPr lang="pl-PL" sz="2400" dirty="0" err="1"/>
              <a:t>Spontaneous</a:t>
            </a:r>
            <a:r>
              <a:rPr lang="pl-PL" sz="2400" dirty="0"/>
              <a:t> Micro-</a:t>
            </a:r>
            <a:r>
              <a:rPr lang="pl-PL" sz="2400" dirty="0" err="1"/>
              <a:t>Expression</a:t>
            </a:r>
            <a:r>
              <a:rPr lang="pl-PL" sz="2400" dirty="0"/>
              <a:t> </a:t>
            </a:r>
            <a:r>
              <a:rPr lang="pl-PL" sz="2400" dirty="0" err="1"/>
              <a:t>Spotting</a:t>
            </a:r>
            <a:r>
              <a:rPr lang="pl-PL" sz="2400" dirty="0"/>
              <a:t> and </a:t>
            </a:r>
            <a:r>
              <a:rPr lang="pl-PL" sz="2400" dirty="0" err="1"/>
              <a:t>Recognition</a:t>
            </a:r>
            <a:r>
              <a:rPr lang="pl-PL" sz="2400" dirty="0"/>
              <a:t> </a:t>
            </a:r>
            <a:r>
              <a:rPr lang="pl-PL" sz="2400" dirty="0" err="1"/>
              <a:t>Methods</a:t>
            </a:r>
            <a:r>
              <a:rPr lang="pl-PL" sz="2400" dirty="0"/>
              <a:t>. </a:t>
            </a:r>
            <a:r>
              <a:rPr lang="pl-PL" sz="2400" i="1" dirty="0"/>
              <a:t>IEEE </a:t>
            </a:r>
            <a:r>
              <a:rPr lang="pl-PL" sz="2400" i="1" dirty="0" err="1"/>
              <a:t>Transactions</a:t>
            </a:r>
            <a:r>
              <a:rPr lang="pl-PL" sz="2400" i="1" dirty="0"/>
              <a:t> on </a:t>
            </a:r>
            <a:r>
              <a:rPr lang="pl-PL" sz="2400" i="1" dirty="0" err="1"/>
              <a:t>Affective</a:t>
            </a:r>
            <a:r>
              <a:rPr lang="pl-PL" sz="2400" i="1" dirty="0"/>
              <a:t> Computing</a:t>
            </a:r>
            <a:r>
              <a:rPr lang="pl-PL" sz="2400" dirty="0"/>
              <a:t>, </a:t>
            </a:r>
            <a:r>
              <a:rPr lang="pl-PL" sz="2400" i="1" dirty="0"/>
              <a:t>9</a:t>
            </a:r>
            <a:r>
              <a:rPr lang="pl-PL" sz="2400" dirty="0"/>
              <a:t>(4), 563–577. https://doi.org/10.1109/TAFFC.2017.2667642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3292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Nowe </a:t>
            </a:r>
            <a:r>
              <a:rPr lang="pl-PL" b="1" dirty="0" smtClean="0"/>
              <a:t>kierunki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 err="1" smtClean="0"/>
              <a:t>Explainable</a:t>
            </a:r>
            <a:r>
              <a:rPr lang="pl-PL" b="1" dirty="0" smtClean="0"/>
              <a:t> </a:t>
            </a:r>
            <a:r>
              <a:rPr lang="pl-PL" b="1" dirty="0"/>
              <a:t>AI </a:t>
            </a:r>
            <a:r>
              <a:rPr lang="pl-PL" dirty="0"/>
              <a:t>w psychologii </a:t>
            </a:r>
            <a:r>
              <a:rPr lang="pl-PL" dirty="0" smtClean="0"/>
              <a:t>obliczeniowej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812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Dane multimodalne 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i sensoryczne</a:t>
            </a:r>
            <a:endParaRPr lang="pl-PL" dirty="0"/>
          </a:p>
        </p:txBody>
      </p:sp>
      <p:sp>
        <p:nvSpPr>
          <p:cNvPr id="5" name="Podtytuł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Wykład 3</a:t>
            </a:r>
          </a:p>
        </p:txBody>
      </p:sp>
    </p:spTree>
    <p:extLst>
      <p:ext uri="{BB962C8B-B14F-4D97-AF65-F5344CB8AC3E}">
        <p14:creationId xmlns:p14="http://schemas.microsoft.com/office/powerpoint/2010/main" val="328989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Czujniki</a:t>
            </a:r>
            <a:r>
              <a:rPr dirty="0" smtClean="0"/>
              <a:t> </a:t>
            </a:r>
            <a:r>
              <a:rPr dirty="0"/>
              <a:t>EDA </a:t>
            </a:r>
            <a:r>
              <a:rPr dirty="0" err="1"/>
              <a:t>i</a:t>
            </a:r>
            <a:r>
              <a:rPr dirty="0"/>
              <a:t> HRV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Pomiar reakcji fizjologicznych związanych z emocjami, stresem i pobudzeniem. DOI:10.1109/EMBC.2018.8512944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EEG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fNIRS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Pomiar aktywności mózgowej w czasie rzeczywistym w kontekście emocji i uwagi.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Eye </a:t>
            </a:r>
            <a:r>
              <a:rPr dirty="0"/>
              <a:t>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Analiza ruchu gałek ocznych ujawnia strategie poznawcze i emocjonalne. DOI:10.1037/xge0000951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Analiza głosu i mowy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smtClean="0"/>
              <a:t>Ekstrakcja </a:t>
            </a:r>
            <a:r>
              <a:rPr lang="pl-PL" dirty="0"/>
              <a:t>cech prozodycznych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Dane z ruchu i postawy (IMU)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smtClean="0"/>
              <a:t>Rozpoznawanie </a:t>
            </a:r>
            <a:r>
              <a:rPr lang="pl-PL" dirty="0"/>
              <a:t>emocji z dynamiki ciała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0048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Integracja</a:t>
            </a:r>
            <a:r>
              <a:rPr dirty="0" smtClean="0"/>
              <a:t> </a:t>
            </a:r>
            <a:r>
              <a:rPr dirty="0" err="1"/>
              <a:t>sygnałów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Synchronizacja</a:t>
            </a:r>
            <a:r>
              <a:rPr dirty="0"/>
              <a:t> </a:t>
            </a:r>
            <a:r>
              <a:rPr dirty="0" err="1"/>
              <a:t>multimodalnych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</a:t>
            </a:r>
            <a:r>
              <a:rPr dirty="0" err="1"/>
              <a:t>umożliwia</a:t>
            </a:r>
            <a:r>
              <a:rPr dirty="0"/>
              <a:t> </a:t>
            </a:r>
            <a:r>
              <a:rPr dirty="0" err="1"/>
              <a:t>modelowanie</a:t>
            </a:r>
            <a:r>
              <a:rPr dirty="0"/>
              <a:t> </a:t>
            </a:r>
            <a:r>
              <a:rPr dirty="0" err="1"/>
              <a:t>złożonych</a:t>
            </a:r>
            <a:r>
              <a:rPr dirty="0"/>
              <a:t> </a:t>
            </a:r>
            <a:r>
              <a:rPr dirty="0" err="1"/>
              <a:t>reakcji</a:t>
            </a:r>
            <a:r>
              <a:rPr dirty="0"/>
              <a:t> </a:t>
            </a:r>
            <a:r>
              <a:rPr dirty="0" err="1"/>
              <a:t>psychofizjologicznych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 smtClean="0"/>
              <a:t>Fuzja </a:t>
            </a:r>
            <a:r>
              <a:rPr lang="pl-PL" dirty="0"/>
              <a:t>danych czasowych i przestrzennych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0500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 smtClean="0"/>
              <a:t>Przetwarzanie</a:t>
            </a:r>
            <a:r>
              <a:rPr dirty="0" smtClean="0"/>
              <a:t> </a:t>
            </a:r>
            <a:r>
              <a:rPr dirty="0"/>
              <a:t>w </a:t>
            </a:r>
            <a:r>
              <a:rPr dirty="0" err="1"/>
              <a:t>czasie</a:t>
            </a:r>
            <a:r>
              <a:rPr dirty="0"/>
              <a:t> </a:t>
            </a:r>
            <a:r>
              <a:rPr dirty="0" err="1"/>
              <a:t>rzeczywistym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Systemy</a:t>
            </a:r>
            <a:r>
              <a:rPr dirty="0"/>
              <a:t> online </a:t>
            </a:r>
            <a:r>
              <a:rPr dirty="0" err="1"/>
              <a:t>pozwalają</a:t>
            </a:r>
            <a:r>
              <a:rPr dirty="0"/>
              <a:t> </a:t>
            </a:r>
            <a:r>
              <a:rPr dirty="0" err="1"/>
              <a:t>analizować</a:t>
            </a:r>
            <a:r>
              <a:rPr dirty="0"/>
              <a:t> </a:t>
            </a:r>
            <a:r>
              <a:rPr dirty="0" err="1"/>
              <a:t>dane</a:t>
            </a:r>
            <a:r>
              <a:rPr dirty="0"/>
              <a:t> </a:t>
            </a:r>
            <a:r>
              <a:rPr dirty="0" err="1"/>
              <a:t>behawioralne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biologiczne</a:t>
            </a:r>
            <a:r>
              <a:rPr dirty="0"/>
              <a:t> </a:t>
            </a:r>
            <a:r>
              <a:rPr dirty="0" err="1"/>
              <a:t>równocześnie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/>
              <a:t>streaming i analiza online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b="1" dirty="0"/>
              <a:t>Standaryzacja danych sensorycznych</a:t>
            </a:r>
            <a:r>
              <a:rPr lang="pl-PL" dirty="0"/>
              <a:t> –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I</a:t>
            </a:r>
            <a:r>
              <a:rPr lang="pl-PL" dirty="0" smtClean="0"/>
              <a:t>nteroperacyjność </a:t>
            </a:r>
            <a:r>
              <a:rPr lang="pl-PL" dirty="0"/>
              <a:t>systemów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0219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Przykłady </a:t>
            </a:r>
            <a:r>
              <a:rPr lang="pl-PL" b="1" dirty="0" smtClean="0"/>
              <a:t>badań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Systemy </a:t>
            </a:r>
            <a:r>
              <a:rPr lang="pl-PL" dirty="0" err="1"/>
              <a:t>EDA+EEG+eye</a:t>
            </a:r>
            <a:r>
              <a:rPr lang="pl-PL" dirty="0"/>
              <a:t> </a:t>
            </a:r>
            <a:r>
              <a:rPr lang="pl-PL" dirty="0" err="1"/>
              <a:t>tracking</a:t>
            </a:r>
            <a:r>
              <a:rPr lang="pl-PL" dirty="0"/>
              <a:t> w analizie </a:t>
            </a:r>
            <a:r>
              <a:rPr lang="pl-PL" dirty="0" smtClean="0"/>
              <a:t>stresu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6808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Sztuczna inteligencja afektywna</a:t>
            </a:r>
          </a:p>
        </p:txBody>
      </p:sp>
      <p:sp>
        <p:nvSpPr>
          <p:cNvPr id="5" name="Podtytuł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Wykład 4</a:t>
            </a:r>
          </a:p>
        </p:txBody>
      </p:sp>
    </p:spTree>
    <p:extLst>
      <p:ext uri="{BB962C8B-B14F-4D97-AF65-F5344CB8AC3E}">
        <p14:creationId xmlns:p14="http://schemas.microsoft.com/office/powerpoint/2010/main" val="521320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Definicja</a:t>
            </a:r>
            <a:r>
              <a:rPr dirty="0" smtClean="0"/>
              <a:t> </a:t>
            </a:r>
            <a:r>
              <a:rPr dirty="0"/>
              <a:t>AI </a:t>
            </a:r>
            <a:r>
              <a:rPr dirty="0" err="1"/>
              <a:t>afektywnej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Dziedzina</a:t>
            </a:r>
            <a:r>
              <a:rPr dirty="0"/>
              <a:t> </a:t>
            </a:r>
            <a:r>
              <a:rPr dirty="0" err="1"/>
              <a:t>badająca</a:t>
            </a:r>
            <a:r>
              <a:rPr dirty="0"/>
              <a:t>, </a:t>
            </a:r>
            <a:r>
              <a:rPr dirty="0" err="1"/>
              <a:t>jak</a:t>
            </a:r>
            <a:r>
              <a:rPr dirty="0"/>
              <a:t> </a:t>
            </a:r>
            <a:r>
              <a:rPr dirty="0" err="1"/>
              <a:t>systemy</a:t>
            </a:r>
            <a:r>
              <a:rPr dirty="0"/>
              <a:t> </a:t>
            </a:r>
            <a:r>
              <a:rPr dirty="0" err="1"/>
              <a:t>mogą</a:t>
            </a:r>
            <a:r>
              <a:rPr dirty="0"/>
              <a:t> </a:t>
            </a:r>
            <a:r>
              <a:rPr dirty="0" err="1"/>
              <a:t>rozpoznawać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reagować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emocje</a:t>
            </a:r>
            <a:r>
              <a:rPr dirty="0"/>
              <a:t> </a:t>
            </a:r>
            <a:r>
              <a:rPr dirty="0" err="1" smtClean="0"/>
              <a:t>ludzkie</a:t>
            </a:r>
            <a:r>
              <a:rPr dirty="0" smtClean="0"/>
              <a:t>.</a:t>
            </a:r>
            <a:r>
              <a:rPr lang="pl-PL" dirty="0"/>
              <a:t> </a:t>
            </a:r>
            <a:endParaRPr lang="pl-PL" dirty="0" smtClean="0"/>
          </a:p>
          <a:p>
            <a:r>
              <a:rPr dirty="0" smtClean="0"/>
              <a:t>DOI:10.1109/TAFFC.2015.2449831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Uczenie</a:t>
            </a:r>
            <a:r>
              <a:rPr dirty="0" smtClean="0"/>
              <a:t> </a:t>
            </a:r>
            <a:r>
              <a:rPr dirty="0" err="1"/>
              <a:t>głębokie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Zastosowanie</a:t>
            </a:r>
            <a:r>
              <a:rPr dirty="0"/>
              <a:t> </a:t>
            </a:r>
            <a:r>
              <a:rPr lang="pl-PL" dirty="0"/>
              <a:t>CNN, RNN, </a:t>
            </a:r>
            <a:r>
              <a:rPr lang="pl-PL" dirty="0" smtClean="0"/>
              <a:t>LSTM </a:t>
            </a:r>
            <a:r>
              <a:rPr dirty="0" smtClean="0"/>
              <a:t>do </a:t>
            </a:r>
            <a:r>
              <a:rPr dirty="0" err="1"/>
              <a:t>analizy</a:t>
            </a:r>
            <a:r>
              <a:rPr dirty="0"/>
              <a:t> </a:t>
            </a:r>
            <a:r>
              <a:rPr dirty="0" err="1"/>
              <a:t>ekspresji</a:t>
            </a:r>
            <a:r>
              <a:rPr dirty="0"/>
              <a:t> </a:t>
            </a:r>
            <a:r>
              <a:rPr dirty="0" err="1"/>
              <a:t>emocjonalnych</a:t>
            </a:r>
            <a:r>
              <a:rPr dirty="0"/>
              <a:t> w </a:t>
            </a:r>
            <a:r>
              <a:rPr dirty="0" err="1"/>
              <a:t>obrazie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 smtClean="0"/>
              <a:t>dźwięku</a:t>
            </a:r>
            <a:r>
              <a:rPr dirty="0" smtClean="0"/>
              <a:t>.</a:t>
            </a:r>
            <a:r>
              <a:rPr lang="pl-PL" dirty="0" smtClean="0"/>
              <a:t> </a:t>
            </a:r>
          </a:p>
          <a:p>
            <a:r>
              <a:rPr dirty="0" smtClean="0"/>
              <a:t>DOI:10.1109/TPAMI.2018.2874748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Modele multimodalne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smtClean="0"/>
              <a:t>Fuzja </a:t>
            </a:r>
            <a:r>
              <a:rPr lang="pl-PL" dirty="0"/>
              <a:t>obrazu, dźwięku, tekstu</a:t>
            </a:r>
          </a:p>
        </p:txBody>
      </p:sp>
    </p:spTree>
    <p:extLst>
      <p:ext uri="{BB962C8B-B14F-4D97-AF65-F5344CB8AC3E}">
        <p14:creationId xmlns:p14="http://schemas.microsoft.com/office/powerpoint/2010/main" val="2985103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Empatia</a:t>
            </a:r>
            <a:r>
              <a:rPr dirty="0" smtClean="0"/>
              <a:t> </a:t>
            </a:r>
            <a:r>
              <a:rPr dirty="0" err="1"/>
              <a:t>obliczeniowa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Systemy </a:t>
            </a:r>
            <a:r>
              <a:rPr lang="pl-PL" dirty="0"/>
              <a:t>uczące się reakcji </a:t>
            </a:r>
            <a:r>
              <a:rPr lang="pl-PL" dirty="0" smtClean="0"/>
              <a:t>emocjonalnych. </a:t>
            </a:r>
            <a:r>
              <a:rPr dirty="0" err="1" smtClean="0"/>
              <a:t>Projektowanie</a:t>
            </a:r>
            <a:r>
              <a:rPr dirty="0" smtClean="0"/>
              <a:t> </a:t>
            </a:r>
            <a:r>
              <a:rPr dirty="0" err="1"/>
              <a:t>modeli</a:t>
            </a:r>
            <a:r>
              <a:rPr dirty="0"/>
              <a:t> </a:t>
            </a:r>
            <a:r>
              <a:rPr dirty="0" err="1"/>
              <a:t>umożliwiających</a:t>
            </a:r>
            <a:r>
              <a:rPr dirty="0"/>
              <a:t> </a:t>
            </a:r>
            <a:r>
              <a:rPr dirty="0" err="1"/>
              <a:t>symulowanie</a:t>
            </a:r>
            <a:r>
              <a:rPr dirty="0"/>
              <a:t> </a:t>
            </a:r>
            <a:r>
              <a:rPr dirty="0" err="1"/>
              <a:t>empatii</a:t>
            </a:r>
            <a:r>
              <a:rPr dirty="0"/>
              <a:t> w </a:t>
            </a:r>
            <a:r>
              <a:rPr dirty="0" err="1"/>
              <a:t>interakcjach</a:t>
            </a:r>
            <a:r>
              <a:rPr dirty="0"/>
              <a:t> HCI.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Interfejsy</a:t>
            </a:r>
            <a:r>
              <a:rPr dirty="0" smtClean="0"/>
              <a:t> </a:t>
            </a:r>
            <a:r>
              <a:rPr dirty="0" err="1"/>
              <a:t>człowiek</a:t>
            </a:r>
            <a:r>
              <a:rPr dirty="0"/>
              <a:t>–</a:t>
            </a:r>
            <a:r>
              <a:rPr dirty="0" err="1"/>
              <a:t>maszyna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Systemy</a:t>
            </a:r>
            <a:r>
              <a:rPr dirty="0" smtClean="0"/>
              <a:t> </a:t>
            </a:r>
            <a:r>
              <a:rPr dirty="0" err="1"/>
              <a:t>reagujące</a:t>
            </a:r>
            <a:r>
              <a:rPr dirty="0"/>
              <a:t> </a:t>
            </a:r>
            <a:r>
              <a:rPr dirty="0" err="1"/>
              <a:t>emocjonalnie</a:t>
            </a:r>
            <a:r>
              <a:rPr dirty="0"/>
              <a:t> </a:t>
            </a:r>
            <a:r>
              <a:rPr dirty="0" err="1"/>
              <a:t>zwiększają</a:t>
            </a:r>
            <a:r>
              <a:rPr dirty="0"/>
              <a:t> </a:t>
            </a:r>
            <a:r>
              <a:rPr dirty="0" err="1"/>
              <a:t>jakość</a:t>
            </a:r>
            <a:r>
              <a:rPr dirty="0"/>
              <a:t> </a:t>
            </a:r>
            <a:r>
              <a:rPr dirty="0" err="1"/>
              <a:t>komunikacji</a:t>
            </a:r>
            <a:r>
              <a:rPr dirty="0"/>
              <a:t> </a:t>
            </a:r>
            <a:r>
              <a:rPr dirty="0" err="1"/>
              <a:t>człowieka</a:t>
            </a:r>
            <a:r>
              <a:rPr dirty="0"/>
              <a:t> z </a:t>
            </a:r>
            <a:r>
              <a:rPr dirty="0" err="1" smtClean="0"/>
              <a:t>maszyną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 smtClean="0"/>
              <a:t>Adaptacyjne </a:t>
            </a:r>
            <a:r>
              <a:rPr lang="pl-PL" dirty="0"/>
              <a:t>interakcje z użytkownikiem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b="1" dirty="0"/>
              <a:t>Systemy konwersacyjne (</a:t>
            </a:r>
            <a:r>
              <a:rPr lang="pl-PL" b="1" dirty="0" err="1"/>
              <a:t>chatboty</a:t>
            </a:r>
            <a:r>
              <a:rPr lang="pl-PL" b="1" dirty="0"/>
              <a:t> emocjonalne)</a:t>
            </a:r>
            <a:r>
              <a:rPr lang="pl-PL" dirty="0"/>
              <a:t> 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zastosowania w e-terapii</a:t>
            </a:r>
          </a:p>
        </p:txBody>
      </p:sp>
    </p:spTree>
    <p:extLst>
      <p:ext uri="{BB962C8B-B14F-4D97-AF65-F5344CB8AC3E}">
        <p14:creationId xmlns:p14="http://schemas.microsoft.com/office/powerpoint/2010/main" val="3125768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Etyka</a:t>
            </a:r>
            <a:r>
              <a:rPr dirty="0" smtClean="0"/>
              <a:t> </a:t>
            </a:r>
            <a:r>
              <a:rPr dirty="0" err="1"/>
              <a:t>danych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Konieczność</a:t>
            </a:r>
            <a:r>
              <a:rPr dirty="0"/>
              <a:t> </a:t>
            </a:r>
            <a:r>
              <a:rPr dirty="0" err="1"/>
              <a:t>ochrony</a:t>
            </a:r>
            <a:r>
              <a:rPr dirty="0"/>
              <a:t> </a:t>
            </a:r>
            <a:r>
              <a:rPr dirty="0" err="1"/>
              <a:t>prywatności</a:t>
            </a:r>
            <a:r>
              <a:rPr dirty="0"/>
              <a:t> w </a:t>
            </a:r>
            <a:r>
              <a:rPr dirty="0" err="1"/>
              <a:t>analizie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</a:t>
            </a:r>
            <a:r>
              <a:rPr dirty="0" err="1"/>
              <a:t>emocjonalnych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/>
              <a:t>przechowywanie i </a:t>
            </a:r>
            <a:r>
              <a:rPr lang="pl-PL" dirty="0" err="1"/>
              <a:t>anonimizacja</a:t>
            </a:r>
            <a:r>
              <a:rPr lang="pl-PL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Ocena skuteczności AI </a:t>
            </a:r>
            <a:r>
              <a:rPr lang="pl-PL" b="1" dirty="0" smtClean="0"/>
              <a:t>afektywnej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Walidacja </a:t>
            </a:r>
            <a:r>
              <a:rPr lang="pl-PL" dirty="0"/>
              <a:t>psychometryczna </a:t>
            </a:r>
            <a:r>
              <a:rPr lang="pl-PL" dirty="0" smtClean="0"/>
              <a:t>modeli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5857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Symulacja emocji w robotach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emocje syntetyczne w HRI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11966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Granice AI </a:t>
            </a:r>
            <a:r>
              <a:rPr lang="pl-PL" b="1" dirty="0" smtClean="0"/>
              <a:t>afektywnej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Różnice </a:t>
            </a:r>
            <a:r>
              <a:rPr lang="pl-PL" dirty="0"/>
              <a:t>między symulacją a doświadczaniem emocji.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7697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Praktyczne systemy </a:t>
            </a:r>
            <a:r>
              <a:rPr lang="pl-PL" dirty="0" err="1"/>
              <a:t>psychoinformatyczne</a:t>
            </a:r>
            <a:endParaRPr lang="pl-PL" dirty="0"/>
          </a:p>
        </p:txBody>
      </p:sp>
      <p:sp>
        <p:nvSpPr>
          <p:cNvPr id="5" name="Podtytuł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smtClean="0"/>
              <a:t>Wykład 5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61429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Systemy</a:t>
            </a:r>
            <a:r>
              <a:rPr dirty="0" smtClean="0"/>
              <a:t> </a:t>
            </a:r>
            <a:r>
              <a:rPr dirty="0" err="1"/>
              <a:t>diagnostyczne</a:t>
            </a:r>
            <a:r>
              <a:rPr dirty="0"/>
              <a:t>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Aplikacje</a:t>
            </a:r>
            <a:r>
              <a:rPr dirty="0"/>
              <a:t> </a:t>
            </a:r>
            <a:r>
              <a:rPr dirty="0" err="1"/>
              <a:t>terapeutyczne</a:t>
            </a:r>
            <a:r>
              <a:rPr dirty="0"/>
              <a:t> </a:t>
            </a:r>
            <a:r>
              <a:rPr dirty="0" err="1"/>
              <a:t>wykorzystujące</a:t>
            </a:r>
            <a:r>
              <a:rPr dirty="0"/>
              <a:t> AI do </a:t>
            </a:r>
            <a:r>
              <a:rPr dirty="0" err="1"/>
              <a:t>oceny</a:t>
            </a:r>
            <a:r>
              <a:rPr dirty="0"/>
              <a:t> </a:t>
            </a:r>
            <a:r>
              <a:rPr dirty="0" err="1"/>
              <a:t>nastroju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emocji</a:t>
            </a:r>
            <a:r>
              <a:rPr dirty="0" smtClean="0"/>
              <a:t>.</a:t>
            </a:r>
            <a:r>
              <a:rPr lang="pl-PL" dirty="0"/>
              <a:t> </a:t>
            </a:r>
            <a:endParaRPr lang="pl-PL" dirty="0" smtClean="0"/>
          </a:p>
          <a:p>
            <a:r>
              <a:rPr lang="pl-PL" dirty="0" smtClean="0"/>
              <a:t>Automatyczna </a:t>
            </a:r>
            <a:r>
              <a:rPr lang="pl-PL" dirty="0"/>
              <a:t>ocena emocji i nastroju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Roboty</a:t>
            </a:r>
            <a:r>
              <a:rPr dirty="0" smtClean="0"/>
              <a:t> </a:t>
            </a:r>
            <a:r>
              <a:rPr dirty="0" err="1"/>
              <a:t>społeczne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Roboty uczą się interpretować emocje użytkowników i reagować empatycznie. DOI:10.1016/j.cogsys.2019.03.002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Biofeedback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Systemy biofeedback wspomagają samoregulację emocji i redukcję stresu. DOI:10.1016/j.biosystems.2018.08.004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 smtClean="0"/>
              <a:t>neurofeedback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trening autoregulacji emocjonalnej (DOI:10.1016/j.biosystems.2018.08.004).</a:t>
            </a:r>
          </a:p>
        </p:txBody>
      </p:sp>
    </p:spTree>
    <p:extLst>
      <p:ext uri="{BB962C8B-B14F-4D97-AF65-F5344CB8AC3E}">
        <p14:creationId xmlns:p14="http://schemas.microsoft.com/office/powerpoint/2010/main" val="28312476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Monitoring </a:t>
            </a:r>
            <a:r>
              <a:rPr dirty="0" err="1"/>
              <a:t>poznawczy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Zastosowanie</a:t>
            </a:r>
            <a:r>
              <a:rPr dirty="0" smtClean="0"/>
              <a:t> </a:t>
            </a:r>
            <a:r>
              <a:rPr dirty="0"/>
              <a:t>AI do </a:t>
            </a:r>
            <a:r>
              <a:rPr lang="pl-PL" dirty="0" smtClean="0"/>
              <a:t>wykrywania i </a:t>
            </a:r>
            <a:r>
              <a:rPr dirty="0" err="1" smtClean="0"/>
              <a:t>oceny</a:t>
            </a:r>
            <a:r>
              <a:rPr dirty="0" smtClean="0"/>
              <a:t> </a:t>
            </a:r>
            <a:r>
              <a:rPr dirty="0" err="1"/>
              <a:t>poziomu</a:t>
            </a:r>
            <a:r>
              <a:rPr dirty="0"/>
              <a:t> </a:t>
            </a:r>
            <a:r>
              <a:rPr dirty="0" err="1" smtClean="0"/>
              <a:t>koncentracji</a:t>
            </a:r>
            <a:r>
              <a:rPr lang="pl-PL" dirty="0" smtClean="0"/>
              <a:t> lub</a:t>
            </a:r>
            <a:r>
              <a:rPr dirty="0" smtClean="0"/>
              <a:t> </a:t>
            </a:r>
            <a:r>
              <a:rPr dirty="0" err="1"/>
              <a:t>zmęczenia</a:t>
            </a:r>
            <a:r>
              <a:rPr dirty="0"/>
              <a:t> w </a:t>
            </a:r>
            <a:r>
              <a:rPr dirty="0" err="1"/>
              <a:t>pracy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Systemy wspierające zdrowie psychiczne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 smtClean="0"/>
              <a:t>Aaplikacje</a:t>
            </a:r>
            <a:r>
              <a:rPr lang="pl-PL" dirty="0" smtClean="0"/>
              <a:t> </a:t>
            </a:r>
            <a:r>
              <a:rPr lang="pl-PL" dirty="0"/>
              <a:t>mobilne i </a:t>
            </a:r>
            <a:r>
              <a:rPr lang="pl-PL" dirty="0" err="1"/>
              <a:t>wearables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/>
              <a:t>Integracja z VR/AR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Symulacje </a:t>
            </a:r>
            <a:r>
              <a:rPr lang="pl-PL" dirty="0"/>
              <a:t>emocjonalne i trening </a:t>
            </a:r>
            <a:r>
              <a:rPr lang="pl-PL" dirty="0" smtClean="0"/>
              <a:t>empatii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2393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Personalizacja systemów </a:t>
            </a:r>
            <a:r>
              <a:rPr lang="pl-PL" dirty="0" smtClean="0"/>
              <a:t>AI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Adaptacja </a:t>
            </a:r>
            <a:r>
              <a:rPr lang="pl-PL" dirty="0"/>
              <a:t>do profilu użytkownika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33517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Etyka</a:t>
            </a:r>
            <a:r>
              <a:rPr dirty="0" smtClean="0"/>
              <a:t> </a:t>
            </a:r>
            <a:r>
              <a:rPr dirty="0" err="1"/>
              <a:t>technologiczna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Badanie</a:t>
            </a:r>
            <a:r>
              <a:rPr dirty="0"/>
              <a:t> </a:t>
            </a:r>
            <a:r>
              <a:rPr dirty="0" err="1"/>
              <a:t>granic</a:t>
            </a:r>
            <a:r>
              <a:rPr dirty="0"/>
              <a:t> </a:t>
            </a:r>
            <a:r>
              <a:rPr dirty="0" err="1"/>
              <a:t>ingerencji</a:t>
            </a:r>
            <a:r>
              <a:rPr dirty="0"/>
              <a:t> AI w </a:t>
            </a:r>
            <a:r>
              <a:rPr dirty="0" err="1"/>
              <a:t>ludzkie</a:t>
            </a:r>
            <a:r>
              <a:rPr dirty="0"/>
              <a:t> </a:t>
            </a:r>
            <a:r>
              <a:rPr dirty="0" err="1"/>
              <a:t>emocje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prywatność</a:t>
            </a:r>
            <a:r>
              <a:rPr dirty="0" smtClean="0"/>
              <a:t>.</a:t>
            </a:r>
            <a:endParaRPr lang="pl-PL" dirty="0" smtClean="0"/>
          </a:p>
          <a:p>
            <a:r>
              <a:rPr lang="pl-PL" dirty="0" smtClean="0"/>
              <a:t>Odpowiedzialność </a:t>
            </a:r>
            <a:r>
              <a:rPr lang="pl-PL" dirty="0"/>
              <a:t>projektantów AI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64085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Wdrożenia przemysłowe i kliniczne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przykłady (</a:t>
            </a:r>
            <a:r>
              <a:rPr lang="pl-PL" dirty="0" err="1"/>
              <a:t>Woebot</a:t>
            </a:r>
            <a:r>
              <a:rPr lang="pl-PL" dirty="0"/>
              <a:t>, Replika, </a:t>
            </a:r>
            <a:r>
              <a:rPr lang="pl-PL" dirty="0" err="1"/>
              <a:t>ElliQ</a:t>
            </a:r>
            <a:r>
              <a:rPr lang="pl-PL" dirty="0" smtClean="0"/>
              <a:t>).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75780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 smtClean="0"/>
              <a:t>Podsumowanie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Kierunki </a:t>
            </a:r>
            <a:r>
              <a:rPr lang="pl-PL" dirty="0"/>
              <a:t>rozwoju i potencjał </a:t>
            </a:r>
            <a:r>
              <a:rPr lang="pl-PL" dirty="0" smtClean="0"/>
              <a:t>interdyscyplinarny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7240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Microsoft Office PowerPoint</Application>
  <PresentationFormat>Pokaz na ekranie (4:3)</PresentationFormat>
  <Paragraphs>135</Paragraphs>
  <Slides>57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57</vt:i4>
      </vt:variant>
    </vt:vector>
  </HeadingPairs>
  <TitlesOfParts>
    <vt:vector size="61" baseType="lpstr">
      <vt:lpstr>BIZ UDPGothic</vt:lpstr>
      <vt:lpstr>Arial</vt:lpstr>
      <vt:lpstr>Calibri</vt:lpstr>
      <vt:lpstr>Office Theme</vt:lpstr>
      <vt:lpstr>Psychoinformatyka</vt:lpstr>
      <vt:lpstr>Wprowadzenie do psychoinformatyki</vt:lpstr>
      <vt:lpstr>Definicja i zakres psychoinformatyki</vt:lpstr>
      <vt:lpstr>Historia dyscypliny</vt:lpstr>
      <vt:lpstr>Cele i zastosowania</vt:lpstr>
      <vt:lpstr>Ewolucja psychometrii cyfrowej</vt:lpstr>
      <vt:lpstr>Technologie w analizie zachowań</vt:lpstr>
      <vt:lpstr>Integracja z neuroinformatyką</vt:lpstr>
      <vt:lpstr>Modelowanie emocji</vt:lpstr>
      <vt:lpstr>Zastosowania kliniczne</vt:lpstr>
      <vt:lpstr>Psychoinformatyka, a etyka danych</vt:lpstr>
      <vt:lpstr>Wpływ AI na psychologię poznawczą</vt:lpstr>
      <vt:lpstr>Podsumowanie i przyszłość</vt:lpstr>
      <vt:lpstr>Analiza danych psychologicznych</vt:lpstr>
      <vt:lpstr>Wprowadzenie do metod analizy</vt:lpstr>
      <vt:lpstr>Analiza czynnikowa (EFA/CFA)</vt:lpstr>
      <vt:lpstr>Item Response Theory (IRT)</vt:lpstr>
      <vt:lpstr>Regresja wielowymiarowa i PLS</vt:lpstr>
      <vt:lpstr>Uczenie maszynowe w analizie zachowań</vt:lpstr>
      <vt:lpstr>Analiza sentymentu i tekstu</vt:lpstr>
      <vt:lpstr>Wizualizacja danych</vt:lpstr>
      <vt:lpstr>Replikowalność analiz psychoinformatycznych</vt:lpstr>
      <vt:lpstr>Ograniczenia i błędy pomiarowe</vt:lpstr>
      <vt:lpstr>Nowe kierunki</vt:lpstr>
      <vt:lpstr>Dane multimodalne  i sensoryczne</vt:lpstr>
      <vt:lpstr>Czujniki EDA i HRV</vt:lpstr>
      <vt:lpstr>EEG i fNIRS</vt:lpstr>
      <vt:lpstr>Eye tracking</vt:lpstr>
      <vt:lpstr>Analiza głosu i mowy</vt:lpstr>
      <vt:lpstr>Dane z ruchu i postawy (IMU)</vt:lpstr>
      <vt:lpstr>Integracja sygnałów</vt:lpstr>
      <vt:lpstr>Przetwarzanie w czasie rzeczywistym</vt:lpstr>
      <vt:lpstr>Standaryzacja danych sensorycznych – </vt:lpstr>
      <vt:lpstr>Przykłady badań</vt:lpstr>
      <vt:lpstr>Sztuczna inteligencja afektywna</vt:lpstr>
      <vt:lpstr>Definicja AI afektywnej</vt:lpstr>
      <vt:lpstr>Uczenie głębokie</vt:lpstr>
      <vt:lpstr>Modele multimodalne</vt:lpstr>
      <vt:lpstr>Empatia obliczeniowa</vt:lpstr>
      <vt:lpstr>Interfejsy człowiek–maszyna</vt:lpstr>
      <vt:lpstr>Systemy konwersacyjne (chatboty emocjonalne) </vt:lpstr>
      <vt:lpstr>Etyka danych</vt:lpstr>
      <vt:lpstr>Ocena skuteczności AI afektywnej</vt:lpstr>
      <vt:lpstr>Symulacja emocji w robotach</vt:lpstr>
      <vt:lpstr>Granice AI afektywnej</vt:lpstr>
      <vt:lpstr>Praktyczne systemy psychoinformatyczne</vt:lpstr>
      <vt:lpstr>Systemy diagnostyczne AI</vt:lpstr>
      <vt:lpstr>Roboty społeczne</vt:lpstr>
      <vt:lpstr>Biofeedback</vt:lpstr>
      <vt:lpstr>neurofeedback</vt:lpstr>
      <vt:lpstr>Monitoring poznawczy</vt:lpstr>
      <vt:lpstr>Systemy wspierające zdrowie psychiczne</vt:lpstr>
      <vt:lpstr>Integracja z VR/AR</vt:lpstr>
      <vt:lpstr>Personalizacja systemów AI</vt:lpstr>
      <vt:lpstr>Etyka technologiczna</vt:lpstr>
      <vt:lpstr>Wdrożenia przemysłowe i kliniczne</vt:lpstr>
      <vt:lpstr>Podsumowanie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Psychoinformatyka</dc:title>
  <dc:subject/>
  <dc:creator>Andromeda</dc:creator>
  <cp:keywords/>
  <dc:description>generated using python-pptx</dc:description>
  <cp:lastModifiedBy>Mateusz Pomianek</cp:lastModifiedBy>
  <cp:revision>15</cp:revision>
  <dcterms:created xsi:type="dcterms:W3CDTF">2013-01-27T09:14:16Z</dcterms:created>
  <dcterms:modified xsi:type="dcterms:W3CDTF">2025-10-20T13:02:59Z</dcterms:modified>
  <cp:category/>
</cp:coreProperties>
</file>