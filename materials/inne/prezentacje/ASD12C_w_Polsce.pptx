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handoutMasterIdLst>
    <p:handoutMasterId r:id="rId27"/>
  </p:handoutMasterIdLst>
  <p:sldIdLst>
    <p:sldId id="256" r:id="rId2"/>
    <p:sldId id="257" r:id="rId3"/>
    <p:sldId id="258" r:id="rId4"/>
    <p:sldId id="259" r:id="rId5"/>
    <p:sldId id="280" r:id="rId6"/>
    <p:sldId id="261" r:id="rId7"/>
    <p:sldId id="262" r:id="rId8"/>
    <p:sldId id="263" r:id="rId9"/>
    <p:sldId id="264" r:id="rId10"/>
    <p:sldId id="281" r:id="rId11"/>
    <p:sldId id="282" r:id="rId12"/>
    <p:sldId id="283" r:id="rId13"/>
    <p:sldId id="268" r:id="rId14"/>
    <p:sldId id="284" r:id="rId15"/>
    <p:sldId id="270" r:id="rId16"/>
    <p:sldId id="271" r:id="rId17"/>
    <p:sldId id="272" r:id="rId18"/>
    <p:sldId id="273" r:id="rId19"/>
    <p:sldId id="274" r:id="rId20"/>
    <p:sldId id="285" r:id="rId21"/>
    <p:sldId id="286" r:id="rId22"/>
    <p:sldId id="277" r:id="rId23"/>
    <p:sldId id="278" r:id="rId24"/>
    <p:sldId id="279" r:id="rId25"/>
  </p:sldIdLst>
  <p:sldSz cx="12192000" cy="6858000"/>
  <p:notesSz cx="6858000" cy="12192000"/>
  <p:defaultTextStyle>
    <a:defPPr lvl="0"/>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7B1F"/>
    <a:srgbClr val="F6F0E8"/>
    <a:srgbClr val="D6A300"/>
    <a:srgbClr val="3B4E5F"/>
    <a:srgbClr val="1B487F"/>
    <a:srgbClr val="F3F4EA"/>
    <a:srgbClr val="ECF8F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35" autoAdjust="0"/>
    <p:restoredTop sz="73632" autoAdjust="0"/>
  </p:normalViewPr>
  <p:slideViewPr>
    <p:cSldViewPr snapToGrid="0">
      <p:cViewPr varScale="1">
        <p:scale>
          <a:sx n="64" d="100"/>
          <a:sy n="64" d="100"/>
        </p:scale>
        <p:origin x="1382" y="53"/>
      </p:cViewPr>
      <p:guideLst/>
    </p:cSldViewPr>
  </p:slideViewPr>
  <p:notesTextViewPr>
    <p:cViewPr>
      <p:scale>
        <a:sx n="1" d="1"/>
        <a:sy n="1" d="1"/>
      </p:scale>
      <p:origin x="0" y="0"/>
    </p:cViewPr>
  </p:notesTextViewPr>
  <p:notesViewPr>
    <p:cSldViewPr snapToGrid="0">
      <p:cViewPr varScale="1">
        <p:scale>
          <a:sx n="65" d="100"/>
          <a:sy n="65" d="100"/>
        </p:scale>
        <p:origin x="431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Arkusz_programu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Arkusz_programu_Microsoft_Excel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l-PL"/>
  <c:roundedCorners val="1"/>
  <c:style val="2"/>
  <c:chart>
    <c:title>
      <c:tx>
        <c:rich>
          <a:bodyPr/>
          <a:lstStyle/>
          <a:p>
            <a:pPr>
              <a:defRPr sz="1800" b="0" i="0" u="none" strike="noStrike">
                <a:solidFill>
                  <a:srgbClr val="1F2D30"/>
                </a:solidFill>
                <a:latin typeface="+mn-lt"/>
              </a:defRPr>
            </a:pPr>
            <a:r>
              <a:rPr lang="pl-PL" sz="1800" b="0" i="0" u="none" strike="noStrike" dirty="0">
                <a:solidFill>
                  <a:srgbClr val="1F2D30"/>
                </a:solidFill>
                <a:latin typeface="+mn-lt"/>
              </a:rPr>
              <a:t>Uczniowie z orzeczeniem o potrzebie kształcenia </a:t>
            </a:r>
            <a:r>
              <a:rPr lang="pl-PL" sz="1800" b="0" i="0" u="none" strike="noStrike" dirty="0" smtClean="0">
                <a:solidFill>
                  <a:srgbClr val="1F2D30"/>
                </a:solidFill>
                <a:latin typeface="+mn-lt"/>
              </a:rPr>
              <a:t>specjalnego </a:t>
            </a:r>
          </a:p>
          <a:p>
            <a:pPr>
              <a:defRPr sz="1800" b="0" i="0" u="none" strike="noStrike">
                <a:solidFill>
                  <a:srgbClr val="1F2D30"/>
                </a:solidFill>
                <a:latin typeface="+mn-lt"/>
              </a:defRPr>
            </a:pPr>
            <a:r>
              <a:rPr lang="pl-PL" sz="1800" b="0" i="0" u="none" strike="noStrike" dirty="0" smtClean="0">
                <a:solidFill>
                  <a:srgbClr val="1F2D30"/>
                </a:solidFill>
                <a:latin typeface="+mn-lt"/>
              </a:rPr>
              <a:t>z </a:t>
            </a:r>
            <a:r>
              <a:rPr lang="pl-PL" sz="1800" b="0" i="0" u="none" strike="noStrike" dirty="0">
                <a:solidFill>
                  <a:srgbClr val="1F2D30"/>
                </a:solidFill>
                <a:latin typeface="+mn-lt"/>
              </a:rPr>
              <a:t>powodu autyzmu (tys., rok szkolny od września)</a:t>
            </a:r>
          </a:p>
        </c:rich>
      </c:tx>
      <c:layout>
        <c:manualLayout>
          <c:xMode val="edge"/>
          <c:yMode val="edge"/>
          <c:x val="3.6741796164368332E-2"/>
          <c:y val="7.0175438596491224E-2"/>
        </c:manualLayout>
      </c:layout>
      <c:overlay val="0"/>
    </c:title>
    <c:autoTitleDeleted val="0"/>
    <c:plotArea>
      <c:layout>
        <c:manualLayout>
          <c:layoutTarget val="inner"/>
          <c:xMode val="edge"/>
          <c:yMode val="edge"/>
          <c:x val="1.8631436314363144E-2"/>
          <c:y val="4.0789473684210521E-2"/>
          <c:w val="0.9627371273712737"/>
          <c:h val="0.85883040935672517"/>
        </c:manualLayout>
      </c:layout>
      <c:barChart>
        <c:barDir val="col"/>
        <c:grouping val="clustered"/>
        <c:varyColors val="0"/>
        <c:ser>
          <c:idx val="0"/>
          <c:order val="0"/>
          <c:tx>
            <c:strRef>
              <c:f>Sheet1!$B$1</c:f>
              <c:strCache>
                <c:ptCount val="1"/>
                <c:pt idx="0">
                  <c:v>Uczniowie (tys.)</c:v>
                </c:pt>
              </c:strCache>
            </c:strRef>
          </c:tx>
          <c:spPr>
            <a:solidFill>
              <a:srgbClr val="1F7A7A"/>
            </a:solidFill>
            <a:effectLst/>
          </c:spPr>
          <c:invertIfNegative val="0"/>
          <c:dPt>
            <c:idx val="0"/>
            <c:invertIfNegative val="0"/>
            <c:bubble3D val="0"/>
            <c:extLst>
              <c:ext xmlns:c16="http://schemas.microsoft.com/office/drawing/2014/chart" uri="{C3380CC4-5D6E-409C-BE32-E72D297353CC}">
                <c16:uniqueId val="{00000001-067E-460A-9C01-1F0ADDC78F68}"/>
              </c:ext>
            </c:extLst>
          </c:dPt>
          <c:dPt>
            <c:idx val="1"/>
            <c:invertIfNegative val="0"/>
            <c:bubble3D val="0"/>
            <c:extLst>
              <c:ext xmlns:c16="http://schemas.microsoft.com/office/drawing/2014/chart" uri="{C3380CC4-5D6E-409C-BE32-E72D297353CC}">
                <c16:uniqueId val="{00000003-067E-460A-9C01-1F0ADDC78F68}"/>
              </c:ext>
            </c:extLst>
          </c:dPt>
          <c:dPt>
            <c:idx val="2"/>
            <c:invertIfNegative val="0"/>
            <c:bubble3D val="0"/>
            <c:extLst>
              <c:ext xmlns:c16="http://schemas.microsoft.com/office/drawing/2014/chart" uri="{C3380CC4-5D6E-409C-BE32-E72D297353CC}">
                <c16:uniqueId val="{00000005-067E-460A-9C01-1F0ADDC78F68}"/>
              </c:ext>
            </c:extLst>
          </c:dPt>
          <c:dPt>
            <c:idx val="3"/>
            <c:invertIfNegative val="0"/>
            <c:bubble3D val="0"/>
            <c:extLst>
              <c:ext xmlns:c16="http://schemas.microsoft.com/office/drawing/2014/chart" uri="{C3380CC4-5D6E-409C-BE32-E72D297353CC}">
                <c16:uniqueId val="{00000007-067E-460A-9C01-1F0ADDC78F68}"/>
              </c:ext>
            </c:extLst>
          </c:dPt>
          <c:dPt>
            <c:idx val="4"/>
            <c:invertIfNegative val="0"/>
            <c:bubble3D val="0"/>
            <c:extLst>
              <c:ext xmlns:c16="http://schemas.microsoft.com/office/drawing/2014/chart" uri="{C3380CC4-5D6E-409C-BE32-E72D297353CC}">
                <c16:uniqueId val="{00000009-067E-460A-9C01-1F0ADDC78F68}"/>
              </c:ext>
            </c:extLst>
          </c:dPt>
          <c:dPt>
            <c:idx val="5"/>
            <c:invertIfNegative val="0"/>
            <c:bubble3D val="0"/>
            <c:extLst>
              <c:ext xmlns:c16="http://schemas.microsoft.com/office/drawing/2014/chart" uri="{C3380CC4-5D6E-409C-BE32-E72D297353CC}">
                <c16:uniqueId val="{0000000B-067E-460A-9C01-1F0ADDC78F68}"/>
              </c:ext>
            </c:extLst>
          </c:dPt>
          <c:dPt>
            <c:idx val="6"/>
            <c:invertIfNegative val="0"/>
            <c:bubble3D val="0"/>
            <c:extLst>
              <c:ext xmlns:c16="http://schemas.microsoft.com/office/drawing/2014/chart" uri="{C3380CC4-5D6E-409C-BE32-E72D297353CC}">
                <c16:uniqueId val="{0000000D-067E-460A-9C01-1F0ADDC78F68}"/>
              </c:ext>
            </c:extLst>
          </c:dPt>
          <c:dPt>
            <c:idx val="7"/>
            <c:invertIfNegative val="0"/>
            <c:bubble3D val="0"/>
            <c:extLst>
              <c:ext xmlns:c16="http://schemas.microsoft.com/office/drawing/2014/chart" uri="{C3380CC4-5D6E-409C-BE32-E72D297353CC}">
                <c16:uniqueId val="{0000000F-067E-460A-9C01-1F0ADDC78F68}"/>
              </c:ext>
            </c:extLst>
          </c:dPt>
          <c:dPt>
            <c:idx val="8"/>
            <c:invertIfNegative val="0"/>
            <c:bubble3D val="0"/>
            <c:extLst>
              <c:ext xmlns:c16="http://schemas.microsoft.com/office/drawing/2014/chart" uri="{C3380CC4-5D6E-409C-BE32-E72D297353CC}">
                <c16:uniqueId val="{00000011-067E-460A-9C01-1F0ADDC78F68}"/>
              </c:ext>
            </c:extLst>
          </c:dPt>
          <c:dPt>
            <c:idx val="9"/>
            <c:invertIfNegative val="0"/>
            <c:bubble3D val="0"/>
            <c:extLst>
              <c:ext xmlns:c16="http://schemas.microsoft.com/office/drawing/2014/chart" uri="{C3380CC4-5D6E-409C-BE32-E72D297353CC}">
                <c16:uniqueId val="{00000013-067E-460A-9C01-1F0ADDC78F68}"/>
              </c:ext>
            </c:extLst>
          </c:dPt>
          <c:dPt>
            <c:idx val="10"/>
            <c:invertIfNegative val="0"/>
            <c:bubble3D val="0"/>
            <c:spPr>
              <a:solidFill>
                <a:srgbClr val="D9482B"/>
              </a:solidFill>
              <a:effectLst/>
            </c:spPr>
            <c:extLst>
              <c:ext xmlns:c16="http://schemas.microsoft.com/office/drawing/2014/chart" uri="{C3380CC4-5D6E-409C-BE32-E72D297353CC}">
                <c16:uniqueId val="{00000015-067E-460A-9C01-1F0ADDC78F68}"/>
              </c:ext>
            </c:extLst>
          </c:dPt>
          <c:dLbls>
            <c:numFmt formatCode="0" sourceLinked="0"/>
            <c:spPr>
              <a:noFill/>
              <a:ln>
                <a:noFill/>
              </a:ln>
              <a:effectLst/>
            </c:spPr>
            <c:txPr>
              <a:bodyPr/>
              <a:lstStyle/>
              <a:p>
                <a:pPr>
                  <a:defRPr sz="1600" b="1" i="0" u="none" strike="noStrike">
                    <a:solidFill>
                      <a:srgbClr val="1F2D30"/>
                    </a:solidFill>
                    <a:latin typeface="+mn-lt"/>
                  </a:defRPr>
                </a:pPr>
                <a:endParaRPr lang="pl-PL"/>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Sheet1!$B$2:$B$12</c:f>
              <c:numCache>
                <c:formatCode>General</c:formatCode>
                <c:ptCount val="11"/>
                <c:pt idx="0">
                  <c:v>17</c:v>
                </c:pt>
                <c:pt idx="1">
                  <c:v>22</c:v>
                </c:pt>
                <c:pt idx="2">
                  <c:v>28</c:v>
                </c:pt>
                <c:pt idx="3">
                  <c:v>34</c:v>
                </c:pt>
                <c:pt idx="4">
                  <c:v>41</c:v>
                </c:pt>
                <c:pt idx="5">
                  <c:v>48</c:v>
                </c:pt>
                <c:pt idx="6">
                  <c:v>56</c:v>
                </c:pt>
                <c:pt idx="7">
                  <c:v>66</c:v>
                </c:pt>
                <c:pt idx="8">
                  <c:v>82</c:v>
                </c:pt>
                <c:pt idx="9">
                  <c:v>101</c:v>
                </c:pt>
                <c:pt idx="10">
                  <c:v>128</c:v>
                </c:pt>
              </c:numCache>
            </c:numRef>
          </c:val>
          <c:extLst>
            <c:ext xmlns:c16="http://schemas.microsoft.com/office/drawing/2014/chart" uri="{C3380CC4-5D6E-409C-BE32-E72D297353CC}">
              <c16:uniqueId val="{00000016-067E-460A-9C01-1F0ADDC78F68}"/>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1F2D30"/>
                </a:solidFill>
                <a:latin typeface="+mn-lt"/>
              </a:defRPr>
            </a:pPr>
            <a:endParaRPr lang="pl-PL"/>
          </a:p>
        </c:txPr>
        <c:crossAx val="2094734552"/>
        <c:crosses val="autoZero"/>
        <c:auto val="1"/>
        <c:lblAlgn val="ctr"/>
        <c:lblOffset val="100"/>
        <c:noMultiLvlLbl val="1"/>
      </c:catAx>
      <c:valAx>
        <c:axId val="2094734552"/>
        <c:scaling>
          <c:orientation val="minMax"/>
          <c:max val="15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l-PL"/>
  <c:roundedCorners val="1"/>
  <c:style val="2"/>
  <c:chart>
    <c:title>
      <c:tx>
        <c:rich>
          <a:bodyPr/>
          <a:lstStyle/>
          <a:p>
            <a:pPr>
              <a:defRPr sz="1600" b="0" i="0" u="none" strike="noStrike">
                <a:solidFill>
                  <a:srgbClr val="1F2D30"/>
                </a:solidFill>
                <a:latin typeface="+mn-lt"/>
              </a:defRPr>
            </a:pPr>
            <a:r>
              <a:rPr lang="pl-PL" sz="1800" b="1" i="0" u="none" strike="noStrike" dirty="0">
                <a:solidFill>
                  <a:srgbClr val="1F2D30"/>
                </a:solidFill>
                <a:latin typeface="+mn-lt"/>
              </a:rPr>
              <a:t>Uczniowie doświadczający nękania w ostatnim roku </a:t>
            </a:r>
            <a:r>
              <a:rPr lang="pl-PL" sz="1600" b="1" i="0" u="none" strike="noStrike" dirty="0" smtClean="0">
                <a:solidFill>
                  <a:srgbClr val="1F2D30"/>
                </a:solidFill>
                <a:latin typeface="+mn-lt"/>
              </a:rPr>
              <a:t/>
            </a:r>
            <a:br>
              <a:rPr lang="pl-PL" sz="1600" b="1" i="0" u="none" strike="noStrike" dirty="0" smtClean="0">
                <a:solidFill>
                  <a:srgbClr val="1F2D30"/>
                </a:solidFill>
                <a:latin typeface="+mn-lt"/>
              </a:rPr>
            </a:br>
            <a:r>
              <a:rPr lang="pl-PL" sz="1600" b="0" i="0" u="none" strike="noStrike" dirty="0" smtClean="0">
                <a:solidFill>
                  <a:srgbClr val="1F2D30"/>
                </a:solidFill>
                <a:latin typeface="+mn-lt"/>
              </a:rPr>
              <a:t>(</a:t>
            </a:r>
            <a:r>
              <a:rPr lang="pl-PL" sz="1600" b="0" i="0" u="none" strike="noStrike" dirty="0">
                <a:solidFill>
                  <a:srgbClr val="1F2D30"/>
                </a:solidFill>
                <a:latin typeface="+mn-lt"/>
              </a:rPr>
              <a:t>czasem lub często)</a:t>
            </a:r>
          </a:p>
        </c:rich>
      </c:tx>
      <c:layout/>
      <c:overlay val="0"/>
    </c:title>
    <c:autoTitleDeleted val="0"/>
    <c:plotArea>
      <c:layout/>
      <c:barChart>
        <c:barDir val="bar"/>
        <c:grouping val="clustered"/>
        <c:varyColors val="0"/>
        <c:ser>
          <c:idx val="0"/>
          <c:order val="0"/>
          <c:tx>
            <c:strRef>
              <c:f>Sheet1!$B$1</c:f>
              <c:strCache>
                <c:ptCount val="1"/>
                <c:pt idx="0">
                  <c:v>Uczniowie z autyzmem</c:v>
                </c:pt>
              </c:strCache>
            </c:strRef>
          </c:tx>
          <c:spPr>
            <a:solidFill>
              <a:srgbClr val="D9482B"/>
            </a:solidFill>
            <a:effectLst/>
          </c:spPr>
          <c:invertIfNegative val="0"/>
          <c:dLbls>
            <c:numFmt formatCode="0&quot;%&quot;" sourceLinked="0"/>
            <c:spPr>
              <a:noFill/>
              <a:ln>
                <a:noFill/>
              </a:ln>
              <a:effectLst/>
            </c:spPr>
            <c:txPr>
              <a:bodyPr/>
              <a:lstStyle/>
              <a:p>
                <a:pPr>
                  <a:defRPr sz="1500" b="1" i="0" u="none" strike="noStrike">
                    <a:solidFill>
                      <a:srgbClr val="1F2D30"/>
                    </a:solidFill>
                    <a:latin typeface="+mn-lt"/>
                  </a:defRPr>
                </a:pPr>
                <a:endParaRPr lang="pl-PL"/>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Co najmniej jedna forma</c:v>
                </c:pt>
                <c:pt idx="1">
                  <c:v>Przezywanie, naśmiewanie się</c:v>
                </c:pt>
                <c:pt idx="2">
                  <c:v>Unikanie kontaktu</c:v>
                </c:pt>
                <c:pt idx="3">
                  <c:v>Nakłanianie do złych zachowań</c:v>
                </c:pt>
                <c:pt idx="4">
                  <c:v>Przemoc fizyczna</c:v>
                </c:pt>
              </c:strCache>
            </c:strRef>
          </c:cat>
          <c:val>
            <c:numRef>
              <c:f>Sheet1!$B$2:$B$6</c:f>
              <c:numCache>
                <c:formatCode>General</c:formatCode>
                <c:ptCount val="5"/>
                <c:pt idx="0">
                  <c:v>90</c:v>
                </c:pt>
                <c:pt idx="1">
                  <c:v>61</c:v>
                </c:pt>
                <c:pt idx="2">
                  <c:v>63</c:v>
                </c:pt>
                <c:pt idx="3">
                  <c:v>33</c:v>
                </c:pt>
                <c:pt idx="4">
                  <c:v>27</c:v>
                </c:pt>
              </c:numCache>
            </c:numRef>
          </c:val>
          <c:extLst>
            <c:ext xmlns:c16="http://schemas.microsoft.com/office/drawing/2014/chart" uri="{C3380CC4-5D6E-409C-BE32-E72D297353CC}">
              <c16:uniqueId val="{00000000-E3F9-4593-A073-8A532B503DB7}"/>
            </c:ext>
          </c:extLst>
        </c:ser>
        <c:ser>
          <c:idx val="1"/>
          <c:order val="1"/>
          <c:tx>
            <c:strRef>
              <c:f>Sheet1!$C$1</c:f>
              <c:strCache>
                <c:ptCount val="1"/>
                <c:pt idx="0">
                  <c:v>Grupa kontrolna</c:v>
                </c:pt>
              </c:strCache>
            </c:strRef>
          </c:tx>
          <c:spPr>
            <a:solidFill>
              <a:srgbClr val="55646F"/>
            </a:solidFill>
            <a:effectLst/>
          </c:spPr>
          <c:invertIfNegative val="0"/>
          <c:dLbls>
            <c:numFmt formatCode="0&quot;%&quot;" sourceLinked="0"/>
            <c:spPr>
              <a:noFill/>
              <a:ln>
                <a:noFill/>
              </a:ln>
              <a:effectLst/>
            </c:spPr>
            <c:txPr>
              <a:bodyPr/>
              <a:lstStyle/>
              <a:p>
                <a:pPr>
                  <a:defRPr sz="1500" b="1" i="0" u="none" strike="noStrike">
                    <a:solidFill>
                      <a:srgbClr val="1F2D30"/>
                    </a:solidFill>
                    <a:latin typeface="+mn-lt"/>
                  </a:defRPr>
                </a:pPr>
                <a:endParaRPr lang="pl-PL"/>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Co najmniej jedna forma</c:v>
                </c:pt>
                <c:pt idx="1">
                  <c:v>Przezywanie, naśmiewanie się</c:v>
                </c:pt>
                <c:pt idx="2">
                  <c:v>Unikanie kontaktu</c:v>
                </c:pt>
                <c:pt idx="3">
                  <c:v>Nakłanianie do złych zachowań</c:v>
                </c:pt>
                <c:pt idx="4">
                  <c:v>Przemoc fizyczna</c:v>
                </c:pt>
              </c:strCache>
            </c:strRef>
          </c:cat>
          <c:val>
            <c:numRef>
              <c:f>Sheet1!$C$2:$C$6</c:f>
              <c:numCache>
                <c:formatCode>General</c:formatCode>
                <c:ptCount val="5"/>
                <c:pt idx="0">
                  <c:v>66</c:v>
                </c:pt>
                <c:pt idx="1">
                  <c:v>34</c:v>
                </c:pt>
                <c:pt idx="2">
                  <c:v>39</c:v>
                </c:pt>
                <c:pt idx="3">
                  <c:v>20</c:v>
                </c:pt>
                <c:pt idx="4">
                  <c:v>0</c:v>
                </c:pt>
              </c:numCache>
            </c:numRef>
          </c:val>
          <c:extLst>
            <c:ext xmlns:c16="http://schemas.microsoft.com/office/drawing/2014/chart" uri="{C3380CC4-5D6E-409C-BE32-E72D297353CC}">
              <c16:uniqueId val="{00000001-E3F9-4593-A073-8A532B503DB7}"/>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600" b="0" i="0" u="none" strike="noStrike">
                <a:solidFill>
                  <a:srgbClr val="1F2D30"/>
                </a:solidFill>
                <a:latin typeface="+mn-lt"/>
              </a:defRPr>
            </a:pPr>
            <a:endParaRPr lang="pl-PL"/>
          </a:p>
        </c:txPr>
        <c:crossAx val="2094734552"/>
        <c:crosses val="autoZero"/>
        <c:auto val="1"/>
        <c:lblAlgn val="ctr"/>
        <c:lblOffset val="100"/>
        <c:noMultiLvlLbl val="1"/>
      </c:catAx>
      <c:valAx>
        <c:axId val="2094734552"/>
        <c:scaling>
          <c:orientation val="minMax"/>
          <c:max val="11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layout/>
      <c:overlay val="0"/>
      <c:txPr>
        <a:bodyPr/>
        <a:lstStyle/>
        <a:p>
          <a:pPr>
            <a:defRPr sz="1600">
              <a:solidFill>
                <a:srgbClr val="1F2D30"/>
              </a:solidFill>
              <a:latin typeface="+mn-lt"/>
              <a:cs typeface="+mn-lt"/>
            </a:defRPr>
          </a:pPr>
          <a:endParaRPr lang="pl-PL"/>
        </a:p>
      </c:txPr>
    </c:legend>
    <c:plotVisOnly val="1"/>
    <c:dispBlanksAs val="span"/>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7E61D776-65F9-4661-95F1-4AFC5A567CD1}" type="datetimeFigureOut">
              <a:rPr lang="pl-PL" smtClean="0"/>
              <a:t>26.10.2026</a:t>
            </a:fld>
            <a:endParaRPr lang="pl-PL"/>
          </a:p>
        </p:txBody>
      </p:sp>
      <p:sp>
        <p:nvSpPr>
          <p:cNvPr id="4" name="Symbol zastępczy stopki 3"/>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pl-PL"/>
          </a:p>
        </p:txBody>
      </p:sp>
      <p:sp>
        <p:nvSpPr>
          <p:cNvPr id="5" name="Symbol zastępczy numeru slajdu 4"/>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AB6DCBF2-6FE5-48CC-905C-23DA9F6B3BD8}" type="slidenum">
              <a:rPr lang="pl-PL" smtClean="0"/>
              <a:t>‹#›</a:t>
            </a:fld>
            <a:endParaRPr lang="pl-PL"/>
          </a:p>
        </p:txBody>
      </p:sp>
    </p:spTree>
    <p:extLst>
      <p:ext uri="{BB962C8B-B14F-4D97-AF65-F5344CB8AC3E}">
        <p14:creationId xmlns:p14="http://schemas.microsoft.com/office/powerpoint/2010/main" val="1138580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Dzień dobry. Wspólnie z Żanetą Wisińską-Kuchtą, Mariolą Jatczak i Agatą Horbal przygotowaliśmy prezentację o codziennym życiu osób w spektrum autyzmu w Polsce. Chcemy przyjrzeć się temu, co dzieje się w dzieciństwie, w okresie dorastania i w dorosłości. Interesuje nas nie tylko samo rozpoznanie, ale przede wszystkim to, jak działa szkoła, system wsparcia i najbliższe otoczenie. Będziemy korzystać między innymi z danych NIK, NFZ, Ministerstwa Edukacji, WHO i Ogólnopolskiego Spisu Autyzmu. Przy liczbach będziemy zwracać uwagę na rok badania i jego ograniczenia, bo nie wszystkie wyniki da się odnieść do całej populacji.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Na początek chciałbym postawić pytanie, które będzie nam towarzyszyć przez całą prezentację: na ile trudności osób autystycznych wynikają z ich indywidualnych potrzeb, a na ile z barier, które tworzy otoczenie? Posłużymy się tutaj społecznym modelem niepełnosprawności. Nie chodzi o to, żeby pomijać cechy rozwojowe czy potrzeby zdrowotne. Chodzi o zauważenie, że to samo funkcjonowanie może być łatwiejsze albo trudniejsze zależnie od warunków. Dlatego przejdziemy kolejno przez dzieciństwo, adolescencję i dorosłość. Najpierw wyjaśnimy symbol 12-C i skalę rozpoznań, potem przyjrzymy się szkole, relacjom i życiu po zakończeniu edukacji. Na końcu zastanowimy się, jakie zmiany rzeczywiście mogłyby pomóc.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Zacznijmy od samego symbolu 12-C. W polskim orzecznictwie oznacza on całościowe zaburzenia rozwojowe, ale nie mówi nam jeszcze, jak konkretna osoba funkcjonuje na co dzień. To bardzo ważne, bo spektrum autyzmu jest niezwykle zróżnicowane. Według NIK specyfikę autyzmu w pełni uwzględniono w orzekaniu dopiero od 2010 roku. W Polsce nadal używa się klasyfikacji ICD-10, z takimi rozpoznaniami jak autyzm dziecięcy, autyzm atypowy czy zespół Aspergera. Nowsze klasyfikacje, ICD-11 i DSM-5, ujmują je w szerszej kategorii spektrum autyzmu. Chcę też podkreślić, że poziom zdolności intelektualnych i zakres potrzebnego wsparcia to nie to samo. Sam kod w orzeczeniu nie wystarczy, żeby te potrzeby opisać.</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Kiedy patrzymy na skalę autyzmu, musimy od razu oddzielić dwie rzeczy: liczbę osób, u których rozpoznano autyzm, od rzeczywistej częstości jego występowania. WHO szacuje, że autyzm występuje u około jednego dziecka na sto. W Polsce nie mamy jednak pełnego rejestru, dlatego opieramy się przede wszystkim na danych administracyjnych. Według NFZ w 2021 roku rozpoznanie miało blisko 74 tysiące osób do siedemnastego roku życia, wobec około 57 tysięcy dwa lata wcześniej. W latach 2012–2023 liczba pacjentów z wybranymi rozpoznaniami z grupy F84 wzrosła o ponad 600 procent. Nie odczytywałbym tego jako dowodu, że autyzm biologicznie stał się aż tyle częstszy. Dużą rolę mogą odgrywać zmiany w diagnostyce i dostępie do rozpoznania.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ca5a41fb4e7241e_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 name="Google Shape;59;gca5a41fb4e7241e_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a:t>Chciałbym teraz pokazać coś, co często dzieje się jeszcze zanim zacznie się prawdziwa rozmowa. W trzech badaniach Sassona i współpracowników z 2017 roku uczestnicy oceniali bardzo krótkie fragmenty zachowań osób autystycznych i nieautystycznych. Kiedy widzieli i słyszeli te osoby, częściej oceniali osoby autystyczne mniej korzystnie i rzadziej deklarowali chęć kontaktu. Co ciekawe, kiedy dostawali wyłącznie zapis tekstowy wypowiedzi, ta różnica zanikała. Dla mnie ważny jest tutaj wniosek, że bariera może powstać już na poziomie pierwszego wrażenia, nie tylko treści rozmowy. Nie znaczy to oczywiście, że każda osoba neurotypowa kogoś dyskryminuje. Badanie pokazuje raczej mechanizm, który może utrudniać nawiązywanie relacji.</a:t>
            </a:r>
          </a:p>
        </p:txBody>
      </p:sp>
      <p:sp>
        <p:nvSpPr>
          <p:cNvPr id="60" name="Google Shape;60;gca5a41fb4e7241e_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66179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Spójrzmy teraz na polskie szkoły. W ciągu dekady liczba uczniów z orzeczeniem o potrzebie kształcenia specjalnego z powodu autyzmu wzrosła z około 17 tysięcy do niemal 128 tysięcy w roku szkolnym 2024/2025. To ogromna zmiana z punktu widzenia organizacji edukacji. Chcę jednak zaznaczyć, że rosnąca liczba orzeczeń nie jest automatycznie dowodem na taki sam wzrost częstości autyzmu. Może oznaczać również lepsze rozpoznawanie potrzeb. Według danych ministerstwa ponad 73 procent dzieci z orzeczeniami, niezależnie od przyczyny orzeczenia, uczy się w placówkach ogólnodostępnych. NIK podawała natomiast, że w roku szkolnym 2018/2019 rozpoznany autyzm miał mniej więcej jeden uczeń na 115. Pytanie brzmi więc: czy za rosnącą liczbą uczniów nadąża jakość wsparcia?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Na tym slajdzie chcę zwrócić uwagę na pewien kontrast. W kontroli NIK obejmującej dziesięć szkół aż 92 procent uczniów uzyskiwało pozytywne wyniki i przechodziło do następnej klasy. To pokazuje, że uczniowie w spektrum mogą dobrze radzić sobie edukacyjnie. Jednocześnie w siedmiu z tych dziesięciu szkół nie realizowano wszystkich zaleceń zapisanych w orzeczeniach. Brakowało między innymi specjalistów i miejsc, w których uczeń mógłby się wyciszyć. W czterech szkołach nie oceniano nawet skuteczności udzielanego wsparcia. Trudno poprawiać pomoc, jeśli nie sprawdzamy, czy ona działa. Pamiętajmy jednak, że była to kontrola niewielkiej liczby placówek, a nie reprezentatywne badanie wszystkich szkół w Polsce.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Teraz przechodzimy do doświadczeń rówieśniczych, a te wyniki są naprawdę niepokojące. W Ogólnopolskim Spisie Autyzmu aż 90 procent badanych uczniów autystycznych deklarowało, że w ostatnim roku spotkała ich przynajmniej jedna forma nękania. W grupie kontrolnej było to 66 procent. Przezywania i wyśmiewania doświadczało 61 procent uczniów w spektrum, a 64 procent zgłaszało co najmniej trzy różne formy nękania. Badanie wskazywało również, że nękanie było rzadsze w szkołach specjalnych niż w ogólnodostępnych i integracyjnych. Nie traktowałbym jednak tego jako prostego argumentu przeciw edukacji włączającej. Próba obejmowała 59 uczniów i nie była w pełni reprezentatywna. Dla mnie najważniejsze jest to, że samo umieszczenie ucznia w zwykłej klasie nie wystarczy. Trzeba jeszcze zadbać o jego bezpieczeństwo i relacje.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Chciałbym zatrzymać się przy samotności, bo często słyszymy stereotyp, że osoby autystyczne po prostu nie potrzebują kontaktów z innymi. Wyniki Ogólnopolskiego Spisu Autyzmu pokazują coś bardziej złożonego. W badanej grupie młodzieży i dorosłych 34 procent osób deklarowało, że nie ma znajomych, a 51 procent chciało mieć ich więcej. Widzimy więc, że brak relacji nie musi oznaczać braku potrzeby relacji. Różnice pojawiały się również w codziennej aktywności: sport co najmniej raz w tygodniu uprawiało 23 procent badanych osób autystycznych, wobec 63 procent w grupie kontrolnej. Aż 97 procent najczęściej spędzało wolny czas w domu. To nie jest obraz wszystkich osób w spektrum, ale ważny sygnał, że warto rozwijać dostępne formy aktywności i wsparcie w budowaniu znajomości.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a5a41fb4e7241e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gca5a41fb4e7241e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a:t>Przejdźmy do osób, które otrzymują diagnozę dopiero w dorosłości. Spróbujmy wyobrazić sobie, że przez wiele lat ktoś słyszy, że jest leniwy, niegrzeczny albo po prostu nie chce się dostosować, a nikt nie sprawdza, skąd biorą się jego trudności. W jakościowym badaniu Lupindo i współpracowników dziesięciu dorosłych mężczyzn opowiadało właśnie o takich doświadczeniach. Dla części z nich diagnoza była sposobem na lepsze zrozumienie siebie, ale też przypomnieniem o wsparciu, którego wcześniej nie otrzymali. Nie mogę na tej podstawie powiedzieć, jak często dzieje się to w Polsce: badanie było małe i dotyczyło innego kraju. Chcę jednak podkreślić praktyczny wniosek, zgodny również z wytycznymi: pomoc i rozsądne dostosowania powinny odpowiadać na rzeczywiste potrzeby, a nie czekać wyłącznie na formalne zakończenie diagnostyki.</a:t>
            </a:r>
          </a:p>
        </p:txBody>
      </p:sp>
      <p:sp>
        <p:nvSpPr>
          <p:cNvPr id="84" name="Google Shape;84;gca5a41fb4e7241e_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781288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ca5a41fb4e7241e_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gca5a41fb4e7241e_1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a:t>W tym miejscu chciałbym uporządkować trzy pojęcia, które często są ze sobą mylone. Niedodiagnozowanie oznacza, że osoba spełnia kryteria, ale nie otrzymuje rozpoznania. Błędna diagnoza oznacza, że rozpoznanie nie odpowiada jej sytuacji klinicznej. Naddiagnozowanie to z kolei przypisanie rozpoznania mimo niespełnienia odpowiednich kryteriów. Dlaczego o tym mówię? Bo sam wzrost liczby diagnoz nie pozwala nam rozstrzygnąć, które z tych zjawisk występuje i w jakiej skali. W brytyjskim przeglądzie z października 2026 roku nie wykazano naddiagnozowania na dużą skalę, ale podkreślono potrzebę kontroli jakości diagnostyki. To ustalenie dla Anglii, nie pomiar dla Polski. Moim zdaniem właściwe pytanie nie brzmi: czy diagnoz jest za dużo? Raczej: czy są rzetelne i czy prowadzą do adekwatnej pomocy?</a:t>
            </a:r>
          </a:p>
        </p:txBody>
      </p:sp>
      <p:sp>
        <p:nvSpPr>
          <p:cNvPr id="91" name="Google Shape;91;gca5a41fb4e7241e_10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857812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ca5a41fb4e7241e_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gca5a41fb4e7241e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a:t>Teraz chciałbym zwrócić uwagę na zdrowie psychiczne i bezpieczeństwo wsparcia. Zacznijmy od maskowania, czyli ukrywania części cech autystycznych po to, żeby lepiej dopasować się do oczekiwań otoczenia. Metaanaliza Khudiakovej i współpracowników pokazała umiarkowany związek maskowania z nasileniem objawów depresji, z korelacją około 0,36. To korelacja, więc nie możemy na jej podstawie powiedzieć, że samo maskowanie powoduje depresję. Druga sprawa to jakość badań interwencji: w przeglądzie Sandbank i współpracowników tylko około 10 procent publikacji w ogóle wspominało o zdarzeniach niepożądanych. To problem z raportowaniem, a nie dowód, że dziewięćdziesiąt procent terapii szkodzi. Wreszcie metaanaliza Santomauro i współpracowników wskazuje na blisko trzykrotnie wyższe ryzyko zgonu samobójczego w badanych populacjach autystycznych. Nie łączę tych trzech wyników w jeden prosty związek przyczynowy. Pokazuję je razem, bo uważam, że w każdej formie wsparcia musimy oceniać nie tylko efekty rozwojowe, lecz także dobrostan, autonomię i możliwe szkody.</a:t>
            </a:r>
          </a:p>
        </p:txBody>
      </p:sp>
      <p:sp>
        <p:nvSpPr>
          <p:cNvPr id="99" name="Google Shape;99;gca5a41fb4e7241e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0424621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ca5a41fb4e7241e_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gca5a41fb4e7241e_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a:t>Na tym wykresie chciałbym pokazać paradoks maskowania. Z jednej strony ukrywanie autystycznych zachowań może ułatwiać doraźną akceptację w środowisku, które oczekuje określonego sposobu komunikowania się. Z drugiej strony ciągła kontrola własnego zachowania może być wyczerpująca. Kiedy osoba ogranicza maskowanie, może poczuć większą swobodę, ale w mało akceptującym otoczeniu może też napotkać niezrozumienie. Ważne zastrzeżenie: ten wykres jest moją ilustracją koncepcyjną, nie przedstawia zmierzonych wartości ani udowodnionego przebiegu zależności. Badania Hull, Cook i innych wskazują, że doświadczenia są różne, a wpływ środowiska ma duże znaczenie. Chcę też odróżnić dwie sprawy: ograniczenie maskowania i ujawnienie diagnozy to nie ta sama decyzja. Nie sugeruję więc, że autentyczność musi pogarszać relacje. Chodzi mi raczej o to, że otoczenie powinno umożliwiać autentyczne funkcjonowanie bez nadmiernych kosztów psychicznych.</a:t>
            </a:r>
          </a:p>
        </p:txBody>
      </p:sp>
      <p:sp>
        <p:nvSpPr>
          <p:cNvPr id="107" name="Google Shape;107;gca5a41fb4e7241e_7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ca5a41fb4e7241e_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gca5a41fb4e7241e_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a:t>Kolejny temat to określenie „wysokofunkcjonujący”. Brzmi ono wygodnie, ale moim zdaniem często niewiele wyjaśnia. Osoba może osiągać wysokie wyniki w testach inteligencji, a jednocześnie potrzebować znacznego wsparcia w organizacji dnia, komunikacji czy samodzielnym załatwianiu spraw. W badaniu Alvaresa i współpracowników, obejmującym ponad 2200 dzieci, IQ okazało się niedokładnym wskaźnikiem umiejętności adaptacyjnych. Dlatego wolałbym pytać konkretnie: jak dana osoba komunikuje swoje potrzeby, jak radzi sobie z codziennymi czynnościami, jakie ma trudności sensoryczne i czego od nas oczekuje? ICD-11 pozwala dokładniej opisywać profil kliniczny, ale nawet dobrze postawione rozpoznanie nie zastępuje oceny rzeczywistego funkcjonowania. Wsparcie powinno wynikać z tej oceny, a nie z ogólnej etykiety.</a:t>
            </a:r>
          </a:p>
        </p:txBody>
      </p:sp>
      <p:sp>
        <p:nvSpPr>
          <p:cNvPr id="115" name="Google Shape;115;gca5a41fb4e7241e_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5878337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Chcę teraz przejść od indywidualnych doświadczeń do świadomości społecznej. Według badania CBOS z 2015 roku 21 procent respondentów uważało, że autyzm dotyczy tylko dzieci, 12 procent nie wiedziało, czy występuje u dorosłych, a 15 procent w ogóle o nim nie słyszało. Po zsumowaniu tych kategorii otrzymujemy 48 procent. To dane historyczne, więc nie twierdzę, że dokładnie tak samo wygląda sytuacja dzisiaj. Pokazują jednak, jak łatwo dorosłe osoby autystyczne mogą pozostać niezauważone. W Polsce już w 2013 roku Sejm przyjął Kartę Praw Osób z Autyzmem, obejmującą między innymi udział w kulturze, sporcie i wypoczynku. Samo zapisanie praw w uchwale nie oznacza jeszcze, że każdy ma realną możliwość z nich korzystać. Dlatego chcę patrzeć przede wszystkim na to, jak te prawa przekładają się na codzienne życie.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W mojej ocenie właśnie tutaj widać jedną z najpoważniejszych luk systemu: przejście ze szkoły do dorosłości. NIK zwracała uwagę, że po zakończeniu edukacji wiele osób traci ciągłość wsparcia. W raporcie z 2020 roku przytoczono wskaźnik zatrudnienia osób z autyzmem i zespołem Aspergera poniżej jednego procenta. W badanych placówkach osoby autystyczne obejmowało wsparciem tylko 22 procent warsztatów terapii zajęciowej i około 19 procent zakładów aktywności zawodowej, a w warsztatach stanowiły jedynie 2 procent uczestników. NIK informowała też o niewystarczających efektach rehabilitacji. Nie chcę jednak zostawić wyłącznie negatywnego obrazu. Od 2019 roku rozwijano środowiskowe domy samopomocy typu D, a liczba objętych nimi osób z autyzmem wzrosła w badanym okresie. Te dane dotyczą konkretnych lat i zakresu kontroli. Pokazują potrzebę ciągłości pomocy, a nie aktualną statystykę całego kraju.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Na pierwszy rzut oka te dane wyglądają jak sprzeczność. W Ogólnopolskim Spisie Autyzmu 45 procent badanych deklarowało płatną pracę, podczas gdy NIK przytaczała wskaźnik poniżej jednego procenta. Chcę jednak pokazać, dlaczego nie powinniśmy ich po prostu porównywać. Spis był ankietą internetową i obejmował głównie osoby o większej samodzielności, a dane NIK pochodziły z innego zakresu i sposobu pomiaru. Podobną różnicę widzimy w wykształceniu: w badaniu PFRON z 2024 roku wyższe wykształcenie miało 5,4 procent badanych z grupy 12-C, a w próbie Spisu ponad połowa dorosłych. W Spisie wiele osób zgłaszało też współwystępujące problemy psychiczne. Dla mnie wniosek jest prosty: bez dobrego rejestru i porównywalnych prób nie potrafimy rzetelnie opisać całej populacji dorosłych osób autystycznych.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Spróbujmy teraz połączyć te wyniki w jedną historię życia. W dzieciństwie problemem może być późne rozpoznanie i brak pełnego dostosowania szkoły. W okresie dorastania dochodzą doświadczenia nękania, odrzucenia i trudności w nawiązywaniu znajomości. Po ukończeniu szkoły pojawia się kolejna luka: ograniczony dostęp do form wsparcia, aktywności i zatrudnienia. Widzimy więc, że bariery mogą się kumulować, zamiast stopniowo znikać. Chcę tu jednak wyraźnie zaznaczyć, że to nasza synteza wyników różnych badań, a nie obserwacja jednej grupy osób przez całe życie. Na przykład dane o braku znajomych obejmowały również dorosłych, nie tylko nastolatków. Mimo tej różnicy w metodach raporty wskazują wspólny kierunek: jeśli wsparcie urywa się między etapami życia, rośnie ryzyko zależności od rodziny i wykluczenia.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Skoro znamy już główne bariery, chciałbym pokazać, jak mogłaby wyglądać ciągłość wsparcia. Dla mnie punktem wyjścia jest możliwie wczesne rozpoznanie potrzeb. Potem potrzebujemy szkoły, która naprawdę realizuje zalecenia: ma dostęp do specjalistów, zapewnia możliwość wyciszenia, sprawdza skuteczność pomocy i reaguje na nękanie. Ważne są również relacje. W Ogólnopolskim Spisie Autyzmu 43 procent osób było zainteresowanych wolontariatem koleżeńskim, a 77 procent rodziców widziało taką potrzebę. Ale wsparcie nie powinno kończyć się wraz z edukacją. NIK rekomendowała lepszą dostępność warsztatów terapii zajęciowej, zakładów aktywności zawodowej i środowiskowych domów samopomocy. Nie mówię, że te rozwiązania są już dostępne wszędzie. Pokazuję kierunek: pomoc powinna przechodzić razem z osobą przez kolejne etapy życia.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ca5a41fb4e7241e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gca5a41fb4e7241e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a:t>Chciałbym, żebyśmy na chwilę zeszli z poziomu raportów do zwykłego dnia. Wyobraźmy sobie ucznia, który nie ma gdzie odpocząć od hałasu, albo dorosłą osobę, która musi czekać w zatłoczonym urzędzie i otrzymuje niejasne instrukcje. Dla części osób autystycznych takie sytuacje mogą być szczególnie obciążające sensorycznie czy komunikacyjnie. W pracy trudnością bywa brak przewidywalności albo niedostosowany sposób przekazywania poleceń. Nawet aktywność rekreacyjna zależy od tego, czy można znaleźć spokojne miejsce i łatwo uzyskać informacje. Nie zakładam, że wszystkie osoby w spektrum mają identyczne trudności. Chcę pokazać, że proste zmiany w otoczeniu mogą realnie zwiększyć dostępność szkoły, opieki zdrowotnej, pracy i przestrzeni publicznej. Najlepiej planować je razem z osobami, które będą z nich korzystać.</a:t>
            </a:r>
          </a:p>
        </p:txBody>
      </p:sp>
      <p:sp>
        <p:nvSpPr>
          <p:cNvPr id="201" name="Google Shape;201;gca5a41fb4e7241e_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8876610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ca5a41fb4e7241e_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gca5a41fb4e7241e_9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a:t>Na tym slajdzie chciałbym połączyć trzy perspektywy. Pierwsza to diagnoza kliniczna: ICD-11 pozwala opisać spektrum autyzmu bardziej szczegółowo, między innymi z uwzględnieniem języka funkcjonalnego i współwystępującej niepełnosprawności intelektualnej. Druga to codzienne funkcjonowanie. Klasyfikacja ICF przypomina nam, że ważne są czynności, uczestnictwo w życiu społecznym i bariery środowiskowe. Trzecia perspektywa to prawa i autonomia. Konwencja ONZ podkreśla znaczenie wspieranego podejmowania decyzji i możliwości życia w społeczności. Dla mnie praktyczny model jest więc następujący: rozpoznajemy stan, wspólnie oceniamy potrzeby, uzgadniamy dostosowania, a później sprawdzamy ich wpływ na jakość życia. Chciałbym, żeby celem wsparcia nie było samo upodobnienie osoby do otoczenia, lecz lepsze, bardziej samodzielne funkcjonowanie na jej własnych warunkach.</a:t>
            </a:r>
          </a:p>
        </p:txBody>
      </p:sp>
      <p:sp>
        <p:nvSpPr>
          <p:cNvPr id="209" name="Google Shape;209;gca5a41fb4e7241e_9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48476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Na koniec chcę zebrać najważniejsze wnioski. Po pierwsze, w Polsce szybko rośnie liczba rozpoznań i orzeczeń związanych z autyzmem. W roku szkolnym 2024/2025 było to blisko 128 tysięcy uczniów, ale nadal brakuje pełnych danych o dorosłych. Po drugie, dobra promocja do następnej klasy nie oznacza, że szkoła zapewnia dobre doświadczenie społeczne. W badaniu Ogólnopolskiego Spisu Autyzmu aż 90 procent uczniów zgłaszało nękanie. Po trzecie, po zakończeniu edukacji widzimy poważną lukę we wsparciu i dostępie do zatrudnienia, co opisywała NIK. Z perspektywy neuropsychologii szczególnie ważne wydaje mi się coś jeszcze: zamiast opierać pomoc tylko na symbolu 12-C, powinniśmy dokładniej oceniać funkcjonowanie poznawcze, adaptacyjne i potrzeby konkretnej osoby. To właśnie z takiej oceny powinny wynikać dalsze działania.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Chciałbym zakończyć trzema pytaniami i zaprosić Państwa do dyskusji. Pierwsze dotyczy szkoły. Skoro w badaniu Ogólnopolskiego Spisu Autyzmu nękanie było tak częste, a w szkołach specjalnych występowało rzadziej, to jak połączyć ideę edukacji włączającej z rzeczywistym bezpieczeństwem ucznia? Drugie pytanie dotyczy zatrudnienia. Widzieliśmy dwa bardzo różne wyniki: poniżej jednego procenta w danych NIK i 45 procent w internetowym Spisie. Jakich badań potrzebowalibyśmy, żeby zrozumieć tę różnicę? I wreszcie pytanie trzecie: co powinniśmy uruchomić jeszcze przed końcem szkoły, żeby osoba autystyczna nie traciła wsparcia wchodząc w dorosłość? Chętnie poznam Państwa opinie. Dziękujemy za uwagę.</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Na ostatnim slajdzie zostawiam bibliografię, żeby mogli Państwo samodzielnie sprawdzić dane, na których opieraliśmy prezentację. Korzystaliśmy między innymi z materiałów NIK, NFZ, WHO, Ministerstwa Zdrowia, raportu PFRON oraz Ogólnopolskiego Spisu Autyzmu. Przy interpretacji wyników staraliśmy się oddzielać dane administracyjne od badań ankietowych i pamiętać o ograniczeniach poszczególnych prób. Dziękuję za uwagę i zapraszam do pytań.</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468630"/>
          </a:xfrm>
          <a:prstGeom prst="rect">
            <a:avLst/>
          </a:prstGeom>
          <a:noFill/>
          <a:ln/>
        </p:spPr>
        <p:txBody>
          <a:bodyPr wrap="square" rtlCol="0"/>
          <a:lstStyle>
            <a:lvl1pPr marL="0" indent="0" algn="l">
              <a:buNone/>
              <a:defRPr lang="en-US" sz="3000" b="1" spc="-100" baseline="0" dirty="0">
                <a:solidFill>
                  <a:schemeClr val="tx2"/>
                </a:solidFill>
                <a:latin typeface="CMU Serif" panose="02000603000000000000" pitchFamily="2" charset="0"/>
                <a:ea typeface="CMU Serif" panose="02000603000000000000" pitchFamily="2" charset="0"/>
                <a:cs typeface="CMU Serif" panose="02000603000000000000" pitchFamily="2" charset="0"/>
              </a:defRPr>
            </a:lvl1pPr>
          </a:lstStyle>
          <a:p>
            <a:pPr marL="0" indent="0" algn="l">
              <a:buNone/>
            </a:pPr>
            <a:endParaRPr lang="pl-PL" sz="3000" noProof="0" dirty="0"/>
          </a:p>
        </p:txBody>
      </p:sp>
      <p:sp>
        <p:nvSpPr>
          <p:cNvPr id="25" name="Slide Number Placeholder 0"/>
          <p:cNvSpPr>
            <a:spLocks noGrp="1"/>
          </p:cNvSpPr>
          <p:nvPr>
            <p:ph type="sldNum" sz="quarter" idx="4294967295"/>
          </p:nvPr>
        </p:nvSpPr>
        <p:spPr>
          <a:xfrm>
            <a:off x="11352276"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defRPr>
            </a:lvl1pPr>
          </a:lstStyle>
          <a:p>
            <a:pPr algn="r"/>
            <a:fld id="{F7021451-1387-4CA6-816F-3879F97B5CBC}" type="slidenum">
              <a:rPr lang="en-US" b="0"/>
              <a:t>‹#›</a:t>
            </a:fld>
            <a:endParaRPr 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PAGE">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25880"/>
            <a:ext cx="7040880" cy="265176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pl-PL" sz="3800" noProof="0"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95710" y="6412230"/>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
        <p:cNvGrpSpPr/>
        <p:nvPr/>
      </p:nvGrpSpPr>
      <p:grpSpPr>
        <a:xfrm>
          <a:off x="0" y="0"/>
          <a:ext cx="0" cy="0"/>
          <a:chOff x="0" y="0"/>
          <a:chExt cx="0" cy="0"/>
        </a:xfrm>
      </p:grpSpPr>
      <p:sp>
        <p:nvSpPr>
          <p:cNvPr id="29" name="Google Shape;29;p1"/>
          <p:cNvSpPr txBox="1">
            <a:spLocks noGrp="1"/>
          </p:cNvSpPr>
          <p:nvPr>
            <p:ph type="title" idx="100"/>
          </p:nvPr>
        </p:nvSpPr>
        <p:spPr>
          <a:xfrm>
            <a:off x="420688" y="1075646"/>
            <a:ext cx="11231115" cy="1231106"/>
          </a:xfrm>
          <a:prstGeom prst="rect">
            <a:avLst/>
          </a:prstGeom>
          <a:noFill/>
          <a:ln>
            <a:noFill/>
          </a:ln>
        </p:spPr>
        <p:txBody>
          <a:bodyPr spcFirstLastPara="1" wrap="square" lIns="0" tIns="0" rIns="0" bIns="0" anchor="t" anchorCtr="0">
            <a:spAutoFit/>
          </a:bodyPr>
          <a:lstStyle/>
          <a:p>
            <a:pPr lvl="0">
              <a:spcBef>
                <a:spcPts val="0"/>
              </a:spcBef>
              <a:buClr>
                <a:schemeClr val="dk2"/>
              </a:buClr>
              <a:buSzPts val="3800"/>
            </a:pPr>
            <a:r>
              <a:rPr lang="pl-PL" sz="4000" spc="-20" dirty="0" smtClean="0"/>
              <a:t>Życie codzienne osób niepełnosprawnych </a:t>
            </a:r>
            <a:br>
              <a:rPr lang="pl-PL" sz="4000" spc="-20" dirty="0" smtClean="0"/>
            </a:br>
            <a:r>
              <a:rPr lang="pl-PL" sz="4000" dirty="0" smtClean="0"/>
              <a:t>ze </a:t>
            </a:r>
            <a:r>
              <a:rPr lang="pl-PL" sz="4000" dirty="0"/>
              <a:t>spektrum </a:t>
            </a:r>
            <a:r>
              <a:rPr lang="pl-PL" sz="4000" dirty="0" smtClean="0"/>
              <a:t>autyzmu</a:t>
            </a:r>
            <a:r>
              <a:rPr lang="pl-PL" sz="4000" b="0" dirty="0" smtClean="0"/>
              <a:t> </a:t>
            </a:r>
            <a:r>
              <a:rPr lang="pl-PL" sz="3600" b="0" spc="-60" dirty="0" smtClean="0"/>
              <a:t>(12-C) </a:t>
            </a:r>
            <a:r>
              <a:rPr lang="pl-PL" sz="4000" b="0" spc="-40" dirty="0" smtClean="0"/>
              <a:t>w </a:t>
            </a:r>
            <a:r>
              <a:rPr lang="pl-PL" sz="4000" b="0" spc="-40" dirty="0"/>
              <a:t>Polsce </a:t>
            </a:r>
            <a:r>
              <a:rPr lang="pl-PL" sz="4000" b="0" spc="-40" dirty="0" smtClean="0"/>
              <a:t>i </a:t>
            </a:r>
            <a:r>
              <a:rPr lang="pl-PL" sz="4000" b="0" spc="-40" dirty="0"/>
              <a:t>tego skutki</a:t>
            </a:r>
            <a:endParaRPr sz="4000" b="0" spc="-40" dirty="0"/>
          </a:p>
        </p:txBody>
      </p:sp>
      <p:sp>
        <p:nvSpPr>
          <p:cNvPr id="30" name="Google Shape;30;p1"/>
          <p:cNvSpPr txBox="1"/>
          <p:nvPr/>
        </p:nvSpPr>
        <p:spPr>
          <a:xfrm>
            <a:off x="461834" y="465635"/>
            <a:ext cx="73152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600"/>
              <a:buFont typeface="Calibri"/>
              <a:buNone/>
            </a:pPr>
            <a:r>
              <a:rPr lang="en-US" sz="1600" b="1" i="0" u="none" strike="noStrike" cap="none" dirty="0">
                <a:solidFill>
                  <a:schemeClr val="accent1"/>
                </a:solidFill>
                <a:latin typeface="Calibri"/>
                <a:ea typeface="Calibri"/>
                <a:cs typeface="Calibri"/>
                <a:sym typeface="Calibri"/>
              </a:rPr>
              <a:t>PSYCHOLOGIA OSÓB Z NIEPEŁNOSPRAWNOŚCIĄ </a:t>
            </a:r>
            <a:r>
              <a:rPr lang="en-US" sz="1600" i="0" u="none" strike="noStrike" cap="none" dirty="0">
                <a:solidFill>
                  <a:schemeClr val="accent1"/>
                </a:solidFill>
                <a:latin typeface="Calibri"/>
                <a:ea typeface="Calibri"/>
                <a:cs typeface="Calibri"/>
                <a:sym typeface="Calibri"/>
              </a:rPr>
              <a:t>| PREZENTACJA ZALICZENIOWA</a:t>
            </a:r>
            <a:endParaRPr sz="1600" i="0" u="none" strike="noStrike" cap="none" dirty="0">
              <a:solidFill>
                <a:schemeClr val="dk1"/>
              </a:solidFill>
              <a:latin typeface="Calibri"/>
              <a:ea typeface="Calibri"/>
              <a:cs typeface="Calibri"/>
              <a:sym typeface="Calibri"/>
            </a:endParaRPr>
          </a:p>
        </p:txBody>
      </p:sp>
      <p:sp>
        <p:nvSpPr>
          <p:cNvPr id="33" name="Google Shape;33;p1"/>
          <p:cNvSpPr txBox="1"/>
          <p:nvPr/>
        </p:nvSpPr>
        <p:spPr>
          <a:xfrm>
            <a:off x="301754" y="6335235"/>
            <a:ext cx="7041000" cy="365700"/>
          </a:xfrm>
          <a:prstGeom prst="rect">
            <a:avLst/>
          </a:prstGeom>
          <a:noFill/>
          <a:ln>
            <a:noFill/>
          </a:ln>
        </p:spPr>
        <p:txBody>
          <a:bodyPr spcFirstLastPara="1" wrap="square" lIns="0" tIns="0" rIns="0" bIns="0" anchor="t" anchorCtr="0">
            <a:noAutofit/>
          </a:bodyPr>
          <a:lstStyle/>
          <a:p>
            <a:pPr>
              <a:buClr>
                <a:schemeClr val="accent5"/>
              </a:buClr>
              <a:buSzPts val="1800"/>
            </a:pPr>
            <a:r>
              <a:rPr lang="pl-PL" i="1" dirty="0" err="1" smtClean="0">
                <a:solidFill>
                  <a:schemeClr val="bg1">
                    <a:lumMod val="75000"/>
                  </a:schemeClr>
                </a:solidFill>
                <a:latin typeface="Calibri Light" panose="020F0302020204030204" pitchFamily="34" charset="0"/>
                <a:ea typeface="Calibri Light" panose="020F0302020204030204" pitchFamily="34" charset="0"/>
                <a:cs typeface="Calibri Light" panose="020F0302020204030204" pitchFamily="34" charset="0"/>
                <a:sym typeface="Calibri"/>
              </a:rPr>
              <a:t>Vizja</a:t>
            </a:r>
            <a:r>
              <a:rPr lang="pl-PL" i="1" dirty="0" smtClean="0">
                <a:solidFill>
                  <a:schemeClr val="bg1">
                    <a:lumMod val="75000"/>
                  </a:schemeClr>
                </a:solidFill>
                <a:latin typeface="Calibri Light" panose="020F0302020204030204" pitchFamily="34" charset="0"/>
                <a:ea typeface="Calibri Light" panose="020F0302020204030204" pitchFamily="34" charset="0"/>
                <a:cs typeface="Calibri Light" panose="020F0302020204030204" pitchFamily="34" charset="0"/>
                <a:sym typeface="Calibri"/>
              </a:rPr>
              <a:t>, psychologia</a:t>
            </a:r>
            <a:r>
              <a:rPr lang="pl-PL" i="1" dirty="0">
                <a:solidFill>
                  <a:schemeClr val="bg1">
                    <a:lumMod val="75000"/>
                  </a:schemeClr>
                </a:solidFill>
                <a:latin typeface="Calibri Light" panose="020F0302020204030204" pitchFamily="34" charset="0"/>
                <a:ea typeface="Calibri Light" panose="020F0302020204030204" pitchFamily="34" charset="0"/>
                <a:cs typeface="Calibri Light" panose="020F0302020204030204" pitchFamily="34" charset="0"/>
                <a:sym typeface="Calibri"/>
              </a:rPr>
              <a:t>, rok 4, grupa </a:t>
            </a:r>
            <a:r>
              <a:rPr lang="pl-PL" i="1" dirty="0" smtClean="0">
                <a:solidFill>
                  <a:schemeClr val="bg1">
                    <a:lumMod val="75000"/>
                  </a:schemeClr>
                </a:solidFill>
                <a:latin typeface="Calibri Light" panose="020F0302020204030204" pitchFamily="34" charset="0"/>
                <a:ea typeface="Calibri Light" panose="020F0302020204030204" pitchFamily="34" charset="0"/>
                <a:cs typeface="Calibri Light" panose="020F0302020204030204" pitchFamily="34" charset="0"/>
                <a:sym typeface="Calibri"/>
              </a:rPr>
              <a:t>C28, specjalność neuropsychologia</a:t>
            </a:r>
            <a:endParaRPr lang="pl-PL" i="1" dirty="0">
              <a:solidFill>
                <a:schemeClr val="bg1">
                  <a:lumMod val="75000"/>
                </a:schemeClr>
              </a:solidFill>
              <a:latin typeface="Calibri Light" panose="020F0302020204030204" pitchFamily="34" charset="0"/>
              <a:ea typeface="Calibri Light" panose="020F0302020204030204" pitchFamily="34" charset="0"/>
              <a:cs typeface="Calibri Light" panose="020F0302020204030204" pitchFamily="34" charset="0"/>
              <a:sym typeface="Calibri"/>
            </a:endParaRPr>
          </a:p>
        </p:txBody>
      </p:sp>
      <p:grpSp>
        <p:nvGrpSpPr>
          <p:cNvPr id="2" name="Grupa 1"/>
          <p:cNvGrpSpPr/>
          <p:nvPr/>
        </p:nvGrpSpPr>
        <p:grpSpPr>
          <a:xfrm>
            <a:off x="8532325" y="3768589"/>
            <a:ext cx="1828798" cy="1828798"/>
            <a:chOff x="7863840" y="777240"/>
            <a:chExt cx="5120700" cy="5120700"/>
          </a:xfrm>
          <a:effectLst>
            <a:outerShdw blurRad="50800" dist="38100" dir="5400000" algn="t" rotWithShape="0">
              <a:prstClr val="black">
                <a:alpha val="40000"/>
              </a:prstClr>
            </a:outerShdw>
          </a:effectLst>
          <a:scene3d>
            <a:camera prst="isometricBottomDown"/>
            <a:lightRig rig="threePt" dir="t"/>
          </a:scene3d>
        </p:grpSpPr>
        <p:sp>
          <p:nvSpPr>
            <p:cNvPr id="34" name="Google Shape;34;p1"/>
            <p:cNvSpPr/>
            <p:nvPr/>
          </p:nvSpPr>
          <p:spPr>
            <a:xfrm>
              <a:off x="7863840" y="777240"/>
              <a:ext cx="5120700" cy="5120700"/>
            </a:xfrm>
            <a:prstGeom prst="ellipse">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1"/>
            <p:cNvSpPr/>
            <p:nvPr/>
          </p:nvSpPr>
          <p:spPr>
            <a:xfrm>
              <a:off x="8686800" y="1600200"/>
              <a:ext cx="3474600" cy="347460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1"/>
            <p:cNvSpPr/>
            <p:nvPr/>
          </p:nvSpPr>
          <p:spPr>
            <a:xfrm>
              <a:off x="9464040" y="2377440"/>
              <a:ext cx="1920300" cy="1920300"/>
            </a:xfrm>
            <a:prstGeom prst="ellipse">
              <a:avLst/>
            </a:prstGeom>
            <a:solidFill>
              <a:schemeClr val="dk2"/>
            </a:solidFill>
            <a:ln w="127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 name="Google Shape;37;p1" descr="Ikona mózgu"/>
            <p:cNvPicPr preferRelativeResize="0"/>
            <p:nvPr/>
          </p:nvPicPr>
          <p:blipFill rotWithShape="1">
            <a:blip r:embed="rId3">
              <a:alphaModFix/>
              <a:duotone>
                <a:prstClr val="black"/>
                <a:schemeClr val="accent3">
                  <a:tint val="45000"/>
                  <a:satMod val="400000"/>
                </a:schemeClr>
              </a:duotone>
            </a:blip>
            <a:srcRect/>
            <a:stretch/>
          </p:blipFill>
          <p:spPr>
            <a:xfrm>
              <a:off x="9875520" y="2788920"/>
              <a:ext cx="1097280" cy="1097280"/>
            </a:xfrm>
            <a:prstGeom prst="rect">
              <a:avLst/>
            </a:prstGeom>
            <a:noFill/>
            <a:ln>
              <a:noFill/>
            </a:ln>
          </p:spPr>
        </p:pic>
      </p:grpSp>
      <p:grpSp>
        <p:nvGrpSpPr>
          <p:cNvPr id="12" name="Grupa 11"/>
          <p:cNvGrpSpPr/>
          <p:nvPr/>
        </p:nvGrpSpPr>
        <p:grpSpPr>
          <a:xfrm>
            <a:off x="10143005" y="3379986"/>
            <a:ext cx="1357194" cy="1357194"/>
            <a:chOff x="7863840" y="777240"/>
            <a:chExt cx="5120700" cy="5120700"/>
          </a:xfrm>
          <a:effectLst>
            <a:outerShdw blurRad="50800" dist="38100" dir="2700000" algn="tl" rotWithShape="0">
              <a:prstClr val="black">
                <a:alpha val="40000"/>
              </a:prstClr>
            </a:outerShdw>
            <a:reflection blurRad="6350" stA="50000" endA="300" endPos="55500" dist="101600" dir="5400000" sy="-100000" algn="bl" rotWithShape="0"/>
          </a:effectLst>
          <a:scene3d>
            <a:camera prst="perspectiveBelow"/>
            <a:lightRig rig="threePt" dir="t"/>
          </a:scene3d>
        </p:grpSpPr>
        <p:sp>
          <p:nvSpPr>
            <p:cNvPr id="13" name="Google Shape;34;p1"/>
            <p:cNvSpPr/>
            <p:nvPr/>
          </p:nvSpPr>
          <p:spPr>
            <a:xfrm>
              <a:off x="7863840" y="777240"/>
              <a:ext cx="5120700" cy="5120700"/>
            </a:xfrm>
            <a:prstGeom prst="ellipse">
              <a:avLst/>
            </a:prstGeom>
            <a:solidFill>
              <a:srgbClr val="F6F0E8"/>
            </a:solidFill>
            <a:ln w="12700" cap="flat" cmpd="sng">
              <a:solidFill>
                <a:schemeClr val="accent2">
                  <a:lumMod val="20000"/>
                  <a:lumOff val="8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5;p1"/>
            <p:cNvSpPr/>
            <p:nvPr/>
          </p:nvSpPr>
          <p:spPr>
            <a:xfrm>
              <a:off x="8686800" y="1600200"/>
              <a:ext cx="3474600" cy="3474600"/>
            </a:xfrm>
            <a:prstGeom prst="ellipse">
              <a:avLst/>
            </a:prstGeom>
            <a:solidFill>
              <a:srgbClr val="D6A300"/>
            </a:solidFill>
            <a:ln w="12700" cap="flat" cmpd="sng">
              <a:solidFill>
                <a:schemeClr val="accent3">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6;p1"/>
            <p:cNvSpPr/>
            <p:nvPr/>
          </p:nvSpPr>
          <p:spPr>
            <a:xfrm>
              <a:off x="9464040" y="2377440"/>
              <a:ext cx="1920300" cy="1920300"/>
            </a:xfrm>
            <a:prstGeom prst="ellipse">
              <a:avLst/>
            </a:prstGeom>
            <a:solidFill>
              <a:srgbClr val="00B0F0"/>
            </a:solidFill>
            <a:ln w="127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oogle Shape;37;p1" descr="Ikona mózgu"/>
            <p:cNvPicPr preferRelativeResize="0"/>
            <p:nvPr/>
          </p:nvPicPr>
          <p:blipFill rotWithShape="1">
            <a:blip r:embed="rId3">
              <a:alphaModFix/>
            </a:blip>
            <a:srcRect/>
            <a:stretch/>
          </p:blipFill>
          <p:spPr>
            <a:xfrm>
              <a:off x="9875520" y="2788920"/>
              <a:ext cx="1097280" cy="1097280"/>
            </a:xfrm>
            <a:prstGeom prst="rect">
              <a:avLst/>
            </a:prstGeom>
            <a:noFill/>
            <a:ln>
              <a:noFill/>
            </a:ln>
          </p:spPr>
        </p:pic>
      </p:grpSp>
      <p:sp>
        <p:nvSpPr>
          <p:cNvPr id="3" name="Prostokąt zaokrąglony 2"/>
          <p:cNvSpPr/>
          <p:nvPr/>
        </p:nvSpPr>
        <p:spPr>
          <a:xfrm>
            <a:off x="2311458" y="4141319"/>
            <a:ext cx="2996179" cy="442674"/>
          </a:xfrm>
          <a:prstGeom prst="roundRect">
            <a:avLst/>
          </a:prstGeom>
          <a:solidFill>
            <a:srgbClr val="ECF8FA"/>
          </a:solidFill>
          <a:ln>
            <a:solidFill>
              <a:schemeClr val="accent4">
                <a:lumMod val="50000"/>
              </a:schemeClr>
            </a:solidFill>
          </a:ln>
          <a:effectLst>
            <a:outerShdw blurRad="25400" dist="12700" dir="2700000" algn="tl" rotWithShape="0">
              <a:prstClr val="black">
                <a:alpha val="20000"/>
              </a:prstClr>
            </a:outerShdw>
          </a:effectLst>
        </p:spPr>
        <p:style>
          <a:lnRef idx="2">
            <a:schemeClr val="accent1"/>
          </a:lnRef>
          <a:fillRef idx="1">
            <a:schemeClr val="lt1"/>
          </a:fillRef>
          <a:effectRef idx="0">
            <a:schemeClr val="accent1"/>
          </a:effectRef>
          <a:fontRef idx="minor">
            <a:schemeClr val="dk1"/>
          </a:fontRef>
        </p:style>
        <p:txBody>
          <a:bodyPr wrap="none" anchor="ctr">
            <a:spAutoFit/>
          </a:bodyPr>
          <a:lstStyle/>
          <a:p>
            <a:pPr algn="ctr"/>
            <a:r>
              <a:rPr lang="pl-PL" sz="2000" dirty="0">
                <a:solidFill>
                  <a:schemeClr val="tx1"/>
                </a:solidFill>
                <a:latin typeface="CMU Serif" panose="02000603000000000000" pitchFamily="2" charset="0"/>
                <a:ea typeface="CMU Serif" panose="02000603000000000000" pitchFamily="2" charset="0"/>
                <a:cs typeface="CMU Serif" panose="02000603000000000000" pitchFamily="2" charset="0"/>
                <a:sym typeface="Calibri"/>
              </a:rPr>
              <a:t>Żaneta Wisińska-Kuchta</a:t>
            </a:r>
            <a:endParaRPr lang="pl-PL" sz="2000" dirty="0">
              <a:solidFill>
                <a:schemeClr val="tx1"/>
              </a:solidFill>
              <a:latin typeface="CMU Serif" panose="02000603000000000000" pitchFamily="2" charset="0"/>
              <a:ea typeface="CMU Serif" panose="02000603000000000000" pitchFamily="2" charset="0"/>
              <a:cs typeface="CMU Serif" panose="02000603000000000000" pitchFamily="2" charset="0"/>
            </a:endParaRPr>
          </a:p>
        </p:txBody>
      </p:sp>
      <p:sp>
        <p:nvSpPr>
          <p:cNvPr id="18" name="Prostokąt zaokrąglony 17"/>
          <p:cNvSpPr/>
          <p:nvPr/>
        </p:nvSpPr>
        <p:spPr>
          <a:xfrm>
            <a:off x="420688" y="4723591"/>
            <a:ext cx="2024865" cy="442674"/>
          </a:xfrm>
          <a:prstGeom prst="roundRect">
            <a:avLst/>
          </a:prstGeom>
          <a:solidFill>
            <a:srgbClr val="ECF8FA"/>
          </a:solidFill>
          <a:ln>
            <a:solidFill>
              <a:schemeClr val="accent4">
                <a:lumMod val="50000"/>
              </a:schemeClr>
            </a:solidFill>
          </a:ln>
          <a:effectLst>
            <a:outerShdw blurRad="25400" dist="12700" dir="2700000" algn="tl" rotWithShape="0">
              <a:prstClr val="black">
                <a:alpha val="20000"/>
              </a:prstClr>
            </a:outerShdw>
          </a:effectLst>
        </p:spPr>
        <p:style>
          <a:lnRef idx="2">
            <a:schemeClr val="accent2"/>
          </a:lnRef>
          <a:fillRef idx="1">
            <a:schemeClr val="lt1"/>
          </a:fillRef>
          <a:effectRef idx="0">
            <a:schemeClr val="accent2"/>
          </a:effectRef>
          <a:fontRef idx="minor">
            <a:schemeClr val="dk1"/>
          </a:fontRef>
        </p:style>
        <p:txBody>
          <a:bodyPr wrap="none" anchor="ctr">
            <a:spAutoFit/>
          </a:bodyPr>
          <a:lstStyle/>
          <a:p>
            <a:pPr algn="ctr"/>
            <a:r>
              <a:rPr lang="pl-PL" sz="2000" dirty="0">
                <a:solidFill>
                  <a:schemeClr val="tx1"/>
                </a:solidFill>
                <a:latin typeface="CMU Serif" panose="02000603000000000000" pitchFamily="2" charset="0"/>
                <a:ea typeface="CMU Serif" panose="02000603000000000000" pitchFamily="2" charset="0"/>
                <a:cs typeface="CMU Serif" panose="02000603000000000000" pitchFamily="2" charset="0"/>
                <a:sym typeface="Calibri"/>
              </a:rPr>
              <a:t>Mariola </a:t>
            </a:r>
            <a:r>
              <a:rPr lang="pl-PL" sz="2000" dirty="0" err="1">
                <a:solidFill>
                  <a:schemeClr val="tx1"/>
                </a:solidFill>
                <a:latin typeface="CMU Serif" panose="02000603000000000000" pitchFamily="2" charset="0"/>
                <a:ea typeface="CMU Serif" panose="02000603000000000000" pitchFamily="2" charset="0"/>
                <a:cs typeface="CMU Serif" panose="02000603000000000000" pitchFamily="2" charset="0"/>
                <a:sym typeface="Calibri"/>
              </a:rPr>
              <a:t>Jatczak</a:t>
            </a:r>
            <a:endParaRPr lang="pl-PL" sz="2000" dirty="0">
              <a:solidFill>
                <a:schemeClr val="tx1"/>
              </a:solidFill>
              <a:latin typeface="CMU Serif" panose="02000603000000000000" pitchFamily="2" charset="0"/>
              <a:ea typeface="CMU Serif" panose="02000603000000000000" pitchFamily="2" charset="0"/>
              <a:cs typeface="CMU Serif" panose="02000603000000000000" pitchFamily="2" charset="0"/>
            </a:endParaRPr>
          </a:p>
        </p:txBody>
      </p:sp>
      <p:sp>
        <p:nvSpPr>
          <p:cNvPr id="19" name="Prostokąt zaokrąglony 18"/>
          <p:cNvSpPr/>
          <p:nvPr/>
        </p:nvSpPr>
        <p:spPr>
          <a:xfrm>
            <a:off x="420688" y="4141319"/>
            <a:ext cx="1743815" cy="442674"/>
          </a:xfrm>
          <a:prstGeom prst="roundRect">
            <a:avLst/>
          </a:prstGeom>
          <a:solidFill>
            <a:srgbClr val="ECF8FA"/>
          </a:solidFill>
          <a:ln>
            <a:solidFill>
              <a:schemeClr val="accent4">
                <a:lumMod val="50000"/>
              </a:schemeClr>
            </a:solidFill>
          </a:ln>
          <a:effectLst>
            <a:outerShdw blurRad="25400" dist="12700" dir="2700000" algn="tl" rotWithShape="0">
              <a:prstClr val="black">
                <a:alpha val="20000"/>
              </a:prstClr>
            </a:outerShdw>
          </a:effectLst>
        </p:spPr>
        <p:style>
          <a:lnRef idx="2">
            <a:schemeClr val="accent2"/>
          </a:lnRef>
          <a:fillRef idx="1">
            <a:schemeClr val="lt1"/>
          </a:fillRef>
          <a:effectRef idx="0">
            <a:schemeClr val="accent2"/>
          </a:effectRef>
          <a:fontRef idx="minor">
            <a:schemeClr val="dk1"/>
          </a:fontRef>
        </p:style>
        <p:txBody>
          <a:bodyPr wrap="none" anchor="ctr">
            <a:spAutoFit/>
          </a:bodyPr>
          <a:lstStyle/>
          <a:p>
            <a:pPr algn="ctr"/>
            <a:r>
              <a:rPr lang="pl-PL" sz="2000" dirty="0">
                <a:solidFill>
                  <a:schemeClr val="tx1"/>
                </a:solidFill>
                <a:latin typeface="CMU Serif" panose="02000603000000000000" pitchFamily="2" charset="0"/>
                <a:ea typeface="CMU Serif" panose="02000603000000000000" pitchFamily="2" charset="0"/>
                <a:cs typeface="CMU Serif" panose="02000603000000000000" pitchFamily="2" charset="0"/>
                <a:sym typeface="Calibri"/>
              </a:rPr>
              <a:t>Agata </a:t>
            </a:r>
            <a:r>
              <a:rPr lang="pl-PL" sz="2000" dirty="0" err="1">
                <a:solidFill>
                  <a:schemeClr val="tx1"/>
                </a:solidFill>
                <a:latin typeface="CMU Serif" panose="02000603000000000000" pitchFamily="2" charset="0"/>
                <a:ea typeface="CMU Serif" panose="02000603000000000000" pitchFamily="2" charset="0"/>
                <a:cs typeface="CMU Serif" panose="02000603000000000000" pitchFamily="2" charset="0"/>
                <a:sym typeface="Calibri"/>
              </a:rPr>
              <a:t>Horbal</a:t>
            </a:r>
            <a:endParaRPr lang="pl-PL" sz="2000" dirty="0">
              <a:solidFill>
                <a:schemeClr val="tx1"/>
              </a:solidFill>
              <a:latin typeface="CMU Serif" panose="02000603000000000000" pitchFamily="2" charset="0"/>
              <a:ea typeface="CMU Serif" panose="02000603000000000000" pitchFamily="2" charset="0"/>
              <a:cs typeface="CMU Serif" panose="02000603000000000000" pitchFamily="2" charset="0"/>
            </a:endParaRPr>
          </a:p>
        </p:txBody>
      </p:sp>
      <p:sp>
        <p:nvSpPr>
          <p:cNvPr id="20" name="Prostokąt zaokrąglony 19"/>
          <p:cNvSpPr/>
          <p:nvPr/>
        </p:nvSpPr>
        <p:spPr>
          <a:xfrm>
            <a:off x="2592509" y="4723591"/>
            <a:ext cx="2335828" cy="442674"/>
          </a:xfrm>
          <a:prstGeom prst="roundRect">
            <a:avLst/>
          </a:prstGeom>
          <a:solidFill>
            <a:srgbClr val="ECF8FA"/>
          </a:solidFill>
          <a:ln>
            <a:solidFill>
              <a:schemeClr val="accent4">
                <a:lumMod val="50000"/>
              </a:schemeClr>
            </a:solidFill>
          </a:ln>
          <a:effectLst>
            <a:outerShdw blurRad="25400" dist="12700" dir="2700000" algn="tl" rotWithShape="0">
              <a:prstClr val="black">
                <a:alpha val="20000"/>
              </a:prstClr>
            </a:outerShdw>
          </a:effectLst>
        </p:spPr>
        <p:style>
          <a:lnRef idx="2">
            <a:schemeClr val="accent2"/>
          </a:lnRef>
          <a:fillRef idx="1">
            <a:schemeClr val="lt1"/>
          </a:fillRef>
          <a:effectRef idx="0">
            <a:schemeClr val="accent2"/>
          </a:effectRef>
          <a:fontRef idx="minor">
            <a:schemeClr val="dk1"/>
          </a:fontRef>
        </p:style>
        <p:txBody>
          <a:bodyPr wrap="none" anchor="ctr">
            <a:spAutoFit/>
          </a:bodyPr>
          <a:lstStyle/>
          <a:p>
            <a:pPr>
              <a:spcAft>
                <a:spcPts val="1200"/>
              </a:spcAft>
              <a:buClr>
                <a:schemeClr val="dk1"/>
              </a:buClr>
              <a:buSzPts val="2200"/>
            </a:pPr>
            <a:r>
              <a:rPr lang="pl-PL" sz="2000" dirty="0">
                <a:solidFill>
                  <a:schemeClr val="tx1"/>
                </a:solidFill>
                <a:latin typeface="CMU Serif" panose="02000603000000000000" pitchFamily="2" charset="0"/>
                <a:ea typeface="CMU Serif" panose="02000603000000000000" pitchFamily="2" charset="0"/>
                <a:cs typeface="CMU Serif" panose="02000603000000000000" pitchFamily="2" charset="0"/>
                <a:sym typeface="Calibri"/>
              </a:rPr>
              <a:t>Mateusz Pomianek</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2"/>
          <p:cNvSpPr txBox="1">
            <a:spLocks noGrp="1"/>
          </p:cNvSpPr>
          <p:nvPr>
            <p:ph type="title" idx="100"/>
          </p:nvPr>
        </p:nvSpPr>
        <p:spPr>
          <a:xfrm>
            <a:off x="548640" y="320040"/>
            <a:ext cx="11091600" cy="105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000"/>
              <a:buFont typeface="Cambria"/>
              <a:buNone/>
            </a:pPr>
            <a:r>
              <a:rPr lang="pl-PL" sz="3000" b="1" dirty="0" smtClean="0">
                <a:solidFill>
                  <a:schemeClr val="dk2"/>
                </a:solidFill>
              </a:rPr>
              <a:t>Co w kolejnych etapach życia zmienia odmienność rozwojową w niepełnosprawność?</a:t>
            </a:r>
            <a:endParaRPr lang="pl-PL" sz="3000" dirty="0"/>
          </a:p>
        </p:txBody>
      </p:sp>
      <p:sp>
        <p:nvSpPr>
          <p:cNvPr id="40" name="Google Shape;40;p2"/>
          <p:cNvSpPr/>
          <p:nvPr/>
        </p:nvSpPr>
        <p:spPr>
          <a:xfrm>
            <a:off x="548640" y="1645920"/>
            <a:ext cx="5909536" cy="4366260"/>
          </a:xfrm>
          <a:prstGeom prst="roundRect">
            <a:avLst>
              <a:gd name="adj" fmla="val 2727"/>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txBox="1"/>
          <p:nvPr/>
        </p:nvSpPr>
        <p:spPr>
          <a:xfrm>
            <a:off x="731520" y="1817340"/>
            <a:ext cx="550926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600"/>
              <a:buFont typeface="Calibri"/>
              <a:buNone/>
            </a:pPr>
            <a:r>
              <a:rPr lang="pl-PL" sz="2400" b="1" i="0" u="none" strike="noStrike" cap="none" spc="-100" dirty="0" smtClean="0">
                <a:solidFill>
                  <a:schemeClr val="accent2"/>
                </a:solidFill>
                <a:latin typeface="CMU Serif" panose="02000603000000000000" pitchFamily="2" charset="0"/>
                <a:ea typeface="CMU Serif" panose="02000603000000000000" pitchFamily="2" charset="0"/>
                <a:cs typeface="CMU Serif" panose="02000603000000000000" pitchFamily="2" charset="0"/>
                <a:sym typeface="Calibri"/>
              </a:rPr>
              <a:t>PYTANIE PRZEWODNIE</a:t>
            </a:r>
            <a:endParaRPr lang="pl-PL" sz="2400" b="0" i="0" u="none" strike="noStrike" cap="none" spc="-100" dirty="0">
              <a:solidFill>
                <a:schemeClr val="dk1"/>
              </a:solidFill>
              <a:latin typeface="CMU Serif" panose="02000603000000000000" pitchFamily="2" charset="0"/>
              <a:ea typeface="CMU Serif" panose="02000603000000000000" pitchFamily="2" charset="0"/>
              <a:cs typeface="CMU Serif" panose="02000603000000000000" pitchFamily="2" charset="0"/>
              <a:sym typeface="Calibri"/>
            </a:endParaRPr>
          </a:p>
        </p:txBody>
      </p:sp>
      <p:sp>
        <p:nvSpPr>
          <p:cNvPr id="42" name="Google Shape;42;p2"/>
          <p:cNvSpPr txBox="1"/>
          <p:nvPr/>
        </p:nvSpPr>
        <p:spPr>
          <a:xfrm>
            <a:off x="754492" y="2457420"/>
            <a:ext cx="5577727" cy="3108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2600"/>
              <a:buFont typeface="Cambria"/>
              <a:buNone/>
            </a:pPr>
            <a:r>
              <a:rPr lang="pl-PL" sz="3000" i="0" u="none" strike="noStrike" cap="none" dirty="0" smtClean="0">
                <a:solidFill>
                  <a:schemeClr val="dk2"/>
                </a:solidFill>
                <a:latin typeface="Cambria"/>
                <a:ea typeface="Cambria"/>
                <a:cs typeface="Cambria"/>
                <a:sym typeface="Cambria"/>
              </a:rPr>
              <a:t>Czy o losie osoby w spektrum autyzmu decyduje sam autyzm, czy to jak przygotowane są szkoła, system wsparcia i otoczenie?</a:t>
            </a:r>
            <a:endParaRPr lang="pl-PL" sz="3000" i="0" u="none" strike="noStrike" cap="none" dirty="0">
              <a:solidFill>
                <a:schemeClr val="dk1"/>
              </a:solidFill>
              <a:latin typeface="Calibri"/>
              <a:ea typeface="Calibri"/>
              <a:cs typeface="Calibri"/>
              <a:sym typeface="Calibri"/>
            </a:endParaRPr>
          </a:p>
        </p:txBody>
      </p:sp>
      <p:sp>
        <p:nvSpPr>
          <p:cNvPr id="43" name="Google Shape;43;p2"/>
          <p:cNvSpPr txBox="1"/>
          <p:nvPr/>
        </p:nvSpPr>
        <p:spPr>
          <a:xfrm>
            <a:off x="6693964" y="1645920"/>
            <a:ext cx="4918796" cy="457200"/>
          </a:xfrm>
          <a:prstGeom prst="rect">
            <a:avLst/>
          </a:prstGeom>
          <a:noFill/>
          <a:ln>
            <a:noFill/>
          </a:ln>
        </p:spPr>
        <p:txBody>
          <a:bodyPr spcFirstLastPara="1" wrap="square" lIns="0" tIns="0" rIns="0" bIns="0" anchor="t" anchorCtr="0">
            <a:noAutofit/>
          </a:bodyPr>
          <a:lstStyle/>
          <a:p>
            <a:pPr marL="0" marR="0" lvl="0" indent="0" rtl="0">
              <a:spcBef>
                <a:spcPts val="0"/>
              </a:spcBef>
              <a:spcAft>
                <a:spcPts val="0"/>
              </a:spcAft>
              <a:buClr>
                <a:schemeClr val="dk2"/>
              </a:buClr>
              <a:buSzPts val="2400"/>
              <a:buFont typeface="Calibri"/>
              <a:buNone/>
            </a:pPr>
            <a:r>
              <a:rPr lang="pl-PL" sz="2400" b="1" i="0" u="none" strike="noStrike" cap="none" dirty="0" smtClean="0">
                <a:solidFill>
                  <a:schemeClr val="dk2"/>
                </a:solidFill>
                <a:latin typeface="CMU Serif" panose="02000603000000000000" pitchFamily="2" charset="0"/>
                <a:ea typeface="CMU Serif" panose="02000603000000000000" pitchFamily="2" charset="0"/>
                <a:cs typeface="CMU Serif" panose="02000603000000000000" pitchFamily="2" charset="0"/>
                <a:sym typeface="Calibri"/>
              </a:rPr>
              <a:t>Nasza prezentacja</a:t>
            </a:r>
            <a:endParaRPr sz="2400" b="0" i="0" u="none" strike="noStrike" cap="none" dirty="0">
              <a:solidFill>
                <a:schemeClr val="dk1"/>
              </a:solidFill>
              <a:latin typeface="CMU Serif" panose="02000603000000000000" pitchFamily="2" charset="0"/>
              <a:ea typeface="CMU Serif" panose="02000603000000000000" pitchFamily="2" charset="0"/>
              <a:cs typeface="CMU Serif" panose="02000603000000000000" pitchFamily="2" charset="0"/>
              <a:sym typeface="Calibri"/>
            </a:endParaRPr>
          </a:p>
        </p:txBody>
      </p:sp>
      <p:sp>
        <p:nvSpPr>
          <p:cNvPr id="44" name="Google Shape;44;p2"/>
          <p:cNvSpPr/>
          <p:nvPr/>
        </p:nvSpPr>
        <p:spPr>
          <a:xfrm>
            <a:off x="6693964" y="2286616"/>
            <a:ext cx="533530" cy="556095"/>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txBox="1"/>
          <p:nvPr/>
        </p:nvSpPr>
        <p:spPr>
          <a:xfrm>
            <a:off x="6693964" y="2286616"/>
            <a:ext cx="533530" cy="55609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1</a:t>
            </a:r>
            <a:endParaRPr sz="2200" b="0" i="0" u="none" strike="noStrike" cap="none">
              <a:solidFill>
                <a:schemeClr val="dk1"/>
              </a:solidFill>
              <a:latin typeface="Calibri"/>
              <a:ea typeface="Calibri"/>
              <a:cs typeface="Calibri"/>
              <a:sym typeface="Calibri"/>
            </a:endParaRPr>
          </a:p>
        </p:txBody>
      </p:sp>
      <p:sp>
        <p:nvSpPr>
          <p:cNvPr id="46" name="Google Shape;46;p2"/>
          <p:cNvSpPr txBox="1"/>
          <p:nvPr/>
        </p:nvSpPr>
        <p:spPr>
          <a:xfrm>
            <a:off x="7445430" y="2286616"/>
            <a:ext cx="3915990" cy="556095"/>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100"/>
              <a:buFont typeface="Calibri"/>
              <a:buNone/>
            </a:pPr>
            <a:r>
              <a:rPr lang="pl-PL" sz="2200" dirty="0" smtClean="0">
                <a:solidFill>
                  <a:schemeClr val="dk1"/>
                </a:solidFill>
                <a:latin typeface="Calibri"/>
                <a:ea typeface="Calibri"/>
                <a:cs typeface="Calibri"/>
                <a:sym typeface="Calibri"/>
              </a:rPr>
              <a:t>Przedstawimy </a:t>
            </a:r>
            <a:r>
              <a:rPr lang="pl-PL" sz="2200" b="0" i="0" u="none" strike="noStrike" cap="none" dirty="0" smtClean="0">
                <a:solidFill>
                  <a:schemeClr val="dk1"/>
                </a:solidFill>
                <a:latin typeface="Calibri"/>
                <a:ea typeface="Calibri"/>
                <a:cs typeface="Calibri"/>
                <a:sym typeface="Calibri"/>
              </a:rPr>
              <a:t>czym jest symbol 12-C i jaka jest skala tego zjawiska</a:t>
            </a:r>
            <a:endParaRPr lang="pl-PL" sz="2200" b="0" i="0" u="none" strike="noStrike" cap="none" dirty="0">
              <a:solidFill>
                <a:schemeClr val="dk1"/>
              </a:solidFill>
              <a:latin typeface="Calibri"/>
              <a:ea typeface="Calibri"/>
              <a:cs typeface="Calibri"/>
              <a:sym typeface="Calibri"/>
            </a:endParaRPr>
          </a:p>
        </p:txBody>
      </p:sp>
      <p:sp>
        <p:nvSpPr>
          <p:cNvPr id="47" name="Google Shape;47;p2"/>
          <p:cNvSpPr/>
          <p:nvPr/>
        </p:nvSpPr>
        <p:spPr>
          <a:xfrm>
            <a:off x="6694472" y="3235584"/>
            <a:ext cx="533530" cy="556095"/>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txBox="1"/>
          <p:nvPr/>
        </p:nvSpPr>
        <p:spPr>
          <a:xfrm>
            <a:off x="6694472" y="3235584"/>
            <a:ext cx="533530" cy="55609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2</a:t>
            </a:r>
            <a:endParaRPr sz="2200" b="0" i="0" u="none" strike="noStrike" cap="none">
              <a:solidFill>
                <a:schemeClr val="dk1"/>
              </a:solidFill>
              <a:latin typeface="Calibri"/>
              <a:ea typeface="Calibri"/>
              <a:cs typeface="Calibri"/>
              <a:sym typeface="Calibri"/>
            </a:endParaRPr>
          </a:p>
        </p:txBody>
      </p:sp>
      <p:sp>
        <p:nvSpPr>
          <p:cNvPr id="49" name="Google Shape;49;p2"/>
          <p:cNvSpPr txBox="1"/>
          <p:nvPr/>
        </p:nvSpPr>
        <p:spPr>
          <a:xfrm>
            <a:off x="7463790" y="3235584"/>
            <a:ext cx="4194810" cy="5560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100"/>
              <a:buFont typeface="Calibri"/>
              <a:buNone/>
            </a:pPr>
            <a:r>
              <a:rPr lang="pl-PL" sz="2200" b="0" i="0" u="none" strike="noStrike" cap="none" dirty="0" smtClean="0">
                <a:solidFill>
                  <a:schemeClr val="dk1"/>
                </a:solidFill>
                <a:latin typeface="Calibri"/>
                <a:ea typeface="Calibri"/>
                <a:cs typeface="Calibri"/>
                <a:sym typeface="Calibri"/>
              </a:rPr>
              <a:t>porówn</a:t>
            </a:r>
            <a:r>
              <a:rPr lang="pl-PL" sz="2200" dirty="0" smtClean="0">
                <a:solidFill>
                  <a:schemeClr val="dk1"/>
                </a:solidFill>
                <a:latin typeface="Calibri"/>
                <a:ea typeface="Calibri"/>
                <a:cs typeface="Calibri"/>
                <a:sym typeface="Calibri"/>
              </a:rPr>
              <a:t>amy </a:t>
            </a:r>
            <a:r>
              <a:rPr lang="pl-PL" sz="2200" b="0" i="0" u="none" strike="noStrike" cap="none" dirty="0" smtClean="0">
                <a:solidFill>
                  <a:schemeClr val="dk1"/>
                </a:solidFill>
                <a:latin typeface="Calibri"/>
                <a:ea typeface="Calibri"/>
                <a:cs typeface="Calibri"/>
                <a:sym typeface="Calibri"/>
              </a:rPr>
              <a:t>doświadczenia dzieci, nastolatków i dorosłych</a:t>
            </a:r>
            <a:endParaRPr lang="pl-PL" sz="2200" b="0" i="0" u="none" strike="noStrike" cap="none" dirty="0">
              <a:solidFill>
                <a:schemeClr val="dk1"/>
              </a:solidFill>
              <a:latin typeface="Calibri"/>
              <a:ea typeface="Calibri"/>
              <a:cs typeface="Calibri"/>
              <a:sym typeface="Calibri"/>
            </a:endParaRPr>
          </a:p>
        </p:txBody>
      </p:sp>
      <p:sp>
        <p:nvSpPr>
          <p:cNvPr id="50" name="Google Shape;50;p2"/>
          <p:cNvSpPr/>
          <p:nvPr/>
        </p:nvSpPr>
        <p:spPr>
          <a:xfrm>
            <a:off x="6694472" y="4184552"/>
            <a:ext cx="533530" cy="556095"/>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txBox="1"/>
          <p:nvPr/>
        </p:nvSpPr>
        <p:spPr>
          <a:xfrm>
            <a:off x="6694472" y="4184552"/>
            <a:ext cx="533530" cy="55609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i="0" u="none" strike="noStrike" cap="none" dirty="0">
                <a:solidFill>
                  <a:schemeClr val="lt1"/>
                </a:solidFill>
                <a:latin typeface="Calibri"/>
                <a:ea typeface="Calibri"/>
                <a:cs typeface="Calibri"/>
                <a:sym typeface="Calibri"/>
              </a:rPr>
              <a:t>3</a:t>
            </a:r>
            <a:endParaRPr sz="2200" b="0" i="0" u="none" strike="noStrike" cap="none" dirty="0">
              <a:solidFill>
                <a:schemeClr val="dk1"/>
              </a:solidFill>
              <a:latin typeface="Calibri"/>
              <a:ea typeface="Calibri"/>
              <a:cs typeface="Calibri"/>
              <a:sym typeface="Calibri"/>
            </a:endParaRPr>
          </a:p>
        </p:txBody>
      </p:sp>
      <p:sp>
        <p:nvSpPr>
          <p:cNvPr id="52" name="Google Shape;52;p2"/>
          <p:cNvSpPr txBox="1"/>
          <p:nvPr/>
        </p:nvSpPr>
        <p:spPr>
          <a:xfrm>
            <a:off x="7463790" y="4184552"/>
            <a:ext cx="4320540" cy="5560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100"/>
              <a:buFont typeface="Calibri"/>
              <a:buNone/>
            </a:pPr>
            <a:r>
              <a:rPr lang="pl-PL" sz="2200" b="0" i="0" u="none" strike="noStrike" cap="none" dirty="0" smtClean="0">
                <a:solidFill>
                  <a:schemeClr val="dk1"/>
                </a:solidFill>
                <a:latin typeface="Calibri"/>
                <a:ea typeface="Calibri"/>
                <a:cs typeface="Calibri"/>
                <a:sym typeface="Calibri"/>
              </a:rPr>
              <a:t>oceni</a:t>
            </a:r>
            <a:r>
              <a:rPr lang="pl-PL" sz="2200" dirty="0" smtClean="0">
                <a:solidFill>
                  <a:schemeClr val="dk1"/>
                </a:solidFill>
                <a:latin typeface="Calibri"/>
                <a:ea typeface="Calibri"/>
                <a:cs typeface="Calibri"/>
                <a:sym typeface="Calibri"/>
              </a:rPr>
              <a:t>my </a:t>
            </a:r>
            <a:r>
              <a:rPr lang="pl-PL" sz="2200" b="0" i="0" u="none" strike="noStrike" cap="none" dirty="0" smtClean="0">
                <a:solidFill>
                  <a:schemeClr val="dk1"/>
                </a:solidFill>
                <a:latin typeface="Calibri"/>
                <a:ea typeface="Calibri"/>
                <a:cs typeface="Calibri"/>
                <a:sym typeface="Calibri"/>
              </a:rPr>
              <a:t>bariery w szkole, relacjach </a:t>
            </a:r>
          </a:p>
          <a:p>
            <a:pPr marL="0" marR="0" lvl="0" indent="0" algn="l" rtl="0">
              <a:spcBef>
                <a:spcPts val="0"/>
              </a:spcBef>
              <a:spcAft>
                <a:spcPts val="0"/>
              </a:spcAft>
              <a:buClr>
                <a:schemeClr val="dk1"/>
              </a:buClr>
              <a:buSzPts val="2100"/>
              <a:buFont typeface="Calibri"/>
              <a:buNone/>
            </a:pPr>
            <a:r>
              <a:rPr lang="pl-PL" sz="2200" b="0" i="0" u="none" strike="noStrike" cap="none" dirty="0" smtClean="0">
                <a:solidFill>
                  <a:schemeClr val="dk1"/>
                </a:solidFill>
                <a:latin typeface="Calibri"/>
                <a:ea typeface="Calibri"/>
                <a:cs typeface="Calibri"/>
                <a:sym typeface="Calibri"/>
              </a:rPr>
              <a:t>i po zakończeniu edukacji</a:t>
            </a:r>
            <a:endParaRPr lang="pl-PL" sz="2200" b="0" i="0" u="none" strike="noStrike" cap="none" dirty="0">
              <a:solidFill>
                <a:schemeClr val="dk1"/>
              </a:solidFill>
              <a:latin typeface="Calibri"/>
              <a:ea typeface="Calibri"/>
              <a:cs typeface="Calibri"/>
              <a:sym typeface="Calibri"/>
            </a:endParaRPr>
          </a:p>
        </p:txBody>
      </p:sp>
      <p:sp>
        <p:nvSpPr>
          <p:cNvPr id="53" name="Google Shape;53;p2"/>
          <p:cNvSpPr/>
          <p:nvPr/>
        </p:nvSpPr>
        <p:spPr>
          <a:xfrm>
            <a:off x="6693964" y="5133520"/>
            <a:ext cx="533530" cy="556095"/>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txBox="1"/>
          <p:nvPr/>
        </p:nvSpPr>
        <p:spPr>
          <a:xfrm>
            <a:off x="6693964" y="5133520"/>
            <a:ext cx="533530" cy="55609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4</a:t>
            </a:r>
            <a:endParaRPr sz="2200" b="0" i="0" u="none" strike="noStrike" cap="none">
              <a:solidFill>
                <a:schemeClr val="dk1"/>
              </a:solidFill>
              <a:latin typeface="Calibri"/>
              <a:ea typeface="Calibri"/>
              <a:cs typeface="Calibri"/>
              <a:sym typeface="Calibri"/>
            </a:endParaRPr>
          </a:p>
        </p:txBody>
      </p:sp>
      <p:sp>
        <p:nvSpPr>
          <p:cNvPr id="55" name="Google Shape;55;p2"/>
          <p:cNvSpPr txBox="1"/>
          <p:nvPr/>
        </p:nvSpPr>
        <p:spPr>
          <a:xfrm>
            <a:off x="7445430" y="5133520"/>
            <a:ext cx="4194810" cy="556095"/>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100"/>
              <a:buFont typeface="Calibri"/>
              <a:buNone/>
            </a:pPr>
            <a:r>
              <a:rPr lang="pl-PL" sz="2200" dirty="0" smtClean="0">
                <a:solidFill>
                  <a:schemeClr val="dk1"/>
                </a:solidFill>
                <a:latin typeface="Calibri"/>
                <a:ea typeface="Calibri"/>
                <a:cs typeface="Calibri"/>
                <a:sym typeface="Calibri"/>
              </a:rPr>
              <a:t>Omówimy </a:t>
            </a:r>
            <a:r>
              <a:rPr lang="pl-PL" sz="2200" b="0" i="0" u="none" strike="noStrike" cap="none" dirty="0" smtClean="0">
                <a:solidFill>
                  <a:schemeClr val="dk1"/>
                </a:solidFill>
                <a:latin typeface="Calibri"/>
                <a:ea typeface="Calibri"/>
                <a:cs typeface="Calibri"/>
                <a:sym typeface="Calibri"/>
              </a:rPr>
              <a:t>skutki niedostosowania </a:t>
            </a:r>
          </a:p>
          <a:p>
            <a:pPr marL="0" marR="0" lvl="0" indent="0" algn="l" rtl="0">
              <a:spcBef>
                <a:spcPts val="0"/>
              </a:spcBef>
              <a:spcAft>
                <a:spcPts val="0"/>
              </a:spcAft>
              <a:buClr>
                <a:schemeClr val="dk1"/>
              </a:buClr>
              <a:buSzPts val="2100"/>
              <a:buFont typeface="Calibri"/>
              <a:buNone/>
            </a:pPr>
            <a:r>
              <a:rPr lang="pl-PL" sz="2200" b="0" i="0" u="none" strike="noStrike" cap="none" dirty="0" smtClean="0">
                <a:solidFill>
                  <a:schemeClr val="dk1"/>
                </a:solidFill>
                <a:latin typeface="Calibri"/>
                <a:ea typeface="Calibri"/>
                <a:cs typeface="Calibri"/>
                <a:sym typeface="Calibri"/>
              </a:rPr>
              <a:t>i kierunki zmian</a:t>
            </a:r>
            <a:endParaRPr lang="pl-PL" sz="2200" b="0" i="0" u="none" strike="noStrike" cap="none" dirty="0">
              <a:solidFill>
                <a:schemeClr val="dk1"/>
              </a:solidFill>
              <a:latin typeface="Calibri"/>
              <a:ea typeface="Calibri"/>
              <a:cs typeface="Calibri"/>
              <a:sym typeface="Calibri"/>
            </a:endParaRPr>
          </a:p>
        </p:txBody>
      </p:sp>
      <p:sp>
        <p:nvSpPr>
          <p:cNvPr id="56" name="Google Shape;56;p2"/>
          <p:cNvSpPr txBox="1">
            <a:spLocks noGrp="1"/>
          </p:cNvSpPr>
          <p:nvPr>
            <p:ph type="sldNum" idx="4294967295"/>
          </p:nvPr>
        </p:nvSpPr>
        <p:spPr>
          <a:xfrm>
            <a:off x="11064240" y="6400800"/>
            <a:ext cx="5760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accent5"/>
                </a:solidFill>
                <a:latin typeface="Calibri"/>
                <a:ea typeface="Calibri"/>
                <a:cs typeface="Calibri"/>
                <a:sym typeface="Calibri"/>
              </a:rPr>
              <a:t>2</a:t>
            </a:fld>
            <a:endParaRPr sz="1200" b="0" i="0" u="none" strike="noStrike" cap="none">
              <a:solidFill>
                <a:schemeClr val="accent5"/>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ctr"/>
          <a:lstStyle/>
          <a:p>
            <a:pPr marL="0" indent="0" algn="l">
              <a:buNone/>
            </a:pPr>
            <a:r>
              <a:rPr lang="en-US" sz="3000" b="1" dirty="0">
                <a:solidFill>
                  <a:schemeClr val="tx2"/>
                </a:solidFill>
              </a:rPr>
              <a:t>Symbol 12-C obejmuje bardzo zróżnicowaną grupę osób, </a:t>
            </a:r>
            <a:r>
              <a:rPr lang="pl-PL" sz="3000" b="1" dirty="0" smtClean="0">
                <a:solidFill>
                  <a:schemeClr val="tx2"/>
                </a:solidFill>
              </a:rPr>
              <a:t/>
            </a:r>
            <a:br>
              <a:rPr lang="pl-PL" sz="3000" b="1" dirty="0" smtClean="0">
                <a:solidFill>
                  <a:schemeClr val="tx2"/>
                </a:solidFill>
              </a:rPr>
            </a:br>
            <a:r>
              <a:rPr lang="en-US" sz="3000" b="1" dirty="0" smtClean="0">
                <a:solidFill>
                  <a:schemeClr val="tx2"/>
                </a:solidFill>
              </a:rPr>
              <a:t>od </a:t>
            </a:r>
            <a:r>
              <a:rPr lang="en-US" sz="3000" b="1" dirty="0">
                <a:solidFill>
                  <a:schemeClr val="tx2"/>
                </a:solidFill>
              </a:rPr>
              <a:t>norm intelektualnych po głęboką niepełnosprawność</a:t>
            </a:r>
            <a:endParaRPr lang="en-US" sz="3000" dirty="0"/>
          </a:p>
        </p:txBody>
      </p:sp>
      <p:sp>
        <p:nvSpPr>
          <p:cNvPr id="4" name="Karta 1"/>
          <p:cNvSpPr/>
          <p:nvPr/>
        </p:nvSpPr>
        <p:spPr>
          <a:xfrm>
            <a:off x="548639" y="1600200"/>
            <a:ext cx="3734963" cy="4160520"/>
          </a:xfrm>
          <a:prstGeom prst="roundRect">
            <a:avLst>
              <a:gd name="adj" fmla="val 3117"/>
            </a:avLst>
          </a:prstGeom>
          <a:solidFill>
            <a:schemeClr val="bg2"/>
          </a:solidFill>
          <a:ln w="12700">
            <a:solidFill>
              <a:schemeClr val="bg2"/>
            </a:solidFill>
            <a:prstDash val="solid"/>
          </a:ln>
        </p:spPr>
      </p:sp>
      <p:sp>
        <p:nvSpPr>
          <p:cNvPr id="5" name="Tło ikony"/>
          <p:cNvSpPr/>
          <p:nvPr/>
        </p:nvSpPr>
        <p:spPr>
          <a:xfrm>
            <a:off x="754380" y="1771650"/>
            <a:ext cx="777240" cy="777240"/>
          </a:xfrm>
          <a:prstGeom prst="ellipse">
            <a:avLst/>
          </a:prstGeom>
          <a:solidFill>
            <a:schemeClr val="accent1"/>
          </a:solidFill>
          <a:ln w="12700">
            <a:solidFill>
              <a:schemeClr val="accent1"/>
            </a:solidFill>
            <a:prstDash val="solid"/>
          </a:ln>
        </p:spPr>
      </p:sp>
      <p:pic>
        <p:nvPicPr>
          <p:cNvPr id="6" name="Image 0" descr="Orzekanie (12-C)"/>
          <p:cNvPicPr>
            <a:picLocks noChangeAspect="1"/>
          </p:cNvPicPr>
          <p:nvPr/>
        </p:nvPicPr>
        <p:blipFill>
          <a:blip r:embed="rId3"/>
          <a:stretch>
            <a:fillRect/>
          </a:stretch>
        </p:blipFill>
        <p:spPr>
          <a:xfrm>
            <a:off x="937260" y="1954530"/>
            <a:ext cx="449981" cy="449981"/>
          </a:xfrm>
          <a:prstGeom prst="rect">
            <a:avLst/>
          </a:prstGeom>
        </p:spPr>
      </p:pic>
      <p:sp>
        <p:nvSpPr>
          <p:cNvPr id="7" name="Text 3"/>
          <p:cNvSpPr txBox="1"/>
          <p:nvPr/>
        </p:nvSpPr>
        <p:spPr>
          <a:xfrm>
            <a:off x="662940" y="2788920"/>
            <a:ext cx="3017520" cy="411480"/>
          </a:xfrm>
          <a:prstGeom prst="rect">
            <a:avLst/>
          </a:prstGeom>
          <a:noFill/>
          <a:ln/>
        </p:spPr>
        <p:txBody>
          <a:bodyPr wrap="square" lIns="0" tIns="0" rIns="0" bIns="0" rtlCol="0" anchor="t"/>
          <a:lstStyle/>
          <a:p>
            <a:pPr marL="0" indent="0">
              <a:buNone/>
            </a:pPr>
            <a:r>
              <a:rPr lang="en-US" sz="2400" b="1" dirty="0">
                <a:solidFill>
                  <a:schemeClr val="tx2"/>
                </a:solidFill>
              </a:rPr>
              <a:t>Orzekanie (12-C)</a:t>
            </a:r>
            <a:endParaRPr lang="en-US" sz="2400" dirty="0"/>
          </a:p>
        </p:txBody>
      </p:sp>
      <p:sp>
        <p:nvSpPr>
          <p:cNvPr id="8" name="Text 4"/>
          <p:cNvSpPr txBox="1"/>
          <p:nvPr/>
        </p:nvSpPr>
        <p:spPr>
          <a:xfrm>
            <a:off x="662940" y="3348990"/>
            <a:ext cx="3499866" cy="1538883"/>
          </a:xfrm>
          <a:prstGeom prst="rect">
            <a:avLst/>
          </a:prstGeom>
          <a:noFill/>
          <a:ln/>
        </p:spPr>
        <p:txBody>
          <a:bodyPr wrap="square" lIns="0" tIns="0" rIns="0" bIns="0" rtlCol="0" anchor="t">
            <a:spAutoFit/>
          </a:bodyPr>
          <a:lstStyle/>
          <a:p>
            <a:r>
              <a:rPr lang="pl-PL" sz="2000" dirty="0">
                <a:latin typeface="Calibri Light" panose="020F0302020204030204" pitchFamily="34" charset="0"/>
                <a:ea typeface="Calibri Light" panose="020F0302020204030204" pitchFamily="34" charset="0"/>
                <a:cs typeface="Calibri Light" panose="020F0302020204030204" pitchFamily="34" charset="0"/>
              </a:rPr>
              <a:t>Symbol 12-C oznacza całościowe zaburzenia rozwojowe. Specyfikę autyzmu w pełni uwzględniono w orzekaniu o niepełnosprawności dopiero od 2010 r</a:t>
            </a:r>
            <a:r>
              <a:rPr lang="pl-PL" sz="2000" dirty="0" smtClean="0">
                <a:latin typeface="Calibri Light" panose="020F0302020204030204" pitchFamily="34" charset="0"/>
                <a:ea typeface="Calibri Light" panose="020F0302020204030204" pitchFamily="34" charset="0"/>
                <a:cs typeface="Calibri Light" panose="020F0302020204030204" pitchFamily="34" charset="0"/>
              </a:rPr>
              <a:t>.</a:t>
            </a:r>
            <a:endParaRPr lang="pl-PL" sz="20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9" name="Karta 2"/>
          <p:cNvSpPr/>
          <p:nvPr/>
        </p:nvSpPr>
        <p:spPr>
          <a:xfrm>
            <a:off x="4427982" y="1600200"/>
            <a:ext cx="3426714" cy="4160520"/>
          </a:xfrm>
          <a:prstGeom prst="roundRect">
            <a:avLst>
              <a:gd name="adj" fmla="val 3117"/>
            </a:avLst>
          </a:prstGeom>
          <a:solidFill>
            <a:schemeClr val="bg2"/>
          </a:solidFill>
          <a:ln w="12700">
            <a:solidFill>
              <a:schemeClr val="bg2"/>
            </a:solidFill>
            <a:prstDash val="solid"/>
          </a:ln>
        </p:spPr>
      </p:sp>
      <p:sp>
        <p:nvSpPr>
          <p:cNvPr id="10" name="Tło ikony"/>
          <p:cNvSpPr/>
          <p:nvPr/>
        </p:nvSpPr>
        <p:spPr>
          <a:xfrm>
            <a:off x="4688586" y="1771650"/>
            <a:ext cx="777240" cy="777240"/>
          </a:xfrm>
          <a:prstGeom prst="ellipse">
            <a:avLst/>
          </a:prstGeom>
          <a:solidFill>
            <a:schemeClr val="accent1"/>
          </a:solidFill>
          <a:ln w="12700">
            <a:solidFill>
              <a:schemeClr val="accent1"/>
            </a:solidFill>
            <a:prstDash val="solid"/>
          </a:ln>
        </p:spPr>
      </p:sp>
      <p:pic>
        <p:nvPicPr>
          <p:cNvPr id="11" name="Image 1" descr="Klasyfikacje"/>
          <p:cNvPicPr>
            <a:picLocks noChangeAspect="1"/>
          </p:cNvPicPr>
          <p:nvPr/>
        </p:nvPicPr>
        <p:blipFill>
          <a:blip r:embed="rId4"/>
          <a:stretch>
            <a:fillRect/>
          </a:stretch>
        </p:blipFill>
        <p:spPr>
          <a:xfrm>
            <a:off x="4871466" y="1954530"/>
            <a:ext cx="449981" cy="449981"/>
          </a:xfrm>
          <a:prstGeom prst="rect">
            <a:avLst/>
          </a:prstGeom>
        </p:spPr>
      </p:pic>
      <p:sp>
        <p:nvSpPr>
          <p:cNvPr id="12" name="Text 7"/>
          <p:cNvSpPr txBox="1"/>
          <p:nvPr/>
        </p:nvSpPr>
        <p:spPr>
          <a:xfrm>
            <a:off x="4608576" y="2806779"/>
            <a:ext cx="2855214" cy="411480"/>
          </a:xfrm>
          <a:prstGeom prst="rect">
            <a:avLst/>
          </a:prstGeom>
          <a:noFill/>
          <a:ln/>
        </p:spPr>
        <p:txBody>
          <a:bodyPr wrap="square" lIns="0" tIns="0" rIns="0" bIns="0" rtlCol="0" anchor="t"/>
          <a:lstStyle/>
          <a:p>
            <a:pPr marL="0" indent="0">
              <a:buNone/>
            </a:pPr>
            <a:r>
              <a:rPr lang="en-US" sz="2400" b="1" dirty="0">
                <a:solidFill>
                  <a:schemeClr val="tx2"/>
                </a:solidFill>
              </a:rPr>
              <a:t>Klasyfikacje</a:t>
            </a:r>
            <a:endParaRPr lang="en-US" sz="2400" dirty="0"/>
          </a:p>
        </p:txBody>
      </p:sp>
      <p:sp>
        <p:nvSpPr>
          <p:cNvPr id="13" name="Text 8"/>
          <p:cNvSpPr txBox="1"/>
          <p:nvPr/>
        </p:nvSpPr>
        <p:spPr>
          <a:xfrm>
            <a:off x="4608576" y="3337560"/>
            <a:ext cx="3152394" cy="1846659"/>
          </a:xfrm>
          <a:prstGeom prst="rect">
            <a:avLst/>
          </a:prstGeom>
          <a:noFill/>
          <a:ln/>
        </p:spPr>
        <p:txBody>
          <a:bodyPr wrap="square" lIns="0" tIns="0" rIns="0" bIns="0" rtlCol="0" anchor="t">
            <a:spAutoFit/>
          </a:bodyPr>
          <a:lstStyle/>
          <a:p>
            <a:pPr marL="0" indent="0">
              <a:buNone/>
            </a:pPr>
            <a:r>
              <a:rPr lang="en-US" sz="20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W Polsce nadal stosuje się ICD‑10: autyzm dziecięcy (F84.0), atypowy (F84.1), zespół Aspergera (F84.5). DSM-5 i ICD‑11 łączą je w jedną kategorię spektrum.</a:t>
            </a:r>
            <a:endParaRPr lang="en-US" sz="20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4" name="Karta 3"/>
          <p:cNvSpPr/>
          <p:nvPr/>
        </p:nvSpPr>
        <p:spPr>
          <a:xfrm>
            <a:off x="8119872" y="1600200"/>
            <a:ext cx="3520440" cy="4160520"/>
          </a:xfrm>
          <a:prstGeom prst="roundRect">
            <a:avLst>
              <a:gd name="adj" fmla="val 3117"/>
            </a:avLst>
          </a:prstGeom>
          <a:solidFill>
            <a:schemeClr val="bg2"/>
          </a:solidFill>
          <a:ln w="12700">
            <a:solidFill>
              <a:schemeClr val="bg2"/>
            </a:solidFill>
            <a:prstDash val="solid"/>
          </a:ln>
        </p:spPr>
      </p:sp>
      <p:sp>
        <p:nvSpPr>
          <p:cNvPr id="15" name="Tło ikony"/>
          <p:cNvSpPr/>
          <p:nvPr/>
        </p:nvSpPr>
        <p:spPr>
          <a:xfrm>
            <a:off x="8325612" y="1771650"/>
            <a:ext cx="777240" cy="777240"/>
          </a:xfrm>
          <a:prstGeom prst="ellipse">
            <a:avLst/>
          </a:prstGeom>
          <a:solidFill>
            <a:schemeClr val="accent1"/>
          </a:solidFill>
          <a:ln w="12700">
            <a:solidFill>
              <a:schemeClr val="accent1"/>
            </a:solidFill>
            <a:prstDash val="solid"/>
          </a:ln>
        </p:spPr>
      </p:sp>
      <p:pic>
        <p:nvPicPr>
          <p:cNvPr id="16" name="Image 2" descr="Zróżnicowanie"/>
          <p:cNvPicPr>
            <a:picLocks noChangeAspect="1"/>
          </p:cNvPicPr>
          <p:nvPr/>
        </p:nvPicPr>
        <p:blipFill>
          <a:blip r:embed="rId5"/>
          <a:stretch>
            <a:fillRect/>
          </a:stretch>
        </p:blipFill>
        <p:spPr>
          <a:xfrm>
            <a:off x="8508492" y="1954530"/>
            <a:ext cx="449981" cy="449981"/>
          </a:xfrm>
          <a:prstGeom prst="rect">
            <a:avLst/>
          </a:prstGeom>
        </p:spPr>
      </p:pic>
      <p:sp>
        <p:nvSpPr>
          <p:cNvPr id="17" name="Text 11"/>
          <p:cNvSpPr txBox="1"/>
          <p:nvPr/>
        </p:nvSpPr>
        <p:spPr>
          <a:xfrm>
            <a:off x="8368685" y="2801064"/>
            <a:ext cx="3017520" cy="411480"/>
          </a:xfrm>
          <a:prstGeom prst="rect">
            <a:avLst/>
          </a:prstGeom>
          <a:noFill/>
          <a:ln/>
        </p:spPr>
        <p:txBody>
          <a:bodyPr wrap="square" lIns="0" tIns="0" rIns="0" bIns="0" rtlCol="0" anchor="t"/>
          <a:lstStyle/>
          <a:p>
            <a:pPr marL="0" indent="0">
              <a:buNone/>
            </a:pPr>
            <a:r>
              <a:rPr lang="en-US" sz="2400" b="1" dirty="0">
                <a:solidFill>
                  <a:schemeClr val="tx2"/>
                </a:solidFill>
              </a:rPr>
              <a:t>Zróżnicowanie</a:t>
            </a:r>
            <a:endParaRPr lang="en-US" sz="2400" dirty="0"/>
          </a:p>
        </p:txBody>
      </p:sp>
      <p:sp>
        <p:nvSpPr>
          <p:cNvPr id="18" name="Text 12"/>
          <p:cNvSpPr txBox="1"/>
          <p:nvPr/>
        </p:nvSpPr>
        <p:spPr>
          <a:xfrm>
            <a:off x="8394192" y="3337560"/>
            <a:ext cx="3017520" cy="1846659"/>
          </a:xfrm>
          <a:prstGeom prst="rect">
            <a:avLst/>
          </a:prstGeom>
          <a:noFill/>
          <a:ln/>
        </p:spPr>
        <p:txBody>
          <a:bodyPr wrap="square" lIns="0" tIns="0" rIns="0" bIns="0" rtlCol="0" anchor="t">
            <a:spAutoFit/>
          </a:bodyPr>
          <a:lstStyle/>
          <a:p>
            <a:r>
              <a:rPr lang="pl-PL" sz="2000" dirty="0" smtClean="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U od 50 do 75% dzieci z autyzmem rozpoznaje się też niepełnosprawność intelektualną. Jedynie zespół </a:t>
            </a:r>
            <a:r>
              <a:rPr lang="pl-PL" sz="2000" dirty="0" smtClean="0">
                <a:latin typeface="Calibri Light" panose="020F0302020204030204" pitchFamily="34" charset="0"/>
                <a:ea typeface="Calibri Light" panose="020F0302020204030204" pitchFamily="34" charset="0"/>
                <a:cs typeface="Calibri Light" panose="020F0302020204030204" pitchFamily="34" charset="0"/>
              </a:rPr>
              <a:t>Aspergera </a:t>
            </a:r>
            <a:r>
              <a:rPr lang="pl-PL" sz="2000" dirty="0">
                <a:latin typeface="Calibri Light" panose="020F0302020204030204" pitchFamily="34" charset="0"/>
                <a:ea typeface="Calibri Light" panose="020F0302020204030204" pitchFamily="34" charset="0"/>
                <a:cs typeface="Calibri Light" panose="020F0302020204030204" pitchFamily="34" charset="0"/>
              </a:rPr>
              <a:t>(zwykle)</a:t>
            </a:r>
            <a:r>
              <a:rPr lang="pl-PL" sz="2000" dirty="0" smtClean="0">
                <a:latin typeface="Calibri Light" panose="020F0302020204030204" pitchFamily="34" charset="0"/>
                <a:ea typeface="Calibri Light" panose="020F0302020204030204" pitchFamily="34" charset="0"/>
                <a:cs typeface="Calibri Light" panose="020F0302020204030204" pitchFamily="34" charset="0"/>
              </a:rPr>
              <a:t> </a:t>
            </a:r>
            <a:r>
              <a:rPr lang="pl-PL" sz="2000" dirty="0">
                <a:latin typeface="Calibri Light" panose="020F0302020204030204" pitchFamily="34" charset="0"/>
                <a:ea typeface="Calibri Light" panose="020F0302020204030204" pitchFamily="34" charset="0"/>
                <a:cs typeface="Calibri Light" panose="020F0302020204030204" pitchFamily="34" charset="0"/>
              </a:rPr>
              <a:t>oznacza </a:t>
            </a:r>
            <a:r>
              <a:rPr lang="pl-PL" sz="2000" dirty="0" smtClean="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normę intelektualną.</a:t>
            </a:r>
            <a:endParaRPr lang="pl-PL" sz="20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9" name="Źródło"/>
          <p:cNvSpPr txBox="1"/>
          <p:nvPr/>
        </p:nvSpPr>
        <p:spPr>
          <a:xfrm>
            <a:off x="160020" y="6286500"/>
            <a:ext cx="11091672" cy="457200"/>
          </a:xfrm>
          <a:prstGeom prst="rect">
            <a:avLst/>
          </a:prstGeom>
          <a:noFill/>
          <a:ln/>
        </p:spPr>
        <p:txBody>
          <a:bodyPr wrap="square" lIns="0" tIns="0" rIns="0" bIns="0" rtlCol="0" anchor="b"/>
          <a:lstStyle/>
          <a:p>
            <a:pPr marL="0" indent="0">
              <a:buNone/>
            </a:pPr>
            <a:r>
              <a:rPr lang="en-US" sz="1200" dirty="0" err="1" smtClean="0">
                <a:solidFill>
                  <a:schemeClr val="bg1">
                    <a:lumMod val="75000"/>
                  </a:schemeClr>
                </a:solidFill>
              </a:rPr>
              <a:t>Źródł</a:t>
            </a:r>
            <a:r>
              <a:rPr lang="pl-PL" sz="1200" dirty="0" smtClean="0">
                <a:solidFill>
                  <a:schemeClr val="bg1">
                    <a:lumMod val="75000"/>
                  </a:schemeClr>
                </a:solidFill>
              </a:rPr>
              <a:t>o</a:t>
            </a:r>
            <a:r>
              <a:rPr lang="en-US" sz="1200" dirty="0" smtClean="0">
                <a:solidFill>
                  <a:schemeClr val="bg1">
                    <a:lumMod val="75000"/>
                  </a:schemeClr>
                </a:solidFill>
              </a:rPr>
              <a:t>: </a:t>
            </a:r>
            <a:r>
              <a:rPr lang="en-US" sz="1200" dirty="0">
                <a:solidFill>
                  <a:schemeClr val="bg1">
                    <a:lumMod val="75000"/>
                  </a:schemeClr>
                </a:solidFill>
              </a:rPr>
              <a:t>NIK (2020); Centrum e-Zdrowia (b.d.); Ministerstwo Zdrowia (2025); OSA (Płatos, 2016); Pierzchała i in. (2024</a:t>
            </a:r>
            <a:r>
              <a:rPr lang="en-US" sz="1200" dirty="0" smtClean="0">
                <a:solidFill>
                  <a:schemeClr val="bg1">
                    <a:lumMod val="75000"/>
                  </a:schemeClr>
                </a:solidFill>
              </a:rPr>
              <a:t>)</a:t>
            </a:r>
            <a:endParaRPr lang="en-US" sz="1200" dirty="0">
              <a:solidFill>
                <a:schemeClr val="bg1">
                  <a:lumMod val="75000"/>
                </a:schemeClr>
              </a:solidFill>
            </a:endParaRPr>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defRPr>
            </a:lvl1pPr>
          </a:lstStyle>
          <a:p>
            <a:pPr algn="r"/>
            <a:fld id="{F7021451-1387-4CA6-816F-3879F97B5CBC}" type="slidenum">
              <a:rPr lang="en-US" b="0"/>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ctr"/>
          <a:lstStyle/>
          <a:p>
            <a:pPr marL="0" indent="0" algn="l">
              <a:buNone/>
            </a:pPr>
            <a:r>
              <a:rPr lang="en-US" sz="3000" dirty="0">
                <a:solidFill>
                  <a:schemeClr val="tx2"/>
                </a:solidFill>
              </a:rPr>
              <a:t>Rozpoznań autyzmu szybko przybywa, lecz Polska nie ma rejestru ani pełnych danych</a:t>
            </a:r>
            <a:endParaRPr lang="en-US" sz="3000" dirty="0"/>
          </a:p>
        </p:txBody>
      </p:sp>
      <p:sp>
        <p:nvSpPr>
          <p:cNvPr id="4" name="Statystyka 1"/>
          <p:cNvSpPr/>
          <p:nvPr/>
        </p:nvSpPr>
        <p:spPr>
          <a:xfrm>
            <a:off x="548640" y="1600200"/>
            <a:ext cx="3520440" cy="2606040"/>
          </a:xfrm>
          <a:prstGeom prst="roundRect">
            <a:avLst>
              <a:gd name="adj" fmla="val 4211"/>
            </a:avLst>
          </a:prstGeom>
          <a:solidFill>
            <a:schemeClr val="bg2"/>
          </a:solidFill>
          <a:ln w="12700">
            <a:solidFill>
              <a:schemeClr val="bg2"/>
            </a:solidFill>
            <a:prstDash val="solid"/>
          </a:ln>
        </p:spPr>
      </p:sp>
      <p:sp>
        <p:nvSpPr>
          <p:cNvPr id="5" name="Text 2"/>
          <p:cNvSpPr txBox="1"/>
          <p:nvPr/>
        </p:nvSpPr>
        <p:spPr>
          <a:xfrm>
            <a:off x="777240" y="1737360"/>
            <a:ext cx="3108960" cy="788670"/>
          </a:xfrm>
          <a:prstGeom prst="rect">
            <a:avLst/>
          </a:prstGeom>
          <a:noFill/>
          <a:ln/>
        </p:spPr>
        <p:txBody>
          <a:bodyPr wrap="square" lIns="0" tIns="0" rIns="0" bIns="0" rtlCol="0" anchor="ctr"/>
          <a:lstStyle/>
          <a:p>
            <a:pPr marL="0" indent="0">
              <a:buNone/>
            </a:pPr>
            <a:r>
              <a:rPr lang="en-US" sz="5400" b="1" dirty="0">
                <a:solidFill>
                  <a:schemeClr val="accent2"/>
                </a:solidFill>
                <a:latin typeface="+mj-lt" pitchFamily="34" charset="0"/>
                <a:ea typeface="+mj-lt" pitchFamily="34" charset="-122"/>
                <a:cs typeface="+mj-lt" pitchFamily="34" charset="-120"/>
              </a:rPr>
              <a:t>1 na 100</a:t>
            </a:r>
            <a:endParaRPr lang="en-US" sz="5400" dirty="0"/>
          </a:p>
        </p:txBody>
      </p:sp>
      <p:sp>
        <p:nvSpPr>
          <p:cNvPr id="6" name="Text 3"/>
          <p:cNvSpPr txBox="1"/>
          <p:nvPr/>
        </p:nvSpPr>
        <p:spPr>
          <a:xfrm>
            <a:off x="777240" y="2697480"/>
            <a:ext cx="3108960" cy="1463040"/>
          </a:xfrm>
          <a:prstGeom prst="rect">
            <a:avLst/>
          </a:prstGeom>
          <a:noFill/>
          <a:ln/>
        </p:spPr>
        <p:txBody>
          <a:bodyPr wrap="square" lIns="0" tIns="0" rIns="0" bIns="0" rtlCol="0" anchor="t"/>
          <a:lstStyle/>
          <a:p>
            <a:pPr marL="0" indent="0">
              <a:lnSpc>
                <a:spcPts val="3000"/>
              </a:lnSpc>
              <a:buNone/>
            </a:pPr>
            <a:r>
              <a:rPr lang="en-US" sz="2200" dirty="0">
                <a:solidFill>
                  <a:schemeClr val="tx1"/>
                </a:solidFill>
                <a:ea typeface="Calibri Light" panose="020F0302020204030204" pitchFamily="34" charset="0"/>
                <a:cs typeface="Calibri Light" panose="020F0302020204030204" pitchFamily="34" charset="0"/>
              </a:rPr>
              <a:t>dzieci na świecie ma autyzm (szacunek WHO)</a:t>
            </a:r>
            <a:endParaRPr lang="en-US" sz="2200" dirty="0">
              <a:ea typeface="Calibri Light" panose="020F0302020204030204" pitchFamily="34" charset="0"/>
              <a:cs typeface="Calibri Light" panose="020F0302020204030204" pitchFamily="34" charset="0"/>
            </a:endParaRPr>
          </a:p>
        </p:txBody>
      </p:sp>
      <p:sp>
        <p:nvSpPr>
          <p:cNvPr id="7" name="Statystyka 2"/>
          <p:cNvSpPr/>
          <p:nvPr/>
        </p:nvSpPr>
        <p:spPr>
          <a:xfrm>
            <a:off x="4334256" y="1600200"/>
            <a:ext cx="3520440" cy="2606040"/>
          </a:xfrm>
          <a:prstGeom prst="roundRect">
            <a:avLst>
              <a:gd name="adj" fmla="val 4211"/>
            </a:avLst>
          </a:prstGeom>
          <a:solidFill>
            <a:schemeClr val="bg2"/>
          </a:solidFill>
          <a:ln w="12700">
            <a:solidFill>
              <a:schemeClr val="bg2"/>
            </a:solidFill>
            <a:prstDash val="solid"/>
          </a:ln>
        </p:spPr>
      </p:sp>
      <p:sp>
        <p:nvSpPr>
          <p:cNvPr id="8" name="Text 5"/>
          <p:cNvSpPr txBox="1"/>
          <p:nvPr/>
        </p:nvSpPr>
        <p:spPr>
          <a:xfrm>
            <a:off x="4562856" y="1737360"/>
            <a:ext cx="3108960" cy="777240"/>
          </a:xfrm>
          <a:prstGeom prst="rect">
            <a:avLst/>
          </a:prstGeom>
          <a:noFill/>
          <a:ln/>
        </p:spPr>
        <p:txBody>
          <a:bodyPr wrap="square" lIns="0" tIns="0" rIns="0" bIns="0" rtlCol="0" anchor="ctr"/>
          <a:lstStyle/>
          <a:p>
            <a:pPr marL="0" indent="0">
              <a:buNone/>
            </a:pPr>
            <a:r>
              <a:rPr lang="en-US" sz="5400" b="1" dirty="0">
                <a:solidFill>
                  <a:schemeClr val="accent2"/>
                </a:solidFill>
                <a:latin typeface="+mj-lt" pitchFamily="34" charset="0"/>
                <a:ea typeface="+mj-lt" pitchFamily="34" charset="-122"/>
                <a:cs typeface="+mj-lt" pitchFamily="34" charset="-120"/>
              </a:rPr>
              <a:t>74 tys.</a:t>
            </a:r>
            <a:endParaRPr lang="en-US" sz="5400" dirty="0"/>
          </a:p>
        </p:txBody>
      </p:sp>
      <p:sp>
        <p:nvSpPr>
          <p:cNvPr id="9" name="Text 6"/>
          <p:cNvSpPr txBox="1"/>
          <p:nvPr/>
        </p:nvSpPr>
        <p:spPr>
          <a:xfrm>
            <a:off x="4480560" y="2697480"/>
            <a:ext cx="3291840" cy="1463040"/>
          </a:xfrm>
          <a:prstGeom prst="rect">
            <a:avLst/>
          </a:prstGeom>
          <a:noFill/>
          <a:ln/>
        </p:spPr>
        <p:txBody>
          <a:bodyPr wrap="square" lIns="0" tIns="0" rIns="0" bIns="0" rtlCol="0" anchor="t"/>
          <a:lstStyle/>
          <a:p>
            <a:r>
              <a:rPr lang="pl-PL" sz="2200" dirty="0">
                <a:ea typeface="Calibri Light" panose="020F0302020204030204" pitchFamily="34" charset="0"/>
                <a:cs typeface="Calibri Light" panose="020F0302020204030204" pitchFamily="34" charset="0"/>
              </a:rPr>
              <a:t>osób do 17 lat z rozpoznaniem autyzmu w 2021 r. (NFZ), wobec ok. 57 tys. w 2019 r.</a:t>
            </a:r>
          </a:p>
        </p:txBody>
      </p:sp>
      <p:sp>
        <p:nvSpPr>
          <p:cNvPr id="10" name="Statystyka 3"/>
          <p:cNvSpPr/>
          <p:nvPr/>
        </p:nvSpPr>
        <p:spPr>
          <a:xfrm>
            <a:off x="8119872" y="1600200"/>
            <a:ext cx="3520440" cy="2606040"/>
          </a:xfrm>
          <a:prstGeom prst="roundRect">
            <a:avLst>
              <a:gd name="adj" fmla="val 4211"/>
            </a:avLst>
          </a:prstGeom>
          <a:solidFill>
            <a:schemeClr val="bg2"/>
          </a:solidFill>
          <a:ln w="12700">
            <a:solidFill>
              <a:schemeClr val="bg2"/>
            </a:solidFill>
            <a:prstDash val="solid"/>
          </a:ln>
        </p:spPr>
      </p:sp>
      <p:sp>
        <p:nvSpPr>
          <p:cNvPr id="11" name="Text 8"/>
          <p:cNvSpPr txBox="1"/>
          <p:nvPr/>
        </p:nvSpPr>
        <p:spPr>
          <a:xfrm>
            <a:off x="8348472" y="1737360"/>
            <a:ext cx="3108960" cy="777240"/>
          </a:xfrm>
          <a:prstGeom prst="rect">
            <a:avLst/>
          </a:prstGeom>
          <a:noFill/>
          <a:ln/>
        </p:spPr>
        <p:txBody>
          <a:bodyPr wrap="square" lIns="0" tIns="0" rIns="0" bIns="0" rtlCol="0" anchor="ctr"/>
          <a:lstStyle/>
          <a:p>
            <a:pPr marL="0" indent="0">
              <a:buNone/>
            </a:pPr>
            <a:r>
              <a:rPr lang="en-US" sz="4000" b="1" dirty="0">
                <a:solidFill>
                  <a:schemeClr val="accent2"/>
                </a:solidFill>
                <a:latin typeface="+mj-lt" pitchFamily="34" charset="0"/>
                <a:ea typeface="+mj-lt" pitchFamily="34" charset="-122"/>
                <a:cs typeface="+mj-lt" pitchFamily="34" charset="-120"/>
              </a:rPr>
              <a:t>ponad 600%</a:t>
            </a:r>
            <a:endParaRPr lang="en-US" sz="4000" dirty="0"/>
          </a:p>
        </p:txBody>
      </p:sp>
      <p:sp>
        <p:nvSpPr>
          <p:cNvPr id="12" name="Text 9"/>
          <p:cNvSpPr txBox="1"/>
          <p:nvPr/>
        </p:nvSpPr>
        <p:spPr>
          <a:xfrm>
            <a:off x="8257032" y="2697480"/>
            <a:ext cx="3291840" cy="1463040"/>
          </a:xfrm>
          <a:prstGeom prst="rect">
            <a:avLst/>
          </a:prstGeom>
          <a:noFill/>
          <a:ln/>
        </p:spPr>
        <p:txBody>
          <a:bodyPr wrap="square" lIns="0" tIns="0" rIns="0" bIns="0" rtlCol="0" anchor="t"/>
          <a:lstStyle/>
          <a:p>
            <a:pPr marL="0" indent="0">
              <a:buNone/>
            </a:pPr>
            <a:r>
              <a:rPr lang="en-US" sz="2200" dirty="0">
                <a:solidFill>
                  <a:schemeClr val="tx1"/>
                </a:solidFill>
                <a:ea typeface="Calibri Light" panose="020F0302020204030204" pitchFamily="34" charset="0"/>
                <a:cs typeface="Calibri Light" panose="020F0302020204030204" pitchFamily="34" charset="0"/>
              </a:rPr>
              <a:t>wzrost liczby pacjentów z rozpoznaniem F84.0, F84.1 lub F84.5 w latach 2012 do 2023 (NFZ)</a:t>
            </a:r>
            <a:endParaRPr lang="en-US" sz="2200" dirty="0">
              <a:ea typeface="Calibri Light" panose="020F0302020204030204" pitchFamily="34" charset="0"/>
              <a:cs typeface="Calibri Light" panose="020F0302020204030204" pitchFamily="34" charset="0"/>
            </a:endParaRPr>
          </a:p>
        </p:txBody>
      </p:sp>
      <p:sp>
        <p:nvSpPr>
          <p:cNvPr id="13" name="Ograniczenia danych"/>
          <p:cNvSpPr/>
          <p:nvPr/>
        </p:nvSpPr>
        <p:spPr>
          <a:xfrm>
            <a:off x="548640" y="4389120"/>
            <a:ext cx="11091672" cy="1828800"/>
          </a:xfrm>
          <a:prstGeom prst="roundRect">
            <a:avLst>
              <a:gd name="adj" fmla="val 8276"/>
            </a:avLst>
          </a:prstGeom>
          <a:solidFill>
            <a:schemeClr val="bg2"/>
          </a:solidFill>
          <a:ln w="12700">
            <a:solidFill>
              <a:schemeClr val="bg2"/>
            </a:solidFill>
            <a:prstDash val="solid"/>
          </a:ln>
        </p:spPr>
      </p:sp>
      <p:sp>
        <p:nvSpPr>
          <p:cNvPr id="14" name="Text 11"/>
          <p:cNvSpPr txBox="1"/>
          <p:nvPr/>
        </p:nvSpPr>
        <p:spPr>
          <a:xfrm>
            <a:off x="777240" y="4446270"/>
            <a:ext cx="4572000" cy="365760"/>
          </a:xfrm>
          <a:prstGeom prst="rect">
            <a:avLst/>
          </a:prstGeom>
          <a:noFill/>
          <a:ln/>
        </p:spPr>
        <p:txBody>
          <a:bodyPr wrap="square" lIns="0" tIns="0" rIns="0" bIns="0" rtlCol="0" anchor="t"/>
          <a:lstStyle/>
          <a:p>
            <a:pPr marL="0" indent="0">
              <a:buNone/>
            </a:pPr>
            <a:r>
              <a:rPr lang="en-US" sz="2800" b="1" dirty="0">
                <a:solidFill>
                  <a:schemeClr val="accent2"/>
                </a:solidFill>
              </a:rPr>
              <a:t>Ograniczenia danych</a:t>
            </a:r>
            <a:endParaRPr lang="en-US" sz="2800" dirty="0"/>
          </a:p>
        </p:txBody>
      </p:sp>
      <p:sp>
        <p:nvSpPr>
          <p:cNvPr id="15" name="Text 12"/>
          <p:cNvSpPr txBox="1"/>
          <p:nvPr/>
        </p:nvSpPr>
        <p:spPr>
          <a:xfrm>
            <a:off x="777240" y="4994910"/>
            <a:ext cx="10863072" cy="1108710"/>
          </a:xfrm>
          <a:prstGeom prst="rect">
            <a:avLst/>
          </a:prstGeom>
          <a:noFill/>
          <a:ln/>
        </p:spPr>
        <p:txBody>
          <a:bodyPr wrap="square" lIns="0" tIns="0" rIns="0" bIns="0" rtlCol="0" anchor="t"/>
          <a:lstStyle/>
          <a:p>
            <a:r>
              <a:rPr lang="pl-PL" sz="2200" dirty="0">
                <a:ea typeface="Calibri Light" panose="020F0302020204030204" pitchFamily="34" charset="0"/>
                <a:cs typeface="Calibri Light" panose="020F0302020204030204" pitchFamily="34" charset="0"/>
              </a:rPr>
              <a:t>Brak rejestru i dokładnych danych o liczbie osób z autyzmem (NIK). Dane NFZ i MEN opisują rozpoznania i orzeczenia, a nie występowanie. Mało jest rozpoznanych osób po 40. roku życia, bo diagnozowanie zaczęło się dopiero w latach 80.</a:t>
            </a:r>
          </a:p>
        </p:txBody>
      </p:sp>
      <p:sp>
        <p:nvSpPr>
          <p:cNvPr id="16" name="Źródło"/>
          <p:cNvSpPr txBox="1"/>
          <p:nvPr/>
        </p:nvSpPr>
        <p:spPr>
          <a:xfrm>
            <a:off x="137160" y="6309360"/>
            <a:ext cx="11091672" cy="457200"/>
          </a:xfrm>
          <a:prstGeom prst="rect">
            <a:avLst/>
          </a:prstGeom>
          <a:noFill/>
          <a:ln/>
        </p:spPr>
        <p:txBody>
          <a:bodyPr wrap="square" lIns="0" tIns="0" rIns="0" bIns="0" rtlCol="0" anchor="b"/>
          <a:lstStyle/>
          <a:p>
            <a:pPr marL="0" indent="0">
              <a:buNone/>
            </a:pPr>
            <a:r>
              <a:rPr lang="en-US" sz="1200" dirty="0">
                <a:solidFill>
                  <a:schemeClr val="bg1">
                    <a:lumMod val="75000"/>
                  </a:schemeClr>
                </a:solidFill>
              </a:rPr>
              <a:t>Źródła: WHO (b.d.); Torchała (b.d.), dane NFZ; Centrum e-Zdrowia (b.d.); NIK (2020).</a:t>
            </a:r>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defRPr>
            </a:lvl1pPr>
          </a:lstStyle>
          <a:p>
            <a:pPr algn="r"/>
            <a:fld id="{F7021451-1387-4CA6-816F-3879F97B5CBC}" type="slidenum">
              <a:rPr lang="en-US" b="0"/>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3"/>
          <p:cNvSpPr txBox="1">
            <a:spLocks noGrp="1"/>
          </p:cNvSpPr>
          <p:nvPr>
            <p:ph type="title" idx="100"/>
          </p:nvPr>
        </p:nvSpPr>
        <p:spPr>
          <a:xfrm>
            <a:off x="548640" y="320040"/>
            <a:ext cx="11091600" cy="1051500"/>
          </a:xfrm>
          <a:prstGeom prst="rect">
            <a:avLst/>
          </a:prstGeom>
          <a:noFill/>
          <a:ln>
            <a:noFill/>
          </a:ln>
        </p:spPr>
        <p:txBody>
          <a:bodyPr spcFirstLastPara="1" wrap="square" lIns="0" tIns="0" rIns="0" bIns="0" anchor="ctr" anchorCtr="0">
            <a:noAutofit/>
          </a:bodyPr>
          <a:lstStyle/>
          <a:p>
            <a:pPr lvl="0">
              <a:spcBef>
                <a:spcPts val="0"/>
              </a:spcBef>
              <a:buClr>
                <a:schemeClr val="dk2"/>
              </a:buClr>
              <a:buSzPts val="3000"/>
            </a:pPr>
            <a:r>
              <a:rPr lang="pl-PL" dirty="0">
                <a:solidFill>
                  <a:srgbClr val="12484F"/>
                </a:solidFill>
              </a:rPr>
              <a:t>Inny, więc gorszy? Dyskryminacja neuronormatywna</a:t>
            </a:r>
            <a:endParaRPr lang="pl-PL" sz="3000" dirty="0"/>
          </a:p>
        </p:txBody>
      </p:sp>
      <p:sp>
        <p:nvSpPr>
          <p:cNvPr id="63" name="Google Shape;63;p3"/>
          <p:cNvSpPr txBox="1">
            <a:spLocks noGrp="1"/>
          </p:cNvSpPr>
          <p:nvPr>
            <p:ph type="sldNum" idx="4294967295"/>
          </p:nvPr>
        </p:nvSpPr>
        <p:spPr>
          <a:xfrm>
            <a:off x="11064240" y="6400800"/>
            <a:ext cx="5760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accent5"/>
                </a:solidFill>
                <a:latin typeface="Calibri"/>
                <a:ea typeface="Calibri"/>
                <a:cs typeface="Calibri"/>
                <a:sym typeface="Calibri"/>
              </a:rPr>
              <a:t>5</a:t>
            </a:fld>
            <a:endParaRPr sz="1200" b="0" i="0" u="none" strike="noStrike" cap="none">
              <a:solidFill>
                <a:schemeClr val="accent5"/>
              </a:solidFill>
              <a:latin typeface="Calibri"/>
              <a:ea typeface="Calibri"/>
              <a:cs typeface="Calibri"/>
              <a:sym typeface="Calibri"/>
            </a:endParaRPr>
          </a:p>
        </p:txBody>
      </p:sp>
      <p:sp>
        <p:nvSpPr>
          <p:cNvPr id="64" name="Rounded Rectangle 63"/>
          <p:cNvSpPr/>
          <p:nvPr/>
        </p:nvSpPr>
        <p:spPr>
          <a:xfrm>
            <a:off x="473139" y="1600200"/>
            <a:ext cx="3678236" cy="3236976"/>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656019" y="1698435"/>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56019" y="1792224"/>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1</a:t>
            </a:r>
          </a:p>
        </p:txBody>
      </p:sp>
      <p:sp>
        <p:nvSpPr>
          <p:cNvPr id="67" name="TextBox 66"/>
          <p:cNvSpPr txBox="1"/>
          <p:nvPr/>
        </p:nvSpPr>
        <p:spPr>
          <a:xfrm>
            <a:off x="1360106" y="1747971"/>
            <a:ext cx="2441448" cy="420624"/>
          </a:xfrm>
          <a:prstGeom prst="rect">
            <a:avLst/>
          </a:prstGeom>
          <a:noFill/>
        </p:spPr>
        <p:txBody>
          <a:bodyPr wrap="square" lIns="0" tIns="0" rIns="0" bIns="0" anchor="t">
            <a:noAutofit/>
          </a:bodyPr>
          <a:lstStyle/>
          <a:p>
            <a:pPr algn="l">
              <a:lnSpc>
                <a:spcPct val="103000"/>
              </a:lnSpc>
              <a:spcBef>
                <a:spcPts val="0"/>
              </a:spcBef>
              <a:spcAft>
                <a:spcPts val="0"/>
              </a:spcAft>
            </a:pPr>
            <a:r>
              <a:rPr lang="pl-PL" sz="2300" b="1" dirty="0" smtClean="0">
                <a:solidFill>
                  <a:srgbClr val="12484F"/>
                </a:solidFill>
                <a:latin typeface="Calibri"/>
              </a:rPr>
              <a:t>3 badania</a:t>
            </a:r>
            <a:endParaRPr lang="pl-PL" sz="2300" b="1" dirty="0">
              <a:solidFill>
                <a:srgbClr val="12484F"/>
              </a:solidFill>
              <a:latin typeface="Calibri"/>
            </a:endParaRPr>
          </a:p>
        </p:txBody>
      </p:sp>
      <p:sp>
        <p:nvSpPr>
          <p:cNvPr id="68" name="TextBox 67"/>
          <p:cNvSpPr txBox="1"/>
          <p:nvPr/>
        </p:nvSpPr>
        <p:spPr>
          <a:xfrm>
            <a:off x="656019" y="2543499"/>
            <a:ext cx="3413060" cy="2121408"/>
          </a:xfrm>
          <a:prstGeom prst="rect">
            <a:avLst/>
          </a:prstGeom>
          <a:noFill/>
        </p:spPr>
        <p:txBody>
          <a:bodyPr wrap="square" lIns="0" tIns="0" rIns="0" bIns="0" anchor="t">
            <a:noAutofit/>
          </a:bodyPr>
          <a:lstStyle/>
          <a:p>
            <a:pPr algn="l">
              <a:lnSpc>
                <a:spcPct val="103000"/>
              </a:lnSpc>
              <a:spcBef>
                <a:spcPts val="0"/>
              </a:spcBef>
              <a:spcAft>
                <a:spcPts val="0"/>
              </a:spcAft>
            </a:pPr>
            <a:r>
              <a:rPr lang="pl-PL" sz="2400" b="0" dirty="0" err="1" smtClean="0">
                <a:solidFill>
                  <a:srgbClr val="1F2D30"/>
                </a:solidFill>
                <a:latin typeface="Calibri"/>
              </a:rPr>
              <a:t>Sasson</a:t>
            </a:r>
            <a:r>
              <a:rPr lang="pl-PL" sz="2400" b="0" dirty="0" smtClean="0">
                <a:solidFill>
                  <a:srgbClr val="1F2D30"/>
                </a:solidFill>
                <a:latin typeface="Calibri"/>
              </a:rPr>
              <a:t> (2017) porównali oceny krótkich fragmentów zachowania osób </a:t>
            </a:r>
            <a:r>
              <a:rPr lang="pl-PL" sz="2400" b="0" spc="-20" dirty="0" smtClean="0">
                <a:solidFill>
                  <a:srgbClr val="1F2D30"/>
                </a:solidFill>
                <a:latin typeface="Calibri"/>
              </a:rPr>
              <a:t>autystycznych i nieautystycznych</a:t>
            </a:r>
            <a:endParaRPr lang="pl-PL" sz="2400" b="0" spc="-20" dirty="0">
              <a:solidFill>
                <a:srgbClr val="1F2D30"/>
              </a:solidFill>
              <a:latin typeface="Calibri"/>
            </a:endParaRPr>
          </a:p>
        </p:txBody>
      </p:sp>
      <p:sp>
        <p:nvSpPr>
          <p:cNvPr id="69" name="Rounded Rectangle 68"/>
          <p:cNvSpPr/>
          <p:nvPr/>
        </p:nvSpPr>
        <p:spPr>
          <a:xfrm>
            <a:off x="4334256" y="1600200"/>
            <a:ext cx="3520440" cy="3236976"/>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9"/>
          <p:cNvSpPr/>
          <p:nvPr/>
        </p:nvSpPr>
        <p:spPr>
          <a:xfrm>
            <a:off x="4517136" y="1698435"/>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4517136" y="1792224"/>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2</a:t>
            </a:r>
          </a:p>
        </p:txBody>
      </p:sp>
      <p:sp>
        <p:nvSpPr>
          <p:cNvPr id="72" name="TextBox 71"/>
          <p:cNvSpPr txBox="1"/>
          <p:nvPr/>
        </p:nvSpPr>
        <p:spPr>
          <a:xfrm>
            <a:off x="5221224" y="1747971"/>
            <a:ext cx="2441448" cy="420624"/>
          </a:xfrm>
          <a:prstGeom prst="rect">
            <a:avLst/>
          </a:prstGeom>
          <a:noFill/>
        </p:spPr>
        <p:txBody>
          <a:bodyPr wrap="square" lIns="0" tIns="0" rIns="0" bIns="0" anchor="t">
            <a:noAutofit/>
          </a:bodyPr>
          <a:lstStyle/>
          <a:p>
            <a:pPr algn="l">
              <a:lnSpc>
                <a:spcPct val="103000"/>
              </a:lnSpc>
              <a:spcBef>
                <a:spcPts val="0"/>
              </a:spcBef>
              <a:spcAft>
                <a:spcPts val="0"/>
              </a:spcAft>
            </a:pPr>
            <a:r>
              <a:rPr lang="pl-PL" sz="2300" b="1" dirty="0" smtClean="0">
                <a:solidFill>
                  <a:srgbClr val="12484F"/>
                </a:solidFill>
                <a:latin typeface="Calibri"/>
              </a:rPr>
              <a:t>Negatywne oceny</a:t>
            </a:r>
            <a:endParaRPr lang="pl-PL" sz="2300" b="1" dirty="0">
              <a:solidFill>
                <a:srgbClr val="12484F"/>
              </a:solidFill>
              <a:latin typeface="Calibri"/>
            </a:endParaRPr>
          </a:p>
        </p:txBody>
      </p:sp>
      <p:sp>
        <p:nvSpPr>
          <p:cNvPr id="73" name="TextBox 72"/>
          <p:cNvSpPr txBox="1"/>
          <p:nvPr/>
        </p:nvSpPr>
        <p:spPr>
          <a:xfrm>
            <a:off x="4535424" y="2551176"/>
            <a:ext cx="3319272" cy="2121408"/>
          </a:xfrm>
          <a:prstGeom prst="rect">
            <a:avLst/>
          </a:prstGeom>
          <a:noFill/>
        </p:spPr>
        <p:txBody>
          <a:bodyPr wrap="square" lIns="0" tIns="0" rIns="0" bIns="0" anchor="t">
            <a:noAutofit/>
          </a:bodyPr>
          <a:lstStyle/>
          <a:p>
            <a:pPr algn="l">
              <a:lnSpc>
                <a:spcPct val="103000"/>
              </a:lnSpc>
              <a:spcBef>
                <a:spcPts val="0"/>
              </a:spcBef>
              <a:spcAft>
                <a:spcPts val="0"/>
              </a:spcAft>
            </a:pPr>
            <a:r>
              <a:rPr lang="pl-PL" sz="2400" b="0" dirty="0" smtClean="0">
                <a:solidFill>
                  <a:srgbClr val="1F2D30"/>
                </a:solidFill>
                <a:latin typeface="Calibri"/>
              </a:rPr>
              <a:t>Obserwatorzy oceniali osoby autystyczne mniej korzystnie i rzadziej deklarowali chęć kontaktu</a:t>
            </a:r>
            <a:endParaRPr lang="pl-PL" sz="2400" b="0" dirty="0">
              <a:solidFill>
                <a:srgbClr val="1F2D30"/>
              </a:solidFill>
              <a:latin typeface="Calibri"/>
            </a:endParaRPr>
          </a:p>
        </p:txBody>
      </p:sp>
      <p:sp>
        <p:nvSpPr>
          <p:cNvPr id="74" name="Rounded Rectangle 73"/>
          <p:cNvSpPr/>
          <p:nvPr/>
        </p:nvSpPr>
        <p:spPr>
          <a:xfrm>
            <a:off x="8119872" y="1600200"/>
            <a:ext cx="3520440" cy="3236976"/>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p:cNvSpPr/>
          <p:nvPr/>
        </p:nvSpPr>
        <p:spPr>
          <a:xfrm>
            <a:off x="8302752" y="1698435"/>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302752" y="1792224"/>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3</a:t>
            </a:r>
          </a:p>
        </p:txBody>
      </p:sp>
      <p:sp>
        <p:nvSpPr>
          <p:cNvPr id="77" name="TextBox 76"/>
          <p:cNvSpPr txBox="1"/>
          <p:nvPr/>
        </p:nvSpPr>
        <p:spPr>
          <a:xfrm>
            <a:off x="8931339" y="1747971"/>
            <a:ext cx="2651688" cy="420624"/>
          </a:xfrm>
          <a:prstGeom prst="rect">
            <a:avLst/>
          </a:prstGeom>
          <a:noFill/>
        </p:spPr>
        <p:txBody>
          <a:bodyPr wrap="square" lIns="0" tIns="0" rIns="0" bIns="0" anchor="t">
            <a:noAutofit/>
          </a:bodyPr>
          <a:lstStyle/>
          <a:p>
            <a:pPr algn="l">
              <a:lnSpc>
                <a:spcPct val="103000"/>
              </a:lnSpc>
              <a:spcBef>
                <a:spcPts val="0"/>
              </a:spcBef>
              <a:spcAft>
                <a:spcPts val="0"/>
              </a:spcAft>
            </a:pPr>
            <a:r>
              <a:rPr lang="pl-PL" sz="2300" b="1" dirty="0" smtClean="0">
                <a:solidFill>
                  <a:srgbClr val="12484F"/>
                </a:solidFill>
                <a:latin typeface="Calibri"/>
              </a:rPr>
              <a:t>Treść bez uprzedzeń?</a:t>
            </a:r>
            <a:endParaRPr lang="pl-PL" sz="2300" b="1" dirty="0">
              <a:solidFill>
                <a:srgbClr val="12484F"/>
              </a:solidFill>
              <a:latin typeface="Calibri"/>
            </a:endParaRPr>
          </a:p>
        </p:txBody>
      </p:sp>
      <p:sp>
        <p:nvSpPr>
          <p:cNvPr id="78" name="TextBox 77"/>
          <p:cNvSpPr txBox="1"/>
          <p:nvPr/>
        </p:nvSpPr>
        <p:spPr>
          <a:xfrm>
            <a:off x="8321039" y="2551176"/>
            <a:ext cx="3188655" cy="2121408"/>
          </a:xfrm>
          <a:prstGeom prst="rect">
            <a:avLst/>
          </a:prstGeom>
          <a:noFill/>
        </p:spPr>
        <p:txBody>
          <a:bodyPr wrap="square" lIns="0" tIns="0" rIns="0" bIns="0" anchor="t">
            <a:noAutofit/>
          </a:bodyPr>
          <a:lstStyle/>
          <a:p>
            <a:pPr algn="l">
              <a:lnSpc>
                <a:spcPct val="103000"/>
              </a:lnSpc>
              <a:spcBef>
                <a:spcPts val="0"/>
              </a:spcBef>
              <a:spcAft>
                <a:spcPts val="0"/>
              </a:spcAft>
            </a:pPr>
            <a:r>
              <a:rPr lang="pl-PL" sz="2400" b="0" dirty="0" smtClean="0">
                <a:solidFill>
                  <a:srgbClr val="1F2D30"/>
                </a:solidFill>
                <a:latin typeface="Calibri"/>
              </a:rPr>
              <a:t>Różnice ocen zanikały, gdy odbiorcy widzieli sam tekst wypowiedzi, bez sygnałów niewerbalnych</a:t>
            </a:r>
            <a:endParaRPr lang="pl-PL" sz="2400" b="0" dirty="0">
              <a:solidFill>
                <a:srgbClr val="1F2D30"/>
              </a:solidFill>
              <a:latin typeface="Calibri"/>
            </a:endParaRPr>
          </a:p>
        </p:txBody>
      </p:sp>
      <p:sp>
        <p:nvSpPr>
          <p:cNvPr id="79" name="Rounded Rectangle 78"/>
          <p:cNvSpPr/>
          <p:nvPr/>
        </p:nvSpPr>
        <p:spPr>
          <a:xfrm>
            <a:off x="548640" y="5047488"/>
            <a:ext cx="11091672" cy="950976"/>
          </a:xfrm>
          <a:prstGeom prst="roundRect">
            <a:avLst>
              <a:gd name="adj" fmla="val 12000"/>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86384" y="5157216"/>
            <a:ext cx="2834640" cy="768096"/>
          </a:xfrm>
          <a:prstGeom prst="rect">
            <a:avLst/>
          </a:prstGeom>
          <a:noFill/>
        </p:spPr>
        <p:txBody>
          <a:bodyPr wrap="square" lIns="0" tIns="0" rIns="0" bIns="0" anchor="ctr">
            <a:noAutofit/>
          </a:bodyPr>
          <a:lstStyle/>
          <a:p>
            <a:pPr algn="l">
              <a:lnSpc>
                <a:spcPct val="103000"/>
              </a:lnSpc>
              <a:spcBef>
                <a:spcPts val="0"/>
              </a:spcBef>
              <a:spcAft>
                <a:spcPts val="0"/>
              </a:spcAft>
            </a:pPr>
            <a:r>
              <a:rPr lang="pl-PL" sz="2400" b="1" dirty="0" smtClean="0">
                <a:solidFill>
                  <a:srgbClr val="FFFFFF"/>
                </a:solidFill>
                <a:latin typeface="Calibri"/>
              </a:rPr>
              <a:t>Wniosek</a:t>
            </a:r>
            <a:endParaRPr lang="pl-PL" sz="2400" b="1" dirty="0">
              <a:solidFill>
                <a:srgbClr val="FFFFFF"/>
              </a:solidFill>
              <a:latin typeface="Calibri"/>
            </a:endParaRPr>
          </a:p>
        </p:txBody>
      </p:sp>
      <p:sp>
        <p:nvSpPr>
          <p:cNvPr id="81" name="TextBox 80"/>
          <p:cNvSpPr txBox="1"/>
          <p:nvPr/>
        </p:nvSpPr>
        <p:spPr>
          <a:xfrm>
            <a:off x="2676088" y="5114516"/>
            <a:ext cx="8708192" cy="786384"/>
          </a:xfrm>
          <a:prstGeom prst="rect">
            <a:avLst/>
          </a:prstGeom>
          <a:noFill/>
        </p:spPr>
        <p:txBody>
          <a:bodyPr wrap="square" lIns="0" tIns="0" rIns="0" bIns="0" anchor="ctr">
            <a:noAutofit/>
          </a:bodyPr>
          <a:lstStyle/>
          <a:p>
            <a:pPr algn="l">
              <a:lnSpc>
                <a:spcPct val="103000"/>
              </a:lnSpc>
              <a:spcBef>
                <a:spcPts val="0"/>
              </a:spcBef>
              <a:spcAft>
                <a:spcPts val="0"/>
              </a:spcAft>
            </a:pPr>
            <a:r>
              <a:rPr lang="pl-PL" sz="2400" b="0" dirty="0" smtClean="0">
                <a:solidFill>
                  <a:srgbClr val="FFFFFF"/>
                </a:solidFill>
                <a:latin typeface="Calibri"/>
              </a:rPr>
              <a:t>Bariera może powstawać po stronie otoczenia, jeszcze przed rozmową</a:t>
            </a:r>
            <a:endParaRPr lang="pl-PL" sz="2400" b="0" dirty="0">
              <a:solidFill>
                <a:srgbClr val="FFFFFF"/>
              </a:solidFill>
              <a:latin typeface="Calibri"/>
            </a:endParaRPr>
          </a:p>
        </p:txBody>
      </p:sp>
      <p:sp>
        <p:nvSpPr>
          <p:cNvPr id="82" name="TextBox 81"/>
          <p:cNvSpPr txBox="1"/>
          <p:nvPr/>
        </p:nvSpPr>
        <p:spPr>
          <a:xfrm>
            <a:off x="154693" y="6537900"/>
            <a:ext cx="10744200" cy="227006"/>
          </a:xfrm>
          <a:prstGeom prst="rect">
            <a:avLst/>
          </a:prstGeom>
          <a:noFill/>
        </p:spPr>
        <p:txBody>
          <a:bodyPr wrap="square" lIns="0" tIns="0" rIns="0" bIns="0" anchor="b">
            <a:noAutofit/>
          </a:bodyPr>
          <a:lstStyle/>
          <a:p>
            <a:pPr algn="l">
              <a:lnSpc>
                <a:spcPct val="103000"/>
              </a:lnSpc>
              <a:spcBef>
                <a:spcPts val="0"/>
              </a:spcBef>
              <a:spcAft>
                <a:spcPts val="0"/>
              </a:spcAft>
            </a:pPr>
            <a:r>
              <a:rPr lang="pl-PL" sz="1200" b="0" dirty="0" smtClean="0">
                <a:solidFill>
                  <a:schemeClr val="bg1">
                    <a:lumMod val="65000"/>
                  </a:schemeClr>
                </a:solidFill>
                <a:latin typeface="Calibri"/>
              </a:rPr>
              <a:t>Źródło: </a:t>
            </a:r>
            <a:r>
              <a:rPr lang="pl-PL" sz="1200" b="0" dirty="0" err="1" smtClean="0">
                <a:solidFill>
                  <a:schemeClr val="bg1">
                    <a:lumMod val="65000"/>
                  </a:schemeClr>
                </a:solidFill>
                <a:latin typeface="Calibri"/>
              </a:rPr>
              <a:t>Sasson</a:t>
            </a:r>
            <a:r>
              <a:rPr lang="pl-PL" sz="1200" b="0" dirty="0" smtClean="0">
                <a:solidFill>
                  <a:schemeClr val="bg1">
                    <a:lumMod val="65000"/>
                  </a:schemeClr>
                </a:solidFill>
                <a:latin typeface="Calibri"/>
              </a:rPr>
              <a:t> i in. (2017), </a:t>
            </a:r>
            <a:r>
              <a:rPr lang="pl-PL" sz="1200" b="0" dirty="0" err="1" smtClean="0">
                <a:solidFill>
                  <a:schemeClr val="bg1">
                    <a:lumMod val="65000"/>
                  </a:schemeClr>
                </a:solidFill>
                <a:latin typeface="Calibri"/>
              </a:rPr>
              <a:t>Scientific</a:t>
            </a:r>
            <a:r>
              <a:rPr lang="pl-PL" sz="1200" b="0" dirty="0" smtClean="0">
                <a:solidFill>
                  <a:schemeClr val="bg1">
                    <a:lumMod val="65000"/>
                  </a:schemeClr>
                </a:solidFill>
                <a:latin typeface="Calibri"/>
              </a:rPr>
              <a:t> </a:t>
            </a:r>
            <a:r>
              <a:rPr lang="pl-PL" sz="1200" b="0" dirty="0" err="1" smtClean="0">
                <a:solidFill>
                  <a:schemeClr val="bg1">
                    <a:lumMod val="65000"/>
                  </a:schemeClr>
                </a:solidFill>
                <a:latin typeface="Calibri"/>
              </a:rPr>
              <a:t>Reports</a:t>
            </a:r>
            <a:r>
              <a:rPr lang="pl-PL" sz="1200" b="0" dirty="0" smtClean="0">
                <a:solidFill>
                  <a:schemeClr val="bg1">
                    <a:lumMod val="65000"/>
                  </a:schemeClr>
                </a:solidFill>
                <a:latin typeface="Calibri"/>
              </a:rPr>
              <a:t>, 7, 40700.</a:t>
            </a:r>
            <a:endParaRPr lang="pl-PL" sz="1200" b="0" dirty="0">
              <a:solidFill>
                <a:schemeClr val="bg1">
                  <a:lumMod val="65000"/>
                </a:schemeClr>
              </a:solidFill>
              <a:latin typeface="Calibri"/>
            </a:endParaRPr>
          </a:p>
        </p:txBody>
      </p:sp>
    </p:spTree>
    <p:extLst>
      <p:ext uri="{BB962C8B-B14F-4D97-AF65-F5344CB8AC3E}">
        <p14:creationId xmlns:p14="http://schemas.microsoft.com/office/powerpoint/2010/main" val="39307817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ctr"/>
          <a:lstStyle/>
          <a:p>
            <a:r>
              <a:rPr lang="pl-PL" dirty="0"/>
              <a:t>Liczba uczniów z orzeczeniem z powodu autyzmu wzrosła </a:t>
            </a:r>
            <a:br>
              <a:rPr lang="pl-PL" dirty="0"/>
            </a:br>
            <a:r>
              <a:rPr lang="pl-PL" dirty="0"/>
              <a:t>z 17 tys. do 128 tys. w </a:t>
            </a:r>
            <a:r>
              <a:rPr lang="pl-PL" dirty="0" smtClean="0"/>
              <a:t>dekadę</a:t>
            </a:r>
            <a:endParaRPr lang="en-US" sz="3000" dirty="0"/>
          </a:p>
        </p:txBody>
      </p:sp>
      <p:graphicFrame>
        <p:nvGraphicFramePr>
          <p:cNvPr id="4" name="Chart 0"/>
          <p:cNvGraphicFramePr/>
          <p:nvPr>
            <p:extLst>
              <p:ext uri="{D42A27DB-BD31-4B8C-83A1-F6EECF244321}">
                <p14:modId xmlns:p14="http://schemas.microsoft.com/office/powerpoint/2010/main" val="3798887552"/>
              </p:ext>
            </p:extLst>
          </p:nvPr>
        </p:nvGraphicFramePr>
        <p:xfrm>
          <a:off x="548640" y="1508760"/>
          <a:ext cx="720090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tatystyka 1"/>
          <p:cNvSpPr/>
          <p:nvPr/>
        </p:nvSpPr>
        <p:spPr>
          <a:xfrm>
            <a:off x="7943850" y="1600200"/>
            <a:ext cx="3696462" cy="1920240"/>
          </a:xfrm>
          <a:prstGeom prst="roundRect">
            <a:avLst>
              <a:gd name="adj" fmla="val 5714"/>
            </a:avLst>
          </a:prstGeom>
          <a:solidFill>
            <a:schemeClr val="bg2"/>
          </a:solidFill>
          <a:ln w="12700">
            <a:solidFill>
              <a:schemeClr val="bg2"/>
            </a:solidFill>
            <a:prstDash val="solid"/>
          </a:ln>
        </p:spPr>
      </p:sp>
      <p:sp>
        <p:nvSpPr>
          <p:cNvPr id="6" name="Text 2"/>
          <p:cNvSpPr txBox="1"/>
          <p:nvPr/>
        </p:nvSpPr>
        <p:spPr>
          <a:xfrm>
            <a:off x="8211312" y="1691640"/>
            <a:ext cx="3017520" cy="822960"/>
          </a:xfrm>
          <a:prstGeom prst="rect">
            <a:avLst/>
          </a:prstGeom>
          <a:noFill/>
          <a:ln/>
        </p:spPr>
        <p:txBody>
          <a:bodyPr wrap="square" lIns="0" tIns="0" rIns="0" bIns="0" rtlCol="0" anchor="ctr"/>
          <a:lstStyle/>
          <a:p>
            <a:pPr marL="0" indent="0" algn="ctr">
              <a:buNone/>
            </a:pPr>
            <a:r>
              <a:rPr lang="en-US" sz="5400" b="1" dirty="0">
                <a:solidFill>
                  <a:schemeClr val="accent2"/>
                </a:solidFill>
                <a:latin typeface="+mj-lt" pitchFamily="34" charset="0"/>
                <a:ea typeface="+mj-lt" pitchFamily="34" charset="-122"/>
                <a:cs typeface="+mj-lt" pitchFamily="34" charset="-120"/>
              </a:rPr>
              <a:t>73%</a:t>
            </a:r>
            <a:endParaRPr lang="en-US" sz="5400" b="1" dirty="0"/>
          </a:p>
        </p:txBody>
      </p:sp>
      <p:sp>
        <p:nvSpPr>
          <p:cNvPr id="7" name="Text 3"/>
          <p:cNvSpPr txBox="1"/>
          <p:nvPr/>
        </p:nvSpPr>
        <p:spPr>
          <a:xfrm>
            <a:off x="8140270" y="2560320"/>
            <a:ext cx="3500042" cy="914400"/>
          </a:xfrm>
          <a:prstGeom prst="rect">
            <a:avLst/>
          </a:prstGeom>
          <a:noFill/>
          <a:ln/>
        </p:spPr>
        <p:txBody>
          <a:bodyPr wrap="square" lIns="0" tIns="0" rIns="0" bIns="0" rtlCol="0" anchor="t"/>
          <a:lstStyle/>
          <a:p>
            <a:pPr marL="0" indent="0">
              <a:buNone/>
            </a:pPr>
            <a:r>
              <a:rPr lang="en-US" dirty="0">
                <a:solidFill>
                  <a:schemeClr val="tx1"/>
                </a:solidFill>
              </a:rPr>
              <a:t>dzieci z orzeczeniami (ogółem) uczy się w placówkach ogólnodostępnych (MEN, 2024/25)</a:t>
            </a:r>
            <a:endParaRPr lang="en-US" dirty="0"/>
          </a:p>
        </p:txBody>
      </p:sp>
      <p:sp>
        <p:nvSpPr>
          <p:cNvPr id="8" name="Statystyka 2"/>
          <p:cNvSpPr/>
          <p:nvPr/>
        </p:nvSpPr>
        <p:spPr>
          <a:xfrm>
            <a:off x="7943850" y="3703320"/>
            <a:ext cx="3696462" cy="1920240"/>
          </a:xfrm>
          <a:prstGeom prst="roundRect">
            <a:avLst>
              <a:gd name="adj" fmla="val 5714"/>
            </a:avLst>
          </a:prstGeom>
          <a:solidFill>
            <a:schemeClr val="bg2"/>
          </a:solidFill>
          <a:ln w="12700">
            <a:solidFill>
              <a:schemeClr val="bg2"/>
            </a:solidFill>
            <a:prstDash val="solid"/>
          </a:ln>
        </p:spPr>
      </p:sp>
      <p:sp>
        <p:nvSpPr>
          <p:cNvPr id="9" name="Text 5"/>
          <p:cNvSpPr txBox="1"/>
          <p:nvPr/>
        </p:nvSpPr>
        <p:spPr>
          <a:xfrm>
            <a:off x="8211312" y="3794760"/>
            <a:ext cx="3017520" cy="822960"/>
          </a:xfrm>
          <a:prstGeom prst="rect">
            <a:avLst/>
          </a:prstGeom>
          <a:noFill/>
          <a:ln/>
        </p:spPr>
        <p:txBody>
          <a:bodyPr wrap="square" lIns="0" tIns="0" rIns="0" bIns="0" rtlCol="0" anchor="ctr"/>
          <a:lstStyle/>
          <a:p>
            <a:pPr marL="0" indent="0" algn="ctr">
              <a:buNone/>
            </a:pPr>
            <a:r>
              <a:rPr lang="en-US" sz="4800" b="1" dirty="0">
                <a:solidFill>
                  <a:schemeClr val="accent2"/>
                </a:solidFill>
                <a:latin typeface="+mj-lt" pitchFamily="34" charset="0"/>
                <a:ea typeface="+mj-lt" pitchFamily="34" charset="-122"/>
                <a:cs typeface="+mj-lt" pitchFamily="34" charset="-120"/>
              </a:rPr>
              <a:t>1 na 115</a:t>
            </a:r>
            <a:endParaRPr lang="en-US" sz="4800" b="1" dirty="0"/>
          </a:p>
        </p:txBody>
      </p:sp>
      <p:sp>
        <p:nvSpPr>
          <p:cNvPr id="10" name="Text 6"/>
          <p:cNvSpPr txBox="1"/>
          <p:nvPr/>
        </p:nvSpPr>
        <p:spPr>
          <a:xfrm>
            <a:off x="8165592" y="4663440"/>
            <a:ext cx="3316366" cy="914400"/>
          </a:xfrm>
          <a:prstGeom prst="rect">
            <a:avLst/>
          </a:prstGeom>
          <a:noFill/>
          <a:ln/>
        </p:spPr>
        <p:txBody>
          <a:bodyPr wrap="square" lIns="0" tIns="0" rIns="0" bIns="0" rtlCol="0" anchor="t"/>
          <a:lstStyle/>
          <a:p>
            <a:pPr marL="0" indent="0">
              <a:buNone/>
            </a:pPr>
            <a:r>
              <a:rPr lang="en-US" dirty="0">
                <a:solidFill>
                  <a:schemeClr val="tx1"/>
                </a:solidFill>
              </a:rPr>
              <a:t>uczniów miał rozpoznany autyzm w roku szkolnym 2018/19, czyli 0,87% (NIK)</a:t>
            </a:r>
            <a:endParaRPr lang="en-US" dirty="0"/>
          </a:p>
        </p:txBody>
      </p:sp>
      <p:sp>
        <p:nvSpPr>
          <p:cNvPr id="11" name="Źródło"/>
          <p:cNvSpPr txBox="1"/>
          <p:nvPr/>
        </p:nvSpPr>
        <p:spPr>
          <a:xfrm>
            <a:off x="137160" y="6309360"/>
            <a:ext cx="11091672" cy="457200"/>
          </a:xfrm>
          <a:prstGeom prst="rect">
            <a:avLst/>
          </a:prstGeom>
          <a:noFill/>
          <a:ln/>
        </p:spPr>
        <p:txBody>
          <a:bodyPr wrap="square" lIns="0" tIns="0" rIns="0" bIns="0" rtlCol="0" anchor="b"/>
          <a:lstStyle/>
          <a:p>
            <a:r>
              <a:rPr lang="pl-PL" sz="1200" dirty="0">
                <a:solidFill>
                  <a:schemeClr val="bg1">
                    <a:lumMod val="75000"/>
                  </a:schemeClr>
                </a:solidFill>
              </a:rPr>
              <a:t>Źródła: </a:t>
            </a:r>
            <a:r>
              <a:rPr lang="pl-PL" sz="1200" dirty="0" err="1">
                <a:solidFill>
                  <a:schemeClr val="bg1">
                    <a:lumMod val="75000"/>
                  </a:schemeClr>
                </a:solidFill>
              </a:rPr>
              <a:t>MEiN</a:t>
            </a:r>
            <a:r>
              <a:rPr lang="pl-PL" sz="1200" dirty="0">
                <a:solidFill>
                  <a:schemeClr val="bg1">
                    <a:lumMod val="75000"/>
                  </a:schemeClr>
                </a:solidFill>
              </a:rPr>
              <a:t> (2022), za: </a:t>
            </a:r>
            <a:r>
              <a:rPr lang="pl-PL" sz="1200" dirty="0" err="1">
                <a:solidFill>
                  <a:schemeClr val="bg1">
                    <a:lumMod val="75000"/>
                  </a:schemeClr>
                </a:solidFill>
              </a:rPr>
              <a:t>Torchała</a:t>
            </a:r>
            <a:r>
              <a:rPr lang="pl-PL" sz="1200" dirty="0">
                <a:solidFill>
                  <a:schemeClr val="bg1">
                    <a:lumMod val="75000"/>
                  </a:schemeClr>
                </a:solidFill>
              </a:rPr>
              <a:t> (b.d.); MEN (2026), za: Strefa Edukacji (2026); NIK (2020)</a:t>
            </a:r>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defRPr>
            </a:lvl1pPr>
          </a:lstStyle>
          <a:p>
            <a:pPr algn="r"/>
            <a:fld id="{F7021451-1387-4CA6-816F-3879F97B5CBC}" type="slidenum">
              <a:rPr lang="en-US" b="0"/>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251460"/>
            <a:ext cx="11091672" cy="1051560"/>
          </a:xfrm>
          <a:prstGeom prst="rect">
            <a:avLst/>
          </a:prstGeom>
          <a:noFill/>
          <a:ln/>
        </p:spPr>
        <p:txBody>
          <a:bodyPr wrap="square" lIns="0" tIns="0" rIns="0" bIns="0" rtlCol="0" anchor="ctr"/>
          <a:lstStyle/>
          <a:p>
            <a:pPr marL="0" indent="0" algn="l">
              <a:buNone/>
            </a:pPr>
            <a:r>
              <a:rPr lang="en-US" sz="2800" b="1" dirty="0">
                <a:solidFill>
                  <a:schemeClr val="tx2"/>
                </a:solidFill>
              </a:rPr>
              <a:t>W szkole większość uczniów z autyzmem zalicza klasy, </a:t>
            </a:r>
            <a:r>
              <a:rPr lang="pl-PL" sz="2800" b="1" dirty="0" smtClean="0">
                <a:solidFill>
                  <a:schemeClr val="tx2"/>
                </a:solidFill>
              </a:rPr>
              <a:t/>
            </a:r>
            <a:br>
              <a:rPr lang="pl-PL" sz="2800" b="1" dirty="0" smtClean="0">
                <a:solidFill>
                  <a:schemeClr val="tx2"/>
                </a:solidFill>
              </a:rPr>
            </a:br>
            <a:r>
              <a:rPr lang="en-US" sz="2800" b="1" dirty="0" smtClean="0">
                <a:solidFill>
                  <a:schemeClr val="tx2"/>
                </a:solidFill>
              </a:rPr>
              <a:t>ale </a:t>
            </a:r>
            <a:r>
              <a:rPr lang="en-US" sz="2800" b="1" dirty="0">
                <a:solidFill>
                  <a:schemeClr val="tx2"/>
                </a:solidFill>
              </a:rPr>
              <a:t>wsparcie bywa niepełne </a:t>
            </a:r>
            <a:r>
              <a:rPr lang="en-US" sz="2800" b="0" dirty="0">
                <a:solidFill>
                  <a:schemeClr val="tx2"/>
                </a:solidFill>
              </a:rPr>
              <a:t>(NIK)</a:t>
            </a:r>
            <a:endParaRPr lang="en-US" sz="2800" b="0" dirty="0"/>
          </a:p>
        </p:txBody>
      </p:sp>
      <p:sp>
        <p:nvSpPr>
          <p:cNvPr id="4" name="Statystyka 1"/>
          <p:cNvSpPr/>
          <p:nvPr/>
        </p:nvSpPr>
        <p:spPr>
          <a:xfrm>
            <a:off x="548640" y="1600200"/>
            <a:ext cx="5440680" cy="1920240"/>
          </a:xfrm>
          <a:prstGeom prst="roundRect">
            <a:avLst>
              <a:gd name="adj" fmla="val 5714"/>
            </a:avLst>
          </a:prstGeom>
          <a:solidFill>
            <a:schemeClr val="bg2"/>
          </a:solidFill>
          <a:ln w="12700">
            <a:solidFill>
              <a:schemeClr val="bg2"/>
            </a:solidFill>
            <a:prstDash val="solid"/>
          </a:ln>
        </p:spPr>
      </p:sp>
      <p:sp>
        <p:nvSpPr>
          <p:cNvPr id="5" name="Text 2"/>
          <p:cNvSpPr txBox="1"/>
          <p:nvPr/>
        </p:nvSpPr>
        <p:spPr>
          <a:xfrm>
            <a:off x="731520" y="1600200"/>
            <a:ext cx="1709928" cy="1920240"/>
          </a:xfrm>
          <a:prstGeom prst="rect">
            <a:avLst/>
          </a:prstGeom>
          <a:noFill/>
          <a:ln/>
        </p:spPr>
        <p:txBody>
          <a:bodyPr wrap="square" lIns="0" tIns="0" rIns="0" bIns="0" rtlCol="0" anchor="ctr"/>
          <a:lstStyle/>
          <a:p>
            <a:pPr marL="0" indent="0" algn="ctr">
              <a:buNone/>
            </a:pPr>
            <a:r>
              <a:rPr lang="en-US" sz="4800" b="1" dirty="0">
                <a:solidFill>
                  <a:schemeClr val="accent1"/>
                </a:solidFill>
                <a:latin typeface="+mj-lt" pitchFamily="34" charset="0"/>
                <a:ea typeface="+mj-lt" pitchFamily="34" charset="-122"/>
                <a:cs typeface="+mj-lt" pitchFamily="34" charset="-120"/>
              </a:rPr>
              <a:t>92%</a:t>
            </a:r>
            <a:endParaRPr lang="en-US" sz="4800" dirty="0"/>
          </a:p>
        </p:txBody>
      </p:sp>
      <p:sp>
        <p:nvSpPr>
          <p:cNvPr id="6" name="Text 3"/>
          <p:cNvSpPr txBox="1"/>
          <p:nvPr/>
        </p:nvSpPr>
        <p:spPr>
          <a:xfrm>
            <a:off x="2651760" y="1691640"/>
            <a:ext cx="3200400" cy="1737360"/>
          </a:xfrm>
          <a:prstGeom prst="rect">
            <a:avLst/>
          </a:prstGeom>
          <a:noFill/>
          <a:ln/>
        </p:spPr>
        <p:txBody>
          <a:bodyPr wrap="square" lIns="0" tIns="0" rIns="0" bIns="0" rtlCol="0" anchor="ctr"/>
          <a:lstStyle/>
          <a:p>
            <a:pPr marL="0" indent="0">
              <a:buNone/>
            </a:pPr>
            <a:r>
              <a:rPr lang="pl-PL" sz="2200" dirty="0" smtClean="0">
                <a:solidFill>
                  <a:schemeClr val="tx1"/>
                </a:solidFill>
              </a:rPr>
              <a:t>uczniów objętych kontrolą uzyskiwało pozytywne wyniki i promocję do następnej klasy</a:t>
            </a:r>
            <a:endParaRPr lang="pl-PL" sz="2200" dirty="0"/>
          </a:p>
        </p:txBody>
      </p:sp>
      <p:sp>
        <p:nvSpPr>
          <p:cNvPr id="7" name="Statystyka 2"/>
          <p:cNvSpPr/>
          <p:nvPr/>
        </p:nvSpPr>
        <p:spPr>
          <a:xfrm>
            <a:off x="6199632" y="1600200"/>
            <a:ext cx="5440680" cy="1920240"/>
          </a:xfrm>
          <a:prstGeom prst="roundRect">
            <a:avLst>
              <a:gd name="adj" fmla="val 5714"/>
            </a:avLst>
          </a:prstGeom>
          <a:solidFill>
            <a:schemeClr val="bg2"/>
          </a:solidFill>
          <a:ln w="12700">
            <a:solidFill>
              <a:schemeClr val="bg2"/>
            </a:solidFill>
            <a:prstDash val="solid"/>
          </a:ln>
        </p:spPr>
      </p:sp>
      <mc:AlternateContent xmlns:mc="http://schemas.openxmlformats.org/markup-compatibility/2006" xmlns:a14="http://schemas.microsoft.com/office/drawing/2010/main">
        <mc:Choice Requires="a14">
          <p:sp>
            <p:nvSpPr>
              <p:cNvPr id="8" name="Text 5"/>
              <p:cNvSpPr txBox="1"/>
              <p:nvPr/>
            </p:nvSpPr>
            <p:spPr>
              <a:xfrm>
                <a:off x="6382512" y="1600200"/>
                <a:ext cx="1783080" cy="1920240"/>
              </a:xfrm>
              <a:prstGeom prst="rect">
                <a:avLst/>
              </a:prstGeom>
              <a:noFill/>
              <a:ln/>
            </p:spPr>
            <p:txBody>
              <a:bodyPr wrap="square" lIns="0" tIns="0" rIns="0" bIns="0" rtlCol="0" anchor="ctr"/>
              <a:lstStyle/>
              <a:p>
                <a:pPr marL="0" indent="0">
                  <a:buNone/>
                </a:pPr>
                <a:r>
                  <a:rPr lang="en-US" sz="3600" dirty="0" smtClean="0">
                    <a:solidFill>
                      <a:schemeClr val="accent1"/>
                    </a:solidFill>
                    <a:latin typeface="+mj-lt" pitchFamily="34" charset="0"/>
                    <a:ea typeface="+mj-lt" pitchFamily="34" charset="-122"/>
                    <a:cs typeface="+mj-lt" pitchFamily="34" charset="-120"/>
                  </a:rPr>
                  <a:t>ok.</a:t>
                </a:r>
                <a14:m>
                  <m:oMath xmlns:m="http://schemas.openxmlformats.org/officeDocument/2006/math">
                    <m:f>
                      <m:fPr>
                        <m:type m:val="skw"/>
                        <m:ctrlPr>
                          <a:rPr lang="en-US" sz="6000" b="1" i="1" dirty="0" smtClean="0">
                            <a:solidFill>
                              <a:schemeClr val="accent1"/>
                            </a:solidFill>
                            <a:latin typeface="Cambria Math" panose="02040503050406030204" pitchFamily="18" charset="0"/>
                            <a:ea typeface="+mj-lt" pitchFamily="34" charset="-122"/>
                            <a:cs typeface="+mj-lt" pitchFamily="34" charset="-120"/>
                          </a:rPr>
                        </m:ctrlPr>
                      </m:fPr>
                      <m:num>
                        <m:r>
                          <a:rPr lang="en-US" sz="6000" b="1" i="1" dirty="0" smtClean="0">
                            <a:solidFill>
                              <a:schemeClr val="accent1"/>
                            </a:solidFill>
                            <a:latin typeface="Cambria Math" panose="02040503050406030204" pitchFamily="18" charset="0"/>
                            <a:ea typeface="+mj-lt" pitchFamily="34" charset="-122"/>
                            <a:cs typeface="+mj-lt" pitchFamily="34" charset="-120"/>
                          </a:rPr>
                          <m:t>𝟏</m:t>
                        </m:r>
                      </m:num>
                      <m:den>
                        <m:r>
                          <a:rPr lang="en-US" sz="6000" b="1" i="1" dirty="0" smtClean="0">
                            <a:solidFill>
                              <a:schemeClr val="accent1"/>
                            </a:solidFill>
                            <a:latin typeface="Cambria Math" panose="02040503050406030204" pitchFamily="18" charset="0"/>
                            <a:ea typeface="+mj-lt" pitchFamily="34" charset="-122"/>
                            <a:cs typeface="+mj-lt" pitchFamily="34" charset="-120"/>
                          </a:rPr>
                          <m:t>𝟐</m:t>
                        </m:r>
                      </m:den>
                    </m:f>
                  </m:oMath>
                </a14:m>
                <a:endParaRPr lang="en-US" sz="3800" dirty="0"/>
              </a:p>
            </p:txBody>
          </p:sp>
        </mc:Choice>
        <mc:Fallback xmlns="">
          <p:sp>
            <p:nvSpPr>
              <p:cNvPr id="8" name="Text 5"/>
              <p:cNvSpPr txBox="1">
                <a:spLocks noRot="1" noChangeAspect="1" noMove="1" noResize="1" noEditPoints="1" noAdjustHandles="1" noChangeArrowheads="1" noChangeShapeType="1" noTextEdit="1"/>
              </p:cNvSpPr>
              <p:nvPr/>
            </p:nvSpPr>
            <p:spPr>
              <a:xfrm>
                <a:off x="6382512" y="1600200"/>
                <a:ext cx="1783080" cy="1920240"/>
              </a:xfrm>
              <a:prstGeom prst="rect">
                <a:avLst/>
              </a:prstGeom>
              <a:blipFill>
                <a:blip r:embed="rId3"/>
                <a:stretch>
                  <a:fillRect l="-15358"/>
                </a:stretch>
              </a:blipFill>
              <a:ln/>
            </p:spPr>
            <p:txBody>
              <a:bodyPr/>
              <a:lstStyle/>
              <a:p>
                <a:r>
                  <a:rPr lang="pl-PL">
                    <a:noFill/>
                  </a:rPr>
                  <a:t> </a:t>
                </a:r>
              </a:p>
            </p:txBody>
          </p:sp>
        </mc:Fallback>
      </mc:AlternateContent>
      <p:sp>
        <p:nvSpPr>
          <p:cNvPr id="9" name="Text 6"/>
          <p:cNvSpPr txBox="1"/>
          <p:nvPr/>
        </p:nvSpPr>
        <p:spPr>
          <a:xfrm>
            <a:off x="8302752" y="1691640"/>
            <a:ext cx="3200400" cy="1737360"/>
          </a:xfrm>
          <a:prstGeom prst="rect">
            <a:avLst/>
          </a:prstGeom>
          <a:noFill/>
          <a:ln/>
        </p:spPr>
        <p:txBody>
          <a:bodyPr wrap="square" lIns="0" tIns="0" rIns="0" bIns="0" rtlCol="0" anchor="ctr"/>
          <a:lstStyle/>
          <a:p>
            <a:pPr marL="0" indent="0">
              <a:buNone/>
            </a:pPr>
            <a:r>
              <a:rPr lang="pl-PL" sz="2200" dirty="0" smtClean="0">
                <a:solidFill>
                  <a:schemeClr val="tx1"/>
                </a:solidFill>
              </a:rPr>
              <a:t>absolwentów liceów i techników przystąpiło do matury; wyniki zbliżone do średniej krajowej</a:t>
            </a:r>
            <a:endParaRPr lang="pl-PL" sz="2200" dirty="0"/>
          </a:p>
        </p:txBody>
      </p:sp>
      <p:sp>
        <p:nvSpPr>
          <p:cNvPr id="10" name="Statystyka 3"/>
          <p:cNvSpPr/>
          <p:nvPr/>
        </p:nvSpPr>
        <p:spPr>
          <a:xfrm>
            <a:off x="548640" y="3703320"/>
            <a:ext cx="5440680" cy="1920240"/>
          </a:xfrm>
          <a:prstGeom prst="roundRect">
            <a:avLst>
              <a:gd name="adj" fmla="val 5714"/>
            </a:avLst>
          </a:prstGeom>
          <a:solidFill>
            <a:schemeClr val="bg2"/>
          </a:solidFill>
          <a:ln w="12700">
            <a:solidFill>
              <a:schemeClr val="bg2"/>
            </a:solidFill>
            <a:prstDash val="solid"/>
          </a:ln>
        </p:spPr>
      </p:sp>
      <p:sp>
        <p:nvSpPr>
          <p:cNvPr id="11" name="Text 8"/>
          <p:cNvSpPr txBox="1"/>
          <p:nvPr/>
        </p:nvSpPr>
        <p:spPr>
          <a:xfrm>
            <a:off x="731520" y="3703320"/>
            <a:ext cx="1611630" cy="1920240"/>
          </a:xfrm>
          <a:prstGeom prst="rect">
            <a:avLst/>
          </a:prstGeom>
          <a:noFill/>
          <a:ln/>
        </p:spPr>
        <p:txBody>
          <a:bodyPr wrap="square" lIns="0" tIns="0" rIns="0" bIns="0" rtlCol="0" anchor="ctr"/>
          <a:lstStyle/>
          <a:p>
            <a:pPr marL="0" indent="0" algn="ctr">
              <a:buNone/>
            </a:pPr>
            <a:r>
              <a:rPr lang="pl-PL" sz="4800" b="1" dirty="0" smtClean="0">
                <a:solidFill>
                  <a:schemeClr val="accent2"/>
                </a:solidFill>
                <a:latin typeface="+mj-lt" pitchFamily="34" charset="0"/>
                <a:ea typeface="+mj-lt" pitchFamily="34" charset="-122"/>
                <a:cs typeface="+mj-lt" pitchFamily="34" charset="-120"/>
              </a:rPr>
              <a:t>70%</a:t>
            </a:r>
            <a:endParaRPr lang="en-US" sz="4800" dirty="0"/>
          </a:p>
        </p:txBody>
      </p:sp>
      <p:sp>
        <p:nvSpPr>
          <p:cNvPr id="12" name="Text 9"/>
          <p:cNvSpPr txBox="1"/>
          <p:nvPr/>
        </p:nvSpPr>
        <p:spPr>
          <a:xfrm>
            <a:off x="2651760" y="3794760"/>
            <a:ext cx="3257550" cy="1737360"/>
          </a:xfrm>
          <a:prstGeom prst="rect">
            <a:avLst/>
          </a:prstGeom>
          <a:noFill/>
          <a:ln/>
        </p:spPr>
        <p:txBody>
          <a:bodyPr wrap="square" lIns="0" tIns="0" rIns="0" bIns="0" rtlCol="0" anchor="ctr"/>
          <a:lstStyle/>
          <a:p>
            <a:pPr marL="0" indent="0">
              <a:buNone/>
            </a:pPr>
            <a:r>
              <a:rPr lang="pl-PL" sz="2200" dirty="0" smtClean="0">
                <a:solidFill>
                  <a:schemeClr val="tx1"/>
                </a:solidFill>
              </a:rPr>
              <a:t>skontrolowanych szkół nie realizowało wszystkich zaleceń z orzeczeń (brak specjalistów i miejsc wyciszeń)</a:t>
            </a:r>
            <a:endParaRPr lang="pl-PL" sz="2200" dirty="0"/>
          </a:p>
        </p:txBody>
      </p:sp>
      <p:sp>
        <p:nvSpPr>
          <p:cNvPr id="13" name="Statystyka 4"/>
          <p:cNvSpPr/>
          <p:nvPr/>
        </p:nvSpPr>
        <p:spPr>
          <a:xfrm>
            <a:off x="6199632" y="3703320"/>
            <a:ext cx="5440680" cy="1920240"/>
          </a:xfrm>
          <a:prstGeom prst="roundRect">
            <a:avLst>
              <a:gd name="adj" fmla="val 5714"/>
            </a:avLst>
          </a:prstGeom>
          <a:solidFill>
            <a:schemeClr val="bg2"/>
          </a:solidFill>
          <a:ln w="12700">
            <a:solidFill>
              <a:schemeClr val="bg2"/>
            </a:solidFill>
            <a:prstDash val="solid"/>
          </a:ln>
        </p:spPr>
      </p:sp>
      <p:sp>
        <p:nvSpPr>
          <p:cNvPr id="14" name="Text 11"/>
          <p:cNvSpPr txBox="1"/>
          <p:nvPr/>
        </p:nvSpPr>
        <p:spPr>
          <a:xfrm>
            <a:off x="6382512" y="3703320"/>
            <a:ext cx="1629918" cy="1920240"/>
          </a:xfrm>
          <a:prstGeom prst="rect">
            <a:avLst/>
          </a:prstGeom>
          <a:noFill/>
          <a:ln/>
        </p:spPr>
        <p:txBody>
          <a:bodyPr wrap="square" lIns="0" tIns="0" rIns="0" bIns="0" rtlCol="0" anchor="ctr"/>
          <a:lstStyle/>
          <a:p>
            <a:pPr marL="0" indent="0" algn="ctr">
              <a:buNone/>
            </a:pPr>
            <a:r>
              <a:rPr lang="en-US" sz="5400" b="1" dirty="0">
                <a:solidFill>
                  <a:schemeClr val="accent2"/>
                </a:solidFill>
                <a:latin typeface="+mj-lt" pitchFamily="34" charset="0"/>
                <a:ea typeface="+mj-lt" pitchFamily="34" charset="-122"/>
                <a:cs typeface="+mj-lt" pitchFamily="34" charset="-120"/>
              </a:rPr>
              <a:t>40%</a:t>
            </a:r>
            <a:endParaRPr lang="en-US" sz="5400" dirty="0"/>
          </a:p>
        </p:txBody>
      </p:sp>
      <p:sp>
        <p:nvSpPr>
          <p:cNvPr id="15" name="Text 12"/>
          <p:cNvSpPr txBox="1"/>
          <p:nvPr/>
        </p:nvSpPr>
        <p:spPr>
          <a:xfrm>
            <a:off x="8302752" y="3794760"/>
            <a:ext cx="3200400" cy="1737360"/>
          </a:xfrm>
          <a:prstGeom prst="rect">
            <a:avLst/>
          </a:prstGeom>
          <a:noFill/>
          <a:ln/>
        </p:spPr>
        <p:txBody>
          <a:bodyPr wrap="square" lIns="0" tIns="0" rIns="0" bIns="0" rtlCol="0" anchor="ctr"/>
          <a:lstStyle/>
          <a:p>
            <a:pPr marL="0" indent="0">
              <a:buNone/>
            </a:pPr>
            <a:r>
              <a:rPr lang="pl-PL" sz="2200" dirty="0" smtClean="0">
                <a:solidFill>
                  <a:schemeClr val="tx1"/>
                </a:solidFill>
              </a:rPr>
              <a:t>skontrolowanych szkół nie oceniało skuteczności udzielanego wsparcia</a:t>
            </a:r>
            <a:endParaRPr lang="pl-PL" sz="2200" dirty="0"/>
          </a:p>
        </p:txBody>
      </p:sp>
      <p:sp>
        <p:nvSpPr>
          <p:cNvPr id="16" name="Źródło"/>
          <p:cNvSpPr txBox="1"/>
          <p:nvPr/>
        </p:nvSpPr>
        <p:spPr>
          <a:xfrm>
            <a:off x="148590" y="6309360"/>
            <a:ext cx="11091672" cy="457200"/>
          </a:xfrm>
          <a:prstGeom prst="rect">
            <a:avLst/>
          </a:prstGeom>
          <a:noFill/>
          <a:ln/>
        </p:spPr>
        <p:txBody>
          <a:bodyPr wrap="square" lIns="0" tIns="0" rIns="0" bIns="0" rtlCol="0" anchor="b"/>
          <a:lstStyle/>
          <a:p>
            <a:pPr marL="0" indent="0">
              <a:buNone/>
            </a:pPr>
            <a:r>
              <a:rPr lang="en-US" sz="1200" dirty="0">
                <a:solidFill>
                  <a:schemeClr val="bg1">
                    <a:lumMod val="75000"/>
                  </a:schemeClr>
                </a:solidFill>
              </a:rPr>
              <a:t>Źródło: NIK (2020), kontrola 10 szkół w latach 2016 do połowy 2019 r.. Ograniczenie: mała próba kontrolna.</a:t>
            </a:r>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defRPr>
            </a:lvl1pPr>
          </a:lstStyle>
          <a:p>
            <a:pPr algn="r"/>
            <a:fld id="{F7021451-1387-4CA6-816F-3879F97B5CBC}" type="slidenum">
              <a:rPr lang="en-US" b="0"/>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205740"/>
            <a:ext cx="11091672" cy="1051560"/>
          </a:xfrm>
          <a:prstGeom prst="rect">
            <a:avLst/>
          </a:prstGeom>
          <a:noFill/>
          <a:ln/>
        </p:spPr>
        <p:txBody>
          <a:bodyPr wrap="square" lIns="0" tIns="0" rIns="0" bIns="0" rtlCol="0" anchor="ctr"/>
          <a:lstStyle/>
          <a:p>
            <a:pPr marL="0" indent="0" algn="l">
              <a:buNone/>
            </a:pPr>
            <a:r>
              <a:rPr lang="en-US" sz="2800" b="1" dirty="0">
                <a:solidFill>
                  <a:schemeClr val="tx2"/>
                </a:solidFill>
              </a:rPr>
              <a:t>Dziewięciu na dziesięciu uczniów z autyzmem doświadczyło nękania rówieśniczego </a:t>
            </a:r>
            <a:r>
              <a:rPr lang="en-US" sz="2800" b="0" dirty="0">
                <a:solidFill>
                  <a:schemeClr val="tx2"/>
                </a:solidFill>
              </a:rPr>
              <a:t>(OSA)</a:t>
            </a:r>
            <a:endParaRPr lang="en-US" sz="2800" b="0" dirty="0"/>
          </a:p>
        </p:txBody>
      </p:sp>
      <p:graphicFrame>
        <p:nvGraphicFramePr>
          <p:cNvPr id="4" name="Chart 0"/>
          <p:cNvGraphicFramePr/>
          <p:nvPr>
            <p:extLst>
              <p:ext uri="{D42A27DB-BD31-4B8C-83A1-F6EECF244321}">
                <p14:modId xmlns:p14="http://schemas.microsoft.com/office/powerpoint/2010/main" val="4017676175"/>
              </p:ext>
            </p:extLst>
          </p:nvPr>
        </p:nvGraphicFramePr>
        <p:xfrm>
          <a:off x="548640" y="1508760"/>
          <a:ext cx="7589520" cy="4892040"/>
        </p:xfrm>
        <a:graphic>
          <a:graphicData uri="http://schemas.openxmlformats.org/drawingml/2006/chart">
            <c:chart xmlns:c="http://schemas.openxmlformats.org/drawingml/2006/chart" xmlns:r="http://schemas.openxmlformats.org/officeDocument/2006/relationships" r:id="rId3"/>
          </a:graphicData>
        </a:graphic>
      </p:graphicFrame>
      <p:sp>
        <p:nvSpPr>
          <p:cNvPr id="5" name="Statystyka"/>
          <p:cNvSpPr/>
          <p:nvPr/>
        </p:nvSpPr>
        <p:spPr>
          <a:xfrm>
            <a:off x="7840980" y="1600200"/>
            <a:ext cx="3799332" cy="1920240"/>
          </a:xfrm>
          <a:prstGeom prst="roundRect">
            <a:avLst>
              <a:gd name="adj" fmla="val 5714"/>
            </a:avLst>
          </a:prstGeom>
          <a:solidFill>
            <a:schemeClr val="bg2"/>
          </a:solidFill>
          <a:ln w="12700">
            <a:solidFill>
              <a:schemeClr val="bg2"/>
            </a:solidFill>
            <a:prstDash val="solid"/>
          </a:ln>
        </p:spPr>
      </p:sp>
      <p:sp>
        <p:nvSpPr>
          <p:cNvPr id="6" name="Text 2"/>
          <p:cNvSpPr txBox="1"/>
          <p:nvPr/>
        </p:nvSpPr>
        <p:spPr>
          <a:xfrm>
            <a:off x="8138160" y="1691640"/>
            <a:ext cx="3291840" cy="640080"/>
          </a:xfrm>
          <a:prstGeom prst="rect">
            <a:avLst/>
          </a:prstGeom>
          <a:noFill/>
          <a:ln/>
        </p:spPr>
        <p:txBody>
          <a:bodyPr wrap="square" lIns="0" tIns="0" rIns="0" bIns="0" rtlCol="0" anchor="ctr"/>
          <a:lstStyle/>
          <a:p>
            <a:pPr marL="0" indent="0" algn="ctr">
              <a:buNone/>
            </a:pPr>
            <a:r>
              <a:rPr lang="en-US" sz="5400" b="1" dirty="0">
                <a:solidFill>
                  <a:schemeClr val="accent2"/>
                </a:solidFill>
                <a:latin typeface="+mj-lt" pitchFamily="34" charset="0"/>
                <a:ea typeface="+mj-lt" pitchFamily="34" charset="-122"/>
                <a:cs typeface="+mj-lt" pitchFamily="34" charset="-120"/>
              </a:rPr>
              <a:t>64%</a:t>
            </a:r>
            <a:endParaRPr lang="en-US" sz="5400" dirty="0"/>
          </a:p>
        </p:txBody>
      </p:sp>
      <p:sp>
        <p:nvSpPr>
          <p:cNvPr id="7" name="Text 3"/>
          <p:cNvSpPr txBox="1"/>
          <p:nvPr/>
        </p:nvSpPr>
        <p:spPr>
          <a:xfrm>
            <a:off x="7943850" y="2514600"/>
            <a:ext cx="3593592" cy="1005840"/>
          </a:xfrm>
          <a:prstGeom prst="rect">
            <a:avLst/>
          </a:prstGeom>
          <a:noFill/>
          <a:ln/>
        </p:spPr>
        <p:txBody>
          <a:bodyPr wrap="square" lIns="0" tIns="0" rIns="0" bIns="0" rtlCol="0" anchor="t"/>
          <a:lstStyle/>
          <a:p>
            <a:pPr marL="0" indent="0">
              <a:buNone/>
            </a:pPr>
            <a:r>
              <a:rPr lang="pl-PL" sz="2000" dirty="0" smtClean="0">
                <a:solidFill>
                  <a:schemeClr val="tx1"/>
                </a:solidFill>
              </a:rPr>
              <a:t>uczniów z autyzmem doświadczyło trzech lub więcej form nękania (34% w grupie kontrolnej)</a:t>
            </a:r>
            <a:endParaRPr lang="pl-PL" sz="2000" dirty="0"/>
          </a:p>
        </p:txBody>
      </p:sp>
      <p:sp>
        <p:nvSpPr>
          <p:cNvPr id="8" name="Szkoły specjalne"/>
          <p:cNvSpPr/>
          <p:nvPr/>
        </p:nvSpPr>
        <p:spPr>
          <a:xfrm>
            <a:off x="7840980" y="3703320"/>
            <a:ext cx="3799332" cy="2011680"/>
          </a:xfrm>
          <a:prstGeom prst="roundRect">
            <a:avLst>
              <a:gd name="adj" fmla="val 5455"/>
            </a:avLst>
          </a:prstGeom>
          <a:solidFill>
            <a:schemeClr val="accent1"/>
          </a:solidFill>
          <a:ln w="12700">
            <a:solidFill>
              <a:schemeClr val="accent1"/>
            </a:solidFill>
            <a:prstDash val="solid"/>
          </a:ln>
        </p:spPr>
        <p:txBody>
          <a:bodyPr lIns="180000" rIns="180000" anchor="ctr"/>
          <a:lstStyle/>
          <a:p>
            <a:pPr>
              <a:lnSpc>
                <a:spcPts val="3000"/>
              </a:lnSpc>
            </a:pPr>
            <a:r>
              <a:rPr lang="pl-PL" sz="2400" b="1" dirty="0" smtClean="0">
                <a:solidFill>
                  <a:schemeClr val="bg1"/>
                </a:solidFill>
              </a:rPr>
              <a:t>Nękanie było rzadsze w szkołach specjalnych, niż w ogólnodostępnych i integracyjnych</a:t>
            </a:r>
            <a:endParaRPr lang="pl-PL" sz="2400" dirty="0"/>
          </a:p>
        </p:txBody>
      </p:sp>
      <p:sp>
        <p:nvSpPr>
          <p:cNvPr id="10" name="Źródło"/>
          <p:cNvSpPr txBox="1"/>
          <p:nvPr/>
        </p:nvSpPr>
        <p:spPr>
          <a:xfrm>
            <a:off x="148590" y="6309360"/>
            <a:ext cx="11091672" cy="457200"/>
          </a:xfrm>
          <a:prstGeom prst="rect">
            <a:avLst/>
          </a:prstGeom>
          <a:noFill/>
          <a:ln/>
        </p:spPr>
        <p:txBody>
          <a:bodyPr wrap="square" lIns="0" tIns="0" rIns="0" bIns="0" rtlCol="0" anchor="b"/>
          <a:lstStyle/>
          <a:p>
            <a:pPr marL="0" indent="0">
              <a:buNone/>
            </a:pPr>
            <a:r>
              <a:rPr lang="en-US" sz="1200" dirty="0">
                <a:solidFill>
                  <a:schemeClr val="bg1">
                    <a:lumMod val="75000"/>
                  </a:schemeClr>
                </a:solidFill>
              </a:rPr>
              <a:t>Źródło: OSA (Płatos, 2016), dane z 2014 r., N = 59, uczniowie wysokofunkcjonujący. Próba nie jest w pełni reprezentatywna.</a:t>
            </a:r>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defRPr>
            </a:lvl1pPr>
          </a:lstStyle>
          <a:p>
            <a:pPr algn="r"/>
            <a:fld id="{F7021451-1387-4CA6-816F-3879F97B5CBC}" type="slidenum">
              <a:rPr lang="en-US" b="0"/>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title" idx="100"/>
          </p:nvPr>
        </p:nvSpPr>
        <p:spPr>
          <a:xfrm>
            <a:off x="548640" y="320040"/>
            <a:ext cx="11091600" cy="105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000"/>
              <a:buFont typeface="Cambria"/>
              <a:buNone/>
            </a:pPr>
            <a:r>
              <a:rPr lang="en-US" sz="3000" b="1">
                <a:solidFill>
                  <a:schemeClr val="dk2"/>
                </a:solidFill>
              </a:rPr>
              <a:t>Samotność i spędzanie czasu w domu wyróżniają nastolatków i dorosłych z autyzmem (OSA)</a:t>
            </a:r>
            <a:endParaRPr sz="3000"/>
          </a:p>
        </p:txBody>
      </p:sp>
      <p:sp>
        <p:nvSpPr>
          <p:cNvPr id="67" name="Google Shape;67;p4"/>
          <p:cNvSpPr/>
          <p:nvPr/>
        </p:nvSpPr>
        <p:spPr>
          <a:xfrm>
            <a:off x="548640" y="1600200"/>
            <a:ext cx="5440800" cy="1920300"/>
          </a:xfrm>
          <a:prstGeom prst="roundRect">
            <a:avLst>
              <a:gd name="adj" fmla="val 5714"/>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
          <p:cNvSpPr txBox="1"/>
          <p:nvPr/>
        </p:nvSpPr>
        <p:spPr>
          <a:xfrm>
            <a:off x="731520" y="1600200"/>
            <a:ext cx="2286000" cy="1920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4800"/>
              <a:buFont typeface="Cambria"/>
              <a:buNone/>
            </a:pPr>
            <a:r>
              <a:rPr lang="en-US" sz="5400" b="1" i="0" u="none" strike="noStrike" cap="none" dirty="0">
                <a:solidFill>
                  <a:schemeClr val="accent2"/>
                </a:solidFill>
                <a:latin typeface="Cambria"/>
                <a:ea typeface="Cambria"/>
                <a:cs typeface="Cambria"/>
                <a:sym typeface="Cambria"/>
              </a:rPr>
              <a:t>34%</a:t>
            </a:r>
            <a:endParaRPr sz="5400" b="0" i="0" u="none" strike="noStrike" cap="none" dirty="0">
              <a:solidFill>
                <a:schemeClr val="dk1"/>
              </a:solidFill>
              <a:latin typeface="Calibri"/>
              <a:ea typeface="Calibri"/>
              <a:cs typeface="Calibri"/>
              <a:sym typeface="Calibri"/>
            </a:endParaRPr>
          </a:p>
        </p:txBody>
      </p:sp>
      <p:sp>
        <p:nvSpPr>
          <p:cNvPr id="69" name="Google Shape;69;p4"/>
          <p:cNvSpPr txBox="1"/>
          <p:nvPr/>
        </p:nvSpPr>
        <p:spPr>
          <a:xfrm>
            <a:off x="2480310" y="1691640"/>
            <a:ext cx="3371850" cy="1737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800"/>
              <a:buFont typeface="Calibri"/>
              <a:buNone/>
            </a:pPr>
            <a:r>
              <a:rPr lang="pl-PL" sz="2400" b="0" i="0" u="none" strike="noStrike" cap="none" dirty="0" smtClean="0">
                <a:solidFill>
                  <a:schemeClr val="dk1"/>
                </a:solidFill>
                <a:latin typeface="Calibri"/>
                <a:ea typeface="Calibri"/>
                <a:cs typeface="Calibri"/>
                <a:sym typeface="Calibri"/>
              </a:rPr>
              <a:t>osób z autyzmem twierdzi, że nie ma znajomych (w grupie kontrolnej nikt)</a:t>
            </a:r>
            <a:endParaRPr lang="pl-PL" sz="2400" b="0" i="0" u="none" strike="noStrike" cap="none" dirty="0">
              <a:solidFill>
                <a:schemeClr val="dk1"/>
              </a:solidFill>
              <a:latin typeface="Calibri"/>
              <a:ea typeface="Calibri"/>
              <a:cs typeface="Calibri"/>
              <a:sym typeface="Calibri"/>
            </a:endParaRPr>
          </a:p>
        </p:txBody>
      </p:sp>
      <p:sp>
        <p:nvSpPr>
          <p:cNvPr id="70" name="Google Shape;70;p4"/>
          <p:cNvSpPr/>
          <p:nvPr/>
        </p:nvSpPr>
        <p:spPr>
          <a:xfrm>
            <a:off x="6199632" y="1600200"/>
            <a:ext cx="5440800" cy="1920300"/>
          </a:xfrm>
          <a:prstGeom prst="roundRect">
            <a:avLst>
              <a:gd name="adj" fmla="val 5714"/>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txBox="1"/>
          <p:nvPr/>
        </p:nvSpPr>
        <p:spPr>
          <a:xfrm>
            <a:off x="6382512" y="1600200"/>
            <a:ext cx="2286000" cy="1920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4800"/>
              <a:buFont typeface="Cambria"/>
              <a:buNone/>
            </a:pPr>
            <a:r>
              <a:rPr lang="en-US" sz="5400" b="1" i="0" u="none" strike="noStrike" cap="none" dirty="0">
                <a:solidFill>
                  <a:schemeClr val="accent1"/>
                </a:solidFill>
                <a:latin typeface="Cambria"/>
                <a:ea typeface="Cambria"/>
                <a:cs typeface="Cambria"/>
                <a:sym typeface="Cambria"/>
              </a:rPr>
              <a:t>51%</a:t>
            </a:r>
            <a:endParaRPr sz="5400" b="0" i="0" u="none" strike="noStrike" cap="none" dirty="0">
              <a:solidFill>
                <a:schemeClr val="dk1"/>
              </a:solidFill>
              <a:latin typeface="Calibri"/>
              <a:ea typeface="Calibri"/>
              <a:cs typeface="Calibri"/>
              <a:sym typeface="Calibri"/>
            </a:endParaRPr>
          </a:p>
        </p:txBody>
      </p:sp>
      <p:sp>
        <p:nvSpPr>
          <p:cNvPr id="72" name="Google Shape;72;p4"/>
          <p:cNvSpPr txBox="1"/>
          <p:nvPr/>
        </p:nvSpPr>
        <p:spPr>
          <a:xfrm>
            <a:off x="8378190" y="1691640"/>
            <a:ext cx="3124962" cy="1737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800"/>
              <a:buFont typeface="Calibri"/>
              <a:buNone/>
            </a:pPr>
            <a:r>
              <a:rPr lang="pl-PL" sz="2400" b="0" i="0" u="none" strike="noStrike" cap="none" dirty="0" smtClean="0">
                <a:solidFill>
                  <a:schemeClr val="dk1"/>
                </a:solidFill>
                <a:latin typeface="Calibri"/>
                <a:ea typeface="Calibri"/>
                <a:cs typeface="Calibri"/>
                <a:sym typeface="Calibri"/>
              </a:rPr>
              <a:t>chciałoby mieć więcej znajomych niż obecnie</a:t>
            </a:r>
            <a:endParaRPr lang="pl-PL" sz="2400" b="0" i="0" u="none" strike="noStrike" cap="none" dirty="0">
              <a:solidFill>
                <a:schemeClr val="dk1"/>
              </a:solidFill>
              <a:latin typeface="Calibri"/>
              <a:ea typeface="Calibri"/>
              <a:cs typeface="Calibri"/>
              <a:sym typeface="Calibri"/>
            </a:endParaRPr>
          </a:p>
        </p:txBody>
      </p:sp>
      <p:sp>
        <p:nvSpPr>
          <p:cNvPr id="73" name="Google Shape;73;p4"/>
          <p:cNvSpPr/>
          <p:nvPr/>
        </p:nvSpPr>
        <p:spPr>
          <a:xfrm>
            <a:off x="548640" y="3703320"/>
            <a:ext cx="5440800" cy="1920300"/>
          </a:xfrm>
          <a:prstGeom prst="roundRect">
            <a:avLst>
              <a:gd name="adj" fmla="val 5714"/>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txBox="1"/>
          <p:nvPr/>
        </p:nvSpPr>
        <p:spPr>
          <a:xfrm>
            <a:off x="731520" y="3703320"/>
            <a:ext cx="2286000" cy="1920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3200"/>
              <a:buFont typeface="Cambria"/>
              <a:buNone/>
            </a:pPr>
            <a:r>
              <a:rPr lang="pl-PL" sz="4000" b="1" i="0" u="none" strike="noStrike" cap="none" dirty="0" smtClean="0">
                <a:solidFill>
                  <a:schemeClr val="accent2"/>
                </a:solidFill>
                <a:latin typeface="Cambria"/>
                <a:ea typeface="Cambria"/>
                <a:cs typeface="Cambria"/>
                <a:sym typeface="Cambria"/>
              </a:rPr>
              <a:t> </a:t>
            </a:r>
            <a:r>
              <a:rPr lang="en-US" sz="4000" b="1" i="0" u="none" strike="noStrike" cap="none" dirty="0" smtClean="0">
                <a:solidFill>
                  <a:schemeClr val="accent2"/>
                </a:solidFill>
                <a:latin typeface="Cambria"/>
                <a:ea typeface="Cambria"/>
                <a:cs typeface="Cambria"/>
                <a:sym typeface="Cambria"/>
              </a:rPr>
              <a:t>23</a:t>
            </a:r>
            <a:r>
              <a:rPr lang="en-US" sz="4000" b="1" i="0" u="none" strike="noStrike" cap="none" dirty="0">
                <a:solidFill>
                  <a:schemeClr val="accent2"/>
                </a:solidFill>
                <a:latin typeface="Cambria"/>
                <a:ea typeface="Cambria"/>
                <a:cs typeface="Cambria"/>
                <a:sym typeface="Cambria"/>
              </a:rPr>
              <a:t>%</a:t>
            </a:r>
            <a:r>
              <a:rPr lang="en-US" sz="4000" i="0" u="none" strike="noStrike" cap="none" dirty="0">
                <a:solidFill>
                  <a:schemeClr val="accent2"/>
                </a:solidFill>
                <a:latin typeface="Cambria"/>
                <a:ea typeface="Cambria"/>
                <a:cs typeface="Cambria"/>
                <a:sym typeface="Cambria"/>
              </a:rPr>
              <a:t>,</a:t>
            </a:r>
            <a:r>
              <a:rPr lang="en-US" sz="4000" b="1" i="0" u="none" strike="noStrike" cap="none" dirty="0">
                <a:solidFill>
                  <a:schemeClr val="accent2"/>
                </a:solidFill>
                <a:latin typeface="Cambria"/>
                <a:ea typeface="Cambria"/>
                <a:cs typeface="Cambria"/>
                <a:sym typeface="Cambria"/>
              </a:rPr>
              <a:t> </a:t>
            </a:r>
            <a:r>
              <a:rPr lang="en-US" sz="4000" i="0" u="none" strike="noStrike" cap="none" dirty="0">
                <a:solidFill>
                  <a:schemeClr val="accent2"/>
                </a:solidFill>
                <a:latin typeface="Cambria"/>
                <a:ea typeface="Cambria"/>
                <a:cs typeface="Cambria"/>
                <a:sym typeface="Cambria"/>
              </a:rPr>
              <a:t>a </a:t>
            </a:r>
            <a:r>
              <a:rPr lang="en-US" sz="4000" b="1" i="0" u="none" strike="noStrike" cap="none" dirty="0">
                <a:solidFill>
                  <a:schemeClr val="accent2"/>
                </a:solidFill>
                <a:latin typeface="Cambria"/>
                <a:ea typeface="Cambria"/>
                <a:cs typeface="Cambria"/>
                <a:sym typeface="Cambria"/>
              </a:rPr>
              <a:t>63%</a:t>
            </a:r>
            <a:endParaRPr sz="4000" b="0" i="0" u="none" strike="noStrike" cap="none" dirty="0">
              <a:solidFill>
                <a:schemeClr val="dk1"/>
              </a:solidFill>
              <a:latin typeface="Calibri"/>
              <a:ea typeface="Calibri"/>
              <a:cs typeface="Calibri"/>
              <a:sym typeface="Calibri"/>
            </a:endParaRPr>
          </a:p>
        </p:txBody>
      </p:sp>
      <p:sp>
        <p:nvSpPr>
          <p:cNvPr id="75" name="Google Shape;75;p4"/>
          <p:cNvSpPr txBox="1"/>
          <p:nvPr/>
        </p:nvSpPr>
        <p:spPr>
          <a:xfrm>
            <a:off x="2606040" y="3794760"/>
            <a:ext cx="3246120" cy="1737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800"/>
              <a:buFont typeface="Calibri"/>
              <a:buNone/>
            </a:pPr>
            <a:r>
              <a:rPr lang="pl-PL" sz="2400" b="0" i="0" u="none" strike="noStrike" cap="none" dirty="0" smtClean="0">
                <a:solidFill>
                  <a:schemeClr val="dk1"/>
                </a:solidFill>
                <a:latin typeface="Calibri"/>
                <a:ea typeface="Calibri"/>
                <a:cs typeface="Calibri"/>
                <a:sym typeface="Calibri"/>
              </a:rPr>
              <a:t>uprawia sport co najmniej raz w tygodniu: osoby z autyzmem wobec grupy kontrolnej</a:t>
            </a:r>
            <a:endParaRPr lang="pl-PL" sz="2400" b="0" i="0" u="none" strike="noStrike" cap="none" dirty="0">
              <a:solidFill>
                <a:schemeClr val="dk1"/>
              </a:solidFill>
              <a:latin typeface="Calibri"/>
              <a:ea typeface="Calibri"/>
              <a:cs typeface="Calibri"/>
              <a:sym typeface="Calibri"/>
            </a:endParaRPr>
          </a:p>
        </p:txBody>
      </p:sp>
      <p:sp>
        <p:nvSpPr>
          <p:cNvPr id="76" name="Google Shape;76;p4"/>
          <p:cNvSpPr/>
          <p:nvPr/>
        </p:nvSpPr>
        <p:spPr>
          <a:xfrm>
            <a:off x="6199632" y="3703320"/>
            <a:ext cx="5440800" cy="1920300"/>
          </a:xfrm>
          <a:prstGeom prst="roundRect">
            <a:avLst>
              <a:gd name="adj" fmla="val 5714"/>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txBox="1"/>
          <p:nvPr/>
        </p:nvSpPr>
        <p:spPr>
          <a:xfrm>
            <a:off x="6382512" y="3703320"/>
            <a:ext cx="2286000" cy="1920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4800"/>
              <a:buFont typeface="Cambria"/>
              <a:buNone/>
            </a:pPr>
            <a:r>
              <a:rPr lang="en-US" sz="5400" b="1" i="0" u="none" strike="noStrike" cap="none" dirty="0">
                <a:solidFill>
                  <a:schemeClr val="accent2"/>
                </a:solidFill>
                <a:latin typeface="Cambria"/>
                <a:ea typeface="Cambria"/>
                <a:cs typeface="Cambria"/>
                <a:sym typeface="Cambria"/>
              </a:rPr>
              <a:t>97%</a:t>
            </a:r>
            <a:endParaRPr sz="5400" b="0" i="0" u="none" strike="noStrike" cap="none" dirty="0">
              <a:solidFill>
                <a:schemeClr val="dk1"/>
              </a:solidFill>
              <a:latin typeface="Calibri"/>
              <a:ea typeface="Calibri"/>
              <a:cs typeface="Calibri"/>
              <a:sym typeface="Calibri"/>
            </a:endParaRPr>
          </a:p>
        </p:txBody>
      </p:sp>
      <p:sp>
        <p:nvSpPr>
          <p:cNvPr id="78" name="Google Shape;78;p4"/>
          <p:cNvSpPr txBox="1"/>
          <p:nvPr/>
        </p:nvSpPr>
        <p:spPr>
          <a:xfrm>
            <a:off x="8252460" y="3794760"/>
            <a:ext cx="3250692" cy="1737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800"/>
              <a:buFont typeface="Calibri"/>
              <a:buNone/>
            </a:pPr>
            <a:r>
              <a:rPr lang="pl-PL" sz="2400" b="0" i="0" u="none" strike="noStrike" cap="none" dirty="0" smtClean="0">
                <a:solidFill>
                  <a:schemeClr val="dk1"/>
                </a:solidFill>
                <a:latin typeface="Calibri"/>
                <a:ea typeface="Calibri"/>
                <a:cs typeface="Calibri"/>
                <a:sym typeface="Calibri"/>
              </a:rPr>
              <a:t>spędza wolny czas najczęściej w domu </a:t>
            </a:r>
            <a:br>
              <a:rPr lang="pl-PL" sz="2400" b="0" i="0" u="none" strike="noStrike" cap="none" dirty="0" smtClean="0">
                <a:solidFill>
                  <a:schemeClr val="dk1"/>
                </a:solidFill>
                <a:latin typeface="Calibri"/>
                <a:ea typeface="Calibri"/>
                <a:cs typeface="Calibri"/>
                <a:sym typeface="Calibri"/>
              </a:rPr>
            </a:br>
            <a:r>
              <a:rPr lang="pl-PL" sz="2400" b="0" i="0" u="none" strike="noStrike" cap="none" dirty="0" smtClean="0">
                <a:solidFill>
                  <a:schemeClr val="dk1"/>
                </a:solidFill>
                <a:latin typeface="Calibri"/>
                <a:ea typeface="Calibri"/>
                <a:cs typeface="Calibri"/>
                <a:sym typeface="Calibri"/>
              </a:rPr>
              <a:t>(88% w grupie kontrolnej)</a:t>
            </a:r>
            <a:endParaRPr lang="pl-PL" sz="2400" b="0" i="0" u="none" strike="noStrike" cap="none" dirty="0">
              <a:solidFill>
                <a:schemeClr val="dk1"/>
              </a:solidFill>
              <a:latin typeface="Calibri"/>
              <a:ea typeface="Calibri"/>
              <a:cs typeface="Calibri"/>
              <a:sym typeface="Calibri"/>
            </a:endParaRPr>
          </a:p>
        </p:txBody>
      </p:sp>
      <p:sp>
        <p:nvSpPr>
          <p:cNvPr id="79" name="Google Shape;79;p4"/>
          <p:cNvSpPr txBox="1"/>
          <p:nvPr/>
        </p:nvSpPr>
        <p:spPr>
          <a:xfrm>
            <a:off x="148590" y="6309300"/>
            <a:ext cx="11091600" cy="4572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chemeClr val="accent5"/>
              </a:buClr>
              <a:buSzPts val="1200"/>
              <a:buFont typeface="Calibri"/>
              <a:buNone/>
            </a:pPr>
            <a:r>
              <a:rPr lang="en-US" sz="1200" b="0" i="0" u="none" strike="noStrike" cap="none" dirty="0" err="1">
                <a:solidFill>
                  <a:schemeClr val="bg1">
                    <a:lumMod val="75000"/>
                  </a:schemeClr>
                </a:solidFill>
                <a:latin typeface="Calibri"/>
                <a:ea typeface="Calibri"/>
                <a:cs typeface="Calibri"/>
                <a:sym typeface="Calibri"/>
              </a:rPr>
              <a:t>Źródło</a:t>
            </a:r>
            <a:r>
              <a:rPr lang="en-US" sz="1200" b="0" i="0" u="none" strike="noStrike" cap="none" dirty="0">
                <a:solidFill>
                  <a:schemeClr val="bg1">
                    <a:lumMod val="75000"/>
                  </a:schemeClr>
                </a:solidFill>
                <a:latin typeface="Calibri"/>
                <a:ea typeface="Calibri"/>
                <a:cs typeface="Calibri"/>
                <a:sym typeface="Calibri"/>
              </a:rPr>
              <a:t>: OSA (</a:t>
            </a:r>
            <a:r>
              <a:rPr lang="en-US" sz="1200" b="0" i="0" u="none" strike="noStrike" cap="none" dirty="0" err="1">
                <a:solidFill>
                  <a:schemeClr val="bg1">
                    <a:lumMod val="75000"/>
                  </a:schemeClr>
                </a:solidFill>
                <a:latin typeface="Calibri"/>
                <a:ea typeface="Calibri"/>
                <a:cs typeface="Calibri"/>
                <a:sym typeface="Calibri"/>
              </a:rPr>
              <a:t>Płatos</a:t>
            </a:r>
            <a:r>
              <a:rPr lang="en-US" sz="1200" b="0" i="0" u="none" strike="noStrike" cap="none" dirty="0">
                <a:solidFill>
                  <a:schemeClr val="bg1">
                    <a:lumMod val="75000"/>
                  </a:schemeClr>
                </a:solidFill>
                <a:latin typeface="Calibri"/>
                <a:ea typeface="Calibri"/>
                <a:cs typeface="Calibri"/>
                <a:sym typeface="Calibri"/>
              </a:rPr>
              <a:t>, 2016), </a:t>
            </a:r>
            <a:r>
              <a:rPr lang="en-US" sz="1200" b="0" i="0" u="none" strike="noStrike" cap="none" dirty="0" err="1">
                <a:solidFill>
                  <a:schemeClr val="bg1">
                    <a:lumMod val="75000"/>
                  </a:schemeClr>
                </a:solidFill>
                <a:latin typeface="Calibri"/>
                <a:ea typeface="Calibri"/>
                <a:cs typeface="Calibri"/>
                <a:sym typeface="Calibri"/>
              </a:rPr>
              <a:t>dane</a:t>
            </a:r>
            <a:r>
              <a:rPr lang="en-US" sz="1200" b="0" i="0" u="none" strike="noStrike" cap="none" dirty="0">
                <a:solidFill>
                  <a:schemeClr val="bg1">
                    <a:lumMod val="75000"/>
                  </a:schemeClr>
                </a:solidFill>
                <a:latin typeface="Calibri"/>
                <a:ea typeface="Calibri"/>
                <a:cs typeface="Calibri"/>
                <a:sym typeface="Calibri"/>
              </a:rPr>
              <a:t> z 2014 r.; </a:t>
            </a:r>
            <a:r>
              <a:rPr lang="en-US" sz="1200" b="0" i="0" u="none" strike="noStrike" cap="none" dirty="0" err="1">
                <a:solidFill>
                  <a:schemeClr val="bg1">
                    <a:lumMod val="75000"/>
                  </a:schemeClr>
                </a:solidFill>
                <a:latin typeface="Calibri"/>
                <a:ea typeface="Calibri"/>
                <a:cs typeface="Calibri"/>
                <a:sym typeface="Calibri"/>
              </a:rPr>
              <a:t>badani</a:t>
            </a:r>
            <a:r>
              <a:rPr lang="en-US" sz="1200" b="0" i="0" u="none" strike="noStrike" cap="none" dirty="0">
                <a:solidFill>
                  <a:schemeClr val="bg1">
                    <a:lumMod val="75000"/>
                  </a:schemeClr>
                </a:solidFill>
                <a:latin typeface="Calibri"/>
                <a:ea typeface="Calibri"/>
                <a:cs typeface="Calibri"/>
                <a:sym typeface="Calibri"/>
              </a:rPr>
              <a:t> w </a:t>
            </a:r>
            <a:r>
              <a:rPr lang="en-US" sz="1200" b="0" i="0" u="none" strike="noStrike" cap="none" dirty="0" err="1">
                <a:solidFill>
                  <a:schemeClr val="bg1">
                    <a:lumMod val="75000"/>
                  </a:schemeClr>
                </a:solidFill>
                <a:latin typeface="Calibri"/>
                <a:ea typeface="Calibri"/>
                <a:cs typeface="Calibri"/>
                <a:sym typeface="Calibri"/>
              </a:rPr>
              <a:t>wieku</a:t>
            </a:r>
            <a:r>
              <a:rPr lang="en-US" sz="1200" b="0" i="0" u="none" strike="noStrike" cap="none" dirty="0">
                <a:solidFill>
                  <a:schemeClr val="bg1">
                    <a:lumMod val="75000"/>
                  </a:schemeClr>
                </a:solidFill>
                <a:latin typeface="Calibri"/>
                <a:ea typeface="Calibri"/>
                <a:cs typeface="Calibri"/>
                <a:sym typeface="Calibri"/>
              </a:rPr>
              <a:t> 12 do 52 </a:t>
            </a:r>
            <a:r>
              <a:rPr lang="en-US" sz="1200" b="0" i="0" u="none" strike="noStrike" cap="none" dirty="0" err="1">
                <a:solidFill>
                  <a:schemeClr val="bg1">
                    <a:lumMod val="75000"/>
                  </a:schemeClr>
                </a:solidFill>
                <a:latin typeface="Calibri"/>
                <a:ea typeface="Calibri"/>
                <a:cs typeface="Calibri"/>
                <a:sym typeface="Calibri"/>
              </a:rPr>
              <a:t>lat</a:t>
            </a:r>
            <a:r>
              <a:rPr lang="en-US" sz="1200" b="0" i="0" u="none" strike="noStrike" cap="none" dirty="0">
                <a:solidFill>
                  <a:schemeClr val="bg1">
                    <a:lumMod val="75000"/>
                  </a:schemeClr>
                </a:solidFill>
                <a:latin typeface="Calibri"/>
                <a:ea typeface="Calibri"/>
                <a:cs typeface="Calibri"/>
                <a:sym typeface="Calibri"/>
              </a:rPr>
              <a:t>, N od 116 do 128. </a:t>
            </a:r>
            <a:endParaRPr sz="1200" b="0" i="0" u="none" strike="noStrike" cap="none" dirty="0">
              <a:solidFill>
                <a:schemeClr val="bg1">
                  <a:lumMod val="75000"/>
                </a:schemeClr>
              </a:solidFill>
              <a:latin typeface="Calibri"/>
              <a:ea typeface="Calibri"/>
              <a:cs typeface="Calibri"/>
              <a:sym typeface="Calibri"/>
            </a:endParaRPr>
          </a:p>
        </p:txBody>
      </p:sp>
      <p:sp>
        <p:nvSpPr>
          <p:cNvPr id="80" name="Google Shape;80;p4"/>
          <p:cNvSpPr txBox="1">
            <a:spLocks noGrp="1"/>
          </p:cNvSpPr>
          <p:nvPr>
            <p:ph type="sldNum" idx="4294967295"/>
          </p:nvPr>
        </p:nvSpPr>
        <p:spPr>
          <a:xfrm>
            <a:off x="11064240" y="6400800"/>
            <a:ext cx="5760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accent5"/>
                </a:solidFill>
                <a:latin typeface="Calibri"/>
                <a:ea typeface="Calibri"/>
                <a:cs typeface="Calibri"/>
                <a:sym typeface="Calibri"/>
              </a:rPr>
              <a:t>9</a:t>
            </a:fld>
            <a:endParaRPr sz="1200" b="0" i="0" u="none" strike="noStrike" cap="none">
              <a:solidFill>
                <a:schemeClr val="accent5"/>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5"/>
          <p:cNvSpPr txBox="1">
            <a:spLocks noGrp="1"/>
          </p:cNvSpPr>
          <p:nvPr>
            <p:ph type="title" idx="100"/>
          </p:nvPr>
        </p:nvSpPr>
        <p:spPr>
          <a:xfrm>
            <a:off x="548640" y="320040"/>
            <a:ext cx="11091600" cy="105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000"/>
              <a:buFont typeface="Cambria"/>
              <a:buNone/>
            </a:pPr>
            <a:r>
              <a:rPr lang="pl-PL" sz="2800" b="1" dirty="0" smtClean="0">
                <a:solidFill>
                  <a:srgbClr val="12484F"/>
                </a:solidFill>
              </a:rPr>
              <a:t>Brak rozpoznania może opóźniać pomoc i zrozumienie własnych trudności</a:t>
            </a:r>
            <a:endParaRPr lang="pl-PL" sz="2800" dirty="0"/>
          </a:p>
        </p:txBody>
      </p:sp>
      <p:sp>
        <p:nvSpPr>
          <p:cNvPr id="87" name="Google Shape;87;p5"/>
          <p:cNvSpPr txBox="1">
            <a:spLocks noGrp="1"/>
          </p:cNvSpPr>
          <p:nvPr>
            <p:ph type="sldNum" idx="4294967295"/>
          </p:nvPr>
        </p:nvSpPr>
        <p:spPr>
          <a:xfrm>
            <a:off x="11064240" y="6400800"/>
            <a:ext cx="5760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accent5"/>
                </a:solidFill>
                <a:latin typeface="Calibri"/>
                <a:ea typeface="Calibri"/>
                <a:cs typeface="Calibri"/>
                <a:sym typeface="Calibri"/>
              </a:rPr>
              <a:t>10</a:t>
            </a:fld>
            <a:endParaRPr sz="1200" b="0" i="0" u="none" strike="noStrike" cap="none">
              <a:solidFill>
                <a:schemeClr val="accent5"/>
              </a:solidFill>
              <a:latin typeface="Calibri"/>
              <a:ea typeface="Calibri"/>
              <a:cs typeface="Calibri"/>
              <a:sym typeface="Calibri"/>
            </a:endParaRPr>
          </a:p>
        </p:txBody>
      </p:sp>
      <p:sp>
        <p:nvSpPr>
          <p:cNvPr id="88" name="Rounded Rectangle 87"/>
          <p:cNvSpPr/>
          <p:nvPr/>
        </p:nvSpPr>
        <p:spPr>
          <a:xfrm>
            <a:off x="548640" y="1581912"/>
            <a:ext cx="3520440" cy="3374136"/>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ounded Rectangle 88"/>
          <p:cNvSpPr/>
          <p:nvPr/>
        </p:nvSpPr>
        <p:spPr>
          <a:xfrm>
            <a:off x="731520" y="1671758"/>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731520" y="1773936"/>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1</a:t>
            </a:r>
          </a:p>
        </p:txBody>
      </p:sp>
      <p:sp>
        <p:nvSpPr>
          <p:cNvPr id="91" name="TextBox 90"/>
          <p:cNvSpPr txBox="1"/>
          <p:nvPr/>
        </p:nvSpPr>
        <p:spPr>
          <a:xfrm>
            <a:off x="1417319" y="1773936"/>
            <a:ext cx="2441448" cy="548640"/>
          </a:xfrm>
          <a:prstGeom prst="rect">
            <a:avLst/>
          </a:prstGeom>
          <a:noFill/>
        </p:spPr>
        <p:txBody>
          <a:bodyPr wrap="square" lIns="0" tIns="0" rIns="0" bIns="0" anchor="t">
            <a:noAutofit/>
          </a:bodyPr>
          <a:lstStyle/>
          <a:p>
            <a:pPr algn="l">
              <a:lnSpc>
                <a:spcPct val="103000"/>
              </a:lnSpc>
              <a:spcBef>
                <a:spcPts val="0"/>
              </a:spcBef>
              <a:spcAft>
                <a:spcPts val="0"/>
              </a:spcAft>
            </a:pPr>
            <a:r>
              <a:rPr lang="pl-PL" sz="2300" b="1" dirty="0" smtClean="0">
                <a:solidFill>
                  <a:srgbClr val="12484F"/>
                </a:solidFill>
                <a:latin typeface="Calibri"/>
              </a:rPr>
              <a:t>Brak wyjaśnienia</a:t>
            </a:r>
            <a:endParaRPr lang="pl-PL" sz="2300" b="1" dirty="0">
              <a:solidFill>
                <a:srgbClr val="12484F"/>
              </a:solidFill>
              <a:latin typeface="Calibri"/>
            </a:endParaRPr>
          </a:p>
        </p:txBody>
      </p:sp>
      <p:sp>
        <p:nvSpPr>
          <p:cNvPr id="92" name="TextBox 91"/>
          <p:cNvSpPr txBox="1"/>
          <p:nvPr/>
        </p:nvSpPr>
        <p:spPr>
          <a:xfrm>
            <a:off x="749808" y="2532888"/>
            <a:ext cx="3108959" cy="2258568"/>
          </a:xfrm>
          <a:prstGeom prst="rect">
            <a:avLst/>
          </a:prstGeom>
          <a:noFill/>
        </p:spPr>
        <p:txBody>
          <a:bodyPr wrap="square" lIns="0" tIns="0" rIns="0" bIns="0" anchor="t">
            <a:noAutofit/>
          </a:bodyPr>
          <a:lstStyle/>
          <a:p>
            <a:pPr algn="l">
              <a:lnSpc>
                <a:spcPct val="103000"/>
              </a:lnSpc>
              <a:spcBef>
                <a:spcPts val="0"/>
              </a:spcBef>
              <a:spcAft>
                <a:spcPts val="0"/>
              </a:spcAft>
            </a:pPr>
            <a:r>
              <a:rPr lang="pl-PL" sz="2200" b="0" dirty="0" smtClean="0">
                <a:solidFill>
                  <a:srgbClr val="1F2D30"/>
                </a:solidFill>
                <a:latin typeface="Calibri"/>
              </a:rPr>
              <a:t>Trudności bywają przypisywane „lenistwu”, niechęci lub cechom charakteru, zamiast być oceniane klinicznie</a:t>
            </a:r>
            <a:endParaRPr lang="pl-PL" sz="2200" b="0" dirty="0">
              <a:solidFill>
                <a:srgbClr val="1F2D30"/>
              </a:solidFill>
              <a:latin typeface="Calibri"/>
            </a:endParaRPr>
          </a:p>
        </p:txBody>
      </p:sp>
      <p:sp>
        <p:nvSpPr>
          <p:cNvPr id="93" name="Rounded Rectangle 92"/>
          <p:cNvSpPr/>
          <p:nvPr/>
        </p:nvSpPr>
        <p:spPr>
          <a:xfrm>
            <a:off x="4334256" y="1581912"/>
            <a:ext cx="3520440" cy="3374136"/>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ounded Rectangle 93"/>
          <p:cNvSpPr/>
          <p:nvPr/>
        </p:nvSpPr>
        <p:spPr>
          <a:xfrm>
            <a:off x="4517136" y="1671758"/>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4517136" y="1773936"/>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2</a:t>
            </a:r>
          </a:p>
        </p:txBody>
      </p:sp>
      <p:sp>
        <p:nvSpPr>
          <p:cNvPr id="96" name="TextBox 95"/>
          <p:cNvSpPr txBox="1"/>
          <p:nvPr/>
        </p:nvSpPr>
        <p:spPr>
          <a:xfrm>
            <a:off x="5144213" y="1757158"/>
            <a:ext cx="2565270" cy="548640"/>
          </a:xfrm>
          <a:prstGeom prst="rect">
            <a:avLst/>
          </a:prstGeom>
          <a:noFill/>
        </p:spPr>
        <p:txBody>
          <a:bodyPr wrap="square" lIns="0" tIns="0" rIns="0" bIns="0" anchor="t">
            <a:noAutofit/>
          </a:bodyPr>
          <a:lstStyle/>
          <a:p>
            <a:pPr algn="l">
              <a:lnSpc>
                <a:spcPct val="103000"/>
              </a:lnSpc>
              <a:spcBef>
                <a:spcPts val="0"/>
              </a:spcBef>
              <a:spcAft>
                <a:spcPts val="0"/>
              </a:spcAft>
            </a:pPr>
            <a:r>
              <a:rPr lang="pl-PL" sz="2300" b="1" dirty="0" smtClean="0">
                <a:solidFill>
                  <a:srgbClr val="12484F"/>
                </a:solidFill>
                <a:latin typeface="Calibri"/>
              </a:rPr>
              <a:t>Opóźnione wsparcie</a:t>
            </a:r>
            <a:endParaRPr lang="pl-PL" sz="2300" b="1" dirty="0">
              <a:solidFill>
                <a:srgbClr val="12484F"/>
              </a:solidFill>
              <a:latin typeface="Calibri"/>
            </a:endParaRPr>
          </a:p>
        </p:txBody>
      </p:sp>
      <p:sp>
        <p:nvSpPr>
          <p:cNvPr id="97" name="TextBox 96"/>
          <p:cNvSpPr txBox="1"/>
          <p:nvPr/>
        </p:nvSpPr>
        <p:spPr>
          <a:xfrm>
            <a:off x="4535423" y="2532888"/>
            <a:ext cx="3174059" cy="2258568"/>
          </a:xfrm>
          <a:prstGeom prst="rect">
            <a:avLst/>
          </a:prstGeom>
          <a:noFill/>
        </p:spPr>
        <p:txBody>
          <a:bodyPr wrap="square" lIns="0" tIns="0" rIns="0" bIns="0" anchor="t">
            <a:noAutofit/>
          </a:bodyPr>
          <a:lstStyle/>
          <a:p>
            <a:pPr algn="l">
              <a:lnSpc>
                <a:spcPct val="103000"/>
              </a:lnSpc>
              <a:spcBef>
                <a:spcPts val="0"/>
              </a:spcBef>
              <a:spcAft>
                <a:spcPts val="0"/>
              </a:spcAft>
            </a:pPr>
            <a:r>
              <a:rPr lang="pl-PL" sz="2200" b="0" dirty="0" smtClean="0">
                <a:solidFill>
                  <a:srgbClr val="1F2D30"/>
                </a:solidFill>
                <a:latin typeface="Calibri"/>
              </a:rPr>
              <a:t>Osoba późno diagnozowana może przez lata nie otrzymywać dostosowań </a:t>
            </a:r>
          </a:p>
          <a:p>
            <a:pPr algn="l">
              <a:lnSpc>
                <a:spcPct val="103000"/>
              </a:lnSpc>
              <a:spcBef>
                <a:spcPts val="0"/>
              </a:spcBef>
              <a:spcAft>
                <a:spcPts val="0"/>
              </a:spcAft>
            </a:pPr>
            <a:r>
              <a:rPr lang="pl-PL" sz="2200" b="0" dirty="0" smtClean="0">
                <a:solidFill>
                  <a:srgbClr val="1F2D30"/>
                </a:solidFill>
                <a:latin typeface="Calibri"/>
              </a:rPr>
              <a:t>w edukacji, pracy i opiece zdrowotnej</a:t>
            </a:r>
            <a:endParaRPr lang="pl-PL" sz="2200" b="0" dirty="0">
              <a:solidFill>
                <a:srgbClr val="1F2D30"/>
              </a:solidFill>
              <a:latin typeface="Calibri"/>
            </a:endParaRPr>
          </a:p>
        </p:txBody>
      </p:sp>
      <p:sp>
        <p:nvSpPr>
          <p:cNvPr id="98" name="Rounded Rectangle 97"/>
          <p:cNvSpPr/>
          <p:nvPr/>
        </p:nvSpPr>
        <p:spPr>
          <a:xfrm>
            <a:off x="8119871" y="1581912"/>
            <a:ext cx="3675049" cy="3374136"/>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ounded Rectangle 98"/>
          <p:cNvSpPr/>
          <p:nvPr/>
        </p:nvSpPr>
        <p:spPr>
          <a:xfrm>
            <a:off x="8302752" y="1671758"/>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8302752" y="1773936"/>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3</a:t>
            </a:r>
          </a:p>
        </p:txBody>
      </p:sp>
      <p:sp>
        <p:nvSpPr>
          <p:cNvPr id="101" name="TextBox 100"/>
          <p:cNvSpPr txBox="1"/>
          <p:nvPr/>
        </p:nvSpPr>
        <p:spPr>
          <a:xfrm>
            <a:off x="8862716" y="1748769"/>
            <a:ext cx="2739257" cy="548640"/>
          </a:xfrm>
          <a:prstGeom prst="rect">
            <a:avLst/>
          </a:prstGeom>
          <a:noFill/>
        </p:spPr>
        <p:txBody>
          <a:bodyPr wrap="square" lIns="0" tIns="0" rIns="0" bIns="0" anchor="t">
            <a:noAutofit/>
          </a:bodyPr>
          <a:lstStyle/>
          <a:p>
            <a:pPr algn="l">
              <a:lnSpc>
                <a:spcPct val="103000"/>
              </a:lnSpc>
              <a:spcBef>
                <a:spcPts val="0"/>
              </a:spcBef>
              <a:spcAft>
                <a:spcPts val="0"/>
              </a:spcAft>
            </a:pPr>
            <a:r>
              <a:rPr lang="pl-PL" sz="2300" b="1" dirty="0" smtClean="0">
                <a:solidFill>
                  <a:srgbClr val="12484F"/>
                </a:solidFill>
                <a:latin typeface="Calibri"/>
              </a:rPr>
              <a:t>Diagnoza w dorosłości</a:t>
            </a:r>
            <a:endParaRPr lang="pl-PL" sz="2300" b="1" dirty="0">
              <a:solidFill>
                <a:srgbClr val="12484F"/>
              </a:solidFill>
              <a:latin typeface="Calibri"/>
            </a:endParaRPr>
          </a:p>
        </p:txBody>
      </p:sp>
      <p:sp>
        <p:nvSpPr>
          <p:cNvPr id="102" name="TextBox 101"/>
          <p:cNvSpPr txBox="1"/>
          <p:nvPr/>
        </p:nvSpPr>
        <p:spPr>
          <a:xfrm>
            <a:off x="8321040" y="2532888"/>
            <a:ext cx="3163488" cy="2258568"/>
          </a:xfrm>
          <a:prstGeom prst="rect">
            <a:avLst/>
          </a:prstGeom>
          <a:noFill/>
        </p:spPr>
        <p:txBody>
          <a:bodyPr wrap="square" lIns="0" tIns="0" rIns="0" bIns="0" anchor="t">
            <a:noAutofit/>
          </a:bodyPr>
          <a:lstStyle/>
          <a:p>
            <a:pPr algn="l">
              <a:lnSpc>
                <a:spcPct val="103000"/>
              </a:lnSpc>
              <a:spcBef>
                <a:spcPts val="0"/>
              </a:spcBef>
              <a:spcAft>
                <a:spcPts val="0"/>
              </a:spcAft>
            </a:pPr>
            <a:r>
              <a:rPr lang="pl-PL" sz="2200" b="0" dirty="0" smtClean="0">
                <a:solidFill>
                  <a:srgbClr val="1F2D30"/>
                </a:solidFill>
                <a:latin typeface="Calibri"/>
              </a:rPr>
              <a:t>Dla części dorosłych rozpoznanie daje ramy do zrozumienia doświadczeń </a:t>
            </a:r>
            <a:br>
              <a:rPr lang="pl-PL" sz="2200" b="0" dirty="0" smtClean="0">
                <a:solidFill>
                  <a:srgbClr val="1F2D30"/>
                </a:solidFill>
                <a:latin typeface="Calibri"/>
              </a:rPr>
            </a:br>
            <a:r>
              <a:rPr lang="pl-PL" sz="2200" b="0" dirty="0" smtClean="0">
                <a:solidFill>
                  <a:srgbClr val="1F2D30"/>
                </a:solidFill>
                <a:latin typeface="Calibri"/>
              </a:rPr>
              <a:t>i wyboru strategii wsparcia</a:t>
            </a:r>
            <a:endParaRPr lang="pl-PL" sz="2200" b="0" dirty="0">
              <a:solidFill>
                <a:srgbClr val="1F2D30"/>
              </a:solidFill>
              <a:latin typeface="Calibri"/>
            </a:endParaRPr>
          </a:p>
        </p:txBody>
      </p:sp>
      <p:sp>
        <p:nvSpPr>
          <p:cNvPr id="103" name="Rounded Rectangle 102"/>
          <p:cNvSpPr/>
          <p:nvPr/>
        </p:nvSpPr>
        <p:spPr>
          <a:xfrm>
            <a:off x="548640" y="5166360"/>
            <a:ext cx="11091672" cy="896112"/>
          </a:xfrm>
          <a:prstGeom prst="roundRect">
            <a:avLst>
              <a:gd name="adj" fmla="val 12000"/>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786384" y="5276088"/>
            <a:ext cx="1931649" cy="713232"/>
          </a:xfrm>
          <a:prstGeom prst="rect">
            <a:avLst/>
          </a:prstGeom>
          <a:noFill/>
        </p:spPr>
        <p:txBody>
          <a:bodyPr wrap="square" lIns="0" tIns="0" rIns="0" bIns="0" anchor="ctr">
            <a:noAutofit/>
          </a:bodyPr>
          <a:lstStyle/>
          <a:p>
            <a:pPr algn="l">
              <a:lnSpc>
                <a:spcPct val="103000"/>
              </a:lnSpc>
              <a:spcBef>
                <a:spcPts val="0"/>
              </a:spcBef>
              <a:spcAft>
                <a:spcPts val="0"/>
              </a:spcAft>
            </a:pPr>
            <a:r>
              <a:rPr lang="pl-PL" sz="2400" b="1" dirty="0" smtClean="0">
                <a:solidFill>
                  <a:srgbClr val="FFFFFF"/>
                </a:solidFill>
                <a:latin typeface="Calibri"/>
              </a:rPr>
              <a:t>Nie tylko etykieta</a:t>
            </a:r>
            <a:endParaRPr lang="pl-PL" sz="2400" b="1" dirty="0">
              <a:solidFill>
                <a:srgbClr val="FFFFFF"/>
              </a:solidFill>
              <a:latin typeface="Calibri"/>
            </a:endParaRPr>
          </a:p>
        </p:txBody>
      </p:sp>
      <p:sp>
        <p:nvSpPr>
          <p:cNvPr id="105" name="TextBox 104"/>
          <p:cNvSpPr txBox="1"/>
          <p:nvPr/>
        </p:nvSpPr>
        <p:spPr>
          <a:xfrm>
            <a:off x="2315361" y="5191527"/>
            <a:ext cx="9068919" cy="806937"/>
          </a:xfrm>
          <a:prstGeom prst="rect">
            <a:avLst/>
          </a:prstGeom>
          <a:noFill/>
        </p:spPr>
        <p:txBody>
          <a:bodyPr wrap="square" lIns="0" tIns="0" rIns="0" bIns="0" anchor="ctr">
            <a:noAutofit/>
          </a:bodyPr>
          <a:lstStyle/>
          <a:p>
            <a:pPr algn="l">
              <a:lnSpc>
                <a:spcPct val="103000"/>
              </a:lnSpc>
              <a:spcBef>
                <a:spcPts val="0"/>
              </a:spcBef>
              <a:spcAft>
                <a:spcPts val="0"/>
              </a:spcAft>
            </a:pPr>
            <a:r>
              <a:rPr lang="pl-PL" sz="2400" b="0" dirty="0" smtClean="0">
                <a:solidFill>
                  <a:srgbClr val="FFFFFF"/>
                </a:solidFill>
                <a:latin typeface="Calibri"/>
              </a:rPr>
              <a:t>Ocena potrzeb i pomoc nie powinny czekać na zakończenie diagnostyki</a:t>
            </a:r>
            <a:endParaRPr lang="pl-PL" sz="2400" b="0" dirty="0">
              <a:solidFill>
                <a:srgbClr val="FFFFFF"/>
              </a:solidFill>
              <a:latin typeface="Calibri"/>
            </a:endParaRPr>
          </a:p>
        </p:txBody>
      </p:sp>
      <p:sp>
        <p:nvSpPr>
          <p:cNvPr id="106" name="TextBox 105"/>
          <p:cNvSpPr txBox="1"/>
          <p:nvPr/>
        </p:nvSpPr>
        <p:spPr>
          <a:xfrm>
            <a:off x="137915" y="6460362"/>
            <a:ext cx="5205872" cy="310896"/>
          </a:xfrm>
          <a:prstGeom prst="rect">
            <a:avLst/>
          </a:prstGeom>
          <a:noFill/>
        </p:spPr>
        <p:txBody>
          <a:bodyPr wrap="square" lIns="0" tIns="0" rIns="0" bIns="0" anchor="b">
            <a:noAutofit/>
          </a:bodyPr>
          <a:lstStyle/>
          <a:p>
            <a:pPr algn="l">
              <a:lnSpc>
                <a:spcPct val="103000"/>
              </a:lnSpc>
              <a:spcBef>
                <a:spcPts val="0"/>
              </a:spcBef>
              <a:spcAft>
                <a:spcPts val="0"/>
              </a:spcAft>
            </a:pPr>
            <a:r>
              <a:rPr sz="1100" b="0" dirty="0" err="1">
                <a:solidFill>
                  <a:schemeClr val="bg1">
                    <a:lumMod val="65000"/>
                  </a:schemeClr>
                </a:solidFill>
                <a:latin typeface="Calibri"/>
              </a:rPr>
              <a:t>Źródła</a:t>
            </a:r>
            <a:r>
              <a:rPr sz="1100" b="0" dirty="0">
                <a:solidFill>
                  <a:schemeClr val="bg1">
                    <a:lumMod val="65000"/>
                  </a:schemeClr>
                </a:solidFill>
                <a:latin typeface="Calibri"/>
              </a:rPr>
              <a:t>: </a:t>
            </a:r>
            <a:r>
              <a:rPr sz="1100" b="0" dirty="0" err="1">
                <a:solidFill>
                  <a:schemeClr val="bg1">
                    <a:lumMod val="65000"/>
                  </a:schemeClr>
                </a:solidFill>
                <a:latin typeface="Calibri"/>
              </a:rPr>
              <a:t>Lupindo</a:t>
            </a:r>
            <a:r>
              <a:rPr sz="1100" b="0" dirty="0">
                <a:solidFill>
                  <a:schemeClr val="bg1">
                    <a:lumMod val="65000"/>
                  </a:schemeClr>
                </a:solidFill>
                <a:latin typeface="Calibri"/>
              </a:rPr>
              <a:t> </a:t>
            </a:r>
            <a:r>
              <a:rPr sz="1100" b="0" dirty="0" err="1">
                <a:solidFill>
                  <a:schemeClr val="bg1">
                    <a:lumMod val="65000"/>
                  </a:schemeClr>
                </a:solidFill>
                <a:latin typeface="Calibri"/>
              </a:rPr>
              <a:t>i</a:t>
            </a:r>
            <a:r>
              <a:rPr sz="1100" b="0" dirty="0">
                <a:solidFill>
                  <a:schemeClr val="bg1">
                    <a:lumMod val="65000"/>
                  </a:schemeClr>
                </a:solidFill>
                <a:latin typeface="Calibri"/>
              </a:rPr>
              <a:t> in. (2022); NICE CG142 (2021); DHSC (2026). </a:t>
            </a:r>
            <a:r>
              <a:rPr lang="pl-PL" sz="1100" b="0" dirty="0" smtClean="0">
                <a:solidFill>
                  <a:schemeClr val="bg1">
                    <a:lumMod val="65000"/>
                  </a:schemeClr>
                </a:solidFill>
                <a:latin typeface="Calibri"/>
              </a:rPr>
              <a:t>Badanie jakościowe: n = 10</a:t>
            </a:r>
            <a:endParaRPr lang="pl-PL" sz="1100" b="0" dirty="0">
              <a:solidFill>
                <a:schemeClr val="bg1">
                  <a:lumMod val="65000"/>
                </a:schemeClr>
              </a:solidFill>
              <a:latin typeface="Calibri"/>
            </a:endParaRPr>
          </a:p>
        </p:txBody>
      </p:sp>
    </p:spTree>
    <p:extLst>
      <p:ext uri="{BB962C8B-B14F-4D97-AF65-F5344CB8AC3E}">
        <p14:creationId xmlns:p14="http://schemas.microsoft.com/office/powerpoint/2010/main" val="1802458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6"/>
          <p:cNvSpPr txBox="1">
            <a:spLocks noGrp="1"/>
          </p:cNvSpPr>
          <p:nvPr>
            <p:ph type="title" idx="100"/>
          </p:nvPr>
        </p:nvSpPr>
        <p:spPr>
          <a:xfrm>
            <a:off x="548640" y="342019"/>
            <a:ext cx="11833510" cy="69502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000"/>
              <a:buFont typeface="Cambria"/>
              <a:buNone/>
            </a:pPr>
            <a:r>
              <a:rPr lang="pl-PL" sz="2800" b="1" dirty="0" smtClean="0">
                <a:solidFill>
                  <a:srgbClr val="12484F"/>
                </a:solidFill>
              </a:rPr>
              <a:t>Wzrost rozpoznań nie dowodzi, że autyzm jest </a:t>
            </a:r>
            <a:r>
              <a:rPr lang="pl-PL" sz="2800" b="1" dirty="0" err="1" smtClean="0">
                <a:solidFill>
                  <a:srgbClr val="12484F"/>
                </a:solidFill>
              </a:rPr>
              <a:t>naddiagnozowany</a:t>
            </a:r>
            <a:endParaRPr lang="pl-PL" sz="2800" dirty="0"/>
          </a:p>
        </p:txBody>
      </p:sp>
      <p:sp>
        <p:nvSpPr>
          <p:cNvPr id="94" name="Google Shape;94;p6"/>
          <p:cNvSpPr txBox="1">
            <a:spLocks noGrp="1"/>
          </p:cNvSpPr>
          <p:nvPr>
            <p:ph type="sldNum" idx="4294967295"/>
          </p:nvPr>
        </p:nvSpPr>
        <p:spPr>
          <a:xfrm>
            <a:off x="11064240" y="6400800"/>
            <a:ext cx="5760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accent5"/>
                </a:solidFill>
                <a:latin typeface="Calibri"/>
                <a:ea typeface="Calibri"/>
                <a:cs typeface="Calibri"/>
                <a:sym typeface="Calibri"/>
              </a:rPr>
              <a:t>11</a:t>
            </a:fld>
            <a:endParaRPr sz="1200" b="0" i="0" u="none" strike="noStrike" cap="none">
              <a:solidFill>
                <a:schemeClr val="accent5"/>
              </a:solidFill>
              <a:latin typeface="Calibri"/>
              <a:ea typeface="Calibri"/>
              <a:cs typeface="Calibri"/>
              <a:sym typeface="Calibri"/>
            </a:endParaRPr>
          </a:p>
        </p:txBody>
      </p:sp>
      <p:sp>
        <p:nvSpPr>
          <p:cNvPr id="95" name="Rounded Rectangle 94"/>
          <p:cNvSpPr/>
          <p:nvPr/>
        </p:nvSpPr>
        <p:spPr>
          <a:xfrm>
            <a:off x="548640" y="1572768"/>
            <a:ext cx="3520440" cy="3374136"/>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ounded Rectangle 95"/>
          <p:cNvSpPr/>
          <p:nvPr/>
        </p:nvSpPr>
        <p:spPr>
          <a:xfrm>
            <a:off x="731520" y="1679392"/>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731520" y="1764792"/>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1</a:t>
            </a:r>
          </a:p>
        </p:txBody>
      </p:sp>
      <p:sp>
        <p:nvSpPr>
          <p:cNvPr id="98" name="TextBox 97"/>
          <p:cNvSpPr txBox="1"/>
          <p:nvPr/>
        </p:nvSpPr>
        <p:spPr>
          <a:xfrm>
            <a:off x="1417319" y="1764792"/>
            <a:ext cx="2441448" cy="548640"/>
          </a:xfrm>
          <a:prstGeom prst="rect">
            <a:avLst/>
          </a:prstGeom>
          <a:noFill/>
        </p:spPr>
        <p:txBody>
          <a:bodyPr wrap="square" lIns="0" tIns="0" rIns="0" bIns="0" anchor="t">
            <a:noAutofit/>
          </a:bodyPr>
          <a:lstStyle/>
          <a:p>
            <a:pPr algn="l">
              <a:lnSpc>
                <a:spcPct val="103000"/>
              </a:lnSpc>
              <a:spcBef>
                <a:spcPts val="0"/>
              </a:spcBef>
              <a:spcAft>
                <a:spcPts val="0"/>
              </a:spcAft>
            </a:pPr>
            <a:r>
              <a:rPr lang="pl-PL" sz="2000" b="1" dirty="0" err="1" smtClean="0">
                <a:solidFill>
                  <a:srgbClr val="12484F"/>
                </a:solidFill>
                <a:latin typeface="Calibri"/>
              </a:rPr>
              <a:t>Niedodiagnozowanie</a:t>
            </a:r>
            <a:endParaRPr lang="pl-PL" sz="2000" b="1" dirty="0">
              <a:solidFill>
                <a:srgbClr val="12484F"/>
              </a:solidFill>
              <a:latin typeface="Calibri"/>
            </a:endParaRPr>
          </a:p>
        </p:txBody>
      </p:sp>
      <p:sp>
        <p:nvSpPr>
          <p:cNvPr id="99" name="TextBox 98"/>
          <p:cNvSpPr txBox="1"/>
          <p:nvPr/>
        </p:nvSpPr>
        <p:spPr>
          <a:xfrm>
            <a:off x="749808" y="2523744"/>
            <a:ext cx="3118104" cy="2258568"/>
          </a:xfrm>
          <a:prstGeom prst="rect">
            <a:avLst/>
          </a:prstGeom>
          <a:noFill/>
        </p:spPr>
        <p:txBody>
          <a:bodyPr wrap="square" lIns="0" tIns="0" rIns="0" bIns="0" anchor="t">
            <a:noAutofit/>
          </a:bodyPr>
          <a:lstStyle/>
          <a:p>
            <a:pPr algn="l">
              <a:lnSpc>
                <a:spcPct val="103000"/>
              </a:lnSpc>
              <a:spcBef>
                <a:spcPts val="0"/>
              </a:spcBef>
              <a:spcAft>
                <a:spcPts val="0"/>
              </a:spcAft>
            </a:pPr>
            <a:r>
              <a:rPr lang="pl-PL" sz="2300" b="0" dirty="0" smtClean="0">
                <a:solidFill>
                  <a:srgbClr val="1F2D30"/>
                </a:solidFill>
                <a:latin typeface="Calibri"/>
              </a:rPr>
              <a:t>Osoba spełnia kryteria ASD, ale nie otrzymuje rozpoznania; jej potrzeby mogą pozostać niezauważone.</a:t>
            </a:r>
            <a:endParaRPr lang="pl-PL" sz="2300" b="0" dirty="0">
              <a:solidFill>
                <a:srgbClr val="1F2D30"/>
              </a:solidFill>
              <a:latin typeface="Calibri"/>
            </a:endParaRPr>
          </a:p>
        </p:txBody>
      </p:sp>
      <p:sp>
        <p:nvSpPr>
          <p:cNvPr id="100" name="Rounded Rectangle 99"/>
          <p:cNvSpPr/>
          <p:nvPr/>
        </p:nvSpPr>
        <p:spPr>
          <a:xfrm>
            <a:off x="4334256" y="1572768"/>
            <a:ext cx="3520440" cy="3374136"/>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ounded Rectangle 100"/>
          <p:cNvSpPr/>
          <p:nvPr/>
        </p:nvSpPr>
        <p:spPr>
          <a:xfrm>
            <a:off x="4517136" y="1679392"/>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4517136" y="1764792"/>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2</a:t>
            </a:r>
          </a:p>
        </p:txBody>
      </p:sp>
      <p:sp>
        <p:nvSpPr>
          <p:cNvPr id="103" name="TextBox 102"/>
          <p:cNvSpPr txBox="1"/>
          <p:nvPr/>
        </p:nvSpPr>
        <p:spPr>
          <a:xfrm>
            <a:off x="5202936" y="1764792"/>
            <a:ext cx="2441448" cy="548640"/>
          </a:xfrm>
          <a:prstGeom prst="rect">
            <a:avLst/>
          </a:prstGeom>
          <a:noFill/>
        </p:spPr>
        <p:txBody>
          <a:bodyPr wrap="square" lIns="0" tIns="0" rIns="0" bIns="0" anchor="t">
            <a:noAutofit/>
          </a:bodyPr>
          <a:lstStyle/>
          <a:p>
            <a:pPr algn="l">
              <a:lnSpc>
                <a:spcPct val="103000"/>
              </a:lnSpc>
              <a:spcBef>
                <a:spcPts val="0"/>
              </a:spcBef>
              <a:spcAft>
                <a:spcPts val="0"/>
              </a:spcAft>
            </a:pPr>
            <a:r>
              <a:rPr lang="pl-PL" sz="2000" b="1" dirty="0" smtClean="0">
                <a:solidFill>
                  <a:srgbClr val="12484F"/>
                </a:solidFill>
                <a:latin typeface="Calibri"/>
              </a:rPr>
              <a:t>Błędna diagnoza</a:t>
            </a:r>
            <a:endParaRPr lang="pl-PL" sz="2000" b="1" dirty="0">
              <a:solidFill>
                <a:srgbClr val="12484F"/>
              </a:solidFill>
              <a:latin typeface="Calibri"/>
            </a:endParaRPr>
          </a:p>
        </p:txBody>
      </p:sp>
      <p:sp>
        <p:nvSpPr>
          <p:cNvPr id="104" name="TextBox 103"/>
          <p:cNvSpPr txBox="1"/>
          <p:nvPr/>
        </p:nvSpPr>
        <p:spPr>
          <a:xfrm>
            <a:off x="4434756" y="2523744"/>
            <a:ext cx="3483948" cy="2258568"/>
          </a:xfrm>
          <a:prstGeom prst="rect">
            <a:avLst/>
          </a:prstGeom>
          <a:noFill/>
        </p:spPr>
        <p:txBody>
          <a:bodyPr wrap="square" lIns="0" tIns="0" rIns="0" bIns="0" anchor="t">
            <a:noAutofit/>
          </a:bodyPr>
          <a:lstStyle/>
          <a:p>
            <a:pPr algn="l">
              <a:lnSpc>
                <a:spcPct val="103000"/>
              </a:lnSpc>
              <a:spcBef>
                <a:spcPts val="0"/>
              </a:spcBef>
              <a:spcAft>
                <a:spcPts val="0"/>
              </a:spcAft>
            </a:pPr>
            <a:r>
              <a:rPr lang="pl-PL" sz="2300" b="0" dirty="0" smtClean="0">
                <a:solidFill>
                  <a:srgbClr val="1F2D30"/>
                </a:solidFill>
                <a:latin typeface="Calibri"/>
              </a:rPr>
              <a:t>Rozpoznanie nie odpowiada rzeczywistemu stanowi; możliwe jest pominięcie innych przyczyn trudności.</a:t>
            </a:r>
            <a:endParaRPr lang="pl-PL" sz="2300" b="0" dirty="0">
              <a:solidFill>
                <a:srgbClr val="1F2D30"/>
              </a:solidFill>
              <a:latin typeface="Calibri"/>
            </a:endParaRPr>
          </a:p>
        </p:txBody>
      </p:sp>
      <p:sp>
        <p:nvSpPr>
          <p:cNvPr id="105" name="Rounded Rectangle 104"/>
          <p:cNvSpPr/>
          <p:nvPr/>
        </p:nvSpPr>
        <p:spPr>
          <a:xfrm>
            <a:off x="8119872" y="1572768"/>
            <a:ext cx="3520440" cy="3374136"/>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ounded Rectangle 105"/>
          <p:cNvSpPr/>
          <p:nvPr/>
        </p:nvSpPr>
        <p:spPr>
          <a:xfrm>
            <a:off x="8302752" y="1679392"/>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8302752" y="1764792"/>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3</a:t>
            </a:r>
          </a:p>
        </p:txBody>
      </p:sp>
      <p:sp>
        <p:nvSpPr>
          <p:cNvPr id="108" name="TextBox 107"/>
          <p:cNvSpPr txBox="1"/>
          <p:nvPr/>
        </p:nvSpPr>
        <p:spPr>
          <a:xfrm>
            <a:off x="8988552" y="1764792"/>
            <a:ext cx="2441448" cy="548640"/>
          </a:xfrm>
          <a:prstGeom prst="rect">
            <a:avLst/>
          </a:prstGeom>
          <a:noFill/>
        </p:spPr>
        <p:txBody>
          <a:bodyPr wrap="square" lIns="0" tIns="0" rIns="0" bIns="0" anchor="t">
            <a:noAutofit/>
          </a:bodyPr>
          <a:lstStyle/>
          <a:p>
            <a:pPr algn="l">
              <a:lnSpc>
                <a:spcPct val="103000"/>
              </a:lnSpc>
              <a:spcBef>
                <a:spcPts val="0"/>
              </a:spcBef>
              <a:spcAft>
                <a:spcPts val="0"/>
              </a:spcAft>
            </a:pPr>
            <a:r>
              <a:rPr lang="pl-PL" sz="2000" b="1" dirty="0" err="1" smtClean="0">
                <a:solidFill>
                  <a:srgbClr val="12484F"/>
                </a:solidFill>
                <a:latin typeface="Calibri"/>
              </a:rPr>
              <a:t>Naddiagnozowanie</a:t>
            </a:r>
            <a:endParaRPr lang="pl-PL" sz="2000" b="1" dirty="0">
              <a:solidFill>
                <a:srgbClr val="12484F"/>
              </a:solidFill>
              <a:latin typeface="Calibri"/>
            </a:endParaRPr>
          </a:p>
        </p:txBody>
      </p:sp>
      <p:sp>
        <p:nvSpPr>
          <p:cNvPr id="109" name="TextBox 108"/>
          <p:cNvSpPr txBox="1"/>
          <p:nvPr/>
        </p:nvSpPr>
        <p:spPr>
          <a:xfrm>
            <a:off x="8321040" y="2523744"/>
            <a:ext cx="3118104" cy="2258568"/>
          </a:xfrm>
          <a:prstGeom prst="rect">
            <a:avLst/>
          </a:prstGeom>
          <a:noFill/>
        </p:spPr>
        <p:txBody>
          <a:bodyPr wrap="square" lIns="0" tIns="0" rIns="0" bIns="0" anchor="t">
            <a:noAutofit/>
          </a:bodyPr>
          <a:lstStyle/>
          <a:p>
            <a:pPr algn="l">
              <a:lnSpc>
                <a:spcPct val="103000"/>
              </a:lnSpc>
              <a:spcBef>
                <a:spcPts val="0"/>
              </a:spcBef>
              <a:spcAft>
                <a:spcPts val="0"/>
              </a:spcAft>
            </a:pPr>
            <a:r>
              <a:rPr lang="pl-PL" sz="2300" b="0" dirty="0" smtClean="0">
                <a:solidFill>
                  <a:srgbClr val="1F2D30"/>
                </a:solidFill>
                <a:latin typeface="Calibri"/>
              </a:rPr>
              <a:t>Przypisanie rozpoznania bez spełnienia odpowiednich kryteriów; ryzyko wymaga oceny jakości diagnostyki.</a:t>
            </a:r>
            <a:endParaRPr lang="pl-PL" sz="2300" b="0" dirty="0">
              <a:solidFill>
                <a:srgbClr val="1F2D30"/>
              </a:solidFill>
              <a:latin typeface="Calibri"/>
            </a:endParaRPr>
          </a:p>
        </p:txBody>
      </p:sp>
      <p:sp>
        <p:nvSpPr>
          <p:cNvPr id="110" name="Rounded Rectangle 109"/>
          <p:cNvSpPr/>
          <p:nvPr/>
        </p:nvSpPr>
        <p:spPr>
          <a:xfrm>
            <a:off x="548640" y="5120640"/>
            <a:ext cx="11091672" cy="987552"/>
          </a:xfrm>
          <a:prstGeom prst="roundRect">
            <a:avLst>
              <a:gd name="adj" fmla="val 12000"/>
            </a:avLst>
          </a:prstGeom>
          <a:solidFill>
            <a:srgbClr val="FC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731520" y="5330952"/>
            <a:ext cx="2059749" cy="566928"/>
          </a:xfrm>
          <a:prstGeom prst="rect">
            <a:avLst/>
          </a:prstGeom>
          <a:noFill/>
        </p:spPr>
        <p:txBody>
          <a:bodyPr wrap="square" lIns="0" tIns="0" rIns="0" bIns="0" anchor="ctr">
            <a:noAutofit/>
          </a:bodyPr>
          <a:lstStyle/>
          <a:p>
            <a:pPr>
              <a:lnSpc>
                <a:spcPct val="103000"/>
              </a:lnSpc>
              <a:spcBef>
                <a:spcPts val="0"/>
              </a:spcBef>
              <a:spcAft>
                <a:spcPts val="0"/>
              </a:spcAft>
            </a:pPr>
            <a:r>
              <a:rPr lang="pl-PL" sz="2400" b="1" dirty="0" smtClean="0">
                <a:solidFill>
                  <a:srgbClr val="D9482B"/>
                </a:solidFill>
                <a:latin typeface="Calibri"/>
              </a:rPr>
              <a:t>Raport brytyjski </a:t>
            </a:r>
            <a:r>
              <a:rPr lang="pl-PL" sz="2400" dirty="0" smtClean="0">
                <a:solidFill>
                  <a:srgbClr val="D9482B"/>
                </a:solidFill>
                <a:latin typeface="Calibri"/>
              </a:rPr>
              <a:t>(2026)</a:t>
            </a:r>
            <a:endParaRPr lang="pl-PL" sz="2400" dirty="0">
              <a:solidFill>
                <a:srgbClr val="D9482B"/>
              </a:solidFill>
              <a:latin typeface="Calibri"/>
            </a:endParaRPr>
          </a:p>
        </p:txBody>
      </p:sp>
      <p:sp>
        <p:nvSpPr>
          <p:cNvPr id="112" name="TextBox 111"/>
          <p:cNvSpPr txBox="1"/>
          <p:nvPr/>
        </p:nvSpPr>
        <p:spPr>
          <a:xfrm>
            <a:off x="3858768" y="5221224"/>
            <a:ext cx="7452360" cy="731520"/>
          </a:xfrm>
          <a:prstGeom prst="rect">
            <a:avLst/>
          </a:prstGeom>
          <a:noFill/>
        </p:spPr>
        <p:txBody>
          <a:bodyPr wrap="square" lIns="0" tIns="0" rIns="0" bIns="0" anchor="t">
            <a:noAutofit/>
          </a:bodyPr>
          <a:lstStyle/>
          <a:p>
            <a:pPr algn="l">
              <a:lnSpc>
                <a:spcPct val="103000"/>
              </a:lnSpc>
              <a:spcBef>
                <a:spcPts val="0"/>
              </a:spcBef>
              <a:spcAft>
                <a:spcPts val="0"/>
              </a:spcAft>
            </a:pPr>
            <a:r>
              <a:rPr lang="pl-PL" sz="2400" b="0" dirty="0" smtClean="0">
                <a:solidFill>
                  <a:srgbClr val="12484F"/>
                </a:solidFill>
                <a:latin typeface="Calibri"/>
              </a:rPr>
              <a:t>brak dowodu </a:t>
            </a:r>
            <a:r>
              <a:rPr lang="pl-PL" sz="2400" b="0" dirty="0" err="1" smtClean="0">
                <a:solidFill>
                  <a:srgbClr val="12484F"/>
                </a:solidFill>
                <a:latin typeface="Calibri"/>
              </a:rPr>
              <a:t>naddiagnozy</a:t>
            </a:r>
            <a:r>
              <a:rPr lang="pl-PL" sz="2400" b="0" dirty="0" smtClean="0">
                <a:solidFill>
                  <a:srgbClr val="12484F"/>
                </a:solidFill>
                <a:latin typeface="Calibri"/>
              </a:rPr>
              <a:t> na dużą skalę; </a:t>
            </a:r>
          </a:p>
          <a:p>
            <a:pPr algn="l">
              <a:lnSpc>
                <a:spcPct val="103000"/>
              </a:lnSpc>
              <a:spcBef>
                <a:spcPts val="0"/>
              </a:spcBef>
              <a:spcAft>
                <a:spcPts val="0"/>
              </a:spcAft>
            </a:pPr>
            <a:r>
              <a:rPr lang="pl-PL" sz="2400" b="0" dirty="0" smtClean="0">
                <a:solidFill>
                  <a:srgbClr val="12484F"/>
                </a:solidFill>
                <a:latin typeface="Calibri"/>
              </a:rPr>
              <a:t>potrzebne rzetelne oceny i wsparcie według potrzeb.</a:t>
            </a:r>
            <a:endParaRPr lang="pl-PL" sz="2400" b="0" dirty="0">
              <a:solidFill>
                <a:srgbClr val="12484F"/>
              </a:solidFill>
              <a:latin typeface="Calibri"/>
            </a:endParaRPr>
          </a:p>
        </p:txBody>
      </p:sp>
      <p:sp>
        <p:nvSpPr>
          <p:cNvPr id="113" name="TextBox 112"/>
          <p:cNvSpPr txBox="1"/>
          <p:nvPr/>
        </p:nvSpPr>
        <p:spPr>
          <a:xfrm>
            <a:off x="129526" y="6402394"/>
            <a:ext cx="10744200" cy="310896"/>
          </a:xfrm>
          <a:prstGeom prst="rect">
            <a:avLst/>
          </a:prstGeom>
          <a:noFill/>
        </p:spPr>
        <p:txBody>
          <a:bodyPr wrap="square" lIns="0" tIns="0" rIns="0" bIns="0" anchor="b">
            <a:noAutofit/>
          </a:bodyPr>
          <a:lstStyle/>
          <a:p>
            <a:pPr>
              <a:lnSpc>
                <a:spcPct val="103000"/>
              </a:lnSpc>
            </a:pPr>
            <a:r>
              <a:rPr lang="pl-PL" sz="1100" dirty="0">
                <a:solidFill>
                  <a:schemeClr val="bg1">
                    <a:lumMod val="65000"/>
                  </a:schemeClr>
                </a:solidFill>
              </a:rPr>
              <a:t>Źródła: DHSC (2026), raport dla Anglii; NIK (2020), brak danych </a:t>
            </a:r>
            <a:r>
              <a:rPr lang="pl-PL" sz="1100" dirty="0" smtClean="0">
                <a:solidFill>
                  <a:schemeClr val="bg1">
                    <a:lumMod val="65000"/>
                  </a:schemeClr>
                </a:solidFill>
              </a:rPr>
              <a:t>polskich</a:t>
            </a:r>
            <a:endParaRPr lang="pl-PL" sz="1100" dirty="0">
              <a:solidFill>
                <a:schemeClr val="bg1">
                  <a:lumMod val="65000"/>
                </a:schemeClr>
              </a:solidFill>
            </a:endParaRPr>
          </a:p>
        </p:txBody>
      </p:sp>
    </p:spTree>
    <p:extLst>
      <p:ext uri="{BB962C8B-B14F-4D97-AF65-F5344CB8AC3E}">
        <p14:creationId xmlns:p14="http://schemas.microsoft.com/office/powerpoint/2010/main" val="27108160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7"/>
          <p:cNvSpPr txBox="1">
            <a:spLocks noGrp="1"/>
          </p:cNvSpPr>
          <p:nvPr>
            <p:ph type="title" idx="100"/>
          </p:nvPr>
        </p:nvSpPr>
        <p:spPr>
          <a:xfrm>
            <a:off x="548640" y="320040"/>
            <a:ext cx="11091600" cy="704089"/>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000"/>
              <a:buFont typeface="Cambria"/>
              <a:buNone/>
            </a:pPr>
            <a:r>
              <a:rPr lang="pl-PL" sz="3000" b="1" dirty="0" smtClean="0">
                <a:solidFill>
                  <a:srgbClr val="12484F"/>
                </a:solidFill>
              </a:rPr>
              <a:t>Maskowanie obciąża psychicznie</a:t>
            </a:r>
            <a:endParaRPr lang="pl-PL" sz="3000" dirty="0"/>
          </a:p>
        </p:txBody>
      </p:sp>
      <p:sp>
        <p:nvSpPr>
          <p:cNvPr id="102" name="Google Shape;102;p7"/>
          <p:cNvSpPr txBox="1">
            <a:spLocks noGrp="1"/>
          </p:cNvSpPr>
          <p:nvPr>
            <p:ph type="sldNum" idx="4294967295"/>
          </p:nvPr>
        </p:nvSpPr>
        <p:spPr>
          <a:xfrm>
            <a:off x="11064240" y="6400800"/>
            <a:ext cx="5760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accent5"/>
                </a:solidFill>
                <a:latin typeface="Calibri"/>
                <a:ea typeface="Calibri"/>
                <a:cs typeface="Calibri"/>
                <a:sym typeface="Calibri"/>
              </a:rPr>
              <a:t>12</a:t>
            </a:fld>
            <a:endParaRPr sz="1200" b="0" i="0" u="none" strike="noStrike" cap="none">
              <a:solidFill>
                <a:schemeClr val="accent5"/>
              </a:solidFill>
              <a:latin typeface="Calibri"/>
              <a:ea typeface="Calibri"/>
              <a:cs typeface="Calibri"/>
              <a:sym typeface="Calibri"/>
            </a:endParaRPr>
          </a:p>
        </p:txBody>
      </p:sp>
      <p:sp>
        <p:nvSpPr>
          <p:cNvPr id="103" name="Rounded Rectangle 102"/>
          <p:cNvSpPr/>
          <p:nvPr/>
        </p:nvSpPr>
        <p:spPr>
          <a:xfrm>
            <a:off x="548640" y="1572768"/>
            <a:ext cx="5440680" cy="1938528"/>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768096" y="1719072"/>
            <a:ext cx="1993392" cy="704088"/>
          </a:xfrm>
          <a:prstGeom prst="rect">
            <a:avLst/>
          </a:prstGeom>
          <a:noFill/>
        </p:spPr>
        <p:txBody>
          <a:bodyPr wrap="square" lIns="0" tIns="0" rIns="0" bIns="0" anchor="t">
            <a:noAutofit/>
          </a:bodyPr>
          <a:lstStyle/>
          <a:p>
            <a:pPr algn="l">
              <a:lnSpc>
                <a:spcPct val="103000"/>
              </a:lnSpc>
              <a:spcBef>
                <a:spcPts val="0"/>
              </a:spcBef>
              <a:spcAft>
                <a:spcPts val="0"/>
              </a:spcAft>
            </a:pPr>
            <a:r>
              <a:rPr sz="4800" b="1" dirty="0" smtClean="0">
                <a:solidFill>
                  <a:srgbClr val="1F7A7A"/>
                </a:solidFill>
                <a:latin typeface="Cambria"/>
              </a:rPr>
              <a:t>r</a:t>
            </a:r>
            <a:r>
              <a:rPr sz="4800" dirty="0" smtClean="0">
                <a:solidFill>
                  <a:srgbClr val="1F7A7A"/>
                </a:solidFill>
                <a:latin typeface="Cambria"/>
              </a:rPr>
              <a:t>=</a:t>
            </a:r>
            <a:r>
              <a:rPr sz="4800" b="1" dirty="0" smtClean="0">
                <a:solidFill>
                  <a:srgbClr val="1F7A7A"/>
                </a:solidFill>
                <a:latin typeface="Cambria"/>
              </a:rPr>
              <a:t>0,36</a:t>
            </a:r>
            <a:endParaRPr sz="4800" b="1" dirty="0">
              <a:solidFill>
                <a:srgbClr val="1F7A7A"/>
              </a:solidFill>
              <a:latin typeface="Cambria"/>
            </a:endParaRPr>
          </a:p>
        </p:txBody>
      </p:sp>
      <p:sp>
        <p:nvSpPr>
          <p:cNvPr id="105" name="TextBox 104"/>
          <p:cNvSpPr txBox="1"/>
          <p:nvPr/>
        </p:nvSpPr>
        <p:spPr>
          <a:xfrm>
            <a:off x="2971800" y="1755648"/>
            <a:ext cx="2770632" cy="1078992"/>
          </a:xfrm>
          <a:prstGeom prst="rect">
            <a:avLst/>
          </a:prstGeom>
          <a:noFill/>
        </p:spPr>
        <p:txBody>
          <a:bodyPr wrap="square" lIns="0" tIns="0" rIns="0" bIns="0" anchor="t">
            <a:noAutofit/>
          </a:bodyPr>
          <a:lstStyle/>
          <a:p>
            <a:pPr algn="l">
              <a:lnSpc>
                <a:spcPct val="103000"/>
              </a:lnSpc>
              <a:spcBef>
                <a:spcPts val="0"/>
              </a:spcBef>
              <a:spcAft>
                <a:spcPts val="0"/>
              </a:spcAft>
            </a:pPr>
            <a:r>
              <a:rPr lang="pl-PL" sz="2400" b="0" dirty="0" smtClean="0">
                <a:solidFill>
                  <a:srgbClr val="1F2D30"/>
                </a:solidFill>
                <a:latin typeface="Calibri"/>
              </a:rPr>
              <a:t>maskowanie i nasilenie objawów depresji</a:t>
            </a:r>
            <a:endParaRPr lang="pl-PL" sz="2400" b="0" dirty="0">
              <a:solidFill>
                <a:srgbClr val="1F2D30"/>
              </a:solidFill>
              <a:latin typeface="Calibri"/>
            </a:endParaRPr>
          </a:p>
        </p:txBody>
      </p:sp>
      <p:sp>
        <p:nvSpPr>
          <p:cNvPr id="107" name="Rounded Rectangle 106"/>
          <p:cNvSpPr/>
          <p:nvPr/>
        </p:nvSpPr>
        <p:spPr>
          <a:xfrm>
            <a:off x="6199632" y="1572768"/>
            <a:ext cx="5440680" cy="1938528"/>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6428232" y="1719072"/>
            <a:ext cx="1920240" cy="704088"/>
          </a:xfrm>
          <a:prstGeom prst="rect">
            <a:avLst/>
          </a:prstGeom>
          <a:noFill/>
        </p:spPr>
        <p:txBody>
          <a:bodyPr wrap="square" lIns="0" tIns="0" rIns="0" bIns="0" anchor="t">
            <a:noAutofit/>
          </a:bodyPr>
          <a:lstStyle/>
          <a:p>
            <a:pPr algn="l">
              <a:lnSpc>
                <a:spcPct val="103000"/>
              </a:lnSpc>
              <a:spcBef>
                <a:spcPts val="0"/>
              </a:spcBef>
              <a:spcAft>
                <a:spcPts val="0"/>
              </a:spcAft>
            </a:pPr>
            <a:r>
              <a:rPr sz="4800" b="1" dirty="0">
                <a:solidFill>
                  <a:srgbClr val="D9482B"/>
                </a:solidFill>
                <a:latin typeface="Cambria"/>
              </a:rPr>
              <a:t>10%</a:t>
            </a:r>
          </a:p>
        </p:txBody>
      </p:sp>
      <p:sp>
        <p:nvSpPr>
          <p:cNvPr id="109" name="TextBox 108"/>
          <p:cNvSpPr txBox="1"/>
          <p:nvPr/>
        </p:nvSpPr>
        <p:spPr>
          <a:xfrm>
            <a:off x="8293608" y="1709928"/>
            <a:ext cx="3063240" cy="1234440"/>
          </a:xfrm>
          <a:prstGeom prst="rect">
            <a:avLst/>
          </a:prstGeom>
          <a:noFill/>
        </p:spPr>
        <p:txBody>
          <a:bodyPr wrap="square" lIns="0" tIns="0" rIns="0" bIns="0" anchor="t">
            <a:noAutofit/>
          </a:bodyPr>
          <a:lstStyle/>
          <a:p>
            <a:pPr algn="l">
              <a:lnSpc>
                <a:spcPct val="103000"/>
              </a:lnSpc>
              <a:spcBef>
                <a:spcPts val="0"/>
              </a:spcBef>
              <a:spcAft>
                <a:spcPts val="0"/>
              </a:spcAft>
            </a:pPr>
            <a:r>
              <a:rPr lang="pl-PL" sz="2200" b="0" dirty="0" smtClean="0">
                <a:solidFill>
                  <a:srgbClr val="1F2D30"/>
                </a:solidFill>
                <a:latin typeface="Calibri"/>
              </a:rPr>
              <a:t>publikacji o interwencjach wspominało o zdarzeniach niepożądanych</a:t>
            </a:r>
            <a:endParaRPr lang="pl-PL" sz="2200" b="0" dirty="0">
              <a:solidFill>
                <a:srgbClr val="1F2D30"/>
              </a:solidFill>
              <a:latin typeface="Calibri"/>
            </a:endParaRPr>
          </a:p>
        </p:txBody>
      </p:sp>
      <p:sp>
        <p:nvSpPr>
          <p:cNvPr id="110" name="TextBox 109"/>
          <p:cNvSpPr txBox="1"/>
          <p:nvPr/>
        </p:nvSpPr>
        <p:spPr>
          <a:xfrm>
            <a:off x="6414480" y="3075318"/>
            <a:ext cx="4937760" cy="365760"/>
          </a:xfrm>
          <a:prstGeom prst="rect">
            <a:avLst/>
          </a:prstGeom>
          <a:noFill/>
        </p:spPr>
        <p:txBody>
          <a:bodyPr wrap="square" lIns="0" tIns="0" rIns="0" bIns="0" anchor="b">
            <a:noAutofit/>
          </a:bodyPr>
          <a:lstStyle/>
          <a:p>
            <a:pPr algn="l">
              <a:lnSpc>
                <a:spcPct val="103000"/>
              </a:lnSpc>
              <a:spcBef>
                <a:spcPts val="0"/>
              </a:spcBef>
              <a:spcAft>
                <a:spcPts val="0"/>
              </a:spcAft>
            </a:pPr>
            <a:r>
              <a:rPr lang="pl-PL" sz="1400" b="0" dirty="0" smtClean="0">
                <a:solidFill>
                  <a:schemeClr val="bg1">
                    <a:lumMod val="65000"/>
                  </a:schemeClr>
                </a:solidFill>
                <a:latin typeface="Calibri"/>
              </a:rPr>
              <a:t>Przegląd 289 raportów z 252 badań</a:t>
            </a:r>
            <a:endParaRPr lang="pl-PL" sz="1400" b="0" dirty="0">
              <a:solidFill>
                <a:schemeClr val="bg1">
                  <a:lumMod val="65000"/>
                </a:schemeClr>
              </a:solidFill>
              <a:latin typeface="Calibri"/>
            </a:endParaRPr>
          </a:p>
        </p:txBody>
      </p:sp>
      <p:sp>
        <p:nvSpPr>
          <p:cNvPr id="111" name="Rounded Rectangle 110"/>
          <p:cNvSpPr/>
          <p:nvPr/>
        </p:nvSpPr>
        <p:spPr>
          <a:xfrm>
            <a:off x="548640" y="3675887"/>
            <a:ext cx="5440680" cy="1920240"/>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768096" y="3813048"/>
            <a:ext cx="2029968" cy="822960"/>
          </a:xfrm>
          <a:prstGeom prst="rect">
            <a:avLst/>
          </a:prstGeom>
          <a:noFill/>
        </p:spPr>
        <p:txBody>
          <a:bodyPr wrap="square" lIns="0" tIns="0" rIns="0" bIns="0" anchor="t">
            <a:noAutofit/>
          </a:bodyPr>
          <a:lstStyle/>
          <a:p>
            <a:pPr algn="l">
              <a:lnSpc>
                <a:spcPct val="103000"/>
              </a:lnSpc>
              <a:spcBef>
                <a:spcPts val="0"/>
              </a:spcBef>
              <a:spcAft>
                <a:spcPts val="0"/>
              </a:spcAft>
            </a:pPr>
            <a:r>
              <a:rPr sz="5400" b="1" dirty="0">
                <a:solidFill>
                  <a:srgbClr val="D9482B"/>
                </a:solidFill>
                <a:latin typeface="Cambria"/>
              </a:rPr>
              <a:t>~3×</a:t>
            </a:r>
          </a:p>
        </p:txBody>
      </p:sp>
      <p:sp>
        <p:nvSpPr>
          <p:cNvPr id="113" name="TextBox 112"/>
          <p:cNvSpPr txBox="1"/>
          <p:nvPr/>
        </p:nvSpPr>
        <p:spPr>
          <a:xfrm>
            <a:off x="2421482" y="3813048"/>
            <a:ext cx="3430678" cy="1234440"/>
          </a:xfrm>
          <a:prstGeom prst="rect">
            <a:avLst/>
          </a:prstGeom>
          <a:noFill/>
        </p:spPr>
        <p:txBody>
          <a:bodyPr wrap="square" lIns="0" tIns="0" rIns="0" bIns="0" anchor="t">
            <a:noAutofit/>
          </a:bodyPr>
          <a:lstStyle/>
          <a:p>
            <a:pPr algn="l">
              <a:lnSpc>
                <a:spcPct val="103000"/>
              </a:lnSpc>
              <a:spcBef>
                <a:spcPts val="0"/>
              </a:spcBef>
              <a:spcAft>
                <a:spcPts val="0"/>
              </a:spcAft>
            </a:pPr>
            <a:r>
              <a:rPr lang="pl-PL" sz="2400" b="0" dirty="0" smtClean="0">
                <a:solidFill>
                  <a:srgbClr val="1F2D30"/>
                </a:solidFill>
                <a:latin typeface="Calibri"/>
              </a:rPr>
              <a:t>wyższe ryzyko śmierci samobójczej w populacjach autystycznych</a:t>
            </a:r>
            <a:endParaRPr lang="pl-PL" sz="2400" b="0" dirty="0">
              <a:solidFill>
                <a:srgbClr val="1F2D30"/>
              </a:solidFill>
              <a:latin typeface="Calibri"/>
            </a:endParaRPr>
          </a:p>
        </p:txBody>
      </p:sp>
      <p:sp>
        <p:nvSpPr>
          <p:cNvPr id="114" name="Rounded Rectangle 113"/>
          <p:cNvSpPr/>
          <p:nvPr/>
        </p:nvSpPr>
        <p:spPr>
          <a:xfrm>
            <a:off x="6199632" y="3675887"/>
            <a:ext cx="5440680" cy="1920240"/>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6419088" y="3886200"/>
            <a:ext cx="4846320" cy="521207"/>
          </a:xfrm>
          <a:prstGeom prst="rect">
            <a:avLst/>
          </a:prstGeom>
          <a:noFill/>
        </p:spPr>
        <p:txBody>
          <a:bodyPr wrap="square" lIns="0" tIns="0" rIns="0" bIns="0" anchor="t">
            <a:noAutofit/>
          </a:bodyPr>
          <a:lstStyle/>
          <a:p>
            <a:pPr algn="l">
              <a:lnSpc>
                <a:spcPct val="103000"/>
              </a:lnSpc>
              <a:spcBef>
                <a:spcPts val="0"/>
              </a:spcBef>
              <a:spcAft>
                <a:spcPts val="0"/>
              </a:spcAft>
            </a:pPr>
            <a:r>
              <a:rPr sz="2800" b="1">
                <a:solidFill>
                  <a:srgbClr val="12484F"/>
                </a:solidFill>
                <a:latin typeface="Calibri"/>
              </a:rPr>
              <a:t>Standard wsparcia</a:t>
            </a:r>
          </a:p>
        </p:txBody>
      </p:sp>
      <p:sp>
        <p:nvSpPr>
          <p:cNvPr id="116" name="TextBox 115"/>
          <p:cNvSpPr txBox="1"/>
          <p:nvPr/>
        </p:nvSpPr>
        <p:spPr>
          <a:xfrm>
            <a:off x="6428232" y="4526280"/>
            <a:ext cx="4864608" cy="960120"/>
          </a:xfrm>
          <a:prstGeom prst="rect">
            <a:avLst/>
          </a:prstGeom>
          <a:noFill/>
        </p:spPr>
        <p:txBody>
          <a:bodyPr wrap="square" lIns="0" tIns="0" rIns="0" bIns="0" anchor="t">
            <a:noAutofit/>
          </a:bodyPr>
          <a:lstStyle/>
          <a:p>
            <a:pPr algn="l">
              <a:lnSpc>
                <a:spcPct val="103000"/>
              </a:lnSpc>
              <a:spcBef>
                <a:spcPts val="0"/>
              </a:spcBef>
              <a:spcAft>
                <a:spcPts val="0"/>
              </a:spcAft>
            </a:pPr>
            <a:r>
              <a:rPr lang="pl-PL" sz="2400" b="0" dirty="0" smtClean="0">
                <a:solidFill>
                  <a:srgbClr val="1F2D30"/>
                </a:solidFill>
                <a:latin typeface="Calibri"/>
              </a:rPr>
              <a:t>Zgoda, indywidualne cele, </a:t>
            </a:r>
            <a:r>
              <a:rPr lang="pl-PL" sz="2400" b="0" u="sng" dirty="0" smtClean="0">
                <a:solidFill>
                  <a:srgbClr val="1F2D30"/>
                </a:solidFill>
                <a:latin typeface="Calibri"/>
              </a:rPr>
              <a:t>dobrostan</a:t>
            </a:r>
            <a:r>
              <a:rPr lang="pl-PL" sz="2400" b="0" dirty="0" smtClean="0">
                <a:solidFill>
                  <a:srgbClr val="1F2D30"/>
                </a:solidFill>
                <a:latin typeface="Calibri"/>
              </a:rPr>
              <a:t> </a:t>
            </a:r>
          </a:p>
          <a:p>
            <a:pPr algn="l">
              <a:lnSpc>
                <a:spcPct val="103000"/>
              </a:lnSpc>
              <a:spcBef>
                <a:spcPts val="0"/>
              </a:spcBef>
              <a:spcAft>
                <a:spcPts val="0"/>
              </a:spcAft>
            </a:pPr>
            <a:r>
              <a:rPr lang="pl-PL" sz="2400" b="0" dirty="0" smtClean="0">
                <a:solidFill>
                  <a:srgbClr val="1F2D30"/>
                </a:solidFill>
                <a:latin typeface="Calibri"/>
              </a:rPr>
              <a:t>i monitorowanie możliwych szkód.</a:t>
            </a:r>
            <a:endParaRPr lang="pl-PL" sz="2400" b="0" dirty="0">
              <a:solidFill>
                <a:srgbClr val="1F2D30"/>
              </a:solidFill>
              <a:latin typeface="Calibri"/>
            </a:endParaRPr>
          </a:p>
        </p:txBody>
      </p:sp>
      <p:sp>
        <p:nvSpPr>
          <p:cNvPr id="117" name="TextBox 116"/>
          <p:cNvSpPr txBox="1"/>
          <p:nvPr/>
        </p:nvSpPr>
        <p:spPr>
          <a:xfrm>
            <a:off x="137915" y="6446520"/>
            <a:ext cx="10744200" cy="310896"/>
          </a:xfrm>
          <a:prstGeom prst="rect">
            <a:avLst/>
          </a:prstGeom>
          <a:noFill/>
        </p:spPr>
        <p:txBody>
          <a:bodyPr wrap="square" lIns="0" tIns="0" rIns="0" bIns="0" anchor="b">
            <a:noAutofit/>
          </a:bodyPr>
          <a:lstStyle/>
          <a:p>
            <a:pPr algn="l">
              <a:lnSpc>
                <a:spcPct val="103000"/>
              </a:lnSpc>
              <a:spcBef>
                <a:spcPts val="0"/>
              </a:spcBef>
              <a:spcAft>
                <a:spcPts val="0"/>
              </a:spcAft>
            </a:pPr>
            <a:r>
              <a:rPr lang="pl-PL" sz="1100" b="0" dirty="0" smtClean="0">
                <a:solidFill>
                  <a:schemeClr val="bg1">
                    <a:lumMod val="65000"/>
                  </a:schemeClr>
                </a:solidFill>
                <a:latin typeface="Calibri"/>
              </a:rPr>
              <a:t>Źródła: </a:t>
            </a:r>
            <a:r>
              <a:rPr lang="pl-PL" sz="1100" b="0" dirty="0" err="1" smtClean="0">
                <a:solidFill>
                  <a:schemeClr val="bg1">
                    <a:lumMod val="65000"/>
                  </a:schemeClr>
                </a:solidFill>
                <a:latin typeface="Calibri"/>
              </a:rPr>
              <a:t>Khudiakova</a:t>
            </a:r>
            <a:r>
              <a:rPr lang="pl-PL" sz="1100" b="0" dirty="0" smtClean="0">
                <a:solidFill>
                  <a:schemeClr val="bg1">
                    <a:lumMod val="65000"/>
                  </a:schemeClr>
                </a:solidFill>
                <a:latin typeface="Calibri"/>
              </a:rPr>
              <a:t> i in. (2024); </a:t>
            </a:r>
            <a:r>
              <a:rPr lang="pl-PL" sz="1100" b="0" dirty="0" err="1" smtClean="0">
                <a:solidFill>
                  <a:schemeClr val="bg1">
                    <a:lumMod val="65000"/>
                  </a:schemeClr>
                </a:solidFill>
                <a:latin typeface="Calibri"/>
              </a:rPr>
              <a:t>Sandbank</a:t>
            </a:r>
            <a:r>
              <a:rPr lang="pl-PL" sz="1100" b="0" dirty="0" smtClean="0">
                <a:solidFill>
                  <a:schemeClr val="bg1">
                    <a:lumMod val="65000"/>
                  </a:schemeClr>
                </a:solidFill>
                <a:latin typeface="Calibri"/>
              </a:rPr>
              <a:t> i in. (2023); </a:t>
            </a:r>
            <a:r>
              <a:rPr lang="pl-PL" sz="1100" b="0" dirty="0" err="1" smtClean="0">
                <a:solidFill>
                  <a:schemeClr val="bg1">
                    <a:lumMod val="65000"/>
                  </a:schemeClr>
                </a:solidFill>
                <a:latin typeface="Calibri"/>
              </a:rPr>
              <a:t>Santomauro</a:t>
            </a:r>
            <a:r>
              <a:rPr lang="pl-PL" sz="1100" b="0" dirty="0" smtClean="0">
                <a:solidFill>
                  <a:schemeClr val="bg1">
                    <a:lumMod val="65000"/>
                  </a:schemeClr>
                </a:solidFill>
                <a:latin typeface="Calibri"/>
              </a:rPr>
              <a:t> i in. (2024)</a:t>
            </a:r>
            <a:endParaRPr lang="pl-PL" sz="1100" b="0" dirty="0">
              <a:solidFill>
                <a:schemeClr val="bg1">
                  <a:lumMod val="65000"/>
                </a:schemeClr>
              </a:solidFill>
              <a:latin typeface="Calibri"/>
            </a:endParaRPr>
          </a:p>
        </p:txBody>
      </p:sp>
    </p:spTree>
    <p:extLst>
      <p:ext uri="{BB962C8B-B14F-4D97-AF65-F5344CB8AC3E}">
        <p14:creationId xmlns:p14="http://schemas.microsoft.com/office/powerpoint/2010/main" val="32362323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8"/>
          <p:cNvSpPr txBox="1">
            <a:spLocks noGrp="1"/>
          </p:cNvSpPr>
          <p:nvPr>
            <p:ph type="title" idx="100"/>
          </p:nvPr>
        </p:nvSpPr>
        <p:spPr>
          <a:xfrm>
            <a:off x="548640" y="320040"/>
            <a:ext cx="7277837" cy="640080"/>
          </a:xfrm>
          <a:prstGeom prst="rect">
            <a:avLst/>
          </a:prstGeom>
          <a:noFill/>
          <a:ln>
            <a:noFill/>
          </a:ln>
        </p:spPr>
        <p:txBody>
          <a:bodyPr spcFirstLastPara="1" wrap="square" lIns="0" tIns="0" rIns="0" bIns="0" anchor="ctr" anchorCtr="0">
            <a:noAutofit/>
          </a:bodyPr>
          <a:lstStyle/>
          <a:p>
            <a:pPr lvl="0">
              <a:spcBef>
                <a:spcPts val="0"/>
              </a:spcBef>
              <a:buClr>
                <a:schemeClr val="dk2"/>
              </a:buClr>
              <a:buSzPts val="3000"/>
            </a:pPr>
            <a:r>
              <a:rPr lang="pl-PL" sz="3200" spc="-150" dirty="0" smtClean="0"/>
              <a:t>Paradoks </a:t>
            </a:r>
            <a:r>
              <a:rPr lang="pl-PL" sz="3200" spc="-150" dirty="0"/>
              <a:t>maskowania </a:t>
            </a:r>
            <a:r>
              <a:rPr lang="pl-PL" sz="3200" spc="-150" dirty="0" smtClean="0"/>
              <a:t>autyzmu</a:t>
            </a:r>
            <a:endParaRPr sz="3200" spc="-150" dirty="0"/>
          </a:p>
        </p:txBody>
      </p:sp>
      <p:sp>
        <p:nvSpPr>
          <p:cNvPr id="110" name="Google Shape;110;p8"/>
          <p:cNvSpPr txBox="1">
            <a:spLocks noGrp="1"/>
          </p:cNvSpPr>
          <p:nvPr>
            <p:ph type="sldNum" idx="4294967295"/>
          </p:nvPr>
        </p:nvSpPr>
        <p:spPr>
          <a:xfrm>
            <a:off x="11064240" y="6400800"/>
            <a:ext cx="5760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accent5"/>
                </a:solidFill>
                <a:latin typeface="Calibri"/>
                <a:ea typeface="Calibri"/>
                <a:cs typeface="Calibri"/>
                <a:sym typeface="Calibri"/>
              </a:rPr>
              <a:t>13</a:t>
            </a:fld>
            <a:endParaRPr sz="1200" b="0" i="0" u="none" strike="noStrike" cap="none">
              <a:solidFill>
                <a:schemeClr val="accent5"/>
              </a:solidFill>
              <a:latin typeface="Calibri"/>
              <a:ea typeface="Calibri"/>
              <a:cs typeface="Calibri"/>
              <a:sym typeface="Calibri"/>
            </a:endParaRPr>
          </a:p>
        </p:txBody>
      </p:sp>
      <p:pic>
        <p:nvPicPr>
          <p:cNvPr id="4" name="Obraz 3"/>
          <p:cNvPicPr>
            <a:picLocks noChangeAspect="1"/>
          </p:cNvPicPr>
          <p:nvPr/>
        </p:nvPicPr>
        <p:blipFill rotWithShape="1">
          <a:blip r:embed="rId3">
            <a:extLst>
              <a:ext uri="{28A0092B-C50C-407E-A947-70E740481C1C}">
                <a14:useLocalDpi xmlns:a14="http://schemas.microsoft.com/office/drawing/2010/main" val="0"/>
              </a:ext>
            </a:extLst>
          </a:blip>
          <a:srcRect t="11175" b="3898"/>
          <a:stretch/>
        </p:blipFill>
        <p:spPr>
          <a:xfrm>
            <a:off x="296310" y="1208623"/>
            <a:ext cx="8129934" cy="3805083"/>
          </a:xfrm>
          <a:prstGeom prst="rect">
            <a:avLst/>
          </a:prstGeom>
        </p:spPr>
      </p:pic>
      <p:sp>
        <p:nvSpPr>
          <p:cNvPr id="111" name="Google Shape;111;p8"/>
          <p:cNvSpPr txBox="1"/>
          <p:nvPr/>
        </p:nvSpPr>
        <p:spPr>
          <a:xfrm>
            <a:off x="8426244" y="1386349"/>
            <a:ext cx="3608438" cy="3716593"/>
          </a:xfrm>
          <a:prstGeom prst="roundRect">
            <a:avLst/>
          </a:prstGeom>
          <a:solidFill>
            <a:schemeClr val="accent1">
              <a:lumMod val="20000"/>
              <a:lumOff val="80000"/>
            </a:schemeClr>
          </a:solidFill>
          <a:ln>
            <a:solidFill>
              <a:schemeClr val="accent1"/>
            </a:solidFill>
          </a:ln>
        </p:spPr>
        <p:txBody>
          <a:bodyPr spcFirstLastPara="1" wrap="square" lIns="36000" tIns="36000" rIns="36000" bIns="360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stStyle>
          <a:p>
            <a:pPr lvl="0" algn="ctr"/>
            <a:r>
              <a:rPr lang="pl-PL" sz="2200" spc="-20" dirty="0" smtClean="0">
                <a:latin typeface="+mn-lt"/>
              </a:rPr>
              <a:t>Ukrywanie</a:t>
            </a:r>
            <a:r>
              <a:rPr lang="pl-PL" sz="2200" spc="-20" dirty="0">
                <a:latin typeface="+mn-lt"/>
              </a:rPr>
              <a:t> autystycznych</a:t>
            </a:r>
            <a:r>
              <a:rPr lang="pl-PL" sz="2200" spc="-20" dirty="0" smtClean="0">
                <a:latin typeface="+mn-lt"/>
              </a:rPr>
              <a:t> </a:t>
            </a:r>
            <a:r>
              <a:rPr lang="pl-PL" sz="2200" spc="-20" dirty="0">
                <a:latin typeface="+mn-lt"/>
              </a:rPr>
              <a:t>cech </a:t>
            </a:r>
            <a:r>
              <a:rPr lang="pl-PL" sz="2200" spc="-20" dirty="0" smtClean="0">
                <a:latin typeface="+mn-lt"/>
              </a:rPr>
              <a:t>może </a:t>
            </a:r>
            <a:r>
              <a:rPr lang="pl-PL" sz="2200" spc="-20" dirty="0">
                <a:latin typeface="+mn-lt"/>
              </a:rPr>
              <a:t>ułatwiać doraźną akceptację społeczną, </a:t>
            </a:r>
            <a:r>
              <a:rPr lang="pl-PL" sz="2200" spc="-20" dirty="0" smtClean="0">
                <a:latin typeface="+mn-lt"/>
              </a:rPr>
              <a:t>ale </a:t>
            </a:r>
            <a:r>
              <a:rPr lang="pl-PL" sz="2200" spc="-20" dirty="0">
                <a:latin typeface="+mn-lt"/>
              </a:rPr>
              <a:t>wiąże się </a:t>
            </a:r>
            <a:r>
              <a:rPr lang="pl-PL" sz="2200" spc="-20" dirty="0" smtClean="0">
                <a:latin typeface="+mn-lt"/>
              </a:rPr>
              <a:t>z </a:t>
            </a:r>
            <a:r>
              <a:rPr lang="pl-PL" sz="2200" spc="-20" dirty="0">
                <a:latin typeface="+mn-lt"/>
              </a:rPr>
              <a:t>większym obciążeniem psychicznym. </a:t>
            </a:r>
            <a:endParaRPr lang="pl-PL" sz="2200" spc="-20" dirty="0" smtClean="0">
              <a:latin typeface="+mn-lt"/>
            </a:endParaRPr>
          </a:p>
          <a:p>
            <a:pPr lvl="0" algn="ctr"/>
            <a:endParaRPr lang="pl-PL" sz="2200" spc="-20" dirty="0">
              <a:latin typeface="+mn-lt"/>
            </a:endParaRPr>
          </a:p>
          <a:p>
            <a:pPr lvl="0" algn="ctr"/>
            <a:r>
              <a:rPr lang="pl-PL" sz="2200" spc="-20" dirty="0" smtClean="0">
                <a:latin typeface="+mn-lt"/>
              </a:rPr>
              <a:t>Ograniczenie </a:t>
            </a:r>
            <a:r>
              <a:rPr lang="pl-PL" sz="2200" spc="-20" dirty="0">
                <a:latin typeface="+mn-lt"/>
              </a:rPr>
              <a:t>maskowania może natomiast ujawniać konflikty z oczekiwaniami </a:t>
            </a:r>
            <a:r>
              <a:rPr lang="pl-PL" sz="2200" spc="-20" dirty="0" smtClean="0">
                <a:latin typeface="+mn-lt"/>
              </a:rPr>
              <a:t>otoczenia.</a:t>
            </a:r>
          </a:p>
        </p:txBody>
      </p:sp>
      <p:sp>
        <p:nvSpPr>
          <p:cNvPr id="5" name="Prostokąt zaokrąglony 4"/>
          <p:cNvSpPr/>
          <p:nvPr/>
        </p:nvSpPr>
        <p:spPr>
          <a:xfrm>
            <a:off x="548640" y="5351445"/>
            <a:ext cx="10195560" cy="442674"/>
          </a:xfrm>
          <a:prstGeom prst="roundRect">
            <a:avLst/>
          </a:prstGeom>
          <a:solidFill>
            <a:srgbClr val="00B050"/>
          </a:solidFill>
          <a:ln>
            <a:solidFill>
              <a:srgbClr val="517B1F"/>
            </a:solidFill>
          </a:ln>
        </p:spPr>
        <p:style>
          <a:lnRef idx="2">
            <a:schemeClr val="accent2"/>
          </a:lnRef>
          <a:fillRef idx="1">
            <a:schemeClr val="lt1"/>
          </a:fillRef>
          <a:effectRef idx="0">
            <a:schemeClr val="accent2"/>
          </a:effectRef>
          <a:fontRef idx="minor">
            <a:schemeClr val="dk1"/>
          </a:fontRef>
        </p:style>
        <p:txBody>
          <a:bodyPr wrap="square" anchor="ctr">
            <a:spAutoFit/>
          </a:bodyPr>
          <a:lstStyle/>
          <a:p>
            <a:pPr algn="ctr"/>
            <a:r>
              <a:rPr lang="pl-PL" sz="2000" dirty="0">
                <a:solidFill>
                  <a:schemeClr val="bg1"/>
                </a:solidFill>
              </a:rPr>
              <a:t>Ograniczenie maskowania może zmniejszać obciążenie psychiczne i sprzyjać </a:t>
            </a:r>
            <a:r>
              <a:rPr lang="pl-PL" sz="2000" dirty="0" smtClean="0">
                <a:solidFill>
                  <a:schemeClr val="bg1"/>
                </a:solidFill>
              </a:rPr>
              <a:t>poczuciu szczęścia</a:t>
            </a:r>
            <a:endParaRPr lang="pl-PL" sz="2000" dirty="0">
              <a:solidFill>
                <a:schemeClr val="bg1"/>
              </a:solidFill>
            </a:endParaRPr>
          </a:p>
        </p:txBody>
      </p:sp>
      <p:sp>
        <p:nvSpPr>
          <p:cNvPr id="11" name="Prostokąt zaokrąglony 10"/>
          <p:cNvSpPr/>
          <p:nvPr/>
        </p:nvSpPr>
        <p:spPr>
          <a:xfrm>
            <a:off x="548640" y="5886603"/>
            <a:ext cx="10195560" cy="442674"/>
          </a:xfrm>
          <a:prstGeom prst="roundRect">
            <a:avLst/>
          </a:prstGeom>
          <a:solidFill>
            <a:schemeClr val="accent2"/>
          </a:solidFill>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anchor="ctr">
            <a:spAutoFit/>
          </a:bodyPr>
          <a:lstStyle/>
          <a:p>
            <a:pPr algn="ctr"/>
            <a:r>
              <a:rPr lang="pl-PL" sz="2000" dirty="0" smtClean="0">
                <a:solidFill>
                  <a:schemeClr val="bg1"/>
                </a:solidFill>
              </a:rPr>
              <a:t>Ale środowisko </a:t>
            </a:r>
            <a:r>
              <a:rPr lang="pl-PL" sz="2000" dirty="0">
                <a:solidFill>
                  <a:schemeClr val="bg1"/>
                </a:solidFill>
              </a:rPr>
              <a:t>bez dostosowań będzie karać za odstępstwo od norm społecznych</a:t>
            </a:r>
          </a:p>
        </p:txBody>
      </p:sp>
      <p:sp>
        <p:nvSpPr>
          <p:cNvPr id="12" name="TextBox 117"/>
          <p:cNvSpPr txBox="1"/>
          <p:nvPr/>
        </p:nvSpPr>
        <p:spPr>
          <a:xfrm>
            <a:off x="146304" y="6470904"/>
            <a:ext cx="10716768" cy="310896"/>
          </a:xfrm>
          <a:prstGeom prst="rect">
            <a:avLst/>
          </a:prstGeom>
          <a:noFill/>
        </p:spPr>
        <p:txBody>
          <a:bodyPr wrap="square" lIns="0" tIns="0" rIns="0" bIns="0" anchor="b">
            <a:noAutofit/>
          </a:bodyPr>
          <a:lstStyle/>
          <a:p>
            <a:pPr algn="l">
              <a:lnSpc>
                <a:spcPct val="114000"/>
              </a:lnSpc>
            </a:pPr>
            <a:r>
              <a:rPr sz="1100" b="0" dirty="0" err="1">
                <a:solidFill>
                  <a:schemeClr val="bg1">
                    <a:lumMod val="50000"/>
                  </a:schemeClr>
                </a:solidFill>
                <a:latin typeface="Calibri"/>
              </a:rPr>
              <a:t>Źródła</a:t>
            </a:r>
            <a:r>
              <a:rPr sz="1100" b="0" dirty="0">
                <a:solidFill>
                  <a:schemeClr val="bg1">
                    <a:lumMod val="50000"/>
                  </a:schemeClr>
                </a:solidFill>
                <a:latin typeface="Calibri"/>
              </a:rPr>
              <a:t>: Hull </a:t>
            </a:r>
            <a:r>
              <a:rPr sz="1100" b="0" dirty="0" err="1">
                <a:solidFill>
                  <a:schemeClr val="bg1">
                    <a:lumMod val="50000"/>
                  </a:schemeClr>
                </a:solidFill>
                <a:latin typeface="Calibri"/>
              </a:rPr>
              <a:t>i</a:t>
            </a:r>
            <a:r>
              <a:rPr sz="1100" b="0" dirty="0">
                <a:solidFill>
                  <a:schemeClr val="bg1">
                    <a:lumMod val="50000"/>
                  </a:schemeClr>
                </a:solidFill>
                <a:latin typeface="Calibri"/>
              </a:rPr>
              <a:t> in. (2017); Cook </a:t>
            </a:r>
            <a:r>
              <a:rPr sz="1100" b="0" dirty="0" err="1">
                <a:solidFill>
                  <a:schemeClr val="bg1">
                    <a:lumMod val="50000"/>
                  </a:schemeClr>
                </a:solidFill>
                <a:latin typeface="Calibri"/>
              </a:rPr>
              <a:t>i</a:t>
            </a:r>
            <a:r>
              <a:rPr sz="1100" b="0" dirty="0">
                <a:solidFill>
                  <a:schemeClr val="bg1">
                    <a:lumMod val="50000"/>
                  </a:schemeClr>
                </a:solidFill>
                <a:latin typeface="Calibri"/>
              </a:rPr>
              <a:t> in. (2021); Botha </a:t>
            </a:r>
            <a:r>
              <a:rPr sz="1100" b="0" dirty="0" err="1">
                <a:solidFill>
                  <a:schemeClr val="bg1">
                    <a:lumMod val="50000"/>
                  </a:schemeClr>
                </a:solidFill>
                <a:latin typeface="Calibri"/>
              </a:rPr>
              <a:t>i</a:t>
            </a:r>
            <a:r>
              <a:rPr sz="1100" b="0" dirty="0">
                <a:solidFill>
                  <a:schemeClr val="bg1">
                    <a:lumMod val="50000"/>
                  </a:schemeClr>
                </a:solidFill>
                <a:latin typeface="Calibri"/>
              </a:rPr>
              <a:t> Frost (2020); </a:t>
            </a:r>
            <a:r>
              <a:rPr sz="1100" b="0" dirty="0" err="1">
                <a:solidFill>
                  <a:schemeClr val="bg1">
                    <a:lumMod val="50000"/>
                  </a:schemeClr>
                </a:solidFill>
                <a:latin typeface="Calibri"/>
              </a:rPr>
              <a:t>Romualdez</a:t>
            </a:r>
            <a:r>
              <a:rPr sz="1100" b="0" dirty="0">
                <a:solidFill>
                  <a:schemeClr val="bg1">
                    <a:lumMod val="50000"/>
                  </a:schemeClr>
                </a:solidFill>
                <a:latin typeface="Calibri"/>
              </a:rPr>
              <a:t> </a:t>
            </a:r>
            <a:r>
              <a:rPr sz="1100" b="0" dirty="0" err="1">
                <a:solidFill>
                  <a:schemeClr val="bg1">
                    <a:lumMod val="50000"/>
                  </a:schemeClr>
                </a:solidFill>
                <a:latin typeface="Calibri"/>
              </a:rPr>
              <a:t>i</a:t>
            </a:r>
            <a:r>
              <a:rPr sz="1100" b="0" dirty="0">
                <a:solidFill>
                  <a:schemeClr val="bg1">
                    <a:lumMod val="50000"/>
                  </a:schemeClr>
                </a:solidFill>
                <a:latin typeface="Calibri"/>
              </a:rPr>
              <a:t> in. (2021); Sreckovic </a:t>
            </a:r>
            <a:r>
              <a:rPr sz="1100" b="0" dirty="0" err="1">
                <a:solidFill>
                  <a:schemeClr val="bg1">
                    <a:lumMod val="50000"/>
                  </a:schemeClr>
                </a:solidFill>
                <a:latin typeface="Calibri"/>
              </a:rPr>
              <a:t>i</a:t>
            </a:r>
            <a:r>
              <a:rPr sz="1100" b="0" dirty="0">
                <a:solidFill>
                  <a:schemeClr val="bg1">
                    <a:lumMod val="50000"/>
                  </a:schemeClr>
                </a:solidFill>
                <a:latin typeface="Calibri"/>
              </a:rPr>
              <a:t> in. (2024</a:t>
            </a:r>
            <a:r>
              <a:rPr sz="1100" b="0" dirty="0" smtClean="0">
                <a:solidFill>
                  <a:schemeClr val="bg1">
                    <a:lumMod val="50000"/>
                  </a:schemeClr>
                </a:solidFill>
                <a:latin typeface="Calibri"/>
              </a:rPr>
              <a:t>)</a:t>
            </a:r>
            <a:endParaRPr sz="1100" b="0" dirty="0">
              <a:solidFill>
                <a:schemeClr val="bg1">
                  <a:lumMod val="50000"/>
                </a:schemeClr>
              </a:solidFill>
              <a:latin typeface="Calibri"/>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9"/>
          <p:cNvSpPr txBox="1">
            <a:spLocks noGrp="1"/>
          </p:cNvSpPr>
          <p:nvPr>
            <p:ph type="title" idx="100"/>
          </p:nvPr>
        </p:nvSpPr>
        <p:spPr>
          <a:xfrm>
            <a:off x="548640" y="320040"/>
            <a:ext cx="11091600" cy="61113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000"/>
              <a:buFont typeface="Cambria"/>
              <a:buNone/>
            </a:pPr>
            <a:r>
              <a:rPr lang="pl-PL" sz="3000" b="1" dirty="0" smtClean="0">
                <a:solidFill>
                  <a:srgbClr val="12484F"/>
                </a:solidFill>
              </a:rPr>
              <a:t>Ocena potrzeb jest ważniejsza niż etykieta „wysokofunkcjonujący”</a:t>
            </a:r>
            <a:endParaRPr lang="pl-PL" sz="3600" dirty="0"/>
          </a:p>
        </p:txBody>
      </p:sp>
      <p:sp>
        <p:nvSpPr>
          <p:cNvPr id="118" name="Google Shape;118;p9"/>
          <p:cNvSpPr txBox="1">
            <a:spLocks noGrp="1"/>
          </p:cNvSpPr>
          <p:nvPr>
            <p:ph type="sldNum" idx="4294967295"/>
          </p:nvPr>
        </p:nvSpPr>
        <p:spPr>
          <a:xfrm>
            <a:off x="11064240" y="6400800"/>
            <a:ext cx="5760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accent5"/>
                </a:solidFill>
                <a:latin typeface="Calibri"/>
                <a:ea typeface="Calibri"/>
                <a:cs typeface="Calibri"/>
                <a:sym typeface="Calibri"/>
              </a:rPr>
              <a:t>14</a:t>
            </a:fld>
            <a:endParaRPr sz="1200" b="0" i="0" u="none" strike="noStrike" cap="none">
              <a:solidFill>
                <a:schemeClr val="accent5"/>
              </a:solidFill>
              <a:latin typeface="Calibri"/>
              <a:ea typeface="Calibri"/>
              <a:cs typeface="Calibri"/>
              <a:sym typeface="Calibri"/>
            </a:endParaRPr>
          </a:p>
        </p:txBody>
      </p:sp>
      <p:sp>
        <p:nvSpPr>
          <p:cNvPr id="119" name="Rounded Rectangle 118"/>
          <p:cNvSpPr/>
          <p:nvPr/>
        </p:nvSpPr>
        <p:spPr>
          <a:xfrm>
            <a:off x="548640" y="1572768"/>
            <a:ext cx="3520440" cy="3383280"/>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ounded Rectangle 119"/>
          <p:cNvSpPr/>
          <p:nvPr/>
        </p:nvSpPr>
        <p:spPr>
          <a:xfrm>
            <a:off x="731520" y="1654225"/>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731520" y="1764792"/>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1</a:t>
            </a:r>
          </a:p>
        </p:txBody>
      </p:sp>
      <p:sp>
        <p:nvSpPr>
          <p:cNvPr id="122" name="TextBox 121"/>
          <p:cNvSpPr txBox="1"/>
          <p:nvPr/>
        </p:nvSpPr>
        <p:spPr>
          <a:xfrm>
            <a:off x="1417319" y="1764792"/>
            <a:ext cx="2441448" cy="387864"/>
          </a:xfrm>
          <a:prstGeom prst="rect">
            <a:avLst/>
          </a:prstGeom>
          <a:noFill/>
        </p:spPr>
        <p:txBody>
          <a:bodyPr wrap="square" lIns="0" tIns="0" rIns="0" bIns="0" anchor="t">
            <a:noAutofit/>
          </a:bodyPr>
          <a:lstStyle/>
          <a:p>
            <a:pPr algn="l">
              <a:lnSpc>
                <a:spcPct val="103000"/>
              </a:lnSpc>
              <a:spcBef>
                <a:spcPts val="0"/>
              </a:spcBef>
              <a:spcAft>
                <a:spcPts val="0"/>
              </a:spcAft>
            </a:pPr>
            <a:r>
              <a:rPr lang="pl-PL" sz="2300" b="1" dirty="0" smtClean="0">
                <a:solidFill>
                  <a:srgbClr val="12484F"/>
                </a:solidFill>
                <a:latin typeface="Calibri"/>
              </a:rPr>
              <a:t>IQ ≠ samodzielność</a:t>
            </a:r>
            <a:endParaRPr lang="pl-PL" sz="2300" b="1" dirty="0">
              <a:solidFill>
                <a:srgbClr val="12484F"/>
              </a:solidFill>
              <a:latin typeface="Calibri"/>
            </a:endParaRPr>
          </a:p>
        </p:txBody>
      </p:sp>
      <p:sp>
        <p:nvSpPr>
          <p:cNvPr id="124" name="Rounded Rectangle 123"/>
          <p:cNvSpPr/>
          <p:nvPr/>
        </p:nvSpPr>
        <p:spPr>
          <a:xfrm>
            <a:off x="4334256" y="1572768"/>
            <a:ext cx="3520440" cy="3383280"/>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ounded Rectangle 124"/>
          <p:cNvSpPr/>
          <p:nvPr/>
        </p:nvSpPr>
        <p:spPr>
          <a:xfrm>
            <a:off x="4517136" y="1654225"/>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4517136" y="1764792"/>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2</a:t>
            </a:r>
          </a:p>
        </p:txBody>
      </p:sp>
      <p:sp>
        <p:nvSpPr>
          <p:cNvPr id="127" name="TextBox 126"/>
          <p:cNvSpPr txBox="1"/>
          <p:nvPr/>
        </p:nvSpPr>
        <p:spPr>
          <a:xfrm>
            <a:off x="5202936" y="1764792"/>
            <a:ext cx="2441448" cy="387864"/>
          </a:xfrm>
          <a:prstGeom prst="rect">
            <a:avLst/>
          </a:prstGeom>
          <a:noFill/>
        </p:spPr>
        <p:txBody>
          <a:bodyPr wrap="square" lIns="0" tIns="0" rIns="0" bIns="0" anchor="t">
            <a:noAutofit/>
          </a:bodyPr>
          <a:lstStyle/>
          <a:p>
            <a:pPr algn="l">
              <a:lnSpc>
                <a:spcPct val="103000"/>
              </a:lnSpc>
              <a:spcBef>
                <a:spcPts val="0"/>
              </a:spcBef>
              <a:spcAft>
                <a:spcPts val="0"/>
              </a:spcAft>
            </a:pPr>
            <a:r>
              <a:rPr sz="2300" b="1">
                <a:solidFill>
                  <a:srgbClr val="12484F"/>
                </a:solidFill>
                <a:latin typeface="Calibri"/>
              </a:rPr>
              <a:t>Fałszywa prostota</a:t>
            </a:r>
          </a:p>
        </p:txBody>
      </p:sp>
      <p:sp>
        <p:nvSpPr>
          <p:cNvPr id="129" name="Rounded Rectangle 128"/>
          <p:cNvSpPr/>
          <p:nvPr/>
        </p:nvSpPr>
        <p:spPr>
          <a:xfrm>
            <a:off x="8119872" y="1572768"/>
            <a:ext cx="3520440" cy="3383280"/>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ounded Rectangle 129"/>
          <p:cNvSpPr/>
          <p:nvPr/>
        </p:nvSpPr>
        <p:spPr>
          <a:xfrm>
            <a:off x="8302752" y="1654225"/>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8302752" y="1764792"/>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3</a:t>
            </a:r>
          </a:p>
        </p:txBody>
      </p:sp>
      <p:sp>
        <p:nvSpPr>
          <p:cNvPr id="132" name="TextBox 131"/>
          <p:cNvSpPr txBox="1"/>
          <p:nvPr/>
        </p:nvSpPr>
        <p:spPr>
          <a:xfrm>
            <a:off x="8988552" y="1764792"/>
            <a:ext cx="2441448" cy="387864"/>
          </a:xfrm>
          <a:prstGeom prst="rect">
            <a:avLst/>
          </a:prstGeom>
          <a:noFill/>
        </p:spPr>
        <p:txBody>
          <a:bodyPr wrap="square" lIns="0" tIns="0" rIns="0" bIns="0" anchor="t">
            <a:noAutofit/>
          </a:bodyPr>
          <a:lstStyle/>
          <a:p>
            <a:pPr algn="l">
              <a:lnSpc>
                <a:spcPct val="103000"/>
              </a:lnSpc>
              <a:spcBef>
                <a:spcPts val="0"/>
              </a:spcBef>
              <a:spcAft>
                <a:spcPts val="0"/>
              </a:spcAft>
            </a:pPr>
            <a:r>
              <a:rPr sz="2300" b="1">
                <a:solidFill>
                  <a:srgbClr val="12484F"/>
                </a:solidFill>
                <a:latin typeface="Calibri"/>
              </a:rPr>
              <a:t>Krytyka bez danych</a:t>
            </a:r>
          </a:p>
        </p:txBody>
      </p:sp>
      <p:sp>
        <p:nvSpPr>
          <p:cNvPr id="134" name="Rounded Rectangle 133"/>
          <p:cNvSpPr/>
          <p:nvPr/>
        </p:nvSpPr>
        <p:spPr>
          <a:xfrm>
            <a:off x="548640" y="5166360"/>
            <a:ext cx="11091672" cy="905256"/>
          </a:xfrm>
          <a:prstGeom prst="roundRect">
            <a:avLst>
              <a:gd name="adj" fmla="val 12000"/>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786384" y="5250166"/>
            <a:ext cx="1646423" cy="731520"/>
          </a:xfrm>
          <a:prstGeom prst="rect">
            <a:avLst/>
          </a:prstGeom>
          <a:noFill/>
        </p:spPr>
        <p:txBody>
          <a:bodyPr wrap="square" lIns="0" tIns="0" rIns="0" bIns="0" anchor="ctr">
            <a:noAutofit/>
          </a:bodyPr>
          <a:lstStyle/>
          <a:p>
            <a:pPr algn="l">
              <a:lnSpc>
                <a:spcPct val="103000"/>
              </a:lnSpc>
              <a:spcBef>
                <a:spcPts val="0"/>
              </a:spcBef>
              <a:spcAft>
                <a:spcPts val="0"/>
              </a:spcAft>
            </a:pPr>
            <a:r>
              <a:rPr lang="pl-PL" sz="2400" b="1" dirty="0" smtClean="0">
                <a:solidFill>
                  <a:srgbClr val="FFFFFF"/>
                </a:solidFill>
                <a:latin typeface="Calibri"/>
              </a:rPr>
              <a:t>Zamiast etykiet</a:t>
            </a:r>
            <a:endParaRPr lang="pl-PL" sz="2400" b="1" dirty="0">
              <a:solidFill>
                <a:srgbClr val="FFFFFF"/>
              </a:solidFill>
              <a:latin typeface="Calibri"/>
            </a:endParaRPr>
          </a:p>
        </p:txBody>
      </p:sp>
      <p:sp>
        <p:nvSpPr>
          <p:cNvPr id="136" name="TextBox 135"/>
          <p:cNvSpPr txBox="1"/>
          <p:nvPr/>
        </p:nvSpPr>
        <p:spPr>
          <a:xfrm>
            <a:off x="2256639" y="5241777"/>
            <a:ext cx="9253476" cy="740664"/>
          </a:xfrm>
          <a:prstGeom prst="rect">
            <a:avLst/>
          </a:prstGeom>
          <a:noFill/>
        </p:spPr>
        <p:txBody>
          <a:bodyPr wrap="square" lIns="0" tIns="0" rIns="0" bIns="0" anchor="ctr">
            <a:noAutofit/>
          </a:bodyPr>
          <a:lstStyle/>
          <a:p>
            <a:pPr algn="l">
              <a:lnSpc>
                <a:spcPct val="103000"/>
              </a:lnSpc>
              <a:spcBef>
                <a:spcPts val="0"/>
              </a:spcBef>
              <a:spcAft>
                <a:spcPts val="0"/>
              </a:spcAft>
            </a:pPr>
            <a:r>
              <a:rPr lang="pl-PL" sz="2400" b="0" dirty="0" smtClean="0">
                <a:solidFill>
                  <a:srgbClr val="FFFFFF"/>
                </a:solidFill>
                <a:latin typeface="Calibri"/>
              </a:rPr>
              <a:t>Opisz język, adaptację, </a:t>
            </a:r>
            <a:r>
              <a:rPr lang="pl-PL" sz="2400" b="0" dirty="0" err="1" smtClean="0">
                <a:solidFill>
                  <a:srgbClr val="FFFFFF"/>
                </a:solidFill>
                <a:latin typeface="Calibri"/>
              </a:rPr>
              <a:t>sensorykę</a:t>
            </a:r>
            <a:r>
              <a:rPr lang="pl-PL" sz="2400" b="0" dirty="0" smtClean="0">
                <a:solidFill>
                  <a:srgbClr val="FFFFFF"/>
                </a:solidFill>
                <a:latin typeface="Calibri"/>
              </a:rPr>
              <a:t>, zdrowie psychiczne i potrzebne wsparcie</a:t>
            </a:r>
            <a:endParaRPr lang="pl-PL" sz="2400" b="0" dirty="0">
              <a:solidFill>
                <a:srgbClr val="FFFFFF"/>
              </a:solidFill>
              <a:latin typeface="Calibri"/>
            </a:endParaRPr>
          </a:p>
        </p:txBody>
      </p:sp>
      <p:sp>
        <p:nvSpPr>
          <p:cNvPr id="137" name="TextBox 136"/>
          <p:cNvSpPr txBox="1"/>
          <p:nvPr/>
        </p:nvSpPr>
        <p:spPr>
          <a:xfrm>
            <a:off x="163082" y="6420598"/>
            <a:ext cx="10744200" cy="310896"/>
          </a:xfrm>
          <a:prstGeom prst="rect">
            <a:avLst/>
          </a:prstGeom>
          <a:noFill/>
        </p:spPr>
        <p:txBody>
          <a:bodyPr wrap="square" lIns="0" tIns="0" rIns="0" bIns="0" anchor="b">
            <a:noAutofit/>
          </a:bodyPr>
          <a:lstStyle/>
          <a:p>
            <a:pPr algn="l">
              <a:lnSpc>
                <a:spcPct val="103000"/>
              </a:lnSpc>
              <a:spcBef>
                <a:spcPts val="0"/>
              </a:spcBef>
              <a:spcAft>
                <a:spcPts val="0"/>
              </a:spcAft>
            </a:pPr>
            <a:r>
              <a:rPr lang="pl-PL" sz="1100" b="0" dirty="0" smtClean="0">
                <a:solidFill>
                  <a:schemeClr val="bg1">
                    <a:lumMod val="65000"/>
                  </a:schemeClr>
                </a:solidFill>
                <a:latin typeface="Calibri"/>
              </a:rPr>
              <a:t>Źródła: </a:t>
            </a:r>
            <a:r>
              <a:rPr sz="1100" b="0" dirty="0" err="1" smtClean="0">
                <a:solidFill>
                  <a:schemeClr val="bg1">
                    <a:lumMod val="65000"/>
                  </a:schemeClr>
                </a:solidFill>
                <a:latin typeface="Calibri"/>
              </a:rPr>
              <a:t>Alvares</a:t>
            </a:r>
            <a:r>
              <a:rPr sz="1100" b="0" dirty="0" smtClean="0">
                <a:solidFill>
                  <a:schemeClr val="bg1">
                    <a:lumMod val="65000"/>
                  </a:schemeClr>
                </a:solidFill>
                <a:latin typeface="Calibri"/>
              </a:rPr>
              <a:t> </a:t>
            </a:r>
            <a:r>
              <a:rPr sz="1100" b="0" dirty="0" err="1">
                <a:solidFill>
                  <a:schemeClr val="bg1">
                    <a:lumMod val="65000"/>
                  </a:schemeClr>
                </a:solidFill>
                <a:latin typeface="Calibri"/>
              </a:rPr>
              <a:t>i</a:t>
            </a:r>
            <a:r>
              <a:rPr sz="1100" b="0" dirty="0">
                <a:solidFill>
                  <a:schemeClr val="bg1">
                    <a:lumMod val="65000"/>
                  </a:schemeClr>
                </a:solidFill>
                <a:latin typeface="Calibri"/>
              </a:rPr>
              <a:t> in. (2020), n = 2225; WHO ICD-11 (2024); DHSC (2026</a:t>
            </a:r>
            <a:r>
              <a:rPr sz="1100" b="0" dirty="0" smtClean="0">
                <a:solidFill>
                  <a:schemeClr val="bg1">
                    <a:lumMod val="65000"/>
                  </a:schemeClr>
                </a:solidFill>
                <a:latin typeface="Calibri"/>
              </a:rPr>
              <a:t>)</a:t>
            </a:r>
            <a:endParaRPr sz="1100" b="0" dirty="0">
              <a:solidFill>
                <a:schemeClr val="bg1">
                  <a:lumMod val="65000"/>
                </a:schemeClr>
              </a:solidFill>
              <a:latin typeface="Calibri"/>
            </a:endParaRPr>
          </a:p>
        </p:txBody>
      </p:sp>
      <p:sp>
        <p:nvSpPr>
          <p:cNvPr id="23" name="TextBox 122"/>
          <p:cNvSpPr txBox="1"/>
          <p:nvPr/>
        </p:nvSpPr>
        <p:spPr>
          <a:xfrm>
            <a:off x="731520" y="2817022"/>
            <a:ext cx="3118104" cy="1268039"/>
          </a:xfrm>
          <a:prstGeom prst="rect">
            <a:avLst/>
          </a:prstGeom>
          <a:noFill/>
        </p:spPr>
        <p:txBody>
          <a:bodyPr wrap="square" lIns="0" tIns="0" rIns="0" bIns="0" anchor="t">
            <a:spAutoFit/>
          </a:bodyPr>
          <a:lstStyle/>
          <a:p>
            <a:pPr algn="l">
              <a:lnSpc>
                <a:spcPct val="103000"/>
              </a:lnSpc>
              <a:spcBef>
                <a:spcPts val="0"/>
              </a:spcBef>
              <a:spcAft>
                <a:spcPts val="0"/>
              </a:spcAft>
            </a:pPr>
            <a:r>
              <a:rPr lang="pl-PL" sz="2000" b="0" dirty="0" smtClean="0">
                <a:solidFill>
                  <a:srgbClr val="1F2D30"/>
                </a:solidFill>
                <a:latin typeface="Calibri"/>
              </a:rPr>
              <a:t>Badanie 2225 dzieci wykazało, że IQ słabo przewiduje umiejętności adaptacyjne </a:t>
            </a:r>
            <a:br>
              <a:rPr lang="pl-PL" sz="2000" b="0" dirty="0" smtClean="0">
                <a:solidFill>
                  <a:srgbClr val="1F2D30"/>
                </a:solidFill>
                <a:latin typeface="Calibri"/>
              </a:rPr>
            </a:br>
            <a:r>
              <a:rPr lang="pl-PL" sz="2000" b="0" dirty="0" smtClean="0">
                <a:solidFill>
                  <a:srgbClr val="1F2D30"/>
                </a:solidFill>
                <a:latin typeface="Calibri"/>
              </a:rPr>
              <a:t>u dzieci z ASD</a:t>
            </a:r>
            <a:endParaRPr lang="pl-PL" sz="2000" b="0" dirty="0">
              <a:solidFill>
                <a:srgbClr val="1F2D30"/>
              </a:solidFill>
              <a:latin typeface="Calibri"/>
            </a:endParaRPr>
          </a:p>
        </p:txBody>
      </p:sp>
      <p:sp>
        <p:nvSpPr>
          <p:cNvPr id="24" name="TextBox 127"/>
          <p:cNvSpPr txBox="1"/>
          <p:nvPr/>
        </p:nvSpPr>
        <p:spPr>
          <a:xfrm>
            <a:off x="4462943" y="2794246"/>
            <a:ext cx="3433698" cy="1585049"/>
          </a:xfrm>
          <a:prstGeom prst="rect">
            <a:avLst/>
          </a:prstGeom>
          <a:noFill/>
        </p:spPr>
        <p:txBody>
          <a:bodyPr wrap="square" lIns="0" tIns="0" rIns="0" bIns="0" anchor="t">
            <a:spAutoFit/>
          </a:bodyPr>
          <a:lstStyle/>
          <a:p>
            <a:pPr>
              <a:lnSpc>
                <a:spcPct val="103000"/>
              </a:lnSpc>
            </a:pPr>
            <a:r>
              <a:rPr lang="pl-PL" sz="2000" dirty="0">
                <a:solidFill>
                  <a:srgbClr val="1F2D30"/>
                </a:solidFill>
              </a:rPr>
              <a:t>Określenia „wysoko-</a:t>
            </a:r>
            <a:r>
              <a:rPr lang="pl-PL" sz="2000" dirty="0" smtClean="0">
                <a:solidFill>
                  <a:srgbClr val="1F2D30"/>
                </a:solidFill>
              </a:rPr>
              <a:t>” i </a:t>
            </a:r>
            <a:r>
              <a:rPr lang="pl-PL" sz="2000" dirty="0">
                <a:solidFill>
                  <a:srgbClr val="1F2D30"/>
                </a:solidFill>
              </a:rPr>
              <a:t>„</a:t>
            </a:r>
            <a:r>
              <a:rPr lang="pl-PL" sz="2000" dirty="0" smtClean="0">
                <a:solidFill>
                  <a:srgbClr val="1F2D30"/>
                </a:solidFill>
              </a:rPr>
              <a:t>nisko-</a:t>
            </a:r>
            <a:r>
              <a:rPr lang="pl-PL" sz="2000" dirty="0">
                <a:solidFill>
                  <a:srgbClr val="1F2D30"/>
                </a:solidFill>
              </a:rPr>
              <a:t> ”</a:t>
            </a:r>
            <a:r>
              <a:rPr lang="pl-PL" sz="2000" dirty="0" smtClean="0">
                <a:solidFill>
                  <a:srgbClr val="1F2D30"/>
                </a:solidFill>
              </a:rPr>
              <a:t> </a:t>
            </a:r>
            <a:r>
              <a:rPr lang="pl-PL" sz="2000" dirty="0">
                <a:solidFill>
                  <a:srgbClr val="1F2D30"/>
                </a:solidFill>
              </a:rPr>
              <a:t>funkcjonujący mogą ukrywać odmienne </a:t>
            </a:r>
            <a:r>
              <a:rPr lang="pl-PL" sz="2000" dirty="0" smtClean="0">
                <a:solidFill>
                  <a:srgbClr val="1F2D30"/>
                </a:solidFill>
              </a:rPr>
              <a:t>potrzeby i adaptacje w </a:t>
            </a:r>
            <a:r>
              <a:rPr lang="pl-PL" sz="2000" dirty="0">
                <a:solidFill>
                  <a:srgbClr val="1F2D30"/>
                </a:solidFill>
              </a:rPr>
              <a:t>komunikacji i życiu </a:t>
            </a:r>
            <a:r>
              <a:rPr lang="pl-PL" sz="2000" dirty="0" smtClean="0">
                <a:solidFill>
                  <a:srgbClr val="1F2D30"/>
                </a:solidFill>
              </a:rPr>
              <a:t>codziennym</a:t>
            </a:r>
            <a:endParaRPr lang="pl-PL" sz="2000" dirty="0">
              <a:solidFill>
                <a:srgbClr val="1F2D30"/>
              </a:solidFill>
            </a:endParaRPr>
          </a:p>
        </p:txBody>
      </p:sp>
      <p:sp>
        <p:nvSpPr>
          <p:cNvPr id="25" name="TextBox 132"/>
          <p:cNvSpPr txBox="1"/>
          <p:nvPr/>
        </p:nvSpPr>
        <p:spPr>
          <a:xfrm>
            <a:off x="8379763" y="2794246"/>
            <a:ext cx="3118104" cy="1268039"/>
          </a:xfrm>
          <a:prstGeom prst="rect">
            <a:avLst/>
          </a:prstGeom>
          <a:noFill/>
        </p:spPr>
        <p:txBody>
          <a:bodyPr wrap="square" lIns="0" tIns="0" rIns="0" bIns="0" anchor="t">
            <a:spAutoFit/>
          </a:bodyPr>
          <a:lstStyle/>
          <a:p>
            <a:pPr algn="l">
              <a:lnSpc>
                <a:spcPct val="103000"/>
              </a:lnSpc>
              <a:spcBef>
                <a:spcPts val="0"/>
              </a:spcBef>
              <a:spcAft>
                <a:spcPts val="0"/>
              </a:spcAft>
            </a:pPr>
            <a:r>
              <a:rPr lang="pl-PL" sz="2000" b="0" dirty="0" smtClean="0">
                <a:solidFill>
                  <a:srgbClr val="1F2D30"/>
                </a:solidFill>
                <a:latin typeface="Calibri"/>
              </a:rPr>
              <a:t>Zarzuty masowej </a:t>
            </a:r>
            <a:r>
              <a:rPr lang="pl-PL" sz="2000" b="0" dirty="0" err="1" smtClean="0">
                <a:solidFill>
                  <a:srgbClr val="1F2D30"/>
                </a:solidFill>
                <a:latin typeface="Calibri"/>
              </a:rPr>
              <a:t>naddiagnozy</a:t>
            </a:r>
            <a:r>
              <a:rPr lang="pl-PL" sz="2000" b="0" dirty="0" smtClean="0">
                <a:solidFill>
                  <a:srgbClr val="1F2D30"/>
                </a:solidFill>
                <a:latin typeface="Calibri"/>
              </a:rPr>
              <a:t> nie zastępują weryfikacji jakości diagnozy i oceny indywidualnych potrzeb.</a:t>
            </a:r>
            <a:endParaRPr lang="pl-PL" sz="2000" b="0" dirty="0">
              <a:solidFill>
                <a:srgbClr val="1F2D30"/>
              </a:solidFill>
              <a:latin typeface="Calibri"/>
            </a:endParaRPr>
          </a:p>
        </p:txBody>
      </p:sp>
    </p:spTree>
    <p:extLst>
      <p:ext uri="{BB962C8B-B14F-4D97-AF65-F5344CB8AC3E}">
        <p14:creationId xmlns:p14="http://schemas.microsoft.com/office/powerpoint/2010/main" val="31362569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0"/>
          <p:cNvSpPr txBox="1">
            <a:spLocks noGrp="1"/>
          </p:cNvSpPr>
          <p:nvPr>
            <p:ph type="title" idx="100"/>
          </p:nvPr>
        </p:nvSpPr>
        <p:spPr>
          <a:xfrm>
            <a:off x="548706" y="156940"/>
            <a:ext cx="11091600" cy="1051500"/>
          </a:xfrm>
          <a:prstGeom prst="rect">
            <a:avLst/>
          </a:prstGeom>
          <a:noFill/>
          <a:ln>
            <a:noFill/>
          </a:ln>
        </p:spPr>
        <p:txBody>
          <a:bodyPr spcFirstLastPara="1" wrap="square" lIns="0" tIns="0" rIns="0" bIns="0" anchor="ctr" anchorCtr="0">
            <a:noAutofit/>
          </a:bodyPr>
          <a:lstStyle/>
          <a:p>
            <a:pPr lvl="0">
              <a:spcBef>
                <a:spcPts val="0"/>
              </a:spcBef>
              <a:buClr>
                <a:schemeClr val="dk2"/>
              </a:buClr>
              <a:buSzPts val="3000"/>
            </a:pPr>
            <a:r>
              <a:rPr lang="pl-PL" dirty="0">
                <a:solidFill>
                  <a:schemeClr val="dk2"/>
                </a:solidFill>
              </a:rPr>
              <a:t>Prawie połowa Polaków nie zna autyzmu lub uważa go </a:t>
            </a:r>
            <a:br>
              <a:rPr lang="pl-PL" dirty="0">
                <a:solidFill>
                  <a:schemeClr val="dk2"/>
                </a:solidFill>
              </a:rPr>
            </a:br>
            <a:r>
              <a:rPr lang="pl-PL" dirty="0">
                <a:solidFill>
                  <a:schemeClr val="dk2"/>
                </a:solidFill>
              </a:rPr>
              <a:t>za problem dzieci </a:t>
            </a:r>
            <a:r>
              <a:rPr lang="pl-PL" b="0" dirty="0" smtClean="0">
                <a:solidFill>
                  <a:schemeClr val="dk2"/>
                </a:solidFill>
              </a:rPr>
              <a:t>(CBOS 2015)</a:t>
            </a:r>
            <a:endParaRPr sz="3000" b="0" dirty="0"/>
          </a:p>
        </p:txBody>
      </p:sp>
      <p:sp>
        <p:nvSpPr>
          <p:cNvPr id="122" name="Google Shape;122;p10"/>
          <p:cNvSpPr/>
          <p:nvPr/>
        </p:nvSpPr>
        <p:spPr>
          <a:xfrm>
            <a:off x="548640" y="1600200"/>
            <a:ext cx="3520500" cy="2011800"/>
          </a:xfrm>
          <a:prstGeom prst="roundRect">
            <a:avLst>
              <a:gd name="adj" fmla="val 5455"/>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0"/>
          <p:cNvSpPr txBox="1"/>
          <p:nvPr/>
        </p:nvSpPr>
        <p:spPr>
          <a:xfrm>
            <a:off x="777240" y="1691640"/>
            <a:ext cx="310890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5400"/>
              <a:buFont typeface="Cambria"/>
              <a:buNone/>
            </a:pPr>
            <a:r>
              <a:rPr lang="en-US" sz="5400" b="1" i="0" u="none" strike="noStrike" cap="none">
                <a:solidFill>
                  <a:schemeClr val="accent2"/>
                </a:solidFill>
                <a:latin typeface="Cambria"/>
                <a:ea typeface="Cambria"/>
                <a:cs typeface="Cambria"/>
                <a:sym typeface="Cambria"/>
              </a:rPr>
              <a:t>21%</a:t>
            </a:r>
            <a:endParaRPr sz="5400" b="0" i="0" u="none" strike="noStrike" cap="none">
              <a:solidFill>
                <a:schemeClr val="dk1"/>
              </a:solidFill>
              <a:latin typeface="Calibri"/>
              <a:ea typeface="Calibri"/>
              <a:cs typeface="Calibri"/>
              <a:sym typeface="Calibri"/>
            </a:endParaRPr>
          </a:p>
        </p:txBody>
      </p:sp>
      <p:sp>
        <p:nvSpPr>
          <p:cNvPr id="124" name="Google Shape;124;p10"/>
          <p:cNvSpPr txBox="1"/>
          <p:nvPr/>
        </p:nvSpPr>
        <p:spPr>
          <a:xfrm>
            <a:off x="777240" y="2651760"/>
            <a:ext cx="310890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900"/>
              <a:buFont typeface="Calibri"/>
              <a:buNone/>
            </a:pPr>
            <a:r>
              <a:rPr lang="pl-PL" sz="2400" b="0" i="0" u="none" strike="noStrike" cap="none" dirty="0" smtClean="0">
                <a:solidFill>
                  <a:schemeClr val="dk1"/>
                </a:solidFill>
                <a:latin typeface="Calibri"/>
                <a:ea typeface="Calibri"/>
                <a:cs typeface="Calibri"/>
                <a:sym typeface="Calibri"/>
              </a:rPr>
              <a:t>uważa, że autyzm dotyczy tylko dzieci</a:t>
            </a:r>
            <a:endParaRPr lang="pl-PL" sz="2400" b="0" i="0" u="none" strike="noStrike" cap="none" dirty="0">
              <a:solidFill>
                <a:schemeClr val="dk1"/>
              </a:solidFill>
              <a:latin typeface="Calibri"/>
              <a:ea typeface="Calibri"/>
              <a:cs typeface="Calibri"/>
              <a:sym typeface="Calibri"/>
            </a:endParaRPr>
          </a:p>
        </p:txBody>
      </p:sp>
      <p:sp>
        <p:nvSpPr>
          <p:cNvPr id="125" name="Google Shape;125;p10"/>
          <p:cNvSpPr/>
          <p:nvPr/>
        </p:nvSpPr>
        <p:spPr>
          <a:xfrm>
            <a:off x="4334256" y="1600200"/>
            <a:ext cx="3520500" cy="2011800"/>
          </a:xfrm>
          <a:prstGeom prst="roundRect">
            <a:avLst>
              <a:gd name="adj" fmla="val 5455"/>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0"/>
          <p:cNvSpPr txBox="1"/>
          <p:nvPr/>
        </p:nvSpPr>
        <p:spPr>
          <a:xfrm>
            <a:off x="4562856" y="1691640"/>
            <a:ext cx="310890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5400"/>
              <a:buFont typeface="Cambria"/>
              <a:buNone/>
            </a:pPr>
            <a:r>
              <a:rPr lang="en-US" sz="5400" b="1" i="0" u="none" strike="noStrike" cap="none">
                <a:solidFill>
                  <a:schemeClr val="accent2"/>
                </a:solidFill>
                <a:latin typeface="Cambria"/>
                <a:ea typeface="Cambria"/>
                <a:cs typeface="Cambria"/>
                <a:sym typeface="Cambria"/>
              </a:rPr>
              <a:t>12%</a:t>
            </a:r>
            <a:endParaRPr sz="5400" b="0" i="0" u="none" strike="noStrike" cap="none">
              <a:solidFill>
                <a:schemeClr val="dk1"/>
              </a:solidFill>
              <a:latin typeface="Calibri"/>
              <a:ea typeface="Calibri"/>
              <a:cs typeface="Calibri"/>
              <a:sym typeface="Calibri"/>
            </a:endParaRPr>
          </a:p>
        </p:txBody>
      </p:sp>
      <p:sp>
        <p:nvSpPr>
          <p:cNvPr id="127" name="Google Shape;127;p10"/>
          <p:cNvSpPr txBox="1"/>
          <p:nvPr/>
        </p:nvSpPr>
        <p:spPr>
          <a:xfrm>
            <a:off x="4562856" y="2651760"/>
            <a:ext cx="310890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900"/>
              <a:buFont typeface="Calibri"/>
              <a:buNone/>
            </a:pPr>
            <a:r>
              <a:rPr lang="pl-PL" sz="2400" b="0" i="0" u="none" strike="noStrike" cap="none" dirty="0" smtClean="0">
                <a:solidFill>
                  <a:schemeClr val="dk1"/>
                </a:solidFill>
                <a:latin typeface="Calibri"/>
                <a:ea typeface="Calibri"/>
                <a:cs typeface="Calibri"/>
                <a:sym typeface="Calibri"/>
              </a:rPr>
              <a:t>nie wie, czy autyzm występuje u dorosłych</a:t>
            </a:r>
            <a:endParaRPr lang="pl-PL" sz="2400" b="0" i="0" u="none" strike="noStrike" cap="none" dirty="0">
              <a:solidFill>
                <a:schemeClr val="dk1"/>
              </a:solidFill>
              <a:latin typeface="Calibri"/>
              <a:ea typeface="Calibri"/>
              <a:cs typeface="Calibri"/>
              <a:sym typeface="Calibri"/>
            </a:endParaRPr>
          </a:p>
        </p:txBody>
      </p:sp>
      <p:sp>
        <p:nvSpPr>
          <p:cNvPr id="128" name="Google Shape;128;p10"/>
          <p:cNvSpPr/>
          <p:nvPr/>
        </p:nvSpPr>
        <p:spPr>
          <a:xfrm>
            <a:off x="8119872" y="1600200"/>
            <a:ext cx="3520500" cy="2011800"/>
          </a:xfrm>
          <a:prstGeom prst="roundRect">
            <a:avLst>
              <a:gd name="adj" fmla="val 5455"/>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0"/>
          <p:cNvSpPr txBox="1"/>
          <p:nvPr/>
        </p:nvSpPr>
        <p:spPr>
          <a:xfrm>
            <a:off x="8348472" y="1691640"/>
            <a:ext cx="310890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5400"/>
              <a:buFont typeface="Cambria"/>
              <a:buNone/>
            </a:pPr>
            <a:r>
              <a:rPr lang="en-US" sz="5400" b="1" i="0" u="none" strike="noStrike" cap="none">
                <a:solidFill>
                  <a:schemeClr val="accent2"/>
                </a:solidFill>
                <a:latin typeface="Cambria"/>
                <a:ea typeface="Cambria"/>
                <a:cs typeface="Cambria"/>
                <a:sym typeface="Cambria"/>
              </a:rPr>
              <a:t>15%</a:t>
            </a:r>
            <a:endParaRPr sz="5400" b="0" i="0" u="none" strike="noStrike" cap="none">
              <a:solidFill>
                <a:schemeClr val="dk1"/>
              </a:solidFill>
              <a:latin typeface="Calibri"/>
              <a:ea typeface="Calibri"/>
              <a:cs typeface="Calibri"/>
              <a:sym typeface="Calibri"/>
            </a:endParaRPr>
          </a:p>
        </p:txBody>
      </p:sp>
      <p:sp>
        <p:nvSpPr>
          <p:cNvPr id="130" name="Google Shape;130;p10"/>
          <p:cNvSpPr txBox="1"/>
          <p:nvPr/>
        </p:nvSpPr>
        <p:spPr>
          <a:xfrm>
            <a:off x="8348472" y="2651760"/>
            <a:ext cx="310890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900"/>
              <a:buFont typeface="Calibri"/>
              <a:buNone/>
            </a:pPr>
            <a:r>
              <a:rPr lang="pl-PL" sz="2400" b="0" i="0" u="none" strike="noStrike" cap="none" dirty="0" smtClean="0">
                <a:solidFill>
                  <a:schemeClr val="dk1"/>
                </a:solidFill>
                <a:latin typeface="Calibri"/>
                <a:ea typeface="Calibri"/>
                <a:cs typeface="Calibri"/>
                <a:sym typeface="Calibri"/>
              </a:rPr>
              <a:t>w ogóle nie słyszało o autyzmie</a:t>
            </a:r>
            <a:endParaRPr lang="pl-PL" sz="2400" b="0" i="0" u="none" strike="noStrike" cap="none" dirty="0">
              <a:solidFill>
                <a:schemeClr val="dk1"/>
              </a:solidFill>
              <a:latin typeface="Calibri"/>
              <a:ea typeface="Calibri"/>
              <a:cs typeface="Calibri"/>
              <a:sym typeface="Calibri"/>
            </a:endParaRPr>
          </a:p>
        </p:txBody>
      </p:sp>
      <p:sp>
        <p:nvSpPr>
          <p:cNvPr id="131" name="Google Shape;131;p10"/>
          <p:cNvSpPr/>
          <p:nvPr/>
        </p:nvSpPr>
        <p:spPr>
          <a:xfrm>
            <a:off x="548640" y="3794760"/>
            <a:ext cx="5440800" cy="1743460"/>
          </a:xfrm>
          <a:prstGeom prst="roundRect">
            <a:avLst>
              <a:gd name="adj" fmla="val 5581"/>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0"/>
          <p:cNvSpPr txBox="1"/>
          <p:nvPr/>
        </p:nvSpPr>
        <p:spPr>
          <a:xfrm>
            <a:off x="777240" y="3931920"/>
            <a:ext cx="5029200" cy="1737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900"/>
              <a:buFont typeface="Calibri"/>
              <a:buNone/>
            </a:pPr>
            <a:r>
              <a:rPr lang="pl-PL" sz="2400" b="1" i="0" u="none" strike="noStrike" cap="none" dirty="0" smtClean="0">
                <a:solidFill>
                  <a:schemeClr val="accent1"/>
                </a:solidFill>
                <a:latin typeface="Calibri"/>
                <a:ea typeface="Calibri"/>
                <a:cs typeface="Calibri"/>
                <a:sym typeface="Calibri"/>
              </a:rPr>
              <a:t>Karta Praw Osób z Autyzmem </a:t>
            </a:r>
          </a:p>
          <a:p>
            <a:pPr marL="0" marR="0" lvl="0" indent="0" algn="l" rtl="0">
              <a:spcBef>
                <a:spcPts val="0"/>
              </a:spcBef>
              <a:spcAft>
                <a:spcPts val="0"/>
              </a:spcAft>
              <a:buClr>
                <a:schemeClr val="accent1"/>
              </a:buClr>
              <a:buSzPts val="1900"/>
              <a:buFont typeface="Calibri"/>
              <a:buNone/>
            </a:pPr>
            <a:r>
              <a:rPr lang="pl-PL" sz="2400" b="0" i="1" u="none" strike="noStrike" cap="none" dirty="0" smtClean="0">
                <a:solidFill>
                  <a:schemeClr val="dk1"/>
                </a:solidFill>
                <a:latin typeface="Calibri"/>
                <a:ea typeface="Calibri"/>
                <a:cs typeface="Calibri"/>
                <a:sym typeface="Calibri"/>
              </a:rPr>
              <a:t>(uchwała Sejmu z 12 lipca 2013): </a:t>
            </a:r>
          </a:p>
          <a:p>
            <a:pPr marL="0" marR="0" lvl="0" indent="0" algn="l" rtl="0">
              <a:spcBef>
                <a:spcPts val="0"/>
              </a:spcBef>
              <a:spcAft>
                <a:spcPts val="0"/>
              </a:spcAft>
              <a:buClr>
                <a:schemeClr val="accent1"/>
              </a:buClr>
              <a:buSzPts val="1900"/>
              <a:buFont typeface="Calibri"/>
              <a:buNone/>
            </a:pPr>
            <a:r>
              <a:rPr lang="pl-PL" sz="2400" b="0" i="0" u="none" strike="noStrike" cap="none" dirty="0" smtClean="0">
                <a:solidFill>
                  <a:schemeClr val="dk1"/>
                </a:solidFill>
                <a:latin typeface="Calibri"/>
                <a:ea typeface="Calibri"/>
                <a:cs typeface="Calibri"/>
                <a:sym typeface="Calibri"/>
              </a:rPr>
              <a:t>m.in. prawo do udziału w kulturze, rozrywce, wypoczynku i sporcie</a:t>
            </a:r>
            <a:endParaRPr lang="pl-PL" sz="2400" b="0" i="0" u="none" strike="noStrike" cap="none" dirty="0">
              <a:solidFill>
                <a:schemeClr val="dk1"/>
              </a:solidFill>
              <a:latin typeface="Calibri"/>
              <a:ea typeface="Calibri"/>
              <a:cs typeface="Calibri"/>
              <a:sym typeface="Calibri"/>
            </a:endParaRPr>
          </a:p>
        </p:txBody>
      </p:sp>
      <p:sp>
        <p:nvSpPr>
          <p:cNvPr id="133" name="Google Shape;133;p10"/>
          <p:cNvSpPr/>
          <p:nvPr/>
        </p:nvSpPr>
        <p:spPr>
          <a:xfrm>
            <a:off x="6199632" y="3794760"/>
            <a:ext cx="5440800" cy="1743460"/>
          </a:xfrm>
          <a:prstGeom prst="roundRect">
            <a:avLst>
              <a:gd name="adj" fmla="val 5581"/>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0"/>
          <p:cNvSpPr txBox="1"/>
          <p:nvPr/>
        </p:nvSpPr>
        <p:spPr>
          <a:xfrm>
            <a:off x="6405462" y="3886200"/>
            <a:ext cx="5029140" cy="1549866"/>
          </a:xfrm>
          <a:prstGeom prst="rect">
            <a:avLst/>
          </a:prstGeom>
          <a:noFill/>
          <a:ln>
            <a:noFill/>
          </a:ln>
        </p:spPr>
        <p:txBody>
          <a:bodyPr spcFirstLastPara="1" wrap="square" lIns="0" tIns="0" rIns="0" bIns="0" anchor="t" anchorCtr="0">
            <a:noAutofit/>
          </a:bodyPr>
          <a:lstStyle/>
          <a:p>
            <a:pPr lvl="0">
              <a:buClr>
                <a:schemeClr val="accent1"/>
              </a:buClr>
              <a:buSzPts val="1900"/>
            </a:pPr>
            <a:r>
              <a:rPr lang="pl-PL" sz="2400" b="1" dirty="0" smtClean="0">
                <a:solidFill>
                  <a:schemeClr val="accent1"/>
                </a:solidFill>
                <a:ea typeface="Calibri"/>
                <a:cs typeface="Calibri"/>
                <a:sym typeface="Calibri"/>
              </a:rPr>
              <a:t>Diagnostyka</a:t>
            </a:r>
          </a:p>
          <a:p>
            <a:pPr lvl="0">
              <a:buClr>
                <a:schemeClr val="accent1"/>
              </a:buClr>
              <a:buSzPts val="1900"/>
            </a:pPr>
            <a:r>
              <a:rPr lang="pl-PL" sz="2400" dirty="0" smtClean="0">
                <a:sym typeface="Calibri"/>
              </a:rPr>
              <a:t>W</a:t>
            </a:r>
            <a:r>
              <a:rPr lang="pl-PL" sz="2400" dirty="0">
                <a:sym typeface="Calibri"/>
              </a:rPr>
              <a:t> Polsce nadal stosuje się archaiczne ICD‑10 (F84), a termin wdrożenia ICD‑11 nie jest </a:t>
            </a:r>
            <a:r>
              <a:rPr lang="pl-PL" sz="2400" dirty="0" smtClean="0">
                <a:sym typeface="Calibri"/>
              </a:rPr>
              <a:t>ustalony</a:t>
            </a:r>
            <a:endParaRPr lang="pl-PL" sz="2400" dirty="0">
              <a:sym typeface="Calibri"/>
            </a:endParaRPr>
          </a:p>
        </p:txBody>
      </p:sp>
      <p:sp>
        <p:nvSpPr>
          <p:cNvPr id="135" name="Google Shape;135;p10"/>
          <p:cNvSpPr txBox="1"/>
          <p:nvPr/>
        </p:nvSpPr>
        <p:spPr>
          <a:xfrm>
            <a:off x="160020" y="6544180"/>
            <a:ext cx="6926580" cy="22232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chemeClr val="accent5"/>
              </a:buClr>
              <a:buSzPts val="1200"/>
              <a:buFont typeface="Calibri"/>
              <a:buNone/>
            </a:pPr>
            <a:r>
              <a:rPr lang="en-US" sz="1200" b="0" i="0" u="none" strike="noStrike" cap="none">
                <a:solidFill>
                  <a:schemeClr val="bg1">
                    <a:lumMod val="75000"/>
                  </a:schemeClr>
                </a:solidFill>
                <a:latin typeface="Calibri"/>
                <a:ea typeface="Calibri"/>
                <a:cs typeface="Calibri"/>
                <a:sym typeface="Calibri"/>
              </a:rPr>
              <a:t>Źródła: CBOS (2015), za: OSA (Płatos, 2016); suma 48% to obliczenie własne; Ministerstwo Zdrowia (2025).</a:t>
            </a:r>
            <a:endParaRPr sz="1200" b="0" i="0" u="none" strike="noStrike" cap="none">
              <a:solidFill>
                <a:schemeClr val="bg1">
                  <a:lumMod val="75000"/>
                </a:schemeClr>
              </a:solidFill>
              <a:latin typeface="Calibri"/>
              <a:ea typeface="Calibri"/>
              <a:cs typeface="Calibri"/>
              <a:sym typeface="Calibri"/>
            </a:endParaRPr>
          </a:p>
        </p:txBody>
      </p:sp>
      <p:sp>
        <p:nvSpPr>
          <p:cNvPr id="136" name="Google Shape;136;p10"/>
          <p:cNvSpPr txBox="1">
            <a:spLocks noGrp="1"/>
          </p:cNvSpPr>
          <p:nvPr>
            <p:ph type="sldNum" idx="4294967295"/>
          </p:nvPr>
        </p:nvSpPr>
        <p:spPr>
          <a:xfrm>
            <a:off x="11064240" y="6400800"/>
            <a:ext cx="5760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accent5"/>
                </a:solidFill>
                <a:latin typeface="Calibri"/>
                <a:ea typeface="Calibri"/>
                <a:cs typeface="Calibri"/>
                <a:sym typeface="Calibri"/>
              </a:rPr>
              <a:t>15</a:t>
            </a:fld>
            <a:endParaRPr sz="1200" b="0" i="0" u="none" strike="noStrike" cap="none">
              <a:solidFill>
                <a:schemeClr val="accent5"/>
              </a:solidFill>
              <a:latin typeface="Calibri"/>
              <a:ea typeface="Calibri"/>
              <a:cs typeface="Calibri"/>
              <a:sym typeface="Calibri"/>
            </a:endParaRPr>
          </a:p>
        </p:txBody>
      </p:sp>
      <p:sp>
        <p:nvSpPr>
          <p:cNvPr id="2" name="Prostokąt zaokrąglony 1"/>
          <p:cNvSpPr/>
          <p:nvPr/>
        </p:nvSpPr>
        <p:spPr>
          <a:xfrm>
            <a:off x="548640" y="5707742"/>
            <a:ext cx="11091600" cy="476726"/>
          </a:xfrm>
          <a:prstGeom prst="roundRect">
            <a:avLst/>
          </a:prstGeom>
          <a:solidFill>
            <a:schemeClr val="accent2"/>
          </a:solidFill>
          <a:ln>
            <a:solidFill>
              <a:schemeClr val="accent2">
                <a:lumMod val="75000"/>
              </a:schemeClr>
            </a:solidFill>
          </a:ln>
        </p:spPr>
        <p:txBody>
          <a:bodyPr wrap="square">
            <a:spAutoFit/>
          </a:bodyPr>
          <a:lstStyle/>
          <a:p>
            <a:pPr algn="ctr"/>
            <a:r>
              <a:rPr lang="pl-PL" sz="2200" b="1" dirty="0">
                <a:solidFill>
                  <a:schemeClr val="bg1"/>
                </a:solidFill>
              </a:rPr>
              <a:t>Dane z Ogólnopolskiego Spisu Autyzmu sugerują, że te prawa nie są obecnie </a:t>
            </a:r>
            <a:r>
              <a:rPr lang="pl-PL" sz="2200" b="1" dirty="0" smtClean="0">
                <a:solidFill>
                  <a:schemeClr val="bg1"/>
                </a:solidFill>
              </a:rPr>
              <a:t>respektowane </a:t>
            </a:r>
            <a:endParaRPr lang="pl-PL" sz="2200" b="1" dirty="0">
              <a:solidFill>
                <a:schemeClr val="bg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1"/>
          <p:cNvSpPr txBox="1">
            <a:spLocks noGrp="1"/>
          </p:cNvSpPr>
          <p:nvPr>
            <p:ph type="title" idx="100"/>
          </p:nvPr>
        </p:nvSpPr>
        <p:spPr>
          <a:xfrm>
            <a:off x="548640" y="320040"/>
            <a:ext cx="11091600" cy="1051500"/>
          </a:xfrm>
          <a:prstGeom prst="rect">
            <a:avLst/>
          </a:prstGeom>
          <a:noFill/>
          <a:ln>
            <a:noFill/>
          </a:ln>
        </p:spPr>
        <p:txBody>
          <a:bodyPr spcFirstLastPara="1" wrap="square" lIns="0" tIns="0" rIns="0" bIns="0" anchor="ctr" anchorCtr="0">
            <a:noAutofit/>
          </a:bodyPr>
          <a:lstStyle/>
          <a:p>
            <a:pPr lvl="0">
              <a:spcBef>
                <a:spcPts val="0"/>
              </a:spcBef>
              <a:buClr>
                <a:schemeClr val="dk2"/>
              </a:buClr>
              <a:buSzPts val="3000"/>
            </a:pPr>
            <a:r>
              <a:rPr lang="pl-PL" dirty="0">
                <a:solidFill>
                  <a:schemeClr val="dk2"/>
                </a:solidFill>
              </a:rPr>
              <a:t>Po zakończeniu szkoły wsparcie się </a:t>
            </a:r>
            <a:r>
              <a:rPr lang="pl-PL" dirty="0" smtClean="0">
                <a:solidFill>
                  <a:schemeClr val="dk2"/>
                </a:solidFill>
              </a:rPr>
              <a:t>urywa </a:t>
            </a:r>
            <a:r>
              <a:rPr lang="pl-PL" b="0" dirty="0" smtClean="0">
                <a:solidFill>
                  <a:schemeClr val="dk2"/>
                </a:solidFill>
              </a:rPr>
              <a:t>…</a:t>
            </a:r>
            <a:r>
              <a:rPr lang="pl-PL" dirty="0">
                <a:solidFill>
                  <a:schemeClr val="dk2"/>
                </a:solidFill>
              </a:rPr>
              <a:t/>
            </a:r>
            <a:br>
              <a:rPr lang="pl-PL" dirty="0">
                <a:solidFill>
                  <a:schemeClr val="dk2"/>
                </a:solidFill>
              </a:rPr>
            </a:br>
            <a:r>
              <a:rPr lang="pl-PL" dirty="0" smtClean="0">
                <a:solidFill>
                  <a:schemeClr val="dk2"/>
                </a:solidFill>
              </a:rPr>
              <a:t>				a, zatrudnienie </a:t>
            </a:r>
            <a:r>
              <a:rPr lang="pl-PL" dirty="0">
                <a:solidFill>
                  <a:schemeClr val="dk2"/>
                </a:solidFill>
              </a:rPr>
              <a:t>jest niższe niż 1% </a:t>
            </a:r>
            <a:r>
              <a:rPr lang="pl-PL" b="0" dirty="0">
                <a:solidFill>
                  <a:schemeClr val="dk2"/>
                </a:solidFill>
              </a:rPr>
              <a:t>(NIK)</a:t>
            </a:r>
            <a:endParaRPr sz="3000" b="0" dirty="0"/>
          </a:p>
        </p:txBody>
      </p:sp>
      <p:sp>
        <p:nvSpPr>
          <p:cNvPr id="140" name="Google Shape;140;p11"/>
          <p:cNvSpPr/>
          <p:nvPr/>
        </p:nvSpPr>
        <p:spPr>
          <a:xfrm>
            <a:off x="548640" y="1600200"/>
            <a:ext cx="2642700" cy="2743200"/>
          </a:xfrm>
          <a:prstGeom prst="roundRect">
            <a:avLst>
              <a:gd name="adj" fmla="val 4152"/>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1"/>
          <p:cNvSpPr txBox="1"/>
          <p:nvPr/>
        </p:nvSpPr>
        <p:spPr>
          <a:xfrm>
            <a:off x="731520" y="1691640"/>
            <a:ext cx="2286000" cy="868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2"/>
              </a:buClr>
              <a:buSzPts val="4800"/>
              <a:buFont typeface="Cambria"/>
              <a:buNone/>
            </a:pPr>
            <a:r>
              <a:rPr lang="en-US" sz="4800" b="1" i="0" u="none" strike="noStrike" cap="none">
                <a:solidFill>
                  <a:schemeClr val="accent2"/>
                </a:solidFill>
                <a:latin typeface="Cambria"/>
                <a:ea typeface="Cambria"/>
                <a:cs typeface="Cambria"/>
                <a:sym typeface="Cambria"/>
              </a:rPr>
              <a:t>&lt;1%</a:t>
            </a:r>
            <a:endParaRPr sz="4800" b="0" i="0" u="none" strike="noStrike" cap="none">
              <a:solidFill>
                <a:schemeClr val="dk1"/>
              </a:solidFill>
              <a:latin typeface="Calibri"/>
              <a:ea typeface="Calibri"/>
              <a:cs typeface="Calibri"/>
              <a:sym typeface="Calibri"/>
            </a:endParaRPr>
          </a:p>
        </p:txBody>
      </p:sp>
      <p:sp>
        <p:nvSpPr>
          <p:cNvPr id="142" name="Google Shape;142;p11"/>
          <p:cNvSpPr txBox="1"/>
          <p:nvPr/>
        </p:nvSpPr>
        <p:spPr>
          <a:xfrm>
            <a:off x="731520" y="2606040"/>
            <a:ext cx="2286000" cy="1691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pl-PL" sz="2400" b="0" i="0" u="none" strike="noStrike" cap="none" dirty="0" smtClean="0">
                <a:solidFill>
                  <a:schemeClr val="dk1"/>
                </a:solidFill>
                <a:latin typeface="Calibri"/>
                <a:ea typeface="Calibri"/>
                <a:cs typeface="Calibri"/>
                <a:sym typeface="Calibri"/>
              </a:rPr>
              <a:t>wskaźnik zatrudnienia osób z ASD w Polsce</a:t>
            </a:r>
            <a:endParaRPr lang="pl-PL" sz="2400" b="0" i="0" u="none" strike="noStrike" cap="none" dirty="0">
              <a:solidFill>
                <a:schemeClr val="dk1"/>
              </a:solidFill>
              <a:latin typeface="Calibri"/>
              <a:ea typeface="Calibri"/>
              <a:cs typeface="Calibri"/>
              <a:sym typeface="Calibri"/>
            </a:endParaRPr>
          </a:p>
        </p:txBody>
      </p:sp>
      <p:sp>
        <p:nvSpPr>
          <p:cNvPr id="143" name="Google Shape;143;p11"/>
          <p:cNvSpPr/>
          <p:nvPr/>
        </p:nvSpPr>
        <p:spPr>
          <a:xfrm>
            <a:off x="3364992" y="1600200"/>
            <a:ext cx="2642700" cy="2743200"/>
          </a:xfrm>
          <a:prstGeom prst="roundRect">
            <a:avLst>
              <a:gd name="adj" fmla="val 4152"/>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1"/>
          <p:cNvSpPr txBox="1"/>
          <p:nvPr/>
        </p:nvSpPr>
        <p:spPr>
          <a:xfrm>
            <a:off x="3547872" y="1691640"/>
            <a:ext cx="2286000" cy="868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2"/>
              </a:buClr>
              <a:buSzPts val="4800"/>
              <a:buFont typeface="Cambria"/>
              <a:buNone/>
            </a:pPr>
            <a:r>
              <a:rPr lang="en-US" sz="4800" b="1" i="0" u="none" strike="noStrike" cap="none">
                <a:solidFill>
                  <a:schemeClr val="accent2"/>
                </a:solidFill>
                <a:latin typeface="Cambria"/>
                <a:ea typeface="Cambria"/>
                <a:cs typeface="Cambria"/>
                <a:sym typeface="Cambria"/>
              </a:rPr>
              <a:t>22%</a:t>
            </a:r>
            <a:endParaRPr sz="4800" b="0" i="0" u="none" strike="noStrike" cap="none">
              <a:solidFill>
                <a:schemeClr val="dk1"/>
              </a:solidFill>
              <a:latin typeface="Calibri"/>
              <a:ea typeface="Calibri"/>
              <a:cs typeface="Calibri"/>
              <a:sym typeface="Calibri"/>
            </a:endParaRPr>
          </a:p>
        </p:txBody>
      </p:sp>
      <p:sp>
        <p:nvSpPr>
          <p:cNvPr id="145" name="Google Shape;145;p11"/>
          <p:cNvSpPr txBox="1"/>
          <p:nvPr/>
        </p:nvSpPr>
        <p:spPr>
          <a:xfrm>
            <a:off x="3547872" y="2606040"/>
            <a:ext cx="2286000" cy="1691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pl-PL" sz="2000" b="0" i="0" u="none" strike="noStrike" cap="none" dirty="0" smtClean="0">
                <a:solidFill>
                  <a:schemeClr val="dk1"/>
                </a:solidFill>
                <a:latin typeface="Calibri"/>
                <a:ea typeface="Calibri"/>
                <a:cs typeface="Calibri"/>
                <a:sym typeface="Calibri"/>
              </a:rPr>
              <a:t>warsztatów terapii zajęciowej wspierało osoby z autyzmem (zakładów aktywności zawodowej ok. 19%)</a:t>
            </a:r>
            <a:endParaRPr lang="pl-PL" sz="2000" b="0" i="0" u="none" strike="noStrike" cap="none" dirty="0">
              <a:solidFill>
                <a:schemeClr val="dk1"/>
              </a:solidFill>
              <a:latin typeface="Calibri"/>
              <a:ea typeface="Calibri"/>
              <a:cs typeface="Calibri"/>
              <a:sym typeface="Calibri"/>
            </a:endParaRPr>
          </a:p>
        </p:txBody>
      </p:sp>
      <p:sp>
        <p:nvSpPr>
          <p:cNvPr id="146" name="Google Shape;146;p11"/>
          <p:cNvSpPr/>
          <p:nvPr/>
        </p:nvSpPr>
        <p:spPr>
          <a:xfrm>
            <a:off x="6181344" y="1600200"/>
            <a:ext cx="2642700" cy="2743200"/>
          </a:xfrm>
          <a:prstGeom prst="roundRect">
            <a:avLst>
              <a:gd name="adj" fmla="val 4152"/>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txBox="1"/>
          <p:nvPr/>
        </p:nvSpPr>
        <p:spPr>
          <a:xfrm>
            <a:off x="6364224" y="1691640"/>
            <a:ext cx="2286000" cy="868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2"/>
              </a:buClr>
              <a:buSzPts val="4800"/>
              <a:buFont typeface="Cambria"/>
              <a:buNone/>
            </a:pPr>
            <a:r>
              <a:rPr lang="en-US" sz="4800" b="1" i="0" u="none" strike="noStrike" cap="none">
                <a:solidFill>
                  <a:schemeClr val="accent2"/>
                </a:solidFill>
                <a:latin typeface="Cambria"/>
                <a:ea typeface="Cambria"/>
                <a:cs typeface="Cambria"/>
                <a:sym typeface="Cambria"/>
              </a:rPr>
              <a:t>2%</a:t>
            </a:r>
            <a:endParaRPr sz="4800" b="0" i="0" u="none" strike="noStrike" cap="none">
              <a:solidFill>
                <a:schemeClr val="dk1"/>
              </a:solidFill>
              <a:latin typeface="Calibri"/>
              <a:ea typeface="Calibri"/>
              <a:cs typeface="Calibri"/>
              <a:sym typeface="Calibri"/>
            </a:endParaRPr>
          </a:p>
        </p:txBody>
      </p:sp>
      <p:sp>
        <p:nvSpPr>
          <p:cNvPr id="148" name="Google Shape;148;p11"/>
          <p:cNvSpPr txBox="1"/>
          <p:nvPr/>
        </p:nvSpPr>
        <p:spPr>
          <a:xfrm>
            <a:off x="6364224" y="2606040"/>
            <a:ext cx="2286000" cy="1691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pl-PL" sz="2000" b="0" i="0" u="none" strike="noStrike" cap="none" dirty="0" smtClean="0">
                <a:solidFill>
                  <a:schemeClr val="dk1"/>
                </a:solidFill>
                <a:latin typeface="Calibri"/>
                <a:ea typeface="Calibri"/>
                <a:cs typeface="Calibri"/>
                <a:sym typeface="Calibri"/>
              </a:rPr>
              <a:t>uczestników warsztatów terapii zajęciowej to osoby z autyzmem</a:t>
            </a:r>
            <a:endParaRPr lang="pl-PL" sz="2000" b="0" i="0" u="none" strike="noStrike" cap="none" dirty="0">
              <a:solidFill>
                <a:schemeClr val="dk1"/>
              </a:solidFill>
              <a:latin typeface="Calibri"/>
              <a:ea typeface="Calibri"/>
              <a:cs typeface="Calibri"/>
              <a:sym typeface="Calibri"/>
            </a:endParaRPr>
          </a:p>
        </p:txBody>
      </p:sp>
      <p:sp>
        <p:nvSpPr>
          <p:cNvPr id="149" name="Google Shape;149;p11"/>
          <p:cNvSpPr/>
          <p:nvPr/>
        </p:nvSpPr>
        <p:spPr>
          <a:xfrm>
            <a:off x="8997696" y="1600200"/>
            <a:ext cx="2642700" cy="2743200"/>
          </a:xfrm>
          <a:prstGeom prst="roundRect">
            <a:avLst>
              <a:gd name="adj" fmla="val 4152"/>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txBox="1"/>
          <p:nvPr/>
        </p:nvSpPr>
        <p:spPr>
          <a:xfrm>
            <a:off x="9180576" y="1691640"/>
            <a:ext cx="2286000" cy="868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2"/>
              </a:buClr>
              <a:buSzPts val="4800"/>
              <a:buFont typeface="Cambria"/>
              <a:buNone/>
            </a:pPr>
            <a:r>
              <a:rPr lang="en-US" sz="4800" b="1" i="0" u="none" strike="noStrike" cap="none" dirty="0">
                <a:solidFill>
                  <a:schemeClr val="accent2"/>
                </a:solidFill>
                <a:latin typeface="Cambria"/>
                <a:ea typeface="Cambria"/>
                <a:cs typeface="Cambria"/>
                <a:sym typeface="Cambria"/>
              </a:rPr>
              <a:t>80%</a:t>
            </a:r>
            <a:endParaRPr sz="4800" b="0" i="0" u="none" strike="noStrike" cap="none" dirty="0">
              <a:solidFill>
                <a:schemeClr val="dk1"/>
              </a:solidFill>
              <a:latin typeface="Calibri"/>
              <a:ea typeface="Calibri"/>
              <a:cs typeface="Calibri"/>
              <a:sym typeface="Calibri"/>
            </a:endParaRPr>
          </a:p>
        </p:txBody>
      </p:sp>
      <p:sp>
        <p:nvSpPr>
          <p:cNvPr id="151" name="Google Shape;151;p11"/>
          <p:cNvSpPr txBox="1"/>
          <p:nvPr/>
        </p:nvSpPr>
        <p:spPr>
          <a:xfrm>
            <a:off x="9180576" y="2606040"/>
            <a:ext cx="2286000" cy="1691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pl-PL" sz="2000" b="0" i="0" u="none" strike="noStrike" cap="none" dirty="0" smtClean="0">
                <a:solidFill>
                  <a:schemeClr val="dk1"/>
                </a:solidFill>
                <a:latin typeface="Calibri"/>
                <a:ea typeface="Calibri"/>
                <a:cs typeface="Calibri"/>
                <a:sym typeface="Calibri"/>
              </a:rPr>
              <a:t>uczestników WTZ nie osiągnęło założonych celów rehabilitacji</a:t>
            </a:r>
            <a:endParaRPr lang="pl-PL" sz="2000" b="0" i="0" u="none" strike="noStrike" cap="none" dirty="0">
              <a:solidFill>
                <a:schemeClr val="dk1"/>
              </a:solidFill>
              <a:latin typeface="Calibri"/>
              <a:ea typeface="Calibri"/>
              <a:cs typeface="Calibri"/>
              <a:sym typeface="Calibri"/>
            </a:endParaRPr>
          </a:p>
        </p:txBody>
      </p:sp>
      <p:sp>
        <p:nvSpPr>
          <p:cNvPr id="152" name="Google Shape;152;p11"/>
          <p:cNvSpPr/>
          <p:nvPr/>
        </p:nvSpPr>
        <p:spPr>
          <a:xfrm>
            <a:off x="548640" y="4526280"/>
            <a:ext cx="11091600" cy="1120140"/>
          </a:xfrm>
          <a:prstGeom prst="roundRect">
            <a:avLst>
              <a:gd name="adj" fmla="val 8889"/>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lvl="0" algn="ctr">
              <a:buClr>
                <a:schemeClr val="lt1"/>
              </a:buClr>
              <a:buSzPts val="1900"/>
            </a:pPr>
            <a:r>
              <a:rPr lang="pl-PL" sz="2400" b="1" dirty="0">
                <a:solidFill>
                  <a:schemeClr val="lt1"/>
                </a:solidFill>
                <a:ea typeface="Calibri"/>
                <a:cs typeface="Calibri"/>
                <a:sym typeface="Calibri"/>
              </a:rPr>
              <a:t>Zmiany </a:t>
            </a:r>
            <a:r>
              <a:rPr lang="pl-PL" sz="2400" b="1" dirty="0" smtClean="0">
                <a:solidFill>
                  <a:schemeClr val="lt1"/>
                </a:solidFill>
                <a:ea typeface="Calibri"/>
                <a:cs typeface="Calibri"/>
                <a:sym typeface="Calibri"/>
              </a:rPr>
              <a:t>pozytywne? </a:t>
            </a:r>
            <a:r>
              <a:rPr lang="pl-PL" sz="2400" dirty="0" smtClean="0">
                <a:solidFill>
                  <a:schemeClr val="lt1"/>
                </a:solidFill>
                <a:ea typeface="Calibri"/>
                <a:cs typeface="Calibri"/>
                <a:sym typeface="Calibri"/>
              </a:rPr>
              <a:t>od </a:t>
            </a:r>
            <a:r>
              <a:rPr lang="pl-PL" sz="2400" dirty="0">
                <a:solidFill>
                  <a:schemeClr val="lt1"/>
                </a:solidFill>
                <a:ea typeface="Calibri"/>
                <a:cs typeface="Calibri"/>
                <a:sym typeface="Calibri"/>
              </a:rPr>
              <a:t>2019 r. działa Dom Typu D dla osób z autyzmem, a liczba osób z autyzmem w środowiskowych domach samopomocy wzrosła o 40% </a:t>
            </a:r>
            <a:r>
              <a:rPr lang="pl-PL" sz="2400" dirty="0" smtClean="0">
                <a:solidFill>
                  <a:schemeClr val="lt1"/>
                </a:solidFill>
                <a:ea typeface="Calibri"/>
                <a:cs typeface="Calibri"/>
                <a:sym typeface="Calibri"/>
              </a:rPr>
              <a:t>(2019 vs 2017)</a:t>
            </a:r>
            <a:endParaRPr lang="pl-PL" sz="2400" dirty="0">
              <a:solidFill>
                <a:schemeClr val="dk1"/>
              </a:solidFill>
              <a:ea typeface="Calibri"/>
              <a:cs typeface="Calibri"/>
              <a:sym typeface="Calibri"/>
            </a:endParaRPr>
          </a:p>
        </p:txBody>
      </p:sp>
      <p:sp>
        <p:nvSpPr>
          <p:cNvPr id="154" name="Google Shape;154;p11"/>
          <p:cNvSpPr txBox="1"/>
          <p:nvPr/>
        </p:nvSpPr>
        <p:spPr>
          <a:xfrm>
            <a:off x="160020" y="6309300"/>
            <a:ext cx="11091600" cy="4572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chemeClr val="accent5"/>
              </a:buClr>
              <a:buSzPts val="1200"/>
              <a:buFont typeface="Calibri"/>
              <a:buNone/>
            </a:pPr>
            <a:r>
              <a:rPr lang="en-US" sz="1200" b="0" i="0" u="none" strike="noStrike" cap="none">
                <a:solidFill>
                  <a:schemeClr val="bg1">
                    <a:lumMod val="75000"/>
                  </a:schemeClr>
                </a:solidFill>
                <a:latin typeface="Calibri"/>
                <a:ea typeface="Calibri"/>
                <a:cs typeface="Calibri"/>
                <a:sym typeface="Calibri"/>
              </a:rPr>
              <a:t>Źródło: NIK (2020), kontrola w wybranych województwach, dane z lat 2016 do 2019. WTZ: warsztaty terapii zajęciowej.</a:t>
            </a:r>
            <a:endParaRPr sz="1200" b="0" i="0" u="none" strike="noStrike" cap="none">
              <a:solidFill>
                <a:schemeClr val="bg1">
                  <a:lumMod val="75000"/>
                </a:schemeClr>
              </a:solidFill>
              <a:latin typeface="Calibri"/>
              <a:ea typeface="Calibri"/>
              <a:cs typeface="Calibri"/>
              <a:sym typeface="Calibri"/>
            </a:endParaRPr>
          </a:p>
        </p:txBody>
      </p:sp>
      <p:sp>
        <p:nvSpPr>
          <p:cNvPr id="155" name="Google Shape;155;p11"/>
          <p:cNvSpPr txBox="1">
            <a:spLocks noGrp="1"/>
          </p:cNvSpPr>
          <p:nvPr>
            <p:ph type="sldNum" idx="4294967295"/>
          </p:nvPr>
        </p:nvSpPr>
        <p:spPr>
          <a:xfrm>
            <a:off x="11064240" y="6400800"/>
            <a:ext cx="5760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accent5"/>
                </a:solidFill>
                <a:latin typeface="Calibri"/>
                <a:ea typeface="Calibri"/>
                <a:cs typeface="Calibri"/>
                <a:sym typeface="Calibri"/>
              </a:rPr>
              <a:t>16</a:t>
            </a:fld>
            <a:endParaRPr sz="1200" b="0" i="0" u="none" strike="noStrike" cap="none">
              <a:solidFill>
                <a:schemeClr val="accent5"/>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2"/>
          <p:cNvSpPr txBox="1">
            <a:spLocks noGrp="1"/>
          </p:cNvSpPr>
          <p:nvPr>
            <p:ph type="title" idx="100"/>
          </p:nvPr>
        </p:nvSpPr>
        <p:spPr>
          <a:xfrm>
            <a:off x="548640" y="320040"/>
            <a:ext cx="11091600" cy="1051500"/>
          </a:xfrm>
          <a:prstGeom prst="rect">
            <a:avLst/>
          </a:prstGeom>
          <a:noFill/>
          <a:ln>
            <a:noFill/>
          </a:ln>
        </p:spPr>
        <p:txBody>
          <a:bodyPr spcFirstLastPara="1" wrap="square" lIns="0" tIns="0" rIns="0" bIns="0" anchor="ctr" anchorCtr="0">
            <a:noAutofit/>
          </a:bodyPr>
          <a:lstStyle/>
          <a:p>
            <a:pPr lvl="0">
              <a:spcBef>
                <a:spcPts val="0"/>
              </a:spcBef>
              <a:buClr>
                <a:schemeClr val="dk2"/>
              </a:buClr>
              <a:buSzPts val="3000"/>
            </a:pPr>
            <a:r>
              <a:rPr lang="pl-PL" dirty="0">
                <a:solidFill>
                  <a:schemeClr val="dk2"/>
                </a:solidFill>
              </a:rPr>
              <a:t>Dane o dorosłych są rozbieżne, bo nie ma rejestru, </a:t>
            </a:r>
            <a:r>
              <a:rPr lang="pl-PL" dirty="0" smtClean="0">
                <a:solidFill>
                  <a:schemeClr val="dk2"/>
                </a:solidFill>
              </a:rPr>
              <a:t/>
            </a:r>
            <a:br>
              <a:rPr lang="pl-PL" dirty="0" smtClean="0">
                <a:solidFill>
                  <a:schemeClr val="dk2"/>
                </a:solidFill>
              </a:rPr>
            </a:br>
            <a:r>
              <a:rPr lang="pl-PL" dirty="0" smtClean="0">
                <a:solidFill>
                  <a:schemeClr val="dk2"/>
                </a:solidFill>
              </a:rPr>
              <a:t>a </a:t>
            </a:r>
            <a:r>
              <a:rPr lang="pl-PL" dirty="0">
                <a:solidFill>
                  <a:schemeClr val="dk2"/>
                </a:solidFill>
              </a:rPr>
              <a:t>badane próby się różnią</a:t>
            </a:r>
            <a:endParaRPr sz="3000" dirty="0"/>
          </a:p>
        </p:txBody>
      </p:sp>
      <p:sp>
        <p:nvSpPr>
          <p:cNvPr id="158" name="Google Shape;158;p12"/>
          <p:cNvSpPr/>
          <p:nvPr/>
        </p:nvSpPr>
        <p:spPr>
          <a:xfrm>
            <a:off x="548640" y="1600200"/>
            <a:ext cx="5440800" cy="1920300"/>
          </a:xfrm>
          <a:prstGeom prst="roundRect">
            <a:avLst>
              <a:gd name="adj" fmla="val 5714"/>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2"/>
          <p:cNvSpPr txBox="1"/>
          <p:nvPr/>
        </p:nvSpPr>
        <p:spPr>
          <a:xfrm>
            <a:off x="731520" y="1600200"/>
            <a:ext cx="2286000" cy="19203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Clr>
                <a:schemeClr val="accent2"/>
              </a:buClr>
              <a:buSzPts val="3000"/>
              <a:buFont typeface="Cambria"/>
              <a:buNone/>
            </a:pPr>
            <a:r>
              <a:rPr lang="pl-PL" sz="3600" b="1" i="0" u="none" strike="noStrike" cap="none" dirty="0" smtClean="0">
                <a:solidFill>
                  <a:schemeClr val="accent2"/>
                </a:solidFill>
                <a:latin typeface="Cambria"/>
                <a:ea typeface="Cambria"/>
                <a:cs typeface="Cambria"/>
                <a:sym typeface="Cambria"/>
              </a:rPr>
              <a:t> </a:t>
            </a:r>
            <a:r>
              <a:rPr lang="en-US" sz="3600" b="1" i="0" u="none" strike="noStrike" cap="none" dirty="0" smtClean="0">
                <a:solidFill>
                  <a:schemeClr val="accent2"/>
                </a:solidFill>
                <a:latin typeface="Cambria"/>
                <a:ea typeface="Cambria"/>
                <a:cs typeface="Cambria"/>
                <a:sym typeface="Cambria"/>
              </a:rPr>
              <a:t>45</a:t>
            </a:r>
            <a:r>
              <a:rPr lang="en-US" sz="3600" b="1" i="0" u="none" strike="noStrike" cap="none" dirty="0">
                <a:solidFill>
                  <a:schemeClr val="accent2"/>
                </a:solidFill>
                <a:latin typeface="Cambria"/>
                <a:ea typeface="Cambria"/>
                <a:cs typeface="Cambria"/>
                <a:sym typeface="Cambria"/>
              </a:rPr>
              <a:t>%</a:t>
            </a:r>
            <a:r>
              <a:rPr lang="en-US" sz="3600" i="0" u="none" strike="noStrike" cap="none" dirty="0">
                <a:solidFill>
                  <a:schemeClr val="accent2"/>
                </a:solidFill>
                <a:latin typeface="Cambria"/>
                <a:ea typeface="Cambria"/>
                <a:cs typeface="Cambria"/>
                <a:sym typeface="Cambria"/>
              </a:rPr>
              <a:t>,</a:t>
            </a:r>
            <a:r>
              <a:rPr lang="en-US" sz="3600" b="1" i="0" u="none" strike="noStrike" cap="none" dirty="0">
                <a:solidFill>
                  <a:schemeClr val="accent2"/>
                </a:solidFill>
                <a:latin typeface="Cambria"/>
                <a:ea typeface="Cambria"/>
                <a:cs typeface="Cambria"/>
                <a:sym typeface="Cambria"/>
              </a:rPr>
              <a:t> </a:t>
            </a:r>
            <a:r>
              <a:rPr lang="en-US" sz="3600" i="0" u="none" strike="noStrike" cap="none" spc="-100" dirty="0">
                <a:solidFill>
                  <a:schemeClr val="accent2"/>
                </a:solidFill>
                <a:latin typeface="Cambria"/>
                <a:ea typeface="Cambria"/>
                <a:cs typeface="Cambria"/>
                <a:sym typeface="Cambria"/>
              </a:rPr>
              <a:t>a</a:t>
            </a:r>
            <a:r>
              <a:rPr lang="en-US" sz="3600" b="1" i="0" u="none" strike="noStrike" cap="none" spc="-100" dirty="0">
                <a:solidFill>
                  <a:schemeClr val="accent2"/>
                </a:solidFill>
                <a:latin typeface="Cambria"/>
                <a:ea typeface="Cambria"/>
                <a:cs typeface="Cambria"/>
                <a:sym typeface="Cambria"/>
              </a:rPr>
              <a:t> </a:t>
            </a:r>
            <a:r>
              <a:rPr lang="en-US" sz="3600" b="1" i="0" u="none" strike="noStrike" cap="none" dirty="0">
                <a:solidFill>
                  <a:schemeClr val="accent2"/>
                </a:solidFill>
                <a:latin typeface="Cambria"/>
                <a:ea typeface="Cambria"/>
                <a:cs typeface="Cambria"/>
                <a:sym typeface="Cambria"/>
              </a:rPr>
              <a:t>&lt;1%</a:t>
            </a:r>
            <a:endParaRPr sz="3600" b="0" i="0" u="none" strike="noStrike" cap="none" dirty="0">
              <a:solidFill>
                <a:schemeClr val="dk1"/>
              </a:solidFill>
              <a:latin typeface="Calibri"/>
              <a:ea typeface="Calibri"/>
              <a:cs typeface="Calibri"/>
              <a:sym typeface="Calibri"/>
            </a:endParaRPr>
          </a:p>
        </p:txBody>
      </p:sp>
      <p:sp>
        <p:nvSpPr>
          <p:cNvPr id="160" name="Google Shape;160;p12"/>
          <p:cNvSpPr txBox="1"/>
          <p:nvPr/>
        </p:nvSpPr>
        <p:spPr>
          <a:xfrm>
            <a:off x="2577888" y="1691650"/>
            <a:ext cx="3388692" cy="1737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pl-PL" sz="2400" b="0" i="0" u="none" strike="noStrike" cap="none" dirty="0" smtClean="0">
                <a:solidFill>
                  <a:schemeClr val="dk1"/>
                </a:solidFill>
                <a:latin typeface="Calibri"/>
                <a:ea typeface="Calibri"/>
                <a:cs typeface="Calibri"/>
                <a:sym typeface="Calibri"/>
              </a:rPr>
              <a:t>płatnej pracy: OSA </a:t>
            </a:r>
            <a:br>
              <a:rPr lang="pl-PL" sz="2400" b="0" i="0" u="none" strike="noStrike" cap="none" dirty="0" smtClean="0">
                <a:solidFill>
                  <a:schemeClr val="dk1"/>
                </a:solidFill>
                <a:latin typeface="Calibri"/>
                <a:ea typeface="Calibri"/>
                <a:cs typeface="Calibri"/>
                <a:sym typeface="Calibri"/>
              </a:rPr>
            </a:br>
            <a:r>
              <a:rPr lang="pl-PL" sz="2400" b="0" i="0" u="none" strike="noStrike" cap="none" dirty="0" smtClean="0">
                <a:solidFill>
                  <a:schemeClr val="dk1"/>
                </a:solidFill>
                <a:latin typeface="Calibri"/>
                <a:ea typeface="Calibri"/>
                <a:cs typeface="Calibri"/>
                <a:sym typeface="Calibri"/>
              </a:rPr>
              <a:t>(ankieta online, 2014) </a:t>
            </a:r>
          </a:p>
          <a:p>
            <a:pPr marL="0" marR="0" lvl="0" indent="0" algn="l" rtl="0">
              <a:spcBef>
                <a:spcPts val="0"/>
              </a:spcBef>
              <a:spcAft>
                <a:spcPts val="0"/>
              </a:spcAft>
              <a:buClr>
                <a:schemeClr val="dk1"/>
              </a:buClr>
              <a:buSzPts val="1700"/>
              <a:buFont typeface="Calibri"/>
              <a:buNone/>
            </a:pPr>
            <a:endParaRPr lang="pl-PL" sz="2400"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700"/>
              <a:buFont typeface="Calibri"/>
              <a:buNone/>
            </a:pPr>
            <a:r>
              <a:rPr lang="pl-PL" sz="2400" b="0" i="0" u="none" strike="noStrike" cap="none" dirty="0" smtClean="0">
                <a:solidFill>
                  <a:schemeClr val="dk1"/>
                </a:solidFill>
                <a:latin typeface="Calibri"/>
                <a:ea typeface="Calibri"/>
                <a:cs typeface="Calibri"/>
                <a:sym typeface="Calibri"/>
              </a:rPr>
              <a:t>wobec szacunku NIK (2020)</a:t>
            </a:r>
            <a:endParaRPr lang="pl-PL" sz="2400" b="0" i="0" u="none" strike="noStrike" cap="none" dirty="0">
              <a:solidFill>
                <a:schemeClr val="dk1"/>
              </a:solidFill>
              <a:latin typeface="Calibri"/>
              <a:ea typeface="Calibri"/>
              <a:cs typeface="Calibri"/>
              <a:sym typeface="Calibri"/>
            </a:endParaRPr>
          </a:p>
        </p:txBody>
      </p:sp>
      <p:sp>
        <p:nvSpPr>
          <p:cNvPr id="161" name="Google Shape;161;p12"/>
          <p:cNvSpPr/>
          <p:nvPr/>
        </p:nvSpPr>
        <p:spPr>
          <a:xfrm>
            <a:off x="6199632" y="1600200"/>
            <a:ext cx="5440800" cy="1920300"/>
          </a:xfrm>
          <a:prstGeom prst="roundRect">
            <a:avLst>
              <a:gd name="adj" fmla="val 5714"/>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2"/>
          <p:cNvSpPr txBox="1"/>
          <p:nvPr/>
        </p:nvSpPr>
        <p:spPr>
          <a:xfrm>
            <a:off x="6478524" y="1691615"/>
            <a:ext cx="228600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4400"/>
              <a:buFont typeface="Cambria"/>
              <a:buNone/>
            </a:pPr>
            <a:r>
              <a:rPr lang="en-US" sz="4800" b="1" i="0" u="none" strike="noStrike" cap="none" dirty="0">
                <a:solidFill>
                  <a:schemeClr val="accent2"/>
                </a:solidFill>
                <a:latin typeface="Cambria"/>
                <a:ea typeface="Cambria"/>
                <a:cs typeface="Cambria"/>
                <a:sym typeface="Cambria"/>
              </a:rPr>
              <a:t>5,4%</a:t>
            </a:r>
            <a:endParaRPr sz="4800" b="0" i="0" u="none" strike="noStrike" cap="none" dirty="0">
              <a:solidFill>
                <a:schemeClr val="dk1"/>
              </a:solidFill>
              <a:latin typeface="Calibri"/>
              <a:ea typeface="Calibri"/>
              <a:cs typeface="Calibri"/>
              <a:sym typeface="Calibri"/>
            </a:endParaRPr>
          </a:p>
        </p:txBody>
      </p:sp>
      <p:sp>
        <p:nvSpPr>
          <p:cNvPr id="163" name="Google Shape;163;p12"/>
          <p:cNvSpPr txBox="1"/>
          <p:nvPr/>
        </p:nvSpPr>
        <p:spPr>
          <a:xfrm>
            <a:off x="8251750" y="1691650"/>
            <a:ext cx="3388490" cy="1737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pl-PL" sz="2200" b="0" i="0" u="none" strike="noStrike" cap="none" dirty="0" smtClean="0">
                <a:solidFill>
                  <a:schemeClr val="dk1"/>
                </a:solidFill>
                <a:latin typeface="Calibri"/>
                <a:ea typeface="Calibri"/>
                <a:cs typeface="Calibri"/>
                <a:sym typeface="Calibri"/>
              </a:rPr>
              <a:t>wykształcenie wyższe w badaniu PFRON 2024; </a:t>
            </a:r>
          </a:p>
          <a:p>
            <a:pPr marL="0" marR="0" lvl="0" indent="0" algn="l" rtl="0">
              <a:spcBef>
                <a:spcPts val="0"/>
              </a:spcBef>
              <a:spcAft>
                <a:spcPts val="0"/>
              </a:spcAft>
              <a:buClr>
                <a:schemeClr val="dk1"/>
              </a:buClr>
              <a:buSzPts val="1700"/>
              <a:buFont typeface="Calibri"/>
              <a:buNone/>
            </a:pPr>
            <a:endParaRPr lang="pl-PL" sz="1600"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700"/>
              <a:buFont typeface="Calibri"/>
              <a:buNone/>
            </a:pPr>
            <a:r>
              <a:rPr lang="pl-PL" sz="2200" b="0" i="0" u="none" strike="noStrike" cap="none" dirty="0" smtClean="0">
                <a:solidFill>
                  <a:schemeClr val="dk1"/>
                </a:solidFill>
                <a:latin typeface="Calibri"/>
                <a:ea typeface="Calibri"/>
                <a:cs typeface="Calibri"/>
                <a:sym typeface="Calibri"/>
              </a:rPr>
              <a:t>w próbie OSA ponad połowa dorosłych</a:t>
            </a:r>
            <a:endParaRPr lang="pl-PL" sz="2200" b="0" i="0" u="none" strike="noStrike" cap="none" dirty="0">
              <a:solidFill>
                <a:schemeClr val="dk1"/>
              </a:solidFill>
              <a:latin typeface="Calibri"/>
              <a:ea typeface="Calibri"/>
              <a:cs typeface="Calibri"/>
              <a:sym typeface="Calibri"/>
            </a:endParaRPr>
          </a:p>
        </p:txBody>
      </p:sp>
      <p:sp>
        <p:nvSpPr>
          <p:cNvPr id="164" name="Google Shape;164;p12"/>
          <p:cNvSpPr/>
          <p:nvPr/>
        </p:nvSpPr>
        <p:spPr>
          <a:xfrm>
            <a:off x="548640" y="3703320"/>
            <a:ext cx="5440800" cy="1920300"/>
          </a:xfrm>
          <a:prstGeom prst="roundRect">
            <a:avLst>
              <a:gd name="adj" fmla="val 5714"/>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mc:AlternateContent xmlns:mc="http://schemas.openxmlformats.org/markup-compatibility/2006" xmlns:a14="http://schemas.microsoft.com/office/drawing/2010/main">
        <mc:Choice Requires="a14">
          <p:sp>
            <p:nvSpPr>
              <p:cNvPr id="165" name="Google Shape;165;p12"/>
              <p:cNvSpPr txBox="1"/>
              <p:nvPr/>
            </p:nvSpPr>
            <p:spPr>
              <a:xfrm>
                <a:off x="731520" y="3703320"/>
                <a:ext cx="2286000" cy="1920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3000"/>
                  <a:buFont typeface="Cambria"/>
                  <a:buNone/>
                </a:pPr>
                <a:r>
                  <a:rPr lang="en-US" sz="4000" i="0" u="none" strike="noStrike" cap="none" dirty="0" smtClean="0">
                    <a:solidFill>
                      <a:schemeClr val="accent1"/>
                    </a:solidFill>
                    <a:latin typeface="Cambria"/>
                    <a:ea typeface="Cambria"/>
                    <a:cs typeface="Cambria"/>
                    <a:sym typeface="Cambria"/>
                  </a:rPr>
                  <a:t>ok.</a:t>
                </a:r>
                <a14:m>
                  <m:oMath xmlns:m="http://schemas.openxmlformats.org/officeDocument/2006/math">
                    <m:f>
                      <m:fPr>
                        <m:type m:val="skw"/>
                        <m:ctrlPr>
                          <a:rPr lang="en-US" sz="6000" b="1" i="1" u="none" strike="noStrike" cap="none" dirty="0" smtClean="0">
                            <a:solidFill>
                              <a:schemeClr val="accent1"/>
                            </a:solidFill>
                            <a:latin typeface="Cambria Math" panose="02040503050406030204" pitchFamily="18" charset="0"/>
                            <a:ea typeface="Cambria"/>
                            <a:cs typeface="Cambria"/>
                            <a:sym typeface="Cambria"/>
                          </a:rPr>
                        </m:ctrlPr>
                      </m:fPr>
                      <m:num>
                        <m:r>
                          <a:rPr lang="en-US" sz="6000" b="1" i="1" u="none" strike="noStrike" cap="none" dirty="0" smtClean="0">
                            <a:solidFill>
                              <a:schemeClr val="accent1"/>
                            </a:solidFill>
                            <a:latin typeface="Cambria Math" panose="02040503050406030204" pitchFamily="18" charset="0"/>
                            <a:ea typeface="Cambria"/>
                            <a:cs typeface="Cambria"/>
                            <a:sym typeface="Cambria"/>
                          </a:rPr>
                          <m:t>𝟐</m:t>
                        </m:r>
                      </m:num>
                      <m:den>
                        <m:r>
                          <a:rPr lang="en-US" sz="6000" b="1" i="1" u="none" strike="noStrike" cap="none" dirty="0" smtClean="0">
                            <a:solidFill>
                              <a:schemeClr val="accent1"/>
                            </a:solidFill>
                            <a:latin typeface="Cambria Math" panose="02040503050406030204" pitchFamily="18" charset="0"/>
                            <a:ea typeface="Cambria"/>
                            <a:cs typeface="Cambria"/>
                            <a:sym typeface="Cambria"/>
                          </a:rPr>
                          <m:t>𝟑</m:t>
                        </m:r>
                      </m:den>
                    </m:f>
                  </m:oMath>
                </a14:m>
                <a:endParaRPr sz="4000" b="0" i="0" u="none" strike="noStrike" cap="none" dirty="0">
                  <a:solidFill>
                    <a:schemeClr val="dk1"/>
                  </a:solidFill>
                  <a:latin typeface="Calibri"/>
                  <a:ea typeface="Calibri"/>
                  <a:cs typeface="Calibri"/>
                  <a:sym typeface="Calibri"/>
                </a:endParaRPr>
              </a:p>
            </p:txBody>
          </p:sp>
        </mc:Choice>
        <mc:Fallback xmlns="">
          <p:sp>
            <p:nvSpPr>
              <p:cNvPr id="165" name="Google Shape;165;p12"/>
              <p:cNvSpPr txBox="1">
                <a:spLocks noRot="1" noChangeAspect="1" noMove="1" noResize="1" noEditPoints="1" noAdjustHandles="1" noChangeArrowheads="1" noChangeShapeType="1" noTextEdit="1"/>
              </p:cNvSpPr>
              <p:nvPr/>
            </p:nvSpPr>
            <p:spPr>
              <a:xfrm>
                <a:off x="731520" y="3703320"/>
                <a:ext cx="2286000" cy="1920300"/>
              </a:xfrm>
              <a:prstGeom prst="rect">
                <a:avLst/>
              </a:prstGeom>
              <a:blipFill>
                <a:blip r:embed="rId3"/>
                <a:stretch>
                  <a:fillRect l="-13333"/>
                </a:stretch>
              </a:blipFill>
              <a:ln>
                <a:noFill/>
              </a:ln>
            </p:spPr>
            <p:txBody>
              <a:bodyPr/>
              <a:lstStyle/>
              <a:p>
                <a:r>
                  <a:rPr lang="pl-PL">
                    <a:noFill/>
                  </a:rPr>
                  <a:t> </a:t>
                </a:r>
              </a:p>
            </p:txBody>
          </p:sp>
        </mc:Fallback>
      </mc:AlternateContent>
      <p:sp>
        <p:nvSpPr>
          <p:cNvPr id="166" name="Google Shape;166;p12"/>
          <p:cNvSpPr txBox="1"/>
          <p:nvPr/>
        </p:nvSpPr>
        <p:spPr>
          <a:xfrm>
            <a:off x="2600749" y="3794750"/>
            <a:ext cx="3251400" cy="1737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pl-PL" sz="2200" b="0" i="0" u="none" strike="noStrike" cap="none" dirty="0" smtClean="0">
                <a:solidFill>
                  <a:schemeClr val="dk1"/>
                </a:solidFill>
                <a:latin typeface="Calibri"/>
                <a:ea typeface="Calibri"/>
                <a:cs typeface="Calibri"/>
                <a:sym typeface="Calibri"/>
              </a:rPr>
              <a:t>dorosłych w OSA deklaruje współwystępujące zaburzenie psychiczne: </a:t>
            </a:r>
            <a:r>
              <a:rPr lang="pl-PL" sz="2200" b="1" i="0" u="none" strike="noStrike" cap="none" dirty="0" smtClean="0">
                <a:solidFill>
                  <a:schemeClr val="dk1"/>
                </a:solidFill>
                <a:latin typeface="Calibri"/>
                <a:ea typeface="Calibri"/>
                <a:cs typeface="Calibri"/>
                <a:sym typeface="Calibri"/>
              </a:rPr>
              <a:t>depresja 31%, lękowe 29%</a:t>
            </a:r>
            <a:endParaRPr lang="pl-PL" sz="2200" b="1" i="0" u="none" strike="noStrike" cap="none" dirty="0">
              <a:solidFill>
                <a:schemeClr val="dk1"/>
              </a:solidFill>
              <a:latin typeface="Calibri"/>
              <a:ea typeface="Calibri"/>
              <a:cs typeface="Calibri"/>
              <a:sym typeface="Calibri"/>
            </a:endParaRPr>
          </a:p>
        </p:txBody>
      </p:sp>
      <p:sp>
        <p:nvSpPr>
          <p:cNvPr id="167" name="Google Shape;167;p12"/>
          <p:cNvSpPr/>
          <p:nvPr/>
        </p:nvSpPr>
        <p:spPr>
          <a:xfrm>
            <a:off x="6199632" y="3703320"/>
            <a:ext cx="5440800" cy="1920300"/>
          </a:xfrm>
          <a:prstGeom prst="roundRect">
            <a:avLst>
              <a:gd name="adj" fmla="val 5714"/>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2"/>
          <p:cNvSpPr txBox="1"/>
          <p:nvPr/>
        </p:nvSpPr>
        <p:spPr>
          <a:xfrm>
            <a:off x="6382512" y="3703320"/>
            <a:ext cx="2286000" cy="1920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4400"/>
              <a:buFont typeface="Cambria"/>
              <a:buNone/>
            </a:pPr>
            <a:r>
              <a:rPr lang="en-US" sz="5400" b="1" i="0" u="none" strike="noStrike" cap="none" dirty="0">
                <a:solidFill>
                  <a:schemeClr val="accent1"/>
                </a:solidFill>
                <a:latin typeface="Cambria"/>
                <a:ea typeface="Cambria"/>
                <a:cs typeface="Cambria"/>
                <a:sym typeface="Cambria"/>
              </a:rPr>
              <a:t>42%</a:t>
            </a:r>
            <a:endParaRPr sz="5400" b="0" i="0" u="none" strike="noStrike" cap="none" dirty="0">
              <a:solidFill>
                <a:schemeClr val="dk1"/>
              </a:solidFill>
              <a:latin typeface="Calibri"/>
              <a:ea typeface="Calibri"/>
              <a:cs typeface="Calibri"/>
              <a:sym typeface="Calibri"/>
            </a:endParaRPr>
          </a:p>
        </p:txBody>
      </p:sp>
      <p:sp>
        <p:nvSpPr>
          <p:cNvPr id="169" name="Google Shape;169;p12"/>
          <p:cNvSpPr txBox="1"/>
          <p:nvPr/>
        </p:nvSpPr>
        <p:spPr>
          <a:xfrm>
            <a:off x="8251725" y="3794750"/>
            <a:ext cx="3251400" cy="1737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pl-PL" sz="2000" b="0" i="0" u="none" strike="noStrike" cap="none" dirty="0" smtClean="0">
                <a:solidFill>
                  <a:schemeClr val="dk1"/>
                </a:solidFill>
                <a:latin typeface="Calibri"/>
                <a:ea typeface="Calibri"/>
                <a:cs typeface="Calibri"/>
                <a:sym typeface="Calibri"/>
              </a:rPr>
              <a:t>dorosłych w OSA mieszkało poza domem rodzinnym </a:t>
            </a:r>
            <a:br>
              <a:rPr lang="pl-PL" sz="2000" b="0" i="0" u="none" strike="noStrike" cap="none" dirty="0" smtClean="0">
                <a:solidFill>
                  <a:schemeClr val="dk1"/>
                </a:solidFill>
                <a:latin typeface="Calibri"/>
                <a:ea typeface="Calibri"/>
                <a:cs typeface="Calibri"/>
                <a:sym typeface="Calibri"/>
              </a:rPr>
            </a:br>
            <a:r>
              <a:rPr lang="pl-PL" sz="2000" b="0" i="0" u="none" strike="noStrike" cap="none" dirty="0" smtClean="0">
                <a:solidFill>
                  <a:schemeClr val="dk1"/>
                </a:solidFill>
                <a:latin typeface="Calibri"/>
                <a:ea typeface="Calibri"/>
                <a:cs typeface="Calibri"/>
                <a:sym typeface="Calibri"/>
              </a:rPr>
              <a:t>(49% w grupie kontrolnej)</a:t>
            </a:r>
            <a:endParaRPr lang="pl-PL" sz="2000" b="0" i="0" u="none" strike="noStrike" cap="none" dirty="0">
              <a:solidFill>
                <a:schemeClr val="dk1"/>
              </a:solidFill>
              <a:latin typeface="Calibri"/>
              <a:ea typeface="Calibri"/>
              <a:cs typeface="Calibri"/>
              <a:sym typeface="Calibri"/>
            </a:endParaRPr>
          </a:p>
        </p:txBody>
      </p:sp>
      <p:sp>
        <p:nvSpPr>
          <p:cNvPr id="170" name="Google Shape;170;p12"/>
          <p:cNvSpPr txBox="1"/>
          <p:nvPr/>
        </p:nvSpPr>
        <p:spPr>
          <a:xfrm>
            <a:off x="137160" y="6309300"/>
            <a:ext cx="11091600" cy="4572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chemeClr val="accent5"/>
              </a:buClr>
              <a:buSzPts val="1200"/>
              <a:buFont typeface="Calibri"/>
              <a:buNone/>
            </a:pPr>
            <a:r>
              <a:rPr lang="en-US" sz="1200" b="0" i="0" u="none" strike="noStrike" cap="none">
                <a:solidFill>
                  <a:schemeClr val="bg1">
                    <a:lumMod val="75000"/>
                  </a:schemeClr>
                </a:solidFill>
                <a:latin typeface="Calibri"/>
                <a:ea typeface="Calibri"/>
                <a:cs typeface="Calibri"/>
                <a:sym typeface="Calibri"/>
              </a:rPr>
              <a:t>Źródła: OSA (Płatos, 2016); NIK (2020); Pierzchała i in. (2024), grupa 12-C, ok. 180 osób; WHO (b.d.). Próby nie są porównywalne.</a:t>
            </a:r>
            <a:endParaRPr sz="1200" b="0" i="0" u="none" strike="noStrike" cap="none">
              <a:solidFill>
                <a:schemeClr val="bg1">
                  <a:lumMod val="75000"/>
                </a:schemeClr>
              </a:solidFill>
              <a:latin typeface="Calibri"/>
              <a:ea typeface="Calibri"/>
              <a:cs typeface="Calibri"/>
              <a:sym typeface="Calibri"/>
            </a:endParaRPr>
          </a:p>
        </p:txBody>
      </p:sp>
      <p:sp>
        <p:nvSpPr>
          <p:cNvPr id="171" name="Google Shape;171;p12"/>
          <p:cNvSpPr txBox="1">
            <a:spLocks noGrp="1"/>
          </p:cNvSpPr>
          <p:nvPr>
            <p:ph type="sldNum" idx="4294967295"/>
          </p:nvPr>
        </p:nvSpPr>
        <p:spPr>
          <a:xfrm>
            <a:off x="11064240" y="6400800"/>
            <a:ext cx="5760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accent5"/>
                </a:solidFill>
                <a:latin typeface="Calibri"/>
                <a:ea typeface="Calibri"/>
                <a:cs typeface="Calibri"/>
                <a:sym typeface="Calibri"/>
              </a:rPr>
              <a:t>17</a:t>
            </a:fld>
            <a:endParaRPr sz="1200" b="0" i="0" u="none" strike="noStrike" cap="none">
              <a:solidFill>
                <a:schemeClr val="accent5"/>
              </a:solidFill>
              <a:latin typeface="Calibri"/>
              <a:ea typeface="Calibri"/>
              <a:cs typeface="Calibri"/>
              <a:sym typeface="Calibri"/>
            </a:endParaRPr>
          </a:p>
        </p:txBody>
      </p:sp>
      <p:sp>
        <p:nvSpPr>
          <p:cNvPr id="17" name="Google Shape;162;p12"/>
          <p:cNvSpPr txBox="1"/>
          <p:nvPr/>
        </p:nvSpPr>
        <p:spPr>
          <a:xfrm>
            <a:off x="6387084" y="2605990"/>
            <a:ext cx="246888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4400"/>
              <a:buFont typeface="Cambria"/>
              <a:buNone/>
            </a:pPr>
            <a:r>
              <a:rPr lang="pl-PL" sz="4600" dirty="0" smtClean="0">
                <a:solidFill>
                  <a:schemeClr val="accent2"/>
                </a:solidFill>
                <a:latin typeface="Cambria"/>
                <a:ea typeface="Cambria"/>
                <a:cs typeface="Calibri"/>
                <a:sym typeface="Cambria"/>
              </a:rPr>
              <a:t> &gt;50%</a:t>
            </a:r>
            <a:endParaRPr sz="4600" i="0" u="none" strike="noStrike" cap="none"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3"/>
          <p:cNvSpPr txBox="1">
            <a:spLocks noGrp="1"/>
          </p:cNvSpPr>
          <p:nvPr>
            <p:ph type="title" idx="100"/>
          </p:nvPr>
        </p:nvSpPr>
        <p:spPr>
          <a:xfrm>
            <a:off x="548640" y="320040"/>
            <a:ext cx="11091600" cy="105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000"/>
              <a:buFont typeface="Cambria"/>
              <a:buNone/>
            </a:pPr>
            <a:r>
              <a:rPr lang="pl-PL" sz="3000" b="1" dirty="0" smtClean="0">
                <a:solidFill>
                  <a:schemeClr val="dk2"/>
                </a:solidFill>
              </a:rPr>
              <a:t>Niedostosowanie kumuluje się w kolejnych etapach życia </a:t>
            </a:r>
            <a:br>
              <a:rPr lang="pl-PL" sz="3000" b="1" dirty="0" smtClean="0">
                <a:solidFill>
                  <a:schemeClr val="dk2"/>
                </a:solidFill>
              </a:rPr>
            </a:br>
            <a:r>
              <a:rPr lang="pl-PL" sz="3000" b="1" dirty="0" smtClean="0">
                <a:solidFill>
                  <a:schemeClr val="dk2"/>
                </a:solidFill>
              </a:rPr>
              <a:t>i prowadzi do wykluczenia</a:t>
            </a:r>
            <a:endParaRPr lang="pl-PL" sz="3000" dirty="0"/>
          </a:p>
        </p:txBody>
      </p:sp>
      <p:sp>
        <p:nvSpPr>
          <p:cNvPr id="174" name="Google Shape;174;p13"/>
          <p:cNvSpPr/>
          <p:nvPr/>
        </p:nvSpPr>
        <p:spPr>
          <a:xfrm>
            <a:off x="548640" y="1554480"/>
            <a:ext cx="3611988" cy="3337500"/>
          </a:xfrm>
          <a:prstGeom prst="roundRect">
            <a:avLst>
              <a:gd name="adj" fmla="val 3288"/>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3"/>
          <p:cNvSpPr/>
          <p:nvPr/>
        </p:nvSpPr>
        <p:spPr>
          <a:xfrm>
            <a:off x="731520" y="1691640"/>
            <a:ext cx="640200" cy="64020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6" name="Google Shape;176;p13" descr="Dzieciństwo"/>
          <p:cNvPicPr preferRelativeResize="0"/>
          <p:nvPr/>
        </p:nvPicPr>
        <p:blipFill rotWithShape="1">
          <a:blip r:embed="rId3">
            <a:alphaModFix/>
          </a:blip>
          <a:srcRect/>
          <a:stretch/>
        </p:blipFill>
        <p:spPr>
          <a:xfrm>
            <a:off x="868680" y="1828800"/>
            <a:ext cx="365760" cy="365760"/>
          </a:xfrm>
          <a:prstGeom prst="rect">
            <a:avLst/>
          </a:prstGeom>
          <a:noFill/>
          <a:ln>
            <a:noFill/>
          </a:ln>
        </p:spPr>
      </p:pic>
      <p:sp>
        <p:nvSpPr>
          <p:cNvPr id="177" name="Google Shape;177;p13"/>
          <p:cNvSpPr txBox="1"/>
          <p:nvPr/>
        </p:nvSpPr>
        <p:spPr>
          <a:xfrm>
            <a:off x="1508760" y="1691640"/>
            <a:ext cx="22860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2300"/>
              <a:buFont typeface="Calibri"/>
              <a:buNone/>
            </a:pPr>
            <a:r>
              <a:rPr lang="en-US" sz="2300" b="1" i="0" u="none" strike="noStrike" cap="none">
                <a:solidFill>
                  <a:schemeClr val="dk2"/>
                </a:solidFill>
                <a:latin typeface="Calibri"/>
                <a:ea typeface="Calibri"/>
                <a:cs typeface="Calibri"/>
                <a:sym typeface="Calibri"/>
              </a:rPr>
              <a:t>Dzieciństwo</a:t>
            </a:r>
            <a:endParaRPr sz="2300" b="0" i="0" u="none" strike="noStrike" cap="none">
              <a:solidFill>
                <a:schemeClr val="dk1"/>
              </a:solidFill>
              <a:latin typeface="Calibri"/>
              <a:ea typeface="Calibri"/>
              <a:cs typeface="Calibri"/>
              <a:sym typeface="Calibri"/>
            </a:endParaRPr>
          </a:p>
        </p:txBody>
      </p:sp>
      <p:sp>
        <p:nvSpPr>
          <p:cNvPr id="178" name="Google Shape;178;p13"/>
          <p:cNvSpPr txBox="1"/>
          <p:nvPr/>
        </p:nvSpPr>
        <p:spPr>
          <a:xfrm>
            <a:off x="640080" y="2514600"/>
            <a:ext cx="3520548" cy="1097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800"/>
              <a:buFont typeface="Calibri"/>
              <a:buNone/>
            </a:pPr>
            <a:r>
              <a:rPr lang="pl-PL" sz="2200" b="1" i="0" u="none" strike="noStrike" cap="none" dirty="0" smtClean="0">
                <a:solidFill>
                  <a:schemeClr val="accent2"/>
                </a:solidFill>
                <a:latin typeface="Calibri"/>
                <a:ea typeface="Calibri"/>
                <a:cs typeface="Calibri"/>
                <a:sym typeface="Calibri"/>
              </a:rPr>
              <a:t>Późna diagnoza: </a:t>
            </a:r>
            <a:r>
              <a:rPr lang="pl-PL" sz="2200" b="0" i="0" u="none" strike="noStrike" cap="none" dirty="0" smtClean="0">
                <a:solidFill>
                  <a:schemeClr val="dk1"/>
                </a:solidFill>
                <a:latin typeface="Calibri"/>
                <a:ea typeface="Calibri"/>
                <a:cs typeface="Calibri"/>
                <a:sym typeface="Calibri"/>
              </a:rPr>
              <a:t>autyzm bywa rozpoznawany długo po pojawieniu się cech (WHO)</a:t>
            </a:r>
            <a:endParaRPr lang="pl-PL" sz="2200" b="0" i="0" u="none" strike="noStrike" cap="none" dirty="0">
              <a:solidFill>
                <a:schemeClr val="dk1"/>
              </a:solidFill>
              <a:latin typeface="Calibri"/>
              <a:ea typeface="Calibri"/>
              <a:cs typeface="Calibri"/>
              <a:sym typeface="Calibri"/>
            </a:endParaRPr>
          </a:p>
        </p:txBody>
      </p:sp>
      <p:sp>
        <p:nvSpPr>
          <p:cNvPr id="179" name="Google Shape;179;p13"/>
          <p:cNvSpPr txBox="1"/>
          <p:nvPr/>
        </p:nvSpPr>
        <p:spPr>
          <a:xfrm>
            <a:off x="640080" y="3703320"/>
            <a:ext cx="3154680" cy="1097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800"/>
              <a:buFont typeface="Calibri"/>
              <a:buNone/>
            </a:pPr>
            <a:r>
              <a:rPr lang="pl-PL" sz="2400" b="1" i="0" u="none" strike="noStrike" cap="none" dirty="0" smtClean="0">
                <a:solidFill>
                  <a:schemeClr val="accent2"/>
                </a:solidFill>
                <a:latin typeface="Calibri"/>
                <a:ea typeface="Calibri"/>
                <a:cs typeface="Calibri"/>
                <a:sym typeface="Calibri"/>
              </a:rPr>
              <a:t>7 z 10 szkół</a:t>
            </a:r>
            <a:r>
              <a:rPr lang="pl-PL" sz="2200" b="1" i="0" u="none" strike="noStrike" cap="none" dirty="0" smtClean="0">
                <a:solidFill>
                  <a:schemeClr val="accent2"/>
                </a:solidFill>
                <a:latin typeface="Calibri"/>
                <a:ea typeface="Calibri"/>
                <a:cs typeface="Calibri"/>
                <a:sym typeface="Calibri"/>
              </a:rPr>
              <a:t> </a:t>
            </a:r>
            <a:r>
              <a:rPr lang="pl-PL" sz="2200" b="0" i="0" u="none" strike="noStrike" cap="none" dirty="0" smtClean="0">
                <a:solidFill>
                  <a:schemeClr val="dk1"/>
                </a:solidFill>
                <a:latin typeface="Calibri"/>
                <a:ea typeface="Calibri"/>
                <a:cs typeface="Calibri"/>
                <a:sym typeface="Calibri"/>
              </a:rPr>
              <a:t>nie realizuje wszystkich zaleceń z orzeczeń (NIK)</a:t>
            </a:r>
            <a:endParaRPr lang="pl-PL" sz="2200" b="0" i="0" u="none" strike="noStrike" cap="none" dirty="0">
              <a:solidFill>
                <a:schemeClr val="dk1"/>
              </a:solidFill>
              <a:latin typeface="Calibri"/>
              <a:ea typeface="Calibri"/>
              <a:cs typeface="Calibri"/>
              <a:sym typeface="Calibri"/>
            </a:endParaRPr>
          </a:p>
        </p:txBody>
      </p:sp>
      <p:sp>
        <p:nvSpPr>
          <p:cNvPr id="180" name="Google Shape;180;p13"/>
          <p:cNvSpPr/>
          <p:nvPr/>
        </p:nvSpPr>
        <p:spPr>
          <a:xfrm>
            <a:off x="4681728" y="1554480"/>
            <a:ext cx="3136512" cy="3337500"/>
          </a:xfrm>
          <a:prstGeom prst="roundRect">
            <a:avLst>
              <a:gd name="adj" fmla="val 3288"/>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3"/>
          <p:cNvSpPr/>
          <p:nvPr/>
        </p:nvSpPr>
        <p:spPr>
          <a:xfrm>
            <a:off x="4892040" y="1691430"/>
            <a:ext cx="640200" cy="64020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2" name="Google Shape;182;p13" descr="Adolescencja"/>
          <p:cNvPicPr preferRelativeResize="0"/>
          <p:nvPr/>
        </p:nvPicPr>
        <p:blipFill rotWithShape="1">
          <a:blip r:embed="rId4">
            <a:alphaModFix/>
          </a:blip>
          <a:srcRect/>
          <a:stretch/>
        </p:blipFill>
        <p:spPr>
          <a:xfrm>
            <a:off x="5029200" y="1828590"/>
            <a:ext cx="365760" cy="365760"/>
          </a:xfrm>
          <a:prstGeom prst="rect">
            <a:avLst/>
          </a:prstGeom>
          <a:noFill/>
          <a:ln>
            <a:noFill/>
          </a:ln>
        </p:spPr>
      </p:pic>
      <p:sp>
        <p:nvSpPr>
          <p:cNvPr id="183" name="Google Shape;183;p13"/>
          <p:cNvSpPr txBox="1"/>
          <p:nvPr/>
        </p:nvSpPr>
        <p:spPr>
          <a:xfrm>
            <a:off x="5669280" y="1691430"/>
            <a:ext cx="196596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2300"/>
              <a:buFont typeface="Calibri"/>
              <a:buNone/>
            </a:pPr>
            <a:r>
              <a:rPr lang="pl-PL" sz="2300" b="1" i="0" u="none" strike="noStrike" cap="none" dirty="0" smtClean="0">
                <a:solidFill>
                  <a:schemeClr val="dk2"/>
                </a:solidFill>
                <a:latin typeface="Calibri"/>
                <a:ea typeface="Calibri"/>
                <a:cs typeface="Calibri"/>
                <a:sym typeface="Calibri"/>
              </a:rPr>
              <a:t>Adolescencja</a:t>
            </a:r>
            <a:endParaRPr lang="pl-PL" sz="2300" b="0" i="0" u="none" strike="noStrike" cap="none" dirty="0">
              <a:solidFill>
                <a:schemeClr val="dk1"/>
              </a:solidFill>
              <a:latin typeface="Calibri"/>
              <a:ea typeface="Calibri"/>
              <a:cs typeface="Calibri"/>
              <a:sym typeface="Calibri"/>
            </a:endParaRPr>
          </a:p>
        </p:txBody>
      </p:sp>
      <p:sp>
        <p:nvSpPr>
          <p:cNvPr id="184" name="Google Shape;184;p13"/>
          <p:cNvSpPr txBox="1"/>
          <p:nvPr/>
        </p:nvSpPr>
        <p:spPr>
          <a:xfrm>
            <a:off x="5029200" y="2543174"/>
            <a:ext cx="2606040" cy="9659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800"/>
              <a:buFont typeface="Calibri"/>
              <a:buNone/>
            </a:pPr>
            <a:r>
              <a:rPr lang="pl-PL" sz="2400" b="1" i="0" u="none" strike="noStrike" cap="none" dirty="0" smtClean="0">
                <a:solidFill>
                  <a:schemeClr val="accent2"/>
                </a:solidFill>
                <a:latin typeface="Calibri"/>
                <a:ea typeface="Calibri"/>
                <a:cs typeface="Calibri"/>
                <a:sym typeface="Calibri"/>
              </a:rPr>
              <a:t>90% </a:t>
            </a:r>
            <a:r>
              <a:rPr lang="pl-PL" sz="2200" b="0" i="0" u="none" strike="noStrike" cap="none" dirty="0" smtClean="0">
                <a:solidFill>
                  <a:schemeClr val="dk1"/>
                </a:solidFill>
                <a:latin typeface="Calibri"/>
                <a:ea typeface="Calibri"/>
                <a:cs typeface="Calibri"/>
                <a:sym typeface="Calibri"/>
              </a:rPr>
              <a:t>uczniów doświadczyło nękania rówieśniczego (OSA)</a:t>
            </a:r>
            <a:endParaRPr lang="pl-PL" sz="2200" b="0" i="0" u="none" strike="noStrike" cap="none" dirty="0">
              <a:solidFill>
                <a:schemeClr val="dk1"/>
              </a:solidFill>
              <a:latin typeface="Calibri"/>
              <a:ea typeface="Calibri"/>
              <a:cs typeface="Calibri"/>
              <a:sym typeface="Calibri"/>
            </a:endParaRPr>
          </a:p>
        </p:txBody>
      </p:sp>
      <p:sp>
        <p:nvSpPr>
          <p:cNvPr id="185" name="Google Shape;185;p13"/>
          <p:cNvSpPr txBox="1"/>
          <p:nvPr/>
        </p:nvSpPr>
        <p:spPr>
          <a:xfrm>
            <a:off x="5029200" y="3840540"/>
            <a:ext cx="2766412" cy="9601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800"/>
              <a:buFont typeface="Calibri"/>
              <a:buNone/>
            </a:pPr>
            <a:r>
              <a:rPr lang="pl-PL" sz="2400" b="1" i="0" u="none" strike="noStrike" cap="none" dirty="0" smtClean="0">
                <a:solidFill>
                  <a:schemeClr val="accent2"/>
                </a:solidFill>
                <a:latin typeface="Calibri"/>
                <a:ea typeface="Calibri"/>
                <a:cs typeface="Calibri"/>
                <a:sym typeface="Calibri"/>
              </a:rPr>
              <a:t>34% </a:t>
            </a:r>
            <a:r>
              <a:rPr lang="pl-PL" sz="2200" b="0" i="0" u="none" strike="noStrike" cap="none" dirty="0" smtClean="0">
                <a:solidFill>
                  <a:schemeClr val="dk1"/>
                </a:solidFill>
                <a:latin typeface="Calibri"/>
                <a:ea typeface="Calibri"/>
                <a:cs typeface="Calibri"/>
                <a:sym typeface="Calibri"/>
              </a:rPr>
              <a:t>osób nie ma znajomych (OSA)</a:t>
            </a:r>
            <a:endParaRPr lang="pl-PL" sz="2200" b="0" i="0" u="none" strike="noStrike" cap="none" dirty="0">
              <a:solidFill>
                <a:schemeClr val="dk1"/>
              </a:solidFill>
              <a:latin typeface="Calibri"/>
              <a:ea typeface="Calibri"/>
              <a:cs typeface="Calibri"/>
              <a:sym typeface="Calibri"/>
            </a:endParaRPr>
          </a:p>
        </p:txBody>
      </p:sp>
      <p:sp>
        <p:nvSpPr>
          <p:cNvPr id="186" name="Google Shape;186;p13"/>
          <p:cNvSpPr/>
          <p:nvPr/>
        </p:nvSpPr>
        <p:spPr>
          <a:xfrm>
            <a:off x="8321040" y="1554480"/>
            <a:ext cx="3383400" cy="3337500"/>
          </a:xfrm>
          <a:prstGeom prst="roundRect">
            <a:avLst>
              <a:gd name="adj" fmla="val 3288"/>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3"/>
          <p:cNvSpPr/>
          <p:nvPr/>
        </p:nvSpPr>
        <p:spPr>
          <a:xfrm>
            <a:off x="8503920" y="1691640"/>
            <a:ext cx="640200" cy="64020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8" name="Google Shape;188;p13" descr="Dorosłość"/>
          <p:cNvPicPr preferRelativeResize="0"/>
          <p:nvPr/>
        </p:nvPicPr>
        <p:blipFill rotWithShape="1">
          <a:blip r:embed="rId5">
            <a:alphaModFix/>
          </a:blip>
          <a:srcRect/>
          <a:stretch/>
        </p:blipFill>
        <p:spPr>
          <a:xfrm>
            <a:off x="8641080" y="1828800"/>
            <a:ext cx="365760" cy="365760"/>
          </a:xfrm>
          <a:prstGeom prst="rect">
            <a:avLst/>
          </a:prstGeom>
          <a:noFill/>
          <a:ln>
            <a:noFill/>
          </a:ln>
        </p:spPr>
      </p:pic>
      <p:sp>
        <p:nvSpPr>
          <p:cNvPr id="189" name="Google Shape;189;p13"/>
          <p:cNvSpPr txBox="1"/>
          <p:nvPr/>
        </p:nvSpPr>
        <p:spPr>
          <a:xfrm>
            <a:off x="9281160" y="1691640"/>
            <a:ext cx="22860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2300"/>
              <a:buFont typeface="Calibri"/>
              <a:buNone/>
            </a:pPr>
            <a:r>
              <a:rPr lang="en-US" sz="2300" b="1" i="0" u="none" strike="noStrike" cap="none">
                <a:solidFill>
                  <a:schemeClr val="dk2"/>
                </a:solidFill>
                <a:latin typeface="Calibri"/>
                <a:ea typeface="Calibri"/>
                <a:cs typeface="Calibri"/>
                <a:sym typeface="Calibri"/>
              </a:rPr>
              <a:t>Dorosłość</a:t>
            </a:r>
            <a:endParaRPr sz="2300" b="0" i="0" u="none" strike="noStrike" cap="none">
              <a:solidFill>
                <a:schemeClr val="dk1"/>
              </a:solidFill>
              <a:latin typeface="Calibri"/>
              <a:ea typeface="Calibri"/>
              <a:cs typeface="Calibri"/>
              <a:sym typeface="Calibri"/>
            </a:endParaRPr>
          </a:p>
        </p:txBody>
      </p:sp>
      <p:sp>
        <p:nvSpPr>
          <p:cNvPr id="190" name="Google Shape;190;p13"/>
          <p:cNvSpPr txBox="1"/>
          <p:nvPr/>
        </p:nvSpPr>
        <p:spPr>
          <a:xfrm>
            <a:off x="8549640" y="2663250"/>
            <a:ext cx="2971800" cy="9487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800"/>
              <a:buFont typeface="Calibri"/>
              <a:buNone/>
            </a:pPr>
            <a:r>
              <a:rPr lang="pl-PL" sz="2400" b="1" i="0" u="none" strike="noStrike" cap="none" dirty="0" smtClean="0">
                <a:solidFill>
                  <a:schemeClr val="accent2"/>
                </a:solidFill>
                <a:latin typeface="Calibri"/>
                <a:ea typeface="Calibri"/>
                <a:cs typeface="Calibri"/>
                <a:sym typeface="Calibri"/>
              </a:rPr>
              <a:t>2% </a:t>
            </a:r>
            <a:r>
              <a:rPr lang="pl-PL" sz="2200" b="0" i="0" u="none" strike="noStrike" cap="none" dirty="0" smtClean="0">
                <a:solidFill>
                  <a:schemeClr val="dk1"/>
                </a:solidFill>
                <a:latin typeface="Calibri"/>
                <a:ea typeface="Calibri"/>
                <a:cs typeface="Calibri"/>
                <a:sym typeface="Calibri"/>
              </a:rPr>
              <a:t>uczestników WTZ to osoby z autyzmem (NIK)</a:t>
            </a:r>
            <a:endParaRPr lang="pl-PL" sz="2200" b="0" i="0" u="none" strike="noStrike" cap="none" dirty="0">
              <a:solidFill>
                <a:schemeClr val="dk1"/>
              </a:solidFill>
              <a:latin typeface="Calibri"/>
              <a:ea typeface="Calibri"/>
              <a:cs typeface="Calibri"/>
              <a:sym typeface="Calibri"/>
            </a:endParaRPr>
          </a:p>
        </p:txBody>
      </p:sp>
      <p:sp>
        <p:nvSpPr>
          <p:cNvPr id="191" name="Google Shape;191;p13"/>
          <p:cNvSpPr txBox="1"/>
          <p:nvPr/>
        </p:nvSpPr>
        <p:spPr>
          <a:xfrm>
            <a:off x="8549640" y="3703320"/>
            <a:ext cx="3017520" cy="1097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800"/>
              <a:buFont typeface="Calibri"/>
              <a:buNone/>
            </a:pPr>
            <a:r>
              <a:rPr lang="pl-PL" sz="2400" b="1" i="0" u="none" strike="noStrike" cap="none" dirty="0" smtClean="0">
                <a:solidFill>
                  <a:schemeClr val="accent2"/>
                </a:solidFill>
                <a:latin typeface="Calibri"/>
                <a:ea typeface="Calibri"/>
                <a:cs typeface="Calibri"/>
                <a:sym typeface="Calibri"/>
              </a:rPr>
              <a:t>&lt;1% </a:t>
            </a:r>
            <a:r>
              <a:rPr lang="pl-PL" sz="2200" b="0" i="0" u="none" strike="noStrike" cap="none" dirty="0" smtClean="0">
                <a:solidFill>
                  <a:schemeClr val="dk1"/>
                </a:solidFill>
                <a:latin typeface="Calibri"/>
                <a:ea typeface="Calibri"/>
                <a:cs typeface="Calibri"/>
                <a:sym typeface="Calibri"/>
              </a:rPr>
              <a:t>zatrudnienia i ryzyko regresu umiejętności (NIK)</a:t>
            </a:r>
            <a:endParaRPr lang="pl-PL" sz="2200" b="0" i="0" u="none" strike="noStrike" cap="none" dirty="0">
              <a:solidFill>
                <a:schemeClr val="dk1"/>
              </a:solidFill>
              <a:latin typeface="Calibri"/>
              <a:ea typeface="Calibri"/>
              <a:cs typeface="Calibri"/>
              <a:sym typeface="Calibri"/>
            </a:endParaRPr>
          </a:p>
        </p:txBody>
      </p:sp>
      <p:sp>
        <p:nvSpPr>
          <p:cNvPr id="192" name="Google Shape;192;p13"/>
          <p:cNvSpPr/>
          <p:nvPr/>
        </p:nvSpPr>
        <p:spPr>
          <a:xfrm>
            <a:off x="4224528" y="3017520"/>
            <a:ext cx="393300" cy="365700"/>
          </a:xfrm>
          <a:prstGeom prst="rightArrow">
            <a:avLst>
              <a:gd name="adj1" fmla="val 50000"/>
              <a:gd name="adj2" fmla="val 50000"/>
            </a:avLst>
          </a:prstGeom>
          <a:solidFill>
            <a:schemeClr val="accent5"/>
          </a:solidFill>
          <a:ln w="127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3"/>
          <p:cNvSpPr/>
          <p:nvPr/>
        </p:nvSpPr>
        <p:spPr>
          <a:xfrm>
            <a:off x="7882128" y="3017520"/>
            <a:ext cx="393300" cy="365700"/>
          </a:xfrm>
          <a:prstGeom prst="rightArrow">
            <a:avLst>
              <a:gd name="adj1" fmla="val 50000"/>
              <a:gd name="adj2" fmla="val 50000"/>
            </a:avLst>
          </a:prstGeom>
          <a:solidFill>
            <a:schemeClr val="accent5"/>
          </a:solidFill>
          <a:ln w="127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3"/>
          <p:cNvSpPr/>
          <p:nvPr/>
        </p:nvSpPr>
        <p:spPr>
          <a:xfrm>
            <a:off x="548640" y="5029200"/>
            <a:ext cx="11155800" cy="948690"/>
          </a:xfrm>
          <a:prstGeom prst="roundRect">
            <a:avLst>
              <a:gd name="adj" fmla="val 15000"/>
            </a:avLst>
          </a:prstGeom>
          <a:solidFill>
            <a:schemeClr val="accent2"/>
          </a:solidFill>
          <a:ln w="127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lvl="0" algn="ctr">
              <a:buClr>
                <a:schemeClr val="lt1"/>
              </a:buClr>
              <a:buSzPts val="2200"/>
            </a:pPr>
            <a:r>
              <a:rPr lang="pl-PL" sz="2800" dirty="0" smtClean="0">
                <a:solidFill>
                  <a:schemeClr val="lt1"/>
                </a:solidFill>
                <a:ea typeface="Calibri"/>
                <a:cs typeface="Calibri"/>
                <a:sym typeface="Calibri"/>
              </a:rPr>
              <a:t>Jaki tego skutek</a:t>
            </a:r>
            <a:r>
              <a:rPr lang="pl-PL" sz="2800" dirty="0">
                <a:solidFill>
                  <a:schemeClr val="lt1"/>
                </a:solidFill>
                <a:ea typeface="Calibri"/>
                <a:cs typeface="Calibri"/>
                <a:sym typeface="Calibri"/>
              </a:rPr>
              <a:t>?</a:t>
            </a:r>
            <a:r>
              <a:rPr lang="en-US" sz="2800" dirty="0">
                <a:solidFill>
                  <a:schemeClr val="lt1"/>
                </a:solidFill>
                <a:ea typeface="Calibri"/>
                <a:cs typeface="Calibri"/>
                <a:sym typeface="Calibri"/>
              </a:rPr>
              <a:t> </a:t>
            </a:r>
            <a:endParaRPr lang="pl-PL" sz="2800" dirty="0">
              <a:solidFill>
                <a:schemeClr val="lt1"/>
              </a:solidFill>
              <a:ea typeface="Calibri"/>
              <a:cs typeface="Calibri"/>
              <a:sym typeface="Calibri"/>
            </a:endParaRPr>
          </a:p>
          <a:p>
            <a:pPr lvl="0" algn="ctr">
              <a:buClr>
                <a:schemeClr val="lt1"/>
              </a:buClr>
              <a:buSzPts val="2200"/>
            </a:pPr>
            <a:r>
              <a:rPr lang="pl-PL" sz="2600" b="1" dirty="0">
                <a:solidFill>
                  <a:schemeClr val="lt1"/>
                </a:solidFill>
                <a:ea typeface="Calibri"/>
                <a:cs typeface="Calibri"/>
                <a:sym typeface="Calibri"/>
              </a:rPr>
              <a:t>zależność od rodziny i państwa oraz wykluczenie społeczne </a:t>
            </a:r>
            <a:r>
              <a:rPr lang="pl-PL" sz="2600" dirty="0">
                <a:solidFill>
                  <a:schemeClr val="lt1"/>
                </a:solidFill>
                <a:ea typeface="Calibri"/>
                <a:cs typeface="Calibri"/>
                <a:sym typeface="Calibri"/>
              </a:rPr>
              <a:t>(NIK</a:t>
            </a:r>
            <a:r>
              <a:rPr lang="pl-PL" sz="2600" dirty="0" smtClean="0">
                <a:solidFill>
                  <a:schemeClr val="lt1"/>
                </a:solidFill>
                <a:ea typeface="Calibri"/>
                <a:cs typeface="Calibri"/>
                <a:sym typeface="Calibri"/>
              </a:rPr>
              <a:t>)</a:t>
            </a:r>
            <a:endParaRPr lang="pl-PL" sz="2600" dirty="0">
              <a:solidFill>
                <a:schemeClr val="dk1"/>
              </a:solidFill>
              <a:ea typeface="Calibri"/>
              <a:cs typeface="Calibri"/>
              <a:sym typeface="Calibri"/>
            </a:endParaRPr>
          </a:p>
        </p:txBody>
      </p:sp>
      <p:sp>
        <p:nvSpPr>
          <p:cNvPr id="196" name="Google Shape;196;p13"/>
          <p:cNvSpPr txBox="1"/>
          <p:nvPr/>
        </p:nvSpPr>
        <p:spPr>
          <a:xfrm>
            <a:off x="114300" y="6309300"/>
            <a:ext cx="11091600" cy="4572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chemeClr val="accent5"/>
              </a:buClr>
              <a:buSzPts val="1200"/>
              <a:buFont typeface="Calibri"/>
              <a:buNone/>
            </a:pPr>
            <a:r>
              <a:rPr lang="en-US" sz="1200" b="0" i="0" u="none" strike="noStrike" cap="none">
                <a:solidFill>
                  <a:schemeClr val="bg1">
                    <a:lumMod val="75000"/>
                  </a:schemeClr>
                </a:solidFill>
                <a:latin typeface="Calibri"/>
                <a:ea typeface="Calibri"/>
                <a:cs typeface="Calibri"/>
                <a:sym typeface="Calibri"/>
              </a:rPr>
              <a:t>Źródła: WHO (b.d.); NIK (2020); OSA (Płatos, 2016). Oś życia to interpretacja autorów, nie wynik jednego badania.</a:t>
            </a:r>
            <a:endParaRPr sz="1200" b="0" i="0" u="none" strike="noStrike" cap="none">
              <a:solidFill>
                <a:schemeClr val="bg1">
                  <a:lumMod val="75000"/>
                </a:schemeClr>
              </a:solidFill>
              <a:latin typeface="Calibri"/>
              <a:ea typeface="Calibri"/>
              <a:cs typeface="Calibri"/>
              <a:sym typeface="Calibri"/>
            </a:endParaRPr>
          </a:p>
        </p:txBody>
      </p:sp>
      <p:sp>
        <p:nvSpPr>
          <p:cNvPr id="197" name="Google Shape;197;p13"/>
          <p:cNvSpPr txBox="1">
            <a:spLocks noGrp="1"/>
          </p:cNvSpPr>
          <p:nvPr>
            <p:ph type="sldNum" idx="4294967295"/>
          </p:nvPr>
        </p:nvSpPr>
        <p:spPr>
          <a:xfrm>
            <a:off x="11064240" y="6400800"/>
            <a:ext cx="5760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accent5"/>
                </a:solidFill>
                <a:latin typeface="Calibri"/>
                <a:ea typeface="Calibri"/>
                <a:cs typeface="Calibri"/>
                <a:sym typeface="Calibri"/>
              </a:rPr>
              <a:t>18</a:t>
            </a:fld>
            <a:endParaRPr sz="1200" b="0" i="0" u="none" strike="noStrike" cap="none">
              <a:solidFill>
                <a:schemeClr val="accent5"/>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ctr"/>
          <a:lstStyle/>
          <a:p>
            <a:pPr marL="0" indent="0" algn="l">
              <a:buNone/>
            </a:pPr>
            <a:r>
              <a:rPr lang="en-US" sz="3000" dirty="0">
                <a:solidFill>
                  <a:schemeClr val="tx2"/>
                </a:solidFill>
                <a:latin typeface="CMU Serif" panose="02000603000000000000" pitchFamily="2" charset="0"/>
                <a:ea typeface="CMU Serif" panose="02000603000000000000" pitchFamily="2" charset="0"/>
                <a:cs typeface="CMU Serif" panose="02000603000000000000" pitchFamily="2" charset="0"/>
              </a:rPr>
              <a:t>Skuteczne wsparcie wymaga ciągłości od wczesnej diagnozy po życie dorosłe</a:t>
            </a:r>
            <a:endParaRPr lang="en-US" sz="3000" dirty="0">
              <a:latin typeface="CMU Serif" panose="02000603000000000000" pitchFamily="2" charset="0"/>
              <a:ea typeface="CMU Serif" panose="02000603000000000000" pitchFamily="2" charset="0"/>
              <a:cs typeface="CMU Serif" panose="02000603000000000000" pitchFamily="2" charset="0"/>
            </a:endParaRPr>
          </a:p>
        </p:txBody>
      </p:sp>
      <p:sp>
        <p:nvSpPr>
          <p:cNvPr id="4" name="Etap 1"/>
          <p:cNvSpPr/>
          <p:nvPr/>
        </p:nvSpPr>
        <p:spPr>
          <a:xfrm>
            <a:off x="548640" y="1554480"/>
            <a:ext cx="2880360" cy="960120"/>
          </a:xfrm>
          <a:prstGeom prst="homePlate">
            <a:avLst/>
          </a:prstGeom>
          <a:solidFill>
            <a:schemeClr val="accent1"/>
          </a:solidFill>
          <a:ln w="12700">
            <a:solidFill>
              <a:schemeClr val="bg1"/>
            </a:solidFill>
            <a:prstDash val="solid"/>
          </a:ln>
        </p:spPr>
      </p:sp>
      <p:sp>
        <p:nvSpPr>
          <p:cNvPr id="5" name="Text 2"/>
          <p:cNvSpPr txBox="1"/>
          <p:nvPr/>
        </p:nvSpPr>
        <p:spPr>
          <a:xfrm>
            <a:off x="777240" y="1554480"/>
            <a:ext cx="1828800" cy="960120"/>
          </a:xfrm>
          <a:prstGeom prst="rect">
            <a:avLst/>
          </a:prstGeom>
          <a:noFill/>
          <a:ln/>
        </p:spPr>
        <p:txBody>
          <a:bodyPr wrap="square" lIns="0" tIns="0" rIns="0" bIns="0" rtlCol="0" anchor="ctr"/>
          <a:lstStyle/>
          <a:p>
            <a:pPr marL="0" indent="0">
              <a:buNone/>
            </a:pPr>
            <a:r>
              <a:rPr lang="en-US" sz="2000" b="1" dirty="0">
                <a:solidFill>
                  <a:schemeClr val="bg1"/>
                </a:solidFill>
              </a:rPr>
              <a:t>Wczesna diagnoza</a:t>
            </a:r>
            <a:endParaRPr lang="en-US" sz="2000" dirty="0"/>
          </a:p>
        </p:txBody>
      </p:sp>
      <p:sp>
        <p:nvSpPr>
          <p:cNvPr id="6" name="Etap 2"/>
          <p:cNvSpPr/>
          <p:nvPr/>
        </p:nvSpPr>
        <p:spPr>
          <a:xfrm>
            <a:off x="3337560" y="1554480"/>
            <a:ext cx="2880360" cy="960120"/>
          </a:xfrm>
          <a:prstGeom prst="chevron">
            <a:avLst/>
          </a:prstGeom>
          <a:solidFill>
            <a:schemeClr val="accent4"/>
          </a:solidFill>
          <a:ln w="12700">
            <a:solidFill>
              <a:schemeClr val="bg1"/>
            </a:solidFill>
            <a:prstDash val="solid"/>
          </a:ln>
        </p:spPr>
      </p:sp>
      <p:sp>
        <p:nvSpPr>
          <p:cNvPr id="7" name="Text 4"/>
          <p:cNvSpPr txBox="1"/>
          <p:nvPr/>
        </p:nvSpPr>
        <p:spPr>
          <a:xfrm>
            <a:off x="3931920" y="1554480"/>
            <a:ext cx="1828800" cy="960120"/>
          </a:xfrm>
          <a:prstGeom prst="rect">
            <a:avLst/>
          </a:prstGeom>
          <a:noFill/>
          <a:ln/>
        </p:spPr>
        <p:txBody>
          <a:bodyPr wrap="square" lIns="0" tIns="0" rIns="0" bIns="0" rtlCol="0" anchor="ctr"/>
          <a:lstStyle/>
          <a:p>
            <a:pPr marL="0" indent="0">
              <a:buNone/>
            </a:pPr>
            <a:r>
              <a:rPr lang="en-US" sz="2000" b="1" dirty="0">
                <a:solidFill>
                  <a:schemeClr val="bg1"/>
                </a:solidFill>
              </a:rPr>
              <a:t>Szkoła dostosowana</a:t>
            </a:r>
            <a:endParaRPr lang="en-US" sz="2000" dirty="0"/>
          </a:p>
        </p:txBody>
      </p:sp>
      <p:sp>
        <p:nvSpPr>
          <p:cNvPr id="8" name="Etap 3"/>
          <p:cNvSpPr/>
          <p:nvPr/>
        </p:nvSpPr>
        <p:spPr>
          <a:xfrm>
            <a:off x="6126480" y="1554480"/>
            <a:ext cx="2880360" cy="960120"/>
          </a:xfrm>
          <a:prstGeom prst="chevron">
            <a:avLst/>
          </a:prstGeom>
          <a:solidFill>
            <a:schemeClr val="accent1"/>
          </a:solidFill>
          <a:ln w="12700">
            <a:solidFill>
              <a:schemeClr val="bg1"/>
            </a:solidFill>
            <a:prstDash val="solid"/>
          </a:ln>
        </p:spPr>
      </p:sp>
      <p:sp>
        <p:nvSpPr>
          <p:cNvPr id="9" name="Text 6"/>
          <p:cNvSpPr txBox="1"/>
          <p:nvPr/>
        </p:nvSpPr>
        <p:spPr>
          <a:xfrm>
            <a:off x="6720840" y="1554480"/>
            <a:ext cx="1828800" cy="960120"/>
          </a:xfrm>
          <a:prstGeom prst="rect">
            <a:avLst/>
          </a:prstGeom>
          <a:noFill/>
          <a:ln/>
        </p:spPr>
        <p:txBody>
          <a:bodyPr wrap="square" lIns="0" tIns="0" rIns="0" bIns="0" rtlCol="0" anchor="ctr"/>
          <a:lstStyle/>
          <a:p>
            <a:pPr marL="0" indent="0">
              <a:buNone/>
            </a:pPr>
            <a:r>
              <a:rPr lang="en-US" sz="2000" b="1" dirty="0">
                <a:solidFill>
                  <a:schemeClr val="bg1"/>
                </a:solidFill>
              </a:rPr>
              <a:t>Płynne przejście po szkole</a:t>
            </a:r>
            <a:endParaRPr lang="en-US" sz="2000" dirty="0"/>
          </a:p>
        </p:txBody>
      </p:sp>
      <p:sp>
        <p:nvSpPr>
          <p:cNvPr id="10" name="Etap 4"/>
          <p:cNvSpPr/>
          <p:nvPr/>
        </p:nvSpPr>
        <p:spPr>
          <a:xfrm>
            <a:off x="8915400" y="1554480"/>
            <a:ext cx="2880360" cy="960120"/>
          </a:xfrm>
          <a:prstGeom prst="chevron">
            <a:avLst/>
          </a:prstGeom>
          <a:solidFill>
            <a:schemeClr val="tx2"/>
          </a:solidFill>
          <a:ln w="12700">
            <a:solidFill>
              <a:schemeClr val="bg1"/>
            </a:solidFill>
            <a:prstDash val="solid"/>
          </a:ln>
        </p:spPr>
      </p:sp>
      <p:sp>
        <p:nvSpPr>
          <p:cNvPr id="11" name="Text 8"/>
          <p:cNvSpPr txBox="1"/>
          <p:nvPr/>
        </p:nvSpPr>
        <p:spPr>
          <a:xfrm>
            <a:off x="9509760" y="1554480"/>
            <a:ext cx="1828800" cy="960120"/>
          </a:xfrm>
          <a:prstGeom prst="rect">
            <a:avLst/>
          </a:prstGeom>
          <a:noFill/>
          <a:ln/>
        </p:spPr>
        <p:txBody>
          <a:bodyPr wrap="square" lIns="0" tIns="0" rIns="0" bIns="0" rtlCol="0" anchor="ctr"/>
          <a:lstStyle/>
          <a:p>
            <a:pPr marL="0" indent="0">
              <a:buNone/>
            </a:pPr>
            <a:r>
              <a:rPr lang="en-US" sz="2000" b="1" dirty="0">
                <a:solidFill>
                  <a:schemeClr val="bg1"/>
                </a:solidFill>
              </a:rPr>
              <a:t>Praca i życie w społeczności</a:t>
            </a:r>
            <a:endParaRPr lang="en-US" sz="2000" dirty="0"/>
          </a:p>
        </p:txBody>
      </p:sp>
      <p:sp>
        <p:nvSpPr>
          <p:cNvPr id="12" name="W szkole"/>
          <p:cNvSpPr/>
          <p:nvPr/>
        </p:nvSpPr>
        <p:spPr>
          <a:xfrm>
            <a:off x="548640" y="2697480"/>
            <a:ext cx="5440680" cy="3108960"/>
          </a:xfrm>
          <a:prstGeom prst="roundRect">
            <a:avLst>
              <a:gd name="adj" fmla="val 3529"/>
            </a:avLst>
          </a:prstGeom>
          <a:solidFill>
            <a:schemeClr val="bg2"/>
          </a:solidFill>
          <a:ln w="12700">
            <a:solidFill>
              <a:schemeClr val="bg2"/>
            </a:solidFill>
            <a:prstDash val="solid"/>
          </a:ln>
        </p:spPr>
      </p:sp>
      <p:sp>
        <p:nvSpPr>
          <p:cNvPr id="13" name="Text 10"/>
          <p:cNvSpPr txBox="1"/>
          <p:nvPr/>
        </p:nvSpPr>
        <p:spPr>
          <a:xfrm>
            <a:off x="777240" y="2788920"/>
            <a:ext cx="5029200" cy="411480"/>
          </a:xfrm>
          <a:prstGeom prst="rect">
            <a:avLst/>
          </a:prstGeom>
          <a:noFill/>
          <a:ln/>
        </p:spPr>
        <p:txBody>
          <a:bodyPr wrap="square" lIns="0" tIns="0" rIns="0" bIns="0" rtlCol="0" anchor="t"/>
          <a:lstStyle/>
          <a:p>
            <a:pPr marL="0" indent="0">
              <a:buNone/>
            </a:pPr>
            <a:r>
              <a:rPr lang="en-US" sz="2400" b="1" dirty="0">
                <a:solidFill>
                  <a:schemeClr val="accent1"/>
                </a:solidFill>
              </a:rPr>
              <a:t>W szkole i wśród rówieśników</a:t>
            </a:r>
            <a:endParaRPr lang="en-US" sz="2400" dirty="0"/>
          </a:p>
        </p:txBody>
      </p:sp>
      <p:sp>
        <p:nvSpPr>
          <p:cNvPr id="14" name="Text 11"/>
          <p:cNvSpPr txBox="1"/>
          <p:nvPr/>
        </p:nvSpPr>
        <p:spPr>
          <a:xfrm>
            <a:off x="777240" y="3246120"/>
            <a:ext cx="5029200" cy="2514600"/>
          </a:xfrm>
          <a:prstGeom prst="rect">
            <a:avLst/>
          </a:prstGeom>
          <a:noFill/>
          <a:ln/>
        </p:spPr>
        <p:txBody>
          <a:bodyPr wrap="square" lIns="0" tIns="0" rIns="0" bIns="0" rtlCol="0" anchor="t"/>
          <a:lstStyle/>
          <a:p>
            <a:pPr marL="216000" indent="-216000">
              <a:spcAft>
                <a:spcPts val="500"/>
              </a:spcAft>
              <a:buSzPct val="100000"/>
              <a:buChar char="•"/>
            </a:pPr>
            <a:r>
              <a:rPr lang="pl-PL" sz="2000" dirty="0"/>
              <a:t>specjaliści i miejsca wyciszeń </a:t>
            </a:r>
            <a:r>
              <a:rPr lang="pl-PL" sz="2000" b="1" dirty="0"/>
              <a:t>(NIK)</a:t>
            </a:r>
          </a:p>
          <a:p>
            <a:pPr marL="216000" indent="-216000">
              <a:spcAft>
                <a:spcPts val="500"/>
              </a:spcAft>
              <a:buSzPct val="100000"/>
              <a:buChar char="•"/>
            </a:pPr>
            <a:r>
              <a:rPr lang="pl-PL" sz="2000" dirty="0"/>
              <a:t>ocena skuteczności wsparcia (aż 40% szkół jej nie prowadzi)</a:t>
            </a:r>
          </a:p>
          <a:p>
            <a:pPr marL="216000" indent="-216000">
              <a:spcAft>
                <a:spcPts val="500"/>
              </a:spcAft>
              <a:buSzPct val="100000"/>
              <a:buChar char="•"/>
            </a:pPr>
            <a:r>
              <a:rPr lang="pl-PL" sz="2000" dirty="0"/>
              <a:t>skoordynowane działania przeciw nękaniu (OSA)</a:t>
            </a:r>
          </a:p>
          <a:p>
            <a:pPr marL="216000" indent="-216000">
              <a:spcAft>
                <a:spcPts val="500"/>
              </a:spcAft>
              <a:buSzPct val="100000"/>
              <a:buChar char="•"/>
            </a:pPr>
            <a:r>
              <a:rPr lang="pl-PL" sz="2000" dirty="0"/>
              <a:t>wolontariat koleżeński: chce go 43% osób, a 77% rodziców widzi potrzebę (OSA)</a:t>
            </a:r>
          </a:p>
        </p:txBody>
      </p:sp>
      <p:sp>
        <p:nvSpPr>
          <p:cNvPr id="15" name="Po szkole"/>
          <p:cNvSpPr/>
          <p:nvPr/>
        </p:nvSpPr>
        <p:spPr>
          <a:xfrm>
            <a:off x="6199632" y="2697480"/>
            <a:ext cx="5440680" cy="3108960"/>
          </a:xfrm>
          <a:prstGeom prst="roundRect">
            <a:avLst>
              <a:gd name="adj" fmla="val 3529"/>
            </a:avLst>
          </a:prstGeom>
          <a:solidFill>
            <a:schemeClr val="bg2"/>
          </a:solidFill>
          <a:ln w="12700">
            <a:solidFill>
              <a:schemeClr val="bg2"/>
            </a:solidFill>
            <a:prstDash val="solid"/>
          </a:ln>
        </p:spPr>
      </p:sp>
      <p:sp>
        <p:nvSpPr>
          <p:cNvPr id="16" name="Text 13"/>
          <p:cNvSpPr txBox="1"/>
          <p:nvPr/>
        </p:nvSpPr>
        <p:spPr>
          <a:xfrm>
            <a:off x="6428232" y="2788920"/>
            <a:ext cx="5029200" cy="411480"/>
          </a:xfrm>
          <a:prstGeom prst="rect">
            <a:avLst/>
          </a:prstGeom>
          <a:noFill/>
          <a:ln/>
        </p:spPr>
        <p:txBody>
          <a:bodyPr wrap="square" lIns="0" tIns="0" rIns="0" bIns="0" rtlCol="0" anchor="t"/>
          <a:lstStyle/>
          <a:p>
            <a:pPr marL="0" indent="0">
              <a:buNone/>
            </a:pPr>
            <a:r>
              <a:rPr lang="en-US" sz="2400" b="1" dirty="0">
                <a:solidFill>
                  <a:schemeClr val="accent1"/>
                </a:solidFill>
              </a:rPr>
              <a:t>Po zakończeniu szkoły</a:t>
            </a:r>
            <a:endParaRPr lang="en-US" sz="2400" dirty="0"/>
          </a:p>
        </p:txBody>
      </p:sp>
      <p:sp>
        <p:nvSpPr>
          <p:cNvPr id="17" name="Text 14"/>
          <p:cNvSpPr txBox="1"/>
          <p:nvPr/>
        </p:nvSpPr>
        <p:spPr>
          <a:xfrm>
            <a:off x="6428232" y="3246120"/>
            <a:ext cx="5029200" cy="2514600"/>
          </a:xfrm>
          <a:prstGeom prst="rect">
            <a:avLst/>
          </a:prstGeom>
          <a:noFill/>
          <a:ln/>
        </p:spPr>
        <p:txBody>
          <a:bodyPr wrap="square" lIns="0" tIns="0" rIns="0" bIns="0" rtlCol="0" anchor="t"/>
          <a:lstStyle/>
          <a:p>
            <a:pPr marL="216000" indent="-216000">
              <a:spcAft>
                <a:spcPts val="500"/>
              </a:spcAft>
              <a:buSzPct val="100000"/>
              <a:buChar char="•"/>
            </a:pPr>
            <a:r>
              <a:rPr lang="en-US" sz="2000" dirty="0">
                <a:solidFill>
                  <a:schemeClr val="tx1"/>
                </a:solidFill>
              </a:rPr>
              <a:t>WTZ, ZAZ i ŚDS w każdym powiecie (NIK)</a:t>
            </a:r>
            <a:endParaRPr lang="en-US" sz="2000" dirty="0"/>
          </a:p>
          <a:p>
            <a:pPr marL="216000" indent="-216000">
              <a:spcAft>
                <a:spcPts val="500"/>
              </a:spcAft>
              <a:buSzPct val="100000"/>
              <a:buChar char="•"/>
            </a:pPr>
            <a:r>
              <a:rPr lang="en-US" sz="2000" dirty="0">
                <a:solidFill>
                  <a:schemeClr val="tx1"/>
                </a:solidFill>
              </a:rPr>
              <a:t>psycholodzy i specjaliści w WTZ (NIK)</a:t>
            </a:r>
            <a:endParaRPr lang="en-US" sz="2000" dirty="0"/>
          </a:p>
          <a:p>
            <a:pPr marL="216000" indent="-216000">
              <a:spcAft>
                <a:spcPts val="500"/>
              </a:spcAft>
              <a:buSzPct val="100000"/>
              <a:buChar char="•"/>
            </a:pPr>
            <a:r>
              <a:rPr lang="en-US" sz="2000" dirty="0">
                <a:solidFill>
                  <a:schemeClr val="tx1"/>
                </a:solidFill>
              </a:rPr>
              <a:t>wsparcie w środowisku: szkole, pracy, przestrzeni publicznej (OSA)</a:t>
            </a:r>
            <a:endParaRPr lang="en-US" sz="2000" dirty="0"/>
          </a:p>
          <a:p>
            <a:pPr marL="216000" indent="-216000">
              <a:spcAft>
                <a:spcPts val="500"/>
              </a:spcAft>
              <a:buSzPct val="100000"/>
              <a:buChar char="•"/>
            </a:pPr>
            <a:r>
              <a:rPr lang="en-US" sz="2000" dirty="0">
                <a:solidFill>
                  <a:schemeClr val="tx1"/>
                </a:solidFill>
              </a:rPr>
              <a:t>Dom Typu D i centra opiekuńczo-mieszkalne (NIK)</a:t>
            </a:r>
            <a:endParaRPr lang="en-US" sz="2000" dirty="0"/>
          </a:p>
        </p:txBody>
      </p:sp>
      <p:sp>
        <p:nvSpPr>
          <p:cNvPr id="18" name="Źródło"/>
          <p:cNvSpPr txBox="1"/>
          <p:nvPr/>
        </p:nvSpPr>
        <p:spPr>
          <a:xfrm>
            <a:off x="125730" y="6309360"/>
            <a:ext cx="11091672" cy="457200"/>
          </a:xfrm>
          <a:prstGeom prst="rect">
            <a:avLst/>
          </a:prstGeom>
          <a:noFill/>
          <a:ln/>
        </p:spPr>
        <p:txBody>
          <a:bodyPr wrap="square" lIns="0" tIns="0" rIns="0" bIns="0" rtlCol="0" anchor="b"/>
          <a:lstStyle/>
          <a:p>
            <a:pPr marL="0" indent="0">
              <a:buNone/>
            </a:pPr>
            <a:r>
              <a:rPr lang="en-US" sz="1200" dirty="0">
                <a:solidFill>
                  <a:schemeClr val="bg1">
                    <a:lumMod val="75000"/>
                  </a:schemeClr>
                </a:solidFill>
              </a:rPr>
              <a:t>Źródła: NIK (2020); OSA (Płatos, 2016). WTZ: warsztaty terapii zajęciowej; ZAZ: zakłady aktywności zawodowej; ŚDS: środowiskowe domy samopomocy.</a:t>
            </a:r>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defRPr>
            </a:lvl1pPr>
          </a:lstStyle>
          <a:p>
            <a:pPr algn="r"/>
            <a:fld id="{F7021451-1387-4CA6-816F-3879F97B5CBC}" type="slidenum">
              <a:rPr lang="en-US" b="0"/>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4"/>
          <p:cNvSpPr txBox="1">
            <a:spLocks noGrp="1"/>
          </p:cNvSpPr>
          <p:nvPr>
            <p:ph type="title" idx="100"/>
          </p:nvPr>
        </p:nvSpPr>
        <p:spPr>
          <a:xfrm>
            <a:off x="548640" y="320040"/>
            <a:ext cx="11091600" cy="105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000"/>
              <a:buFont typeface="Cambria"/>
              <a:buNone/>
            </a:pPr>
            <a:r>
              <a:rPr lang="pl-PL" sz="2800" b="1" dirty="0" smtClean="0">
                <a:solidFill>
                  <a:srgbClr val="12484F"/>
                </a:solidFill>
              </a:rPr>
              <a:t>Codzienne trudności nasilają się, gdy otoczenie nie jest dostosowane</a:t>
            </a:r>
            <a:endParaRPr lang="pl-PL" sz="3200" spc="-150" dirty="0"/>
          </a:p>
        </p:txBody>
      </p:sp>
      <p:sp>
        <p:nvSpPr>
          <p:cNvPr id="204" name="Google Shape;204;p14"/>
          <p:cNvSpPr txBox="1">
            <a:spLocks noGrp="1"/>
          </p:cNvSpPr>
          <p:nvPr>
            <p:ph type="sldNum" idx="4294967295"/>
          </p:nvPr>
        </p:nvSpPr>
        <p:spPr>
          <a:xfrm>
            <a:off x="11064240" y="6400800"/>
            <a:ext cx="5760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accent5"/>
                </a:solidFill>
                <a:latin typeface="Calibri"/>
                <a:ea typeface="Calibri"/>
                <a:cs typeface="Calibri"/>
                <a:sym typeface="Calibri"/>
              </a:rPr>
              <a:t>20</a:t>
            </a:fld>
            <a:endParaRPr sz="1200" b="0" i="0" u="none" strike="noStrike" cap="none">
              <a:solidFill>
                <a:schemeClr val="accent5"/>
              </a:solidFill>
              <a:latin typeface="Calibri"/>
              <a:ea typeface="Calibri"/>
              <a:cs typeface="Calibri"/>
              <a:sym typeface="Calibri"/>
            </a:endParaRPr>
          </a:p>
        </p:txBody>
      </p:sp>
      <p:sp>
        <p:nvSpPr>
          <p:cNvPr id="205" name="Rounded Rectangle 204"/>
          <p:cNvSpPr/>
          <p:nvPr/>
        </p:nvSpPr>
        <p:spPr>
          <a:xfrm>
            <a:off x="548640" y="1554480"/>
            <a:ext cx="5440680" cy="2039112"/>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Rounded Rectangle 205"/>
          <p:cNvSpPr/>
          <p:nvPr/>
        </p:nvSpPr>
        <p:spPr>
          <a:xfrm>
            <a:off x="731520" y="1628466"/>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TextBox 206"/>
          <p:cNvSpPr txBox="1"/>
          <p:nvPr/>
        </p:nvSpPr>
        <p:spPr>
          <a:xfrm>
            <a:off x="731520" y="1746504"/>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1</a:t>
            </a:r>
          </a:p>
        </p:txBody>
      </p:sp>
      <p:sp>
        <p:nvSpPr>
          <p:cNvPr id="208" name="TextBox 207"/>
          <p:cNvSpPr txBox="1"/>
          <p:nvPr/>
        </p:nvSpPr>
        <p:spPr>
          <a:xfrm>
            <a:off x="1417319" y="1746504"/>
            <a:ext cx="4361688" cy="548640"/>
          </a:xfrm>
          <a:prstGeom prst="rect">
            <a:avLst/>
          </a:prstGeom>
          <a:noFill/>
        </p:spPr>
        <p:txBody>
          <a:bodyPr wrap="square" lIns="0" tIns="0" rIns="0" bIns="0" anchor="t">
            <a:noAutofit/>
          </a:bodyPr>
          <a:lstStyle/>
          <a:p>
            <a:pPr algn="l">
              <a:lnSpc>
                <a:spcPct val="103000"/>
              </a:lnSpc>
              <a:spcBef>
                <a:spcPts val="0"/>
              </a:spcBef>
              <a:spcAft>
                <a:spcPts val="0"/>
              </a:spcAft>
            </a:pPr>
            <a:r>
              <a:rPr sz="2200" b="1">
                <a:solidFill>
                  <a:srgbClr val="12484F"/>
                </a:solidFill>
                <a:latin typeface="Calibri"/>
              </a:rPr>
              <a:t>Szkoła i relacje</a:t>
            </a:r>
          </a:p>
        </p:txBody>
      </p:sp>
      <p:sp>
        <p:nvSpPr>
          <p:cNvPr id="209" name="TextBox 208"/>
          <p:cNvSpPr txBox="1"/>
          <p:nvPr/>
        </p:nvSpPr>
        <p:spPr>
          <a:xfrm>
            <a:off x="749808" y="2505456"/>
            <a:ext cx="5038344" cy="923544"/>
          </a:xfrm>
          <a:prstGeom prst="rect">
            <a:avLst/>
          </a:prstGeom>
          <a:noFill/>
        </p:spPr>
        <p:txBody>
          <a:bodyPr wrap="square" lIns="0" tIns="0" rIns="0" bIns="0" anchor="t">
            <a:noAutofit/>
          </a:bodyPr>
          <a:lstStyle/>
          <a:p>
            <a:pPr algn="l">
              <a:lnSpc>
                <a:spcPct val="103000"/>
              </a:lnSpc>
              <a:spcBef>
                <a:spcPts val="0"/>
              </a:spcBef>
              <a:spcAft>
                <a:spcPts val="0"/>
              </a:spcAft>
            </a:pPr>
            <a:r>
              <a:rPr sz="2000" b="0">
                <a:solidFill>
                  <a:srgbClr val="1F2D30"/>
                </a:solidFill>
                <a:latin typeface="Calibri"/>
              </a:rPr>
              <a:t>Nękanie, brak miejsc wyciszenia i niespójne wsparcie utrudniają udział w edukacji.</a:t>
            </a:r>
          </a:p>
        </p:txBody>
      </p:sp>
      <p:sp>
        <p:nvSpPr>
          <p:cNvPr id="210" name="Rounded Rectangle 209"/>
          <p:cNvSpPr/>
          <p:nvPr/>
        </p:nvSpPr>
        <p:spPr>
          <a:xfrm>
            <a:off x="6199632" y="1554480"/>
            <a:ext cx="5440680" cy="2039112"/>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Rounded Rectangle 210"/>
          <p:cNvSpPr/>
          <p:nvPr/>
        </p:nvSpPr>
        <p:spPr>
          <a:xfrm>
            <a:off x="6382512" y="1628466"/>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TextBox 211"/>
          <p:cNvSpPr txBox="1"/>
          <p:nvPr/>
        </p:nvSpPr>
        <p:spPr>
          <a:xfrm>
            <a:off x="6382512" y="1746504"/>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2</a:t>
            </a:r>
          </a:p>
        </p:txBody>
      </p:sp>
      <p:sp>
        <p:nvSpPr>
          <p:cNvPr id="213" name="TextBox 212"/>
          <p:cNvSpPr txBox="1"/>
          <p:nvPr/>
        </p:nvSpPr>
        <p:spPr>
          <a:xfrm>
            <a:off x="7068312" y="1746504"/>
            <a:ext cx="4361688" cy="548640"/>
          </a:xfrm>
          <a:prstGeom prst="rect">
            <a:avLst/>
          </a:prstGeom>
          <a:noFill/>
        </p:spPr>
        <p:txBody>
          <a:bodyPr wrap="square" lIns="0" tIns="0" rIns="0" bIns="0" anchor="t">
            <a:noAutofit/>
          </a:bodyPr>
          <a:lstStyle/>
          <a:p>
            <a:pPr algn="l">
              <a:lnSpc>
                <a:spcPct val="103000"/>
              </a:lnSpc>
              <a:spcBef>
                <a:spcPts val="0"/>
              </a:spcBef>
              <a:spcAft>
                <a:spcPts val="0"/>
              </a:spcAft>
            </a:pPr>
            <a:r>
              <a:rPr sz="2200" b="1">
                <a:solidFill>
                  <a:srgbClr val="12484F"/>
                </a:solidFill>
                <a:latin typeface="Calibri"/>
              </a:rPr>
              <a:t>Urząd i opieka zdrowotna</a:t>
            </a:r>
          </a:p>
        </p:txBody>
      </p:sp>
      <p:sp>
        <p:nvSpPr>
          <p:cNvPr id="214" name="TextBox 213"/>
          <p:cNvSpPr txBox="1"/>
          <p:nvPr/>
        </p:nvSpPr>
        <p:spPr>
          <a:xfrm>
            <a:off x="6400800" y="2505456"/>
            <a:ext cx="5038344" cy="923544"/>
          </a:xfrm>
          <a:prstGeom prst="rect">
            <a:avLst/>
          </a:prstGeom>
          <a:noFill/>
        </p:spPr>
        <p:txBody>
          <a:bodyPr wrap="square" lIns="0" tIns="0" rIns="0" bIns="0" anchor="t">
            <a:noAutofit/>
          </a:bodyPr>
          <a:lstStyle/>
          <a:p>
            <a:pPr algn="l">
              <a:lnSpc>
                <a:spcPct val="103000"/>
              </a:lnSpc>
              <a:spcBef>
                <a:spcPts val="0"/>
              </a:spcBef>
              <a:spcAft>
                <a:spcPts val="0"/>
              </a:spcAft>
            </a:pPr>
            <a:r>
              <a:rPr sz="2000" b="0">
                <a:solidFill>
                  <a:srgbClr val="1F2D30"/>
                </a:solidFill>
                <a:latin typeface="Calibri"/>
              </a:rPr>
              <a:t>Hałas, kolejki i niejasne polecenia mogą zwiększać obciążenie sensoryczne oraz komunikacyjne.</a:t>
            </a:r>
          </a:p>
        </p:txBody>
      </p:sp>
      <p:sp>
        <p:nvSpPr>
          <p:cNvPr id="215" name="Rounded Rectangle 214"/>
          <p:cNvSpPr/>
          <p:nvPr/>
        </p:nvSpPr>
        <p:spPr>
          <a:xfrm>
            <a:off x="548640" y="3767328"/>
            <a:ext cx="5440680" cy="2039112"/>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Rounded Rectangle 215"/>
          <p:cNvSpPr/>
          <p:nvPr/>
        </p:nvSpPr>
        <p:spPr>
          <a:xfrm>
            <a:off x="731520" y="3841314"/>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TextBox 216"/>
          <p:cNvSpPr txBox="1"/>
          <p:nvPr/>
        </p:nvSpPr>
        <p:spPr>
          <a:xfrm>
            <a:off x="731520" y="3959352"/>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3</a:t>
            </a:r>
          </a:p>
        </p:txBody>
      </p:sp>
      <p:sp>
        <p:nvSpPr>
          <p:cNvPr id="218" name="TextBox 217"/>
          <p:cNvSpPr txBox="1"/>
          <p:nvPr/>
        </p:nvSpPr>
        <p:spPr>
          <a:xfrm>
            <a:off x="1417319" y="3959352"/>
            <a:ext cx="4361688" cy="548640"/>
          </a:xfrm>
          <a:prstGeom prst="rect">
            <a:avLst/>
          </a:prstGeom>
          <a:noFill/>
        </p:spPr>
        <p:txBody>
          <a:bodyPr wrap="square" lIns="0" tIns="0" rIns="0" bIns="0" anchor="t">
            <a:noAutofit/>
          </a:bodyPr>
          <a:lstStyle/>
          <a:p>
            <a:pPr algn="l">
              <a:lnSpc>
                <a:spcPct val="103000"/>
              </a:lnSpc>
              <a:spcBef>
                <a:spcPts val="0"/>
              </a:spcBef>
              <a:spcAft>
                <a:spcPts val="0"/>
              </a:spcAft>
            </a:pPr>
            <a:r>
              <a:rPr sz="2200" b="1">
                <a:solidFill>
                  <a:srgbClr val="12484F"/>
                </a:solidFill>
                <a:latin typeface="Calibri"/>
              </a:rPr>
              <a:t>Praca i samodzielność</a:t>
            </a:r>
          </a:p>
        </p:txBody>
      </p:sp>
      <p:sp>
        <p:nvSpPr>
          <p:cNvPr id="219" name="TextBox 218"/>
          <p:cNvSpPr txBox="1"/>
          <p:nvPr/>
        </p:nvSpPr>
        <p:spPr>
          <a:xfrm>
            <a:off x="749808" y="4718304"/>
            <a:ext cx="5038344" cy="923544"/>
          </a:xfrm>
          <a:prstGeom prst="rect">
            <a:avLst/>
          </a:prstGeom>
          <a:noFill/>
        </p:spPr>
        <p:txBody>
          <a:bodyPr wrap="square" lIns="0" tIns="0" rIns="0" bIns="0" anchor="t">
            <a:noAutofit/>
          </a:bodyPr>
          <a:lstStyle/>
          <a:p>
            <a:pPr algn="l">
              <a:lnSpc>
                <a:spcPct val="103000"/>
              </a:lnSpc>
              <a:spcBef>
                <a:spcPts val="0"/>
              </a:spcBef>
              <a:spcAft>
                <a:spcPts val="0"/>
              </a:spcAft>
            </a:pPr>
            <a:r>
              <a:rPr sz="1960" b="0">
                <a:solidFill>
                  <a:srgbClr val="1F2D30"/>
                </a:solidFill>
                <a:latin typeface="Calibri"/>
              </a:rPr>
              <a:t>Brak dostosowań oraz przerwa we wsparciu po szkole ograniczają udział w pracy i życiu społecznym.</a:t>
            </a:r>
          </a:p>
        </p:txBody>
      </p:sp>
      <p:sp>
        <p:nvSpPr>
          <p:cNvPr id="220" name="Rounded Rectangle 219"/>
          <p:cNvSpPr/>
          <p:nvPr/>
        </p:nvSpPr>
        <p:spPr>
          <a:xfrm>
            <a:off x="6199632" y="3767328"/>
            <a:ext cx="5440680" cy="2039112"/>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Rounded Rectangle 220"/>
          <p:cNvSpPr/>
          <p:nvPr/>
        </p:nvSpPr>
        <p:spPr>
          <a:xfrm>
            <a:off x="6382512" y="3841314"/>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TextBox 221"/>
          <p:cNvSpPr txBox="1"/>
          <p:nvPr/>
        </p:nvSpPr>
        <p:spPr>
          <a:xfrm>
            <a:off x="6382512" y="3959352"/>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4</a:t>
            </a:r>
          </a:p>
        </p:txBody>
      </p:sp>
      <p:sp>
        <p:nvSpPr>
          <p:cNvPr id="223" name="TextBox 222"/>
          <p:cNvSpPr txBox="1"/>
          <p:nvPr/>
        </p:nvSpPr>
        <p:spPr>
          <a:xfrm>
            <a:off x="7068312" y="3959352"/>
            <a:ext cx="4361688" cy="548640"/>
          </a:xfrm>
          <a:prstGeom prst="rect">
            <a:avLst/>
          </a:prstGeom>
          <a:noFill/>
        </p:spPr>
        <p:txBody>
          <a:bodyPr wrap="square" lIns="0" tIns="0" rIns="0" bIns="0" anchor="t">
            <a:noAutofit/>
          </a:bodyPr>
          <a:lstStyle/>
          <a:p>
            <a:pPr algn="l">
              <a:lnSpc>
                <a:spcPct val="103000"/>
              </a:lnSpc>
              <a:spcBef>
                <a:spcPts val="0"/>
              </a:spcBef>
              <a:spcAft>
                <a:spcPts val="0"/>
              </a:spcAft>
            </a:pPr>
            <a:r>
              <a:rPr sz="2200" b="1">
                <a:solidFill>
                  <a:srgbClr val="12484F"/>
                </a:solidFill>
                <a:latin typeface="Calibri"/>
              </a:rPr>
              <a:t>Relaks i przestrzeń publiczna</a:t>
            </a:r>
          </a:p>
        </p:txBody>
      </p:sp>
      <p:sp>
        <p:nvSpPr>
          <p:cNvPr id="224" name="TextBox 223"/>
          <p:cNvSpPr txBox="1"/>
          <p:nvPr/>
        </p:nvSpPr>
        <p:spPr>
          <a:xfrm>
            <a:off x="6400800" y="4718304"/>
            <a:ext cx="5038344" cy="923544"/>
          </a:xfrm>
          <a:prstGeom prst="rect">
            <a:avLst/>
          </a:prstGeom>
          <a:noFill/>
        </p:spPr>
        <p:txBody>
          <a:bodyPr wrap="square" lIns="0" tIns="0" rIns="0" bIns="0" anchor="t">
            <a:noAutofit/>
          </a:bodyPr>
          <a:lstStyle/>
          <a:p>
            <a:pPr algn="l">
              <a:lnSpc>
                <a:spcPct val="103000"/>
              </a:lnSpc>
              <a:spcBef>
                <a:spcPts val="0"/>
              </a:spcBef>
              <a:spcAft>
                <a:spcPts val="0"/>
              </a:spcAft>
            </a:pPr>
            <a:r>
              <a:rPr sz="1960" b="0">
                <a:solidFill>
                  <a:srgbClr val="1F2D30"/>
                </a:solidFill>
                <a:latin typeface="Calibri"/>
              </a:rPr>
              <a:t>Przewidywalność, możliwość odpoczynku i dostępna informacja ułatwiają aktywność poza domem.</a:t>
            </a:r>
          </a:p>
        </p:txBody>
      </p:sp>
      <p:sp>
        <p:nvSpPr>
          <p:cNvPr id="225" name="TextBox 224"/>
          <p:cNvSpPr txBox="1"/>
          <p:nvPr/>
        </p:nvSpPr>
        <p:spPr>
          <a:xfrm>
            <a:off x="162930" y="6382452"/>
            <a:ext cx="10744200" cy="310896"/>
          </a:xfrm>
          <a:prstGeom prst="rect">
            <a:avLst/>
          </a:prstGeom>
          <a:noFill/>
        </p:spPr>
        <p:txBody>
          <a:bodyPr wrap="square" lIns="0" tIns="0" rIns="0" bIns="0" anchor="b">
            <a:noAutofit/>
          </a:bodyPr>
          <a:lstStyle/>
          <a:p>
            <a:pPr algn="l">
              <a:lnSpc>
                <a:spcPct val="103000"/>
              </a:lnSpc>
              <a:spcBef>
                <a:spcPts val="0"/>
              </a:spcBef>
              <a:spcAft>
                <a:spcPts val="0"/>
              </a:spcAft>
            </a:pPr>
            <a:r>
              <a:rPr lang="pl-PL" sz="1100" b="0" dirty="0" smtClean="0">
                <a:solidFill>
                  <a:schemeClr val="bg1">
                    <a:lumMod val="65000"/>
                  </a:schemeClr>
                </a:solidFill>
                <a:latin typeface="Calibri"/>
              </a:rPr>
              <a:t>Źródła: NIK (2020); </a:t>
            </a:r>
            <a:r>
              <a:rPr lang="pl-PL" sz="1100" b="0" dirty="0" err="1" smtClean="0">
                <a:solidFill>
                  <a:schemeClr val="bg1">
                    <a:lumMod val="65000"/>
                  </a:schemeClr>
                </a:solidFill>
                <a:latin typeface="Calibri"/>
              </a:rPr>
              <a:t>Płatos</a:t>
            </a:r>
            <a:r>
              <a:rPr lang="pl-PL" sz="1100" b="0" dirty="0" smtClean="0">
                <a:solidFill>
                  <a:schemeClr val="bg1">
                    <a:lumMod val="65000"/>
                  </a:schemeClr>
                </a:solidFill>
                <a:latin typeface="Calibri"/>
              </a:rPr>
              <a:t> (2016); NICE CG170 (2021); WHO ICF (2001)</a:t>
            </a:r>
            <a:endParaRPr lang="pl-PL" sz="1100" b="0" dirty="0">
              <a:solidFill>
                <a:schemeClr val="bg1">
                  <a:lumMod val="65000"/>
                </a:schemeClr>
              </a:solidFill>
              <a:latin typeface="Calibri"/>
            </a:endParaRPr>
          </a:p>
        </p:txBody>
      </p:sp>
    </p:spTree>
    <p:extLst>
      <p:ext uri="{BB962C8B-B14F-4D97-AF65-F5344CB8AC3E}">
        <p14:creationId xmlns:p14="http://schemas.microsoft.com/office/powerpoint/2010/main" val="29928074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5"/>
          <p:cNvSpPr txBox="1">
            <a:spLocks noGrp="1"/>
          </p:cNvSpPr>
          <p:nvPr>
            <p:ph type="title" idx="100"/>
          </p:nvPr>
        </p:nvSpPr>
        <p:spPr>
          <a:xfrm>
            <a:off x="548640" y="320040"/>
            <a:ext cx="11091600" cy="644236"/>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000"/>
              <a:buFont typeface="Cambria"/>
              <a:buNone/>
            </a:pPr>
            <a:r>
              <a:rPr lang="pl-PL" sz="2800" b="1" dirty="0" smtClean="0">
                <a:solidFill>
                  <a:srgbClr val="12484F"/>
                </a:solidFill>
              </a:rPr>
              <a:t>Skuteczny system łączy rzetelną diagnozę, prawa i głos osób autystycznych</a:t>
            </a:r>
            <a:endParaRPr lang="pl-PL" sz="3200" dirty="0"/>
          </a:p>
        </p:txBody>
      </p:sp>
      <p:sp>
        <p:nvSpPr>
          <p:cNvPr id="212" name="Google Shape;212;p15"/>
          <p:cNvSpPr txBox="1">
            <a:spLocks noGrp="1"/>
          </p:cNvSpPr>
          <p:nvPr>
            <p:ph type="sldNum" idx="4294967295"/>
          </p:nvPr>
        </p:nvSpPr>
        <p:spPr>
          <a:xfrm>
            <a:off x="11064240" y="6400800"/>
            <a:ext cx="5760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accent5"/>
                </a:solidFill>
                <a:latin typeface="Calibri"/>
                <a:ea typeface="Calibri"/>
                <a:cs typeface="Calibri"/>
                <a:sym typeface="Calibri"/>
              </a:rPr>
              <a:t>21</a:t>
            </a:fld>
            <a:endParaRPr sz="1200" b="0" i="0" u="none" strike="noStrike" cap="none">
              <a:solidFill>
                <a:schemeClr val="accent5"/>
              </a:solidFill>
              <a:latin typeface="Calibri"/>
              <a:ea typeface="Calibri"/>
              <a:cs typeface="Calibri"/>
              <a:sym typeface="Calibri"/>
            </a:endParaRPr>
          </a:p>
        </p:txBody>
      </p:sp>
      <p:sp>
        <p:nvSpPr>
          <p:cNvPr id="213" name="Rounded Rectangle 212"/>
          <p:cNvSpPr/>
          <p:nvPr/>
        </p:nvSpPr>
        <p:spPr>
          <a:xfrm>
            <a:off x="548640" y="1581912"/>
            <a:ext cx="3520440" cy="3291840"/>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Rounded Rectangle 213"/>
          <p:cNvSpPr/>
          <p:nvPr/>
        </p:nvSpPr>
        <p:spPr>
          <a:xfrm>
            <a:off x="731520" y="1687068"/>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TextBox 214"/>
          <p:cNvSpPr txBox="1"/>
          <p:nvPr/>
        </p:nvSpPr>
        <p:spPr>
          <a:xfrm>
            <a:off x="731520" y="1773936"/>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1</a:t>
            </a:r>
          </a:p>
        </p:txBody>
      </p:sp>
      <p:sp>
        <p:nvSpPr>
          <p:cNvPr id="216" name="TextBox 215"/>
          <p:cNvSpPr txBox="1"/>
          <p:nvPr/>
        </p:nvSpPr>
        <p:spPr>
          <a:xfrm>
            <a:off x="1417319" y="1773936"/>
            <a:ext cx="2441448" cy="548640"/>
          </a:xfrm>
          <a:prstGeom prst="rect">
            <a:avLst/>
          </a:prstGeom>
          <a:noFill/>
        </p:spPr>
        <p:txBody>
          <a:bodyPr wrap="square" lIns="0" tIns="0" rIns="0" bIns="0" anchor="t">
            <a:noAutofit/>
          </a:bodyPr>
          <a:lstStyle/>
          <a:p>
            <a:pPr algn="l">
              <a:lnSpc>
                <a:spcPct val="103000"/>
              </a:lnSpc>
              <a:spcBef>
                <a:spcPts val="0"/>
              </a:spcBef>
              <a:spcAft>
                <a:spcPts val="0"/>
              </a:spcAft>
            </a:pPr>
            <a:r>
              <a:rPr sz="2300" b="1">
                <a:solidFill>
                  <a:srgbClr val="12484F"/>
                </a:solidFill>
                <a:latin typeface="Calibri"/>
              </a:rPr>
              <a:t>ICD-11: profil kliniczny</a:t>
            </a:r>
          </a:p>
        </p:txBody>
      </p:sp>
      <p:sp>
        <p:nvSpPr>
          <p:cNvPr id="217" name="TextBox 216"/>
          <p:cNvSpPr txBox="1"/>
          <p:nvPr/>
        </p:nvSpPr>
        <p:spPr>
          <a:xfrm>
            <a:off x="749808" y="2532888"/>
            <a:ext cx="3118104" cy="2176272"/>
          </a:xfrm>
          <a:prstGeom prst="rect">
            <a:avLst/>
          </a:prstGeom>
          <a:noFill/>
        </p:spPr>
        <p:txBody>
          <a:bodyPr wrap="square" lIns="0" tIns="0" rIns="0" bIns="0" anchor="t">
            <a:noAutofit/>
          </a:bodyPr>
          <a:lstStyle/>
          <a:p>
            <a:pPr algn="l">
              <a:lnSpc>
                <a:spcPct val="103000"/>
              </a:lnSpc>
              <a:spcBef>
                <a:spcPts val="0"/>
              </a:spcBef>
              <a:spcAft>
                <a:spcPts val="0"/>
              </a:spcAft>
            </a:pPr>
            <a:r>
              <a:rPr sz="1900" b="0">
                <a:solidFill>
                  <a:srgbClr val="1F2D30"/>
                </a:solidFill>
                <a:latin typeface="Calibri"/>
              </a:rPr>
              <a:t>Rozpoznanie 6A02 można uzupełnić o poziom języka funkcjonalnego i współwystępowanie niepełnosprawności intelektualnej.</a:t>
            </a:r>
          </a:p>
        </p:txBody>
      </p:sp>
      <p:sp>
        <p:nvSpPr>
          <p:cNvPr id="218" name="Rounded Rectangle 217"/>
          <p:cNvSpPr/>
          <p:nvPr/>
        </p:nvSpPr>
        <p:spPr>
          <a:xfrm>
            <a:off x="4334256" y="1581912"/>
            <a:ext cx="3520440" cy="3291840"/>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Rounded Rectangle 218"/>
          <p:cNvSpPr/>
          <p:nvPr/>
        </p:nvSpPr>
        <p:spPr>
          <a:xfrm>
            <a:off x="4517136" y="1687068"/>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TextBox 219"/>
          <p:cNvSpPr txBox="1"/>
          <p:nvPr/>
        </p:nvSpPr>
        <p:spPr>
          <a:xfrm>
            <a:off x="4517136" y="1773936"/>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2</a:t>
            </a:r>
          </a:p>
        </p:txBody>
      </p:sp>
      <p:sp>
        <p:nvSpPr>
          <p:cNvPr id="221" name="TextBox 220"/>
          <p:cNvSpPr txBox="1"/>
          <p:nvPr/>
        </p:nvSpPr>
        <p:spPr>
          <a:xfrm>
            <a:off x="5202936" y="1773936"/>
            <a:ext cx="2441448" cy="548640"/>
          </a:xfrm>
          <a:prstGeom prst="rect">
            <a:avLst/>
          </a:prstGeom>
          <a:noFill/>
        </p:spPr>
        <p:txBody>
          <a:bodyPr wrap="square" lIns="0" tIns="0" rIns="0" bIns="0" anchor="t">
            <a:noAutofit/>
          </a:bodyPr>
          <a:lstStyle/>
          <a:p>
            <a:pPr algn="l">
              <a:lnSpc>
                <a:spcPct val="103000"/>
              </a:lnSpc>
              <a:spcBef>
                <a:spcPts val="0"/>
              </a:spcBef>
              <a:spcAft>
                <a:spcPts val="0"/>
              </a:spcAft>
            </a:pPr>
            <a:r>
              <a:rPr sz="2300" b="1">
                <a:solidFill>
                  <a:srgbClr val="12484F"/>
                </a:solidFill>
                <a:latin typeface="Calibri"/>
              </a:rPr>
              <a:t>ICF: realne potrzeby</a:t>
            </a:r>
          </a:p>
        </p:txBody>
      </p:sp>
      <p:sp>
        <p:nvSpPr>
          <p:cNvPr id="222" name="TextBox 221"/>
          <p:cNvSpPr txBox="1"/>
          <p:nvPr/>
        </p:nvSpPr>
        <p:spPr>
          <a:xfrm>
            <a:off x="4535424" y="2532888"/>
            <a:ext cx="3118104" cy="2176272"/>
          </a:xfrm>
          <a:prstGeom prst="rect">
            <a:avLst/>
          </a:prstGeom>
          <a:noFill/>
        </p:spPr>
        <p:txBody>
          <a:bodyPr wrap="square" lIns="0" tIns="0" rIns="0" bIns="0" anchor="t">
            <a:noAutofit/>
          </a:bodyPr>
          <a:lstStyle/>
          <a:p>
            <a:pPr algn="l">
              <a:lnSpc>
                <a:spcPct val="103000"/>
              </a:lnSpc>
              <a:spcBef>
                <a:spcPts val="0"/>
              </a:spcBef>
              <a:spcAft>
                <a:spcPts val="0"/>
              </a:spcAft>
            </a:pPr>
            <a:r>
              <a:rPr sz="1939" b="0">
                <a:solidFill>
                  <a:srgbClr val="1F2D30"/>
                </a:solidFill>
                <a:latin typeface="Calibri"/>
              </a:rPr>
              <a:t>Oceniaj czynności, uczestnictwo i bariery środowiska, a nie wyłącznie kategorię diagnostyczną.</a:t>
            </a:r>
          </a:p>
        </p:txBody>
      </p:sp>
      <p:sp>
        <p:nvSpPr>
          <p:cNvPr id="223" name="Rounded Rectangle 222"/>
          <p:cNvSpPr/>
          <p:nvPr/>
        </p:nvSpPr>
        <p:spPr>
          <a:xfrm>
            <a:off x="8119872" y="1581912"/>
            <a:ext cx="3520440" cy="3291840"/>
          </a:xfrm>
          <a:prstGeom prst="roundRect">
            <a:avLst>
              <a:gd name="adj" fmla="val 12000"/>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Rounded Rectangle 223"/>
          <p:cNvSpPr/>
          <p:nvPr/>
        </p:nvSpPr>
        <p:spPr>
          <a:xfrm>
            <a:off x="8302752" y="1687068"/>
            <a:ext cx="521207" cy="521207"/>
          </a:xfrm>
          <a:prstGeom prst="ellipse">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TextBox 224"/>
          <p:cNvSpPr txBox="1"/>
          <p:nvPr/>
        </p:nvSpPr>
        <p:spPr>
          <a:xfrm>
            <a:off x="8302752" y="1773936"/>
            <a:ext cx="521207" cy="420624"/>
          </a:xfrm>
          <a:prstGeom prst="rect">
            <a:avLst/>
          </a:prstGeom>
          <a:noFill/>
        </p:spPr>
        <p:txBody>
          <a:bodyPr wrap="square" lIns="0" tIns="0" rIns="0" bIns="0" anchor="t">
            <a:noAutofit/>
          </a:bodyPr>
          <a:lstStyle/>
          <a:p>
            <a:pPr algn="ctr">
              <a:lnSpc>
                <a:spcPct val="103000"/>
              </a:lnSpc>
              <a:spcBef>
                <a:spcPts val="0"/>
              </a:spcBef>
              <a:spcAft>
                <a:spcPts val="0"/>
              </a:spcAft>
            </a:pPr>
            <a:r>
              <a:rPr sz="2000" b="1">
                <a:solidFill>
                  <a:srgbClr val="FFFFFF"/>
                </a:solidFill>
                <a:latin typeface="Calibri"/>
              </a:rPr>
              <a:t>3</a:t>
            </a:r>
          </a:p>
        </p:txBody>
      </p:sp>
      <p:sp>
        <p:nvSpPr>
          <p:cNvPr id="226" name="TextBox 225"/>
          <p:cNvSpPr txBox="1"/>
          <p:nvPr/>
        </p:nvSpPr>
        <p:spPr>
          <a:xfrm>
            <a:off x="8988552" y="1773936"/>
            <a:ext cx="2441448" cy="548640"/>
          </a:xfrm>
          <a:prstGeom prst="rect">
            <a:avLst/>
          </a:prstGeom>
          <a:noFill/>
        </p:spPr>
        <p:txBody>
          <a:bodyPr wrap="square" lIns="0" tIns="0" rIns="0" bIns="0" anchor="t">
            <a:noAutofit/>
          </a:bodyPr>
          <a:lstStyle/>
          <a:p>
            <a:pPr algn="l">
              <a:lnSpc>
                <a:spcPct val="103000"/>
              </a:lnSpc>
              <a:spcBef>
                <a:spcPts val="0"/>
              </a:spcBef>
              <a:spcAft>
                <a:spcPts val="0"/>
              </a:spcAft>
            </a:pPr>
            <a:r>
              <a:rPr sz="2300" b="1">
                <a:solidFill>
                  <a:srgbClr val="12484F"/>
                </a:solidFill>
                <a:latin typeface="Calibri"/>
              </a:rPr>
              <a:t>Prawa: współdecydowanie</a:t>
            </a:r>
          </a:p>
        </p:txBody>
      </p:sp>
      <p:sp>
        <p:nvSpPr>
          <p:cNvPr id="227" name="TextBox 226"/>
          <p:cNvSpPr txBox="1"/>
          <p:nvPr/>
        </p:nvSpPr>
        <p:spPr>
          <a:xfrm>
            <a:off x="8321040" y="2532888"/>
            <a:ext cx="3118104" cy="2176272"/>
          </a:xfrm>
          <a:prstGeom prst="rect">
            <a:avLst/>
          </a:prstGeom>
          <a:noFill/>
        </p:spPr>
        <p:txBody>
          <a:bodyPr wrap="square" lIns="0" tIns="0" rIns="0" bIns="0" anchor="t">
            <a:noAutofit/>
          </a:bodyPr>
          <a:lstStyle/>
          <a:p>
            <a:pPr algn="l">
              <a:lnSpc>
                <a:spcPct val="103000"/>
              </a:lnSpc>
              <a:spcBef>
                <a:spcPts val="0"/>
              </a:spcBef>
              <a:spcAft>
                <a:spcPts val="0"/>
              </a:spcAft>
            </a:pPr>
            <a:r>
              <a:rPr sz="1900" b="0">
                <a:solidFill>
                  <a:srgbClr val="1F2D30"/>
                </a:solidFill>
                <a:latin typeface="Calibri"/>
              </a:rPr>
              <a:t>Włączaj osobę w ustalanie celów, oferuj komunikację alternatywną i wsparcie w podejmowaniu decyzji.</a:t>
            </a:r>
          </a:p>
        </p:txBody>
      </p:sp>
      <p:sp>
        <p:nvSpPr>
          <p:cNvPr id="228" name="Rounded Rectangle 227"/>
          <p:cNvSpPr/>
          <p:nvPr/>
        </p:nvSpPr>
        <p:spPr>
          <a:xfrm>
            <a:off x="548640" y="5065776"/>
            <a:ext cx="11091672" cy="1014984"/>
          </a:xfrm>
          <a:prstGeom prst="roundRect">
            <a:avLst>
              <a:gd name="adj" fmla="val 12000"/>
            </a:avLst>
          </a:prstGeom>
          <a:solidFill>
            <a:srgbClr val="1F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TextBox 228"/>
          <p:cNvSpPr txBox="1"/>
          <p:nvPr/>
        </p:nvSpPr>
        <p:spPr>
          <a:xfrm>
            <a:off x="786384" y="5175504"/>
            <a:ext cx="2834640" cy="832104"/>
          </a:xfrm>
          <a:prstGeom prst="rect">
            <a:avLst/>
          </a:prstGeom>
          <a:noFill/>
        </p:spPr>
        <p:txBody>
          <a:bodyPr wrap="square" lIns="0" tIns="0" rIns="0" bIns="0" anchor="ctr">
            <a:noAutofit/>
          </a:bodyPr>
          <a:lstStyle/>
          <a:p>
            <a:pPr algn="l">
              <a:lnSpc>
                <a:spcPct val="103000"/>
              </a:lnSpc>
              <a:spcBef>
                <a:spcPts val="0"/>
              </a:spcBef>
              <a:spcAft>
                <a:spcPts val="0"/>
              </a:spcAft>
            </a:pPr>
            <a:r>
              <a:rPr sz="1800" b="1">
                <a:solidFill>
                  <a:srgbClr val="FFFFFF"/>
                </a:solidFill>
                <a:latin typeface="Calibri"/>
              </a:rPr>
              <a:t>Praktyczny model</a:t>
            </a:r>
          </a:p>
        </p:txBody>
      </p:sp>
      <p:sp>
        <p:nvSpPr>
          <p:cNvPr id="230" name="TextBox 229"/>
          <p:cNvSpPr txBox="1"/>
          <p:nvPr/>
        </p:nvSpPr>
        <p:spPr>
          <a:xfrm>
            <a:off x="3383280" y="5166360"/>
            <a:ext cx="8001000" cy="850392"/>
          </a:xfrm>
          <a:prstGeom prst="rect">
            <a:avLst/>
          </a:prstGeom>
          <a:noFill/>
        </p:spPr>
        <p:txBody>
          <a:bodyPr wrap="square" lIns="0" tIns="0" rIns="0" bIns="0" anchor="ctr">
            <a:noAutofit/>
          </a:bodyPr>
          <a:lstStyle/>
          <a:p>
            <a:pPr algn="l">
              <a:lnSpc>
                <a:spcPct val="103000"/>
              </a:lnSpc>
              <a:spcBef>
                <a:spcPts val="0"/>
              </a:spcBef>
              <a:spcAft>
                <a:spcPts val="0"/>
              </a:spcAft>
            </a:pPr>
            <a:r>
              <a:rPr sz="1900" b="0">
                <a:solidFill>
                  <a:srgbClr val="FFFFFF"/>
                </a:solidFill>
                <a:latin typeface="Calibri"/>
              </a:rPr>
              <a:t>Rozpoznanie → ocena potrzeb → uzgodnione dostosowania → pomiar jakości życia.</a:t>
            </a:r>
          </a:p>
        </p:txBody>
      </p:sp>
      <p:sp>
        <p:nvSpPr>
          <p:cNvPr id="231" name="TextBox 230"/>
          <p:cNvSpPr txBox="1"/>
          <p:nvPr/>
        </p:nvSpPr>
        <p:spPr>
          <a:xfrm>
            <a:off x="179555" y="6400800"/>
            <a:ext cx="10744200" cy="310896"/>
          </a:xfrm>
          <a:prstGeom prst="rect">
            <a:avLst/>
          </a:prstGeom>
          <a:noFill/>
        </p:spPr>
        <p:txBody>
          <a:bodyPr wrap="square" lIns="0" tIns="0" rIns="0" bIns="0" anchor="b">
            <a:noAutofit/>
          </a:bodyPr>
          <a:lstStyle/>
          <a:p>
            <a:pPr algn="l">
              <a:lnSpc>
                <a:spcPct val="103000"/>
              </a:lnSpc>
              <a:spcBef>
                <a:spcPts val="0"/>
              </a:spcBef>
              <a:spcAft>
                <a:spcPts val="0"/>
              </a:spcAft>
            </a:pPr>
            <a:r>
              <a:rPr sz="1100" b="0" dirty="0" err="1">
                <a:solidFill>
                  <a:schemeClr val="bg1">
                    <a:lumMod val="65000"/>
                  </a:schemeClr>
                </a:solidFill>
                <a:latin typeface="Calibri"/>
              </a:rPr>
              <a:t>Źródła</a:t>
            </a:r>
            <a:r>
              <a:rPr sz="1100" b="0" dirty="0">
                <a:solidFill>
                  <a:schemeClr val="bg1">
                    <a:lumMod val="65000"/>
                  </a:schemeClr>
                </a:solidFill>
                <a:latin typeface="Calibri"/>
              </a:rPr>
              <a:t>: WHO ICD-11 (2024); WHO ICF (2001); </a:t>
            </a:r>
            <a:r>
              <a:rPr sz="1100" b="0" dirty="0" err="1">
                <a:solidFill>
                  <a:schemeClr val="bg1">
                    <a:lumMod val="65000"/>
                  </a:schemeClr>
                </a:solidFill>
                <a:latin typeface="Calibri"/>
              </a:rPr>
              <a:t>Konwencja</a:t>
            </a:r>
            <a:r>
              <a:rPr sz="1100" b="0" dirty="0">
                <a:solidFill>
                  <a:schemeClr val="bg1">
                    <a:lumMod val="65000"/>
                  </a:schemeClr>
                </a:solidFill>
                <a:latin typeface="Calibri"/>
              </a:rPr>
              <a:t> ONZ, art. 12 </a:t>
            </a:r>
            <a:r>
              <a:rPr sz="1100" b="0" dirty="0" err="1">
                <a:solidFill>
                  <a:schemeClr val="bg1">
                    <a:lumMod val="65000"/>
                  </a:schemeClr>
                </a:solidFill>
                <a:latin typeface="Calibri"/>
              </a:rPr>
              <a:t>i</a:t>
            </a:r>
            <a:r>
              <a:rPr sz="1100" b="0" dirty="0">
                <a:solidFill>
                  <a:schemeClr val="bg1">
                    <a:lumMod val="65000"/>
                  </a:schemeClr>
                </a:solidFill>
                <a:latin typeface="Calibri"/>
              </a:rPr>
              <a:t> 19; NICE CG170 (2021).</a:t>
            </a:r>
          </a:p>
        </p:txBody>
      </p:sp>
    </p:spTree>
    <p:extLst>
      <p:ext uri="{BB962C8B-B14F-4D97-AF65-F5344CB8AC3E}">
        <p14:creationId xmlns:p14="http://schemas.microsoft.com/office/powerpoint/2010/main" val="217096322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6"/>
          <p:cNvSpPr txBox="1">
            <a:spLocks noGrp="1"/>
          </p:cNvSpPr>
          <p:nvPr>
            <p:ph type="title" idx="100"/>
          </p:nvPr>
        </p:nvSpPr>
        <p:spPr>
          <a:xfrm>
            <a:off x="485775" y="324672"/>
            <a:ext cx="11217330" cy="1051500"/>
          </a:xfrm>
          <a:prstGeom prst="rect">
            <a:avLst/>
          </a:prstGeom>
          <a:noFill/>
          <a:ln>
            <a:noFill/>
          </a:ln>
        </p:spPr>
        <p:txBody>
          <a:bodyPr spcFirstLastPara="1" wrap="square" lIns="0" tIns="0" rIns="0" bIns="0" anchor="ctr" anchorCtr="0">
            <a:noAutofit/>
          </a:bodyPr>
          <a:lstStyle/>
          <a:p>
            <a:pPr lvl="0">
              <a:spcBef>
                <a:spcPts val="0"/>
              </a:spcBef>
              <a:buClr>
                <a:schemeClr val="dk2"/>
              </a:buClr>
              <a:buSzPts val="3000"/>
            </a:pPr>
            <a:r>
              <a:rPr lang="pl-PL" sz="3200" dirty="0" smtClean="0">
                <a:solidFill>
                  <a:schemeClr val="dk2"/>
                </a:solidFill>
              </a:rPr>
              <a:t>Wnioski? </a:t>
            </a:r>
            <a:r>
              <a:rPr lang="pl-PL" sz="2800" b="0" dirty="0" smtClean="0">
                <a:solidFill>
                  <a:schemeClr val="dk2"/>
                </a:solidFill>
                <a:latin typeface="CMU Serif" panose="02000603000000000000" pitchFamily="2" charset="0"/>
                <a:ea typeface="CMU Serif" panose="02000603000000000000" pitchFamily="2" charset="0"/>
                <a:cs typeface="CMU Serif" panose="02000603000000000000" pitchFamily="2" charset="0"/>
              </a:rPr>
              <a:t>Największe bariery pojawiają się w szkole i po jej zakończeniu</a:t>
            </a:r>
            <a:endParaRPr lang="pl-PL" sz="2800" b="0" dirty="0">
              <a:latin typeface="CMU Serif" panose="02000603000000000000" pitchFamily="2" charset="0"/>
              <a:ea typeface="CMU Serif" panose="02000603000000000000" pitchFamily="2" charset="0"/>
              <a:cs typeface="CMU Serif" panose="02000603000000000000" pitchFamily="2" charset="0"/>
            </a:endParaRPr>
          </a:p>
        </p:txBody>
      </p:sp>
      <p:sp>
        <p:nvSpPr>
          <p:cNvPr id="216" name="Google Shape;216;p16"/>
          <p:cNvSpPr/>
          <p:nvPr/>
        </p:nvSpPr>
        <p:spPr>
          <a:xfrm>
            <a:off x="548640" y="1554480"/>
            <a:ext cx="11091600" cy="969300"/>
          </a:xfrm>
          <a:prstGeom prst="roundRect">
            <a:avLst>
              <a:gd name="adj" fmla="val 11321"/>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6"/>
          <p:cNvSpPr/>
          <p:nvPr/>
        </p:nvSpPr>
        <p:spPr>
          <a:xfrm>
            <a:off x="731520" y="1764792"/>
            <a:ext cx="548700" cy="54870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6"/>
          <p:cNvSpPr txBox="1"/>
          <p:nvPr/>
        </p:nvSpPr>
        <p:spPr>
          <a:xfrm>
            <a:off x="731520" y="1764792"/>
            <a:ext cx="548700" cy="548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1</a:t>
            </a:r>
            <a:endParaRPr sz="2200" b="0" i="0" u="none" strike="noStrike" cap="none">
              <a:solidFill>
                <a:schemeClr val="dk1"/>
              </a:solidFill>
              <a:latin typeface="Calibri"/>
              <a:ea typeface="Calibri"/>
              <a:cs typeface="Calibri"/>
              <a:sym typeface="Calibri"/>
            </a:endParaRPr>
          </a:p>
        </p:txBody>
      </p:sp>
      <p:sp>
        <p:nvSpPr>
          <p:cNvPr id="219" name="Google Shape;219;p16"/>
          <p:cNvSpPr txBox="1"/>
          <p:nvPr/>
        </p:nvSpPr>
        <p:spPr>
          <a:xfrm>
            <a:off x="1508760" y="1600200"/>
            <a:ext cx="9966900" cy="877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900"/>
              <a:buFont typeface="Calibri"/>
              <a:buNone/>
            </a:pPr>
            <a:r>
              <a:rPr lang="pl-PL" sz="2400" b="1" i="0" u="none" strike="noStrike" cap="none" dirty="0" smtClean="0">
                <a:solidFill>
                  <a:schemeClr val="dk2"/>
                </a:solidFill>
                <a:ea typeface="Calibri"/>
                <a:cs typeface="Calibri"/>
                <a:sym typeface="Calibri"/>
              </a:rPr>
              <a:t>Skala: </a:t>
            </a:r>
            <a:r>
              <a:rPr lang="pl-PL" sz="2400" b="0" i="0" u="none" strike="noStrike" cap="none" dirty="0" smtClean="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rPr>
              <a:t>Rozpoznań przybywa (128 tys. uczniów z orzeczeniem w 2024/25), </a:t>
            </a:r>
            <a:br>
              <a:rPr lang="pl-PL" sz="2400" b="0" i="0" u="none" strike="noStrike" cap="none" dirty="0" smtClean="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rPr>
            </a:br>
            <a:r>
              <a:rPr lang="pl-PL" sz="2400" b="0" i="0" u="none" strike="noStrike" cap="none" dirty="0" smtClean="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rPr>
              <a:t>ale brakuje rejestru i danych o dorosłych</a:t>
            </a:r>
            <a:endParaRPr lang="pl-PL" sz="2400" b="0" i="0" u="none" strike="noStrike" cap="none" dirty="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endParaRPr>
          </a:p>
        </p:txBody>
      </p:sp>
      <p:sp>
        <p:nvSpPr>
          <p:cNvPr id="220" name="Google Shape;220;p16"/>
          <p:cNvSpPr/>
          <p:nvPr/>
        </p:nvSpPr>
        <p:spPr>
          <a:xfrm>
            <a:off x="548640" y="2633472"/>
            <a:ext cx="11091600" cy="969300"/>
          </a:xfrm>
          <a:prstGeom prst="roundRect">
            <a:avLst>
              <a:gd name="adj" fmla="val 11321"/>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6"/>
          <p:cNvSpPr/>
          <p:nvPr/>
        </p:nvSpPr>
        <p:spPr>
          <a:xfrm>
            <a:off x="731520" y="2843784"/>
            <a:ext cx="548700" cy="54870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6"/>
          <p:cNvSpPr txBox="1"/>
          <p:nvPr/>
        </p:nvSpPr>
        <p:spPr>
          <a:xfrm>
            <a:off x="731520" y="2843784"/>
            <a:ext cx="548700" cy="548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2</a:t>
            </a:r>
            <a:endParaRPr sz="2200" b="0" i="0" u="none" strike="noStrike" cap="none">
              <a:solidFill>
                <a:schemeClr val="dk1"/>
              </a:solidFill>
              <a:latin typeface="Calibri"/>
              <a:ea typeface="Calibri"/>
              <a:cs typeface="Calibri"/>
              <a:sym typeface="Calibri"/>
            </a:endParaRPr>
          </a:p>
        </p:txBody>
      </p:sp>
      <p:sp>
        <p:nvSpPr>
          <p:cNvPr id="223" name="Google Shape;223;p16"/>
          <p:cNvSpPr txBox="1"/>
          <p:nvPr/>
        </p:nvSpPr>
        <p:spPr>
          <a:xfrm>
            <a:off x="1508760" y="2679192"/>
            <a:ext cx="9966900" cy="877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900"/>
              <a:buFont typeface="Calibri"/>
              <a:buNone/>
            </a:pPr>
            <a:r>
              <a:rPr lang="pl-PL" sz="2400" b="1" i="0" u="none" strike="noStrike" cap="none" dirty="0" smtClean="0">
                <a:solidFill>
                  <a:schemeClr val="dk2"/>
                </a:solidFill>
                <a:ea typeface="Calibri"/>
                <a:cs typeface="Calibri"/>
                <a:sym typeface="Calibri"/>
              </a:rPr>
              <a:t>Dzieciństwo i adolescencja</a:t>
            </a:r>
            <a:r>
              <a:rPr lang="pl-PL" sz="2400" b="1" i="0" u="none" strike="noStrike" cap="none" dirty="0" smtClean="0">
                <a:solidFill>
                  <a:schemeClr val="dk2"/>
                </a:solidFill>
                <a:latin typeface="Calibri Light" panose="020F0302020204030204" pitchFamily="34" charset="0"/>
                <a:ea typeface="Calibri Light" panose="020F0302020204030204" pitchFamily="34" charset="0"/>
                <a:cs typeface="Calibri Light" panose="020F0302020204030204" pitchFamily="34" charset="0"/>
                <a:sym typeface="Calibri"/>
              </a:rPr>
              <a:t>: </a:t>
            </a:r>
            <a:r>
              <a:rPr lang="pl-PL" sz="2400" b="0" i="0" u="none" strike="noStrike" cap="none" dirty="0" smtClean="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rPr>
              <a:t>Szkoła daje szansę na wyniki, lecz nękanie (90% uczniów) i samotność wyznaczają doświadczenia nastolatków</a:t>
            </a:r>
            <a:endParaRPr lang="pl-PL" sz="2400" b="0" i="0" u="none" strike="noStrike" cap="none" dirty="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endParaRPr>
          </a:p>
        </p:txBody>
      </p:sp>
      <p:sp>
        <p:nvSpPr>
          <p:cNvPr id="224" name="Google Shape;224;p16"/>
          <p:cNvSpPr/>
          <p:nvPr/>
        </p:nvSpPr>
        <p:spPr>
          <a:xfrm>
            <a:off x="548640" y="3712464"/>
            <a:ext cx="11091600" cy="969300"/>
          </a:xfrm>
          <a:prstGeom prst="roundRect">
            <a:avLst>
              <a:gd name="adj" fmla="val 11321"/>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6"/>
          <p:cNvSpPr/>
          <p:nvPr/>
        </p:nvSpPr>
        <p:spPr>
          <a:xfrm>
            <a:off x="731520" y="3922776"/>
            <a:ext cx="548700" cy="54870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6"/>
          <p:cNvSpPr txBox="1"/>
          <p:nvPr/>
        </p:nvSpPr>
        <p:spPr>
          <a:xfrm>
            <a:off x="731520" y="3922776"/>
            <a:ext cx="548700" cy="548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3</a:t>
            </a:r>
            <a:endParaRPr sz="2200" b="0" i="0" u="none" strike="noStrike" cap="none">
              <a:solidFill>
                <a:schemeClr val="dk1"/>
              </a:solidFill>
              <a:latin typeface="Calibri"/>
              <a:ea typeface="Calibri"/>
              <a:cs typeface="Calibri"/>
              <a:sym typeface="Calibri"/>
            </a:endParaRPr>
          </a:p>
        </p:txBody>
      </p:sp>
      <p:sp>
        <p:nvSpPr>
          <p:cNvPr id="227" name="Google Shape;227;p16"/>
          <p:cNvSpPr txBox="1"/>
          <p:nvPr/>
        </p:nvSpPr>
        <p:spPr>
          <a:xfrm>
            <a:off x="1508760" y="3758184"/>
            <a:ext cx="10131480" cy="877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900"/>
              <a:buFont typeface="Calibri"/>
              <a:buNone/>
            </a:pPr>
            <a:r>
              <a:rPr lang="pl-PL" sz="2400" b="1" i="0" u="none" strike="noStrike" cap="none" spc="-40" dirty="0" smtClean="0">
                <a:solidFill>
                  <a:schemeClr val="dk2"/>
                </a:solidFill>
                <a:ea typeface="Calibri"/>
                <a:cs typeface="Calibri"/>
                <a:sym typeface="Calibri"/>
              </a:rPr>
              <a:t>Dorosłość: </a:t>
            </a:r>
            <a:r>
              <a:rPr lang="pl-PL" sz="2400" b="0" i="0" u="none" strike="noStrike" cap="none" spc="-40" dirty="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rPr>
              <a:t>Po zakończeniu edukacji wsparcie się urywa, a zatrudnienie jest </a:t>
            </a:r>
            <a:r>
              <a:rPr lang="pl-PL" sz="2400" b="0" i="0" u="none" strike="noStrike" cap="none" spc="-40" dirty="0" smtClean="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rPr>
              <a:t>poniżej 1%</a:t>
            </a:r>
            <a:endParaRPr lang="pl-PL" sz="2400" b="0" i="0" u="none" strike="noStrike" cap="none" spc="-40" dirty="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endParaRPr>
          </a:p>
        </p:txBody>
      </p:sp>
      <p:sp>
        <p:nvSpPr>
          <p:cNvPr id="228" name="Google Shape;228;p16"/>
          <p:cNvSpPr/>
          <p:nvPr/>
        </p:nvSpPr>
        <p:spPr>
          <a:xfrm>
            <a:off x="548640" y="4791456"/>
            <a:ext cx="11091600" cy="1220724"/>
          </a:xfrm>
          <a:prstGeom prst="roundRect">
            <a:avLst>
              <a:gd name="adj" fmla="val 11321"/>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6"/>
          <p:cNvSpPr/>
          <p:nvPr/>
        </p:nvSpPr>
        <p:spPr>
          <a:xfrm>
            <a:off x="731520" y="5081778"/>
            <a:ext cx="548700" cy="548700"/>
          </a:xfrm>
          <a:prstGeom prst="ellipse">
            <a:avLst/>
          </a:prstGeom>
          <a:solidFill>
            <a:schemeClr val="accent2"/>
          </a:solidFill>
          <a:ln w="127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6"/>
          <p:cNvSpPr txBox="1"/>
          <p:nvPr/>
        </p:nvSpPr>
        <p:spPr>
          <a:xfrm>
            <a:off x="731520" y="5081778"/>
            <a:ext cx="548700" cy="548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4</a:t>
            </a:r>
            <a:endParaRPr sz="2200" b="0" i="0" u="none" strike="noStrike" cap="none">
              <a:solidFill>
                <a:schemeClr val="dk1"/>
              </a:solidFill>
              <a:latin typeface="Calibri"/>
              <a:ea typeface="Calibri"/>
              <a:cs typeface="Calibri"/>
              <a:sym typeface="Calibri"/>
            </a:endParaRPr>
          </a:p>
        </p:txBody>
      </p:sp>
      <p:sp>
        <p:nvSpPr>
          <p:cNvPr id="231" name="Google Shape;231;p16"/>
          <p:cNvSpPr txBox="1"/>
          <p:nvPr/>
        </p:nvSpPr>
        <p:spPr>
          <a:xfrm>
            <a:off x="1451610" y="4882896"/>
            <a:ext cx="10314360" cy="1037844"/>
          </a:xfrm>
          <a:prstGeom prst="rect">
            <a:avLst/>
          </a:prstGeom>
          <a:noFill/>
          <a:ln>
            <a:noFill/>
          </a:ln>
        </p:spPr>
        <p:txBody>
          <a:bodyPr spcFirstLastPara="1" wrap="square" lIns="0" tIns="0" rIns="0" bIns="0" anchor="ctr" anchorCtr="0">
            <a:noAutofit/>
          </a:bodyPr>
          <a:lstStyle/>
          <a:p>
            <a:pPr lvl="0">
              <a:buClr>
                <a:schemeClr val="accent2"/>
              </a:buClr>
              <a:buSzPts val="1900"/>
            </a:pPr>
            <a:r>
              <a:rPr lang="pl-PL" sz="2400" b="1" i="0" u="none" strike="noStrike" cap="none" spc="-30" dirty="0" smtClean="0">
                <a:solidFill>
                  <a:schemeClr val="accent2"/>
                </a:solidFill>
                <a:ea typeface="Calibri"/>
                <a:cs typeface="Calibri"/>
                <a:sym typeface="Calibri"/>
              </a:rPr>
              <a:t>Z perspektywy neuropsychologii: </a:t>
            </a:r>
            <a:r>
              <a:rPr lang="pl-PL" sz="2400" b="0" i="0" u="none" strike="noStrike" cap="none" spc="-30" dirty="0" smtClean="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rPr>
              <a:t>Ocena funkcjonalna, poznawcza, </a:t>
            </a:r>
            <a:r>
              <a:rPr lang="pl-PL" sz="2400" spc="-30" dirty="0" smtClean="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rPr>
              <a:t>oraz </a:t>
            </a:r>
            <a:r>
              <a:rPr lang="pl-PL" sz="2400" spc="-30" dirty="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rPr>
              <a:t>zaburzenia</a:t>
            </a:r>
            <a:r>
              <a:rPr lang="pl-PL" sz="2400" spc="-30" dirty="0" smtClean="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rPr>
              <a:t> współwystępujące </a:t>
            </a:r>
            <a:r>
              <a:rPr lang="pl-PL" sz="2400" b="0" i="0" u="none" strike="noStrike" cap="none" spc="-30" dirty="0" smtClean="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rPr>
              <a:t>mogłyby </a:t>
            </a:r>
            <a:r>
              <a:rPr lang="pl-PL" sz="2400" spc="-30" dirty="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rPr>
              <a:t>lepiej kierować </a:t>
            </a:r>
            <a:r>
              <a:rPr lang="pl-PL" sz="2400" spc="-30" dirty="0" smtClean="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rPr>
              <a:t>wsparciem niż sam </a:t>
            </a:r>
            <a:r>
              <a:rPr lang="pl-PL" sz="2400" b="0" i="0" u="none" strike="noStrike" cap="none" spc="-30" dirty="0" smtClean="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rPr>
              <a:t>symbol 12-C</a:t>
            </a:r>
            <a:endParaRPr lang="pl-PL" sz="2400" b="0" i="0" u="none" strike="noStrike" cap="none" spc="-30" dirty="0">
              <a:solidFill>
                <a:schemeClr val="dk1"/>
              </a:solidFill>
              <a:latin typeface="Calibri Light" panose="020F0302020204030204" pitchFamily="34" charset="0"/>
              <a:ea typeface="Calibri Light" panose="020F0302020204030204" pitchFamily="34" charset="0"/>
              <a:cs typeface="Calibri Light" panose="020F0302020204030204" pitchFamily="34" charset="0"/>
              <a:sym typeface="Calibri"/>
            </a:endParaRPr>
          </a:p>
        </p:txBody>
      </p:sp>
      <p:sp>
        <p:nvSpPr>
          <p:cNvPr id="233" name="Google Shape;233;p16"/>
          <p:cNvSpPr txBox="1">
            <a:spLocks noGrp="1"/>
          </p:cNvSpPr>
          <p:nvPr>
            <p:ph type="sldNum" idx="4294967295"/>
          </p:nvPr>
        </p:nvSpPr>
        <p:spPr>
          <a:xfrm>
            <a:off x="11064240" y="6400800"/>
            <a:ext cx="5760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accent5"/>
                </a:solidFill>
                <a:latin typeface="Calibri"/>
                <a:ea typeface="Calibri"/>
                <a:cs typeface="Calibri"/>
                <a:sym typeface="Calibri"/>
              </a:rPr>
              <a:t>22</a:t>
            </a:fld>
            <a:endParaRPr sz="1200" b="0" i="0" u="none" strike="noStrike" cap="none">
              <a:solidFill>
                <a:schemeClr val="accent5"/>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7"/>
          <p:cNvSpPr txBox="1">
            <a:spLocks noGrp="1"/>
          </p:cNvSpPr>
          <p:nvPr>
            <p:ph type="title" idx="100"/>
          </p:nvPr>
        </p:nvSpPr>
        <p:spPr>
          <a:xfrm>
            <a:off x="548640" y="320040"/>
            <a:ext cx="11091600" cy="105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000"/>
              <a:buFont typeface="Cambria"/>
              <a:buNone/>
            </a:pPr>
            <a:r>
              <a:rPr lang="pl-PL" sz="3000" b="1" dirty="0" smtClean="0">
                <a:solidFill>
                  <a:schemeClr val="dk2"/>
                </a:solidFill>
                <a:latin typeface="CMU Serif" panose="02000603000000000000" pitchFamily="2" charset="0"/>
                <a:ea typeface="CMU Serif" panose="02000603000000000000" pitchFamily="2" charset="0"/>
                <a:cs typeface="CMU Serif" panose="02000603000000000000" pitchFamily="2" charset="0"/>
              </a:rPr>
              <a:t>Pytania do dyskusji</a:t>
            </a:r>
            <a:endParaRPr lang="pl-PL" sz="3000" dirty="0">
              <a:latin typeface="CMU Serif" panose="02000603000000000000" pitchFamily="2" charset="0"/>
              <a:ea typeface="CMU Serif" panose="02000603000000000000" pitchFamily="2" charset="0"/>
              <a:cs typeface="CMU Serif" panose="02000603000000000000" pitchFamily="2" charset="0"/>
            </a:endParaRPr>
          </a:p>
        </p:txBody>
      </p:sp>
      <p:sp>
        <p:nvSpPr>
          <p:cNvPr id="236" name="Google Shape;236;p17"/>
          <p:cNvSpPr/>
          <p:nvPr/>
        </p:nvSpPr>
        <p:spPr>
          <a:xfrm>
            <a:off x="548640" y="1600200"/>
            <a:ext cx="11091600" cy="1234500"/>
          </a:xfrm>
          <a:prstGeom prst="roundRect">
            <a:avLst>
              <a:gd name="adj" fmla="val 8889"/>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7"/>
          <p:cNvSpPr txBox="1"/>
          <p:nvPr/>
        </p:nvSpPr>
        <p:spPr>
          <a:xfrm>
            <a:off x="777240" y="1600200"/>
            <a:ext cx="822900" cy="1234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4800"/>
              <a:buFont typeface="Cambria"/>
              <a:buNone/>
            </a:pPr>
            <a:r>
              <a:rPr lang="en-US" sz="4800" b="1" i="0" u="none" strike="noStrike" cap="none">
                <a:solidFill>
                  <a:schemeClr val="accent2"/>
                </a:solidFill>
                <a:latin typeface="Cambria"/>
                <a:ea typeface="Cambria"/>
                <a:cs typeface="Cambria"/>
                <a:sym typeface="Cambria"/>
              </a:rPr>
              <a:t>1</a:t>
            </a:r>
            <a:endParaRPr sz="4800" b="0" i="0" u="none" strike="noStrike" cap="none">
              <a:solidFill>
                <a:schemeClr val="dk1"/>
              </a:solidFill>
              <a:latin typeface="Calibri"/>
              <a:ea typeface="Calibri"/>
              <a:cs typeface="Calibri"/>
              <a:sym typeface="Calibri"/>
            </a:endParaRPr>
          </a:p>
        </p:txBody>
      </p:sp>
      <p:sp>
        <p:nvSpPr>
          <p:cNvPr id="238" name="Google Shape;238;p17"/>
          <p:cNvSpPr txBox="1"/>
          <p:nvPr/>
        </p:nvSpPr>
        <p:spPr>
          <a:xfrm>
            <a:off x="1783080" y="1645920"/>
            <a:ext cx="9601200" cy="114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200"/>
              <a:buFont typeface="Calibri"/>
              <a:buNone/>
            </a:pPr>
            <a:r>
              <a:rPr lang="pl-PL" sz="2400" b="0" i="0" u="none" strike="noStrike" cap="none" dirty="0" smtClean="0">
                <a:solidFill>
                  <a:schemeClr val="dk1"/>
                </a:solidFill>
                <a:latin typeface="Calibri"/>
                <a:ea typeface="Calibri"/>
                <a:cs typeface="Calibri"/>
                <a:sym typeface="Calibri"/>
              </a:rPr>
              <a:t>Nękanie dotyczy 90% uczniów z autyzmem, a w szkołach specjalnych </a:t>
            </a:r>
          </a:p>
          <a:p>
            <a:pPr marL="0" marR="0" lvl="0" indent="0" algn="l" rtl="0">
              <a:spcBef>
                <a:spcPts val="0"/>
              </a:spcBef>
              <a:spcAft>
                <a:spcPts val="0"/>
              </a:spcAft>
              <a:buClr>
                <a:schemeClr val="dk1"/>
              </a:buClr>
              <a:buSzPts val="2200"/>
              <a:buFont typeface="Calibri"/>
              <a:buNone/>
            </a:pPr>
            <a:r>
              <a:rPr lang="pl-PL" sz="2400" b="0" i="0" u="none" strike="noStrike" cap="none" dirty="0" smtClean="0">
                <a:solidFill>
                  <a:schemeClr val="dk1"/>
                </a:solidFill>
                <a:latin typeface="Calibri"/>
                <a:ea typeface="Calibri"/>
                <a:cs typeface="Calibri"/>
                <a:sym typeface="Calibri"/>
              </a:rPr>
              <a:t>jest rzadsze. Jak pogodzić ochronę przed nękaniem z ideą włączania?</a:t>
            </a:r>
            <a:endParaRPr lang="pl-PL" sz="2400" b="0" i="0" u="none" strike="noStrike" cap="none" dirty="0">
              <a:solidFill>
                <a:schemeClr val="dk1"/>
              </a:solidFill>
              <a:latin typeface="Calibri"/>
              <a:ea typeface="Calibri"/>
              <a:cs typeface="Calibri"/>
              <a:sym typeface="Calibri"/>
            </a:endParaRPr>
          </a:p>
        </p:txBody>
      </p:sp>
      <p:sp>
        <p:nvSpPr>
          <p:cNvPr id="239" name="Google Shape;239;p17"/>
          <p:cNvSpPr/>
          <p:nvPr/>
        </p:nvSpPr>
        <p:spPr>
          <a:xfrm>
            <a:off x="548640" y="2971800"/>
            <a:ext cx="11091600" cy="1234500"/>
          </a:xfrm>
          <a:prstGeom prst="roundRect">
            <a:avLst>
              <a:gd name="adj" fmla="val 8889"/>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7"/>
          <p:cNvSpPr txBox="1"/>
          <p:nvPr/>
        </p:nvSpPr>
        <p:spPr>
          <a:xfrm>
            <a:off x="777240" y="2971800"/>
            <a:ext cx="822900" cy="1234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4800"/>
              <a:buFont typeface="Cambria"/>
              <a:buNone/>
            </a:pPr>
            <a:r>
              <a:rPr lang="en-US" sz="4800" b="1" i="0" u="none" strike="noStrike" cap="none">
                <a:solidFill>
                  <a:schemeClr val="accent2"/>
                </a:solidFill>
                <a:latin typeface="Cambria"/>
                <a:ea typeface="Cambria"/>
                <a:cs typeface="Cambria"/>
                <a:sym typeface="Cambria"/>
              </a:rPr>
              <a:t>2</a:t>
            </a:r>
            <a:endParaRPr sz="4800" b="0" i="0" u="none" strike="noStrike" cap="none">
              <a:solidFill>
                <a:schemeClr val="dk1"/>
              </a:solidFill>
              <a:latin typeface="Calibri"/>
              <a:ea typeface="Calibri"/>
              <a:cs typeface="Calibri"/>
              <a:sym typeface="Calibri"/>
            </a:endParaRPr>
          </a:p>
        </p:txBody>
      </p:sp>
      <p:sp>
        <p:nvSpPr>
          <p:cNvPr id="241" name="Google Shape;241;p17"/>
          <p:cNvSpPr txBox="1"/>
          <p:nvPr/>
        </p:nvSpPr>
        <p:spPr>
          <a:xfrm>
            <a:off x="1783080" y="3017520"/>
            <a:ext cx="9601200" cy="114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200"/>
              <a:buFont typeface="Calibri"/>
              <a:buNone/>
            </a:pPr>
            <a:r>
              <a:rPr lang="pl-PL" sz="2400" b="0" i="0" u="none" strike="noStrike" cap="none" dirty="0" smtClean="0">
                <a:solidFill>
                  <a:schemeClr val="dk1"/>
                </a:solidFill>
                <a:latin typeface="Calibri"/>
                <a:ea typeface="Calibri"/>
                <a:cs typeface="Calibri"/>
                <a:sym typeface="Calibri"/>
              </a:rPr>
              <a:t>Zatrudnienie osób z autyzmem to poniżej 1% (NIK) lub 45% (OSA). </a:t>
            </a:r>
          </a:p>
          <a:p>
            <a:pPr marL="0" marR="0" lvl="0" indent="0" algn="l" rtl="0">
              <a:spcBef>
                <a:spcPts val="0"/>
              </a:spcBef>
              <a:spcAft>
                <a:spcPts val="0"/>
              </a:spcAft>
              <a:buClr>
                <a:schemeClr val="dk1"/>
              </a:buClr>
              <a:buSzPts val="2200"/>
              <a:buFont typeface="Calibri"/>
              <a:buNone/>
            </a:pPr>
            <a:r>
              <a:rPr lang="pl-PL" sz="2400" b="0" i="0" u="none" strike="noStrike" cap="none" dirty="0" smtClean="0">
                <a:solidFill>
                  <a:schemeClr val="dk1"/>
                </a:solidFill>
                <a:latin typeface="Calibri"/>
                <a:ea typeface="Calibri"/>
                <a:cs typeface="Calibri"/>
                <a:sym typeface="Calibri"/>
              </a:rPr>
              <a:t>Skąd taka rozbieżność i jakich danych brakuje?</a:t>
            </a:r>
            <a:endParaRPr lang="pl-PL" sz="2400" b="0" i="0" u="none" strike="noStrike" cap="none" dirty="0">
              <a:solidFill>
                <a:schemeClr val="dk1"/>
              </a:solidFill>
              <a:latin typeface="Calibri"/>
              <a:ea typeface="Calibri"/>
              <a:cs typeface="Calibri"/>
              <a:sym typeface="Calibri"/>
            </a:endParaRPr>
          </a:p>
        </p:txBody>
      </p:sp>
      <p:sp>
        <p:nvSpPr>
          <p:cNvPr id="242" name="Google Shape;242;p17"/>
          <p:cNvSpPr/>
          <p:nvPr/>
        </p:nvSpPr>
        <p:spPr>
          <a:xfrm>
            <a:off x="548640" y="4343400"/>
            <a:ext cx="11091600" cy="1234500"/>
          </a:xfrm>
          <a:prstGeom prst="roundRect">
            <a:avLst>
              <a:gd name="adj" fmla="val 8889"/>
            </a:avLst>
          </a:prstGeom>
          <a:solidFill>
            <a:schemeClr val="lt2"/>
          </a:solidFill>
          <a:ln w="127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7"/>
          <p:cNvSpPr txBox="1"/>
          <p:nvPr/>
        </p:nvSpPr>
        <p:spPr>
          <a:xfrm>
            <a:off x="777240" y="4343400"/>
            <a:ext cx="822900" cy="1234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4800"/>
              <a:buFont typeface="Cambria"/>
              <a:buNone/>
            </a:pPr>
            <a:r>
              <a:rPr lang="en-US" sz="4800" b="1" i="0" u="none" strike="noStrike" cap="none">
                <a:solidFill>
                  <a:schemeClr val="accent2"/>
                </a:solidFill>
                <a:latin typeface="Cambria"/>
                <a:ea typeface="Cambria"/>
                <a:cs typeface="Cambria"/>
                <a:sym typeface="Cambria"/>
              </a:rPr>
              <a:t>3</a:t>
            </a:r>
            <a:endParaRPr sz="4800" b="0" i="0" u="none" strike="noStrike" cap="none">
              <a:solidFill>
                <a:schemeClr val="dk1"/>
              </a:solidFill>
              <a:latin typeface="Calibri"/>
              <a:ea typeface="Calibri"/>
              <a:cs typeface="Calibri"/>
              <a:sym typeface="Calibri"/>
            </a:endParaRPr>
          </a:p>
        </p:txBody>
      </p:sp>
      <p:sp>
        <p:nvSpPr>
          <p:cNvPr id="244" name="Google Shape;244;p17"/>
          <p:cNvSpPr txBox="1"/>
          <p:nvPr/>
        </p:nvSpPr>
        <p:spPr>
          <a:xfrm>
            <a:off x="1783080" y="4389120"/>
            <a:ext cx="9601200" cy="114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200"/>
              <a:buFont typeface="Calibri"/>
              <a:buNone/>
            </a:pPr>
            <a:r>
              <a:rPr lang="pl-PL" sz="2400" b="0" i="0" u="none" strike="noStrike" cap="none" dirty="0" smtClean="0">
                <a:solidFill>
                  <a:schemeClr val="dk1"/>
                </a:solidFill>
                <a:latin typeface="Calibri"/>
                <a:ea typeface="Calibri"/>
                <a:cs typeface="Calibri"/>
                <a:sym typeface="Calibri"/>
              </a:rPr>
              <a:t>Jakie elementy wsparcia powinny zacząć działać przed ukończeniem szkoły, aby uniknąć urwania pomocy po 18. roku życia?</a:t>
            </a:r>
            <a:endParaRPr lang="pl-PL" sz="2400" b="0" i="0" u="none" strike="noStrike" cap="none" dirty="0">
              <a:solidFill>
                <a:schemeClr val="dk1"/>
              </a:solidFill>
              <a:latin typeface="Calibri"/>
              <a:ea typeface="Calibri"/>
              <a:cs typeface="Calibri"/>
              <a:sym typeface="Calibri"/>
            </a:endParaRPr>
          </a:p>
        </p:txBody>
      </p:sp>
      <p:sp>
        <p:nvSpPr>
          <p:cNvPr id="245" name="Google Shape;245;p17"/>
          <p:cNvSpPr txBox="1"/>
          <p:nvPr/>
        </p:nvSpPr>
        <p:spPr>
          <a:xfrm>
            <a:off x="3971925" y="5943600"/>
            <a:ext cx="3970710" cy="4572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chemeClr val="accent1"/>
              </a:buClr>
              <a:buSzPts val="2400"/>
              <a:buFont typeface="Cambria"/>
              <a:buNone/>
            </a:pPr>
            <a:r>
              <a:rPr lang="pl-PL" sz="2400" b="1" i="0" u="none" strike="noStrike" cap="none" dirty="0" smtClean="0">
                <a:solidFill>
                  <a:schemeClr val="accent1"/>
                </a:solidFill>
                <a:latin typeface="CMU Serif" panose="02000603000000000000" pitchFamily="2" charset="0"/>
                <a:ea typeface="CMU Serif" panose="02000603000000000000" pitchFamily="2" charset="0"/>
                <a:cs typeface="CMU Serif" panose="02000603000000000000" pitchFamily="2" charset="0"/>
                <a:sym typeface="Cambria"/>
              </a:rPr>
              <a:t>Dziękujemy za uwagę :)</a:t>
            </a:r>
            <a:endParaRPr lang="pl-PL" sz="2400" b="0" i="0" u="none" strike="noStrike" cap="none" dirty="0">
              <a:solidFill>
                <a:schemeClr val="dk1"/>
              </a:solidFill>
              <a:latin typeface="CMU Serif" panose="02000603000000000000" pitchFamily="2" charset="0"/>
              <a:ea typeface="CMU Serif" panose="02000603000000000000" pitchFamily="2" charset="0"/>
              <a:cs typeface="CMU Serif" panose="02000603000000000000" pitchFamily="2" charset="0"/>
              <a:sym typeface="Calibri"/>
            </a:endParaRPr>
          </a:p>
        </p:txBody>
      </p:sp>
      <p:sp>
        <p:nvSpPr>
          <p:cNvPr id="246" name="Google Shape;246;p17"/>
          <p:cNvSpPr txBox="1">
            <a:spLocks noGrp="1"/>
          </p:cNvSpPr>
          <p:nvPr>
            <p:ph type="sldNum" idx="4294967295"/>
          </p:nvPr>
        </p:nvSpPr>
        <p:spPr>
          <a:xfrm>
            <a:off x="11064240" y="6400800"/>
            <a:ext cx="5760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accent5"/>
                </a:solidFill>
                <a:latin typeface="Calibri"/>
                <a:ea typeface="Calibri"/>
                <a:cs typeface="Calibri"/>
                <a:sym typeface="Calibri"/>
              </a:rPr>
              <a:t>23</a:t>
            </a:fld>
            <a:endParaRPr sz="1200" b="0" i="0" u="none" strike="noStrike" cap="none">
              <a:solidFill>
                <a:schemeClr val="accent5"/>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ctr"/>
          <a:lstStyle/>
          <a:p>
            <a:pPr marL="0" indent="0" algn="l">
              <a:buNone/>
            </a:pPr>
            <a:r>
              <a:rPr lang="en-US" sz="3000" b="1" dirty="0">
                <a:solidFill>
                  <a:schemeClr val="tx2"/>
                </a:solidFill>
                <a:latin typeface="CMU Serif" panose="02000603000000000000" pitchFamily="2" charset="0"/>
                <a:ea typeface="CMU Serif" panose="02000603000000000000" pitchFamily="2" charset="0"/>
                <a:cs typeface="CMU Serif" panose="02000603000000000000" pitchFamily="2" charset="0"/>
              </a:rPr>
              <a:t>Bibliografia </a:t>
            </a:r>
            <a:r>
              <a:rPr lang="en-US" sz="3000" b="0" dirty="0">
                <a:solidFill>
                  <a:schemeClr val="tx2"/>
                </a:solidFill>
                <a:latin typeface="CMU Serif" panose="02000603000000000000" pitchFamily="2" charset="0"/>
                <a:ea typeface="CMU Serif" panose="02000603000000000000" pitchFamily="2" charset="0"/>
                <a:cs typeface="CMU Serif" panose="02000603000000000000" pitchFamily="2" charset="0"/>
              </a:rPr>
              <a:t>(APA 7)</a:t>
            </a:r>
            <a:endParaRPr lang="en-US" sz="3000" b="0" dirty="0">
              <a:latin typeface="CMU Serif" panose="02000603000000000000" pitchFamily="2" charset="0"/>
              <a:ea typeface="CMU Serif" panose="02000603000000000000" pitchFamily="2" charset="0"/>
              <a:cs typeface="CMU Serif" panose="02000603000000000000" pitchFamily="2" charset="0"/>
            </a:endParaRPr>
          </a:p>
        </p:txBody>
      </p:sp>
      <p:sp>
        <p:nvSpPr>
          <p:cNvPr id="4" name="Text 1"/>
          <p:cNvSpPr txBox="1"/>
          <p:nvPr/>
        </p:nvSpPr>
        <p:spPr>
          <a:xfrm>
            <a:off x="365760" y="1371600"/>
            <a:ext cx="11643360" cy="4846320"/>
          </a:xfrm>
          <a:prstGeom prst="rect">
            <a:avLst/>
          </a:prstGeom>
          <a:noFill/>
          <a:ln/>
        </p:spPr>
        <p:txBody>
          <a:bodyPr wrap="square" lIns="0" tIns="0" rIns="0" bIns="0" rtlCol="0" anchor="t"/>
          <a:lstStyle/>
          <a:p>
            <a:pPr marL="252000" indent="-252000">
              <a:spcAft>
                <a:spcPts val="600"/>
              </a:spcAft>
              <a:buFont typeface="Arial" panose="020B0604020202020204" pitchFamily="34" charset="0"/>
              <a:buChar char="•"/>
            </a:pPr>
            <a:r>
              <a:rPr lang="en-US" sz="1600" dirty="0">
                <a:solidFill>
                  <a:schemeClr val="tx1"/>
                </a:solidFill>
              </a:rPr>
              <a:t>Centrum e-Zdrowia. (b.d.). Liczba pacjentów z udzielonym świadczeniem z rozpoznaniem autyzmu lub zespołu Aspergera  [Zestawienie]. https://ezdrowie.gov.pl/19071</a:t>
            </a:r>
            <a:endParaRPr lang="en-US" sz="1600" dirty="0"/>
          </a:p>
          <a:p>
            <a:pPr marL="252000" indent="-252000">
              <a:spcAft>
                <a:spcPts val="600"/>
              </a:spcAft>
              <a:buFont typeface="Arial" panose="020B0604020202020204" pitchFamily="34" charset="0"/>
              <a:buChar char="•"/>
            </a:pPr>
            <a:r>
              <a:rPr lang="en-US" sz="1600" dirty="0">
                <a:solidFill>
                  <a:schemeClr val="tx1"/>
                </a:solidFill>
              </a:rPr>
              <a:t>Ministerstwo Zdrowia. (2025). Odpowiedź na zapytanie nr 2599 w sprawie obowiązującej w Polsce klasyfikacji chorób ICD. https://api.sejm.gov.pl/sejm/term10/interpellations/attachment/ATTDKAHQA/z02599-o1.pdf</a:t>
            </a:r>
            <a:endParaRPr lang="en-US" sz="1600" dirty="0"/>
          </a:p>
          <a:p>
            <a:pPr marL="252000" indent="-252000">
              <a:spcAft>
                <a:spcPts val="600"/>
              </a:spcAft>
              <a:buFont typeface="Arial" panose="020B0604020202020204" pitchFamily="34" charset="0"/>
              <a:buChar char="•"/>
            </a:pPr>
            <a:r>
              <a:rPr lang="en-US" sz="1600" dirty="0">
                <a:solidFill>
                  <a:schemeClr val="tx1"/>
                </a:solidFill>
              </a:rPr>
              <a:t>Najwyższa Izba Kontroli. (2020, 29 czerwca). NIK o wsparciu osób z autyzmem i zespołem Aspergera w przygotowaniu do samodzielnego funkcjonowania  (P/19/073). https://www.nik.gov.pl/aktualnosci/sprawy-spoleczne/wsparcie-osob-z-autyzmem-i-zespolem-aspergera.html</a:t>
            </a:r>
            <a:endParaRPr lang="en-US" sz="1600" dirty="0"/>
          </a:p>
          <a:p>
            <a:pPr marL="252000" indent="-252000">
              <a:spcAft>
                <a:spcPts val="600"/>
              </a:spcAft>
              <a:buFont typeface="Arial" panose="020B0604020202020204" pitchFamily="34" charset="0"/>
              <a:buChar char="•"/>
            </a:pPr>
            <a:r>
              <a:rPr lang="en-US" sz="1600" dirty="0">
                <a:solidFill>
                  <a:schemeClr val="tx1"/>
                </a:solidFill>
              </a:rPr>
              <a:t>Pierzchała, M., Krudysz, K., Nalepa, D., Pizło, N., Sawicki, J., Kotliński, A., &amp; Szelezin, A. (2024). Raport końcowy badania potrzeb osób niepełnosprawnych w Polsce. PFRON. https://www.pfron.org.pl/fileadmin/Badania_i_analizy/2024/2024-08-07_Raport_koncowy/Raport_koncowy_Badanie_potrzeb_ON_w_Polsce_2024.pdf</a:t>
            </a:r>
            <a:endParaRPr lang="en-US" sz="1600" dirty="0"/>
          </a:p>
          <a:p>
            <a:pPr marL="252000" indent="-252000">
              <a:spcAft>
                <a:spcPts val="600"/>
              </a:spcAft>
              <a:buFont typeface="Arial" panose="020B0604020202020204" pitchFamily="34" charset="0"/>
              <a:buChar char="•"/>
            </a:pPr>
            <a:r>
              <a:rPr lang="en-US" sz="1600" dirty="0">
                <a:solidFill>
                  <a:schemeClr val="tx1"/>
                </a:solidFill>
              </a:rPr>
              <a:t>Płatos, M. (Red.). (2016). Ogólnopolski Spis Autyzmu: Sytuacja młodzieży i dorosłych z autyzmem w Polsce. Stowarzyszenie Innowacji Społecznych „Mary i Max”. http://www.spisautyzmu.pl/index_files/raport_OSA.pdf</a:t>
            </a:r>
            <a:endParaRPr lang="en-US" sz="1600" dirty="0"/>
          </a:p>
          <a:p>
            <a:pPr marL="252000" indent="-252000">
              <a:spcAft>
                <a:spcPts val="600"/>
              </a:spcAft>
              <a:buFont typeface="Arial" panose="020B0604020202020204" pitchFamily="34" charset="0"/>
              <a:buChar char="•"/>
            </a:pPr>
            <a:r>
              <a:rPr lang="en-US" sz="1600" dirty="0">
                <a:solidFill>
                  <a:schemeClr val="tx1"/>
                </a:solidFill>
              </a:rPr>
              <a:t>Strefa Edukacji. (2026). Liczba dzieci z kształceniem specjalnym wzrosła o 156 proc. Resort ujawnił nowe dane. https://strefaedukacji.pl/liczba-dzieci-z-ksztalceniem-specjalnym-wzrosla-o-156-proc-resort-ujawnil-nowe-dane/ar/c5p2-29122605</a:t>
            </a:r>
            <a:endParaRPr lang="en-US" sz="1600" dirty="0"/>
          </a:p>
          <a:p>
            <a:pPr marL="252000" indent="-252000">
              <a:spcAft>
                <a:spcPts val="600"/>
              </a:spcAft>
              <a:buFont typeface="Arial" panose="020B0604020202020204" pitchFamily="34" charset="0"/>
              <a:buChar char="•"/>
            </a:pPr>
            <a:r>
              <a:rPr lang="en-US" sz="1600" dirty="0">
                <a:solidFill>
                  <a:schemeClr val="tx1"/>
                </a:solidFill>
              </a:rPr>
              <a:t>Torchała, K. (b.d.). Spektrum autyzmu: diagnozy na wyrost czy faktyczny wzrost przypadków?  PAP Zdrowie. https://zdrowie.pap.pl/rodzice/spektrum-autyzmu-diagnozy-na-wyrost-czy-faktyczny-wzrost-przypadkow</a:t>
            </a:r>
            <a:endParaRPr lang="en-US" sz="1600" dirty="0"/>
          </a:p>
          <a:p>
            <a:pPr marL="252000" indent="-252000">
              <a:spcAft>
                <a:spcPts val="600"/>
              </a:spcAft>
              <a:buFont typeface="Arial" panose="020B0604020202020204" pitchFamily="34" charset="0"/>
              <a:buChar char="•"/>
            </a:pPr>
            <a:r>
              <a:rPr lang="en-US" sz="1600" dirty="0">
                <a:solidFill>
                  <a:schemeClr val="tx1"/>
                </a:solidFill>
              </a:rPr>
              <a:t>World Health Organization. (b.d.). Autism. https://www.who.int/news-room/fact-sheets/detail/autism-spectrum-disorders</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defRPr>
            </a:lvl1pPr>
          </a:lstStyle>
          <a:p>
            <a:pPr algn="r"/>
            <a:fld id="{F7021451-1387-4CA6-816F-3879F97B5CBC}" type="slidenum">
              <a:rPr lang="en-US" b="0"/>
              <a:t>24</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sychologia niepelnosprawnosci">
  <a:themeElements>
    <a:clrScheme name="Psychologia niepelnosprawnosci">
      <a:dk1>
        <a:srgbClr val="1F2D30"/>
      </a:dk1>
      <a:lt1>
        <a:srgbClr val="FFFFFF"/>
      </a:lt1>
      <a:dk2>
        <a:srgbClr val="12484F"/>
      </a:dk2>
      <a:lt2>
        <a:srgbClr val="EAF3F2"/>
      </a:lt2>
      <a:accent1>
        <a:srgbClr val="1F7A7A"/>
      </a:accent1>
      <a:accent2>
        <a:srgbClr val="D9482B"/>
      </a:accent2>
      <a:accent3>
        <a:srgbClr val="E3A02F"/>
      </a:accent3>
      <a:accent4>
        <a:srgbClr val="5B8E7D"/>
      </a:accent4>
      <a:accent5>
        <a:srgbClr val="55646F"/>
      </a:accent5>
      <a:accent6>
        <a:srgbClr val="B56576"/>
      </a:accent6>
      <a:hlink>
        <a:srgbClr val="1F7A7A"/>
      </a:hlink>
      <a:folHlink>
        <a:srgbClr val="55646F"/>
      </a:folHlink>
    </a:clrScheme>
    <a:fontScheme name="Psychologia niepelnosprawnosc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5736</Words>
  <Application>Microsoft Office PowerPoint</Application>
  <PresentationFormat>Panoramiczny</PresentationFormat>
  <Paragraphs>341</Paragraphs>
  <Slides>24</Slides>
  <Notes>24</Notes>
  <HiddenSlides>0</HiddenSlides>
  <MMClips>0</MMClips>
  <ScaleCrop>false</ScaleCrop>
  <HeadingPairs>
    <vt:vector size="6" baseType="variant">
      <vt:variant>
        <vt:lpstr>Używane czcionki</vt:lpstr>
      </vt:variant>
      <vt:variant>
        <vt:i4>6</vt:i4>
      </vt:variant>
      <vt:variant>
        <vt:lpstr>Motyw</vt:lpstr>
      </vt:variant>
      <vt:variant>
        <vt:i4>1</vt:i4>
      </vt:variant>
      <vt:variant>
        <vt:lpstr>Tytuły slajdów</vt:lpstr>
      </vt:variant>
      <vt:variant>
        <vt:i4>24</vt:i4>
      </vt:variant>
    </vt:vector>
  </HeadingPairs>
  <TitlesOfParts>
    <vt:vector size="31" baseType="lpstr">
      <vt:lpstr>Arial</vt:lpstr>
      <vt:lpstr>Calibri</vt:lpstr>
      <vt:lpstr>Calibri Light</vt:lpstr>
      <vt:lpstr>Cambria</vt:lpstr>
      <vt:lpstr>Cambria Math</vt:lpstr>
      <vt:lpstr>CMU Serif</vt:lpstr>
      <vt:lpstr>Psychologia niepelnosprawnosci</vt:lpstr>
      <vt:lpstr>Życie codzienne osób niepełnosprawnych  ze spektrum autyzmu (12-C) w Polsce i tego skutki</vt:lpstr>
      <vt:lpstr>Co w kolejnych etapach życia zmienia odmienność rozwojową w niepełnosprawność?</vt:lpstr>
      <vt:lpstr>Symbol 12-C obejmuje bardzo zróżnicowaną grupę osób,  od norm intelektualnych po głęboką niepełnosprawność</vt:lpstr>
      <vt:lpstr>Rozpoznań autyzmu szybko przybywa, lecz Polska nie ma rejestru ani pełnych danych</vt:lpstr>
      <vt:lpstr>Inny, więc gorszy? Dyskryminacja neuronormatywna</vt:lpstr>
      <vt:lpstr>Liczba uczniów z orzeczeniem z powodu autyzmu wzrosła  z 17 tys. do 128 tys. w dekadę</vt:lpstr>
      <vt:lpstr>W szkole większość uczniów z autyzmem zalicza klasy,  ale wsparcie bywa niepełne (NIK)</vt:lpstr>
      <vt:lpstr>Dziewięciu na dziesięciu uczniów z autyzmem doświadczyło nękania rówieśniczego (OSA)</vt:lpstr>
      <vt:lpstr>Samotność i spędzanie czasu w domu wyróżniają nastolatków i dorosłych z autyzmem (OSA)</vt:lpstr>
      <vt:lpstr>Brak rozpoznania może opóźniać pomoc i zrozumienie własnych trudności</vt:lpstr>
      <vt:lpstr>Wzrost rozpoznań nie dowodzi, że autyzm jest naddiagnozowany</vt:lpstr>
      <vt:lpstr>Maskowanie obciąża psychicznie</vt:lpstr>
      <vt:lpstr>Paradoks maskowania autyzmu</vt:lpstr>
      <vt:lpstr>Ocena potrzeb jest ważniejsza niż etykieta „wysokofunkcjonujący”</vt:lpstr>
      <vt:lpstr>Prawie połowa Polaków nie zna autyzmu lub uważa go  za problem dzieci (CBOS 2015)</vt:lpstr>
      <vt:lpstr>Po zakończeniu szkoły wsparcie się urywa …     a, zatrudnienie jest niższe niż 1% (NIK)</vt:lpstr>
      <vt:lpstr>Dane o dorosłych są rozbieżne, bo nie ma rejestru,  a badane próby się różnią</vt:lpstr>
      <vt:lpstr>Niedostosowanie kumuluje się w kolejnych etapach życia  i prowadzi do wykluczenia</vt:lpstr>
      <vt:lpstr>Skuteczne wsparcie wymaga ciągłości od wczesnej diagnozy po życie dorosłe</vt:lpstr>
      <vt:lpstr>Codzienne trudności nasilają się, gdy otoczenie nie jest dostosowane</vt:lpstr>
      <vt:lpstr>Skuteczny system łączy rzetelną diagnozę, prawa i głos osób autystycznych</vt:lpstr>
      <vt:lpstr>Wnioski? Największe bariery pojawiają się w szkole i po jej zakończeniu</vt:lpstr>
      <vt:lpstr>Pytania do dyskusji</vt:lpstr>
      <vt:lpstr>Bibliografia (APA 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ASD w Polsce</dc:title>
  <dc:creator>Mateusz Pomianek</dc:creator>
  <cp:lastModifiedBy>Mateusz Pomianek</cp:lastModifiedBy>
  <cp:revision>202</cp:revision>
  <dcterms:modified xsi:type="dcterms:W3CDTF">2026-10-26T20:59:07Z</dcterms:modified>
</cp:coreProperties>
</file>