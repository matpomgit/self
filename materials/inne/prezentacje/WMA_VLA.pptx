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8" r:id="rId9"/>
    <p:sldId id="260" r:id="rId10"/>
    <p:sldId id="261" r:id="rId11"/>
    <p:sldId id="262" r:id="rId12"/>
    <p:sldId id="267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Arkusz_programu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WMA (TD-MPC2)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Odkładanie
obiektu</c:v>
                </c:pt>
                <c:pt idx="1">
                  <c:v>Nakręcanie
nakrętki</c:v>
                </c:pt>
                <c:pt idx="2">
                  <c:v>Sortowanie
kloców</c:v>
                </c:pt>
                <c:pt idx="3">
                  <c:v>Serwowanie
napoju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81</c:v>
                </c:pt>
                <c:pt idx="2">
                  <c:v>76</c:v>
                </c:pt>
                <c:pt idx="3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F7-45D8-8B9E-0614BAD464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VLA (OpenVLA fine-tuned)</c:v>
                </c:pt>
              </c:strCache>
            </c:strRef>
          </c:tx>
          <c:spPr>
            <a:solidFill>
              <a:srgbClr val="FF8C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l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Odkładanie
obiektu</c:v>
                </c:pt>
                <c:pt idx="1">
                  <c:v>Nakręcanie
nakrętki</c:v>
                </c:pt>
                <c:pt idx="2">
                  <c:v>Sortowanie
kloców</c:v>
                </c:pt>
                <c:pt idx="3">
                  <c:v>Serwowanie
napoju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68</c:v>
                </c:pt>
                <c:pt idx="2">
                  <c:v>83</c:v>
                </c:pt>
                <c:pt idx="3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F7-45D8-8B9E-0614BAD464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bg1"/>
                </a:solidFill>
                <a:latin typeface="Arial"/>
              </a:defRPr>
            </a:pPr>
            <a:endParaRPr lang="pl-P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1224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chemeClr val="bg1"/>
                    </a:solidFill>
                    <a:latin typeface="Arial"/>
                  </a:defRPr>
                </a:pPr>
                <a:r>
                  <a:rPr lang="pl-PL" sz="1200" b="0" i="0" u="none" strike="noStrike" dirty="0">
                    <a:solidFill>
                      <a:schemeClr val="bg1"/>
                    </a:solidFill>
                    <a:latin typeface="Arial"/>
                  </a:rPr>
                  <a:t>Skuteczność [%]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pl-PL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400">
                <a:solidFill>
                  <a:schemeClr val="bg1"/>
                </a:solidFill>
              </a:defRPr>
            </a:pPr>
            <a:endParaRPr lang="pl-PL"/>
          </a:p>
        </c:txPr>
      </c:legendEntry>
      <c:legendEntry>
        <c:idx val="1"/>
        <c:txPr>
          <a:bodyPr/>
          <a:lstStyle/>
          <a:p>
            <a:pPr>
              <a:defRPr sz="1400">
                <a:solidFill>
                  <a:schemeClr val="bg1"/>
                </a:solidFill>
              </a:defRPr>
            </a:pPr>
            <a:endParaRPr lang="pl-PL"/>
          </a:p>
        </c:txPr>
      </c:legendEntry>
      <c:layout/>
      <c:overlay val="0"/>
      <c:txPr>
        <a:bodyPr/>
        <a:lstStyle/>
        <a:p>
          <a:pPr>
            <a:defRPr sz="1400"/>
          </a:pPr>
          <a:endParaRPr lang="pl-PL"/>
        </a:p>
      </c:txPr>
    </c:legend>
    <c:plotVisOnly val="1"/>
    <c:dispBlanksAs val="span"/>
    <c:showDLblsOverMax val="1"/>
  </c:chart>
  <c:spPr>
    <a:solidFill>
      <a:srgbClr val="0A17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78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91428"/>
          </a:solidFill>
          <a:ln w="12700">
            <a:solidFill>
              <a:srgbClr val="09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50292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02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WMA  •  VLA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9875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modeli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i VLA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20040" y="22128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programowaniu robotów humanoidalnych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3657600" cy="27432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971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przykładzie Unitree G1 EDU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088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6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EDU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772400" y="2834640"/>
            <a:ext cx="228600" cy="2286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3200400"/>
            <a:ext cx="137160" cy="137160"/>
          </a:xfrm>
          <a:prstGeom prst="ellipse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383280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663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 smtClean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Pomianek /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prezentacji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i zakres tematyczny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160520" cy="56692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63040"/>
            <a:ext cx="54864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093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93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/>
              <a:t>01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0120" y="1591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E8F0FF"/>
                </a:solidFill>
              </a:rPr>
              <a:t>Roboty</a:t>
            </a:r>
            <a:r>
              <a:rPr lang="en-US" dirty="0">
                <a:solidFill>
                  <a:srgbClr val="E8F0FF"/>
                </a:solidFill>
              </a:rPr>
              <a:t> </a:t>
            </a:r>
            <a:r>
              <a:rPr lang="en-US" dirty="0" err="1" smtClean="0">
                <a:solidFill>
                  <a:srgbClr val="E8F0FF"/>
                </a:solidFill>
              </a:rPr>
              <a:t>humanoidalne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4160520" cy="56692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48840"/>
            <a:ext cx="54864" cy="566928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951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951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/>
              <a:t>02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0120" y="22768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dirty="0" smtClean="0">
                <a:solidFill>
                  <a:srgbClr val="E8F0FF"/>
                </a:solidFill>
              </a:rPr>
              <a:t>P</a:t>
            </a:r>
            <a:r>
              <a:rPr lang="en-US" dirty="0" err="1" smtClean="0">
                <a:solidFill>
                  <a:srgbClr val="E8F0FF"/>
                </a:solidFill>
              </a:rPr>
              <a:t>latforma</a:t>
            </a:r>
            <a:r>
              <a:rPr lang="en-US" dirty="0" smtClean="0">
                <a:solidFill>
                  <a:srgbClr val="E8F0FF"/>
                </a:solidFill>
              </a:rPr>
              <a:t> </a:t>
            </a:r>
            <a:r>
              <a:rPr lang="en-US" dirty="0" err="1" smtClean="0">
                <a:solidFill>
                  <a:srgbClr val="E8F0FF"/>
                </a:solidFill>
              </a:rPr>
              <a:t>badawcza</a:t>
            </a:r>
            <a:r>
              <a:rPr lang="pl-PL" dirty="0" smtClean="0">
                <a:solidFill>
                  <a:srgbClr val="E8F0FF"/>
                </a:solidFill>
              </a:rPr>
              <a:t> </a:t>
            </a:r>
            <a:r>
              <a:rPr lang="en-US" dirty="0" err="1">
                <a:solidFill>
                  <a:srgbClr val="E8F0FF"/>
                </a:solidFill>
              </a:rPr>
              <a:t>Unitree</a:t>
            </a:r>
            <a:r>
              <a:rPr lang="en-US" dirty="0">
                <a:solidFill>
                  <a:srgbClr val="E8F0FF"/>
                </a:solidFill>
              </a:rPr>
              <a:t> G1 EDU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4160520" cy="56692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54864" cy="5669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809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809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/>
              <a:t>03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0120" y="29626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0FF"/>
                </a:solidFill>
              </a:rPr>
              <a:t>Architektura modeli WMA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4160520" cy="56692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20440"/>
            <a:ext cx="54864" cy="56692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667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667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/>
              <a:t>04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0120" y="36484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0FF"/>
                </a:solidFill>
              </a:rPr>
              <a:t>Architektura modeli VLA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63440" y="1463040"/>
            <a:ext cx="4160520" cy="56692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463040"/>
            <a:ext cx="54864" cy="56692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16093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6093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/>
              <a:t>05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03520" y="1591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0FF"/>
                </a:solidFill>
              </a:rPr>
              <a:t>Porównanie WMA vs VLA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63440" y="2148840"/>
            <a:ext cx="4160520" cy="56692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148840"/>
            <a:ext cx="54864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22951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2951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/>
              <a:t>06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03520" y="22768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0FF"/>
                </a:solidFill>
              </a:rPr>
              <a:t>Implementacja w Unitree G1 EDU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63440" y="2834640"/>
            <a:ext cx="4160520" cy="56692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834640"/>
            <a:ext cx="54864" cy="566928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298094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9809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/>
              <a:t>07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303520" y="29626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0FF"/>
                </a:solidFill>
              </a:rPr>
              <a:t>Wyniki, wyzwania i przyszłość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humanoidalne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forma ludzka ma znaczenie w robotyce?</a:t>
            </a:r>
            <a:endParaRPr lang="en-US" sz="1600" dirty="0"/>
          </a:p>
        </p:txBody>
      </p:sp>
      <p:grpSp>
        <p:nvGrpSpPr>
          <p:cNvPr id="28" name="Grupa 27"/>
          <p:cNvGrpSpPr/>
          <p:nvPr/>
        </p:nvGrpSpPr>
        <p:grpSpPr>
          <a:xfrm>
            <a:off x="320040" y="1256371"/>
            <a:ext cx="8549640" cy="3114461"/>
            <a:chOff x="320040" y="1508760"/>
            <a:chExt cx="8549640" cy="2862072"/>
          </a:xfrm>
        </p:grpSpPr>
        <p:sp>
          <p:nvSpPr>
            <p:cNvPr id="8" name="Shape 6"/>
            <p:cNvSpPr/>
            <p:nvPr/>
          </p:nvSpPr>
          <p:spPr>
            <a:xfrm>
              <a:off x="320040" y="1508760"/>
              <a:ext cx="4114800" cy="135331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508760"/>
              <a:ext cx="54864" cy="1353312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84632" y="1533294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chemeClr val="bg1"/>
                  </a:solidFill>
                </a:rPr>
                <a:t>⚙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1051560" y="1600200"/>
              <a:ext cx="32004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Budowa bipolarna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51560" y="1947672"/>
              <a:ext cx="320040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Dwa ramiona, dwie nogi i głowa odzwierciedlają anatomię człowieka, umożliwiając naturalne </a:t>
              </a:r>
              <a:r>
                <a:rPr lang="en-US" sz="1400" dirty="0" err="1">
                  <a:solidFill>
                    <a:srgbClr val="C8D8F0"/>
                  </a:solidFill>
                </a:rPr>
                <a:t>operowanie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pl-PL" sz="1400" dirty="0" smtClean="0">
                  <a:solidFill>
                    <a:srgbClr val="C8D8F0"/>
                  </a:solidFill>
                </a:rPr>
                <a:t/>
              </a:r>
              <a:br>
                <a:rPr lang="pl-PL" sz="1400" dirty="0" smtClean="0">
                  <a:solidFill>
                    <a:srgbClr val="C8D8F0"/>
                  </a:solidFill>
                </a:rPr>
              </a:br>
              <a:r>
                <a:rPr lang="en-US" sz="1400" dirty="0" smtClean="0">
                  <a:solidFill>
                    <a:srgbClr val="C8D8F0"/>
                  </a:solidFill>
                </a:rPr>
                <a:t>w </a:t>
              </a:r>
              <a:r>
                <a:rPr lang="en-US" sz="1400" dirty="0">
                  <a:solidFill>
                    <a:srgbClr val="C8D8F0"/>
                  </a:solidFill>
                </a:rPr>
                <a:t>ludzkim środowisku.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54880" y="1508760"/>
              <a:ext cx="4114800" cy="135331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754880" y="1508760"/>
              <a:ext cx="54864" cy="1353312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919472" y="1525860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chemeClr val="bg1"/>
                  </a:solidFill>
                </a:rPr>
                <a:t>🏗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5486400" y="1600200"/>
              <a:ext cx="32004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spc="-30" dirty="0">
                  <a:solidFill>
                    <a:srgbClr val="FFFFFF"/>
                  </a:solidFill>
                </a:rPr>
                <a:t>Środowisko projektowane dla ludzi</a:t>
              </a:r>
              <a:endParaRPr lang="en-US" spc="-3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441796" y="1947672"/>
              <a:ext cx="338328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Schody, drzwi, narzędzia i meble są zoptymalizowane pod </a:t>
              </a:r>
              <a:r>
                <a:rPr lang="en-US" sz="1400" dirty="0" err="1">
                  <a:solidFill>
                    <a:srgbClr val="C8D8F0"/>
                  </a:solidFill>
                </a:rPr>
                <a:t>sylwetkę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człowieka</a:t>
              </a:r>
              <a:r>
                <a:rPr lang="en-US" sz="1400" dirty="0" smtClean="0">
                  <a:solidFill>
                    <a:srgbClr val="C8D8F0"/>
                  </a:solidFill>
                </a:rPr>
                <a:t>: humanoid </a:t>
              </a:r>
              <a:r>
                <a:rPr lang="en-US" sz="1400" dirty="0">
                  <a:solidFill>
                    <a:srgbClr val="C8D8F0"/>
                  </a:solidFill>
                </a:rPr>
                <a:t>może z nich korzystać bez adaptacji.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20040" y="3017520"/>
              <a:ext cx="4114800" cy="135331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320040" y="3017520"/>
              <a:ext cx="54864" cy="1353312"/>
            </a:xfrm>
            <a:prstGeom prst="rect">
              <a:avLst/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17880" y="3051810"/>
              <a:ext cx="56692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 smtClean="0">
                  <a:solidFill>
                    <a:schemeClr val="bg1"/>
                  </a:solidFill>
                  <a:sym typeface="Wingdings" panose="05000000000000000000" pitchFamily="2" charset="2"/>
                </a:rPr>
                <a:t>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051560" y="3108960"/>
              <a:ext cx="32004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Interakcja społeczna</a:t>
              </a: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051560" y="3456432"/>
              <a:ext cx="320040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Formy zbliżone do ludzkiej sprzyjają intuicyjnej współpracy i komunikacji niewerbalnej z operatorami.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54880" y="3017520"/>
              <a:ext cx="4114800" cy="135331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754880" y="3017520"/>
              <a:ext cx="54864" cy="1353312"/>
            </a:xfrm>
            <a:prstGeom prst="rect">
              <a:avLst/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919472" y="3049488"/>
              <a:ext cx="502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chemeClr val="bg1"/>
                  </a:solidFill>
                </a:rPr>
                <a:t>🔄</a:t>
              </a:r>
            </a:p>
          </p:txBody>
        </p:sp>
        <p:sp>
          <p:nvSpPr>
            <p:cNvPr id="26" name="Text 24"/>
            <p:cNvSpPr/>
            <p:nvPr/>
          </p:nvSpPr>
          <p:spPr>
            <a:xfrm>
              <a:off x="5486400" y="3108960"/>
              <a:ext cx="32004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Transfer wiedzy z RL/IL</a:t>
              </a: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486400" y="3456432"/>
              <a:ext cx="3200400" cy="8046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Dane treningowe z ludzkich demonstracji mogą być bezpośrednio stosowane do ruchu robota humanoidalnego.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latforma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badawcza</a:t>
            </a:r>
            <a:r>
              <a:rPr lang="pl-PL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G1 EDU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techniczne i możliwości systemu</a:t>
            </a:r>
            <a:endParaRPr lang="en-US" sz="1600" dirty="0"/>
          </a:p>
        </p:txBody>
      </p:sp>
      <p:grpSp>
        <p:nvGrpSpPr>
          <p:cNvPr id="49" name="Grupa 48"/>
          <p:cNvGrpSpPr/>
          <p:nvPr/>
        </p:nvGrpSpPr>
        <p:grpSpPr>
          <a:xfrm>
            <a:off x="274320" y="1260000"/>
            <a:ext cx="8549640" cy="3494880"/>
            <a:chOff x="274320" y="1463040"/>
            <a:chExt cx="8549640" cy="3291840"/>
          </a:xfrm>
        </p:grpSpPr>
        <p:sp>
          <p:nvSpPr>
            <p:cNvPr id="8" name="Shape 6"/>
            <p:cNvSpPr/>
            <p:nvPr/>
          </p:nvSpPr>
          <p:spPr>
            <a:xfrm>
              <a:off x="274320" y="1463040"/>
              <a:ext cx="4251960" cy="32918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572768"/>
              <a:ext cx="4114800" cy="384048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57200" y="1572768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Wysokość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880360" y="1572768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127 cm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0040" y="1956816"/>
              <a:ext cx="4114800" cy="384048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457200" y="1956816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Masa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880360" y="1956816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35 kg</a:t>
              </a:r>
              <a:endParaRPr lang="en-US" sz="14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20040" y="2340864"/>
              <a:ext cx="4114800" cy="384048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457200" y="2340864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DOF (stopni swobody)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880360" y="2340864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43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20040" y="2724912"/>
              <a:ext cx="4114800" cy="384048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57200" y="2724912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Nośność rąk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880360" y="2724912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3 kg / ramię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0040" y="3108960"/>
              <a:ext cx="4114800" cy="384048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57200" y="3108960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Prędkość chodu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880360" y="3108960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do 2 m/s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20040" y="3493008"/>
              <a:ext cx="4114800" cy="384048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57200" y="3493008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Interfejs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880360" y="3493008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Ethernet / Wi-Fi 6</a:t>
              </a:r>
              <a:endParaRPr lang="en-US" sz="14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20040" y="3877056"/>
              <a:ext cx="4114800" cy="384048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57200" y="3877056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CPU / GPU</a:t>
              </a:r>
              <a:endParaRPr lang="en-US" sz="1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2880360" y="3877056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Intel Core i5 + GPU</a:t>
              </a:r>
              <a:endParaRPr lang="en-US" sz="14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20040" y="4261104"/>
              <a:ext cx="4114800" cy="384048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457200" y="4261104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SDK</a:t>
              </a:r>
              <a:endParaRPr lang="en-US" sz="1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2880360" y="4261104"/>
              <a:ext cx="14630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00D4FF"/>
                  </a:solidFill>
                </a:rPr>
                <a:t>Unitree SDK2 (Python/C++)</a:t>
              </a:r>
              <a:endParaRPr lang="en-US" sz="14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663440" y="1463040"/>
              <a:ext cx="4160520" cy="74980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663440" y="1463040"/>
              <a:ext cx="73152" cy="749808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4846320" y="1536192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Manipulacja</a:t>
              </a:r>
              <a:endParaRPr lang="en-US" sz="16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846320" y="1792224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Chwytanie i przenoszenie obiektów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z precyzją ±2 mm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4663440" y="2295144"/>
              <a:ext cx="4160520" cy="74980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8" name="Shape 36"/>
            <p:cNvSpPr/>
            <p:nvPr/>
          </p:nvSpPr>
          <p:spPr>
            <a:xfrm>
              <a:off x="4663440" y="2295144"/>
              <a:ext cx="73152" cy="749808"/>
            </a:xfrm>
            <a:prstGeom prst="rect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4846320" y="2368296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Percepcja</a:t>
              </a:r>
              <a:endParaRPr lang="en-US" sz="16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846320" y="262432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Kamera RGB-D + LiDAR,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wizja 360°</a:t>
              </a:r>
              <a:endParaRPr lang="en-US" sz="12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4663440" y="3127248"/>
              <a:ext cx="4160520" cy="74980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2" name="Shape 40"/>
            <p:cNvSpPr/>
            <p:nvPr/>
          </p:nvSpPr>
          <p:spPr>
            <a:xfrm>
              <a:off x="4663440" y="3127248"/>
              <a:ext cx="73152" cy="749808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4846320" y="3200400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Lokomocja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4846320" y="3456432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Dwunożny chód, wchodzenie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po schodach, równoważenie</a:t>
              </a:r>
              <a:endParaRPr lang="en-US" sz="12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663440" y="3959352"/>
              <a:ext cx="4160520" cy="74980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6" name="Shape 44"/>
            <p:cNvSpPr/>
            <p:nvPr/>
          </p:nvSpPr>
          <p:spPr>
            <a:xfrm>
              <a:off x="4663440" y="3959352"/>
              <a:ext cx="73152" cy="749808"/>
            </a:xfrm>
            <a:prstGeom prst="rect">
              <a:avLst/>
            </a:prstGeom>
            <a:solidFill>
              <a:srgbClr val="9B5DE5"/>
            </a:solidFill>
            <a:ln w="12700">
              <a:solidFill>
                <a:srgbClr val="9B5DE5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4846320" y="4032504"/>
              <a:ext cx="38404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Otwarte API</a:t>
              </a:r>
              <a:endParaRPr lang="en-US" sz="16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4846320" y="4288536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ROS2, Unitree SDK2,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Python bindings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VLA: Vision-Language-Action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Fuzja modalności: wzrok, język, działanie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286000" cy="804672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4864" cy="804672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179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1A6EFF"/>
                </a:solidFill>
              </a:rPr>
              <a:t>Vision</a:t>
            </a:r>
            <a:r>
              <a:rPr lang="pl-PL" dirty="0"/>
              <a:t> </a:t>
            </a:r>
            <a:r>
              <a:rPr lang="en-US" b="1" dirty="0" smtClean="0">
                <a:solidFill>
                  <a:srgbClr val="1A6EFF"/>
                </a:solidFill>
              </a:rPr>
              <a:t>Encoder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8F0"/>
                </a:solidFill>
              </a:rPr>
              <a:t>Przetwarza klatki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D8F0"/>
                </a:solidFill>
              </a:rPr>
              <a:t>kamery RGB-D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837944"/>
            <a:ext cx="411480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68880"/>
            <a:ext cx="2286000" cy="804672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54864" cy="80467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237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FF8C42"/>
                </a:solidFill>
              </a:rPr>
              <a:t>Language</a:t>
            </a:r>
            <a:r>
              <a:rPr lang="pl-PL" dirty="0"/>
              <a:t> </a:t>
            </a:r>
            <a:r>
              <a:rPr lang="en-US" b="1" dirty="0" smtClean="0">
                <a:solidFill>
                  <a:srgbClr val="FF8C42"/>
                </a:solidFill>
              </a:rPr>
              <a:t>Encoder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8F0"/>
                </a:solidFill>
              </a:rPr>
              <a:t>Osadza instrukcje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D8F0"/>
                </a:solidFill>
              </a:rPr>
              <a:t>naturalnego języka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60320" y="2843784"/>
            <a:ext cx="594360" cy="45719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474720"/>
            <a:ext cx="2286000" cy="804672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74720"/>
            <a:ext cx="54864" cy="80467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95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9B5DE5"/>
                </a:solidFill>
              </a:rPr>
              <a:t>Fusion</a:t>
            </a:r>
            <a:r>
              <a:rPr lang="pl-PL" dirty="0"/>
              <a:t> </a:t>
            </a:r>
            <a:r>
              <a:rPr lang="en-US" b="1" dirty="0" smtClean="0">
                <a:solidFill>
                  <a:srgbClr val="9B5DE5"/>
                </a:solidFill>
              </a:rPr>
              <a:t>Transformer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1965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8F0"/>
                </a:solidFill>
              </a:rPr>
              <a:t>Cross-attention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D8F0"/>
                </a:solidFill>
              </a:rPr>
              <a:t>międzyd modalności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60320" y="3849624"/>
            <a:ext cx="411480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grpSp>
        <p:nvGrpSpPr>
          <p:cNvPr id="43" name="Grupa 42"/>
          <p:cNvGrpSpPr/>
          <p:nvPr/>
        </p:nvGrpSpPr>
        <p:grpSpPr>
          <a:xfrm>
            <a:off x="3255264" y="2251710"/>
            <a:ext cx="2048256" cy="1097280"/>
            <a:chOff x="3255264" y="2423160"/>
            <a:chExt cx="2048256" cy="1097280"/>
          </a:xfrm>
        </p:grpSpPr>
        <p:sp>
          <p:nvSpPr>
            <p:cNvPr id="23" name="Shape 21"/>
            <p:cNvSpPr/>
            <p:nvPr/>
          </p:nvSpPr>
          <p:spPr>
            <a:xfrm>
              <a:off x="3255264" y="2423160"/>
              <a:ext cx="2048256" cy="10972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3255264" y="2423160"/>
              <a:ext cx="2048256" cy="73152"/>
            </a:xfrm>
            <a:prstGeom prst="rect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3337560" y="2560320"/>
              <a:ext cx="1965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 smtClean="0">
                  <a:solidFill>
                    <a:srgbClr val="00C896"/>
                  </a:solidFill>
                </a:rPr>
                <a:t>Action</a:t>
              </a:r>
              <a:r>
                <a:rPr lang="pl-PL" sz="2000" dirty="0"/>
                <a:t> </a:t>
              </a:r>
              <a:r>
                <a:rPr lang="en-US" sz="2000" b="1" dirty="0" smtClean="0">
                  <a:solidFill>
                    <a:srgbClr val="00C896"/>
                  </a:solidFill>
                </a:rPr>
                <a:t>Decoder</a:t>
              </a:r>
              <a:endParaRPr lang="en-US" sz="2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337560" y="2999232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Generuje tokeny akcji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lub ciągłe wektory DOF</a:t>
              </a:r>
              <a:endParaRPr lang="en-US" sz="140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2560320" y="3858768"/>
            <a:ext cx="457200" cy="54864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463040"/>
            <a:ext cx="3383280" cy="3200400"/>
          </a:xfrm>
          <a:prstGeom prst="rect">
            <a:avLst/>
          </a:prstGeom>
          <a:solidFill>
            <a:srgbClr val="11224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463040"/>
            <a:ext cx="54864" cy="32004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8C42"/>
                </a:solidFill>
              </a:rPr>
              <a:t>Dlaczego VLA?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687568" y="2167382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25312" y="2011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</a:rPr>
              <a:t>Instrukcje w </a:t>
            </a:r>
            <a:r>
              <a:rPr lang="en-US" sz="1400" dirty="0" err="1">
                <a:solidFill>
                  <a:srgbClr val="E8F0FF"/>
                </a:solidFill>
              </a:rPr>
              <a:t>naturalnym</a:t>
            </a:r>
            <a:r>
              <a:rPr lang="en-US" sz="1400" dirty="0">
                <a:solidFill>
                  <a:srgbClr val="E8F0FF"/>
                </a:solidFill>
              </a:rPr>
              <a:t> </a:t>
            </a:r>
            <a:r>
              <a:rPr lang="en-US" sz="1400" dirty="0" err="1" smtClean="0">
                <a:solidFill>
                  <a:srgbClr val="E8F0FF"/>
                </a:solidFill>
              </a:rPr>
              <a:t>języku</a:t>
            </a:r>
            <a:r>
              <a:rPr lang="en-US" sz="1400" dirty="0" smtClean="0">
                <a:solidFill>
                  <a:srgbClr val="E8F0FF"/>
                </a:solidFill>
              </a:rPr>
              <a:t>: </a:t>
            </a:r>
            <a:r>
              <a:rPr lang="en-US" sz="1400" dirty="0" err="1" smtClean="0">
                <a:solidFill>
                  <a:srgbClr val="E8F0FF"/>
                </a:solidFill>
              </a:rPr>
              <a:t>brak</a:t>
            </a:r>
            <a:r>
              <a:rPr lang="en-US" sz="1400" dirty="0" smtClean="0">
                <a:solidFill>
                  <a:srgbClr val="E8F0FF"/>
                </a:solidFill>
              </a:rPr>
              <a:t> </a:t>
            </a:r>
            <a:r>
              <a:rPr lang="en-US" sz="1400" dirty="0">
                <a:solidFill>
                  <a:srgbClr val="E8F0FF"/>
                </a:solidFill>
              </a:rPr>
              <a:t>programowania ruchów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87568" y="2679446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5312" y="25237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</a:rPr>
              <a:t>Ogólność: ten sam model obsługuje różne zadania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87568" y="3191510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5312" y="303580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</a:rPr>
              <a:t>Transfer wiedzy z LLM (GPT-4, Gemini) do polityki robotycznej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687568" y="3703574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25312" y="35478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</a:rPr>
              <a:t>Zero-shot generalizacja na nowe obiekty i scenariusze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87568" y="4215638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40599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</a:rPr>
              <a:t>Możliwość dialogu: robot pyta gdy jest niepewny</a:t>
            </a:r>
            <a:endParaRPr lang="en-US" sz="1400" dirty="0"/>
          </a:p>
        </p:txBody>
      </p:sp>
      <p:sp>
        <p:nvSpPr>
          <p:cNvPr id="41" name="Shape 10"/>
          <p:cNvSpPr/>
          <p:nvPr/>
        </p:nvSpPr>
        <p:spPr>
          <a:xfrm rot="5400000">
            <a:off x="1956816" y="2836166"/>
            <a:ext cx="2058924" cy="62483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VLA: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przetwarzanie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informacji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pikseli i tekstu do ruchów silników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6117" y="1378049"/>
            <a:ext cx="1685259" cy="288167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6117" y="1378048"/>
            <a:ext cx="1685259" cy="65708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4182" y="1536320"/>
            <a:ext cx="549129" cy="356700"/>
          </a:xfrm>
          <a:prstGeom prst="roundRect">
            <a:avLst>
              <a:gd name="adj" fmla="val 21053"/>
            </a:avLst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182" y="1536320"/>
            <a:ext cx="549129" cy="35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1859" y="2004258"/>
            <a:ext cx="1533775" cy="51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Wejście multimodalne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0794" y="2485694"/>
            <a:ext cx="1495904" cy="178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40" dirty="0">
                <a:solidFill>
                  <a:srgbClr val="C8D8F0"/>
                </a:solidFill>
              </a:rPr>
              <a:t>Strumień </a:t>
            </a:r>
            <a:r>
              <a:rPr lang="en-US" sz="1400" spc="-40" dirty="0" err="1">
                <a:solidFill>
                  <a:srgbClr val="C8D8F0"/>
                </a:solidFill>
              </a:rPr>
              <a:t>wideo</a:t>
            </a:r>
            <a:r>
              <a:rPr lang="en-US" sz="1400" spc="-40" dirty="0">
                <a:solidFill>
                  <a:srgbClr val="C8D8F0"/>
                </a:solidFill>
              </a:rPr>
              <a:t> </a:t>
            </a:r>
            <a:r>
              <a:rPr lang="pl-PL" sz="1400" spc="-40" dirty="0" smtClean="0">
                <a:solidFill>
                  <a:srgbClr val="C8D8F0"/>
                </a:solidFill>
              </a:rPr>
              <a:t/>
            </a:r>
            <a:br>
              <a:rPr lang="pl-PL" sz="1400" spc="-40" dirty="0" smtClean="0">
                <a:solidFill>
                  <a:srgbClr val="C8D8F0"/>
                </a:solidFill>
              </a:rPr>
            </a:br>
            <a:r>
              <a:rPr lang="en-US" sz="1400" spc="-40" dirty="0" smtClean="0">
                <a:solidFill>
                  <a:srgbClr val="C8D8F0"/>
                </a:solidFill>
              </a:rPr>
              <a:t>z </a:t>
            </a:r>
            <a:r>
              <a:rPr lang="en-US" sz="1400" spc="-40" dirty="0">
                <a:solidFill>
                  <a:srgbClr val="C8D8F0"/>
                </a:solidFill>
              </a:rPr>
              <a:t>kamery G1 (RGB 1280×720), dane proprioceptywne (43 DOF), instrukcja tekstowa.</a:t>
            </a:r>
            <a:endParaRPr lang="en-US" sz="1400" spc="-40" dirty="0"/>
          </a:p>
        </p:txBody>
      </p:sp>
      <p:sp>
        <p:nvSpPr>
          <p:cNvPr id="14" name="Shape 12"/>
          <p:cNvSpPr/>
          <p:nvPr/>
        </p:nvSpPr>
        <p:spPr>
          <a:xfrm>
            <a:off x="1841376" y="2786073"/>
            <a:ext cx="94677" cy="65708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6053" y="1378049"/>
            <a:ext cx="1685259" cy="288167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936053" y="1378048"/>
            <a:ext cx="1685259" cy="657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4118" y="1536320"/>
            <a:ext cx="549129" cy="356700"/>
          </a:xfrm>
          <a:prstGeom prst="roundRect">
            <a:avLst>
              <a:gd name="adj" fmla="val 2105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4118" y="1536320"/>
            <a:ext cx="549129" cy="35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11795" y="2004258"/>
            <a:ext cx="1533775" cy="51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Tokenizacja wizualna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30731" y="2485694"/>
            <a:ext cx="1495904" cy="178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40" dirty="0">
                <a:solidFill>
                  <a:srgbClr val="C8D8F0"/>
                </a:solidFill>
              </a:rPr>
              <a:t>Vision Transformer (ViT-B/16) dzieli obraz na 196 patchy 16×16. Każdy patch → token 768-dim.</a:t>
            </a:r>
            <a:endParaRPr lang="en-US" sz="1400" spc="-40" dirty="0"/>
          </a:p>
        </p:txBody>
      </p:sp>
      <p:sp>
        <p:nvSpPr>
          <p:cNvPr id="21" name="Shape 19"/>
          <p:cNvSpPr/>
          <p:nvPr/>
        </p:nvSpPr>
        <p:spPr>
          <a:xfrm>
            <a:off x="3621312" y="2786073"/>
            <a:ext cx="94677" cy="65708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5989" y="1378049"/>
            <a:ext cx="1685259" cy="288167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15989" y="1378048"/>
            <a:ext cx="1685259" cy="657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84054" y="1536320"/>
            <a:ext cx="549129" cy="356700"/>
          </a:xfrm>
          <a:prstGeom prst="roundRect">
            <a:avLst>
              <a:gd name="adj" fmla="val 21053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84054" y="1536320"/>
            <a:ext cx="549129" cy="35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791731" y="2004258"/>
            <a:ext cx="1533775" cy="51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Tokenizacja językowa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10667" y="2485694"/>
            <a:ext cx="1495904" cy="178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40" dirty="0">
                <a:solidFill>
                  <a:srgbClr val="C8D8F0"/>
                </a:solidFill>
              </a:rPr>
              <a:t>Tokenizer BPE przekształca instrukcje w sekwencje tokenów (np. "podaj kubek" → [1482, 98, ...]). </a:t>
            </a:r>
            <a:endParaRPr lang="en-US" sz="1400" spc="-40" dirty="0"/>
          </a:p>
        </p:txBody>
      </p:sp>
      <p:sp>
        <p:nvSpPr>
          <p:cNvPr id="28" name="Shape 26"/>
          <p:cNvSpPr/>
          <p:nvPr/>
        </p:nvSpPr>
        <p:spPr>
          <a:xfrm>
            <a:off x="5401248" y="2786073"/>
            <a:ext cx="94677" cy="65708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95925" y="1378049"/>
            <a:ext cx="1685259" cy="288167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95925" y="1378048"/>
            <a:ext cx="1685259" cy="657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63990" y="1536320"/>
            <a:ext cx="549129" cy="356700"/>
          </a:xfrm>
          <a:prstGeom prst="roundRect">
            <a:avLst>
              <a:gd name="adj" fmla="val 21053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3990" y="1536320"/>
            <a:ext cx="549129" cy="35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71667" y="2004258"/>
            <a:ext cx="1533775" cy="51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Cross-Modal Fusion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90603" y="2485694"/>
            <a:ext cx="1495904" cy="178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40" dirty="0">
                <a:solidFill>
                  <a:srgbClr val="C8D8F0"/>
                </a:solidFill>
              </a:rPr>
              <a:t>Dekoder transformer łączy tokeny wizualne + językowe przez mechanizm cross-attention (causal masking).</a:t>
            </a:r>
            <a:endParaRPr lang="en-US" sz="1400" spc="-40" dirty="0"/>
          </a:p>
        </p:txBody>
      </p:sp>
      <p:sp>
        <p:nvSpPr>
          <p:cNvPr id="35" name="Shape 33"/>
          <p:cNvSpPr/>
          <p:nvPr/>
        </p:nvSpPr>
        <p:spPr>
          <a:xfrm>
            <a:off x="7181184" y="2786073"/>
            <a:ext cx="94677" cy="65708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75861" y="1378049"/>
            <a:ext cx="1685259" cy="288167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75861" y="1378048"/>
            <a:ext cx="1685259" cy="657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3926" y="1536320"/>
            <a:ext cx="549129" cy="356700"/>
          </a:xfrm>
          <a:prstGeom prst="roundRect">
            <a:avLst>
              <a:gd name="adj" fmla="val 21053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3926" y="1536320"/>
            <a:ext cx="549129" cy="35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51603" y="2004258"/>
            <a:ext cx="1533775" cy="516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Action Head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70539" y="2485694"/>
            <a:ext cx="1495904" cy="178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spc="-40" dirty="0">
                <a:solidFill>
                  <a:srgbClr val="C8D8F0"/>
                </a:solidFill>
              </a:rPr>
              <a:t>MLP lub dyfuzyjny dekoder generuje 7-dim wektory akcji (Δjoints) dla każdego kroku kontroli (50 Hz).</a:t>
            </a:r>
            <a:endParaRPr lang="en-US" sz="1400" spc="-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Przegląd popularnych modeli VLA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</a:t>
            </a:r>
            <a:r>
              <a:rPr lang="en-US" sz="1600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badań</a:t>
            </a: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</a:t>
            </a:r>
            <a:r>
              <a:rPr lang="pl-PL" sz="1600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grpSp>
        <p:nvGrpSpPr>
          <p:cNvPr id="50" name="Grupa 49"/>
          <p:cNvGrpSpPr/>
          <p:nvPr/>
        </p:nvGrpSpPr>
        <p:grpSpPr>
          <a:xfrm>
            <a:off x="274320" y="1260000"/>
            <a:ext cx="8732520" cy="3539076"/>
            <a:chOff x="274320" y="1379220"/>
            <a:chExt cx="8732520" cy="3419856"/>
          </a:xfrm>
        </p:grpSpPr>
        <p:sp>
          <p:nvSpPr>
            <p:cNvPr id="8" name="Shape 6"/>
            <p:cNvSpPr/>
            <p:nvPr/>
          </p:nvSpPr>
          <p:spPr>
            <a:xfrm>
              <a:off x="274320" y="1379220"/>
              <a:ext cx="4206240" cy="107899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274320" y="1379220"/>
              <a:ext cx="54864" cy="1078992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520440" y="1488948"/>
              <a:ext cx="804672" cy="292608"/>
            </a:xfrm>
            <a:prstGeom prst="roundRect">
              <a:avLst>
                <a:gd name="adj" fmla="val 25000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3520440" y="1488948"/>
              <a:ext cx="8046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2023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57200" y="147066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00D4FF"/>
                  </a:solidFill>
                </a:rPr>
                <a:t>RT-2</a:t>
              </a:r>
              <a:endParaRPr lang="en-US" sz="2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57200" y="1720052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899BB"/>
                  </a:solidFill>
                </a:rPr>
                <a:t>Google DeepMind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57200" y="2001012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600" spc="-30" dirty="0">
                  <a:solidFill>
                    <a:srgbClr val="C8D8F0"/>
                  </a:solidFill>
                </a:rPr>
                <a:t>PaLM-E + WebKI. Pierwszy model VLA w skali produkcyjnej. Demonstracja zero-shot transfer.</a:t>
              </a:r>
              <a:endParaRPr lang="en-US" sz="1600" spc="-3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74320" y="2549652"/>
              <a:ext cx="4206240" cy="107899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274320" y="2549652"/>
              <a:ext cx="54864" cy="1078992"/>
            </a:xfrm>
            <a:prstGeom prst="rect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3520440" y="2659380"/>
              <a:ext cx="804672" cy="292608"/>
            </a:xfrm>
            <a:prstGeom prst="roundRect">
              <a:avLst>
                <a:gd name="adj" fmla="val 25000"/>
              </a:avLst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3520440" y="2659380"/>
              <a:ext cx="8046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2024</a:t>
              </a: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57200" y="264109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00C896"/>
                  </a:solidFill>
                </a:rPr>
                <a:t>OpenVLA</a:t>
              </a:r>
              <a:endParaRPr lang="en-US" sz="28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57200" y="2951988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899BB"/>
                  </a:solidFill>
                </a:rPr>
                <a:t>Stanford / Berkeley</a:t>
              </a:r>
              <a:endParaRPr lang="en-US" sz="10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57200" y="3171444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Open-source VLA 7B na Prismatic VLM. Fine-tuneable na niestandardowych robotach.</a:t>
              </a:r>
              <a:endParaRPr lang="en-US" sz="16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274320" y="3720084"/>
              <a:ext cx="4206240" cy="107899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274320" y="3720084"/>
              <a:ext cx="54864" cy="1078992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3520440" y="3829812"/>
              <a:ext cx="804672" cy="292608"/>
            </a:xfrm>
            <a:prstGeom prst="roundRect">
              <a:avLst>
                <a:gd name="adj" fmla="val 25000"/>
              </a:avLst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5" name="Text 23"/>
            <p:cNvSpPr/>
            <p:nvPr/>
          </p:nvSpPr>
          <p:spPr>
            <a:xfrm>
              <a:off x="3520440" y="3829812"/>
              <a:ext cx="8046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2024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57200" y="381152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8C42"/>
                  </a:solidFill>
                </a:rPr>
                <a:t>π₀ (pi0)</a:t>
              </a:r>
              <a:endParaRPr lang="en-US" sz="28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57200" y="412242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899BB"/>
                  </a:solidFill>
                </a:rPr>
                <a:t>Physical Intelligence</a:t>
              </a:r>
              <a:endParaRPr lang="en-US" sz="10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57200" y="4341876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Flow matching policy. SOTA na zadaniach dwuramiennych, obsługa G1 EDU.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4800600" y="1379220"/>
              <a:ext cx="4206240" cy="107899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800600" y="1379220"/>
              <a:ext cx="54864" cy="1078992"/>
            </a:xfrm>
            <a:prstGeom prst="rect">
              <a:avLst/>
            </a:prstGeom>
            <a:solidFill>
              <a:srgbClr val="9B5DE5"/>
            </a:solidFill>
            <a:ln w="12700">
              <a:solidFill>
                <a:srgbClr val="9B5DE5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8046720" y="1488948"/>
              <a:ext cx="804672" cy="292608"/>
            </a:xfrm>
            <a:prstGeom prst="roundRect">
              <a:avLst>
                <a:gd name="adj" fmla="val 25000"/>
              </a:avLst>
            </a:prstGeom>
            <a:solidFill>
              <a:srgbClr val="9B5DE5"/>
            </a:solidFill>
            <a:ln w="12700">
              <a:solidFill>
                <a:srgbClr val="9B5DE5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8046720" y="1488948"/>
              <a:ext cx="8046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2023</a:t>
              </a:r>
              <a:endParaRPr lang="en-US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983480" y="1470660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9B5DE5"/>
                  </a:solidFill>
                </a:rPr>
                <a:t>RoboFlamingo</a:t>
              </a:r>
              <a:endParaRPr lang="en-US" sz="28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983480" y="1781556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899BB"/>
                  </a:solidFill>
                </a:rPr>
                <a:t>Microsoft Research</a:t>
              </a:r>
              <a:endParaRPr lang="en-US" sz="10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983480" y="2001012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Openflamingo jako backbone. Demonstracja języka w długich horyzontach planowania.</a:t>
              </a:r>
              <a:endParaRPr lang="en-US" sz="16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800600" y="2549652"/>
              <a:ext cx="4206240" cy="107899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7" name="Shape 35"/>
            <p:cNvSpPr/>
            <p:nvPr/>
          </p:nvSpPr>
          <p:spPr>
            <a:xfrm>
              <a:off x="4800600" y="2549652"/>
              <a:ext cx="54864" cy="1078992"/>
            </a:xfrm>
            <a:prstGeom prst="rect">
              <a:avLst/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</p:spPr>
        </p:sp>
        <p:sp>
          <p:nvSpPr>
            <p:cNvPr id="38" name="Shape 36"/>
            <p:cNvSpPr/>
            <p:nvPr/>
          </p:nvSpPr>
          <p:spPr>
            <a:xfrm>
              <a:off x="8046720" y="2659380"/>
              <a:ext cx="804672" cy="292608"/>
            </a:xfrm>
            <a:prstGeom prst="roundRect">
              <a:avLst>
                <a:gd name="adj" fmla="val 25000"/>
              </a:avLst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39" name="Text 37"/>
            <p:cNvSpPr/>
            <p:nvPr/>
          </p:nvSpPr>
          <p:spPr>
            <a:xfrm>
              <a:off x="8046720" y="2659380"/>
              <a:ext cx="8046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2024</a:t>
              </a:r>
              <a:endParaRPr lang="en-US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983480" y="2641092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A6EFF"/>
                  </a:solidFill>
                </a:rPr>
                <a:t>3D-VLA</a:t>
              </a:r>
              <a:endParaRPr lang="en-US" sz="28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4983480" y="2910985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899BB"/>
                  </a:solidFill>
                </a:rPr>
                <a:t>UMass Amherst</a:t>
              </a:r>
              <a:endParaRPr lang="en-US" sz="10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4983480" y="3171444"/>
              <a:ext cx="3977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600" spc="-40" dirty="0">
                  <a:solidFill>
                    <a:srgbClr val="C8D8F0"/>
                  </a:solidFill>
                </a:rPr>
                <a:t>Inkorporuje 3D scene understanding. Lepsza generalizacja do nowych układów przestrzennych.</a:t>
              </a:r>
              <a:endParaRPr lang="en-US" sz="1600" spc="-4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4800600" y="3720084"/>
              <a:ext cx="4206240" cy="107899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4" name="Shape 42"/>
            <p:cNvSpPr/>
            <p:nvPr/>
          </p:nvSpPr>
          <p:spPr>
            <a:xfrm>
              <a:off x="4800600" y="3720084"/>
              <a:ext cx="54864" cy="1078992"/>
            </a:xfrm>
            <a:prstGeom prst="rect">
              <a:avLst/>
            </a:prstGeom>
            <a:solidFill>
              <a:srgbClr val="1246B8"/>
            </a:solidFill>
            <a:ln w="12700">
              <a:solidFill>
                <a:srgbClr val="1246B8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8046720" y="3829812"/>
              <a:ext cx="804672" cy="292608"/>
            </a:xfrm>
            <a:prstGeom prst="roundRect">
              <a:avLst>
                <a:gd name="adj" fmla="val 25000"/>
              </a:avLst>
            </a:prstGeom>
            <a:solidFill>
              <a:srgbClr val="1246B8"/>
            </a:solidFill>
            <a:ln w="12700">
              <a:solidFill>
                <a:srgbClr val="1246B8"/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46" name="Text 44"/>
            <p:cNvSpPr/>
            <p:nvPr/>
          </p:nvSpPr>
          <p:spPr>
            <a:xfrm>
              <a:off x="8046720" y="3829812"/>
              <a:ext cx="8046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2024</a:t>
              </a:r>
              <a:endParaRPr lang="en-US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4983480" y="3811524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>
                      <a:lumMod val="40000"/>
                      <a:lumOff val="60000"/>
                    </a:schemeClr>
                  </a:solidFill>
                </a:rPr>
                <a:t>UniSim</a:t>
              </a:r>
              <a:endParaRPr lang="en-US" sz="2800" dirty="0">
                <a:solidFill>
                  <a:schemeClr val="tx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8" name="Text 46"/>
            <p:cNvSpPr/>
            <p:nvPr/>
          </p:nvSpPr>
          <p:spPr>
            <a:xfrm>
              <a:off x="4983480" y="412242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8899BB"/>
                  </a:solidFill>
                </a:rPr>
                <a:t>Stanford</a:t>
              </a:r>
              <a:endParaRPr lang="en-US" sz="105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4983480" y="4341876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Neural simulator + VLA. Generuje własne dane treningowe przez symulację akcji.</a:t>
              </a:r>
              <a:endParaRPr lang="en-US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VLA: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EDU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684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modeli językowych z układem sterowania</a:t>
            </a:r>
            <a:endParaRPr lang="en-US" sz="1600" dirty="0"/>
          </a:p>
        </p:txBody>
      </p:sp>
      <p:grpSp>
        <p:nvGrpSpPr>
          <p:cNvPr id="36" name="Grupa 35"/>
          <p:cNvGrpSpPr/>
          <p:nvPr/>
        </p:nvGrpSpPr>
        <p:grpSpPr>
          <a:xfrm>
            <a:off x="274320" y="1224000"/>
            <a:ext cx="8686800" cy="3668040"/>
            <a:chOff x="274320" y="1078848"/>
            <a:chExt cx="8686800" cy="3813192"/>
          </a:xfrm>
        </p:grpSpPr>
        <p:sp>
          <p:nvSpPr>
            <p:cNvPr id="8" name="Shape 6"/>
            <p:cNvSpPr/>
            <p:nvPr/>
          </p:nvSpPr>
          <p:spPr>
            <a:xfrm>
              <a:off x="274320" y="1078848"/>
              <a:ext cx="3503930" cy="3813192"/>
            </a:xfrm>
            <a:prstGeom prst="rect">
              <a:avLst/>
            </a:prstGeom>
            <a:solidFill>
              <a:srgbClr val="060E1F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06070" y="1099754"/>
              <a:ext cx="3455264" cy="234143"/>
            </a:xfrm>
            <a:prstGeom prst="rect">
              <a:avLst/>
            </a:prstGeom>
            <a:solidFill>
              <a:srgbClr val="091428"/>
            </a:solidFill>
            <a:ln w="12700">
              <a:solidFill>
                <a:srgbClr val="091428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411480" y="1078848"/>
              <a:ext cx="3275413" cy="2341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8899BB"/>
                  </a:solidFill>
                </a:rPr>
                <a:t>Schemat integracji OpenVLA + G1 EDU SDK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1530410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B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1. Wczytanie modelu VLA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11480" y="1806365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0D4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vla = OpenVLA.load("openvla-7b-g1")</a:t>
              </a:r>
              <a:endParaRPr lang="en-US" sz="11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11480" y="2082320"/>
              <a:ext cx="393192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11480" y="2281620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B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2. Połączenie z G1 EDU przez SDK2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11480" y="2557575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0D4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robot = UnitreeG1("192.168.2.1")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11480" y="2833530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8C4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robot.set_mode("dex3_teleoperation")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11480" y="3186138"/>
              <a:ext cx="393192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11480" y="3336659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B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# 3. Pętla sterowania VLA (50 Hz)</a:t>
              </a:r>
              <a:endParaRPr lang="en-US" sz="11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11480" y="3612614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A6E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while task_active: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11480" y="3888568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obs = robot.get_observation()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11480" y="4164523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0C89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action = vla.predict(obs, instruction)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11480" y="4440478"/>
              <a:ext cx="3201670" cy="275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8C4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robot.apply_action(action)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022090" y="1078848"/>
              <a:ext cx="4939030" cy="3813192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022090" y="1078848"/>
              <a:ext cx="54864" cy="3813192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248150" y="1283723"/>
              <a:ext cx="4347210" cy="2809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8C42"/>
                  </a:solidFill>
                </a:rPr>
                <a:t>Kamera → VLM</a:t>
              </a: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248150" y="1533591"/>
              <a:ext cx="4591050" cy="32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spc="-30" dirty="0">
                  <a:solidFill>
                    <a:srgbClr val="C8D8F0"/>
                  </a:solidFill>
                </a:rPr>
                <a:t>Strumień 30fps, kompresja JPEG, send przez socket do inference server (GPU).</a:t>
              </a:r>
              <a:endParaRPr lang="en-US" sz="1200" spc="-3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248150" y="1986154"/>
              <a:ext cx="4347210" cy="2809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8C42"/>
                  </a:solidFill>
                </a:rPr>
                <a:t>Inference server</a:t>
              </a:r>
              <a:endParaRPr lang="en-US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248150" y="2236021"/>
              <a:ext cx="4347210" cy="32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spc="-30" dirty="0">
                  <a:solidFill>
                    <a:srgbClr val="C8D8F0"/>
                  </a:solidFill>
                </a:rPr>
                <a:t>Dedykowany PC z RTX 4090. Latencja ~80 ms. Asynchroniczna kolejka akcji.</a:t>
              </a:r>
              <a:endParaRPr lang="en-US" sz="1200" spc="-3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4248150" y="2688584"/>
              <a:ext cx="4347210" cy="2809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8C42"/>
                  </a:solidFill>
                </a:rPr>
                <a:t>Action interpolation</a:t>
              </a:r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248150" y="2938451"/>
              <a:ext cx="4347210" cy="32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spc="-30" dirty="0">
                  <a:solidFill>
                    <a:srgbClr val="C8D8F0"/>
                  </a:solidFill>
                </a:rPr>
                <a:t>Interpolacja liniowa między akcjami VLA (12.5 Hz) a pętlą PD (1000 Hz).</a:t>
              </a:r>
              <a:endParaRPr lang="en-US" sz="1200" spc="-3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248150" y="3391014"/>
              <a:ext cx="4347210" cy="2809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8C42"/>
                  </a:solidFill>
                </a:rPr>
                <a:t>Safety monitor</a:t>
              </a:r>
              <a:endParaRPr lang="en-US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248150" y="3640881"/>
              <a:ext cx="4347210" cy="32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spc="-30" dirty="0">
                  <a:solidFill>
                    <a:srgbClr val="C8D8F0"/>
                  </a:solidFill>
                </a:rPr>
                <a:t>Sprawdzanie limitów torque i kolizji w czasie rzeczywistym (hard stop).</a:t>
              </a:r>
              <a:endParaRPr lang="en-US" sz="1200" spc="-3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4248150" y="4093444"/>
              <a:ext cx="4347210" cy="2809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8C42"/>
                  </a:solidFill>
                </a:rPr>
                <a:t>Logging &amp; replay</a:t>
              </a:r>
              <a:endParaRPr lang="en-US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248150" y="4343311"/>
              <a:ext cx="4347210" cy="3211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spc="-30" dirty="0">
                  <a:solidFill>
                    <a:srgbClr val="C8D8F0"/>
                  </a:solidFill>
                </a:rPr>
                <a:t>Zapis observation + action do mcap (ROS2 format) dla fine-tuningu.</a:t>
              </a:r>
              <a:endParaRPr lang="en-US" sz="1200" spc="-3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WMA: World-Model-Action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i zasada działania</a:t>
            </a:r>
            <a:endParaRPr lang="en-US" sz="1600" dirty="0"/>
          </a:p>
        </p:txBody>
      </p:sp>
      <p:grpSp>
        <p:nvGrpSpPr>
          <p:cNvPr id="34" name="Grupa 33"/>
          <p:cNvGrpSpPr/>
          <p:nvPr/>
        </p:nvGrpSpPr>
        <p:grpSpPr>
          <a:xfrm>
            <a:off x="274320" y="1374399"/>
            <a:ext cx="8595360" cy="1312406"/>
            <a:chOff x="274320" y="1508760"/>
            <a:chExt cx="9098280" cy="1371600"/>
          </a:xfrm>
        </p:grpSpPr>
        <p:sp>
          <p:nvSpPr>
            <p:cNvPr id="8" name="Shape 6"/>
            <p:cNvSpPr/>
            <p:nvPr/>
          </p:nvSpPr>
          <p:spPr>
            <a:xfrm>
              <a:off x="274320" y="1508760"/>
              <a:ext cx="2103120" cy="137160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274320" y="1508760"/>
              <a:ext cx="2103120" cy="73152"/>
            </a:xfrm>
            <a:prstGeom prst="rect">
              <a:avLst/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274320" y="167335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 smtClean="0">
                  <a:solidFill>
                    <a:srgbClr val="FFFFFF"/>
                  </a:solidFill>
                </a:rPr>
                <a:t>Dane</a:t>
              </a:r>
              <a:r>
                <a:rPr lang="pl-PL" sz="2000" dirty="0"/>
                <a:t> </a:t>
              </a:r>
              <a:r>
                <a:rPr lang="en-US" sz="2000" b="1" dirty="0" err="1" smtClean="0">
                  <a:solidFill>
                    <a:srgbClr val="FFFFFF"/>
                  </a:solidFill>
                </a:rPr>
                <a:t>wejściowe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65760" y="2167128"/>
              <a:ext cx="19202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Sensory, IMU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Kamery, Propriocepcja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377440" y="2121408"/>
              <a:ext cx="502920" cy="54864"/>
            </a:xfrm>
            <a:prstGeom prst="rect">
              <a:avLst/>
            </a:prstGeom>
            <a:solidFill>
              <a:srgbClr val="8899BB"/>
            </a:solidFill>
            <a:ln w="12700">
              <a:solidFill>
                <a:srgbClr val="8899BB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2852928" y="2048256"/>
              <a:ext cx="73152" cy="201168"/>
            </a:xfrm>
            <a:prstGeom prst="rect">
              <a:avLst/>
            </a:prstGeom>
            <a:solidFill>
              <a:srgbClr val="8899BB"/>
            </a:solidFill>
            <a:ln w="12700">
              <a:solidFill>
                <a:srgbClr val="8899BB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2606040" y="1508760"/>
              <a:ext cx="2103120" cy="137160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2606040" y="1508760"/>
              <a:ext cx="2103120" cy="73152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2606040" y="167335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 smtClean="0">
                  <a:solidFill>
                    <a:srgbClr val="FFFFFF"/>
                  </a:solidFill>
                </a:rPr>
                <a:t>World</a:t>
              </a:r>
              <a:r>
                <a:rPr lang="pl-PL" sz="2000" dirty="0"/>
                <a:t> </a:t>
              </a:r>
              <a:r>
                <a:rPr lang="en-US" sz="2000" b="1" dirty="0" smtClean="0">
                  <a:solidFill>
                    <a:srgbClr val="FFFFFF"/>
                  </a:solidFill>
                </a:rPr>
                <a:t>Model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697480" y="2167128"/>
              <a:ext cx="19202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Wewnętrzna reprezentacja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stanu świata (latent)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709160" y="2121408"/>
              <a:ext cx="502920" cy="54864"/>
            </a:xfrm>
            <a:prstGeom prst="rect">
              <a:avLst/>
            </a:prstGeom>
            <a:solidFill>
              <a:srgbClr val="8899BB"/>
            </a:solidFill>
            <a:ln w="12700">
              <a:solidFill>
                <a:srgbClr val="8899BB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5184648" y="2048256"/>
              <a:ext cx="73152" cy="201168"/>
            </a:xfrm>
            <a:prstGeom prst="rect">
              <a:avLst/>
            </a:prstGeom>
            <a:solidFill>
              <a:srgbClr val="8899BB"/>
            </a:solidFill>
            <a:ln w="12700">
              <a:solidFill>
                <a:srgbClr val="8899BB"/>
              </a:solidFill>
              <a:prstDash val="solid"/>
            </a:ln>
          </p:spPr>
        </p:sp>
        <p:sp>
          <p:nvSpPr>
            <p:cNvPr id="20" name="Shape 18"/>
            <p:cNvSpPr/>
            <p:nvPr/>
          </p:nvSpPr>
          <p:spPr>
            <a:xfrm>
              <a:off x="4937760" y="1508760"/>
              <a:ext cx="2103120" cy="137160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937760" y="1508760"/>
              <a:ext cx="2103120" cy="73152"/>
            </a:xfrm>
            <a:prstGeom prst="rect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937760" y="167335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 smtClean="0">
                  <a:solidFill>
                    <a:srgbClr val="FFFFFF"/>
                  </a:solidFill>
                </a:rPr>
                <a:t>Planer</a:t>
              </a:r>
              <a:r>
                <a:rPr lang="pl-PL" sz="2000" dirty="0"/>
                <a:t> </a:t>
              </a:r>
              <a:r>
                <a:rPr lang="en-US" sz="2000" b="1" dirty="0" smtClean="0">
                  <a:solidFill>
                    <a:srgbClr val="FFFFFF"/>
                  </a:solidFill>
                </a:rPr>
                <a:t>/ </a:t>
              </a:r>
              <a:r>
                <a:rPr lang="en-US" sz="2000" b="1" dirty="0">
                  <a:solidFill>
                    <a:srgbClr val="FFFFFF"/>
                  </a:solidFill>
                </a:rPr>
                <a:t>Policy</a:t>
              </a:r>
              <a:endParaRPr lang="en-US" sz="2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29200" y="2167128"/>
              <a:ext cx="19202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Planowanie sekwencji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akcji na podstawie celu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040880" y="2121408"/>
              <a:ext cx="502920" cy="54864"/>
            </a:xfrm>
            <a:prstGeom prst="rect">
              <a:avLst/>
            </a:prstGeom>
            <a:solidFill>
              <a:srgbClr val="8899BB"/>
            </a:solidFill>
            <a:ln w="12700">
              <a:solidFill>
                <a:srgbClr val="8899BB"/>
              </a:solidFill>
              <a:prstDash val="solid"/>
            </a:ln>
          </p:spPr>
        </p:sp>
        <p:sp>
          <p:nvSpPr>
            <p:cNvPr id="25" name="Shape 23"/>
            <p:cNvSpPr/>
            <p:nvPr/>
          </p:nvSpPr>
          <p:spPr>
            <a:xfrm>
              <a:off x="7516368" y="2048256"/>
              <a:ext cx="73152" cy="201168"/>
            </a:xfrm>
            <a:prstGeom prst="rect">
              <a:avLst/>
            </a:prstGeom>
            <a:solidFill>
              <a:srgbClr val="8899BB"/>
            </a:solidFill>
            <a:ln w="12700">
              <a:solidFill>
                <a:srgbClr val="8899BB"/>
              </a:solidFill>
              <a:prstDash val="solid"/>
            </a:ln>
          </p:spPr>
        </p:sp>
        <p:sp>
          <p:nvSpPr>
            <p:cNvPr id="26" name="Shape 24"/>
            <p:cNvSpPr/>
            <p:nvPr/>
          </p:nvSpPr>
          <p:spPr>
            <a:xfrm>
              <a:off x="7269480" y="1508760"/>
              <a:ext cx="2103120" cy="137160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7" name="Shape 25"/>
            <p:cNvSpPr/>
            <p:nvPr/>
          </p:nvSpPr>
          <p:spPr>
            <a:xfrm>
              <a:off x="7269480" y="1508760"/>
              <a:ext cx="2103120" cy="73152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7269480" y="167335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 err="1" smtClean="0">
                  <a:solidFill>
                    <a:srgbClr val="FFFFFF"/>
                  </a:solidFill>
                </a:rPr>
                <a:t>Moduł</a:t>
              </a:r>
              <a:r>
                <a:rPr lang="pl-PL" sz="2000" dirty="0"/>
                <a:t> </a:t>
              </a:r>
              <a:r>
                <a:rPr lang="en-US" sz="2000" b="1" dirty="0" err="1" smtClean="0">
                  <a:solidFill>
                    <a:srgbClr val="FFFFFF"/>
                  </a:solidFill>
                </a:rPr>
                <a:t>Akcji</a:t>
              </a:r>
              <a:endParaRPr lang="en-US" sz="2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360920" y="2167128"/>
              <a:ext cx="19202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Generowanie sygnałów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sterujących silnikami</a:t>
              </a:r>
              <a:endParaRPr lang="en-US" sz="1400" dirty="0"/>
            </a:p>
          </p:txBody>
        </p:sp>
      </p:grpSp>
      <p:sp>
        <p:nvSpPr>
          <p:cNvPr id="30" name="Shape 28"/>
          <p:cNvSpPr/>
          <p:nvPr/>
        </p:nvSpPr>
        <p:spPr>
          <a:xfrm>
            <a:off x="274320" y="2882815"/>
            <a:ext cx="8595360" cy="1734905"/>
          </a:xfrm>
          <a:prstGeom prst="rect">
            <a:avLst/>
          </a:prstGeom>
          <a:solidFill>
            <a:srgbClr val="11224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882815"/>
            <a:ext cx="54864" cy="1734905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33963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</a:rPr>
              <a:t>Kluczowe założenie modeli WMA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7200" y="3305151"/>
            <a:ext cx="8229600" cy="1193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700" spc="-30" dirty="0">
                <a:solidFill>
                  <a:srgbClr val="C8D8F0"/>
                </a:solidFill>
              </a:rPr>
              <a:t>Robot buduje wewnętrzny model </a:t>
            </a:r>
            <a:r>
              <a:rPr lang="en-US" sz="1700" spc="-30" dirty="0" err="1">
                <a:solidFill>
                  <a:srgbClr val="C8D8F0"/>
                </a:solidFill>
              </a:rPr>
              <a:t>środowiska</a:t>
            </a:r>
            <a:r>
              <a:rPr lang="en-US" sz="1700" spc="-30" dirty="0">
                <a:solidFill>
                  <a:srgbClr val="C8D8F0"/>
                </a:solidFill>
              </a:rPr>
              <a:t> </a:t>
            </a:r>
            <a:r>
              <a:rPr lang="en-US" sz="1700" spc="-30" dirty="0" smtClean="0">
                <a:solidFill>
                  <a:srgbClr val="C8D8F0"/>
                </a:solidFill>
              </a:rPr>
              <a:t>(</a:t>
            </a:r>
            <a:r>
              <a:rPr lang="pl-PL" sz="1700" spc="-30" dirty="0" smtClean="0">
                <a:solidFill>
                  <a:srgbClr val="C8D8F0"/>
                </a:solidFill>
              </a:rPr>
              <a:t>„</a:t>
            </a:r>
            <a:r>
              <a:rPr lang="en-US" sz="1700" spc="-30" dirty="0" smtClean="0">
                <a:solidFill>
                  <a:srgbClr val="C8D8F0"/>
                </a:solidFill>
              </a:rPr>
              <a:t>world model</a:t>
            </a:r>
            <a:r>
              <a:rPr lang="pl-PL" sz="1700" spc="-30" dirty="0" smtClean="0">
                <a:solidFill>
                  <a:srgbClr val="C8D8F0"/>
                </a:solidFill>
              </a:rPr>
              <a:t>”</a:t>
            </a:r>
            <a:r>
              <a:rPr lang="en-US" sz="1700" spc="-30" dirty="0" smtClean="0">
                <a:solidFill>
                  <a:srgbClr val="C8D8F0"/>
                </a:solidFill>
              </a:rPr>
              <a:t>): </a:t>
            </a:r>
            <a:r>
              <a:rPr lang="en-US" sz="1700" spc="-30" dirty="0" err="1" smtClean="0">
                <a:solidFill>
                  <a:srgbClr val="C8D8F0"/>
                </a:solidFill>
              </a:rPr>
              <a:t>kompaktową</a:t>
            </a:r>
            <a:r>
              <a:rPr lang="en-US" sz="1700" spc="-30" dirty="0" smtClean="0">
                <a:solidFill>
                  <a:srgbClr val="C8D8F0"/>
                </a:solidFill>
              </a:rPr>
              <a:t> </a:t>
            </a:r>
            <a:r>
              <a:rPr lang="en-US" sz="1700" spc="-30" dirty="0">
                <a:solidFill>
                  <a:srgbClr val="C8D8F0"/>
                </a:solidFill>
              </a:rPr>
              <a:t>reprezentację latentną pozwalającą przewidywać konsekwencje akcji bez fizycznej interakcji ze światem. Planer korzysta z tej reprezentacji do generowania optymalnych trajektorii </a:t>
            </a:r>
            <a:r>
              <a:rPr lang="en-US" sz="1700" spc="-30" dirty="0" err="1">
                <a:solidFill>
                  <a:srgbClr val="C8D8F0"/>
                </a:solidFill>
              </a:rPr>
              <a:t>ruchu</a:t>
            </a:r>
            <a:r>
              <a:rPr lang="en-US" sz="1700" spc="-30" dirty="0">
                <a:solidFill>
                  <a:srgbClr val="C8D8F0"/>
                </a:solidFill>
              </a:rPr>
              <a:t> </a:t>
            </a:r>
            <a:r>
              <a:rPr lang="pl-PL" sz="1700" spc="-30" dirty="0" smtClean="0">
                <a:solidFill>
                  <a:srgbClr val="C8D8F0"/>
                </a:solidFill>
              </a:rPr>
              <a:t>w</a:t>
            </a:r>
            <a:r>
              <a:rPr lang="en-US" sz="1700" spc="-30" dirty="0" smtClean="0">
                <a:solidFill>
                  <a:srgbClr val="C8D8F0"/>
                </a:solidFill>
              </a:rPr>
              <a:t> </a:t>
            </a:r>
            <a:r>
              <a:rPr lang="en-US" sz="1700" spc="-30" dirty="0" err="1">
                <a:solidFill>
                  <a:srgbClr val="C8D8F0"/>
                </a:solidFill>
              </a:rPr>
              <a:t>przestrzeni</a:t>
            </a:r>
            <a:r>
              <a:rPr lang="en-US" sz="1700" spc="-30" dirty="0">
                <a:solidFill>
                  <a:srgbClr val="C8D8F0"/>
                </a:solidFill>
              </a:rPr>
              <a:t> </a:t>
            </a:r>
            <a:r>
              <a:rPr lang="en-US" sz="1700" spc="-30" dirty="0" err="1" smtClean="0">
                <a:solidFill>
                  <a:srgbClr val="C8D8F0"/>
                </a:solidFill>
              </a:rPr>
              <a:t>akcji</a:t>
            </a:r>
            <a:r>
              <a:rPr lang="en-US" sz="1700" spc="-30" dirty="0" smtClean="0">
                <a:solidFill>
                  <a:srgbClr val="C8D8F0"/>
                </a:solidFill>
              </a:rPr>
              <a:t>,</a:t>
            </a:r>
            <a:r>
              <a:rPr lang="pl-PL" sz="1700" spc="-30" dirty="0" smtClean="0">
                <a:solidFill>
                  <a:srgbClr val="C8D8F0"/>
                </a:solidFill>
              </a:rPr>
              <a:t> </a:t>
            </a:r>
            <a:br>
              <a:rPr lang="pl-PL" sz="1700" spc="-30" dirty="0" smtClean="0">
                <a:solidFill>
                  <a:srgbClr val="C8D8F0"/>
                </a:solidFill>
              </a:rPr>
            </a:br>
            <a:r>
              <a:rPr lang="en-US" sz="1700" spc="-30" dirty="0" smtClean="0">
                <a:solidFill>
                  <a:srgbClr val="C8D8F0"/>
                </a:solidFill>
              </a:rPr>
              <a:t>a </a:t>
            </a:r>
            <a:r>
              <a:rPr lang="en-US" sz="1700" spc="-30" dirty="0">
                <a:solidFill>
                  <a:srgbClr val="C8D8F0"/>
                </a:solidFill>
              </a:rPr>
              <a:t>moduł akcji przekształca plany w sygnały sterujące napędami.</a:t>
            </a:r>
            <a:endParaRPr lang="en-US" sz="1700" spc="-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Składowe modelu World Model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Budowa wewnętrznej reprezentacji środowiska</a:t>
            </a:r>
            <a:endParaRPr lang="en-US" sz="1600" dirty="0"/>
          </a:p>
        </p:txBody>
      </p:sp>
      <p:grpSp>
        <p:nvGrpSpPr>
          <p:cNvPr id="26" name="Grupa 25"/>
          <p:cNvGrpSpPr/>
          <p:nvPr/>
        </p:nvGrpSpPr>
        <p:grpSpPr>
          <a:xfrm>
            <a:off x="320040" y="1449657"/>
            <a:ext cx="8641080" cy="2996779"/>
            <a:chOff x="320040" y="1463040"/>
            <a:chExt cx="8641080" cy="2715768"/>
          </a:xfrm>
        </p:grpSpPr>
        <p:sp>
          <p:nvSpPr>
            <p:cNvPr id="8" name="Shape 6"/>
            <p:cNvSpPr/>
            <p:nvPr/>
          </p:nvSpPr>
          <p:spPr>
            <a:xfrm>
              <a:off x="320040" y="1463040"/>
              <a:ext cx="4178808" cy="129844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20040" y="1463040"/>
              <a:ext cx="54864" cy="1298448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02920" y="155448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D4FF"/>
                  </a:solidFill>
                </a:rPr>
                <a:t>Enkoder stanu</a:t>
              </a: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02920" y="1901952"/>
              <a:ext cx="3886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500" spc="-40" dirty="0">
                  <a:solidFill>
                    <a:srgbClr val="C8D8F0"/>
                  </a:solidFill>
                </a:rPr>
                <a:t>Przetwarza surowe dane sensoryczne (obrazy, dane proprioceptywne) do przestrzeni latentnej o niskiej wymiarowości. Typowo stosuje transformer lub CNN.</a:t>
              </a:r>
              <a:endParaRPr lang="en-US" sz="1500" spc="-4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0040" y="2880360"/>
              <a:ext cx="4178808" cy="129844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20040" y="2880360"/>
              <a:ext cx="54864" cy="1298448"/>
            </a:xfrm>
            <a:prstGeom prst="rect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02920" y="297180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C896"/>
                  </a:solidFill>
                </a:rPr>
                <a:t>Model przejścia</a:t>
              </a:r>
              <a:endParaRPr lang="en-US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02920" y="3319272"/>
              <a:ext cx="3886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ts val="2000"/>
                </a:lnSpc>
                <a:buNone/>
              </a:pPr>
              <a:r>
                <a:rPr lang="en-US" sz="1500" spc="-20" dirty="0">
                  <a:solidFill>
                    <a:srgbClr val="C8D8F0"/>
                  </a:solidFill>
                </a:rPr>
                <a:t>Przewiduje kolejny stan latentny s_{t+1} na podstawie bieżącego </a:t>
              </a:r>
              <a:r>
                <a:rPr lang="en-US" sz="1500" spc="-20" dirty="0" err="1">
                  <a:solidFill>
                    <a:srgbClr val="C8D8F0"/>
                  </a:solidFill>
                </a:rPr>
                <a:t>stanu</a:t>
              </a:r>
              <a:r>
                <a:rPr lang="en-US" sz="1500" spc="-20" dirty="0">
                  <a:solidFill>
                    <a:srgbClr val="C8D8F0"/>
                  </a:solidFill>
                </a:rPr>
                <a:t> </a:t>
              </a:r>
              <a:r>
                <a:rPr lang="en-US" sz="1500" b="1" spc="-20" dirty="0" err="1" smtClean="0">
                  <a:solidFill>
                    <a:srgbClr val="C8D8F0"/>
                  </a:solidFill>
                </a:rPr>
                <a:t>s</a:t>
              </a:r>
              <a:r>
                <a:rPr lang="en-US" sz="1500" b="1" spc="-20" baseline="-25000" dirty="0" err="1" smtClean="0">
                  <a:solidFill>
                    <a:srgbClr val="C8D8F0"/>
                  </a:solidFill>
                </a:rPr>
                <a:t>t</a:t>
              </a:r>
              <a:r>
                <a:rPr lang="en-US" sz="1500" spc="-20" dirty="0" smtClean="0">
                  <a:solidFill>
                    <a:srgbClr val="C8D8F0"/>
                  </a:solidFill>
                </a:rPr>
                <a:t> </a:t>
              </a:r>
              <a:r>
                <a:rPr lang="en-US" sz="1500" spc="-20" dirty="0">
                  <a:solidFill>
                    <a:srgbClr val="C8D8F0"/>
                  </a:solidFill>
                </a:rPr>
                <a:t>i </a:t>
              </a:r>
              <a:r>
                <a:rPr lang="en-US" sz="1500" spc="-20" dirty="0" err="1">
                  <a:solidFill>
                    <a:srgbClr val="C8D8F0"/>
                  </a:solidFill>
                </a:rPr>
                <a:t>akcji</a:t>
              </a:r>
              <a:r>
                <a:rPr lang="en-US" sz="1500" spc="-20" dirty="0">
                  <a:solidFill>
                    <a:srgbClr val="C8D8F0"/>
                  </a:solidFill>
                </a:rPr>
                <a:t> </a:t>
              </a:r>
              <a:r>
                <a:rPr lang="en-US" sz="1500" b="1" spc="-20" dirty="0" smtClean="0">
                  <a:solidFill>
                    <a:srgbClr val="C8D8F0"/>
                  </a:solidFill>
                </a:rPr>
                <a:t>a</a:t>
              </a:r>
              <a:r>
                <a:rPr lang="en-US" sz="1500" b="1" spc="-20" baseline="-25000" dirty="0" smtClean="0">
                  <a:solidFill>
                    <a:srgbClr val="C8D8F0"/>
                  </a:solidFill>
                </a:rPr>
                <a:t>t</a:t>
              </a:r>
              <a:r>
                <a:rPr lang="en-US" sz="1500" spc="-20" dirty="0">
                  <a:solidFill>
                    <a:srgbClr val="C8D8F0"/>
                  </a:solidFill>
                </a:rPr>
                <a:t>: </a:t>
              </a:r>
              <a:r>
                <a:rPr lang="en-US" sz="1500" b="1" spc="-20" dirty="0" smtClean="0">
                  <a:solidFill>
                    <a:srgbClr val="C8D8F0"/>
                  </a:solidFill>
                </a:rPr>
                <a:t>f(</a:t>
              </a:r>
              <a:r>
                <a:rPr lang="en-US" sz="1500" b="1" spc="-20" dirty="0" err="1" smtClean="0">
                  <a:solidFill>
                    <a:srgbClr val="C8D8F0"/>
                  </a:solidFill>
                </a:rPr>
                <a:t>s</a:t>
              </a:r>
              <a:r>
                <a:rPr lang="en-US" sz="1500" b="1" spc="-20" baseline="-25000" dirty="0" err="1" smtClean="0">
                  <a:solidFill>
                    <a:srgbClr val="C8D8F0"/>
                  </a:solidFill>
                </a:rPr>
                <a:t>t</a:t>
              </a:r>
              <a:r>
                <a:rPr lang="en-US" sz="1500" b="1" spc="-20" dirty="0">
                  <a:solidFill>
                    <a:srgbClr val="C8D8F0"/>
                  </a:solidFill>
                </a:rPr>
                <a:t>, </a:t>
              </a:r>
              <a:r>
                <a:rPr lang="en-US" sz="1500" b="1" spc="-20" dirty="0" smtClean="0">
                  <a:solidFill>
                    <a:srgbClr val="C8D8F0"/>
                  </a:solidFill>
                </a:rPr>
                <a:t>a</a:t>
              </a:r>
              <a:r>
                <a:rPr lang="en-US" sz="1500" b="1" spc="-20" baseline="-25000" dirty="0" smtClean="0">
                  <a:solidFill>
                    <a:srgbClr val="C8D8F0"/>
                  </a:solidFill>
                </a:rPr>
                <a:t>t</a:t>
              </a:r>
              <a:r>
                <a:rPr lang="en-US" sz="1500" b="1" spc="-20" dirty="0">
                  <a:solidFill>
                    <a:srgbClr val="C8D8F0"/>
                  </a:solidFill>
                </a:rPr>
                <a:t>) </a:t>
              </a:r>
              <a:r>
                <a:rPr lang="en-US" sz="1500" spc="-20" dirty="0">
                  <a:solidFill>
                    <a:srgbClr val="C8D8F0"/>
                  </a:solidFill>
                </a:rPr>
                <a:t>→ </a:t>
              </a:r>
              <a:r>
                <a:rPr lang="en-US" sz="1500" b="1" spc="-20" dirty="0" smtClean="0">
                  <a:solidFill>
                    <a:srgbClr val="C8D8F0"/>
                  </a:solidFill>
                </a:rPr>
                <a:t>s</a:t>
              </a:r>
              <a:r>
                <a:rPr lang="en-US" sz="1500" b="1" spc="-20" baseline="-25000" dirty="0" smtClean="0">
                  <a:solidFill>
                    <a:srgbClr val="C8D8F0"/>
                  </a:solidFill>
                </a:rPr>
                <a:t>t+1</a:t>
              </a:r>
              <a:r>
                <a:rPr lang="en-US" sz="1500" spc="-20" dirty="0" smtClean="0">
                  <a:solidFill>
                    <a:srgbClr val="C8D8F0"/>
                  </a:solidFill>
                </a:rPr>
                <a:t> </a:t>
              </a:r>
              <a:r>
                <a:rPr lang="pl-PL" sz="1500" spc="-20" dirty="0" smtClean="0">
                  <a:solidFill>
                    <a:srgbClr val="C8D8F0"/>
                  </a:solidFill>
                </a:rPr>
                <a:t/>
              </a:r>
              <a:br>
                <a:rPr lang="pl-PL" sz="1500" spc="-20" dirty="0" smtClean="0">
                  <a:solidFill>
                    <a:srgbClr val="C8D8F0"/>
                  </a:solidFill>
                </a:rPr>
              </a:br>
              <a:r>
                <a:rPr lang="en-US" sz="1500" spc="-20" dirty="0" err="1" smtClean="0">
                  <a:solidFill>
                    <a:srgbClr val="C8D8F0"/>
                  </a:solidFill>
                </a:rPr>
                <a:t>Serce</a:t>
              </a:r>
              <a:r>
                <a:rPr lang="en-US" sz="1500" spc="-20" dirty="0" smtClean="0">
                  <a:solidFill>
                    <a:srgbClr val="C8D8F0"/>
                  </a:solidFill>
                </a:rPr>
                <a:t> </a:t>
              </a:r>
              <a:r>
                <a:rPr lang="en-US" sz="1500" spc="-20" dirty="0">
                  <a:solidFill>
                    <a:srgbClr val="C8D8F0"/>
                  </a:solidFill>
                </a:rPr>
                <a:t>modelu dynamiki.</a:t>
              </a:r>
              <a:endParaRPr lang="en-US" sz="1500" spc="-2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754880" y="1463040"/>
              <a:ext cx="4206240" cy="129844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4754880" y="1463040"/>
              <a:ext cx="54864" cy="1298448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937760" y="155448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8C42"/>
                  </a:solidFill>
                </a:rPr>
                <a:t>Model nagrody / celu</a:t>
              </a:r>
              <a:endParaRPr lang="en-US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937760" y="1901952"/>
              <a:ext cx="3886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500" spc="-20" dirty="0">
                  <a:solidFill>
                    <a:srgbClr val="C8D8F0"/>
                  </a:solidFill>
                </a:rPr>
                <a:t>Ocenia atrakcyjnosc stanu w kontekscie zadania. Moze byc trenowany z danych RLHF lub na podstawie specyfikacji celu (VLM).</a:t>
              </a:r>
              <a:endParaRPr lang="en-US" sz="1500" spc="-2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54880" y="2880360"/>
              <a:ext cx="4206240" cy="1298448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4754880" y="2880360"/>
              <a:ext cx="54864" cy="1298448"/>
            </a:xfrm>
            <a:prstGeom prst="rect">
              <a:avLst/>
            </a:prstGeom>
            <a:solidFill>
              <a:srgbClr val="9B5DE5"/>
            </a:solidFill>
            <a:ln w="12700">
              <a:solidFill>
                <a:srgbClr val="9B5D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4937760" y="2971800"/>
              <a:ext cx="3840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9B5DE5"/>
                  </a:solidFill>
                </a:rPr>
                <a:t>Dekoder obserwacji</a:t>
              </a: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937760" y="3319272"/>
              <a:ext cx="38862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r>
                <a:rPr lang="en-US" sz="1500" spc="-40" dirty="0">
                  <a:solidFill>
                    <a:srgbClr val="C8D8F0"/>
                  </a:solidFill>
                </a:rPr>
                <a:t>Opcjonalnie rekonstruuje przestrzeń </a:t>
              </a:r>
              <a:r>
                <a:rPr lang="en-US" sz="1500" spc="-40" dirty="0" err="1">
                  <a:solidFill>
                    <a:srgbClr val="C8D8F0"/>
                  </a:solidFill>
                </a:rPr>
                <a:t>oryginalną</a:t>
              </a:r>
              <a:r>
                <a:rPr lang="en-US" sz="1500" spc="-40" dirty="0">
                  <a:solidFill>
                    <a:srgbClr val="C8D8F0"/>
                  </a:solidFill>
                </a:rPr>
                <a:t> </a:t>
              </a:r>
              <a:r>
                <a:rPr lang="pl-PL" sz="1500" spc="-40" dirty="0" smtClean="0">
                  <a:solidFill>
                    <a:srgbClr val="C8D8F0"/>
                  </a:solidFill>
                </a:rPr>
                <a:t/>
              </a:r>
              <a:br>
                <a:rPr lang="pl-PL" sz="1500" spc="-40" dirty="0" smtClean="0">
                  <a:solidFill>
                    <a:srgbClr val="C8D8F0"/>
                  </a:solidFill>
                </a:rPr>
              </a:br>
              <a:r>
                <a:rPr lang="en-US" sz="1500" spc="-40" dirty="0" smtClean="0">
                  <a:solidFill>
                    <a:srgbClr val="C8D8F0"/>
                  </a:solidFill>
                </a:rPr>
                <a:t>z </a:t>
              </a:r>
              <a:r>
                <a:rPr lang="en-US" sz="1500" spc="-40" dirty="0">
                  <a:solidFill>
                    <a:srgbClr val="C8D8F0"/>
                  </a:solidFill>
                </a:rPr>
                <a:t>latentnej (model RSSM Dreamer). Umożliwia introspeksję i weryfikację wewnętrznej mapy świata.</a:t>
              </a:r>
              <a:endParaRPr lang="en-US" sz="1500" spc="-4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4526280" y="1463040"/>
              <a:ext cx="228600" cy="2715768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498848" y="260604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chemeClr val="bg1"/>
                  </a:solidFill>
                </a:rPr>
                <a:t>↔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Trenowanie modeli WMA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</a:t>
            </a: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uczenia</a:t>
            </a:r>
            <a:r>
              <a:rPr lang="en-US" sz="1600" dirty="0" smtClean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od </a:t>
            </a: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symulacji do fizycznego robota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417320"/>
            <a:ext cx="27432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59537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159537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/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4930" y="1544742"/>
            <a:ext cx="2167128" cy="51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50" dirty="0">
                <a:solidFill>
                  <a:srgbClr val="FFFFFF"/>
                </a:solidFill>
              </a:rPr>
              <a:t>Uczenie ze wzmocnieniem (RL)</a:t>
            </a:r>
            <a:endParaRPr lang="en-US" sz="1600" spc="-50" dirty="0"/>
          </a:p>
        </p:txBody>
      </p:sp>
      <p:sp>
        <p:nvSpPr>
          <p:cNvPr id="13" name="Shape 11"/>
          <p:cNvSpPr/>
          <p:nvPr/>
        </p:nvSpPr>
        <p:spPr>
          <a:xfrm>
            <a:off x="502920" y="2425500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4436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Środowiska symulacyjne: Isaac Lab, MuJoCo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047292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6615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Reward shaping dla zadań manipulacji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669084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8795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Sim-to-Real transfer z domain randomization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290876"/>
            <a:ext cx="109728" cy="10972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0974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Stabilizacja przez PPO, SAC lub TD-MPC2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18688" y="1417320"/>
            <a:ext cx="2743200" cy="338328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1417320"/>
            <a:ext cx="27432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28416" y="159537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28416" y="159537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/>
              <a:t>2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785616" y="1544742"/>
            <a:ext cx="2011680" cy="51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50" dirty="0">
                <a:solidFill>
                  <a:srgbClr val="FFFFFF"/>
                </a:solidFill>
              </a:rPr>
              <a:t>Uczenie z demonstracji (IL/BC)</a:t>
            </a:r>
            <a:endParaRPr lang="en-US" sz="1600" spc="-50" dirty="0"/>
          </a:p>
        </p:txBody>
      </p:sp>
      <p:sp>
        <p:nvSpPr>
          <p:cNvPr id="26" name="Shape 24"/>
          <p:cNvSpPr/>
          <p:nvPr/>
        </p:nvSpPr>
        <p:spPr>
          <a:xfrm>
            <a:off x="3401568" y="2432934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24436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Teleoperacja w przestrzeni VR/joystick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401568" y="3054726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86615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Imitation Learning z dataset G1 EDU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01568" y="3676518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48795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 smtClean="0">
                <a:solidFill>
                  <a:srgbClr val="C8D8F0"/>
                </a:solidFill>
              </a:rPr>
              <a:t>DAgger</a:t>
            </a:r>
            <a:r>
              <a:rPr lang="en-US" sz="1400" dirty="0" smtClean="0">
                <a:solidFill>
                  <a:srgbClr val="C8D8F0"/>
                </a:solidFill>
              </a:rPr>
              <a:t>: </a:t>
            </a:r>
            <a:r>
              <a:rPr lang="en-US" sz="1400" dirty="0" err="1" smtClean="0">
                <a:solidFill>
                  <a:srgbClr val="C8D8F0"/>
                </a:solidFill>
              </a:rPr>
              <a:t>iteracyjne</a:t>
            </a:r>
            <a:r>
              <a:rPr lang="en-US" sz="1400" dirty="0" smtClean="0">
                <a:solidFill>
                  <a:srgbClr val="C8D8F0"/>
                </a:solidFill>
              </a:rPr>
              <a:t> </a:t>
            </a:r>
            <a:r>
              <a:rPr lang="en-US" sz="1400" dirty="0">
                <a:solidFill>
                  <a:srgbClr val="C8D8F0"/>
                </a:solidFill>
              </a:rPr>
              <a:t>zbieranie danych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401568" y="4298310"/>
            <a:ext cx="109728" cy="10972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410974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Behavioral Cloning na trajektoriach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17336" y="1417320"/>
            <a:ext cx="2743200" cy="338328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1417320"/>
            <a:ext cx="274320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7064" y="159537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27064" y="159537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/>
              <a:t>3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684264" y="1544742"/>
            <a:ext cx="2011680" cy="51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-50" dirty="0">
                <a:solidFill>
                  <a:srgbClr val="FFFFFF"/>
                </a:solidFill>
              </a:rPr>
              <a:t>Uczenie z danych wideo (LWM)</a:t>
            </a:r>
            <a:endParaRPr lang="en-US" sz="1600" spc="-50" dirty="0"/>
          </a:p>
        </p:txBody>
      </p:sp>
      <p:sp>
        <p:nvSpPr>
          <p:cNvPr id="39" name="Shape 37"/>
          <p:cNvSpPr/>
          <p:nvPr/>
        </p:nvSpPr>
        <p:spPr>
          <a:xfrm>
            <a:off x="6300216" y="2477538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224436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Pasywne modelowanie świata z YT/internetu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00216" y="3099330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286615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Pretrain na ogólnych danych wizualnych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300216" y="3721122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348795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Fine-tuning na danych robotycznych G1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300216" y="4342914"/>
            <a:ext cx="109728" cy="109728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410974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Latent video prediction (RSSM, DreamerV3)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Implementacja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WMA: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Unitree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EDU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Praktyczny pipeline od konfiguracji do wdrożenia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206240" cy="166420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54864" cy="1664208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8498" y="157276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49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2020" y="1554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Konfiguracja środowiska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10540" y="2084832"/>
            <a:ext cx="91440" cy="91440"/>
          </a:xfrm>
          <a:prstGeom prst="ellipse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708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Isaac Lab + G1 URDF asset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0540" y="2395728"/>
            <a:ext cx="91440" cy="91440"/>
          </a:xfrm>
          <a:prstGeom prst="ellipse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708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Unitree SDK2 bridge do ROS2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0540" y="2706624"/>
            <a:ext cx="91440" cy="91440"/>
          </a:xfrm>
          <a:prstGeom prst="ellipse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708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Domain Randomization config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4206240" cy="166420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63040"/>
            <a:ext cx="54864" cy="16642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09058" y="157276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905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02580" y="1554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Trening World Model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991100" y="2084832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2268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RSSM / DreamerV3 na Isaac Lab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91100" y="2395728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2268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64M rolloutów (sim)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91100" y="2706624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2268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Checkpoint co 1000 epizodów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246120"/>
            <a:ext cx="4206240" cy="166420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46120"/>
            <a:ext cx="54864" cy="16642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8498" y="3355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498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68680" y="3337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Trening Policy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10540" y="386791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70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TD-MPC2 z zamrożonym WM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0540" y="417880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708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Reward: task success + smoothness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10540" y="448970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708" y="4416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Batch size 512 na GPU A100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3246120"/>
            <a:ext cx="4206240" cy="1664208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246120"/>
            <a:ext cx="54864" cy="16642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09058" y="3355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9058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5402580" y="3337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Sim-to-Real Transfer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991100" y="3867912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9226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Randomizacja masy / tarcia / opóźnień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991100" y="4178808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2268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Adaptacja online (RMA module)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991100" y="4489704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92268" y="4416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</a:rPr>
              <a:t>Kalibracja na fizycznym G1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BB"/>
                </a:solidFill>
              </a:rPr>
              <a:t>WMA / VLA • Unitree G1 EDU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 vs 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VLA: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podejść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wybrać które rozwiązanie?</a:t>
            </a:r>
            <a:endParaRPr lang="en-US" sz="1600" dirty="0"/>
          </a:p>
        </p:txBody>
      </p:sp>
      <p:grpSp>
        <p:nvGrpSpPr>
          <p:cNvPr id="56" name="Grupa 55"/>
          <p:cNvGrpSpPr/>
          <p:nvPr/>
        </p:nvGrpSpPr>
        <p:grpSpPr>
          <a:xfrm>
            <a:off x="274320" y="1252220"/>
            <a:ext cx="8595360" cy="3502152"/>
            <a:chOff x="274320" y="1417320"/>
            <a:chExt cx="8595360" cy="3502152"/>
          </a:xfrm>
        </p:grpSpPr>
        <p:sp>
          <p:nvSpPr>
            <p:cNvPr id="8" name="Shape 6"/>
            <p:cNvSpPr/>
            <p:nvPr/>
          </p:nvSpPr>
          <p:spPr>
            <a:xfrm>
              <a:off x="274320" y="1417320"/>
              <a:ext cx="8595360" cy="384048"/>
            </a:xfrm>
            <a:prstGeom prst="rect">
              <a:avLst/>
            </a:prstGeom>
            <a:solidFill>
              <a:srgbClr val="1246B8"/>
            </a:solidFill>
            <a:ln w="12700">
              <a:solidFill>
                <a:srgbClr val="1246B8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411480" y="1417320"/>
              <a:ext cx="28346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Kryterium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91840" y="1417320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0D4FF"/>
                  </a:solidFill>
                </a:rPr>
                <a:t>WMA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623560" y="1417320"/>
              <a:ext cx="22860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8C42"/>
                  </a:solidFill>
                </a:rPr>
                <a:t>VLA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955280" y="1417320"/>
              <a:ext cx="914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Lepszy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" y="1847088"/>
              <a:ext cx="8595360" cy="438912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411480" y="1847088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Wymagane dane treningowe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291840" y="1847088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Duże (~10k ep.)</a:t>
              </a:r>
              <a:endParaRPr lang="en-US" sz="14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623560" y="1847088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8C42"/>
                  </a:solidFill>
                </a:rPr>
                <a:t>Bardzo duże (MLM)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001000" y="1929384"/>
              <a:ext cx="804672" cy="274320"/>
            </a:xfrm>
            <a:prstGeom prst="roundRect">
              <a:avLst>
                <a:gd name="adj" fmla="val 26667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8001000" y="1929384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WMA</a:t>
              </a:r>
              <a:endParaRPr lang="en-US" sz="10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274320" y="2286000"/>
              <a:ext cx="8595360" cy="438912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11480" y="2286000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Złożoność obliczeniowa</a:t>
              </a:r>
              <a:endParaRPr lang="en-US" sz="1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3291840" y="2286000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Niska–średnia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623560" y="2286000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8C42"/>
                  </a:solidFill>
                </a:rPr>
                <a:t>Wysoka (GPU 80GB+)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8001000" y="2368296"/>
              <a:ext cx="804672" cy="274320"/>
            </a:xfrm>
            <a:prstGeom prst="roundRect">
              <a:avLst>
                <a:gd name="adj" fmla="val 26667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8001000" y="236829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WMA</a:t>
              </a:r>
              <a:endParaRPr lang="en-US" sz="10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274320" y="2724912"/>
              <a:ext cx="8595360" cy="438912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411480" y="2724912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Generalizacja na nowe zadania</a:t>
              </a:r>
              <a:endParaRPr lang="en-US" sz="14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291840" y="2724912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Ograniczona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623560" y="2724912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8C42"/>
                  </a:solidFill>
                </a:rPr>
                <a:t>✓ Zero-shot</a:t>
              </a:r>
              <a:endParaRPr lang="en-US" sz="14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001000" y="2807208"/>
              <a:ext cx="804672" cy="274320"/>
            </a:xfrm>
            <a:prstGeom prst="roundRect">
              <a:avLst>
                <a:gd name="adj" fmla="val 26667"/>
              </a:avLst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8001000" y="2807208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VLA</a:t>
              </a:r>
              <a:endParaRPr lang="en-US" sz="10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274320" y="3163824"/>
              <a:ext cx="8595360" cy="438912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411480" y="3163824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Obsługa języka naturalnego</a:t>
              </a:r>
              <a:endParaRPr lang="en-US" sz="1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3291840" y="3163824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Brak / ograniczona</a:t>
              </a:r>
              <a:endParaRPr lang="en-US" sz="14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5623560" y="3163824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8C42"/>
                  </a:solidFill>
                </a:rPr>
                <a:t>✓ Pełna</a:t>
              </a:r>
              <a:endParaRPr lang="en-US" sz="14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8001000" y="3246120"/>
              <a:ext cx="804672" cy="274320"/>
            </a:xfrm>
            <a:prstGeom prst="roundRect">
              <a:avLst>
                <a:gd name="adj" fmla="val 26667"/>
              </a:avLst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>
            <a:xfrm>
              <a:off x="8001000" y="3246120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VLA</a:t>
              </a:r>
              <a:endParaRPr lang="en-US" sz="10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274320" y="3602736"/>
              <a:ext cx="8595360" cy="438912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411480" y="3602736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Planowanie długoterminowe</a:t>
              </a:r>
              <a:endParaRPr lang="en-US" sz="14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3291840" y="3602736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✓ Doskonałe</a:t>
              </a:r>
              <a:endParaRPr lang="en-US" sz="14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5623560" y="3602736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8C42"/>
                  </a:solidFill>
                </a:rPr>
                <a:t>Średnie</a:t>
              </a:r>
              <a:endParaRPr lang="en-US" sz="140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8001000" y="3685032"/>
              <a:ext cx="804672" cy="274320"/>
            </a:xfrm>
            <a:prstGeom prst="roundRect">
              <a:avLst>
                <a:gd name="adj" fmla="val 26667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8001000" y="3685032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WMA</a:t>
              </a:r>
              <a:endParaRPr lang="en-US" sz="10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274320" y="4041648"/>
              <a:ext cx="8595360" cy="438912"/>
            </a:xfrm>
            <a:prstGeom prst="rect">
              <a:avLst/>
            </a:prstGeom>
            <a:solidFill>
              <a:srgbClr val="112240"/>
            </a:solidFill>
            <a:ln w="12700">
              <a:solidFill>
                <a:srgbClr val="11224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411480" y="4041648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Wymagania czasowe (real-time)</a:t>
              </a:r>
              <a:endParaRPr lang="en-US" sz="14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3291840" y="4041648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✓ &lt; 10 ms</a:t>
              </a:r>
              <a:endParaRPr lang="en-US" sz="14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5623560" y="4041648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8C42"/>
                  </a:solidFill>
                </a:rPr>
                <a:t>≈ 100 ms</a:t>
              </a:r>
              <a:endParaRPr lang="en-US" sz="14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8001000" y="4123944"/>
              <a:ext cx="804672" cy="274320"/>
            </a:xfrm>
            <a:prstGeom prst="roundRect">
              <a:avLst>
                <a:gd name="adj" fmla="val 26667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>
            <a:xfrm>
              <a:off x="8001000" y="4123944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WMA</a:t>
              </a:r>
              <a:endParaRPr lang="en-US" sz="105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274320" y="4480560"/>
              <a:ext cx="8595360" cy="438912"/>
            </a:xfrm>
            <a:prstGeom prst="rect">
              <a:avLst/>
            </a:prstGeom>
            <a:solidFill>
              <a:srgbClr val="0A1730"/>
            </a:solidFill>
            <a:ln w="12700">
              <a:solidFill>
                <a:srgbClr val="0A1730"/>
              </a:solidFill>
              <a:prstDash val="solid"/>
            </a:ln>
          </p:spPr>
        </p:sp>
        <p:sp>
          <p:nvSpPr>
            <p:cNvPr id="50" name="Text 48"/>
            <p:cNvSpPr/>
            <p:nvPr/>
          </p:nvSpPr>
          <p:spPr>
            <a:xfrm>
              <a:off x="411480" y="4480560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Interpretowalność modelu</a:t>
              </a:r>
              <a:endParaRPr lang="en-US" sz="14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3291840" y="4480560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0D4FF"/>
                  </a:solidFill>
                </a:rPr>
                <a:t>Wysoka</a:t>
              </a:r>
              <a:endParaRPr lang="en-US" sz="14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5623560" y="4480560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8C42"/>
                  </a:solidFill>
                </a:rPr>
                <a:t>Niska (black-box)</a:t>
              </a:r>
              <a:endParaRPr lang="en-US" sz="14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8001000" y="4562856"/>
              <a:ext cx="804672" cy="274320"/>
            </a:xfrm>
            <a:prstGeom prst="roundRect">
              <a:avLst>
                <a:gd name="adj" fmla="val 26667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8001000" y="4562856"/>
              <a:ext cx="80467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</a:rPr>
                <a:t>WMA</a:t>
              </a:r>
              <a:endParaRPr lang="en-US" sz="10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" y="4983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4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przez demonstrację (IL/BC)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Zbieranie danych dla modeli WMA i VLA na Unitree G1 EDU</a:t>
            </a:r>
            <a:endParaRPr lang="en-US" sz="1600" dirty="0"/>
          </a:p>
        </p:txBody>
      </p:sp>
      <p:grpSp>
        <p:nvGrpSpPr>
          <p:cNvPr id="35" name="Grupa 34"/>
          <p:cNvGrpSpPr/>
          <p:nvPr/>
        </p:nvGrpSpPr>
        <p:grpSpPr>
          <a:xfrm>
            <a:off x="274320" y="1178298"/>
            <a:ext cx="8458200" cy="2922532"/>
            <a:chOff x="274320" y="1463040"/>
            <a:chExt cx="8595360" cy="3236976"/>
          </a:xfrm>
        </p:grpSpPr>
        <p:sp>
          <p:nvSpPr>
            <p:cNvPr id="8" name="Shape 6"/>
            <p:cNvSpPr/>
            <p:nvPr/>
          </p:nvSpPr>
          <p:spPr>
            <a:xfrm>
              <a:off x="274320" y="1463040"/>
              <a:ext cx="8595360" cy="10058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274320" y="1463040"/>
              <a:ext cx="54864" cy="1005840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11480" y="1536192"/>
              <a:ext cx="6400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chemeClr val="bg1"/>
                  </a:solidFill>
                </a:rPr>
                <a:t>🕹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1143000" y="1554480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0D4FF"/>
                  </a:solidFill>
                </a:rPr>
                <a:t>Teleoperacja kinematyczna</a:t>
              </a:r>
              <a:endParaRPr lang="en-US" sz="20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143000" y="1901952"/>
              <a:ext cx="75895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Operator steruje G1 EDU za pomocą urządzeń haptycznych (Sigma.7) lub kontrolerów VR Quest 3. Lewa/prawa ręka mapowane 1:1 na stawy ramion i dłoni DEX3.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274320" y="2578608"/>
              <a:ext cx="8595360" cy="10058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274320" y="2578608"/>
              <a:ext cx="54864" cy="1005840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11480" y="2651760"/>
              <a:ext cx="6400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chemeClr val="bg1"/>
                  </a:solidFill>
                </a:rPr>
                <a:t>🎬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1143000" y="2670048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8C42"/>
                  </a:solidFill>
                </a:rPr>
                <a:t>Naśladowanie z wideo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143000" y="3017520"/>
              <a:ext cx="75895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Retargeting pozy człowieka (MediaPipe / DWPose) do przestrzeni stawów G1. Umożliwia bootstrapping z nagrań YouTube bez specjalistycznego sprzętu.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3694176"/>
              <a:ext cx="8595360" cy="10058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274320" y="3694176"/>
              <a:ext cx="54864" cy="1005840"/>
            </a:xfrm>
            <a:prstGeom prst="rect">
              <a:avLst/>
            </a:prstGeom>
            <a:solidFill>
              <a:srgbClr val="9B5DE5"/>
            </a:solidFill>
            <a:ln w="12700">
              <a:solidFill>
                <a:srgbClr val="9B5D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11480" y="3767328"/>
              <a:ext cx="64008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chemeClr val="bg1"/>
                  </a:solidFill>
                </a:rPr>
                <a:t>🖥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1143000" y="3785616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9B5DE5"/>
                  </a:solidFill>
                </a:rPr>
                <a:t>Synteza w symulacji</a:t>
              </a:r>
              <a:endParaRPr lang="en-US" sz="2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143000" y="4133088"/>
              <a:ext cx="75895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Generowanie trajektorii w Isaac Lab z losowymi warunkami początkowymi. Używane do augmentacji danych tam, gdzie zbiory rzeczywiste są małe.</a:t>
              </a:r>
              <a:endParaRPr lang="en-US" sz="14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274320" y="4283552"/>
            <a:ext cx="1920240" cy="35462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268978"/>
            <a:ext cx="1920240" cy="371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~5 000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65176" y="4685475"/>
            <a:ext cx="1920240" cy="15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 smtClean="0">
                <a:solidFill>
                  <a:srgbClr val="C8D8F0"/>
                </a:solidFill>
              </a:rPr>
              <a:t>Demonstracji</a:t>
            </a:r>
            <a:r>
              <a:rPr lang="pl-PL" sz="1200" dirty="0" smtClean="0">
                <a:solidFill>
                  <a:srgbClr val="C8D8F0"/>
                </a:solidFill>
              </a:rPr>
              <a:t> </a:t>
            </a:r>
            <a:r>
              <a:rPr lang="en-US" sz="1200" dirty="0" err="1" smtClean="0">
                <a:solidFill>
                  <a:srgbClr val="C8D8F0"/>
                </a:solidFill>
              </a:rPr>
              <a:t>zebranych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50592" y="4292600"/>
            <a:ext cx="1920240" cy="35462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50592" y="4275328"/>
            <a:ext cx="1920240" cy="371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43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450592" y="4695698"/>
            <a:ext cx="1920240" cy="189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C8D8F0"/>
                </a:solidFill>
              </a:rPr>
              <a:t>DOF</a:t>
            </a:r>
            <a:r>
              <a:rPr lang="pl-PL" sz="1200" dirty="0" smtClean="0">
                <a:solidFill>
                  <a:srgbClr val="C8D8F0"/>
                </a:solidFill>
              </a:rPr>
              <a:t> </a:t>
            </a:r>
            <a:r>
              <a:rPr lang="en-US" sz="1200" dirty="0" err="1" smtClean="0">
                <a:solidFill>
                  <a:srgbClr val="C8D8F0"/>
                </a:solidFill>
              </a:rPr>
              <a:t>nagrywanych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26864" y="4292600"/>
            <a:ext cx="1920240" cy="35462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26864" y="4275328"/>
            <a:ext cx="1920240" cy="371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1 000 Hz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26864" y="4711446"/>
            <a:ext cx="1920240" cy="180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200" dirty="0" smtClean="0">
                <a:solidFill>
                  <a:srgbClr val="C8D8F0"/>
                </a:solidFill>
              </a:rPr>
              <a:t>c</a:t>
            </a:r>
            <a:r>
              <a:rPr lang="en-US" sz="1200" dirty="0" err="1" smtClean="0">
                <a:solidFill>
                  <a:srgbClr val="C8D8F0"/>
                </a:solidFill>
              </a:rPr>
              <a:t>zęstotliwość</a:t>
            </a:r>
            <a:r>
              <a:rPr lang="pl-PL" sz="1200" dirty="0" smtClean="0">
                <a:solidFill>
                  <a:srgbClr val="C8D8F0"/>
                </a:solidFill>
              </a:rPr>
              <a:t> </a:t>
            </a:r>
            <a:r>
              <a:rPr lang="en-US" sz="1200" dirty="0" err="1" smtClean="0">
                <a:solidFill>
                  <a:srgbClr val="C8D8F0"/>
                </a:solidFill>
              </a:rPr>
              <a:t>própkowania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03136" y="4292600"/>
            <a:ext cx="1920240" cy="354626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03136" y="4292600"/>
            <a:ext cx="19202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D4FF"/>
                </a:solidFill>
              </a:rPr>
              <a:t>&lt; 2 tygodnie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03136" y="4692142"/>
            <a:ext cx="1920240" cy="19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C8D8F0"/>
                </a:solidFill>
              </a:rPr>
              <a:t>czas</a:t>
            </a:r>
            <a:r>
              <a:rPr lang="en-US" sz="1200" dirty="0">
                <a:solidFill>
                  <a:srgbClr val="C8D8F0"/>
                </a:solidFill>
              </a:rPr>
              <a:t> </a:t>
            </a:r>
            <a:r>
              <a:rPr lang="en-US" sz="1200" dirty="0" err="1" smtClean="0">
                <a:solidFill>
                  <a:srgbClr val="C8D8F0"/>
                </a:solidFill>
              </a:rPr>
              <a:t>zbioru</a:t>
            </a:r>
            <a:r>
              <a:rPr lang="pl-PL" sz="1200" dirty="0" smtClean="0">
                <a:solidFill>
                  <a:srgbClr val="C8D8F0"/>
                </a:solidFill>
              </a:rPr>
              <a:t> </a:t>
            </a:r>
            <a:r>
              <a:rPr lang="en-US" sz="1200" dirty="0" smtClean="0">
                <a:solidFill>
                  <a:srgbClr val="C8D8F0"/>
                </a:solidFill>
              </a:rPr>
              <a:t>dataset </a:t>
            </a:r>
            <a:r>
              <a:rPr lang="en-US" sz="1200" dirty="0">
                <a:solidFill>
                  <a:srgbClr val="C8D8F0"/>
                </a:solidFill>
              </a:rPr>
              <a:t>G1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Wyniki i benchmarki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WMA vs VLA na typowych zadaniach G1 EDU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987213484"/>
              </p:ext>
            </p:extLst>
          </p:nvPr>
        </p:nvGraphicFramePr>
        <p:xfrm>
          <a:off x="274320" y="1417320"/>
          <a:ext cx="4989056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504986" y="1456722"/>
            <a:ext cx="3441265" cy="2898648"/>
          </a:xfrm>
          <a:prstGeom prst="rect">
            <a:avLst/>
          </a:prstGeom>
          <a:solidFill>
            <a:srgbClr val="11224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97552" y="1456722"/>
            <a:ext cx="52588" cy="28986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47341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</a:rPr>
              <a:t>Kluczowe wnioski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683855" y="215789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68220" y="1956816"/>
            <a:ext cx="307803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50" dirty="0">
                <a:solidFill>
                  <a:srgbClr val="C8D8F0"/>
                </a:solidFill>
              </a:rPr>
              <a:t>WMA przeważa w zadaniach wymagających precyzji i planowania dynamicznego.</a:t>
            </a:r>
            <a:endParaRPr lang="en-US" sz="1400" spc="-50" dirty="0"/>
          </a:p>
        </p:txBody>
      </p:sp>
      <p:sp>
        <p:nvSpPr>
          <p:cNvPr id="14" name="Shape 11"/>
          <p:cNvSpPr/>
          <p:nvPr/>
        </p:nvSpPr>
        <p:spPr>
          <a:xfrm>
            <a:off x="5683855" y="273850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68220" y="2552292"/>
            <a:ext cx="307803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30" dirty="0">
                <a:solidFill>
                  <a:srgbClr val="C8D8F0"/>
                </a:solidFill>
              </a:rPr>
              <a:t>VLA lepiej generalizuje na warianty scenariuszy nieobjętych treningiem.</a:t>
            </a:r>
            <a:endParaRPr lang="en-US" sz="1400" spc="-30" dirty="0"/>
          </a:p>
        </p:txBody>
      </p:sp>
      <p:sp>
        <p:nvSpPr>
          <p:cNvPr id="16" name="Shape 13"/>
          <p:cNvSpPr/>
          <p:nvPr/>
        </p:nvSpPr>
        <p:spPr>
          <a:xfrm>
            <a:off x="5683855" y="334141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68220" y="3140334"/>
            <a:ext cx="307803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30" dirty="0">
                <a:solidFill>
                  <a:srgbClr val="C8D8F0"/>
                </a:solidFill>
              </a:rPr>
              <a:t>Hybryda WMA+VLA osiąga &gt;90% we wszystkich kategoriach.</a:t>
            </a:r>
            <a:endParaRPr lang="en-US" sz="1400" spc="-30" dirty="0"/>
          </a:p>
        </p:txBody>
      </p:sp>
      <p:sp>
        <p:nvSpPr>
          <p:cNvPr id="18" name="Shape 15"/>
          <p:cNvSpPr/>
          <p:nvPr/>
        </p:nvSpPr>
        <p:spPr>
          <a:xfrm>
            <a:off x="5683855" y="392945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68220" y="3691206"/>
            <a:ext cx="307803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spc="-30" dirty="0">
                <a:solidFill>
                  <a:srgbClr val="C8D8F0"/>
                </a:solidFill>
              </a:rPr>
              <a:t>G1 EDU przy ograniczonej pamięci GPU premiuje WMA (2× szybszy inference).</a:t>
            </a:r>
            <a:endParaRPr lang="en-US" sz="1400" spc="-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60" y="4983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Wyzwania i ograniczenia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bariery przy wdrożeniu WMA/VLA na G1 EDU</a:t>
            </a:r>
            <a:endParaRPr lang="en-US" sz="1600" dirty="0"/>
          </a:p>
        </p:txBody>
      </p:sp>
      <p:grpSp>
        <p:nvGrpSpPr>
          <p:cNvPr id="38" name="Grupa 37"/>
          <p:cNvGrpSpPr/>
          <p:nvPr/>
        </p:nvGrpSpPr>
        <p:grpSpPr>
          <a:xfrm>
            <a:off x="274320" y="1078848"/>
            <a:ext cx="8686800" cy="3773568"/>
            <a:chOff x="274320" y="1463040"/>
            <a:chExt cx="8686800" cy="3511296"/>
          </a:xfrm>
        </p:grpSpPr>
        <p:sp>
          <p:nvSpPr>
            <p:cNvPr id="8" name="Shape 6"/>
            <p:cNvSpPr/>
            <p:nvPr/>
          </p:nvSpPr>
          <p:spPr>
            <a:xfrm>
              <a:off x="274320" y="1463040"/>
              <a:ext cx="4206240" cy="10972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384048" y="1572768"/>
              <a:ext cx="1112446" cy="256032"/>
            </a:xfrm>
            <a:prstGeom prst="roundRect">
              <a:avLst>
                <a:gd name="adj" fmla="val 28571"/>
              </a:avLst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384048" y="1572768"/>
              <a:ext cx="111244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/>
                <a:t>Obliczenia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573437" y="1554480"/>
              <a:ext cx="2686987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Koszt obliczeniowy VLA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54312" y="1901952"/>
              <a:ext cx="409651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spc="-80" dirty="0">
                  <a:solidFill>
                    <a:srgbClr val="C8D8F0"/>
                  </a:solidFill>
                </a:rPr>
                <a:t>Modele VLA (7B+) wymagają GPU &gt;20GB VRAM. G1 EDU ma </a:t>
              </a:r>
              <a:r>
                <a:rPr lang="en-US" sz="1400" spc="-80" dirty="0" err="1">
                  <a:solidFill>
                    <a:srgbClr val="C8D8F0"/>
                  </a:solidFill>
                </a:rPr>
                <a:t>wbudowany</a:t>
              </a:r>
              <a:r>
                <a:rPr lang="en-US" sz="1400" spc="-80" dirty="0">
                  <a:solidFill>
                    <a:srgbClr val="C8D8F0"/>
                  </a:solidFill>
                </a:rPr>
                <a:t> </a:t>
              </a:r>
              <a:r>
                <a:rPr lang="en-US" sz="1400" spc="-80" dirty="0" smtClean="0">
                  <a:solidFill>
                    <a:srgbClr val="C8D8F0"/>
                  </a:solidFill>
                </a:rPr>
                <a:t>i5: </a:t>
              </a:r>
              <a:r>
                <a:rPr lang="en-US" sz="1400" spc="-80" dirty="0" err="1" smtClean="0">
                  <a:solidFill>
                    <a:srgbClr val="C8D8F0"/>
                  </a:solidFill>
                </a:rPr>
                <a:t>konieczny</a:t>
              </a:r>
              <a:r>
                <a:rPr lang="en-US" sz="1400" spc="-80" dirty="0" smtClean="0">
                  <a:solidFill>
                    <a:srgbClr val="C8D8F0"/>
                  </a:solidFill>
                </a:rPr>
                <a:t> </a:t>
              </a:r>
              <a:r>
                <a:rPr lang="en-US" sz="1400" spc="-80" dirty="0">
                  <a:solidFill>
                    <a:srgbClr val="C8D8F0"/>
                  </a:solidFill>
                </a:rPr>
                <a:t>offload na zewnętrzny serwer. Latencja 80–120 ms może być nieakceptowalna dla zadań szybkich.</a:t>
              </a:r>
              <a:endParaRPr lang="en-US" sz="1400" spc="-8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54880" y="1463040"/>
              <a:ext cx="4206240" cy="10972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864608" y="1572768"/>
              <a:ext cx="1112446" cy="256032"/>
            </a:xfrm>
            <a:prstGeom prst="roundRect">
              <a:avLst>
                <a:gd name="adj" fmla="val 28571"/>
              </a:avLst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4864608" y="1572768"/>
              <a:ext cx="111244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/>
                <a:t>Dane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113470" y="1554480"/>
              <a:ext cx="2751007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Brak dużych zbiorów danych</a:t>
              </a: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864608" y="1901952"/>
              <a:ext cx="400507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spc="-20" dirty="0">
                  <a:solidFill>
                    <a:srgbClr val="C8D8F0"/>
                  </a:solidFill>
                </a:rPr>
                <a:t>Otwarte datasety dla G1 EDU są ograniczone. Zbieranie danych jest kosztowne (~8 h/dobę). Brak ekwiwalentu ImageNet dla robotyki humanoidalnej.</a:t>
              </a:r>
              <a:endParaRPr lang="en-US" sz="1400" spc="-2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274320" y="2670048"/>
              <a:ext cx="4206240" cy="10972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384048" y="2779776"/>
              <a:ext cx="1112446" cy="256032"/>
            </a:xfrm>
            <a:prstGeom prst="roundRect">
              <a:avLst>
                <a:gd name="adj" fmla="val 28571"/>
              </a:avLst>
            </a:prstGeom>
            <a:solidFill>
              <a:srgbClr val="9B5DE5"/>
            </a:solidFill>
            <a:ln w="12700">
              <a:solidFill>
                <a:srgbClr val="9B5DE5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0" name="Text 18"/>
            <p:cNvSpPr/>
            <p:nvPr/>
          </p:nvSpPr>
          <p:spPr>
            <a:xfrm>
              <a:off x="384048" y="2779776"/>
              <a:ext cx="111244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/>
                <a:t>Transfer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573437" y="2761488"/>
              <a:ext cx="2686987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Luka sim-to-real</a:t>
              </a: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84048" y="3108960"/>
              <a:ext cx="400507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spc="-20" dirty="0">
                  <a:solidFill>
                    <a:srgbClr val="C8D8F0"/>
                  </a:solidFill>
                </a:rPr>
                <a:t>Różnice w kontakcie, tarciu i elastyczności powodują degradację polityki. Domain randomization częściowo kompensuje, ale nie eliminuje problemu.</a:t>
              </a:r>
              <a:endParaRPr lang="en-US" sz="1400" spc="-2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54880" y="2670048"/>
              <a:ext cx="4206240" cy="10972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864608" y="2779776"/>
              <a:ext cx="1112446" cy="256032"/>
            </a:xfrm>
            <a:prstGeom prst="roundRect">
              <a:avLst>
                <a:gd name="adj" fmla="val 28571"/>
              </a:avLst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25" name="Text 23"/>
            <p:cNvSpPr/>
            <p:nvPr/>
          </p:nvSpPr>
          <p:spPr>
            <a:xfrm>
              <a:off x="4864608" y="2779776"/>
              <a:ext cx="111244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/>
                <a:t>Bezpieczeństwo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113470" y="2761488"/>
              <a:ext cx="2751007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Weryfikacja zachowania</a:t>
              </a:r>
              <a:endParaRPr lang="en-US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864608" y="3108960"/>
              <a:ext cx="400507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spc="-20" dirty="0">
                  <a:solidFill>
                    <a:srgbClr val="C8D8F0"/>
                  </a:solidFill>
                </a:rPr>
                <a:t>Czarne skrzynki VLA trudne do formalnej weryfikacji. Brak gwarancji że model nie wygeneruje niebezpiecznych ruchów w dystrybucji OOD.</a:t>
              </a:r>
              <a:endParaRPr lang="en-US" sz="1400" spc="-2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74320" y="3877056"/>
              <a:ext cx="4206240" cy="10972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9" name="Shape 27"/>
            <p:cNvSpPr/>
            <p:nvPr/>
          </p:nvSpPr>
          <p:spPr>
            <a:xfrm>
              <a:off x="384048" y="3986784"/>
              <a:ext cx="1112446" cy="256032"/>
            </a:xfrm>
            <a:prstGeom prst="roundRect">
              <a:avLst>
                <a:gd name="adj" fmla="val 28571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30" name="Text 28"/>
            <p:cNvSpPr/>
            <p:nvPr/>
          </p:nvSpPr>
          <p:spPr>
            <a:xfrm>
              <a:off x="384048" y="3986784"/>
              <a:ext cx="111244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/>
                <a:t>Longterm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573437" y="3968496"/>
              <a:ext cx="2815683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Planowanie długoterminowe</a:t>
              </a:r>
              <a:endParaRPr lang="en-US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384048" y="4315968"/>
              <a:ext cx="400507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spc="-20" dirty="0">
                  <a:solidFill>
                    <a:srgbClr val="C8D8F0"/>
                  </a:solidFill>
                </a:rPr>
                <a:t>Zarówno WMA jak i VLA mają trudności z zadaniami wymagającymi &gt;20 kroków akcji. Memory augmentation (tokenizacja historii) jest aktywnym obszarem badań.</a:t>
              </a:r>
              <a:endParaRPr lang="en-US" sz="1400" spc="-2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754879" y="3877056"/>
              <a:ext cx="4206241" cy="10972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4" name="Shape 32"/>
            <p:cNvSpPr/>
            <p:nvPr/>
          </p:nvSpPr>
          <p:spPr>
            <a:xfrm>
              <a:off x="4864608" y="3986784"/>
              <a:ext cx="1112446" cy="256032"/>
            </a:xfrm>
            <a:prstGeom prst="roundRect">
              <a:avLst>
                <a:gd name="adj" fmla="val 28571"/>
              </a:avLst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35" name="Text 33"/>
            <p:cNvSpPr/>
            <p:nvPr/>
          </p:nvSpPr>
          <p:spPr>
            <a:xfrm>
              <a:off x="4864608" y="3986784"/>
              <a:ext cx="111244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/>
                <a:t>Multimodalność</a:t>
              </a:r>
              <a:endParaRPr lang="en-US" sz="12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113470" y="3968496"/>
              <a:ext cx="2751007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Integracja zmysłu dotyku</a:t>
              </a:r>
              <a:endParaRPr lang="en-US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4864608" y="4315968"/>
              <a:ext cx="3996893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spc="-20" dirty="0">
                  <a:solidFill>
                    <a:srgbClr val="C8D8F0"/>
                  </a:solidFill>
                </a:rPr>
                <a:t>G1 DEX3 posiada sensory siły, ale ich integracja z VLA jest nierozwiązana. Taktylna informacja zwrotna kluczowa dla manipulacji deformowalnymi obiektami.</a:t>
              </a:r>
              <a:endParaRPr lang="en-US" sz="1400" spc="-2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0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Zastosowania praktyczne G1 EDU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Domeny wdrożeń modeli WMA i VLA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697480" cy="155448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26974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54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🏭</a:t>
            </a:r>
          </a:p>
        </p:txBody>
      </p:sp>
      <p:sp>
        <p:nvSpPr>
          <p:cNvPr id="11" name="Text 9"/>
          <p:cNvSpPr/>
          <p:nvPr/>
        </p:nvSpPr>
        <p:spPr>
          <a:xfrm>
            <a:off x="274320" y="202023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</a:rPr>
              <a:t>Przemysł 4.0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" y="22573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</a:rPr>
              <a:t>Inspekcja wizualna, montaż drobnych komponentów, logistyka wewnętrzna.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2761488"/>
            <a:ext cx="1325880" cy="201168"/>
          </a:xfrm>
          <a:prstGeom prst="roundRect">
            <a:avLst>
              <a:gd name="adj" fmla="val 36364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761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WMA + VLA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1463040"/>
            <a:ext cx="2697480" cy="155448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463040"/>
            <a:ext cx="269748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554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🏥</a:t>
            </a:r>
          </a:p>
        </p:txBody>
      </p:sp>
      <p:sp>
        <p:nvSpPr>
          <p:cNvPr id="18" name="Text 16"/>
          <p:cNvSpPr/>
          <p:nvPr/>
        </p:nvSpPr>
        <p:spPr>
          <a:xfrm>
            <a:off x="3154680" y="202023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</a:rPr>
              <a:t>Medycyna i opieka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64408" y="229455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</a:rPr>
              <a:t>Asystowanie pielęgniarskie, podawanie leków, telerehabilitacja.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2761488"/>
            <a:ext cx="1325880" cy="201168"/>
          </a:xfrm>
          <a:prstGeom prst="roundRect">
            <a:avLst>
              <a:gd name="adj" fmla="val 36364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761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VLA</a:t>
            </a:r>
            <a:endParaRPr lang="en-US" sz="1400" dirty="0"/>
          </a:p>
        </p:txBody>
      </p:sp>
      <p:grpSp>
        <p:nvGrpSpPr>
          <p:cNvPr id="50" name="Grupa 49"/>
          <p:cNvGrpSpPr/>
          <p:nvPr/>
        </p:nvGrpSpPr>
        <p:grpSpPr>
          <a:xfrm>
            <a:off x="6035040" y="1461262"/>
            <a:ext cx="2697480" cy="1554480"/>
            <a:chOff x="6035040" y="3182112"/>
            <a:chExt cx="2697480" cy="1554480"/>
          </a:xfrm>
        </p:grpSpPr>
        <p:sp>
          <p:nvSpPr>
            <p:cNvPr id="22" name="Shape 20"/>
            <p:cNvSpPr/>
            <p:nvPr/>
          </p:nvSpPr>
          <p:spPr>
            <a:xfrm>
              <a:off x="6035040" y="3182112"/>
              <a:ext cx="2697480" cy="15544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3" name="Shape 21"/>
            <p:cNvSpPr/>
            <p:nvPr/>
          </p:nvSpPr>
          <p:spPr>
            <a:xfrm>
              <a:off x="6035040" y="3182112"/>
              <a:ext cx="2697480" cy="64008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035040" y="3273552"/>
              <a:ext cx="26974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</a:rPr>
                <a:t>🔬</a:t>
              </a:r>
            </a:p>
          </p:txBody>
        </p:sp>
        <p:sp>
          <p:nvSpPr>
            <p:cNvPr id="25" name="Text 23"/>
            <p:cNvSpPr/>
            <p:nvPr/>
          </p:nvSpPr>
          <p:spPr>
            <a:xfrm>
              <a:off x="6035040" y="3731868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8C42"/>
                  </a:solidFill>
                </a:rPr>
                <a:t>Badania naukowe</a:t>
              </a:r>
              <a:endParaRPr lang="en-US" sz="20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144768" y="4006188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Automatyzacja laboratorium, pipetowanie, przygotowanie próbek.</a:t>
              </a:r>
              <a:endParaRPr lang="en-US" sz="12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6720840" y="4480560"/>
              <a:ext cx="1325880" cy="201168"/>
            </a:xfrm>
            <a:prstGeom prst="roundRect">
              <a:avLst>
                <a:gd name="adj" fmla="val 36364"/>
              </a:avLst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6720840" y="4480560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WMA + VLA</a:t>
              </a:r>
              <a:endParaRPr lang="en-US" sz="1400" dirty="0"/>
            </a:p>
          </p:txBody>
        </p:sp>
      </p:grpSp>
      <p:sp>
        <p:nvSpPr>
          <p:cNvPr id="29" name="Shape 27"/>
          <p:cNvSpPr/>
          <p:nvPr/>
        </p:nvSpPr>
        <p:spPr>
          <a:xfrm>
            <a:off x="274320" y="3182112"/>
            <a:ext cx="2697480" cy="155448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182112"/>
            <a:ext cx="2697480" cy="640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735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</a:rPr>
              <a:t>🎓</a:t>
            </a:r>
          </a:p>
        </p:txBody>
      </p:sp>
      <p:sp>
        <p:nvSpPr>
          <p:cNvPr id="32" name="Text 30"/>
          <p:cNvSpPr/>
          <p:nvPr/>
        </p:nvSpPr>
        <p:spPr>
          <a:xfrm>
            <a:off x="274320" y="372443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B5DE5"/>
                </a:solidFill>
              </a:rPr>
              <a:t>Edukacja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84048" y="399875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D8F0"/>
                </a:solidFill>
              </a:rPr>
              <a:t>Demonstracje fizyczne, tutoring kinetyczny, robotyka dla szkół.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" y="4480560"/>
            <a:ext cx="1325880" cy="201168"/>
          </a:xfrm>
          <a:prstGeom prst="roundRect">
            <a:avLst>
              <a:gd name="adj" fmla="val 36364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4480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VLA</a:t>
            </a:r>
            <a:endParaRPr lang="en-US" sz="1400" dirty="0"/>
          </a:p>
        </p:txBody>
      </p:sp>
      <p:grpSp>
        <p:nvGrpSpPr>
          <p:cNvPr id="51" name="Grupa 50"/>
          <p:cNvGrpSpPr/>
          <p:nvPr/>
        </p:nvGrpSpPr>
        <p:grpSpPr>
          <a:xfrm>
            <a:off x="3154680" y="3180334"/>
            <a:ext cx="2697480" cy="1554480"/>
            <a:chOff x="3154680" y="4901184"/>
            <a:chExt cx="2697480" cy="1554480"/>
          </a:xfrm>
        </p:grpSpPr>
        <p:sp>
          <p:nvSpPr>
            <p:cNvPr id="36" name="Shape 34"/>
            <p:cNvSpPr/>
            <p:nvPr/>
          </p:nvSpPr>
          <p:spPr>
            <a:xfrm>
              <a:off x="3154680" y="4901184"/>
              <a:ext cx="2697480" cy="15544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37" name="Shape 35"/>
            <p:cNvSpPr/>
            <p:nvPr/>
          </p:nvSpPr>
          <p:spPr>
            <a:xfrm>
              <a:off x="3154680" y="4901184"/>
              <a:ext cx="2697480" cy="64008"/>
            </a:xfrm>
            <a:prstGeom prst="rect">
              <a:avLst/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3154680" y="4992624"/>
              <a:ext cx="26974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</a:rPr>
                <a:t>🚀</a:t>
              </a:r>
            </a:p>
          </p:txBody>
        </p:sp>
        <p:sp>
          <p:nvSpPr>
            <p:cNvPr id="39" name="Text 37"/>
            <p:cNvSpPr/>
            <p:nvPr/>
          </p:nvSpPr>
          <p:spPr>
            <a:xfrm>
              <a:off x="3154680" y="5458374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A6EFF"/>
                  </a:solidFill>
                </a:rPr>
                <a:t>Eksploracja</a:t>
              </a:r>
              <a:endParaRPr lang="en-US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3211551" y="5710392"/>
              <a:ext cx="2521737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spc="-40" dirty="0">
                  <a:solidFill>
                    <a:srgbClr val="C8D8F0"/>
                  </a:solidFill>
                </a:rPr>
                <a:t>Inspekcja niebezpiecznych obiektów, wsparcie w środowiskach ekstremalnych.</a:t>
              </a:r>
              <a:endParaRPr lang="en-US" sz="1200" spc="-4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840480" y="6199632"/>
              <a:ext cx="1325880" cy="201168"/>
            </a:xfrm>
            <a:prstGeom prst="roundRect">
              <a:avLst>
                <a:gd name="adj" fmla="val 36364"/>
              </a:avLst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>
            <a:xfrm>
              <a:off x="3840480" y="6199632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WMA</a:t>
              </a:r>
              <a:endParaRPr lang="en-US" sz="1400" dirty="0"/>
            </a:p>
          </p:txBody>
        </p:sp>
      </p:grpSp>
      <p:grpSp>
        <p:nvGrpSpPr>
          <p:cNvPr id="52" name="Grupa 51"/>
          <p:cNvGrpSpPr/>
          <p:nvPr/>
        </p:nvGrpSpPr>
        <p:grpSpPr>
          <a:xfrm>
            <a:off x="6035040" y="3180334"/>
            <a:ext cx="2697480" cy="1554480"/>
            <a:chOff x="6035040" y="4901184"/>
            <a:chExt cx="2697480" cy="1554480"/>
          </a:xfrm>
        </p:grpSpPr>
        <p:sp>
          <p:nvSpPr>
            <p:cNvPr id="43" name="Shape 41"/>
            <p:cNvSpPr/>
            <p:nvPr/>
          </p:nvSpPr>
          <p:spPr>
            <a:xfrm>
              <a:off x="6035040" y="4901184"/>
              <a:ext cx="2697480" cy="155448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44" name="Shape 42"/>
            <p:cNvSpPr/>
            <p:nvPr/>
          </p:nvSpPr>
          <p:spPr>
            <a:xfrm>
              <a:off x="6035040" y="4901184"/>
              <a:ext cx="2697480" cy="64008"/>
            </a:xfrm>
            <a:prstGeom prst="rect">
              <a:avLst/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6035040" y="4992624"/>
              <a:ext cx="26974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chemeClr val="bg1"/>
                  </a:solidFill>
                </a:rPr>
                <a:t>🏠</a:t>
              </a:r>
            </a:p>
          </p:txBody>
        </p:sp>
        <p:sp>
          <p:nvSpPr>
            <p:cNvPr id="46" name="Text 44"/>
            <p:cNvSpPr/>
            <p:nvPr/>
          </p:nvSpPr>
          <p:spPr>
            <a:xfrm>
              <a:off x="6035040" y="5495544"/>
              <a:ext cx="2697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0D4FF"/>
                  </a:solidFill>
                </a:rPr>
                <a:t>Dom i AGD</a:t>
              </a:r>
              <a:endParaRPr lang="en-US" sz="2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6144768" y="5747562"/>
              <a:ext cx="246888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8D8F0"/>
                  </a:solidFill>
                </a:rPr>
                <a:t>Sprzątanie, serwowanie posiłków, opieka nad osobami starszymi.</a:t>
              </a:r>
              <a:endParaRPr lang="en-US" sz="12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6720840" y="6199632"/>
              <a:ext cx="1325880" cy="201168"/>
            </a:xfrm>
            <a:prstGeom prst="roundRect">
              <a:avLst>
                <a:gd name="adj" fmla="val 36364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6720840" y="6199632"/>
              <a:ext cx="1325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VLA</a:t>
              </a:r>
              <a:endParaRPr lang="en-US" sz="10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8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etyka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612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Odpowiedzialne wdrożenie systemów WMA/VLA w robotach humanoidalnych</a:t>
            </a:r>
            <a:endParaRPr lang="en-US" sz="1600" dirty="0"/>
          </a:p>
        </p:txBody>
      </p:sp>
      <p:grpSp>
        <p:nvGrpSpPr>
          <p:cNvPr id="38" name="Grupa 37"/>
          <p:cNvGrpSpPr/>
          <p:nvPr/>
        </p:nvGrpSpPr>
        <p:grpSpPr>
          <a:xfrm>
            <a:off x="274320" y="1152000"/>
            <a:ext cx="8686800" cy="3785760"/>
            <a:chOff x="274320" y="1417320"/>
            <a:chExt cx="8686800" cy="3520440"/>
          </a:xfrm>
        </p:grpSpPr>
        <p:sp>
          <p:nvSpPr>
            <p:cNvPr id="8" name="Shape 6"/>
            <p:cNvSpPr/>
            <p:nvPr/>
          </p:nvSpPr>
          <p:spPr>
            <a:xfrm>
              <a:off x="274320" y="1417320"/>
              <a:ext cx="4297680" cy="35204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274320" y="1417320"/>
              <a:ext cx="54864" cy="3520440"/>
            </a:xfrm>
            <a:prstGeom prst="rect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57200" y="150876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C896"/>
                  </a:solidFill>
                </a:rPr>
                <a:t>Środki techniczne</a:t>
              </a:r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57200" y="2044192"/>
              <a:ext cx="91440" cy="91440"/>
            </a:xfrm>
            <a:prstGeom prst="ellipse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685800" y="1920240"/>
              <a:ext cx="36576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Wielopoziomowe stop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bezpieczeństwa</a:t>
              </a:r>
              <a:r>
                <a:rPr lang="pl-PL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 smtClean="0">
                  <a:solidFill>
                    <a:srgbClr val="C8D8F0"/>
                  </a:solidFill>
                </a:rPr>
                <a:t>(soft/hard </a:t>
              </a:r>
              <a:r>
                <a:rPr lang="en-US" sz="1400" dirty="0">
                  <a:solidFill>
                    <a:srgbClr val="C8D8F0"/>
                  </a:solidFill>
                </a:rPr>
                <a:t>limit torque)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" y="2501392"/>
              <a:ext cx="91440" cy="91440"/>
            </a:xfrm>
            <a:prstGeom prst="ellipse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685800" y="2377440"/>
              <a:ext cx="374904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 err="1">
                  <a:solidFill>
                    <a:srgbClr val="C8D8F0"/>
                  </a:solidFill>
                </a:rPr>
                <a:t>Izolacja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en-US" sz="1400" dirty="0" smtClean="0">
                  <a:solidFill>
                    <a:srgbClr val="C8D8F0"/>
                  </a:solidFill>
                </a:rPr>
                <a:t>failsafe: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niezależny</a:t>
              </a:r>
              <a:r>
                <a:rPr lang="en-US" sz="1400" dirty="0" smtClean="0">
                  <a:solidFill>
                    <a:srgbClr val="C8D8F0"/>
                  </a:solidFill>
                </a:rPr>
                <a:t> MCU</a:t>
              </a:r>
              <a:r>
                <a:rPr lang="pl-PL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 smtClean="0">
                  <a:solidFill>
                    <a:srgbClr val="C8D8F0"/>
                  </a:solidFill>
                </a:rPr>
                <a:t>bez </a:t>
              </a:r>
              <a:r>
                <a:rPr lang="en-US" sz="1400" dirty="0">
                  <a:solidFill>
                    <a:srgbClr val="C8D8F0"/>
                  </a:solidFill>
                </a:rPr>
                <a:t>AI nadzoruje dynamikę</a:t>
              </a:r>
              <a:endParaRPr lang="en-US" sz="14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57200" y="2958592"/>
              <a:ext cx="91440" cy="91440"/>
            </a:xfrm>
            <a:prstGeom prst="ellipse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85800" y="2834640"/>
              <a:ext cx="36576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Weryfikacja formalna dla kluczowych ograniczeń (CLF/CBF)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57200" y="3415792"/>
              <a:ext cx="91440" cy="91440"/>
            </a:xfrm>
            <a:prstGeom prst="ellipse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85800" y="3291840"/>
              <a:ext cx="36576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Monitoring </a:t>
              </a:r>
              <a:r>
                <a:rPr lang="en-US" sz="1400" dirty="0" smtClean="0">
                  <a:solidFill>
                    <a:srgbClr val="C8D8F0"/>
                  </a:solidFill>
                </a:rPr>
                <a:t>OOD: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detekcja</a:t>
              </a:r>
              <a:r>
                <a:rPr lang="en-US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>
                  <a:solidFill>
                    <a:srgbClr val="C8D8F0"/>
                  </a:solidFill>
                </a:rPr>
                <a:t>wyjścia poza dane treningowe</a:t>
              </a:r>
              <a:endParaRPr lang="en-US" sz="14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457200" y="3872992"/>
              <a:ext cx="91440" cy="91440"/>
            </a:xfrm>
            <a:prstGeom prst="ellipse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85800" y="3749040"/>
              <a:ext cx="36576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Red-teaming modeli VLA na scenariuszach awaryjnych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57200" y="4330192"/>
              <a:ext cx="91440" cy="91440"/>
            </a:xfrm>
            <a:prstGeom prst="ellipse">
              <a:avLst/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85800" y="4206240"/>
              <a:ext cx="36576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Logowanie i audyt każdej akcji (GDPR-compliant)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09160" y="1417320"/>
              <a:ext cx="4251960" cy="35204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Shape 22"/>
            <p:cNvSpPr/>
            <p:nvPr/>
          </p:nvSpPr>
          <p:spPr>
            <a:xfrm>
              <a:off x="4709160" y="1417320"/>
              <a:ext cx="54864" cy="3520440"/>
            </a:xfrm>
            <a:prstGeom prst="rect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4892040" y="1508760"/>
              <a:ext cx="3749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8C42"/>
                  </a:solidFill>
                </a:rPr>
                <a:t>Aspekty etyczne i prawne</a:t>
              </a:r>
              <a:endParaRPr lang="en-US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892040" y="2063242"/>
              <a:ext cx="91440" cy="91440"/>
            </a:xfrm>
            <a:prstGeom prst="ellipse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5120640" y="1920240"/>
              <a:ext cx="260731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AI Act (UE</a:t>
              </a:r>
              <a:r>
                <a:rPr lang="en-US" sz="1400" dirty="0" smtClean="0">
                  <a:solidFill>
                    <a:srgbClr val="C8D8F0"/>
                  </a:solidFill>
                </a:rPr>
                <a:t>): G1 </a:t>
              </a:r>
              <a:r>
                <a:rPr lang="en-US" sz="1400" dirty="0">
                  <a:solidFill>
                    <a:srgbClr val="C8D8F0"/>
                  </a:solidFill>
                </a:rPr>
                <a:t>EDU jako robot w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Aneksie</a:t>
              </a:r>
              <a:r>
                <a:rPr lang="pl-PL" sz="1400" dirty="0" smtClean="0">
                  <a:solidFill>
                    <a:srgbClr val="C8D8F0"/>
                  </a:solidFill>
                </a:rPr>
                <a:t> i</a:t>
              </a:r>
              <a:r>
                <a:rPr lang="en-US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>
                  <a:solidFill>
                    <a:srgbClr val="C8D8F0"/>
                  </a:solidFill>
                </a:rPr>
                <a:t>wymaga certyfikacji CE</a:t>
              </a:r>
              <a:endParaRPr lang="en-US" sz="14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4892040" y="2520442"/>
              <a:ext cx="91440" cy="91440"/>
            </a:xfrm>
            <a:prstGeom prst="ellipse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5120640" y="2377440"/>
              <a:ext cx="298831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Transparentność decyzji: wyjaśnialność AI (XAI</a:t>
              </a:r>
              <a:r>
                <a:rPr lang="en-US" sz="1400" dirty="0" smtClean="0">
                  <a:solidFill>
                    <a:srgbClr val="C8D8F0"/>
                  </a:solidFill>
                </a:rPr>
                <a:t>)</a:t>
              </a:r>
              <a:r>
                <a:rPr lang="pl-PL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dla</a:t>
              </a:r>
              <a:r>
                <a:rPr lang="en-US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>
                  <a:solidFill>
                    <a:srgbClr val="C8D8F0"/>
                  </a:solidFill>
                </a:rPr>
                <a:t>operatorów</a:t>
              </a:r>
              <a:endParaRPr lang="en-US" sz="14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892040" y="2977642"/>
              <a:ext cx="91440" cy="91440"/>
            </a:xfrm>
            <a:prstGeom prst="ellipse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5120640" y="2834640"/>
              <a:ext cx="364871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 err="1">
                  <a:solidFill>
                    <a:srgbClr val="C8D8F0"/>
                  </a:solidFill>
                </a:rPr>
                <a:t>Ochrona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danych</a:t>
              </a:r>
              <a:r>
                <a:rPr lang="en-US" sz="1400" dirty="0" smtClean="0">
                  <a:solidFill>
                    <a:srgbClr val="C8D8F0"/>
                  </a:solidFill>
                </a:rPr>
                <a:t>: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nagrania</a:t>
              </a:r>
              <a:r>
                <a:rPr lang="en-US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>
                  <a:solidFill>
                    <a:srgbClr val="C8D8F0"/>
                  </a:solidFill>
                </a:rPr>
                <a:t>z kamer wymagają zgody osób</a:t>
              </a:r>
              <a:endParaRPr lang="en-US" sz="14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4892040" y="3434842"/>
              <a:ext cx="91440" cy="91440"/>
            </a:xfrm>
            <a:prstGeom prst="ellipse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5120640" y="3291840"/>
              <a:ext cx="27152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Odpowiedzialność za </a:t>
              </a:r>
              <a:r>
                <a:rPr lang="en-US" sz="1400" dirty="0" err="1">
                  <a:solidFill>
                    <a:srgbClr val="C8D8F0"/>
                  </a:solidFill>
                </a:rPr>
                <a:t>działania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robota</a:t>
              </a:r>
              <a:r>
                <a:rPr lang="en-US" sz="1400" dirty="0" smtClean="0">
                  <a:solidFill>
                    <a:srgbClr val="C8D8F0"/>
                  </a:solidFill>
                </a:rPr>
                <a:t>:</a:t>
              </a:r>
              <a:r>
                <a:rPr lang="pl-PL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 smtClean="0">
                  <a:solidFill>
                    <a:srgbClr val="C8D8F0"/>
                  </a:solidFill>
                </a:rPr>
                <a:t>operator </a:t>
              </a:r>
              <a:r>
                <a:rPr lang="en-US" sz="1400" dirty="0">
                  <a:solidFill>
                    <a:srgbClr val="C8D8F0"/>
                  </a:solidFill>
                </a:rPr>
                <a:t>vs producent</a:t>
              </a:r>
              <a:endParaRPr lang="en-US" sz="14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892040" y="3892042"/>
              <a:ext cx="91440" cy="91440"/>
            </a:xfrm>
            <a:prstGeom prst="ellipse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5120640" y="3749040"/>
              <a:ext cx="265811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 err="1">
                  <a:solidFill>
                    <a:srgbClr val="C8D8F0"/>
                  </a:solidFill>
                </a:rPr>
                <a:t>Zapobieganie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nadużyciom</a:t>
              </a:r>
              <a:r>
                <a:rPr lang="en-US" sz="1400" dirty="0" smtClean="0">
                  <a:solidFill>
                    <a:srgbClr val="C8D8F0"/>
                  </a:solidFill>
                </a:rPr>
                <a:t>: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ograniczenie</a:t>
              </a:r>
              <a:r>
                <a:rPr lang="pl-PL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zastosowań</a:t>
              </a:r>
              <a:r>
                <a:rPr lang="en-US" sz="1400" dirty="0" smtClean="0">
                  <a:solidFill>
                    <a:srgbClr val="C8D8F0"/>
                  </a:solidFill>
                </a:rPr>
                <a:t> </a:t>
              </a:r>
              <a:r>
                <a:rPr lang="en-US" sz="1400" dirty="0">
                  <a:solidFill>
                    <a:srgbClr val="C8D8F0"/>
                  </a:solidFill>
                </a:rPr>
                <a:t>militarnych</a:t>
              </a:r>
              <a:endParaRPr lang="en-US" sz="14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4892040" y="4349242"/>
              <a:ext cx="91440" cy="91440"/>
            </a:xfrm>
            <a:prstGeom prst="ellipse">
              <a:avLst/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5120640" y="4206240"/>
              <a:ext cx="365760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C8D8F0"/>
                  </a:solidFill>
                </a:rPr>
                <a:t>Wpływ </a:t>
              </a:r>
              <a:r>
                <a:rPr lang="en-US" sz="1400" dirty="0" err="1">
                  <a:solidFill>
                    <a:srgbClr val="C8D8F0"/>
                  </a:solidFill>
                </a:rPr>
                <a:t>na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en-US" sz="1400" dirty="0" err="1" smtClean="0">
                  <a:solidFill>
                    <a:srgbClr val="C8D8F0"/>
                  </a:solidFill>
                </a:rPr>
                <a:t>zatrudnienie</a:t>
              </a:r>
              <a:r>
                <a:rPr lang="en-US" sz="1400" dirty="0" smtClean="0">
                  <a:solidFill>
                    <a:srgbClr val="C8D8F0"/>
                  </a:solidFill>
                </a:rPr>
                <a:t>: reskilling </a:t>
              </a:r>
              <a:r>
                <a:rPr lang="en-US" sz="1400" dirty="0" err="1">
                  <a:solidFill>
                    <a:srgbClr val="C8D8F0"/>
                  </a:solidFill>
                </a:rPr>
                <a:t>pracowników</a:t>
              </a:r>
              <a:r>
                <a:rPr lang="en-US" sz="1400" dirty="0">
                  <a:solidFill>
                    <a:srgbClr val="C8D8F0"/>
                  </a:solidFill>
                </a:rPr>
                <a:t> </a:t>
              </a:r>
              <a:r>
                <a:rPr lang="pl-PL" sz="1400" dirty="0" smtClean="0">
                  <a:solidFill>
                    <a:srgbClr val="C8D8F0"/>
                  </a:solidFill>
                </a:rPr>
                <a:t/>
              </a:r>
              <a:br>
                <a:rPr lang="pl-PL" sz="1400" dirty="0" smtClean="0">
                  <a:solidFill>
                    <a:srgbClr val="C8D8F0"/>
                  </a:solidFill>
                </a:rPr>
              </a:br>
              <a:r>
                <a:rPr lang="en-US" sz="1400" dirty="0" smtClean="0">
                  <a:solidFill>
                    <a:srgbClr val="C8D8F0"/>
                  </a:solidFill>
                </a:rPr>
                <a:t>w </a:t>
              </a:r>
              <a:r>
                <a:rPr lang="en-US" sz="1400" dirty="0">
                  <a:solidFill>
                    <a:srgbClr val="C8D8F0"/>
                  </a:solidFill>
                </a:rPr>
                <a:t>środowiskach wdrożeń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F"/>
          </a:solidFill>
          <a:ln w="12700">
            <a:solidFill>
              <a:srgbClr val="060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965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BB"/>
                </a:solidFill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496519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WMA / VLA • Unitree G1 EDU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4000"/>
            <a:ext cx="822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Przyszłość modeli WMA i VLA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72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badań i przewidywania na 2025–2030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627632" cy="347472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08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69847" y="1892809"/>
            <a:ext cx="45719" cy="202692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2792" y="2011680"/>
            <a:ext cx="182880" cy="182880"/>
          </a:xfrm>
          <a:prstGeom prst="ellipse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EFF"/>
                </a:solidFill>
              </a:rPr>
              <a:t>Skalowanie modeli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" y="2788920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pc="-40" dirty="0">
                <a:solidFill>
                  <a:srgbClr val="C8D8F0"/>
                </a:solidFill>
              </a:rPr>
              <a:t>VLA powyżej 70B </a:t>
            </a:r>
            <a:r>
              <a:rPr lang="en-US" sz="1200" spc="-40" dirty="0" err="1">
                <a:solidFill>
                  <a:srgbClr val="C8D8F0"/>
                </a:solidFill>
              </a:rPr>
              <a:t>parametrów</a:t>
            </a:r>
            <a:r>
              <a:rPr lang="en-US" sz="1200" spc="-40" dirty="0">
                <a:solidFill>
                  <a:srgbClr val="C8D8F0"/>
                </a:solidFill>
              </a:rPr>
              <a:t> </a:t>
            </a:r>
            <a:r>
              <a:rPr lang="pl-PL" sz="1200" spc="-40" dirty="0" smtClean="0">
                <a:solidFill>
                  <a:srgbClr val="C8D8F0"/>
                </a:solidFill>
              </a:rPr>
              <a:t/>
            </a:r>
            <a:br>
              <a:rPr lang="pl-PL" sz="1200" spc="-40" dirty="0" smtClean="0">
                <a:solidFill>
                  <a:srgbClr val="C8D8F0"/>
                </a:solidFill>
              </a:rPr>
            </a:br>
            <a:r>
              <a:rPr lang="en-US" sz="1200" spc="-40" dirty="0" smtClean="0">
                <a:solidFill>
                  <a:srgbClr val="C8D8F0"/>
                </a:solidFill>
              </a:rPr>
              <a:t>z </a:t>
            </a:r>
            <a:r>
              <a:rPr lang="en-US" sz="1200" spc="-40" dirty="0">
                <a:solidFill>
                  <a:srgbClr val="C8D8F0"/>
                </a:solidFill>
              </a:rPr>
              <a:t>multimodalnym embeddingiem. Integracja z GPT-5/Gemini 3 jako backbone.</a:t>
            </a:r>
            <a:endParaRPr lang="en-US" sz="1200" spc="-40" dirty="0"/>
          </a:p>
        </p:txBody>
      </p:sp>
      <p:sp>
        <p:nvSpPr>
          <p:cNvPr id="15" name="Shape 13"/>
          <p:cNvSpPr/>
          <p:nvPr/>
        </p:nvSpPr>
        <p:spPr>
          <a:xfrm>
            <a:off x="1993392" y="1417320"/>
            <a:ext cx="1627632" cy="347472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84832" y="15087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1508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2026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88919" y="1892809"/>
            <a:ext cx="45719" cy="2026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1864" y="201168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</a:rPr>
              <a:t>Internet of Robots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66544" y="2788920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pc="-40" dirty="0">
                <a:solidFill>
                  <a:srgbClr val="C8D8F0"/>
                </a:solidFill>
              </a:rPr>
              <a:t>Shared experience między flotami G1 EDU przez federated learning. Centralny world model dla ekosystemu robotów.</a:t>
            </a:r>
            <a:endParaRPr lang="en-US" sz="1200" spc="-40" dirty="0"/>
          </a:p>
        </p:txBody>
      </p:sp>
      <p:sp>
        <p:nvSpPr>
          <p:cNvPr id="22" name="Shape 20"/>
          <p:cNvSpPr/>
          <p:nvPr/>
        </p:nvSpPr>
        <p:spPr>
          <a:xfrm>
            <a:off x="3712464" y="1417320"/>
            <a:ext cx="1627632" cy="347472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03904" y="15087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3904" y="1508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2027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07991" y="1892809"/>
            <a:ext cx="45719" cy="2026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0936" y="2011680"/>
            <a:ext cx="182880" cy="18288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96"/>
                </a:solidFill>
              </a:rPr>
              <a:t>Modele multirobotyczne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85616" y="2788920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pc="-40" dirty="0">
                <a:solidFill>
                  <a:srgbClr val="C8D8F0"/>
                </a:solidFill>
              </a:rPr>
              <a:t>Koordynacja wielu humanoidów przez wspólny WMA. Collaborative manipulation i task sharing.</a:t>
            </a:r>
            <a:endParaRPr lang="en-US" sz="1200" spc="-40" dirty="0"/>
          </a:p>
        </p:txBody>
      </p:sp>
      <p:sp>
        <p:nvSpPr>
          <p:cNvPr id="29" name="Shape 27"/>
          <p:cNvSpPr/>
          <p:nvPr/>
        </p:nvSpPr>
        <p:spPr>
          <a:xfrm>
            <a:off x="5431536" y="1417320"/>
            <a:ext cx="1627632" cy="347472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22976" y="15087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2976" y="1508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2028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227063" y="1892809"/>
            <a:ext cx="45719" cy="2026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0008" y="2011680"/>
            <a:ext cx="182880" cy="18288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22976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8C42"/>
                </a:solidFill>
              </a:rPr>
              <a:t>Embodied AGI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04688" y="2788920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pc="-40" dirty="0">
                <a:solidFill>
                  <a:srgbClr val="C8D8F0"/>
                </a:solidFill>
              </a:rPr>
              <a:t>Modele WMA+VLA z emergentnym rozumowaniem przestrzennym. Pierwsze zastosowania produkcyjne w AGD.</a:t>
            </a:r>
            <a:endParaRPr lang="en-US" sz="1200" spc="-40" dirty="0"/>
          </a:p>
        </p:txBody>
      </p:sp>
      <p:sp>
        <p:nvSpPr>
          <p:cNvPr id="36" name="Shape 34"/>
          <p:cNvSpPr/>
          <p:nvPr/>
        </p:nvSpPr>
        <p:spPr>
          <a:xfrm>
            <a:off x="7150608" y="1417320"/>
            <a:ext cx="1627632" cy="3474720"/>
          </a:xfrm>
          <a:prstGeom prst="rect">
            <a:avLst/>
          </a:prstGeom>
          <a:solidFill>
            <a:srgbClr val="0A1730"/>
          </a:solidFill>
          <a:ln w="6350">
            <a:solidFill>
              <a:srgbClr val="1A6E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42048" y="1508760"/>
            <a:ext cx="1444752" cy="347472"/>
          </a:xfrm>
          <a:prstGeom prst="roundRect">
            <a:avLst>
              <a:gd name="adj" fmla="val 21053"/>
            </a:avLst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1508760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2030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946135" y="1892809"/>
            <a:ext cx="45719" cy="20269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79080" y="2011680"/>
            <a:ext cx="182880" cy="1828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42048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B5DE5"/>
                </a:solidFill>
              </a:rPr>
              <a:t>Autonomia długoterminowa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23760" y="2788920"/>
            <a:ext cx="14813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spc="-40" dirty="0">
                <a:solidFill>
                  <a:srgbClr val="C8D8F0"/>
                </a:solidFill>
              </a:rPr>
              <a:t>Roboty zdolne do planowania wielodniowego bez nadzoru. Adaptacja do nowych środowisk w &lt; 1 godz.</a:t>
            </a:r>
            <a:endParaRPr lang="en-US" sz="1200" spc="-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44000"/>
            <a:ext cx="576072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i wnioski</a:t>
            </a:r>
            <a:endParaRPr lang="en-US" sz="3000" dirty="0"/>
          </a:p>
        </p:txBody>
      </p:sp>
      <p:grpSp>
        <p:nvGrpSpPr>
          <p:cNvPr id="33" name="Grupa 32"/>
          <p:cNvGrpSpPr/>
          <p:nvPr/>
        </p:nvGrpSpPr>
        <p:grpSpPr>
          <a:xfrm>
            <a:off x="320040" y="960120"/>
            <a:ext cx="5669280" cy="3865880"/>
            <a:chOff x="320040" y="960120"/>
            <a:chExt cx="5669280" cy="3182112"/>
          </a:xfrm>
        </p:grpSpPr>
        <p:sp>
          <p:nvSpPr>
            <p:cNvPr id="5" name="Shape 3"/>
            <p:cNvSpPr/>
            <p:nvPr/>
          </p:nvSpPr>
          <p:spPr>
            <a:xfrm>
              <a:off x="320040" y="960120"/>
              <a:ext cx="5669280" cy="5486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411480" y="1088136"/>
              <a:ext cx="1051560" cy="292608"/>
            </a:xfrm>
            <a:prstGeom prst="roundRect">
              <a:avLst>
                <a:gd name="adj" fmla="val 25000"/>
              </a:avLst>
            </a:prstGeom>
            <a:solidFill>
              <a:srgbClr val="00D4FF"/>
            </a:solidFill>
            <a:ln w="12700">
              <a:solidFill>
                <a:srgbClr val="00D4F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11480" y="1088136"/>
              <a:ext cx="1051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WMA</a:t>
              </a: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691640" y="1051560"/>
              <a:ext cx="417880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optymalne dla zadań precyzyjnych z krótką pętlą sterowania i wymaganiami real-time.</a:t>
              </a:r>
              <a:endParaRPr lang="en-US" sz="16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0040" y="1618488"/>
              <a:ext cx="5669280" cy="5486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411480" y="1746504"/>
              <a:ext cx="1051560" cy="292608"/>
            </a:xfrm>
            <a:prstGeom prst="roundRect">
              <a:avLst>
                <a:gd name="adj" fmla="val 25000"/>
              </a:avLst>
            </a:prstGeom>
            <a:solidFill>
              <a:srgbClr val="FF8C42"/>
            </a:solidFill>
            <a:ln w="12700">
              <a:solidFill>
                <a:srgbClr val="FF8C42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11480" y="1746504"/>
              <a:ext cx="1051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VLA</a:t>
              </a: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691640" y="1709928"/>
              <a:ext cx="417880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preferowane gdy wymagana jest </a:t>
              </a:r>
              <a:r>
                <a:rPr lang="en-US" sz="1600" dirty="0" err="1">
                  <a:solidFill>
                    <a:srgbClr val="C8D8F0"/>
                  </a:solidFill>
                </a:rPr>
                <a:t>generalizacja</a:t>
              </a:r>
              <a:r>
                <a:rPr lang="en-US" sz="1600" dirty="0">
                  <a:solidFill>
                    <a:srgbClr val="C8D8F0"/>
                  </a:solidFill>
                </a:rPr>
                <a:t> </a:t>
              </a:r>
              <a:r>
                <a:rPr lang="pl-PL" sz="1600" dirty="0" smtClean="0">
                  <a:solidFill>
                    <a:srgbClr val="C8D8F0"/>
                  </a:solidFill>
                </a:rPr>
                <a:t/>
              </a:r>
              <a:br>
                <a:rPr lang="pl-PL" sz="1600" dirty="0" smtClean="0">
                  <a:solidFill>
                    <a:srgbClr val="C8D8F0"/>
                  </a:solidFill>
                </a:rPr>
              </a:br>
              <a:r>
                <a:rPr lang="en-US" sz="1600" dirty="0" err="1" smtClean="0">
                  <a:solidFill>
                    <a:srgbClr val="C8D8F0"/>
                  </a:solidFill>
                </a:rPr>
                <a:t>i</a:t>
              </a:r>
              <a:r>
                <a:rPr lang="en-US" sz="1600" dirty="0" smtClean="0">
                  <a:solidFill>
                    <a:srgbClr val="C8D8F0"/>
                  </a:solidFill>
                </a:rPr>
                <a:t> </a:t>
              </a:r>
              <a:r>
                <a:rPr lang="en-US" sz="1600" dirty="0">
                  <a:solidFill>
                    <a:srgbClr val="C8D8F0"/>
                  </a:solidFill>
                </a:rPr>
                <a:t>sterowanie językiem naturalnym.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20040" y="2276856"/>
              <a:ext cx="5669280" cy="5486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11480" y="2404872"/>
              <a:ext cx="1051560" cy="292608"/>
            </a:xfrm>
            <a:prstGeom prst="roundRect">
              <a:avLst>
                <a:gd name="adj" fmla="val 25000"/>
              </a:avLst>
            </a:prstGeom>
            <a:solidFill>
              <a:srgbClr val="00C896"/>
            </a:solidFill>
            <a:ln w="12700">
              <a:solidFill>
                <a:srgbClr val="00C896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11480" y="2404872"/>
              <a:ext cx="1051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Hybryda</a:t>
              </a: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691640" y="2368296"/>
              <a:ext cx="417880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WMA+VLA łączy zalety obu podejść i osiąga najlepsze wyniki w benchmarkach G1.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0040" y="2935224"/>
              <a:ext cx="5669280" cy="5486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18" name="Shape 16"/>
            <p:cNvSpPr/>
            <p:nvPr/>
          </p:nvSpPr>
          <p:spPr>
            <a:xfrm>
              <a:off x="411480" y="3063240"/>
              <a:ext cx="1051560" cy="292608"/>
            </a:xfrm>
            <a:prstGeom prst="roundRect">
              <a:avLst>
                <a:gd name="adj" fmla="val 25000"/>
              </a:avLst>
            </a:prstGeom>
            <a:solidFill>
              <a:srgbClr val="1A6EFF"/>
            </a:solidFill>
            <a:ln w="12700">
              <a:solidFill>
                <a:srgbClr val="1A6E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11480" y="3063240"/>
              <a:ext cx="1051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G1 EDU</a:t>
              </a:r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691640" y="3026664"/>
              <a:ext cx="417880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doskonała </a:t>
              </a:r>
              <a:r>
                <a:rPr lang="en-US" sz="1600" dirty="0" err="1">
                  <a:solidFill>
                    <a:srgbClr val="C8D8F0"/>
                  </a:solidFill>
                </a:rPr>
                <a:t>platforma</a:t>
              </a:r>
              <a:r>
                <a:rPr lang="en-US" sz="1600" dirty="0">
                  <a:solidFill>
                    <a:srgbClr val="C8D8F0"/>
                  </a:solidFill>
                </a:rPr>
                <a:t> </a:t>
              </a:r>
              <a:r>
                <a:rPr lang="en-US" sz="1600" dirty="0" err="1" smtClean="0">
                  <a:solidFill>
                    <a:srgbClr val="C8D8F0"/>
                  </a:solidFill>
                </a:rPr>
                <a:t>badawcza</a:t>
              </a:r>
              <a:r>
                <a:rPr lang="en-US" sz="1600" dirty="0" smtClean="0">
                  <a:solidFill>
                    <a:srgbClr val="C8D8F0"/>
                  </a:solidFill>
                </a:rPr>
                <a:t>: </a:t>
              </a:r>
              <a:r>
                <a:rPr lang="pl-PL" sz="1600" dirty="0" smtClean="0">
                  <a:solidFill>
                    <a:srgbClr val="C8D8F0"/>
                  </a:solidFill>
                </a:rPr>
                <a:t/>
              </a:r>
              <a:br>
                <a:rPr lang="pl-PL" sz="1600" dirty="0" smtClean="0">
                  <a:solidFill>
                    <a:srgbClr val="C8D8F0"/>
                  </a:solidFill>
                </a:rPr>
              </a:br>
              <a:r>
                <a:rPr lang="en-US" sz="1600" dirty="0" err="1" smtClean="0">
                  <a:solidFill>
                    <a:srgbClr val="C8D8F0"/>
                  </a:solidFill>
                </a:rPr>
                <a:t>otwarte</a:t>
              </a:r>
              <a:r>
                <a:rPr lang="en-US" sz="1600" dirty="0" smtClean="0">
                  <a:solidFill>
                    <a:srgbClr val="C8D8F0"/>
                  </a:solidFill>
                </a:rPr>
                <a:t> </a:t>
              </a:r>
              <a:r>
                <a:rPr lang="en-US" sz="1600" dirty="0">
                  <a:solidFill>
                    <a:srgbClr val="C8D8F0"/>
                  </a:solidFill>
                </a:rPr>
                <a:t>SDK2, ROS2 </a:t>
              </a:r>
              <a:r>
                <a:rPr lang="en-US" sz="1600" dirty="0" err="1" smtClean="0">
                  <a:solidFill>
                    <a:srgbClr val="C8D8F0"/>
                  </a:solidFill>
                </a:rPr>
                <a:t>i</a:t>
              </a:r>
              <a:r>
                <a:rPr lang="en-US" sz="1600" dirty="0" smtClean="0">
                  <a:solidFill>
                    <a:srgbClr val="C8D8F0"/>
                  </a:solidFill>
                </a:rPr>
                <a:t> </a:t>
              </a:r>
              <a:r>
                <a:rPr lang="en-US" sz="1600" dirty="0">
                  <a:solidFill>
                    <a:srgbClr val="C8D8F0"/>
                  </a:solidFill>
                </a:rPr>
                <a:t>bogata lista czujników.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0040" y="3593592"/>
              <a:ext cx="5669280" cy="548640"/>
            </a:xfrm>
            <a:prstGeom prst="rect">
              <a:avLst/>
            </a:prstGeom>
            <a:solidFill>
              <a:srgbClr val="0A1730"/>
            </a:solidFill>
            <a:ln w="6350">
              <a:solidFill>
                <a:srgbClr val="1A6EFF"/>
              </a:solidFill>
              <a:prstDash val="solid"/>
            </a:ln>
            <a:effectLst>
              <a:outerShdw blurRad="152400" dist="38100" dir="81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11480" y="3721608"/>
              <a:ext cx="1051560" cy="292608"/>
            </a:xfrm>
            <a:prstGeom prst="roundRect">
              <a:avLst>
                <a:gd name="adj" fmla="val 25000"/>
              </a:avLst>
            </a:prstGeom>
            <a:solidFill>
              <a:srgbClr val="9B5DE5"/>
            </a:solidFill>
            <a:ln w="12700">
              <a:solidFill>
                <a:srgbClr val="9B5DE5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411480" y="3721608"/>
              <a:ext cx="1051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</a:rPr>
                <a:t>Wyzwania</a:t>
              </a:r>
              <a:endParaRPr lang="en-US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691640" y="3685032"/>
              <a:ext cx="417880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C8D8F0"/>
                  </a:solidFill>
                </a:rPr>
                <a:t>koszt obliczeniowy, sim-to-real, bezpieczeństwo OOD </a:t>
              </a:r>
              <a:r>
                <a:rPr lang="en-US" sz="1600" dirty="0" err="1" smtClean="0">
                  <a:solidFill>
                    <a:srgbClr val="C8D8F0"/>
                  </a:solidFill>
                </a:rPr>
                <a:t>i</a:t>
              </a:r>
              <a:r>
                <a:rPr lang="en-US" sz="1600" dirty="0" smtClean="0">
                  <a:solidFill>
                    <a:srgbClr val="C8D8F0"/>
                  </a:solidFill>
                </a:rPr>
                <a:t> </a:t>
              </a:r>
              <a:r>
                <a:rPr lang="en-US" sz="1600" dirty="0">
                  <a:solidFill>
                    <a:srgbClr val="C8D8F0"/>
                  </a:solidFill>
                </a:rPr>
                <a:t>etyka prawna wymagają rozwiązania.</a:t>
              </a:r>
              <a:endParaRPr lang="en-US" sz="16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6400800" y="1097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Dziękuję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uwagę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Pytania?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83680" y="3017520"/>
            <a:ext cx="2103120" cy="27432"/>
          </a:xfrm>
          <a:prstGeom prst="rect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unitree.com/g1</a:t>
            </a:r>
          </a:p>
        </p:txBody>
      </p:sp>
      <p:sp>
        <p:nvSpPr>
          <p:cNvPr id="29" name="Text 27"/>
          <p:cNvSpPr/>
          <p:nvPr/>
        </p:nvSpPr>
        <p:spPr>
          <a:xfrm>
            <a:off x="6400800" y="3520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github.com/unitreerobotics</a:t>
            </a:r>
          </a:p>
        </p:txBody>
      </p:sp>
      <p:sp>
        <p:nvSpPr>
          <p:cNvPr id="30" name="Shape 28"/>
          <p:cNvSpPr/>
          <p:nvPr/>
        </p:nvSpPr>
        <p:spPr>
          <a:xfrm>
            <a:off x="7132320" y="4114800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4297680"/>
            <a:ext cx="128016" cy="128016"/>
          </a:xfrm>
          <a:prstGeom prst="ellipse">
            <a:avLst/>
          </a:prstGeom>
          <a:solidFill>
            <a:srgbClr val="1A6EFF"/>
          </a:solidFill>
          <a:ln w="12700">
            <a:solidFill>
              <a:srgbClr val="1A6E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4069080"/>
            <a:ext cx="91440" cy="914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2114</Words>
  <Application>Microsoft Office PowerPoint</Application>
  <PresentationFormat>Pokaz na ekranie (16:9)</PresentationFormat>
  <Paragraphs>435</Paragraphs>
  <Slides>20</Slides>
  <Notes>20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Wingdings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WMA i VLA w programowaniu robotów humanoidalnych</dc:title>
  <dc:subject>PptxGenJS Presentation</dc:subject>
  <dc:creator>Prezentacja AI Robotics</dc:creator>
  <cp:lastModifiedBy>Mateusz Pomianek</cp:lastModifiedBy>
  <cp:revision>35</cp:revision>
  <dcterms:created xsi:type="dcterms:W3CDTF">2026-02-26T16:43:15Z</dcterms:created>
  <dcterms:modified xsi:type="dcterms:W3CDTF">2026-04-07T10:31:21Z</dcterms:modified>
</cp:coreProperties>
</file>