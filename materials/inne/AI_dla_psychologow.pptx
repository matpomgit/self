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2.xml" ContentType="application/vnd.openxmlformats-officedocument.drawingml.chart+xml"/>
  <Override PartName="/ppt/charts/chart5.xml" ContentType="application/vnd.openxmlformats-officedocument.drawingml.chart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pl-PL" sz="2200" b="0" u="none" strike="noStrike">
                <a:solidFill>
                  <a:srgbClr val="3b2a36"/>
                </a:solidFill>
                <a:uFillTx/>
                <a:latin typeface="Calibri"/>
              </a:rPr>
              <a:t>Uwaga słowa „on” (przykład)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Waga uwagi (%)</c:v>
                </c:pt>
              </c:strCache>
            </c:strRef>
          </c:tx>
          <c:spPr>
            <a:solidFill>
              <a:srgbClr val="d6457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6457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2a9d8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f29e4c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5b6cc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8e5cc9"/>
              </a:solidFill>
              <a:ln w="0">
                <a:noFill/>
              </a:ln>
            </c:spPr>
          </c:dPt>
          <c:dLbls>
            <c:dLbl>
              <c:idx val="0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\%" sourceLinked="0"/>
            <c:txPr>
              <a:bodyPr wrap="square"/>
              <a:lstStyle/>
              <a:p>
                <a:pPr>
                  <a:defRPr sz="22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Terapeuta</c:v>
                </c:pt>
                <c:pt idx="1">
                  <c:v>powiedział</c:v>
                </c:pt>
                <c:pt idx="2">
                  <c:v>pacjentowi</c:v>
                </c:pt>
                <c:pt idx="3">
                  <c:v>że</c:v>
                </c:pt>
                <c:pt idx="4">
                  <c:v>musi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25</c:v>
                </c:pt>
                <c:pt idx="1">
                  <c:v>5</c:v>
                </c:pt>
                <c:pt idx="2">
                  <c:v>55</c:v>
                </c:pt>
                <c:pt idx="3">
                  <c:v>5</c:v>
                </c:pt>
                <c:pt idx="4">
                  <c:v>10</c:v>
                </c:pt>
              </c:numCache>
            </c:numRef>
          </c:val>
        </c:ser>
        <c:gapWidth val="150"/>
        <c:overlap val="0"/>
        <c:axId val="30331696"/>
        <c:axId val="48886169"/>
      </c:barChart>
      <c:catAx>
        <c:axId val="303316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8886169"/>
        <c:crosses val="autoZero"/>
        <c:auto val="1"/>
        <c:lblAlgn val="ctr"/>
        <c:lblOffset val="100"/>
        <c:noMultiLvlLbl val="0"/>
      </c:catAx>
      <c:valAx>
        <c:axId val="48886169"/>
        <c:scaling>
          <c:orientation val="minMax"/>
          <c:max val="70"/>
          <c:min val="0"/>
        </c:scaling>
        <c:delete val="0"/>
        <c:axPos val="l"/>
        <c:majorGridlines>
          <c:spPr>
            <a:ln w="6480">
              <a:solidFill>
                <a:srgbClr val="eadde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033169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pl-PL" sz="2200" b="0" u="none" strike="noStrike">
                <a:solidFill>
                  <a:srgbClr val="3b2a36"/>
                </a:solidFill>
                <a:uFillTx/>
                <a:latin typeface="Calibri"/>
              </a:rPr>
              <a:t>Słowo po „Pacjent czuje się” (przykład)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Szansa (%)</c:v>
                </c:pt>
              </c:strCache>
            </c:strRef>
          </c:tx>
          <c:spPr>
            <a:solidFill>
              <a:srgbClr val="d6457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6457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2a9d8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f29e4c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5b6cc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8e5cc9"/>
              </a:solidFill>
              <a:ln w="0">
                <a:noFill/>
              </a:ln>
            </c:spPr>
          </c:dPt>
          <c:dLbls>
            <c:dLbl>
              <c:idx val="0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\%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\%" sourceLinked="0"/>
            <c:txPr>
              <a:bodyPr wrap="square"/>
              <a:lstStyle/>
              <a:p>
                <a:pPr>
                  <a:defRPr sz="22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smutny</c:v>
                </c:pt>
                <c:pt idx="1">
                  <c:v>zmęczony</c:v>
                </c:pt>
                <c:pt idx="2">
                  <c:v>niepewny</c:v>
                </c:pt>
                <c:pt idx="3">
                  <c:v>dobrze</c:v>
                </c:pt>
                <c:pt idx="4">
                  <c:v>inne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38</c:v>
                </c:pt>
                <c:pt idx="1">
                  <c:v>27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</c:numCache>
            </c:numRef>
          </c:val>
        </c:ser>
        <c:gapWidth val="150"/>
        <c:overlap val="0"/>
        <c:axId val="70608744"/>
        <c:axId val="17169584"/>
      </c:barChart>
      <c:catAx>
        <c:axId val="706087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7169584"/>
        <c:crosses val="autoZero"/>
        <c:auto val="1"/>
        <c:lblAlgn val="ctr"/>
        <c:lblOffset val="100"/>
        <c:noMultiLvlLbl val="0"/>
      </c:catAx>
      <c:valAx>
        <c:axId val="17169584"/>
        <c:scaling>
          <c:orientation val="minMax"/>
          <c:max val="50"/>
          <c:min val="0"/>
        </c:scaling>
        <c:delete val="0"/>
        <c:axPos val="l"/>
        <c:majorGridlines>
          <c:spPr>
            <a:ln w="6480">
              <a:solidFill>
                <a:srgbClr val="eadde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060874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pl-PL" sz="2200" b="0" u="none" strike="noStrike">
                <a:solidFill>
                  <a:srgbClr val="3b2a36"/>
                </a:solidFill>
                <a:uFillTx/>
                <a:latin typeface="Calibri"/>
              </a:rPr>
              <a:t>Szanse kolejnego słowa w procentach (przykład)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Niska temperatura</c:v>
                </c:pt>
              </c:strCache>
            </c:strRef>
          </c:tx>
          <c:spPr>
            <a:solidFill>
              <a:srgbClr val="2a9d8f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smutny</c:v>
                </c:pt>
                <c:pt idx="1">
                  <c:v>zmęczony</c:v>
                </c:pt>
                <c:pt idx="2">
                  <c:v>niepewny</c:v>
                </c:pt>
                <c:pt idx="3">
                  <c:v>dobrze</c:v>
                </c:pt>
                <c:pt idx="4">
                  <c:v>inne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70</c:v>
                </c:pt>
                <c:pt idx="1">
                  <c:v>20</c:v>
                </c:pt>
                <c:pt idx="2">
                  <c:v>7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Wysoka temperatura</c:v>
                </c:pt>
              </c:strCache>
            </c:strRef>
          </c:tx>
          <c:spPr>
            <a:solidFill>
              <a:srgbClr val="d6457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smutny</c:v>
                </c:pt>
                <c:pt idx="1">
                  <c:v>zmęczony</c:v>
                </c:pt>
                <c:pt idx="2">
                  <c:v>niepewny</c:v>
                </c:pt>
                <c:pt idx="3">
                  <c:v>dobrze</c:v>
                </c:pt>
                <c:pt idx="4">
                  <c:v>inne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gapWidth val="150"/>
        <c:overlap val="0"/>
        <c:axId val="56414207"/>
        <c:axId val="23296187"/>
      </c:barChart>
      <c:catAx>
        <c:axId val="5641420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3296187"/>
        <c:crosses val="autoZero"/>
        <c:auto val="1"/>
        <c:lblAlgn val="ctr"/>
        <c:lblOffset val="100"/>
        <c:noMultiLvlLbl val="0"/>
      </c:catAx>
      <c:valAx>
        <c:axId val="23296187"/>
        <c:scaling>
          <c:orientation val="minMax"/>
          <c:max val="80"/>
          <c:min val="0"/>
        </c:scaling>
        <c:delete val="0"/>
        <c:axPos val="l"/>
        <c:majorGridlines>
          <c:spPr>
            <a:ln w="6480">
              <a:solidFill>
                <a:srgbClr val="eadde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641420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22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pl-PL" sz="2200" b="0" u="none" strike="noStrike">
                <a:solidFill>
                  <a:srgbClr val="3b2a36"/>
                </a:solidFill>
                <a:uFillTx/>
                <a:latin typeface="Calibri"/>
              </a:rPr>
              <a:t>Liczba tokenów w oknie kontekstu (schemat)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Jakość odpowiedzi (%)</c:v>
                </c:pt>
              </c:strCache>
            </c:strRef>
          </c:tx>
          <c:spPr>
            <a:solidFill>
              <a:srgbClr val="d6457a"/>
            </a:solidFill>
            <a:ln w="50760">
              <a:solidFill>
                <a:srgbClr val="d6457a"/>
              </a:solidFill>
              <a:round/>
            </a:ln>
          </c:spPr>
          <c:marker>
            <c:symbol val="circle"/>
            <c:size val="10"/>
            <c:spPr>
              <a:solidFill>
                <a:srgbClr val="d6457a"/>
              </a:solidFill>
            </c:spPr>
          </c:marker>
          <c:dLbls>
            <c:numFmt formatCode="#,##0" sourceLinked="0"/>
            <c:txPr>
              <a:bodyPr wrap="square"/>
              <a:lstStyle/>
              <a:p>
                <a:pPr>
                  <a:defRPr sz="22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 tys.</c:v>
                </c:pt>
                <c:pt idx="1">
                  <c:v>10 tys.</c:v>
                </c:pt>
                <c:pt idx="2">
                  <c:v>50 tys.</c:v>
                </c:pt>
                <c:pt idx="3">
                  <c:v>100 tys.</c:v>
                </c:pt>
                <c:pt idx="4">
                  <c:v>200 tys.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100</c:v>
                </c:pt>
                <c:pt idx="1">
                  <c:v>97</c:v>
                </c:pt>
                <c:pt idx="2">
                  <c:v>90</c:v>
                </c:pt>
                <c:pt idx="3">
                  <c:v>80</c:v>
                </c:pt>
                <c:pt idx="4">
                  <c:v>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Ryzyko pominięcia informacji (%)</c:v>
                </c:pt>
              </c:strCache>
            </c:strRef>
          </c:tx>
          <c:spPr>
            <a:solidFill>
              <a:srgbClr val="2a9d8f"/>
            </a:solidFill>
            <a:ln w="50760">
              <a:solidFill>
                <a:srgbClr val="2a9d8f"/>
              </a:solidFill>
              <a:round/>
            </a:ln>
          </c:spPr>
          <c:marker>
            <c:symbol val="circle"/>
            <c:size val="10"/>
            <c:spPr>
              <a:solidFill>
                <a:srgbClr val="2a9d8f"/>
              </a:solidFill>
            </c:spPr>
          </c:marker>
          <c:dLbls>
            <c:numFmt formatCode="#,##0" sourceLinked="0"/>
            <c:txPr>
              <a:bodyPr wrap="square"/>
              <a:lstStyle/>
              <a:p>
                <a:pPr>
                  <a:defRPr sz="22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 tys.</c:v>
                </c:pt>
                <c:pt idx="1">
                  <c:v>10 tys.</c:v>
                </c:pt>
                <c:pt idx="2">
                  <c:v>50 tys.</c:v>
                </c:pt>
                <c:pt idx="3">
                  <c:v>100 tys.</c:v>
                </c:pt>
                <c:pt idx="4">
                  <c:v>200 tys.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15</c:v>
                </c:pt>
                <c:pt idx="3">
                  <c:v>28</c:v>
                </c:pt>
                <c:pt idx="4">
                  <c:v>45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5783374"/>
        <c:axId val="26391914"/>
      </c:lineChart>
      <c:catAx>
        <c:axId val="5578337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6391914"/>
        <c:crosses val="autoZero"/>
        <c:auto val="1"/>
        <c:lblAlgn val="ctr"/>
        <c:lblOffset val="100"/>
        <c:noMultiLvlLbl val="0"/>
      </c:catAx>
      <c:valAx>
        <c:axId val="26391914"/>
        <c:scaling>
          <c:orientation val="minMax"/>
          <c:max val="110"/>
          <c:min val="0"/>
        </c:scaling>
        <c:delete val="0"/>
        <c:axPos val="l"/>
        <c:majorGridlines>
          <c:spPr>
            <a:ln w="6480">
              <a:solidFill>
                <a:srgbClr val="eadde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578337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22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pl-PL" sz="2200" b="0" u="none" strike="noStrike">
                <a:solidFill>
                  <a:srgbClr val="3b2a36"/>
                </a:solidFill>
                <a:uFillTx/>
                <a:latin typeface="Calibri"/>
              </a:rPr>
              <a:t>Miejsce informacji w długim tekście (schemat)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Wykorzystanie informacji (%)</c:v>
                </c:pt>
              </c:strCache>
            </c:strRef>
          </c:tx>
          <c:spPr>
            <a:solidFill>
              <a:srgbClr val="d6457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d6457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2a9d8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f29e4c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5b6cc9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8e5cc9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22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22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Początek</c:v>
                </c:pt>
                <c:pt idx="1">
                  <c:v>25%</c:v>
                </c:pt>
                <c:pt idx="2">
                  <c:v>Środek</c:v>
                </c:pt>
                <c:pt idx="3">
                  <c:v>75%</c:v>
                </c:pt>
                <c:pt idx="4">
                  <c:v>Koniec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90</c:v>
                </c:pt>
                <c:pt idx="1">
                  <c:v>72</c:v>
                </c:pt>
                <c:pt idx="2">
                  <c:v>55</c:v>
                </c:pt>
                <c:pt idx="3">
                  <c:v>70</c:v>
                </c:pt>
                <c:pt idx="4">
                  <c:v>86</c:v>
                </c:pt>
              </c:numCache>
            </c:numRef>
          </c:val>
        </c:ser>
        <c:gapWidth val="150"/>
        <c:overlap val="0"/>
        <c:axId val="56643171"/>
        <c:axId val="16170019"/>
      </c:barChart>
      <c:catAx>
        <c:axId val="5664317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6170019"/>
        <c:crosses val="autoZero"/>
        <c:auto val="1"/>
        <c:lblAlgn val="ctr"/>
        <c:lblOffset val="100"/>
        <c:noMultiLvlLbl val="0"/>
      </c:catAx>
      <c:valAx>
        <c:axId val="16170019"/>
        <c:scaling>
          <c:orientation val="minMax"/>
          <c:max val="110"/>
          <c:min val="0"/>
        </c:scaling>
        <c:delete val="0"/>
        <c:axPos val="l"/>
        <c:majorGridlines>
          <c:spPr>
            <a:ln w="6480">
              <a:solidFill>
                <a:srgbClr val="eadde6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22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664317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przesunąć slajd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&lt;główka&gt;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84F589-8CD5-4C36-80F7-E624B2A4559F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4A1483-870B-45F1-A8BD-EB34458C48C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61FEFE8-EB80-4073-93B1-908486246A8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20AF675-B39A-4842-BB9B-4D556077389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417C06A-9472-4355-B4DE-43C0A715B18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4B9355-D132-4485-8C75-5139B39D491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BCCA19C-17CE-4707-A5FD-7AF6724BFE5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1676F4-DF64-43FD-ACBA-8427D37DBD8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441A4F4-7809-498F-8238-9E41970B964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F80E8B1-2C5E-4526-AC6C-E6128CB40B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8713240-609E-43C4-971D-33BB4F2247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71EF3EA-A7EE-43B2-98F8-F0C8E51F8AE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356040-BB30-4ED9-A89A-6A313C14D38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013BBBE-46D0-4397-ACC3-A414CB66428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80BF02-F44A-47E0-95CC-09C5E22F152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4C1CB9C-827C-4780-A653-FB28D926398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338072-15BD-47D2-9785-75F8A699321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F2E50D-104B-49C8-A84C-BF9F4BFA6D7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E57C78D-1967-43C3-BDCE-696B794F22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F15583A-A70A-490A-9678-4FC4B44DE3E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0DD0BA6-4AC8-4A83-B65B-71360C7B9A0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9144B7-378E-4D28-9528-8CA7009C45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879D68C-AB26-4328-9A05-974D75728C2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6C4EE0-C94B-407F-B03E-99AE4C21918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23926B2-EC7B-4661-8496-2C021AB88E4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584055E-789F-4567-B204-F229A1A50BA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354B57F-DCB6-4BB9-B81D-B4AF9A41024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EBE21E3-D837-46EE-8EBB-F3EF57D1B3A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D399918-C044-4431-9378-4C85C449CC6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657D053-57E4-4491-957F-E1943D9784D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&lt;numer&gt;</a:t>
            </a:fld>
            <a:endParaRPr lang="pl-PL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lang="pl-PL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1843920" cy="360"/>
          </a:xfrm>
          <a:prstGeom prst="line">
            <a:avLst/>
          </a:prstGeom>
          <a:ln w="508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392560" y="1143000"/>
            <a:ext cx="1843920" cy="360"/>
          </a:xfrm>
          <a:prstGeom prst="line">
            <a:avLst/>
          </a:prstGeom>
          <a:ln w="508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36480" y="1143000"/>
            <a:ext cx="1844280" cy="360"/>
          </a:xfrm>
          <a:prstGeom prst="line">
            <a:avLst/>
          </a:prstGeom>
          <a:ln w="508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80760" y="1143000"/>
            <a:ext cx="1843920" cy="360"/>
          </a:xfrm>
          <a:prstGeom prst="line">
            <a:avLst/>
          </a:prstGeom>
          <a:ln w="508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924680" y="1143000"/>
            <a:ext cx="1844280" cy="360"/>
          </a:xfrm>
          <a:prstGeom prst="line">
            <a:avLst/>
          </a:prstGeom>
          <a:ln w="508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768960" y="1143000"/>
            <a:ext cx="1843920" cy="360"/>
          </a:xfrm>
          <a:prstGeom prst="line">
            <a:avLst/>
          </a:prstGeom>
          <a:ln w="508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1828800"/>
            <a:ext cx="6949080" cy="201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lang="pl-PL" sz="4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  <a:endParaRPr lang="pl-PL" sz="4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lang="pl-PL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lang="pl-PL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37760" y="742320"/>
            <a:ext cx="7242840" cy="309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Sztuczna inteligencja dla psychologów</a:t>
            </a:r>
            <a:endParaRPr lang="pl-PL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1"/>
          <p:cNvSpPr/>
          <p:nvPr/>
        </p:nvSpPr>
        <p:spPr>
          <a:xfrm>
            <a:off x="731520" y="402336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Czym jest, czym nie jest i jak </a:t>
            </a:r>
            <a:r>
              <a:rPr lang="pl-PL" sz="2800" b="0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to coś </a:t>
            </a:r>
            <a:r>
              <a:rPr lang="en-US" sz="2800" b="0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działa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731520" y="5212080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dr inż. Mateusz Pomia</a:t>
            </a:r>
            <a:r>
              <a:rPr lang="pl-PL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nek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8138160" y="914400"/>
            <a:ext cx="3657240" cy="36572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9235440" y="2194560"/>
            <a:ext cx="2559960" cy="25599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10058400" y="3291840"/>
            <a:ext cx="1645560" cy="16455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rostokąt 9"/>
          <p:cNvSpPr/>
          <p:nvPr/>
        </p:nvSpPr>
        <p:spPr>
          <a:xfrm>
            <a:off x="10971720" y="6574680"/>
            <a:ext cx="12196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l-PL" sz="1200" b="0" u="none" strike="noStrike">
                <a:solidFill>
                  <a:schemeClr val="lt2">
                    <a:lumMod val="75000"/>
                  </a:schemeClr>
                </a:solidFill>
                <a:effectLst/>
                <a:uFillTx/>
                <a:latin typeface="Calibri"/>
                <a:ea typeface="Calibri"/>
              </a:rPr>
              <a:t>19.10.26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Plan prezentacji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640080" y="150876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640080" y="15087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1645920" y="150876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Pojęcia, rodzaje AI, model i agent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640080" y="246888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640080" y="246888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645920" y="246888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Jak działa model językowy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640080" y="342900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640080" y="3429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1645920" y="342900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Pamięć i ograniczenia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640080" y="438912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640080" y="43891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1645920" y="438912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Jakość odpowiedzi i prompty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640080" y="534924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640080" y="53492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1645920" y="534924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Wnioski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Skąd zamieszanie wokół pojęcia AI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548640" y="1325880"/>
            <a:ext cx="5303160" cy="53031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1051560" y="1828800"/>
            <a:ext cx="4297320" cy="429732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1554480" y="2331720"/>
            <a:ext cx="3291480" cy="329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2057400" y="2834640"/>
            <a:ext cx="2285640" cy="22856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2194560" y="3611880"/>
            <a:ext cx="2011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Duże modele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językowe (LLM)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6271200" y="1645920"/>
            <a:ext cx="476388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AI to nazwa dziedziny, </a:t>
            </a:r>
            <a:br>
              <a:rPr sz="3200"/>
            </a:b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 nie jednego produktu.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Czatboty to duże modele językowe.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Jedno słowo opisuje filtr spamu, rozpoznawanie twarzy i ChatGPT.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2194560" y="2526120"/>
            <a:ext cx="2258280" cy="297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Głębokie uczenie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1828800" y="1931760"/>
            <a:ext cx="2742840" cy="365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Uczenie maszynowe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1828800" y="1394640"/>
            <a:ext cx="2742840" cy="3654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Sztuczna inteligencja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Model, czatbot i agent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1"/>
          <p:cNvSpPr/>
          <p:nvPr/>
        </p:nvSpPr>
        <p:spPr>
          <a:xfrm>
            <a:off x="548640" y="1463040"/>
            <a:ext cx="11063880" cy="20113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822960" y="1463040"/>
            <a:ext cx="26514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Czatbot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jeden krok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3657600" y="1965960"/>
            <a:ext cx="219420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3657600" y="196596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Pytanie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5897880" y="2468880"/>
            <a:ext cx="548640" cy="360"/>
          </a:xfrm>
          <a:prstGeom prst="line">
            <a:avLst/>
          </a:prstGeom>
          <a:ln w="44450">
            <a:solidFill>
              <a:srgbClr val="c9a6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6492240" y="1965960"/>
            <a:ext cx="219420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6492240" y="196596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8732520" y="2468880"/>
            <a:ext cx="548640" cy="360"/>
          </a:xfrm>
          <a:prstGeom prst="line">
            <a:avLst/>
          </a:prstGeom>
          <a:ln w="44450">
            <a:solidFill>
              <a:srgbClr val="c9a6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9326880" y="1965960"/>
            <a:ext cx="201132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9326880" y="1965960"/>
            <a:ext cx="2011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Odpowiedź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548640" y="3657600"/>
            <a:ext cx="11063880" cy="2742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822960" y="3657600"/>
            <a:ext cx="2651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Agent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wiele kroków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3657600" y="3977640"/>
            <a:ext cx="137124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3657600" y="3977640"/>
            <a:ext cx="1371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Cel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5074920" y="4480560"/>
            <a:ext cx="411480" cy="360"/>
          </a:xfrm>
          <a:prstGeom prst="line">
            <a:avLst/>
          </a:prstGeom>
          <a:ln w="44450">
            <a:solidFill>
              <a:srgbClr val="c9a6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5532120" y="3977640"/>
            <a:ext cx="219420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5532120" y="397764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 planuje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7772400" y="4480560"/>
            <a:ext cx="411480" cy="360"/>
          </a:xfrm>
          <a:prstGeom prst="line">
            <a:avLst/>
          </a:prstGeom>
          <a:ln w="44450">
            <a:solidFill>
              <a:srgbClr val="c9a6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8229600" y="3977640"/>
            <a:ext cx="182844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8229600" y="3977640"/>
            <a:ext cx="1828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Narzędzia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10104120" y="4480560"/>
            <a:ext cx="274320" cy="360"/>
          </a:xfrm>
          <a:prstGeom prst="line">
            <a:avLst/>
          </a:prstGeom>
          <a:ln w="44450">
            <a:solidFill>
              <a:srgbClr val="c9a6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10424160" y="3977640"/>
            <a:ext cx="109692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10424160" y="3977640"/>
            <a:ext cx="1096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Wynik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10972800" y="4983480"/>
            <a:ext cx="360" cy="32004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 flipH="1">
            <a:off x="6629400" y="5303520"/>
            <a:ext cx="4343400" cy="36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 flipV="1">
            <a:off x="6629400" y="4983480"/>
            <a:ext cx="360" cy="320040"/>
          </a:xfrm>
          <a:prstGeom prst="line">
            <a:avLst/>
          </a:prstGeom>
          <a:ln w="38100">
            <a:solidFill>
              <a:srgbClr val="c9a6c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3474720" y="553212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Wynik wraca do modelu, a pętla trwa do osiągnięcia celu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Czym AI jest, a czym nie jest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548640" y="1463040"/>
            <a:ext cx="5394600" cy="4754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82296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AI jest:</a:t>
            </a:r>
            <a:endParaRPr lang="pl-P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822960" y="2331720"/>
            <a:ext cx="484596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statystycznym modelem języka wytrenowanym na ogromnych zbiorach tekstu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wzorcami zapisanymi w miliardach liczb (wag)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narzędziem generującym prawdopodobne ciągi słów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6217920" y="1463040"/>
            <a:ext cx="5394600" cy="4754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649224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AI nie jest: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6492240" y="2331720"/>
            <a:ext cx="484596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istotą świadomą</a:t>
            </a:r>
            <a:r>
              <a:rPr lang="pl-PL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 ani czującą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bazą faktów</a:t>
            </a:r>
            <a:r>
              <a:rPr lang="pl-PL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 ani wyszukiwarką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osobą z intencjami i emocjami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autorytetem diagnostycznym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Rodzaje sztucznej inteligencji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Shape 1"/>
          <p:cNvSpPr/>
          <p:nvPr/>
        </p:nvSpPr>
        <p:spPr>
          <a:xfrm flipH="1">
            <a:off x="2103120" y="2240280"/>
            <a:ext cx="3977640" cy="50292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6080760" y="2240280"/>
            <a:ext cx="1783080" cy="50292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 flipH="1">
            <a:off x="5303520" y="3657600"/>
            <a:ext cx="2560320" cy="41148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"/>
          <p:cNvSpPr/>
          <p:nvPr/>
        </p:nvSpPr>
        <p:spPr>
          <a:xfrm>
            <a:off x="7863840" y="3657600"/>
            <a:ext cx="360" cy="41148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7863840" y="3657600"/>
            <a:ext cx="2560320" cy="41148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4069080" y="1417320"/>
            <a:ext cx="402300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4069080" y="1417320"/>
            <a:ext cx="4023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Sztuczna inteligencja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548640" y="2743200"/>
            <a:ext cx="31086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548640" y="274320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Reguły i logika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5852160" y="2743200"/>
            <a:ext cx="40230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5852160" y="2743200"/>
            <a:ext cx="4023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Uczenie maszynowe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548640" y="3886200"/>
            <a:ext cx="3108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Reguły zapisane ręcznie przez ekspertów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4114800" y="4069080"/>
            <a:ext cx="237708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4114800" y="406908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Nadzorowane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4114800" y="516636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z nauczycielem: dane mają etykiety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6675120" y="4069080"/>
            <a:ext cx="237708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7"/>
          <p:cNvSpPr/>
          <p:nvPr/>
        </p:nvSpPr>
        <p:spPr>
          <a:xfrm>
            <a:off x="6675120" y="406908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Nienadzorowane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8"/>
          <p:cNvSpPr/>
          <p:nvPr/>
        </p:nvSpPr>
        <p:spPr>
          <a:xfrm>
            <a:off x="6675120" y="516636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bez nauczyciela: szuka struktur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9"/>
          <p:cNvSpPr/>
          <p:nvPr/>
        </p:nvSpPr>
        <p:spPr>
          <a:xfrm>
            <a:off x="9235440" y="4069080"/>
            <a:ext cx="237708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0"/>
          <p:cNvSpPr/>
          <p:nvPr/>
        </p:nvSpPr>
        <p:spPr>
          <a:xfrm>
            <a:off x="9235440" y="4069080"/>
            <a:ext cx="2377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6b2d5c"/>
                </a:solidFill>
                <a:effectLst/>
                <a:uFillTx/>
                <a:latin typeface="Calibri"/>
                <a:ea typeface="Calibri"/>
              </a:rPr>
              <a:t>Ze wzmocnieniem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1"/>
          <p:cNvSpPr/>
          <p:nvPr/>
        </p:nvSpPr>
        <p:spPr>
          <a:xfrm>
            <a:off x="9235440" y="5166360"/>
            <a:ext cx="2377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nagroda i kara: uczy się przez próby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Sieć neuronowa</a:t>
            </a:r>
            <a:r>
              <a:rPr lang="pl-PL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,</a:t>
            </a: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 a mózg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Shape 1"/>
          <p:cNvSpPr/>
          <p:nvPr/>
        </p:nvSpPr>
        <p:spPr>
          <a:xfrm flipV="1">
            <a:off x="1005840" y="17373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"/>
          <p:cNvSpPr/>
          <p:nvPr/>
        </p:nvSpPr>
        <p:spPr>
          <a:xfrm>
            <a:off x="1005840" y="21945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1005840" y="2194560"/>
            <a:ext cx="2103120" cy="13716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1005840" y="2194560"/>
            <a:ext cx="2103120" cy="22860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1005840" y="2194560"/>
            <a:ext cx="2103120" cy="3200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6"/>
          <p:cNvSpPr/>
          <p:nvPr/>
        </p:nvSpPr>
        <p:spPr>
          <a:xfrm flipV="1">
            <a:off x="1005840" y="1737360"/>
            <a:ext cx="2103120" cy="13716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 flipV="1">
            <a:off x="1005840" y="26517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1005840" y="31089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1005840" y="3108960"/>
            <a:ext cx="2103120" cy="13716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1005840" y="3108960"/>
            <a:ext cx="2103120" cy="22860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1"/>
          <p:cNvSpPr/>
          <p:nvPr/>
        </p:nvSpPr>
        <p:spPr>
          <a:xfrm flipV="1">
            <a:off x="1005840" y="1737360"/>
            <a:ext cx="2103120" cy="22860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 flipV="1">
            <a:off x="1005840" y="2651760"/>
            <a:ext cx="2103120" cy="13716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3"/>
          <p:cNvSpPr/>
          <p:nvPr/>
        </p:nvSpPr>
        <p:spPr>
          <a:xfrm flipV="1">
            <a:off x="1005840" y="35661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1005840" y="40233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1005840" y="4023360"/>
            <a:ext cx="2103120" cy="13716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6"/>
          <p:cNvSpPr/>
          <p:nvPr/>
        </p:nvSpPr>
        <p:spPr>
          <a:xfrm flipV="1">
            <a:off x="1005840" y="1737360"/>
            <a:ext cx="2103120" cy="3200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7"/>
          <p:cNvSpPr/>
          <p:nvPr/>
        </p:nvSpPr>
        <p:spPr>
          <a:xfrm flipV="1">
            <a:off x="1005840" y="2651760"/>
            <a:ext cx="2103120" cy="22860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8"/>
          <p:cNvSpPr/>
          <p:nvPr/>
        </p:nvSpPr>
        <p:spPr>
          <a:xfrm flipV="1">
            <a:off x="1005840" y="3566160"/>
            <a:ext cx="2103120" cy="13716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9"/>
          <p:cNvSpPr/>
          <p:nvPr/>
        </p:nvSpPr>
        <p:spPr>
          <a:xfrm flipV="1">
            <a:off x="1005840" y="44805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1005840" y="4937760"/>
            <a:ext cx="2103120" cy="457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1"/>
          <p:cNvSpPr/>
          <p:nvPr/>
        </p:nvSpPr>
        <p:spPr>
          <a:xfrm>
            <a:off x="3108960" y="1737360"/>
            <a:ext cx="2103120" cy="914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2"/>
          <p:cNvSpPr/>
          <p:nvPr/>
        </p:nvSpPr>
        <p:spPr>
          <a:xfrm>
            <a:off x="3108960" y="1737360"/>
            <a:ext cx="2103120" cy="18288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3"/>
          <p:cNvSpPr/>
          <p:nvPr/>
        </p:nvSpPr>
        <p:spPr>
          <a:xfrm>
            <a:off x="3108960" y="1737360"/>
            <a:ext cx="2103120" cy="2743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4"/>
          <p:cNvSpPr/>
          <p:nvPr/>
        </p:nvSpPr>
        <p:spPr>
          <a:xfrm>
            <a:off x="3108960" y="2651760"/>
            <a:ext cx="2103120" cy="36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5"/>
          <p:cNvSpPr/>
          <p:nvPr/>
        </p:nvSpPr>
        <p:spPr>
          <a:xfrm>
            <a:off x="3108960" y="2651760"/>
            <a:ext cx="2103120" cy="914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6"/>
          <p:cNvSpPr/>
          <p:nvPr/>
        </p:nvSpPr>
        <p:spPr>
          <a:xfrm>
            <a:off x="3108960" y="2651760"/>
            <a:ext cx="2103120" cy="18288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7"/>
          <p:cNvSpPr/>
          <p:nvPr/>
        </p:nvSpPr>
        <p:spPr>
          <a:xfrm flipV="1">
            <a:off x="3108960" y="2651760"/>
            <a:ext cx="2103120" cy="914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8"/>
          <p:cNvSpPr/>
          <p:nvPr/>
        </p:nvSpPr>
        <p:spPr>
          <a:xfrm>
            <a:off x="3108960" y="3566160"/>
            <a:ext cx="2103120" cy="36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9"/>
          <p:cNvSpPr/>
          <p:nvPr/>
        </p:nvSpPr>
        <p:spPr>
          <a:xfrm>
            <a:off x="3108960" y="3566160"/>
            <a:ext cx="2103120" cy="914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0"/>
          <p:cNvSpPr/>
          <p:nvPr/>
        </p:nvSpPr>
        <p:spPr>
          <a:xfrm flipV="1">
            <a:off x="3108960" y="2651760"/>
            <a:ext cx="2103120" cy="18288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1"/>
          <p:cNvSpPr/>
          <p:nvPr/>
        </p:nvSpPr>
        <p:spPr>
          <a:xfrm flipV="1">
            <a:off x="3108960" y="3566160"/>
            <a:ext cx="2103120" cy="914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2"/>
          <p:cNvSpPr/>
          <p:nvPr/>
        </p:nvSpPr>
        <p:spPr>
          <a:xfrm>
            <a:off x="3108960" y="4480560"/>
            <a:ext cx="2103120" cy="36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3"/>
          <p:cNvSpPr/>
          <p:nvPr/>
        </p:nvSpPr>
        <p:spPr>
          <a:xfrm flipV="1">
            <a:off x="3108960" y="2651760"/>
            <a:ext cx="2103120" cy="27432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4"/>
          <p:cNvSpPr/>
          <p:nvPr/>
        </p:nvSpPr>
        <p:spPr>
          <a:xfrm flipV="1">
            <a:off x="3108960" y="3566160"/>
            <a:ext cx="2103120" cy="18288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5"/>
          <p:cNvSpPr/>
          <p:nvPr/>
        </p:nvSpPr>
        <p:spPr>
          <a:xfrm flipV="1">
            <a:off x="3108960" y="4480560"/>
            <a:ext cx="2103120" cy="914400"/>
          </a:xfrm>
          <a:prstGeom prst="line">
            <a:avLst/>
          </a:prstGeom>
          <a:ln w="19050">
            <a:solidFill>
              <a:srgbClr val="d9c3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6"/>
          <p:cNvSpPr/>
          <p:nvPr/>
        </p:nvSpPr>
        <p:spPr>
          <a:xfrm>
            <a:off x="731520" y="19202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7"/>
          <p:cNvSpPr/>
          <p:nvPr/>
        </p:nvSpPr>
        <p:spPr>
          <a:xfrm>
            <a:off x="731520" y="28346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8"/>
          <p:cNvSpPr/>
          <p:nvPr/>
        </p:nvSpPr>
        <p:spPr>
          <a:xfrm>
            <a:off x="731520" y="37490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9"/>
          <p:cNvSpPr/>
          <p:nvPr/>
        </p:nvSpPr>
        <p:spPr>
          <a:xfrm>
            <a:off x="731520" y="46634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40"/>
          <p:cNvSpPr/>
          <p:nvPr/>
        </p:nvSpPr>
        <p:spPr>
          <a:xfrm>
            <a:off x="2834640" y="14630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1"/>
          <p:cNvSpPr/>
          <p:nvPr/>
        </p:nvSpPr>
        <p:spPr>
          <a:xfrm>
            <a:off x="2834640" y="23774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42"/>
          <p:cNvSpPr/>
          <p:nvPr/>
        </p:nvSpPr>
        <p:spPr>
          <a:xfrm>
            <a:off x="2834640" y="32918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3"/>
          <p:cNvSpPr/>
          <p:nvPr/>
        </p:nvSpPr>
        <p:spPr>
          <a:xfrm>
            <a:off x="2834640" y="42062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4"/>
          <p:cNvSpPr/>
          <p:nvPr/>
        </p:nvSpPr>
        <p:spPr>
          <a:xfrm>
            <a:off x="2834640" y="51206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5"/>
          <p:cNvSpPr/>
          <p:nvPr/>
        </p:nvSpPr>
        <p:spPr>
          <a:xfrm>
            <a:off x="4937760" y="23774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6"/>
          <p:cNvSpPr/>
          <p:nvPr/>
        </p:nvSpPr>
        <p:spPr>
          <a:xfrm>
            <a:off x="4937760" y="32918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7"/>
          <p:cNvSpPr/>
          <p:nvPr/>
        </p:nvSpPr>
        <p:spPr>
          <a:xfrm>
            <a:off x="4937760" y="4206240"/>
            <a:ext cx="548280" cy="5482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8"/>
          <p:cNvSpPr/>
          <p:nvPr/>
        </p:nvSpPr>
        <p:spPr>
          <a:xfrm>
            <a:off x="91440" y="58978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Wejście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9"/>
          <p:cNvSpPr/>
          <p:nvPr/>
        </p:nvSpPr>
        <p:spPr>
          <a:xfrm>
            <a:off x="1874520" y="5897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Warstwy ukryte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0"/>
          <p:cNvSpPr/>
          <p:nvPr/>
        </p:nvSpPr>
        <p:spPr>
          <a:xfrm>
            <a:off x="4297680" y="58978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Wyjście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51"/>
          <p:cNvSpPr/>
          <p:nvPr/>
        </p:nvSpPr>
        <p:spPr>
          <a:xfrm>
            <a:off x="6172200" y="1463040"/>
            <a:ext cx="5440320" cy="2285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2"/>
          <p:cNvSpPr/>
          <p:nvPr/>
        </p:nvSpPr>
        <p:spPr>
          <a:xfrm>
            <a:off x="6675120" y="160020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Podobne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53"/>
          <p:cNvSpPr/>
          <p:nvPr/>
        </p:nvSpPr>
        <p:spPr>
          <a:xfrm>
            <a:off x="6291360" y="2194560"/>
            <a:ext cx="5046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Inspiracja budową mózgu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Wiedza rozproszona </a:t>
            </a:r>
            <a:r>
              <a:rPr lang="pl-PL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jest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 połączeniach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54"/>
          <p:cNvSpPr/>
          <p:nvPr/>
        </p:nvSpPr>
        <p:spPr>
          <a:xfrm>
            <a:off x="6172200" y="3931920"/>
            <a:ext cx="5440320" cy="2651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5"/>
          <p:cNvSpPr/>
          <p:nvPr/>
        </p:nvSpPr>
        <p:spPr>
          <a:xfrm>
            <a:off x="6675120" y="406908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Inne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6"/>
          <p:cNvSpPr/>
          <p:nvPr/>
        </p:nvSpPr>
        <p:spPr>
          <a:xfrm>
            <a:off x="6291360" y="4663440"/>
            <a:ext cx="51498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Neuron to funkcja matematyczna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Brak ciała i neuroprzekaźników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Uczenie przez korygowanie błędu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Jak działa duży model językowy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Shape 1"/>
          <p:cNvSpPr/>
          <p:nvPr/>
        </p:nvSpPr>
        <p:spPr>
          <a:xfrm>
            <a:off x="502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594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1. Tekst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594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np. „Pacjent czuje się”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2532600" y="2880360"/>
            <a:ext cx="237960" cy="360"/>
          </a:xfrm>
          <a:prstGeom prst="line">
            <a:avLst/>
          </a:prstGeom>
          <a:ln w="44450">
            <a:solidFill>
              <a:srgbClr val="d645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2788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2880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2. Tokeny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2880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fragmenty słów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4818600" y="2880360"/>
            <a:ext cx="237960" cy="360"/>
          </a:xfrm>
          <a:prstGeom prst="line">
            <a:avLst/>
          </a:prstGeom>
          <a:ln w="4445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5074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0"/>
          <p:cNvSpPr/>
          <p:nvPr/>
        </p:nvSpPr>
        <p:spPr>
          <a:xfrm>
            <a:off x="5166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3. Wektory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1"/>
          <p:cNvSpPr/>
          <p:nvPr/>
        </p:nvSpPr>
        <p:spPr>
          <a:xfrm>
            <a:off x="5166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liczby opisujące znaczenie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7104600" y="2880360"/>
            <a:ext cx="237960" cy="360"/>
          </a:xfrm>
          <a:prstGeom prst="line">
            <a:avLst/>
          </a:prstGeom>
          <a:ln w="44450">
            <a:solidFill>
              <a:srgbClr val="f29e4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7360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7452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4. Sieć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7452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Transformer z mechanizmem uwagi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9390600" y="2880360"/>
            <a:ext cx="237960" cy="360"/>
          </a:xfrm>
          <a:prstGeom prst="line">
            <a:avLst/>
          </a:prstGeom>
          <a:ln w="44450">
            <a:solidFill>
              <a:srgbClr val="5b6cc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7"/>
          <p:cNvSpPr/>
          <p:nvPr/>
        </p:nvSpPr>
        <p:spPr>
          <a:xfrm>
            <a:off x="9646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9738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5. Wynik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9"/>
          <p:cNvSpPr/>
          <p:nvPr/>
        </p:nvSpPr>
        <p:spPr>
          <a:xfrm>
            <a:off x="9738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szanse kolejnych słów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0"/>
          <p:cNvSpPr/>
          <p:nvPr/>
        </p:nvSpPr>
        <p:spPr>
          <a:xfrm>
            <a:off x="502920" y="4572000"/>
            <a:ext cx="1115532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1"/>
          <p:cNvSpPr/>
          <p:nvPr/>
        </p:nvSpPr>
        <p:spPr>
          <a:xfrm>
            <a:off x="664200" y="4663440"/>
            <a:ext cx="10902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Wybrane słowo wraca na wejście i proces się powtarza. Odpowiedź powstaje krok po kroku, jak ciąg skojarzeń sterowany kontekstem.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Tokeny i wektory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502920" y="1554480"/>
            <a:ext cx="201132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502920" y="15544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Pacjent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502920" y="2926080"/>
            <a:ext cx="2011320" cy="82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6457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502920" y="292608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[0,2; 0,9; …]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2788920" y="1554480"/>
            <a:ext cx="201132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2788920" y="15544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czuje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2788920" y="2926080"/>
            <a:ext cx="2011320" cy="82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2788920" y="292608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[0,7; 0,1; …]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5074920" y="1554480"/>
            <a:ext cx="201132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0"/>
          <p:cNvSpPr/>
          <p:nvPr/>
        </p:nvSpPr>
        <p:spPr>
          <a:xfrm>
            <a:off x="5074920" y="15544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się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5074920" y="2926080"/>
            <a:ext cx="2011320" cy="82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29e4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5074920" y="292608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[0,4; 0,4; …]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3"/>
          <p:cNvSpPr/>
          <p:nvPr/>
        </p:nvSpPr>
        <p:spPr>
          <a:xfrm>
            <a:off x="7360920" y="1554480"/>
            <a:ext cx="201132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7360920" y="15544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smut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7360920" y="2926080"/>
            <a:ext cx="2011320" cy="82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5b6cc9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6"/>
          <p:cNvSpPr/>
          <p:nvPr/>
        </p:nvSpPr>
        <p:spPr>
          <a:xfrm>
            <a:off x="7360920" y="292608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[0,1; 0,8; …]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9646920" y="1554480"/>
            <a:ext cx="201132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9646920" y="1554480"/>
            <a:ext cx="2011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ny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9646920" y="2926080"/>
            <a:ext cx="2011320" cy="822600"/>
          </a:xfrm>
          <a:prstGeom prst="rect">
            <a:avLst/>
          </a:prstGeom>
          <a:solidFill>
            <a:srgbClr val="ffffff"/>
          </a:solidFill>
          <a:ln w="25400">
            <a:solidFill>
              <a:srgbClr val="8e5cc9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9646920" y="2926080"/>
            <a:ext cx="2011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[0,6; 0,3; …]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1"/>
          <p:cNvSpPr/>
          <p:nvPr/>
        </p:nvSpPr>
        <p:spPr>
          <a:xfrm>
            <a:off x="548640" y="4206240"/>
            <a:ext cx="110638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pl-PL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Token to fragment słowa zamieniany na liczbę.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599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pl-PL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Wektor to położenie w przestrzeni znaczeń: słowa bliskie znaczeniowo leżą blisko siebie.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Mechanizm uwagi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Shape 1"/>
          <p:cNvSpPr/>
          <p:nvPr/>
        </p:nvSpPr>
        <p:spPr>
          <a:xfrm>
            <a:off x="548640" y="146304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548640" y="146304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Terapeuta powiedział pacjentowi, że musi</a:t>
            </a:r>
            <a:r>
              <a:rPr lang="pl-PL" sz="26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 on</a:t>
            </a:r>
            <a:r>
              <a:rPr lang="en-US" sz="26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 odpocząć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Chart 0"/>
          <p:cNvGraphicFramePr/>
          <p:nvPr/>
        </p:nvGraphicFramePr>
        <p:xfrm>
          <a:off x="548640" y="2468880"/>
          <a:ext cx="6766200" cy="393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3" name="Text 3"/>
          <p:cNvSpPr/>
          <p:nvPr/>
        </p:nvSpPr>
        <p:spPr>
          <a:xfrm>
            <a:off x="7680960" y="2651760"/>
            <a:ext cx="40230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Uwaga ustala, które słowa kontekstu są ważne dla danego słowa.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Dzięki niej model rozstrzyga odniesienia, na przykład kto jest „on”.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Jak model się uczy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Shape 1"/>
          <p:cNvSpPr/>
          <p:nvPr/>
        </p:nvSpPr>
        <p:spPr>
          <a:xfrm>
            <a:off x="548640" y="1463040"/>
            <a:ext cx="3154320" cy="3291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777240" y="164592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Pretrening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777240" y="2651760"/>
            <a:ext cx="2925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Przewidywanie następnego słowa w ogromnych zbiorach tekstu.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"/>
          <p:cNvSpPr/>
          <p:nvPr/>
        </p:nvSpPr>
        <p:spPr>
          <a:xfrm>
            <a:off x="3703320" y="3108960"/>
            <a:ext cx="501120" cy="360"/>
          </a:xfrm>
          <a:prstGeom prst="line">
            <a:avLst/>
          </a:prstGeom>
          <a:ln w="4445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5"/>
          <p:cNvSpPr/>
          <p:nvPr/>
        </p:nvSpPr>
        <p:spPr>
          <a:xfrm>
            <a:off x="4204800" y="1463040"/>
            <a:ext cx="3567240" cy="3291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4617720" y="164592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Dostrajanie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4337640" y="2651760"/>
            <a:ext cx="33368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Uczenie na przykładach dobrych odpowiedzi i instrukcji.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8"/>
          <p:cNvSpPr/>
          <p:nvPr/>
        </p:nvSpPr>
        <p:spPr>
          <a:xfrm>
            <a:off x="7790400" y="3108960"/>
            <a:ext cx="420840" cy="360"/>
          </a:xfrm>
          <a:prstGeom prst="line">
            <a:avLst/>
          </a:prstGeom>
          <a:ln w="44450">
            <a:solidFill>
              <a:srgbClr val="f29e4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8229600" y="1463040"/>
            <a:ext cx="3382920" cy="3291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8458200" y="1645920"/>
            <a:ext cx="2925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Uczenie ze wzmocnieniem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8344080" y="2651760"/>
            <a:ext cx="31543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Ludzie oceniają odpowiedzi, a model uczy się tych nagradzanych.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2"/>
          <p:cNvSpPr/>
          <p:nvPr/>
        </p:nvSpPr>
        <p:spPr>
          <a:xfrm>
            <a:off x="548640" y="5029200"/>
            <a:ext cx="11063880" cy="1279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822960" y="502920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Dla psychologa: trzeci etap przypomina uczenie przez wzmocnienie, ale zmiany zachodzą w wagach modelu, a nie w trakcie rozmowy.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Prawdopodobne nie znaczy prawdziwe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9" name="Chart 0"/>
          <p:cNvGraphicFramePr/>
          <p:nvPr/>
        </p:nvGraphicFramePr>
        <p:xfrm>
          <a:off x="457200" y="1371600"/>
          <a:ext cx="6309000" cy="50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0" name="Text 1"/>
          <p:cNvSpPr/>
          <p:nvPr/>
        </p:nvSpPr>
        <p:spPr>
          <a:xfrm>
            <a:off x="6900840" y="1371600"/>
            <a:ext cx="505620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 losuje słowo z rozkładu szans, nie sprawdza prawdy.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Stąd halucynacje: płynna, pewna, ale zmyślona odpowiedź.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Ten sam prompt może dać różne odpowiedzi.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8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Pewny ton nie oznacza trafności.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l-PL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M</a:t>
            </a: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odel nie widzi liter</a:t>
            </a:r>
            <a:r>
              <a:rPr lang="pl-PL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, tylko tokeny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548640" y="1463040"/>
            <a:ext cx="822924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777240" y="1463040"/>
            <a:ext cx="7772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Użytkownik: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Ile liter „a” jest w słowie „abrakadabra”?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"/>
          <p:cNvSpPr/>
          <p:nvPr/>
        </p:nvSpPr>
        <p:spPr>
          <a:xfrm>
            <a:off x="3383280" y="2834640"/>
            <a:ext cx="822924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3776040" y="2834640"/>
            <a:ext cx="7772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</a:t>
            </a:r>
            <a:r>
              <a:rPr lang="en-US" sz="2800" b="0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 (przykład błędu)</a:t>
            </a: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Są 4 litery „a”.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"/>
          <p:cNvSpPr/>
          <p:nvPr/>
        </p:nvSpPr>
        <p:spPr>
          <a:xfrm>
            <a:off x="548640" y="4480560"/>
            <a:ext cx="1106388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822960" y="4480560"/>
            <a:ext cx="10515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Skutek</a:t>
            </a:r>
            <a:r>
              <a:rPr lang="pl-PL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?</a:t>
            </a: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 widzi tokeny, a nie litery. Poprawna odpowiedź to 5,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ale odpowiedź brzmi pewnie.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Temperatura i losowość odpowiedzi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39" name="Chart 0"/>
          <p:cNvGraphicFramePr/>
          <p:nvPr/>
        </p:nvGraphicFramePr>
        <p:xfrm>
          <a:off x="457200" y="1371600"/>
          <a:ext cx="6766200" cy="50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0" name="Text 1"/>
          <p:cNvSpPr/>
          <p:nvPr/>
        </p:nvSpPr>
        <p:spPr>
          <a:xfrm>
            <a:off x="7498080" y="1554480"/>
            <a:ext cx="42058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2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Niska temperatura daje odpowiedzi stabilne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 przewidywalne.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2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Wysoka daje większą różnorodność i więcej błędów.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200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To parametr losowania,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 nie nastrój modelu.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Halucynacje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Shape 1"/>
          <p:cNvSpPr/>
          <p:nvPr/>
        </p:nvSpPr>
        <p:spPr>
          <a:xfrm>
            <a:off x="548640" y="1463040"/>
            <a:ext cx="3504960" cy="475452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822960" y="1645920"/>
            <a:ext cx="2956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Co to jest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"/>
          <p:cNvSpPr/>
          <p:nvPr/>
        </p:nvSpPr>
        <p:spPr>
          <a:xfrm>
            <a:off x="822960" y="2331720"/>
            <a:ext cx="29563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Wiarygodnie brzmiąca, lecz nieprawdziwa odpowiedź, na przykład zmyślone źródło.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4328280" y="1463040"/>
            <a:ext cx="3504960" cy="475452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4602600" y="1645920"/>
            <a:ext cx="2956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Dlaczego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4602600" y="2331720"/>
            <a:ext cx="29563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 optymalizuje prawdopodobieństwo tekstu, a nie zgodność z faktami.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7"/>
          <p:cNvSpPr/>
          <p:nvPr/>
        </p:nvSpPr>
        <p:spPr>
          <a:xfrm>
            <a:off x="8107560" y="1463040"/>
            <a:ext cx="3504960" cy="475452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8381880" y="1645920"/>
            <a:ext cx="2956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Jak ograniczać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8381880" y="2331720"/>
            <a:ext cx="29563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Pytaj o źródła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 je sprawdzaj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Dostarczaj własne materiały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Weryfikuj liczby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 cytaty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Przykład: wymyślone źródło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548640" y="1463040"/>
            <a:ext cx="8686440" cy="1371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"/>
          <p:cNvSpPr/>
          <p:nvPr/>
        </p:nvSpPr>
        <p:spPr>
          <a:xfrm>
            <a:off x="777240" y="146304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Użytkownik: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Podaj polskie badanie o skuteczności terapii poznawczo-behawioralnej u młodzieży.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2926080" y="3063240"/>
            <a:ext cx="8686440" cy="1828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4"/>
          <p:cNvSpPr/>
          <p:nvPr/>
        </p:nvSpPr>
        <p:spPr>
          <a:xfrm>
            <a:off x="3040200" y="3063240"/>
            <a:ext cx="85107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Kowalska, A., Nowak, P. (2019). Skuteczność CBT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u nastolatków. Polskie Forum Psychologiczne, 24(3), s.211.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548640" y="5166360"/>
            <a:ext cx="1106388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822960" y="516636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Skutek</a:t>
            </a:r>
            <a:r>
              <a:rPr lang="pl-PL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?</a:t>
            </a: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Źródło wygląda wiarygodnie, ale może nie istnieć. Sprawdź je w bazie.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Dwa rodzaje pamięci modelu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548640" y="1463040"/>
            <a:ext cx="5394600" cy="4754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82296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Wagi modelu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822960" y="2331720"/>
            <a:ext cx="484596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Wiedza długotrwała, zamrożona po treningu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Nie zmienia się w rozmowie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Ma datę odcięcia wiedzy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Przypomina pamięć semantyczną bez własnych doświadczeń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"/>
          <p:cNvSpPr/>
          <p:nvPr/>
        </p:nvSpPr>
        <p:spPr>
          <a:xfrm>
            <a:off x="6217920" y="1463040"/>
            <a:ext cx="5394600" cy="4754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649224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Okno kontekstu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"/>
          <p:cNvSpPr/>
          <p:nvPr/>
        </p:nvSpPr>
        <p:spPr>
          <a:xfrm>
            <a:off x="6492240" y="2331720"/>
            <a:ext cx="484596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Pamięć robocza: tylko bieżąca rozmowa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Ma ograniczoną długość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Znika po zakończeniu rozmowy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Brak pamięci epizodycznej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Okno kontekstu i pamięć w aplikacjach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Shape 1"/>
          <p:cNvSpPr/>
          <p:nvPr/>
        </p:nvSpPr>
        <p:spPr>
          <a:xfrm>
            <a:off x="548640" y="1463040"/>
            <a:ext cx="2194200" cy="822600"/>
          </a:xfrm>
          <a:prstGeom prst="rect">
            <a:avLst/>
          </a:prstGeom>
          <a:solidFill>
            <a:srgbClr val="ffffff"/>
          </a:solidFill>
          <a:ln w="4445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"/>
          <p:cNvSpPr/>
          <p:nvPr/>
        </p:nvSpPr>
        <p:spPr>
          <a:xfrm>
            <a:off x="548640" y="146304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Instrukcje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"/>
          <p:cNvSpPr/>
          <p:nvPr/>
        </p:nvSpPr>
        <p:spPr>
          <a:xfrm>
            <a:off x="2743200" y="1463040"/>
            <a:ext cx="4754520" cy="822600"/>
          </a:xfrm>
          <a:prstGeom prst="rect">
            <a:avLst/>
          </a:prstGeom>
          <a:solidFill>
            <a:srgbClr val="ffffff"/>
          </a:solidFill>
          <a:ln w="4445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2743200" y="146304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Historia rozmowy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7498080" y="1463040"/>
            <a:ext cx="2377080" cy="822600"/>
          </a:xfrm>
          <a:prstGeom prst="rect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7498080" y="146304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Twoja wiadomość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7"/>
          <p:cNvSpPr/>
          <p:nvPr/>
        </p:nvSpPr>
        <p:spPr>
          <a:xfrm>
            <a:off x="9875520" y="1463040"/>
            <a:ext cx="1737000" cy="822600"/>
          </a:xfrm>
          <a:prstGeom prst="rect">
            <a:avLst/>
          </a:prstGeom>
          <a:solidFill>
            <a:srgbClr val="ffffff"/>
          </a:solidFill>
          <a:ln w="4445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8"/>
          <p:cNvSpPr/>
          <p:nvPr/>
        </p:nvSpPr>
        <p:spPr>
          <a:xfrm>
            <a:off x="9875520" y="1463040"/>
            <a:ext cx="1737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Odpowiedź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548640" y="246888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Gdy okno się zapełnia, najstarsze fragmenty wypadają z kontekstu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0"/>
          <p:cNvSpPr/>
          <p:nvPr/>
        </p:nvSpPr>
        <p:spPr>
          <a:xfrm>
            <a:off x="548640" y="3474720"/>
            <a:ext cx="3108600" cy="17370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1"/>
          <p:cNvSpPr/>
          <p:nvPr/>
        </p:nvSpPr>
        <p:spPr>
          <a:xfrm>
            <a:off x="685800" y="3474720"/>
            <a:ext cx="2834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Rozmowa 1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2"/>
          <p:cNvSpPr/>
          <p:nvPr/>
        </p:nvSpPr>
        <p:spPr>
          <a:xfrm>
            <a:off x="3703320" y="4343400"/>
            <a:ext cx="777240" cy="360"/>
          </a:xfrm>
          <a:prstGeom prst="line">
            <a:avLst/>
          </a:prstGeom>
          <a:ln w="4445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3"/>
          <p:cNvSpPr/>
          <p:nvPr/>
        </p:nvSpPr>
        <p:spPr>
          <a:xfrm>
            <a:off x="4526280" y="3474720"/>
            <a:ext cx="3108600" cy="17370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4663440" y="3474720"/>
            <a:ext cx="2834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Notatki o użytkowniku </a:t>
            </a:r>
            <a:r>
              <a:rPr lang="en-US" sz="2800" b="0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(zwykły tekst)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5"/>
          <p:cNvSpPr/>
          <p:nvPr/>
        </p:nvSpPr>
        <p:spPr>
          <a:xfrm>
            <a:off x="7680960" y="4343400"/>
            <a:ext cx="777240" cy="360"/>
          </a:xfrm>
          <a:prstGeom prst="line">
            <a:avLst/>
          </a:prstGeom>
          <a:ln w="44450">
            <a:solidFill>
              <a:srgbClr val="f29e4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6"/>
          <p:cNvSpPr/>
          <p:nvPr/>
        </p:nvSpPr>
        <p:spPr>
          <a:xfrm>
            <a:off x="8503920" y="3474720"/>
            <a:ext cx="3108600" cy="173700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8641080" y="3474720"/>
            <a:ext cx="28342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Rozmowa 2 </a:t>
            </a:r>
            <a:r>
              <a:rPr lang="en-US" sz="2800" b="0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(notatki w kontekście)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8"/>
          <p:cNvSpPr/>
          <p:nvPr/>
        </p:nvSpPr>
        <p:spPr>
          <a:xfrm>
            <a:off x="548640" y="55778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 się nie zmienia. Zmienia się tylko tekst, który dostaje na wejściu.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Jakość odpowiedzi a długość kontekstu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85" name="Chart 0"/>
          <p:cNvGraphicFramePr/>
          <p:nvPr/>
        </p:nvGraphicFramePr>
        <p:xfrm>
          <a:off x="457200" y="1371600"/>
          <a:ext cx="7040520" cy="50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Text 1"/>
          <p:cNvSpPr/>
          <p:nvPr/>
        </p:nvSpPr>
        <p:spPr>
          <a:xfrm>
            <a:off x="7498080" y="1554480"/>
            <a:ext cx="425520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Więcej tekstu w oknie nie znaczy lepszej odpowiedzi.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Przy długim kontekście rośnie ryzyko pominięć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 pomyłek.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Wklejaj tylko to, co potrzebne.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Kształt krzywej zależy od modelu, a wartości są schematyczne.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Efekt środka długiego kontekstu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88" name="Chart 0"/>
          <p:cNvGraphicFramePr/>
          <p:nvPr/>
        </p:nvGraphicFramePr>
        <p:xfrm>
          <a:off x="457200" y="1371600"/>
          <a:ext cx="6766200" cy="502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9" name="Text 1"/>
          <p:cNvSpPr/>
          <p:nvPr/>
        </p:nvSpPr>
        <p:spPr>
          <a:xfrm>
            <a:off x="7223760" y="1554480"/>
            <a:ext cx="469656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Informacje z początku i końca są wykorzystywane najlepiej.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Informacje ze środka długiego tekstu łatwiej zginąć.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4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Najważniejsze instrukcje dawaj na początku lub na końcu.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Przykład: pamięć w praktyce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Shape 1"/>
          <p:cNvSpPr/>
          <p:nvPr/>
        </p:nvSpPr>
        <p:spPr>
          <a:xfrm>
            <a:off x="548640" y="1463040"/>
            <a:ext cx="539460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82296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Jedna bardzo długa rozmowa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822960" y="2377440"/>
            <a:ext cx="4845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Wiadomość 1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: „Mam na imię Anna.”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Wiadomość 80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: „Jak mam na imię?”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: „Nie wiem.”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6217920" y="1463040"/>
            <a:ext cx="539460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649224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Nowa rozmowa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6492240" y="2377440"/>
            <a:ext cx="4845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Dzień 1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: plan nauki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Dzień 2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: „Wracamy do planu.”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b2a36"/>
              </a:buClr>
              <a:buFont typeface="Symbol" charset="2"/>
              <a:buChar char=""/>
            </a:pPr>
            <a:r>
              <a:rPr lang="en-US" sz="2800" b="1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: „Nie mam dostępu do wczorajszej rozmowy.”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548640" y="5257800"/>
            <a:ext cx="1106388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8"/>
          <p:cNvSpPr/>
          <p:nvPr/>
        </p:nvSpPr>
        <p:spPr>
          <a:xfrm>
            <a:off x="822960" y="525780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Ważne informacje trzeba powtarzać lub dołączać do polecenia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Od czego zależy jakość odpowiedzi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0" name="Shape 1"/>
          <p:cNvSpPr/>
          <p:nvPr/>
        </p:nvSpPr>
        <p:spPr>
          <a:xfrm>
            <a:off x="3840480" y="2148840"/>
            <a:ext cx="2240280" cy="187452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3840480" y="3794760"/>
            <a:ext cx="2240280" cy="22860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"/>
          <p:cNvSpPr/>
          <p:nvPr/>
        </p:nvSpPr>
        <p:spPr>
          <a:xfrm flipV="1">
            <a:off x="3840480" y="4023360"/>
            <a:ext cx="2240280" cy="141732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 flipV="1">
            <a:off x="6080760" y="2148840"/>
            <a:ext cx="2240280" cy="187452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5"/>
          <p:cNvSpPr/>
          <p:nvPr/>
        </p:nvSpPr>
        <p:spPr>
          <a:xfrm flipV="1">
            <a:off x="6080760" y="3794760"/>
            <a:ext cx="2240280" cy="22860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6"/>
          <p:cNvSpPr/>
          <p:nvPr/>
        </p:nvSpPr>
        <p:spPr>
          <a:xfrm>
            <a:off x="6080760" y="4023360"/>
            <a:ext cx="2240280" cy="1417320"/>
          </a:xfrm>
          <a:prstGeom prst="line">
            <a:avLst/>
          </a:prstGeom>
          <a:ln w="38100">
            <a:solidFill>
              <a:srgbClr val="c9a6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7"/>
          <p:cNvSpPr/>
          <p:nvPr/>
        </p:nvSpPr>
        <p:spPr>
          <a:xfrm>
            <a:off x="548640" y="1554480"/>
            <a:ext cx="329148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8"/>
          <p:cNvSpPr/>
          <p:nvPr/>
        </p:nvSpPr>
        <p:spPr>
          <a:xfrm>
            <a:off x="685800" y="155448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rozmiar i trening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9"/>
          <p:cNvSpPr/>
          <p:nvPr/>
        </p:nvSpPr>
        <p:spPr>
          <a:xfrm>
            <a:off x="548640" y="3200400"/>
            <a:ext cx="329148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0"/>
          <p:cNvSpPr/>
          <p:nvPr/>
        </p:nvSpPr>
        <p:spPr>
          <a:xfrm>
            <a:off x="685800" y="32004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Prompt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jasność i struktura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1"/>
          <p:cNvSpPr/>
          <p:nvPr/>
        </p:nvSpPr>
        <p:spPr>
          <a:xfrm>
            <a:off x="548640" y="4846320"/>
            <a:ext cx="329148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2"/>
          <p:cNvSpPr/>
          <p:nvPr/>
        </p:nvSpPr>
        <p:spPr>
          <a:xfrm>
            <a:off x="685800" y="484632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Kontekst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własne materiały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3"/>
          <p:cNvSpPr/>
          <p:nvPr/>
        </p:nvSpPr>
        <p:spPr>
          <a:xfrm>
            <a:off x="8321040" y="1554480"/>
            <a:ext cx="329148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4"/>
          <p:cNvSpPr/>
          <p:nvPr/>
        </p:nvSpPr>
        <p:spPr>
          <a:xfrm>
            <a:off x="8458200" y="155448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Parametry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temperatura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5"/>
          <p:cNvSpPr/>
          <p:nvPr/>
        </p:nvSpPr>
        <p:spPr>
          <a:xfrm>
            <a:off x="8321040" y="3200400"/>
            <a:ext cx="329148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8458200" y="32004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Narzędzia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wyszukiwanie, kod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7"/>
          <p:cNvSpPr/>
          <p:nvPr/>
        </p:nvSpPr>
        <p:spPr>
          <a:xfrm>
            <a:off x="8321040" y="4846320"/>
            <a:ext cx="329148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8"/>
          <p:cNvSpPr/>
          <p:nvPr/>
        </p:nvSpPr>
        <p:spPr>
          <a:xfrm>
            <a:off x="8458200" y="484632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2d5c"/>
                </a:solidFill>
                <a:effectLst/>
                <a:uFillTx/>
                <a:latin typeface="Calibri"/>
                <a:ea typeface="Calibri"/>
              </a:rPr>
              <a:t>Weryfikacja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ocena człowieka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9"/>
          <p:cNvSpPr/>
          <p:nvPr/>
        </p:nvSpPr>
        <p:spPr>
          <a:xfrm>
            <a:off x="4892040" y="2834640"/>
            <a:ext cx="2377080" cy="237708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b830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0"/>
          <p:cNvSpPr/>
          <p:nvPr/>
        </p:nvSpPr>
        <p:spPr>
          <a:xfrm>
            <a:off x="5074920" y="3474720"/>
            <a:ext cx="2011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Jakość odpowiedzi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Struktura dobrego promptu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Shape 1"/>
          <p:cNvSpPr/>
          <p:nvPr/>
        </p:nvSpPr>
        <p:spPr>
          <a:xfrm>
            <a:off x="502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594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1. Rola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594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kim ma być model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2532600" y="2880360"/>
            <a:ext cx="237960" cy="360"/>
          </a:xfrm>
          <a:prstGeom prst="line">
            <a:avLst/>
          </a:prstGeom>
          <a:ln w="44450">
            <a:solidFill>
              <a:srgbClr val="d6457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2788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2880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2. Kontekst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7"/>
          <p:cNvSpPr/>
          <p:nvPr/>
        </p:nvSpPr>
        <p:spPr>
          <a:xfrm>
            <a:off x="2880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dane i cel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8"/>
          <p:cNvSpPr/>
          <p:nvPr/>
        </p:nvSpPr>
        <p:spPr>
          <a:xfrm>
            <a:off x="4818600" y="2880360"/>
            <a:ext cx="237960" cy="360"/>
          </a:xfrm>
          <a:prstGeom prst="line">
            <a:avLst/>
          </a:prstGeom>
          <a:ln w="44450">
            <a:solidFill>
              <a:srgbClr val="2a9d8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9"/>
          <p:cNvSpPr/>
          <p:nvPr/>
        </p:nvSpPr>
        <p:spPr>
          <a:xfrm>
            <a:off x="5074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0"/>
          <p:cNvSpPr/>
          <p:nvPr/>
        </p:nvSpPr>
        <p:spPr>
          <a:xfrm>
            <a:off x="5166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3. Zadanie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1"/>
          <p:cNvSpPr/>
          <p:nvPr/>
        </p:nvSpPr>
        <p:spPr>
          <a:xfrm>
            <a:off x="5166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co dokładnie zrobić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2"/>
          <p:cNvSpPr/>
          <p:nvPr/>
        </p:nvSpPr>
        <p:spPr>
          <a:xfrm>
            <a:off x="7104600" y="2880360"/>
            <a:ext cx="237960" cy="360"/>
          </a:xfrm>
          <a:prstGeom prst="line">
            <a:avLst/>
          </a:prstGeom>
          <a:ln w="44450">
            <a:solidFill>
              <a:srgbClr val="f29e4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3"/>
          <p:cNvSpPr/>
          <p:nvPr/>
        </p:nvSpPr>
        <p:spPr>
          <a:xfrm>
            <a:off x="7360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4"/>
          <p:cNvSpPr/>
          <p:nvPr/>
        </p:nvSpPr>
        <p:spPr>
          <a:xfrm>
            <a:off x="7452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4. Format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5"/>
          <p:cNvSpPr/>
          <p:nvPr/>
        </p:nvSpPr>
        <p:spPr>
          <a:xfrm>
            <a:off x="7452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jak ma wyglądać wynik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6"/>
          <p:cNvSpPr/>
          <p:nvPr/>
        </p:nvSpPr>
        <p:spPr>
          <a:xfrm>
            <a:off x="9390600" y="2880360"/>
            <a:ext cx="237960" cy="360"/>
          </a:xfrm>
          <a:prstGeom prst="line">
            <a:avLst/>
          </a:prstGeom>
          <a:ln w="44450">
            <a:solidFill>
              <a:srgbClr val="5b6cc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7"/>
          <p:cNvSpPr/>
          <p:nvPr/>
        </p:nvSpPr>
        <p:spPr>
          <a:xfrm>
            <a:off x="9646920" y="1554480"/>
            <a:ext cx="2011320" cy="26514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8"/>
          <p:cNvSpPr/>
          <p:nvPr/>
        </p:nvSpPr>
        <p:spPr>
          <a:xfrm>
            <a:off x="9738360" y="173736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5. Granice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9"/>
          <p:cNvSpPr/>
          <p:nvPr/>
        </p:nvSpPr>
        <p:spPr>
          <a:xfrm>
            <a:off x="9738360" y="2377440"/>
            <a:ext cx="1828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czego unikać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0"/>
          <p:cNvSpPr/>
          <p:nvPr/>
        </p:nvSpPr>
        <p:spPr>
          <a:xfrm>
            <a:off x="502920" y="4572000"/>
            <a:ext cx="1115532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1"/>
          <p:cNvSpPr/>
          <p:nvPr/>
        </p:nvSpPr>
        <p:spPr>
          <a:xfrm>
            <a:off x="822960" y="4663440"/>
            <a:ext cx="10515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Precyzyjny prompt zawęża rozkład szans</a:t>
            </a:r>
            <a:r>
              <a:rPr lang="pl-PL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, 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l-PL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bo </a:t>
            </a: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 ma mniej sensownych kierunków do zgadywania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l-PL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S</a:t>
            </a: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łaby i dobry prompt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3" name="Shape 1"/>
          <p:cNvSpPr/>
          <p:nvPr/>
        </p:nvSpPr>
        <p:spPr>
          <a:xfrm>
            <a:off x="548640" y="1463040"/>
            <a:ext cx="446076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82296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Słaby prompt</a:t>
            </a:r>
            <a:endParaRPr lang="pl-P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"/>
          <p:cNvSpPr/>
          <p:nvPr/>
        </p:nvSpPr>
        <p:spPr>
          <a:xfrm>
            <a:off x="822960" y="2377440"/>
            <a:ext cx="48459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Napisz coś o lęku.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"/>
          <p:cNvSpPr/>
          <p:nvPr/>
        </p:nvSpPr>
        <p:spPr>
          <a:xfrm>
            <a:off x="5189400" y="1463040"/>
            <a:ext cx="6423120" cy="3565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5284080" y="1645920"/>
            <a:ext cx="605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Dobry prompt</a:t>
            </a:r>
            <a:endParaRPr lang="pl-P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5416200" y="2377440"/>
            <a:ext cx="59220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Jesteś asystentem psychologa. Przygotuj plan psychoedukacji o lęku społecznym dla nastolatków. Użyj prostego języka </a:t>
            </a:r>
            <a:br>
              <a:rPr sz="2800"/>
            </a:b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i listy punktowanej. Nie podawaj diagnoz.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548640" y="5257800"/>
            <a:ext cx="1106388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8"/>
          <p:cNvSpPr/>
          <p:nvPr/>
        </p:nvSpPr>
        <p:spPr>
          <a:xfrm>
            <a:off x="664200" y="5257800"/>
            <a:ext cx="10948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l-PL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Ko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nkretna rola, kontekst i format dają odpowiedź łatwą do sprawdzenia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Człowiek i model: porównanie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52" name="Table 0"/>
          <p:cNvGraphicFramePr/>
          <p:nvPr/>
        </p:nvGraphicFramePr>
        <p:xfrm>
          <a:off x="548640" y="1554480"/>
          <a:ext cx="11063880" cy="4800600"/>
        </p:xfrm>
        <a:graphic>
          <a:graphicData uri="http://schemas.openxmlformats.org/drawingml/2006/table">
            <a:tbl>
              <a:tblPr/>
              <a:tblGrid>
                <a:gridCol w="3200400"/>
                <a:gridCol w="3840480"/>
                <a:gridCol w="4023360"/>
              </a:tblGrid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1" u="none" strike="noStrike">
                          <a:solidFill>
                            <a:srgbClr val="b830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Cecha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1" u="none" strike="noStrike">
                          <a:solidFill>
                            <a:srgbClr val="1b7a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Człowiek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1" u="none" strike="noStrike">
                          <a:solidFill>
                            <a:srgbClr val="3f4f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językowy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1" u="none" strike="noStrike">
                          <a:solidFill>
                            <a:srgbClr val="6b3f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Pamięć epizodyczna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Własna biografia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Brak własnej biografii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1" u="none" strike="noStrike">
                          <a:solidFill>
                            <a:srgbClr val="6b3f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Uczenie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Ciągłe, przez całe życie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Tylko w treningu, </a:t>
                      </a:r>
                      <a:br>
                        <a:rPr sz="2800"/>
                      </a:b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nie w rozmowie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1" u="none" strike="noStrike">
                          <a:solidFill>
                            <a:srgbClr val="6b3f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Doświadczenie </a:t>
                      </a:r>
                      <a:br>
                        <a:rPr sz="2800"/>
                      </a:br>
                      <a:r>
                        <a:rPr lang="en-US" sz="2800" b="1" u="none" strike="noStrike">
                          <a:solidFill>
                            <a:srgbClr val="6b3f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 emocje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Tak, ucieleśnione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Brak, przetwarza tekst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1" u="none" strike="noStrike">
                          <a:solidFill>
                            <a:srgbClr val="6b3f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Typowe błędy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Zniekształcenia poznawcze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800" b="0" u="none" strike="noStrike">
                          <a:solidFill>
                            <a:srgbClr val="3b2a3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Halucynacje i stronniczość danych</a:t>
                      </a:r>
                      <a:endParaRPr lang="pl-PL" sz="2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8720">
                      <a:solidFill>
                        <a:srgbClr val="d9c3d3"/>
                      </a:solidFill>
                      <a:prstDash val="solid"/>
                    </a:lnL>
                    <a:lnR w="18720">
                      <a:solidFill>
                        <a:srgbClr val="d9c3d3"/>
                      </a:solidFill>
                      <a:prstDash val="solid"/>
                    </a:lnR>
                    <a:lnT w="18720">
                      <a:solidFill>
                        <a:srgbClr val="d9c3d3"/>
                      </a:solidFill>
                      <a:prstDash val="solid"/>
                    </a:lnT>
                    <a:lnB w="18720">
                      <a:solidFill>
                        <a:srgbClr val="d9c3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Efekt ELIZA i antropomorfizacja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4" name="Shape 1"/>
          <p:cNvSpPr/>
          <p:nvPr/>
        </p:nvSpPr>
        <p:spPr>
          <a:xfrm>
            <a:off x="548640" y="1463040"/>
            <a:ext cx="3504960" cy="475452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3810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822960" y="1645920"/>
            <a:ext cx="2956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ELIZA, 1966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680040" y="2331720"/>
            <a:ext cx="326664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Prosty program Weizenbauma naśladował rozmowę terapeutyczną. Użytkownicy przypisywali mu zrozumienie.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4328280" y="1463040"/>
            <a:ext cx="3504960" cy="475452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"/>
          <p:cNvSpPr/>
          <p:nvPr/>
        </p:nvSpPr>
        <p:spPr>
          <a:xfrm>
            <a:off x="4602600" y="1645920"/>
            <a:ext cx="2956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6b2d5c"/>
                </a:solidFill>
                <a:effectLst/>
                <a:uFillTx/>
                <a:latin typeface="Calibri"/>
                <a:ea typeface="Calibri"/>
              </a:rPr>
              <a:t>Dlaczego działa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"/>
          <p:cNvSpPr/>
          <p:nvPr/>
        </p:nvSpPr>
        <p:spPr>
          <a:xfrm>
            <a:off x="4602600" y="2331720"/>
            <a:ext cx="29563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Automatycznie przypisujemy umysł temu, co mówi płynnie.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8107560" y="1463040"/>
            <a:ext cx="3504960" cy="475452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8"/>
          <p:cNvSpPr/>
          <p:nvPr/>
        </p:nvSpPr>
        <p:spPr>
          <a:xfrm>
            <a:off x="8381880" y="1645920"/>
            <a:ext cx="2956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Wniosek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9"/>
          <p:cNvSpPr/>
          <p:nvPr/>
        </p:nvSpPr>
        <p:spPr>
          <a:xfrm>
            <a:off x="8381880" y="2331720"/>
            <a:ext cx="29563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Wrażenie empatii nie dowodzi rozumienia i grozi nadmiernym zaufaniem.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l-PL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Sykofanacja</a:t>
            </a: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: model zgadza się z każdym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4" name="Shape 1"/>
          <p:cNvSpPr/>
          <p:nvPr/>
        </p:nvSpPr>
        <p:spPr>
          <a:xfrm>
            <a:off x="548640" y="1463040"/>
            <a:ext cx="868644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777240" y="146304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Użytkownik: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Uważam, że 10 sesji wystarczy każdemu pacjentowi. Zgadzasz się?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"/>
          <p:cNvSpPr/>
          <p:nvPr/>
        </p:nvSpPr>
        <p:spPr>
          <a:xfrm>
            <a:off x="2926080" y="2697480"/>
            <a:ext cx="868644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4"/>
          <p:cNvSpPr/>
          <p:nvPr/>
        </p:nvSpPr>
        <p:spPr>
          <a:xfrm>
            <a:off x="3154680" y="26974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Tak, to rozsądne podejście.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5"/>
          <p:cNvSpPr/>
          <p:nvPr/>
        </p:nvSpPr>
        <p:spPr>
          <a:xfrm>
            <a:off x="548640" y="3566160"/>
            <a:ext cx="868644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6"/>
          <p:cNvSpPr/>
          <p:nvPr/>
        </p:nvSpPr>
        <p:spPr>
          <a:xfrm>
            <a:off x="777240" y="35661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Użytkownik: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 jeśli uważam, że potrzeba 40 sesji?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2926080" y="4434840"/>
            <a:ext cx="868644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8"/>
          <p:cNvSpPr/>
          <p:nvPr/>
        </p:nvSpPr>
        <p:spPr>
          <a:xfrm>
            <a:off x="3154680" y="44348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Model: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Tak, to też bardzo rozsądne.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9"/>
          <p:cNvSpPr/>
          <p:nvPr/>
        </p:nvSpPr>
        <p:spPr>
          <a:xfrm>
            <a:off x="548640" y="5349240"/>
            <a:ext cx="11063880" cy="100548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8100">
            <a:solidFill>
              <a:srgbClr val="6b2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822960" y="53492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Skutek: </a:t>
            </a: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 dopasowuje się do rozmówcy, więc jego zgoda nie jest dowodem.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Zasady ostrożnego użycia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5" name="Shape 1"/>
          <p:cNvSpPr/>
          <p:nvPr/>
        </p:nvSpPr>
        <p:spPr>
          <a:xfrm>
            <a:off x="548640" y="1463040"/>
            <a:ext cx="5394600" cy="22399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3810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82296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Poufność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822960" y="2194560"/>
            <a:ext cx="4845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Nie wpisuj danych identyfikujących pacjentów do ogólnodostępnych narzędzi.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4"/>
          <p:cNvSpPr/>
          <p:nvPr/>
        </p:nvSpPr>
        <p:spPr>
          <a:xfrm>
            <a:off x="6217920" y="1463040"/>
            <a:ext cx="5394600" cy="22399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381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5"/>
          <p:cNvSpPr/>
          <p:nvPr/>
        </p:nvSpPr>
        <p:spPr>
          <a:xfrm>
            <a:off x="6492240" y="16459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Weryfikacja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6"/>
          <p:cNvSpPr/>
          <p:nvPr/>
        </p:nvSpPr>
        <p:spPr>
          <a:xfrm>
            <a:off x="6492240" y="2194560"/>
            <a:ext cx="4845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Sprawdzaj wyniki w literaturze, zwłaszcza źródła i liczby.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7"/>
          <p:cNvSpPr/>
          <p:nvPr/>
        </p:nvSpPr>
        <p:spPr>
          <a:xfrm>
            <a:off x="548640" y="3977640"/>
            <a:ext cx="5394600" cy="22399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3810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8"/>
          <p:cNvSpPr/>
          <p:nvPr/>
        </p:nvSpPr>
        <p:spPr>
          <a:xfrm>
            <a:off x="822960" y="41605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Granice roli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9"/>
          <p:cNvSpPr/>
          <p:nvPr/>
        </p:nvSpPr>
        <p:spPr>
          <a:xfrm>
            <a:off x="822960" y="4709160"/>
            <a:ext cx="4845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AI nie diagnozuje i nie zastępuje terapeuty. Może wspierać pracę z materiałem.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0"/>
          <p:cNvSpPr/>
          <p:nvPr/>
        </p:nvSpPr>
        <p:spPr>
          <a:xfrm>
            <a:off x="6217920" y="3977640"/>
            <a:ext cx="5394600" cy="223992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3810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1"/>
          <p:cNvSpPr/>
          <p:nvPr/>
        </p:nvSpPr>
        <p:spPr>
          <a:xfrm>
            <a:off x="6492240" y="4160520"/>
            <a:ext cx="484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Stronniczość i uległość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2"/>
          <p:cNvSpPr/>
          <p:nvPr/>
        </p:nvSpPr>
        <p:spPr>
          <a:xfrm>
            <a:off x="6492240" y="4709160"/>
            <a:ext cx="4845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 odtwarza uprzedzenia z danych i chętnie zgadza się z użytkownikiem.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l-PL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W</a:t>
            </a:r>
            <a:r>
              <a:rPr lang="en-US" sz="3600" b="1" u="none" strike="noStrike">
                <a:solidFill>
                  <a:srgbClr val="6b2d5c"/>
                </a:solidFill>
                <a:effectLst/>
                <a:uFillTx/>
                <a:latin typeface="Georgia"/>
                <a:ea typeface="Georgia"/>
              </a:rPr>
              <a:t>nioski</a:t>
            </a:r>
            <a:endParaRPr lang="pl-PL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8" name="Shape 1"/>
          <p:cNvSpPr/>
          <p:nvPr/>
        </p:nvSpPr>
        <p:spPr>
          <a:xfrm>
            <a:off x="640080" y="150876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d645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"/>
          <p:cNvSpPr/>
          <p:nvPr/>
        </p:nvSpPr>
        <p:spPr>
          <a:xfrm>
            <a:off x="640080" y="15087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305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"/>
          <p:cNvSpPr/>
          <p:nvPr/>
        </p:nvSpPr>
        <p:spPr>
          <a:xfrm>
            <a:off x="1645920" y="150876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AI to dziedzina, a czatbot to model językowy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4"/>
          <p:cNvSpPr/>
          <p:nvPr/>
        </p:nvSpPr>
        <p:spPr>
          <a:xfrm>
            <a:off x="640080" y="246888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5"/>
          <p:cNvSpPr/>
          <p:nvPr/>
        </p:nvSpPr>
        <p:spPr>
          <a:xfrm>
            <a:off x="640080" y="246888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b7a7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6"/>
          <p:cNvSpPr/>
          <p:nvPr/>
        </p:nvSpPr>
        <p:spPr>
          <a:xfrm>
            <a:off x="1645920" y="246888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Model przewiduje kolejne słowa, nie sprawdza prawdy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7"/>
          <p:cNvSpPr/>
          <p:nvPr/>
        </p:nvSpPr>
        <p:spPr>
          <a:xfrm>
            <a:off x="640080" y="342900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f29e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8"/>
          <p:cNvSpPr/>
          <p:nvPr/>
        </p:nvSpPr>
        <p:spPr>
          <a:xfrm>
            <a:off x="640080" y="342900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b86a1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9"/>
          <p:cNvSpPr/>
          <p:nvPr/>
        </p:nvSpPr>
        <p:spPr>
          <a:xfrm>
            <a:off x="1645920" y="342900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Wiedza jest zamrożona, a pamięć robocza ograniczona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0"/>
          <p:cNvSpPr/>
          <p:nvPr/>
        </p:nvSpPr>
        <p:spPr>
          <a:xfrm>
            <a:off x="640080" y="438912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5b6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1"/>
          <p:cNvSpPr/>
          <p:nvPr/>
        </p:nvSpPr>
        <p:spPr>
          <a:xfrm>
            <a:off x="640080" y="43891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3f4fa8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2"/>
          <p:cNvSpPr/>
          <p:nvPr/>
        </p:nvSpPr>
        <p:spPr>
          <a:xfrm>
            <a:off x="1645920" y="438912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Płynność wypowiedzi nie oznacza rozumienia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3"/>
          <p:cNvSpPr/>
          <p:nvPr/>
        </p:nvSpPr>
        <p:spPr>
          <a:xfrm>
            <a:off x="640080" y="5349240"/>
            <a:ext cx="731160" cy="73116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8e5c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4"/>
          <p:cNvSpPr/>
          <p:nvPr/>
        </p:nvSpPr>
        <p:spPr>
          <a:xfrm>
            <a:off x="640080" y="53492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6b3fa8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5"/>
          <p:cNvSpPr/>
          <p:nvPr/>
        </p:nvSpPr>
        <p:spPr>
          <a:xfrm>
            <a:off x="1645920" y="5349240"/>
            <a:ext cx="9966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3b2a36"/>
                </a:solidFill>
                <a:effectLst/>
                <a:uFillTx/>
                <a:latin typeface="Calibri"/>
                <a:ea typeface="Calibri"/>
              </a:rPr>
              <a:t>Używaj AI krytycznie, chroń dane i weryfikuj wyniki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LibreOffice/25.8.7.3$Linux_X86_64 LibreOffice_project/580$Build-3</Application>
  <AppVersion>15.0000</AppVersion>
  <Words>1380</Words>
  <Paragraphs>290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2026-10-19T08:23:12Z</dcterms:created>
  <dc:creator>dr inż. Mateusz Pomianek</dc:creator>
  <dc:description/>
  <dc:language>pl-PL</dc:language>
  <cp:lastModifiedBy>Mateusz Pomianek</cp:lastModifiedBy>
  <dcterms:modified xsi:type="dcterms:W3CDTF">2026-10-30T16:38:18Z</dcterms:modified>
  <cp:revision>22</cp:revision>
  <dc:subject>PptxGenJS Presentation</dc:subject>
  <dc:title>Sztuczna inteligencja dla psychologów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Panoramiczny</vt:lpwstr>
  </property>
  <property fmtid="{D5CDD505-2E9C-101B-9397-08002B2CF9AE}" pid="4" name="Slides">
    <vt:i4>29</vt:i4>
  </property>
</Properties>
</file>