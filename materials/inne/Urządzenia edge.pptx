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przesunąć slajd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l-PL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Kliknij, aby edytować format notatek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1D3E1E2-64B7-4E98-AF00-3366B798D53F}" type="slidenum">
              <a:rPr lang="pl-PL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pl-PL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A14B05-CA50-4EB7-B74A-A4FA24B649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5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ABEEBF4-03AA-4099-926A-2706AEF39A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8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78408D-1E3B-4E4A-8B3F-34C8C7B883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51A056-737D-4593-9054-E32EB04A1B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4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4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9572135-8676-4889-A7A0-4F0E9AE20C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5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7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50A4DE-6C71-4576-81A9-D8E3F1839AA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0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317F07-D2E7-41E0-83F9-00FD032F0E4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7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3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40BED92-512E-4917-9BBE-8BC7EA2063F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8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605FBD4-E128-40BD-B3C2-DB70B541D6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9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21D0CC-BF41-45A7-862C-24E25FA263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10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AD7792-F6E8-4215-B1FC-8D4FF064A01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7C82FF-5B6E-44E8-81F0-CDEAB6CE2A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12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CB1C4A-E3B2-4481-AABA-CF35AF80E0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13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98BCFAE-CE98-4766-A70A-90B1BD3F901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5133A3-EFB4-44A9-B69A-724C2CD6CD2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54986B-0DFE-48A2-9621-3E47883A5E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F3CEF1A-069B-4754-BE29-D97CA7DDBA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17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D1B306C-32D1-48A9-9A09-8907527B74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18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F4E188-7CF7-459A-ABE0-DA7D79BE067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0D5814-18B6-4108-AE3D-E4819E0D99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20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D126C8-5E4B-418D-8B0C-8730DEF669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21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5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57810D-4188-4B8E-842A-B208AA4365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22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9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8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E49DEFF-86FF-495A-959F-7B717A8ADBA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1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B7C8B90-95EF-408E-80B2-79277D320B5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24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4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1D727AB-9A93-4A62-AD55-C1089E41A7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25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7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9EDE28-6FED-46CF-9137-0CB4E9C2F7C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26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0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D80F71-4401-4D66-8266-EDB4C058DB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27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3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51CF33-4AE7-4BD9-BC4C-DF923F89197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28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6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8F3BFC-11C3-494C-9FA4-55F476AA7B2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29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0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>
              <a:buNone/>
            </a:pPr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9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CE2C4E-56D2-4895-9FBB-2FC2741A40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30</a:t>
            </a:fld>
            <a:endParaRPr lang="pl-PL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pl-PL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tytułu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Kliknij, aby edytować format tekstu konspektu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Drugi poziom konspektu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Trzeci poziom konspektu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Czwarty poziom konspektu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Piąty poziom konspektu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Szósty poziom konspektu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l-PL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Siódmy poziom konspektu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360" cy="514332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1371600" y="0"/>
            <a:ext cx="360" cy="514332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2743200" y="0"/>
            <a:ext cx="360" cy="514332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114800" y="0"/>
            <a:ext cx="360" cy="514332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486400" y="0"/>
            <a:ext cx="360" cy="514332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6858000" y="0"/>
            <a:ext cx="360" cy="514332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8229600" y="0"/>
            <a:ext cx="360" cy="514332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0" y="0"/>
            <a:ext cx="9144000" cy="36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8"/>
          <p:cNvSpPr/>
          <p:nvPr/>
        </p:nvSpPr>
        <p:spPr>
          <a:xfrm>
            <a:off x="0" y="1280160"/>
            <a:ext cx="9144000" cy="36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0" y="2560320"/>
            <a:ext cx="9144000" cy="36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0"/>
          <p:cNvSpPr/>
          <p:nvPr/>
        </p:nvSpPr>
        <p:spPr>
          <a:xfrm>
            <a:off x="0" y="3840480"/>
            <a:ext cx="9144000" cy="360"/>
          </a:xfrm>
          <a:prstGeom prst="line">
            <a:avLst/>
          </a:prstGeom>
          <a:ln w="3810">
            <a:solidFill>
              <a:srgbClr val="FFFFFF">
                <a:alpha val="8000"/>
              </a:srgbClr>
            </a:solidFill>
            <a:prstDash val="sysDot"/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12"/>
          <p:cNvSpPr/>
          <p:nvPr/>
        </p:nvSpPr>
        <p:spPr>
          <a:xfrm>
            <a:off x="457200" y="731520"/>
            <a:ext cx="72720" cy="41144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3"/>
          <p:cNvSpPr/>
          <p:nvPr/>
        </p:nvSpPr>
        <p:spPr>
          <a:xfrm>
            <a:off x="685800" y="7772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499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URZĄDZENIA BRZEGOWE (EDGE)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85800" y="1280160"/>
            <a:ext cx="7772040" cy="1828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dla robotów</a:t>
            </a:r>
            <a:endParaRPr lang="pl-PL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humanoidalnych</a:t>
            </a:r>
            <a:endParaRPr lang="pl-PL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685800" y="3154680"/>
            <a:ext cx="77720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Stan aktualny · Luki technologiczne · Perspektywy</a:t>
            </a:r>
            <a:endParaRPr lang="pl-PL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Radar Aptiv SRR8+ · PULSE · Sensing THz</a:t>
            </a:r>
            <a:endParaRPr lang="pl-PL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16"/>
          <p:cNvSpPr/>
          <p:nvPr/>
        </p:nvSpPr>
        <p:spPr>
          <a:xfrm>
            <a:off x="685800" y="4005000"/>
            <a:ext cx="5028840" cy="45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720" rIns="90000" bIns="72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7"/>
          <p:cNvSpPr/>
          <p:nvPr/>
        </p:nvSpPr>
        <p:spPr>
          <a:xfrm>
            <a:off x="685800" y="4114800"/>
            <a:ext cx="77720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A7A90"/>
                </a:solidFill>
                <a:effectLst/>
                <a:uFillTx/>
                <a:latin typeface="Calibri"/>
                <a:ea typeface="Calibri"/>
              </a:rPr>
              <a:t>Prezentacja techniczna dla Rady Gospodarczej  ·  2026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5A7A90"/>
                </a:solidFill>
                <a:effectLst/>
                <a:uFillTx/>
                <a:latin typeface="Calibri"/>
                <a:ea typeface="Calibri"/>
              </a:rPr>
              <a:t>dr inż. Tomasz Żabiński, dr inż. Mateusz Pomianek</a:t>
            </a:r>
            <a:endParaRPr lang="pl-PL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Shape 18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50B10"/>
          </a:solidFill>
          <a:ln w="12700">
            <a:solidFill>
              <a:srgbClr val="050B1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9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3A5060"/>
                </a:solidFill>
                <a:effectLst/>
                <a:uFillTx/>
                <a:latin typeface="Calibri"/>
                <a:ea typeface="Calibri"/>
              </a:rPr>
              <a:t>1 / 30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Plan prezentacji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2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274320" y="804600"/>
            <a:ext cx="502560" cy="50256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6"/>
          <p:cNvSpPr/>
          <p:nvPr/>
        </p:nvSpPr>
        <p:spPr>
          <a:xfrm>
            <a:off x="274320" y="8046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877680" y="831960"/>
            <a:ext cx="6217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Kontekst i definicje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8"/>
          <p:cNvSpPr/>
          <p:nvPr/>
        </p:nvSpPr>
        <p:spPr>
          <a:xfrm>
            <a:off x="877680" y="108828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Dlaczego edge ma znaczenie — latencja, autonomia, bezpieczeństwo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9"/>
          <p:cNvSpPr/>
          <p:nvPr/>
        </p:nvSpPr>
        <p:spPr>
          <a:xfrm>
            <a:off x="8138160" y="9234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slajdy 3–5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0"/>
          <p:cNvSpPr/>
          <p:nvPr/>
        </p:nvSpPr>
        <p:spPr>
          <a:xfrm>
            <a:off x="274320" y="1334880"/>
            <a:ext cx="8595360" cy="360"/>
          </a:xfrm>
          <a:prstGeom prst="line">
            <a:avLst/>
          </a:prstGeom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1"/>
          <p:cNvSpPr/>
          <p:nvPr/>
        </p:nvSpPr>
        <p:spPr>
          <a:xfrm>
            <a:off x="274320" y="1472040"/>
            <a:ext cx="502560" cy="5025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2"/>
          <p:cNvSpPr/>
          <p:nvPr/>
        </p:nvSpPr>
        <p:spPr>
          <a:xfrm>
            <a:off x="274320" y="14720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II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877680" y="1499760"/>
            <a:ext cx="6217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Aktualny stan urządzeń brzegowych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4"/>
          <p:cNvSpPr/>
          <p:nvPr/>
        </p:nvSpPr>
        <p:spPr>
          <a:xfrm>
            <a:off x="877680" y="175572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Sensory wizyjne, LiDAR, IMU, obliczenia na robocie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8138160" y="159120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0096C7"/>
                </a:solidFill>
                <a:effectLst/>
                <a:uFillTx/>
                <a:latin typeface="Calibri"/>
                <a:ea typeface="Calibri"/>
              </a:rPr>
              <a:t>slajdy 6–12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6"/>
          <p:cNvSpPr/>
          <p:nvPr/>
        </p:nvSpPr>
        <p:spPr>
          <a:xfrm>
            <a:off x="274320" y="2002320"/>
            <a:ext cx="8595360" cy="360"/>
          </a:xfrm>
          <a:prstGeom prst="line">
            <a:avLst/>
          </a:prstGeom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Shape 17"/>
          <p:cNvSpPr/>
          <p:nvPr/>
        </p:nvSpPr>
        <p:spPr>
          <a:xfrm>
            <a:off x="274320" y="2139840"/>
            <a:ext cx="502560" cy="502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8"/>
          <p:cNvSpPr/>
          <p:nvPr/>
        </p:nvSpPr>
        <p:spPr>
          <a:xfrm>
            <a:off x="274320" y="2139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III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9"/>
          <p:cNvSpPr/>
          <p:nvPr/>
        </p:nvSpPr>
        <p:spPr>
          <a:xfrm>
            <a:off x="877680" y="2167200"/>
            <a:ext cx="6217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Analiza luk technologicznych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0"/>
          <p:cNvSpPr/>
          <p:nvPr/>
        </p:nvSpPr>
        <p:spPr>
          <a:xfrm>
            <a:off x="877680" y="242316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Co brakuje — wykrywanie ludzi, close-range, energie, latencje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1"/>
          <p:cNvSpPr/>
          <p:nvPr/>
        </p:nvSpPr>
        <p:spPr>
          <a:xfrm>
            <a:off x="8138160" y="225864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slajdy 13–17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22"/>
          <p:cNvSpPr/>
          <p:nvPr/>
        </p:nvSpPr>
        <p:spPr>
          <a:xfrm>
            <a:off x="274320" y="2669760"/>
            <a:ext cx="8595360" cy="360"/>
          </a:xfrm>
          <a:prstGeom prst="line">
            <a:avLst/>
          </a:prstGeom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23"/>
          <p:cNvSpPr/>
          <p:nvPr/>
        </p:nvSpPr>
        <p:spPr>
          <a:xfrm>
            <a:off x="274320" y="2807280"/>
            <a:ext cx="502560" cy="5025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4"/>
          <p:cNvSpPr/>
          <p:nvPr/>
        </p:nvSpPr>
        <p:spPr>
          <a:xfrm>
            <a:off x="274320" y="28072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IV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5"/>
          <p:cNvSpPr/>
          <p:nvPr/>
        </p:nvSpPr>
        <p:spPr>
          <a:xfrm>
            <a:off x="877680" y="2834640"/>
            <a:ext cx="6217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Radar i detekcja człowieka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26"/>
          <p:cNvSpPr/>
          <p:nvPr/>
        </p:nvSpPr>
        <p:spPr>
          <a:xfrm>
            <a:off x="877680" y="309060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Aptiv SRR8+, PULSE, architektura fuzji sensorycznej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7"/>
          <p:cNvSpPr/>
          <p:nvPr/>
        </p:nvSpPr>
        <p:spPr>
          <a:xfrm>
            <a:off x="8138160" y="292608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6C3483"/>
                </a:solidFill>
                <a:effectLst/>
                <a:uFillTx/>
                <a:latin typeface="Calibri"/>
                <a:ea typeface="Calibri"/>
              </a:rPr>
              <a:t>slajdy 18–22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8"/>
          <p:cNvSpPr/>
          <p:nvPr/>
        </p:nvSpPr>
        <p:spPr>
          <a:xfrm>
            <a:off x="274320" y="3337560"/>
            <a:ext cx="8595360" cy="360"/>
          </a:xfrm>
          <a:prstGeom prst="line">
            <a:avLst/>
          </a:prstGeom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9"/>
          <p:cNvSpPr/>
          <p:nvPr/>
        </p:nvSpPr>
        <p:spPr>
          <a:xfrm>
            <a:off x="274320" y="3474720"/>
            <a:ext cx="502560" cy="502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0"/>
          <p:cNvSpPr/>
          <p:nvPr/>
        </p:nvSpPr>
        <p:spPr>
          <a:xfrm>
            <a:off x="274320" y="34747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31"/>
          <p:cNvSpPr/>
          <p:nvPr/>
        </p:nvSpPr>
        <p:spPr>
          <a:xfrm>
            <a:off x="877680" y="3502080"/>
            <a:ext cx="6217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Sensing w zakresie THz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32"/>
          <p:cNvSpPr/>
          <p:nvPr/>
        </p:nvSpPr>
        <p:spPr>
          <a:xfrm>
            <a:off x="877680" y="375804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Zasady fizyczne, aplikacje, TRL, integracja z robotem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3"/>
          <p:cNvSpPr/>
          <p:nvPr/>
        </p:nvSpPr>
        <p:spPr>
          <a:xfrm>
            <a:off x="8138160" y="359352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slajdy 23–26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34"/>
          <p:cNvSpPr/>
          <p:nvPr/>
        </p:nvSpPr>
        <p:spPr>
          <a:xfrm>
            <a:off x="274320" y="4005000"/>
            <a:ext cx="8595360" cy="360"/>
          </a:xfrm>
          <a:prstGeom prst="line">
            <a:avLst/>
          </a:prstGeom>
          <a:ln w="635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35"/>
          <p:cNvSpPr/>
          <p:nvPr/>
        </p:nvSpPr>
        <p:spPr>
          <a:xfrm>
            <a:off x="274320" y="4142160"/>
            <a:ext cx="502560" cy="50256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6"/>
          <p:cNvSpPr/>
          <p:nvPr/>
        </p:nvSpPr>
        <p:spPr>
          <a:xfrm>
            <a:off x="274320" y="4142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VI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7"/>
          <p:cNvSpPr/>
          <p:nvPr/>
        </p:nvSpPr>
        <p:spPr>
          <a:xfrm>
            <a:off x="877680" y="4169520"/>
            <a:ext cx="621756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Mapa drogowa i rekomendacje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38"/>
          <p:cNvSpPr/>
          <p:nvPr/>
        </p:nvSpPr>
        <p:spPr>
          <a:xfrm>
            <a:off x="877680" y="4425840"/>
            <a:ext cx="62175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Prognozy TRL, kierunki R&amp;D, rekomendacje dla rady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9"/>
          <p:cNvSpPr/>
          <p:nvPr/>
        </p:nvSpPr>
        <p:spPr>
          <a:xfrm>
            <a:off x="8138160" y="4260960"/>
            <a:ext cx="77688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2EC4B6"/>
                </a:solidFill>
                <a:effectLst/>
                <a:uFillTx/>
                <a:latin typeface="Calibri"/>
                <a:ea typeface="Calibri"/>
              </a:rPr>
              <a:t>slajdy 27–30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"/>
          <p:cNvSpPr/>
          <p:nvPr/>
        </p:nvSpPr>
        <p:spPr>
          <a:xfrm>
            <a:off x="320039" y="45720"/>
            <a:ext cx="8630401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Dlaczego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przetwarzanie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brzegowe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(edge) jest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kluczowe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robotów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humanoidalnych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?</a:t>
            </a:r>
            <a:endParaRPr lang="pl-PL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3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5"/>
          <p:cNvSpPr/>
          <p:nvPr/>
        </p:nvSpPr>
        <p:spPr>
          <a:xfrm>
            <a:off x="274320" y="777240"/>
            <a:ext cx="1965600" cy="1142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6"/>
          <p:cNvSpPr/>
          <p:nvPr/>
        </p:nvSpPr>
        <p:spPr>
          <a:xfrm>
            <a:off x="274320" y="777240"/>
            <a:ext cx="63720" cy="1142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7"/>
          <p:cNvSpPr/>
          <p:nvPr/>
        </p:nvSpPr>
        <p:spPr>
          <a:xfrm>
            <a:off x="411480" y="821962"/>
            <a:ext cx="176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&lt;5 ms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8"/>
          <p:cNvSpPr/>
          <p:nvPr/>
        </p:nvSpPr>
        <p:spPr>
          <a:xfrm>
            <a:off x="411480" y="1302202"/>
            <a:ext cx="176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wymagana latencja reaktywna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411480" y="1668960"/>
            <a:ext cx="18284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ISO TS 15066 — </a:t>
            </a:r>
            <a:r>
              <a:rPr lang="en-US" sz="90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kontakt</a:t>
            </a:r>
            <a:r>
              <a:rPr lang="en-US" sz="90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z </a:t>
            </a:r>
            <a:r>
              <a:rPr lang="en-US" sz="90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człowiekiem</a:t>
            </a:r>
            <a:endParaRPr lang="pl-PL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10"/>
          <p:cNvSpPr/>
          <p:nvPr/>
        </p:nvSpPr>
        <p:spPr>
          <a:xfrm>
            <a:off x="2377440" y="777240"/>
            <a:ext cx="1965600" cy="1142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11"/>
          <p:cNvSpPr/>
          <p:nvPr/>
        </p:nvSpPr>
        <p:spPr>
          <a:xfrm>
            <a:off x="2377440" y="777240"/>
            <a:ext cx="63720" cy="114264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2"/>
          <p:cNvSpPr/>
          <p:nvPr/>
        </p:nvSpPr>
        <p:spPr>
          <a:xfrm>
            <a:off x="2514600" y="821962"/>
            <a:ext cx="176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~1 500 W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3"/>
          <p:cNvSpPr/>
          <p:nvPr/>
        </p:nvSpPr>
        <p:spPr>
          <a:xfrm>
            <a:off x="2514600" y="1302202"/>
            <a:ext cx="176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pobór mocy platformy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2514600" y="1668960"/>
            <a:ext cx="176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w tym obliczenia edge: 100–300 W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5"/>
          <p:cNvSpPr/>
          <p:nvPr/>
        </p:nvSpPr>
        <p:spPr>
          <a:xfrm>
            <a:off x="4480560" y="777240"/>
            <a:ext cx="1965600" cy="1142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16"/>
          <p:cNvSpPr/>
          <p:nvPr/>
        </p:nvSpPr>
        <p:spPr>
          <a:xfrm>
            <a:off x="4480560" y="777240"/>
            <a:ext cx="63720" cy="11426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4617720" y="821962"/>
            <a:ext cx="176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&gt;100 ms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8"/>
          <p:cNvSpPr/>
          <p:nvPr/>
        </p:nvSpPr>
        <p:spPr>
          <a:xfrm>
            <a:off x="4617720" y="1302202"/>
            <a:ext cx="176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latencja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chmury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4G/5G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9"/>
          <p:cNvSpPr/>
          <p:nvPr/>
        </p:nvSpPr>
        <p:spPr>
          <a:xfrm>
            <a:off x="4617720" y="1608894"/>
            <a:ext cx="176436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niedopuszczalna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sterowania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ruchem</a:t>
            </a:r>
            <a:endParaRPr lang="pl-PL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20"/>
          <p:cNvSpPr/>
          <p:nvPr/>
        </p:nvSpPr>
        <p:spPr>
          <a:xfrm>
            <a:off x="6583680" y="777240"/>
            <a:ext cx="1965600" cy="114264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1"/>
          <p:cNvSpPr/>
          <p:nvPr/>
        </p:nvSpPr>
        <p:spPr>
          <a:xfrm>
            <a:off x="6583680" y="777240"/>
            <a:ext cx="63720" cy="1142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2"/>
          <p:cNvSpPr/>
          <p:nvPr/>
        </p:nvSpPr>
        <p:spPr>
          <a:xfrm>
            <a:off x="6720840" y="795266"/>
            <a:ext cx="1764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RODO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3"/>
          <p:cNvSpPr/>
          <p:nvPr/>
        </p:nvSpPr>
        <p:spPr>
          <a:xfrm>
            <a:off x="6720840" y="1275506"/>
            <a:ext cx="1764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dane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biometryczne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on-device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24"/>
          <p:cNvSpPr/>
          <p:nvPr/>
        </p:nvSpPr>
        <p:spPr>
          <a:xfrm>
            <a:off x="6720840" y="1635590"/>
            <a:ext cx="1325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zakaz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przesyłania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do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chmury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bez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zgody</a:t>
            </a:r>
            <a:endParaRPr lang="pl-PL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5"/>
          <p:cNvSpPr/>
          <p:nvPr/>
        </p:nvSpPr>
        <p:spPr>
          <a:xfrm>
            <a:off x="274320" y="2011680"/>
            <a:ext cx="41601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Argumenty za edge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6"/>
          <p:cNvSpPr/>
          <p:nvPr/>
        </p:nvSpPr>
        <p:spPr>
          <a:xfrm>
            <a:off x="4663440" y="201168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Implikacje systemowe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7"/>
          <p:cNvSpPr/>
          <p:nvPr/>
        </p:nvSpPr>
        <p:spPr>
          <a:xfrm>
            <a:off x="4526280" y="2359080"/>
            <a:ext cx="360" cy="2395800"/>
          </a:xfrm>
          <a:prstGeom prst="line">
            <a:avLst/>
          </a:prstGeom>
          <a:ln w="1016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8"/>
          <p:cNvSpPr/>
          <p:nvPr/>
        </p:nvSpPr>
        <p:spPr>
          <a:xfrm>
            <a:off x="274320" y="2261962"/>
            <a:ext cx="4114440" cy="25382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Bezpieczeństwo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fizyczne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reakcja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nieoczekiwany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kontakt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musi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nastąpić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&lt;1–5 ms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niemożliwe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round-trip do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serwera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(min. 50–100 ms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5G)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Niezawodność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robot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musi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działać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bez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łączności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sieciowej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awarie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infrastruktury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tunele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zakłady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przemysłowe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bez Wi-Fi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Prywatność</a:t>
            </a:r>
            <a:r>
              <a:rPr lang="en-US" sz="1200" b="1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1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compliance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dane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kamer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mikrofonów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sensorów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biometrycznych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zbierane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podlegają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RODO;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przetwarzanie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lokalne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eliminuje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ryzyko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prawne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Efektywność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energetyczna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transmisja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danych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strumieniowych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kamera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4K = ~3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Gbps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)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wyczerpuje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budżet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sieciowy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bateryjny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szybciej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niż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lokalne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wnioskowanie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29"/>
          <p:cNvSpPr/>
          <p:nvPr/>
        </p:nvSpPr>
        <p:spPr>
          <a:xfrm>
            <a:off x="4663440" y="2262639"/>
            <a:ext cx="4480200" cy="25376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Architektura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warstwowa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reflexy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(edge, &lt;1 ms) →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planowanie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reaktywne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(edge, &lt;50 ms) →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planowanie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strategiczne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chmura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, &gt;500 ms)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właściwy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podział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obowiązków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Latencja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a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bezpieczeństwo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prędkości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ramienia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1 m/s </a:t>
            </a:r>
            <a:r>
              <a:rPr lang="pl-PL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/>
            </a:r>
            <a:br>
              <a:rPr lang="pl-PL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</a:br>
            <a:r>
              <a:rPr lang="en-US" sz="1200" b="0" u="none" strike="noStrike" dirty="0" err="1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człowieku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odległości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0,3 m — system ma 300 ms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zatrzymanie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edge to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jedyna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opcja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Autonomia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offline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misje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ratownicze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praca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strefach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bez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infrastruktury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(Fukushima, Mars),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środowiska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wojskowe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pl-PL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/>
            </a:r>
            <a:br>
              <a:rPr lang="pl-PL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</a:b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EMC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zakłócenia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Koszt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infrastruktury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flota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1000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robotów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streamująca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dane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surowe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= ~300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Gbps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stałego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pasma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koszt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cloud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prohibitywny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edge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radykalnie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go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redukuje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Taksonomia urządzeń brzegowych w robocie humanoidalnym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4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Shape 5"/>
          <p:cNvSpPr/>
          <p:nvPr/>
        </p:nvSpPr>
        <p:spPr>
          <a:xfrm>
            <a:off x="274320" y="749880"/>
            <a:ext cx="2742840" cy="4023000"/>
          </a:xfrm>
          <a:prstGeom prst="rect">
            <a:avLst/>
          </a:prstGeom>
          <a:solidFill>
            <a:srgbClr val="F7FAFC"/>
          </a:solidFill>
          <a:ln w="8890">
            <a:solidFill>
              <a:srgbClr val="CBD5E0"/>
            </a:solidFill>
            <a:round/>
          </a:ln>
          <a:effectLst>
            <a:outerShdw blurRad="76320" dist="25455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6"/>
          <p:cNvSpPr/>
          <p:nvPr/>
        </p:nvSpPr>
        <p:spPr>
          <a:xfrm>
            <a:off x="274320" y="749880"/>
            <a:ext cx="2742840" cy="5025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7"/>
          <p:cNvSpPr/>
          <p:nvPr/>
        </p:nvSpPr>
        <p:spPr>
          <a:xfrm>
            <a:off x="365760" y="76824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Warstwa percepcji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8"/>
          <p:cNvSpPr/>
          <p:nvPr/>
        </p:nvSpPr>
        <p:spPr>
          <a:xfrm>
            <a:off x="365760" y="1307520"/>
            <a:ext cx="2559960" cy="33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RGB-D, stereo, event cameras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LiDAR (solid-state,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mechaniczny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Radar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mmWave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/ FMCW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IMU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żyroskop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+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akcelerometr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Sensoryka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dotykowa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/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ciśnieniowa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Mikrofony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beamforming, sonar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09" name="Shape 9"/>
          <p:cNvSpPr/>
          <p:nvPr/>
        </p:nvSpPr>
        <p:spPr>
          <a:xfrm>
            <a:off x="3246120" y="749880"/>
            <a:ext cx="2742840" cy="4023000"/>
          </a:xfrm>
          <a:prstGeom prst="rect">
            <a:avLst/>
          </a:prstGeom>
          <a:solidFill>
            <a:srgbClr val="F7FAFC"/>
          </a:solidFill>
          <a:ln w="8890">
            <a:solidFill>
              <a:srgbClr val="CBD5E0"/>
            </a:solidFill>
            <a:round/>
          </a:ln>
          <a:effectLst>
            <a:outerShdw blurRad="76320" dist="25455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0"/>
          <p:cNvSpPr/>
          <p:nvPr/>
        </p:nvSpPr>
        <p:spPr>
          <a:xfrm>
            <a:off x="3246120" y="749880"/>
            <a:ext cx="2742840" cy="50256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1"/>
          <p:cNvSpPr/>
          <p:nvPr/>
        </p:nvSpPr>
        <p:spPr>
          <a:xfrm>
            <a:off x="3337560" y="76824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Warstwa obliczeniowa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2"/>
          <p:cNvSpPr/>
          <p:nvPr/>
        </p:nvSpPr>
        <p:spPr>
          <a:xfrm>
            <a:off x="3337560" y="1307520"/>
            <a:ext cx="2559960" cy="33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NPU (Neural Proc. Unit) dedykowany AI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GPU mobilne (Orin, AMD Xilinx)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FPGA (Xilinx Kintex, Intel Arria)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Mikrokontrolery RT (reflexy &lt;1 ms)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DSP (przetwarzanie sygnałów RAW)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SoC zintegrowany (perception+control)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13" name="Shape 13"/>
          <p:cNvSpPr/>
          <p:nvPr/>
        </p:nvSpPr>
        <p:spPr>
          <a:xfrm>
            <a:off x="6217920" y="749880"/>
            <a:ext cx="2742840" cy="4023000"/>
          </a:xfrm>
          <a:prstGeom prst="rect">
            <a:avLst/>
          </a:prstGeom>
          <a:solidFill>
            <a:srgbClr val="F7FAFC"/>
          </a:solidFill>
          <a:ln w="8890">
            <a:solidFill>
              <a:srgbClr val="CBD5E0"/>
            </a:solidFill>
            <a:round/>
          </a:ln>
          <a:effectLst>
            <a:outerShdw blurRad="76320" dist="25455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4"/>
          <p:cNvSpPr/>
          <p:nvPr/>
        </p:nvSpPr>
        <p:spPr>
          <a:xfrm>
            <a:off x="6217920" y="749880"/>
            <a:ext cx="2742840" cy="50256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5"/>
          <p:cNvSpPr/>
          <p:nvPr/>
        </p:nvSpPr>
        <p:spPr>
          <a:xfrm>
            <a:off x="6309360" y="768240"/>
            <a:ext cx="260568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Warstwa komunikacji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6"/>
          <p:cNvSpPr/>
          <p:nvPr/>
        </p:nvSpPr>
        <p:spPr>
          <a:xfrm>
            <a:off x="6309360" y="1307520"/>
            <a:ext cx="2559960" cy="3337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EtherCAT — sterowanie aktuatorami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ROS 2 DDS — komunikacja modułów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CAN bus — sensory niskopriorytetowe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TSN Ethernet (IEEE 802.1Qbv) — RT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WiFi 6E / UWB — lokalizacja precyzyjna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  <a:p>
            <a:pPr marL="343080" indent="-343080" defTabSz="914400">
              <a:lnSpc>
                <a:spcPct val="100000"/>
              </a:lnSpc>
              <a:spcAft>
                <a:spcPts val="7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ea typeface="Calibri"/>
              </a:rPr>
              <a:t>Bluetooth LE — wearables pacjenta</a:t>
            </a:r>
            <a:endParaRPr lang="pl-PL" sz="1300" b="0" u="none" strike="noStrike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Wymagania czasowe i budżet mocy — ramy projektowe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5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5"/>
          <p:cNvSpPr/>
          <p:nvPr/>
        </p:nvSpPr>
        <p:spPr>
          <a:xfrm>
            <a:off x="274320" y="758880"/>
            <a:ext cx="3108600" cy="319680"/>
          </a:xfrm>
          <a:prstGeom prst="rect">
            <a:avLst/>
          </a:prstGeom>
          <a:solidFill>
            <a:srgbClr val="162230"/>
          </a:solidFill>
          <a:ln w="12700">
            <a:solidFill>
              <a:srgbClr val="1622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6"/>
          <p:cNvSpPr/>
          <p:nvPr/>
        </p:nvSpPr>
        <p:spPr>
          <a:xfrm>
            <a:off x="347400" y="758880"/>
            <a:ext cx="30171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Zadanie / moduł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7"/>
          <p:cNvSpPr/>
          <p:nvPr/>
        </p:nvSpPr>
        <p:spPr>
          <a:xfrm>
            <a:off x="3474720" y="758880"/>
            <a:ext cx="1371240" cy="319680"/>
          </a:xfrm>
          <a:prstGeom prst="rect">
            <a:avLst/>
          </a:prstGeom>
          <a:solidFill>
            <a:srgbClr val="162230"/>
          </a:solidFill>
          <a:ln w="12700">
            <a:solidFill>
              <a:srgbClr val="1622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8"/>
          <p:cNvSpPr/>
          <p:nvPr/>
        </p:nvSpPr>
        <p:spPr>
          <a:xfrm>
            <a:off x="3547800" y="758880"/>
            <a:ext cx="1279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Latencja max.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9"/>
          <p:cNvSpPr/>
          <p:nvPr/>
        </p:nvSpPr>
        <p:spPr>
          <a:xfrm>
            <a:off x="4937760" y="758880"/>
            <a:ext cx="1279800" cy="319680"/>
          </a:xfrm>
          <a:prstGeom prst="rect">
            <a:avLst/>
          </a:prstGeom>
          <a:solidFill>
            <a:srgbClr val="162230"/>
          </a:solidFill>
          <a:ln w="12700">
            <a:solidFill>
              <a:srgbClr val="1622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0"/>
          <p:cNvSpPr/>
          <p:nvPr/>
        </p:nvSpPr>
        <p:spPr>
          <a:xfrm>
            <a:off x="5010840" y="75888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Pobór mocy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1"/>
          <p:cNvSpPr/>
          <p:nvPr/>
        </p:nvSpPr>
        <p:spPr>
          <a:xfrm>
            <a:off x="6309360" y="758880"/>
            <a:ext cx="2651400" cy="319680"/>
          </a:xfrm>
          <a:prstGeom prst="rect">
            <a:avLst/>
          </a:prstGeom>
          <a:solidFill>
            <a:srgbClr val="162230"/>
          </a:solidFill>
          <a:ln w="12700">
            <a:solidFill>
              <a:srgbClr val="1622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6382440" y="758880"/>
            <a:ext cx="25599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Platforma HW</a:t>
            </a:r>
            <a:endParaRPr lang="pl-PL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3"/>
          <p:cNvSpPr/>
          <p:nvPr/>
        </p:nvSpPr>
        <p:spPr>
          <a:xfrm>
            <a:off x="274320" y="1115640"/>
            <a:ext cx="8595000" cy="4568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14"/>
          <p:cNvSpPr/>
          <p:nvPr/>
        </p:nvSpPr>
        <p:spPr>
          <a:xfrm>
            <a:off x="274320" y="1115640"/>
            <a:ext cx="63720" cy="456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5"/>
          <p:cNvSpPr/>
          <p:nvPr/>
        </p:nvSpPr>
        <p:spPr>
          <a:xfrm>
            <a:off x="402480" y="120708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Reflex ochronny (kolizja)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6"/>
          <p:cNvSpPr/>
          <p:nvPr/>
        </p:nvSpPr>
        <p:spPr>
          <a:xfrm>
            <a:off x="3474720" y="120708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&lt;1 ms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7"/>
          <p:cNvSpPr/>
          <p:nvPr/>
        </p:nvSpPr>
        <p:spPr>
          <a:xfrm>
            <a:off x="4937760" y="12070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~0.5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8"/>
          <p:cNvSpPr/>
          <p:nvPr/>
        </p:nvSpPr>
        <p:spPr>
          <a:xfrm>
            <a:off x="6309360" y="12070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MCU RT (Cortex-M33)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9"/>
          <p:cNvSpPr/>
          <p:nvPr/>
        </p:nvSpPr>
        <p:spPr>
          <a:xfrm>
            <a:off x="274320" y="1609200"/>
            <a:ext cx="8595000" cy="456840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20"/>
          <p:cNvSpPr/>
          <p:nvPr/>
        </p:nvSpPr>
        <p:spPr>
          <a:xfrm>
            <a:off x="274320" y="1609200"/>
            <a:ext cx="63720" cy="4568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1"/>
          <p:cNvSpPr/>
          <p:nvPr/>
        </p:nvSpPr>
        <p:spPr>
          <a:xfrm>
            <a:off x="402480" y="170064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Sterowanie balansem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22"/>
          <p:cNvSpPr/>
          <p:nvPr/>
        </p:nvSpPr>
        <p:spPr>
          <a:xfrm>
            <a:off x="3474720" y="170064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1–5 ms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23"/>
          <p:cNvSpPr/>
          <p:nvPr/>
        </p:nvSpPr>
        <p:spPr>
          <a:xfrm>
            <a:off x="4937760" y="17006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~5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24"/>
          <p:cNvSpPr/>
          <p:nvPr/>
        </p:nvSpPr>
        <p:spPr>
          <a:xfrm>
            <a:off x="6309360" y="17006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DSP + FPGA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5"/>
          <p:cNvSpPr/>
          <p:nvPr/>
        </p:nvSpPr>
        <p:spPr>
          <a:xfrm>
            <a:off x="274320" y="2103120"/>
            <a:ext cx="8595000" cy="4568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6"/>
          <p:cNvSpPr/>
          <p:nvPr/>
        </p:nvSpPr>
        <p:spPr>
          <a:xfrm>
            <a:off x="274320" y="2103120"/>
            <a:ext cx="63720" cy="456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7"/>
          <p:cNvSpPr/>
          <p:nvPr/>
        </p:nvSpPr>
        <p:spPr>
          <a:xfrm>
            <a:off x="402480" y="219456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Wykrywanie przeszkód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8"/>
          <p:cNvSpPr/>
          <p:nvPr/>
        </p:nvSpPr>
        <p:spPr>
          <a:xfrm>
            <a:off x="3474720" y="219456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5–20 ms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9"/>
          <p:cNvSpPr/>
          <p:nvPr/>
        </p:nvSpPr>
        <p:spPr>
          <a:xfrm>
            <a:off x="4937760" y="21945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~15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30"/>
          <p:cNvSpPr/>
          <p:nvPr/>
        </p:nvSpPr>
        <p:spPr>
          <a:xfrm>
            <a:off x="6309360" y="21945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NPU (INT8)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31"/>
          <p:cNvSpPr/>
          <p:nvPr/>
        </p:nvSpPr>
        <p:spPr>
          <a:xfrm>
            <a:off x="274320" y="2597040"/>
            <a:ext cx="8595000" cy="456840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32"/>
          <p:cNvSpPr/>
          <p:nvPr/>
        </p:nvSpPr>
        <p:spPr>
          <a:xfrm>
            <a:off x="274320" y="2597040"/>
            <a:ext cx="63720" cy="4568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33"/>
          <p:cNvSpPr/>
          <p:nvPr/>
        </p:nvSpPr>
        <p:spPr>
          <a:xfrm>
            <a:off x="402480" y="268848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Fuzja sensoryczna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4"/>
          <p:cNvSpPr/>
          <p:nvPr/>
        </p:nvSpPr>
        <p:spPr>
          <a:xfrm>
            <a:off x="3474720" y="268848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20–50 ms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5"/>
          <p:cNvSpPr/>
          <p:nvPr/>
        </p:nvSpPr>
        <p:spPr>
          <a:xfrm>
            <a:off x="4937760" y="26884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~25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6"/>
          <p:cNvSpPr/>
          <p:nvPr/>
        </p:nvSpPr>
        <p:spPr>
          <a:xfrm>
            <a:off x="6309360" y="268848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GPU mobilny / Orin NX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7"/>
          <p:cNvSpPr/>
          <p:nvPr/>
        </p:nvSpPr>
        <p:spPr>
          <a:xfrm>
            <a:off x="274320" y="3090600"/>
            <a:ext cx="8595000" cy="4568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8"/>
          <p:cNvSpPr/>
          <p:nvPr/>
        </p:nvSpPr>
        <p:spPr>
          <a:xfrm>
            <a:off x="274320" y="3090600"/>
            <a:ext cx="63720" cy="45684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9"/>
          <p:cNvSpPr/>
          <p:nvPr/>
        </p:nvSpPr>
        <p:spPr>
          <a:xfrm>
            <a:off x="402480" y="318204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Detekcja człowieka (HRI)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40"/>
          <p:cNvSpPr/>
          <p:nvPr/>
        </p:nvSpPr>
        <p:spPr>
          <a:xfrm>
            <a:off x="3474720" y="318204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50–100 ms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41"/>
          <p:cNvSpPr/>
          <p:nvPr/>
        </p:nvSpPr>
        <p:spPr>
          <a:xfrm>
            <a:off x="4937760" y="31820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~40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42"/>
          <p:cNvSpPr/>
          <p:nvPr/>
        </p:nvSpPr>
        <p:spPr>
          <a:xfrm>
            <a:off x="6309360" y="318204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Jetson Orin + Radar NPU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43"/>
          <p:cNvSpPr/>
          <p:nvPr/>
        </p:nvSpPr>
        <p:spPr>
          <a:xfrm>
            <a:off x="274320" y="3584520"/>
            <a:ext cx="8595000" cy="456840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44"/>
          <p:cNvSpPr/>
          <p:nvPr/>
        </p:nvSpPr>
        <p:spPr>
          <a:xfrm>
            <a:off x="274320" y="3584520"/>
            <a:ext cx="63720" cy="45684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45"/>
          <p:cNvSpPr/>
          <p:nvPr/>
        </p:nvSpPr>
        <p:spPr>
          <a:xfrm>
            <a:off x="402480" y="367596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Planowanie zadania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46"/>
          <p:cNvSpPr/>
          <p:nvPr/>
        </p:nvSpPr>
        <p:spPr>
          <a:xfrm>
            <a:off x="3474720" y="367596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100–500 ms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47"/>
          <p:cNvSpPr/>
          <p:nvPr/>
        </p:nvSpPr>
        <p:spPr>
          <a:xfrm>
            <a:off x="4937760" y="36759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~80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8"/>
          <p:cNvSpPr/>
          <p:nvPr/>
        </p:nvSpPr>
        <p:spPr>
          <a:xfrm>
            <a:off x="6309360" y="367596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Jetson AGX Orin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49"/>
          <p:cNvSpPr/>
          <p:nvPr/>
        </p:nvSpPr>
        <p:spPr>
          <a:xfrm>
            <a:off x="274320" y="4078080"/>
            <a:ext cx="8595000" cy="4568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50"/>
          <p:cNvSpPr/>
          <p:nvPr/>
        </p:nvSpPr>
        <p:spPr>
          <a:xfrm>
            <a:off x="274320" y="4078080"/>
            <a:ext cx="63720" cy="4568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1"/>
          <p:cNvSpPr/>
          <p:nvPr/>
        </p:nvSpPr>
        <p:spPr>
          <a:xfrm>
            <a:off x="402480" y="4169520"/>
            <a:ext cx="2971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Wnioskowanie LLM (lokalne)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52"/>
          <p:cNvSpPr/>
          <p:nvPr/>
        </p:nvSpPr>
        <p:spPr>
          <a:xfrm>
            <a:off x="3474720" y="4169520"/>
            <a:ext cx="1325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96C7"/>
                </a:solidFill>
                <a:effectLst/>
                <a:uFillTx/>
                <a:latin typeface="Calibri"/>
                <a:ea typeface="Calibri"/>
              </a:rPr>
              <a:t>&gt;500 ms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53"/>
          <p:cNvSpPr/>
          <p:nvPr/>
        </p:nvSpPr>
        <p:spPr>
          <a:xfrm>
            <a:off x="4937760" y="416952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~150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54"/>
          <p:cNvSpPr/>
          <p:nvPr/>
        </p:nvSpPr>
        <p:spPr>
          <a:xfrm>
            <a:off x="6309360" y="4169520"/>
            <a:ext cx="24685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Orin + offload NPU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55"/>
          <p:cNvSpPr/>
          <p:nvPr/>
        </p:nvSpPr>
        <p:spPr>
          <a:xfrm>
            <a:off x="274320" y="4655104"/>
            <a:ext cx="85950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Łączny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budżet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mocy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edge (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szacunek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): 200–350 W ·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Rezerwa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zasilanie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aktuatorów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: 800–1200 W ·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Bateria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48V 100Ah ≈ 4,8 kWh →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autonomia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~3–4 h</a:t>
            </a:r>
            <a:endParaRPr lang="pl-PL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502920" y="1005840"/>
            <a:ext cx="72720" cy="32000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685800" y="10058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400">
                <a:solidFill>
                  <a:srgbClr val="0096C7"/>
                </a:solidFill>
                <a:effectLst/>
                <a:uFillTx/>
                <a:latin typeface="Calibri"/>
                <a:ea typeface="Calibri"/>
              </a:rPr>
              <a:t>SEKCJA II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685800" y="150876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Aktualny stan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urządzeń brzegowych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4"/>
          <p:cNvSpPr/>
          <p:nvPr/>
        </p:nvSpPr>
        <p:spPr>
          <a:xfrm>
            <a:off x="685800" y="260604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Sensory · Obliczenia · Komunikacja</a:t>
            </a:r>
            <a:endParaRPr lang="pl-PL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— / 30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Systemy wizyjne — kamery i widzenie maszynowe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7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274320" y="749880"/>
            <a:ext cx="41601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Główne typy kamer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4663440" y="74988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Zagadnienia szczegółowe i wyzwania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4526280" y="1097280"/>
            <a:ext cx="360" cy="3584160"/>
          </a:xfrm>
          <a:prstGeom prst="line">
            <a:avLst/>
          </a:prstGeom>
          <a:ln w="1016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8"/>
          <p:cNvSpPr/>
          <p:nvPr/>
        </p:nvSpPr>
        <p:spPr>
          <a:xfrm>
            <a:off x="106791" y="1097280"/>
            <a:ext cx="4419489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Intel RealSense D435i / D455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stereo RGB-D;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0.1–10 m;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głębi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848×480@90fps;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zintegrowany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IMU 6-DOF; USB3; &lt;3.5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W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standard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robotach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badawczych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TIAGo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Spot)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Microsoft Azure Kinect DK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Time-of-Flight sensor; 1 MP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głębia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+ 12 MP RGB; 512×512@30fps; SDK z body tracking 32 joint; &lt;5.9 W;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ograniczona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autonomia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od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chmury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Kamery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event (neuromorphic):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Prophesee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Metavision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EVK4 — 1280×720,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dynamika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120 dB,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latencja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&lt;1 ms; DAVIS346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kombinowana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kamera+event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idealna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szybkich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ruchów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stereo wide-FOV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ZED 2i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Stereolabs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 — 120° FOV, depth do 20 m,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wbudowane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IMU; OAK-D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Luxonis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)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zintegrowany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NPU Intel Myriad X do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urządzeniu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190" name="Text 9"/>
          <p:cNvSpPr/>
          <p:nvPr/>
        </p:nvSpPr>
        <p:spPr>
          <a:xfrm>
            <a:off x="4663439" y="1097280"/>
            <a:ext cx="4380443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Kamery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termiczne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FLIR Lepton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3.5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160×120@8.7fps; Boson 640 — 640×512;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obecności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człowieka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niezależna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od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oświetlenia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ciepłoty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&lt;15 m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Plenoptyczne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(light field):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Raytrix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R29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pomiar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głębokości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jednej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potencjał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manipulacji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złym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oświetleniu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wciąż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TRL 4–5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robotyki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Wyzwania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montażu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robot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humanoidalny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=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platforma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ruchoma</a:t>
            </a:r>
            <a:r>
              <a:rPr lang="pl-PL" sz="1300" dirty="0">
                <a:solidFill>
                  <a:srgbClr val="1A202C"/>
                </a:solidFill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wstrząsy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drgania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mechaniczne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degradują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jakość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obrazu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wymóg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image stabilization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lub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aktywnego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gimbala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Latencja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pipeline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(exposure + readout) + GPU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= 30–80 ms;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reactive HRI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wolne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bez </a:t>
            </a: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optymalizacji</a:t>
            </a:r>
            <a:r>
              <a:rPr lang="pl-PL" sz="1300" dirty="0">
                <a:solidFill>
                  <a:srgbClr val="1A202C"/>
                </a:solidFill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konieczna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asynchroniczna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architektura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LiDAR — mapowanie 3D i nawigacja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8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5"/>
          <p:cNvSpPr/>
          <p:nvPr/>
        </p:nvSpPr>
        <p:spPr>
          <a:xfrm>
            <a:off x="193559" y="749880"/>
            <a:ext cx="2823601" cy="3977280"/>
          </a:xfrm>
          <a:prstGeom prst="rect">
            <a:avLst/>
          </a:prstGeom>
          <a:solidFill>
            <a:srgbClr val="F7FAFC"/>
          </a:solidFill>
          <a:ln w="8890">
            <a:solidFill>
              <a:srgbClr val="CBD5E0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6"/>
          <p:cNvSpPr/>
          <p:nvPr/>
        </p:nvSpPr>
        <p:spPr>
          <a:xfrm>
            <a:off x="193559" y="749880"/>
            <a:ext cx="2823601" cy="4752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7"/>
          <p:cNvSpPr/>
          <p:nvPr/>
        </p:nvSpPr>
        <p:spPr>
          <a:xfrm>
            <a:off x="285669" y="795600"/>
            <a:ext cx="26056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Mechaniczne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skanujące</a:t>
            </a:r>
            <a:endParaRPr lang="pl-PL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8"/>
          <p:cNvSpPr/>
          <p:nvPr/>
        </p:nvSpPr>
        <p:spPr>
          <a:xfrm>
            <a:off x="193559" y="1280160"/>
            <a:ext cx="2732161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Velodyne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VLP-16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(Puck): 16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kanałów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360°,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100 m, 300k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pkt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/s;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ciężki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(830 g),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zużycie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8 W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Ouster OS0-32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32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kanały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50 m;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montaż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głowie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torsie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bardziej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kompaktowy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(~450 g)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Zastosowanie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globalne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mapowanie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SLAM;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planowanie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ścieżki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budynku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Ograniczenie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ruchome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części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podatność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wibracje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żywotność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&lt;50k h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00" name="Shape 9"/>
          <p:cNvSpPr/>
          <p:nvPr/>
        </p:nvSpPr>
        <p:spPr>
          <a:xfrm>
            <a:off x="3063239" y="749880"/>
            <a:ext cx="3004509" cy="3977280"/>
          </a:xfrm>
          <a:prstGeom prst="rect">
            <a:avLst/>
          </a:prstGeom>
          <a:solidFill>
            <a:srgbClr val="F7FAFC"/>
          </a:solidFill>
          <a:ln w="8890">
            <a:solidFill>
              <a:srgbClr val="CBD5E0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0"/>
          <p:cNvSpPr/>
          <p:nvPr/>
        </p:nvSpPr>
        <p:spPr>
          <a:xfrm>
            <a:off x="3063239" y="749880"/>
            <a:ext cx="3004509" cy="47520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1"/>
          <p:cNvSpPr/>
          <p:nvPr/>
        </p:nvSpPr>
        <p:spPr>
          <a:xfrm>
            <a:off x="3154680" y="795600"/>
            <a:ext cx="26056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Solid-State LiDAR</a:t>
            </a:r>
            <a:endParaRPr lang="pl-P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2"/>
          <p:cNvSpPr/>
          <p:nvPr/>
        </p:nvSpPr>
        <p:spPr>
          <a:xfrm>
            <a:off x="3154680" y="1280160"/>
            <a:ext cx="2832304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Hesai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AT128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128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kanałów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MEMS, FOV 120°×25°,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200 m, 1.5M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pkt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/s; &lt;12 W;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przeznaczony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auto AV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Livox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MID-360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nieklasyczny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wzorzec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skanowania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360° horizontal;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czuły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bliski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&lt;15 W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Luminar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Halo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1550 nm laser (eye-safe); 250 m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fokus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automotive;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rosnące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zastosowanie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humanoidach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Zaleta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brak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części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ruchomych</a:t>
            </a:r>
            <a:r>
              <a:rPr lang="pl-PL" sz="1300" dirty="0">
                <a:solidFill>
                  <a:srgbClr val="1A202C"/>
                </a:solidFill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odporność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wstrząsy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montaż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stały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głowie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lub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torsie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04" name="Shape 13"/>
          <p:cNvSpPr/>
          <p:nvPr/>
        </p:nvSpPr>
        <p:spPr>
          <a:xfrm>
            <a:off x="6159189" y="749880"/>
            <a:ext cx="2742840" cy="3977280"/>
          </a:xfrm>
          <a:prstGeom prst="rect">
            <a:avLst/>
          </a:prstGeom>
          <a:solidFill>
            <a:srgbClr val="F7FAFC"/>
          </a:solidFill>
          <a:ln w="8890">
            <a:solidFill>
              <a:srgbClr val="CBD5E0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14"/>
          <p:cNvSpPr/>
          <p:nvPr/>
        </p:nvSpPr>
        <p:spPr>
          <a:xfrm>
            <a:off x="6159189" y="749880"/>
            <a:ext cx="2742840" cy="4752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5"/>
          <p:cNvSpPr/>
          <p:nvPr/>
        </p:nvSpPr>
        <p:spPr>
          <a:xfrm>
            <a:off x="6250629" y="795600"/>
            <a:ext cx="26056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Flash LiDAR i TOF</a:t>
            </a:r>
            <a:endParaRPr lang="pl-P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6"/>
          <p:cNvSpPr/>
          <p:nvPr/>
        </p:nvSpPr>
        <p:spPr>
          <a:xfrm>
            <a:off x="6250629" y="1280160"/>
            <a:ext cx="2559960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Texas Instr. OPT8241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320×240 TOF,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0.1–4 m; do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manipulacji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dłońmi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bliskiego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otoczenia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Terabee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TeraRanger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Evo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60 m, lightweight 38 g, I²C;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skalowalne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do mini-array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Sony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DepthSense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IMX556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stacked SPAD array; high-framerate 3D;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rosnąca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integracja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CMOS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Ograniczenie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mały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FOV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pl-PL" sz="1300" dirty="0">
                <a:solidFill>
                  <a:srgbClr val="1A202C"/>
                </a:solidFill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uzupełnienie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substytut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skanującego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LiDAR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IMU, propriocepcja i sensoryka dotykowa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9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5"/>
          <p:cNvSpPr/>
          <p:nvPr/>
        </p:nvSpPr>
        <p:spPr>
          <a:xfrm>
            <a:off x="274320" y="749880"/>
            <a:ext cx="41601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Inercja</a:t>
            </a:r>
            <a:r>
              <a:rPr lang="en-US" sz="1400" b="1" u="none" strike="noStrike" dirty="0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400" b="1" u="none" strike="noStrike" dirty="0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4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stawy</a:t>
            </a:r>
            <a:endParaRPr lang="pl-PL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6"/>
          <p:cNvSpPr/>
          <p:nvPr/>
        </p:nvSpPr>
        <p:spPr>
          <a:xfrm>
            <a:off x="4663440" y="74988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Sensoryka skórna i siłowa</a:t>
            </a:r>
            <a:endParaRPr lang="pl-PL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7"/>
          <p:cNvSpPr/>
          <p:nvPr/>
        </p:nvSpPr>
        <p:spPr>
          <a:xfrm>
            <a:off x="4526280" y="1097280"/>
            <a:ext cx="360" cy="3584160"/>
          </a:xfrm>
          <a:prstGeom prst="line">
            <a:avLst/>
          </a:prstGeom>
          <a:ln w="1016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8"/>
          <p:cNvSpPr/>
          <p:nvPr/>
        </p:nvSpPr>
        <p:spPr>
          <a:xfrm>
            <a:off x="86768" y="1097280"/>
            <a:ext cx="4204905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IMU 6-DOF (Inertial Measurement Unit):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Bosch BMI088 — ±24g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akcelerometr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±2000°/s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żyroskop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2 kHz;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STMicro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ISM330DLC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zatwierdzony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automotive;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odczyt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400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μs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IMU 9-DOF z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magnetometrem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VectorNav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VN-100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AHRS;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dokładność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orientacji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&lt;0.5° RMS; temp. -40°C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to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+85°C;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stosowany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Atlas (Boston Dynamics)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Enkodery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absolutne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Heidenhain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ECI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119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23-bit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dokładność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SSI/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BiSS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-C; Renishaw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RESOLUTE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0.001°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zintegrowane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każdym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stawem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Czujniki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momentu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siły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(F/T): ATI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Mini45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6-DOF,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odczyt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7 kHz; Sunrise Instruments M3702C;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kluczowe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impedance control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HRI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0.01N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217" name="Text 9"/>
          <p:cNvSpPr/>
          <p:nvPr/>
        </p:nvSpPr>
        <p:spPr>
          <a:xfrm>
            <a:off x="4663440" y="1097280"/>
            <a:ext cx="4160160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Skóra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elektroniczna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(e-skin):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SynTouch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BioTac</a:t>
            </a:r>
            <a:r>
              <a:rPr lang="pl-PL" sz="1300" dirty="0">
                <a:solidFill>
                  <a:srgbClr val="1A202C"/>
                </a:solidFill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19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elektrod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taktylnych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+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temperatura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+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wilgotność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Pressure Profile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PPS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siatki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do 352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pkt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/cm²; TRL 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5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/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6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Czujniki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podeszwie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(foot sensor):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planarne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siatki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sił</a:t>
            </a:r>
            <a:r>
              <a:rPr lang="pl-PL" sz="1300" dirty="0">
                <a:solidFill>
                  <a:srgbClr val="1A202C"/>
                </a:solidFill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256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pkt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nacisku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podeszwie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kluczowe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ZMP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balance control;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integracja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IMU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Czujniki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temperatury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zbliżenia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(skin proximity):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pojemnościowe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matryce</a:t>
            </a:r>
            <a:r>
              <a:rPr lang="pl-PL" sz="1300" dirty="0">
                <a:solidFill>
                  <a:srgbClr val="1A202C"/>
                </a:solidFill>
                <a:ea typeface="Calibri"/>
              </a:rPr>
              <a:t>;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wykrywanie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przybliżenia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dłoni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człowieka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PRZED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kontaktem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Pre-touch sensing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Wyzwanie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integracji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60+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sensorów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typowej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platformie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→ bus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sensoryczny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EtherCAT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1 kHz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wymagane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problem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synchronizacji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czasowej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sub-ms (IEEE 1588 PTP)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Platformy obliczeniowe edge — aktualny stan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10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5"/>
          <p:cNvSpPr/>
          <p:nvPr/>
        </p:nvSpPr>
        <p:spPr>
          <a:xfrm>
            <a:off x="274320" y="758880"/>
            <a:ext cx="3382920" cy="301320"/>
          </a:xfrm>
          <a:prstGeom prst="rect">
            <a:avLst/>
          </a:prstGeom>
          <a:solidFill>
            <a:srgbClr val="162230"/>
          </a:solidFill>
          <a:ln w="12700">
            <a:solidFill>
              <a:srgbClr val="1622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6"/>
          <p:cNvSpPr/>
          <p:nvPr/>
        </p:nvSpPr>
        <p:spPr>
          <a:xfrm>
            <a:off x="347400" y="758880"/>
            <a:ext cx="32914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Platforma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Shape 7"/>
          <p:cNvSpPr/>
          <p:nvPr/>
        </p:nvSpPr>
        <p:spPr>
          <a:xfrm>
            <a:off x="3749040" y="758880"/>
            <a:ext cx="1188360" cy="301320"/>
          </a:xfrm>
          <a:prstGeom prst="rect">
            <a:avLst/>
          </a:prstGeom>
          <a:solidFill>
            <a:srgbClr val="162230"/>
          </a:solidFill>
          <a:ln w="12700">
            <a:solidFill>
              <a:srgbClr val="1622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8"/>
          <p:cNvSpPr/>
          <p:nvPr/>
        </p:nvSpPr>
        <p:spPr>
          <a:xfrm>
            <a:off x="3822120" y="758880"/>
            <a:ext cx="109692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AI Perf.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Shape 9"/>
          <p:cNvSpPr/>
          <p:nvPr/>
        </p:nvSpPr>
        <p:spPr>
          <a:xfrm>
            <a:off x="5029200" y="758880"/>
            <a:ext cx="1005480" cy="301320"/>
          </a:xfrm>
          <a:prstGeom prst="rect">
            <a:avLst/>
          </a:prstGeom>
          <a:solidFill>
            <a:srgbClr val="162230"/>
          </a:solidFill>
          <a:ln w="12700">
            <a:solidFill>
              <a:srgbClr val="1622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10"/>
          <p:cNvSpPr/>
          <p:nvPr/>
        </p:nvSpPr>
        <p:spPr>
          <a:xfrm>
            <a:off x="5102280" y="758880"/>
            <a:ext cx="9140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Pobór mocy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11"/>
          <p:cNvSpPr/>
          <p:nvPr/>
        </p:nvSpPr>
        <p:spPr>
          <a:xfrm>
            <a:off x="6126480" y="758880"/>
            <a:ext cx="2834280" cy="301320"/>
          </a:xfrm>
          <a:prstGeom prst="rect">
            <a:avLst/>
          </a:prstGeom>
          <a:solidFill>
            <a:srgbClr val="162230"/>
          </a:solidFill>
          <a:ln w="12700">
            <a:solidFill>
              <a:srgbClr val="1622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2"/>
          <p:cNvSpPr/>
          <p:nvPr/>
        </p:nvSpPr>
        <p:spPr>
          <a:xfrm>
            <a:off x="6199560" y="758880"/>
            <a:ext cx="274284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Charakterystyka i zastosowanie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13"/>
          <p:cNvSpPr/>
          <p:nvPr/>
        </p:nvSpPr>
        <p:spPr>
          <a:xfrm>
            <a:off x="274320" y="1097280"/>
            <a:ext cx="8595000" cy="529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4"/>
          <p:cNvSpPr/>
          <p:nvPr/>
        </p:nvSpPr>
        <p:spPr>
          <a:xfrm>
            <a:off x="274320" y="1097280"/>
            <a:ext cx="63720" cy="529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5"/>
          <p:cNvSpPr/>
          <p:nvPr/>
        </p:nvSpPr>
        <p:spPr>
          <a:xfrm>
            <a:off x="402480" y="115200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NVIDIA Jetson AGX Orin 64GB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6"/>
          <p:cNvSpPr/>
          <p:nvPr/>
        </p:nvSpPr>
        <p:spPr>
          <a:xfrm>
            <a:off x="3749040" y="121608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96C7"/>
                </a:solidFill>
                <a:effectLst/>
                <a:uFillTx/>
                <a:latin typeface="Calibri"/>
                <a:ea typeface="Calibri"/>
              </a:rPr>
              <a:t>275 TOPS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7"/>
          <p:cNvSpPr/>
          <p:nvPr/>
        </p:nvSpPr>
        <p:spPr>
          <a:xfrm>
            <a:off x="5029200" y="121608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15–60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8"/>
          <p:cNvSpPr/>
          <p:nvPr/>
        </p:nvSpPr>
        <p:spPr>
          <a:xfrm>
            <a:off x="6126480" y="117036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Wiodąca platforma AI edge; 12-core Cortex-A78 + 2048-cuda Ampere GPU + DLA; stosowana w Figure 01, Agility Digit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Shape 19"/>
          <p:cNvSpPr/>
          <p:nvPr/>
        </p:nvSpPr>
        <p:spPr>
          <a:xfrm>
            <a:off x="274320" y="1664280"/>
            <a:ext cx="8595000" cy="529920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20"/>
          <p:cNvSpPr/>
          <p:nvPr/>
        </p:nvSpPr>
        <p:spPr>
          <a:xfrm>
            <a:off x="274320" y="1664280"/>
            <a:ext cx="63720" cy="529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21"/>
          <p:cNvSpPr/>
          <p:nvPr/>
        </p:nvSpPr>
        <p:spPr>
          <a:xfrm>
            <a:off x="402480" y="171900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NVIDIA Jetson Orin NX 16GB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22"/>
          <p:cNvSpPr/>
          <p:nvPr/>
        </p:nvSpPr>
        <p:spPr>
          <a:xfrm>
            <a:off x="3749040" y="178308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96C7"/>
                </a:solidFill>
                <a:effectLst/>
                <a:uFillTx/>
                <a:latin typeface="Calibri"/>
                <a:ea typeface="Calibri"/>
              </a:rPr>
              <a:t>100 TOPS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3"/>
          <p:cNvSpPr/>
          <p:nvPr/>
        </p:nvSpPr>
        <p:spPr>
          <a:xfrm>
            <a:off x="5029200" y="178308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10–25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24"/>
          <p:cNvSpPr/>
          <p:nvPr/>
        </p:nvSpPr>
        <p:spPr>
          <a:xfrm>
            <a:off x="6126480" y="173736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Kompromis cena/moc; idealny dla modułów peryferyjnych (głowa, dłoń); model cascade z AGX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25"/>
          <p:cNvSpPr/>
          <p:nvPr/>
        </p:nvSpPr>
        <p:spPr>
          <a:xfrm>
            <a:off x="274320" y="2231280"/>
            <a:ext cx="8595000" cy="529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6"/>
          <p:cNvSpPr/>
          <p:nvPr/>
        </p:nvSpPr>
        <p:spPr>
          <a:xfrm>
            <a:off x="274320" y="2231280"/>
            <a:ext cx="63720" cy="529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7"/>
          <p:cNvSpPr/>
          <p:nvPr/>
        </p:nvSpPr>
        <p:spPr>
          <a:xfrm>
            <a:off x="402480" y="228600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AMD Xilinx Kria KV260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8"/>
          <p:cNvSpPr/>
          <p:nvPr/>
        </p:nvSpPr>
        <p:spPr>
          <a:xfrm>
            <a:off x="3749040" y="235008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96C7"/>
                </a:solidFill>
                <a:effectLst/>
                <a:uFillTx/>
                <a:latin typeface="Calibri"/>
                <a:ea typeface="Calibri"/>
              </a:rPr>
              <a:t>~1.4 TOPS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9"/>
          <p:cNvSpPr/>
          <p:nvPr/>
        </p:nvSpPr>
        <p:spPr>
          <a:xfrm>
            <a:off x="5029200" y="235008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~5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30"/>
          <p:cNvSpPr/>
          <p:nvPr/>
        </p:nvSpPr>
        <p:spPr>
          <a:xfrm>
            <a:off x="6126480" y="230436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FPGA SoC — reactive control, signal proc; niskie latencje deterministyczne &lt;1 μs; stosowany w reflexach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31"/>
          <p:cNvSpPr/>
          <p:nvPr/>
        </p:nvSpPr>
        <p:spPr>
          <a:xfrm>
            <a:off x="274320" y="2797920"/>
            <a:ext cx="8595000" cy="529920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Shape 32"/>
          <p:cNvSpPr/>
          <p:nvPr/>
        </p:nvSpPr>
        <p:spPr>
          <a:xfrm>
            <a:off x="274320" y="2797920"/>
            <a:ext cx="63720" cy="529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33"/>
          <p:cNvSpPr/>
          <p:nvPr/>
        </p:nvSpPr>
        <p:spPr>
          <a:xfrm>
            <a:off x="402480" y="285300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Qualcomm RB5 (QRB5165)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34"/>
          <p:cNvSpPr/>
          <p:nvPr/>
        </p:nvSpPr>
        <p:spPr>
          <a:xfrm>
            <a:off x="3749040" y="291708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96C7"/>
                </a:solidFill>
                <a:effectLst/>
                <a:uFillTx/>
                <a:latin typeface="Calibri"/>
                <a:ea typeface="Calibri"/>
              </a:rPr>
              <a:t>~15 TOPS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35"/>
          <p:cNvSpPr/>
          <p:nvPr/>
        </p:nvSpPr>
        <p:spPr>
          <a:xfrm>
            <a:off x="5029200" y="291708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&lt;10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6"/>
          <p:cNvSpPr/>
          <p:nvPr/>
        </p:nvSpPr>
        <p:spPr>
          <a:xfrm>
            <a:off x="6126480" y="287136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Snapdragon 865 + Hexagon DSP NPU; 5G modem zintegrowany; mobilność, gorąca wymiana modułów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37"/>
          <p:cNvSpPr/>
          <p:nvPr/>
        </p:nvSpPr>
        <p:spPr>
          <a:xfrm>
            <a:off x="274320" y="3364920"/>
            <a:ext cx="8595000" cy="5299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38"/>
          <p:cNvSpPr/>
          <p:nvPr/>
        </p:nvSpPr>
        <p:spPr>
          <a:xfrm>
            <a:off x="274320" y="3364920"/>
            <a:ext cx="63720" cy="529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39"/>
          <p:cNvSpPr/>
          <p:nvPr/>
        </p:nvSpPr>
        <p:spPr>
          <a:xfrm>
            <a:off x="402480" y="342000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Intel Myriad X (MA2085)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40"/>
          <p:cNvSpPr/>
          <p:nvPr/>
        </p:nvSpPr>
        <p:spPr>
          <a:xfrm>
            <a:off x="3749040" y="3483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96C7"/>
                </a:solidFill>
                <a:effectLst/>
                <a:uFillTx/>
                <a:latin typeface="Calibri"/>
                <a:ea typeface="Calibri"/>
              </a:rPr>
              <a:t>~4 TOPS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1"/>
          <p:cNvSpPr/>
          <p:nvPr/>
        </p:nvSpPr>
        <p:spPr>
          <a:xfrm>
            <a:off x="5029200" y="348372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~1–2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42"/>
          <p:cNvSpPr/>
          <p:nvPr/>
        </p:nvSpPr>
        <p:spPr>
          <a:xfrm>
            <a:off x="6126480" y="343800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Neuronowy accelerator dla sensorów (OAK-D camera); Ultra-low power inference; 16 SHAVE cores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43"/>
          <p:cNvSpPr/>
          <p:nvPr/>
        </p:nvSpPr>
        <p:spPr>
          <a:xfrm>
            <a:off x="274320" y="3931920"/>
            <a:ext cx="8595000" cy="529920"/>
          </a:xfrm>
          <a:prstGeom prst="rect">
            <a:avLst/>
          </a:prstGeom>
          <a:solidFill>
            <a:srgbClr val="F7FAFC"/>
          </a:solidFill>
          <a:ln w="508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44"/>
          <p:cNvSpPr/>
          <p:nvPr/>
        </p:nvSpPr>
        <p:spPr>
          <a:xfrm>
            <a:off x="274320" y="3931920"/>
            <a:ext cx="63720" cy="5299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45"/>
          <p:cNvSpPr/>
          <p:nvPr/>
        </p:nvSpPr>
        <p:spPr>
          <a:xfrm>
            <a:off x="402480" y="3986640"/>
            <a:ext cx="324576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Texas Instr. TDA4VM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46"/>
          <p:cNvSpPr/>
          <p:nvPr/>
        </p:nvSpPr>
        <p:spPr>
          <a:xfrm>
            <a:off x="3749040" y="4050720"/>
            <a:ext cx="1142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0096C7"/>
                </a:solidFill>
                <a:effectLst/>
                <a:uFillTx/>
                <a:latin typeface="Calibri"/>
                <a:ea typeface="Calibri"/>
              </a:rPr>
              <a:t>~8 TOPS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47"/>
          <p:cNvSpPr/>
          <p:nvPr/>
        </p:nvSpPr>
        <p:spPr>
          <a:xfrm>
            <a:off x="5029200" y="4050720"/>
            <a:ext cx="959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2D3748"/>
                </a:solidFill>
                <a:effectLst/>
                <a:uFillTx/>
                <a:latin typeface="Calibri"/>
                <a:ea typeface="Calibri"/>
              </a:rPr>
              <a:t>~5 W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48"/>
          <p:cNvSpPr/>
          <p:nvPr/>
        </p:nvSpPr>
        <p:spPr>
          <a:xfrm>
            <a:off x="6126480" y="4005000"/>
            <a:ext cx="269712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Automotive-grade SoC; C7x DSP + MMA; real-time control + perception; safety ISO 26262 ASIL-B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Fuzja sensoryczna — obecne architektury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11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5"/>
          <p:cNvSpPr/>
          <p:nvPr/>
        </p:nvSpPr>
        <p:spPr>
          <a:xfrm>
            <a:off x="274320" y="749880"/>
            <a:ext cx="41601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Strategie fuzji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4663440" y="74988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Implementacja i wyzwania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7"/>
          <p:cNvSpPr/>
          <p:nvPr/>
        </p:nvSpPr>
        <p:spPr>
          <a:xfrm>
            <a:off x="4526280" y="1097280"/>
            <a:ext cx="360" cy="3584160"/>
          </a:xfrm>
          <a:prstGeom prst="line">
            <a:avLst/>
          </a:prstGeom>
          <a:ln w="1016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274320" y="1097280"/>
            <a:ext cx="4114440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Early fusion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surowe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dane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wszystkich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sensorów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łączone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przed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przetwarzaniem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pełna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informacja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, ale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wymóg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synchronizacji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sub-ms;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stosowana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SLAM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</a:b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odometrii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wizualno-inercyjnej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(VIO)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Late fusion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każdy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sensor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przetwarza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niezależnie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wyniki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łączone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detektor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obiektów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lub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Kalman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Filter;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tolerancja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utratę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jednego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sensora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stosowana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detekcji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przeszkód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Deep fusion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(attention-based):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architektura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Transformer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łącząca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reprezentacje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latentne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wielu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modalności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CLIP-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analogia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sensorów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robotycznych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badania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poziomie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TRL 3–4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Temporal fusion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LSTM/GRU do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łączenia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danych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różnych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chwil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czasu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kluczowe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predykcji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trajektorii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człowieka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latencja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+5–20 ms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4663440" y="1097280"/>
            <a:ext cx="4205880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Standardy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synchronizacji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IEEE 1588 PTP (Precision Time Protocol)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synchronizacja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&lt;1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μs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między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węzłami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hardware timestamp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wszystkich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sensorach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wymóg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podstawowy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ROS 2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message_filters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ApproximateTime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policy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dopasowania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timestampów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tolerancją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±5 ms;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nadal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standard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platformach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badawczych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Kalibracja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ciągła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online extrinsic calibration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kamera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-LiDAR-IMU;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dryft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kalibracji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cyklu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termicznym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0.1–0.5 mm/h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wymóg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rekalibracji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co 4–8 h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Ograniczenie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brak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standardowego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frameworku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fuzji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humanoidalnych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każdy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producent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implementuje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własny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stos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bariery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interoperacyjności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Pokrycie sensoryczne — aktualny stan platform humanoidalnych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12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82" name="Grupa 281"/>
          <p:cNvGrpSpPr/>
          <p:nvPr/>
        </p:nvGrpSpPr>
        <p:grpSpPr>
          <a:xfrm>
            <a:off x="39240" y="699978"/>
            <a:ext cx="8960760" cy="4139448"/>
            <a:chOff x="39240" y="720000"/>
            <a:chExt cx="8960760" cy="4139448"/>
          </a:xfrm>
        </p:grpSpPr>
        <p:sp>
          <p:nvSpPr>
            <p:cNvPr id="283" name="Text 5"/>
            <p:cNvSpPr/>
            <p:nvPr/>
          </p:nvSpPr>
          <p:spPr>
            <a:xfrm>
              <a:off x="1593720" y="720000"/>
              <a:ext cx="123408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Atlas (BD)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Text 6"/>
            <p:cNvSpPr/>
            <p:nvPr/>
          </p:nvSpPr>
          <p:spPr>
            <a:xfrm>
              <a:off x="2828160" y="720000"/>
              <a:ext cx="123408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Digit (Agility)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Text 7"/>
            <p:cNvSpPr/>
            <p:nvPr/>
          </p:nvSpPr>
          <p:spPr>
            <a:xfrm>
              <a:off x="4062600" y="720000"/>
              <a:ext cx="123408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Optimus (Tesla)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Text 8"/>
            <p:cNvSpPr/>
            <p:nvPr/>
          </p:nvSpPr>
          <p:spPr>
            <a:xfrm>
              <a:off x="5297040" y="720000"/>
              <a:ext cx="123408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Figure 01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Text 9"/>
            <p:cNvSpPr/>
            <p:nvPr/>
          </p:nvSpPr>
          <p:spPr>
            <a:xfrm>
              <a:off x="6531480" y="720000"/>
              <a:ext cx="123408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Unitree H1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Text 10"/>
            <p:cNvSpPr/>
            <p:nvPr/>
          </p:nvSpPr>
          <p:spPr>
            <a:xfrm>
              <a:off x="7765920" y="720000"/>
              <a:ext cx="1234080" cy="31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iCub (IIT)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Shape 11"/>
            <p:cNvSpPr/>
            <p:nvPr/>
          </p:nvSpPr>
          <p:spPr>
            <a:xfrm>
              <a:off x="39240" y="1067400"/>
              <a:ext cx="1508400" cy="32436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Text 12"/>
            <p:cNvSpPr/>
            <p:nvPr/>
          </p:nvSpPr>
          <p:spPr>
            <a:xfrm>
              <a:off x="84960" y="110376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RGB-D Kamera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Shape 13"/>
            <p:cNvSpPr/>
            <p:nvPr/>
          </p:nvSpPr>
          <p:spPr>
            <a:xfrm>
              <a:off x="1593720" y="10674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Text 14"/>
            <p:cNvSpPr/>
            <p:nvPr/>
          </p:nvSpPr>
          <p:spPr>
            <a:xfrm>
              <a:off x="1593720" y="110376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Shape 15"/>
            <p:cNvSpPr/>
            <p:nvPr/>
          </p:nvSpPr>
          <p:spPr>
            <a:xfrm>
              <a:off x="2828160" y="10674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Text 16"/>
            <p:cNvSpPr/>
            <p:nvPr/>
          </p:nvSpPr>
          <p:spPr>
            <a:xfrm>
              <a:off x="2828160" y="110376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Shape 17"/>
            <p:cNvSpPr/>
            <p:nvPr/>
          </p:nvSpPr>
          <p:spPr>
            <a:xfrm>
              <a:off x="4062600" y="10674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Text 18"/>
            <p:cNvSpPr/>
            <p:nvPr/>
          </p:nvSpPr>
          <p:spPr>
            <a:xfrm>
              <a:off x="4062600" y="110376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7" name="Shape 19"/>
            <p:cNvSpPr/>
            <p:nvPr/>
          </p:nvSpPr>
          <p:spPr>
            <a:xfrm>
              <a:off x="5297040" y="10674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8" name="Text 20"/>
            <p:cNvSpPr/>
            <p:nvPr/>
          </p:nvSpPr>
          <p:spPr>
            <a:xfrm>
              <a:off x="5297040" y="110376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9" name="Shape 21"/>
            <p:cNvSpPr/>
            <p:nvPr/>
          </p:nvSpPr>
          <p:spPr>
            <a:xfrm>
              <a:off x="6531480" y="10674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0" name="Text 22"/>
            <p:cNvSpPr/>
            <p:nvPr/>
          </p:nvSpPr>
          <p:spPr>
            <a:xfrm>
              <a:off x="6531480" y="110376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Shape 23"/>
            <p:cNvSpPr/>
            <p:nvPr/>
          </p:nvSpPr>
          <p:spPr>
            <a:xfrm>
              <a:off x="7765920" y="10674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2" name="Text 24"/>
            <p:cNvSpPr/>
            <p:nvPr/>
          </p:nvSpPr>
          <p:spPr>
            <a:xfrm>
              <a:off x="7765920" y="110376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3" name="Shape 25"/>
            <p:cNvSpPr/>
            <p:nvPr/>
          </p:nvSpPr>
          <p:spPr>
            <a:xfrm>
              <a:off x="39240" y="1392120"/>
              <a:ext cx="1508400" cy="324360"/>
            </a:xfrm>
            <a:prstGeom prst="rect">
              <a:avLst/>
            </a:prstGeom>
            <a:solidFill>
              <a:srgbClr val="F7FAFC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Text 26"/>
            <p:cNvSpPr/>
            <p:nvPr/>
          </p:nvSpPr>
          <p:spPr>
            <a:xfrm>
              <a:off x="84960" y="142848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Event Camera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Shape 27"/>
            <p:cNvSpPr/>
            <p:nvPr/>
          </p:nvSpPr>
          <p:spPr>
            <a:xfrm>
              <a:off x="1593720" y="13921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Text 28"/>
            <p:cNvSpPr/>
            <p:nvPr/>
          </p:nvSpPr>
          <p:spPr>
            <a:xfrm>
              <a:off x="1593720" y="14284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Shape 29"/>
            <p:cNvSpPr/>
            <p:nvPr/>
          </p:nvSpPr>
          <p:spPr>
            <a:xfrm>
              <a:off x="2828160" y="13921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Text 30"/>
            <p:cNvSpPr/>
            <p:nvPr/>
          </p:nvSpPr>
          <p:spPr>
            <a:xfrm>
              <a:off x="2828160" y="14284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Shape 31"/>
            <p:cNvSpPr/>
            <p:nvPr/>
          </p:nvSpPr>
          <p:spPr>
            <a:xfrm>
              <a:off x="4062600" y="13921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Text 32"/>
            <p:cNvSpPr/>
            <p:nvPr/>
          </p:nvSpPr>
          <p:spPr>
            <a:xfrm>
              <a:off x="4062600" y="14284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Shape 33"/>
            <p:cNvSpPr/>
            <p:nvPr/>
          </p:nvSpPr>
          <p:spPr>
            <a:xfrm>
              <a:off x="5297040" y="13921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Text 34"/>
            <p:cNvSpPr/>
            <p:nvPr/>
          </p:nvSpPr>
          <p:spPr>
            <a:xfrm>
              <a:off x="5297040" y="14284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Shape 35"/>
            <p:cNvSpPr/>
            <p:nvPr/>
          </p:nvSpPr>
          <p:spPr>
            <a:xfrm>
              <a:off x="6531480" y="13921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Text 36"/>
            <p:cNvSpPr/>
            <p:nvPr/>
          </p:nvSpPr>
          <p:spPr>
            <a:xfrm>
              <a:off x="6531480" y="14284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Shape 37"/>
            <p:cNvSpPr/>
            <p:nvPr/>
          </p:nvSpPr>
          <p:spPr>
            <a:xfrm>
              <a:off x="7765920" y="139212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Text 38"/>
            <p:cNvSpPr/>
            <p:nvPr/>
          </p:nvSpPr>
          <p:spPr>
            <a:xfrm>
              <a:off x="7765920" y="14284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Shape 39"/>
            <p:cNvSpPr/>
            <p:nvPr/>
          </p:nvSpPr>
          <p:spPr>
            <a:xfrm>
              <a:off x="39240" y="1716480"/>
              <a:ext cx="1508400" cy="32436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Text 40"/>
            <p:cNvSpPr/>
            <p:nvPr/>
          </p:nvSpPr>
          <p:spPr>
            <a:xfrm>
              <a:off x="84960" y="175320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Solid-State LiDAR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Shape 41"/>
            <p:cNvSpPr/>
            <p:nvPr/>
          </p:nvSpPr>
          <p:spPr>
            <a:xfrm>
              <a:off x="1593720" y="171648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Text 42"/>
            <p:cNvSpPr/>
            <p:nvPr/>
          </p:nvSpPr>
          <p:spPr>
            <a:xfrm>
              <a:off x="1593720" y="17532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Shape 43"/>
            <p:cNvSpPr/>
            <p:nvPr/>
          </p:nvSpPr>
          <p:spPr>
            <a:xfrm>
              <a:off x="2828160" y="171648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Text 44"/>
            <p:cNvSpPr/>
            <p:nvPr/>
          </p:nvSpPr>
          <p:spPr>
            <a:xfrm>
              <a:off x="2828160" y="17532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Shape 45"/>
            <p:cNvSpPr/>
            <p:nvPr/>
          </p:nvSpPr>
          <p:spPr>
            <a:xfrm>
              <a:off x="4062600" y="171648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Text 46"/>
            <p:cNvSpPr/>
            <p:nvPr/>
          </p:nvSpPr>
          <p:spPr>
            <a:xfrm>
              <a:off x="4062600" y="17532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Shape 47"/>
            <p:cNvSpPr/>
            <p:nvPr/>
          </p:nvSpPr>
          <p:spPr>
            <a:xfrm>
              <a:off x="5297040" y="171648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Text 48"/>
            <p:cNvSpPr/>
            <p:nvPr/>
          </p:nvSpPr>
          <p:spPr>
            <a:xfrm>
              <a:off x="5297040" y="17532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Shape 49"/>
            <p:cNvSpPr/>
            <p:nvPr/>
          </p:nvSpPr>
          <p:spPr>
            <a:xfrm>
              <a:off x="6531480" y="17164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Text 50"/>
            <p:cNvSpPr/>
            <p:nvPr/>
          </p:nvSpPr>
          <p:spPr>
            <a:xfrm>
              <a:off x="6531480" y="17532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Shape 51"/>
            <p:cNvSpPr/>
            <p:nvPr/>
          </p:nvSpPr>
          <p:spPr>
            <a:xfrm>
              <a:off x="7765920" y="17164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Text 52"/>
            <p:cNvSpPr/>
            <p:nvPr/>
          </p:nvSpPr>
          <p:spPr>
            <a:xfrm>
              <a:off x="7765920" y="17532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1" name="Shape 53"/>
            <p:cNvSpPr/>
            <p:nvPr/>
          </p:nvSpPr>
          <p:spPr>
            <a:xfrm>
              <a:off x="39240" y="2041200"/>
              <a:ext cx="1508400" cy="324360"/>
            </a:xfrm>
            <a:prstGeom prst="rect">
              <a:avLst/>
            </a:prstGeom>
            <a:solidFill>
              <a:srgbClr val="F7FAFC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2" name="Text 54"/>
            <p:cNvSpPr/>
            <p:nvPr/>
          </p:nvSpPr>
          <p:spPr>
            <a:xfrm>
              <a:off x="84960" y="207792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Mech. LiDAR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3" name="Shape 55"/>
            <p:cNvSpPr/>
            <p:nvPr/>
          </p:nvSpPr>
          <p:spPr>
            <a:xfrm>
              <a:off x="1593720" y="20412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4" name="Text 56"/>
            <p:cNvSpPr/>
            <p:nvPr/>
          </p:nvSpPr>
          <p:spPr>
            <a:xfrm>
              <a:off x="1593720" y="20779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Shape 57"/>
            <p:cNvSpPr/>
            <p:nvPr/>
          </p:nvSpPr>
          <p:spPr>
            <a:xfrm>
              <a:off x="2828160" y="20412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Text 58"/>
            <p:cNvSpPr/>
            <p:nvPr/>
          </p:nvSpPr>
          <p:spPr>
            <a:xfrm>
              <a:off x="2828160" y="20779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Shape 59"/>
            <p:cNvSpPr/>
            <p:nvPr/>
          </p:nvSpPr>
          <p:spPr>
            <a:xfrm>
              <a:off x="4062600" y="20412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Text 60"/>
            <p:cNvSpPr/>
            <p:nvPr/>
          </p:nvSpPr>
          <p:spPr>
            <a:xfrm>
              <a:off x="4062600" y="20779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Shape 61"/>
            <p:cNvSpPr/>
            <p:nvPr/>
          </p:nvSpPr>
          <p:spPr>
            <a:xfrm>
              <a:off x="5297040" y="20412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Text 62"/>
            <p:cNvSpPr/>
            <p:nvPr/>
          </p:nvSpPr>
          <p:spPr>
            <a:xfrm>
              <a:off x="5297040" y="20779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Shape 63"/>
            <p:cNvSpPr/>
            <p:nvPr/>
          </p:nvSpPr>
          <p:spPr>
            <a:xfrm>
              <a:off x="6531480" y="20412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Text 64"/>
            <p:cNvSpPr/>
            <p:nvPr/>
          </p:nvSpPr>
          <p:spPr>
            <a:xfrm>
              <a:off x="6531480" y="20779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Shape 65"/>
            <p:cNvSpPr/>
            <p:nvPr/>
          </p:nvSpPr>
          <p:spPr>
            <a:xfrm>
              <a:off x="7765920" y="20412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Text 66"/>
            <p:cNvSpPr/>
            <p:nvPr/>
          </p:nvSpPr>
          <p:spPr>
            <a:xfrm>
              <a:off x="7765920" y="20779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Shape 67"/>
            <p:cNvSpPr/>
            <p:nvPr/>
          </p:nvSpPr>
          <p:spPr>
            <a:xfrm>
              <a:off x="39240" y="2365920"/>
              <a:ext cx="1508400" cy="32436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Text 68"/>
            <p:cNvSpPr/>
            <p:nvPr/>
          </p:nvSpPr>
          <p:spPr>
            <a:xfrm>
              <a:off x="84960" y="240228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IMU 9-DOF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Shape 69"/>
            <p:cNvSpPr/>
            <p:nvPr/>
          </p:nvSpPr>
          <p:spPr>
            <a:xfrm>
              <a:off x="1593720" y="236592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Text 70"/>
            <p:cNvSpPr/>
            <p:nvPr/>
          </p:nvSpPr>
          <p:spPr>
            <a:xfrm>
              <a:off x="1593720" y="24022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9" name="Shape 71"/>
            <p:cNvSpPr/>
            <p:nvPr/>
          </p:nvSpPr>
          <p:spPr>
            <a:xfrm>
              <a:off x="2828160" y="236592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Text 72"/>
            <p:cNvSpPr/>
            <p:nvPr/>
          </p:nvSpPr>
          <p:spPr>
            <a:xfrm>
              <a:off x="2828160" y="24022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Shape 73"/>
            <p:cNvSpPr/>
            <p:nvPr/>
          </p:nvSpPr>
          <p:spPr>
            <a:xfrm>
              <a:off x="4062600" y="236592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Text 74"/>
            <p:cNvSpPr/>
            <p:nvPr/>
          </p:nvSpPr>
          <p:spPr>
            <a:xfrm>
              <a:off x="4062600" y="24022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Shape 75"/>
            <p:cNvSpPr/>
            <p:nvPr/>
          </p:nvSpPr>
          <p:spPr>
            <a:xfrm>
              <a:off x="5297040" y="236592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Text 76"/>
            <p:cNvSpPr/>
            <p:nvPr/>
          </p:nvSpPr>
          <p:spPr>
            <a:xfrm>
              <a:off x="5297040" y="24022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Shape 77"/>
            <p:cNvSpPr/>
            <p:nvPr/>
          </p:nvSpPr>
          <p:spPr>
            <a:xfrm>
              <a:off x="6531480" y="236592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Text 78"/>
            <p:cNvSpPr/>
            <p:nvPr/>
          </p:nvSpPr>
          <p:spPr>
            <a:xfrm>
              <a:off x="6531480" y="24022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Shape 79"/>
            <p:cNvSpPr/>
            <p:nvPr/>
          </p:nvSpPr>
          <p:spPr>
            <a:xfrm>
              <a:off x="7765920" y="236592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Text 80"/>
            <p:cNvSpPr/>
            <p:nvPr/>
          </p:nvSpPr>
          <p:spPr>
            <a:xfrm>
              <a:off x="7765920" y="24022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Shape 81"/>
            <p:cNvSpPr/>
            <p:nvPr/>
          </p:nvSpPr>
          <p:spPr>
            <a:xfrm>
              <a:off x="39240" y="2690280"/>
              <a:ext cx="1508400" cy="324360"/>
            </a:xfrm>
            <a:prstGeom prst="rect">
              <a:avLst/>
            </a:prstGeom>
            <a:solidFill>
              <a:srgbClr val="F7FAFC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Text 82"/>
            <p:cNvSpPr/>
            <p:nvPr/>
          </p:nvSpPr>
          <p:spPr>
            <a:xfrm>
              <a:off x="84960" y="272700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F/T Sensors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Shape 83"/>
            <p:cNvSpPr/>
            <p:nvPr/>
          </p:nvSpPr>
          <p:spPr>
            <a:xfrm>
              <a:off x="1593720" y="269028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Text 84"/>
            <p:cNvSpPr/>
            <p:nvPr/>
          </p:nvSpPr>
          <p:spPr>
            <a:xfrm>
              <a:off x="1593720" y="27270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Shape 85"/>
            <p:cNvSpPr/>
            <p:nvPr/>
          </p:nvSpPr>
          <p:spPr>
            <a:xfrm>
              <a:off x="2828160" y="26902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4" name="Text 86"/>
            <p:cNvSpPr/>
            <p:nvPr/>
          </p:nvSpPr>
          <p:spPr>
            <a:xfrm>
              <a:off x="2828160" y="27270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5" name="Shape 87"/>
            <p:cNvSpPr/>
            <p:nvPr/>
          </p:nvSpPr>
          <p:spPr>
            <a:xfrm>
              <a:off x="4062600" y="26902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Text 88"/>
            <p:cNvSpPr/>
            <p:nvPr/>
          </p:nvSpPr>
          <p:spPr>
            <a:xfrm>
              <a:off x="4062600" y="27270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Shape 89"/>
            <p:cNvSpPr/>
            <p:nvPr/>
          </p:nvSpPr>
          <p:spPr>
            <a:xfrm>
              <a:off x="5297040" y="269028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Text 90"/>
            <p:cNvSpPr/>
            <p:nvPr/>
          </p:nvSpPr>
          <p:spPr>
            <a:xfrm>
              <a:off x="5297040" y="27270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9" name="Shape 91"/>
            <p:cNvSpPr/>
            <p:nvPr/>
          </p:nvSpPr>
          <p:spPr>
            <a:xfrm>
              <a:off x="6531480" y="26902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0" name="Text 92"/>
            <p:cNvSpPr/>
            <p:nvPr/>
          </p:nvSpPr>
          <p:spPr>
            <a:xfrm>
              <a:off x="6531480" y="27270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Shape 93"/>
            <p:cNvSpPr/>
            <p:nvPr/>
          </p:nvSpPr>
          <p:spPr>
            <a:xfrm>
              <a:off x="7765920" y="269028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2" name="Text 94"/>
            <p:cNvSpPr/>
            <p:nvPr/>
          </p:nvSpPr>
          <p:spPr>
            <a:xfrm>
              <a:off x="7765920" y="27270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Shape 95"/>
            <p:cNvSpPr/>
            <p:nvPr/>
          </p:nvSpPr>
          <p:spPr>
            <a:xfrm>
              <a:off x="39240" y="3015000"/>
              <a:ext cx="1508400" cy="32436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Text 96"/>
            <p:cNvSpPr/>
            <p:nvPr/>
          </p:nvSpPr>
          <p:spPr>
            <a:xfrm>
              <a:off x="84960" y="305172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E-Skin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Shape 97"/>
            <p:cNvSpPr/>
            <p:nvPr/>
          </p:nvSpPr>
          <p:spPr>
            <a:xfrm>
              <a:off x="1593720" y="30150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Text 98"/>
            <p:cNvSpPr/>
            <p:nvPr/>
          </p:nvSpPr>
          <p:spPr>
            <a:xfrm>
              <a:off x="1593720" y="30517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Shape 99"/>
            <p:cNvSpPr/>
            <p:nvPr/>
          </p:nvSpPr>
          <p:spPr>
            <a:xfrm>
              <a:off x="2828160" y="30150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Text 100"/>
            <p:cNvSpPr/>
            <p:nvPr/>
          </p:nvSpPr>
          <p:spPr>
            <a:xfrm>
              <a:off x="2828160" y="30517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Shape 101"/>
            <p:cNvSpPr/>
            <p:nvPr/>
          </p:nvSpPr>
          <p:spPr>
            <a:xfrm>
              <a:off x="4062600" y="30150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Text 102"/>
            <p:cNvSpPr/>
            <p:nvPr/>
          </p:nvSpPr>
          <p:spPr>
            <a:xfrm>
              <a:off x="4062600" y="30517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Shape 103"/>
            <p:cNvSpPr/>
            <p:nvPr/>
          </p:nvSpPr>
          <p:spPr>
            <a:xfrm>
              <a:off x="5297040" y="30150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Text 104"/>
            <p:cNvSpPr/>
            <p:nvPr/>
          </p:nvSpPr>
          <p:spPr>
            <a:xfrm>
              <a:off x="5297040" y="30517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Shape 105"/>
            <p:cNvSpPr/>
            <p:nvPr/>
          </p:nvSpPr>
          <p:spPr>
            <a:xfrm>
              <a:off x="6531480" y="30150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4" name="Text 106"/>
            <p:cNvSpPr/>
            <p:nvPr/>
          </p:nvSpPr>
          <p:spPr>
            <a:xfrm>
              <a:off x="6531480" y="30517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5" name="Shape 107"/>
            <p:cNvSpPr/>
            <p:nvPr/>
          </p:nvSpPr>
          <p:spPr>
            <a:xfrm>
              <a:off x="7765920" y="30150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Text 108"/>
            <p:cNvSpPr/>
            <p:nvPr/>
          </p:nvSpPr>
          <p:spPr>
            <a:xfrm>
              <a:off x="7765920" y="30517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Shape 109"/>
            <p:cNvSpPr/>
            <p:nvPr/>
          </p:nvSpPr>
          <p:spPr>
            <a:xfrm>
              <a:off x="39240" y="3339720"/>
              <a:ext cx="1508400" cy="324360"/>
            </a:xfrm>
            <a:prstGeom prst="rect">
              <a:avLst/>
            </a:prstGeom>
            <a:solidFill>
              <a:srgbClr val="F7FAFC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Text 110"/>
            <p:cNvSpPr/>
            <p:nvPr/>
          </p:nvSpPr>
          <p:spPr>
            <a:xfrm>
              <a:off x="84960" y="337608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Radar mmWave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Shape 111"/>
            <p:cNvSpPr/>
            <p:nvPr/>
          </p:nvSpPr>
          <p:spPr>
            <a:xfrm>
              <a:off x="1593720" y="33397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Text 112"/>
            <p:cNvSpPr/>
            <p:nvPr/>
          </p:nvSpPr>
          <p:spPr>
            <a:xfrm>
              <a:off x="1593720" y="33760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Shape 113"/>
            <p:cNvSpPr/>
            <p:nvPr/>
          </p:nvSpPr>
          <p:spPr>
            <a:xfrm>
              <a:off x="2828160" y="33397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Text 114"/>
            <p:cNvSpPr/>
            <p:nvPr/>
          </p:nvSpPr>
          <p:spPr>
            <a:xfrm>
              <a:off x="2828160" y="33760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Shape 115"/>
            <p:cNvSpPr/>
            <p:nvPr/>
          </p:nvSpPr>
          <p:spPr>
            <a:xfrm>
              <a:off x="4062600" y="33397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Text 116"/>
            <p:cNvSpPr/>
            <p:nvPr/>
          </p:nvSpPr>
          <p:spPr>
            <a:xfrm>
              <a:off x="4062600" y="33760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Shape 117"/>
            <p:cNvSpPr/>
            <p:nvPr/>
          </p:nvSpPr>
          <p:spPr>
            <a:xfrm>
              <a:off x="5297040" y="33397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Text 118"/>
            <p:cNvSpPr/>
            <p:nvPr/>
          </p:nvSpPr>
          <p:spPr>
            <a:xfrm>
              <a:off x="5297040" y="33760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7" name="Shape 119"/>
            <p:cNvSpPr/>
            <p:nvPr/>
          </p:nvSpPr>
          <p:spPr>
            <a:xfrm>
              <a:off x="6531480" y="33397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8" name="Text 120"/>
            <p:cNvSpPr/>
            <p:nvPr/>
          </p:nvSpPr>
          <p:spPr>
            <a:xfrm>
              <a:off x="6531480" y="33760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9" name="Shape 121"/>
            <p:cNvSpPr/>
            <p:nvPr/>
          </p:nvSpPr>
          <p:spPr>
            <a:xfrm>
              <a:off x="7765920" y="33397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0" name="Text 122"/>
            <p:cNvSpPr/>
            <p:nvPr/>
          </p:nvSpPr>
          <p:spPr>
            <a:xfrm>
              <a:off x="7765920" y="33760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1" name="Shape 123"/>
            <p:cNvSpPr/>
            <p:nvPr/>
          </p:nvSpPr>
          <p:spPr>
            <a:xfrm>
              <a:off x="39240" y="3664080"/>
              <a:ext cx="1508400" cy="32436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2" name="Text 124"/>
            <p:cNvSpPr/>
            <p:nvPr/>
          </p:nvSpPr>
          <p:spPr>
            <a:xfrm>
              <a:off x="84960" y="370080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THz Sensor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3" name="Shape 125"/>
            <p:cNvSpPr/>
            <p:nvPr/>
          </p:nvSpPr>
          <p:spPr>
            <a:xfrm>
              <a:off x="1593720" y="36640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4" name="Text 126"/>
            <p:cNvSpPr/>
            <p:nvPr/>
          </p:nvSpPr>
          <p:spPr>
            <a:xfrm>
              <a:off x="1593720" y="37008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5" name="Shape 127"/>
            <p:cNvSpPr/>
            <p:nvPr/>
          </p:nvSpPr>
          <p:spPr>
            <a:xfrm>
              <a:off x="2828160" y="36640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Text 128"/>
            <p:cNvSpPr/>
            <p:nvPr/>
          </p:nvSpPr>
          <p:spPr>
            <a:xfrm>
              <a:off x="2828160" y="37008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Shape 129"/>
            <p:cNvSpPr/>
            <p:nvPr/>
          </p:nvSpPr>
          <p:spPr>
            <a:xfrm>
              <a:off x="4062600" y="36640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Text 130"/>
            <p:cNvSpPr/>
            <p:nvPr/>
          </p:nvSpPr>
          <p:spPr>
            <a:xfrm>
              <a:off x="4062600" y="37008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Shape 131"/>
            <p:cNvSpPr/>
            <p:nvPr/>
          </p:nvSpPr>
          <p:spPr>
            <a:xfrm>
              <a:off x="5297040" y="36640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Text 132"/>
            <p:cNvSpPr/>
            <p:nvPr/>
          </p:nvSpPr>
          <p:spPr>
            <a:xfrm>
              <a:off x="5297040" y="37008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Shape 133"/>
            <p:cNvSpPr/>
            <p:nvPr/>
          </p:nvSpPr>
          <p:spPr>
            <a:xfrm>
              <a:off x="6531480" y="36640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Text 134"/>
            <p:cNvSpPr/>
            <p:nvPr/>
          </p:nvSpPr>
          <p:spPr>
            <a:xfrm>
              <a:off x="6531480" y="37008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Shape 135"/>
            <p:cNvSpPr/>
            <p:nvPr/>
          </p:nvSpPr>
          <p:spPr>
            <a:xfrm>
              <a:off x="7765920" y="366408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Text 136"/>
            <p:cNvSpPr/>
            <p:nvPr/>
          </p:nvSpPr>
          <p:spPr>
            <a:xfrm>
              <a:off x="7765920" y="370080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Shape 137"/>
            <p:cNvSpPr/>
            <p:nvPr/>
          </p:nvSpPr>
          <p:spPr>
            <a:xfrm>
              <a:off x="39240" y="3988800"/>
              <a:ext cx="1508400" cy="324360"/>
            </a:xfrm>
            <a:prstGeom prst="rect">
              <a:avLst/>
            </a:prstGeom>
            <a:solidFill>
              <a:srgbClr val="F7FAFC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Text 138"/>
            <p:cNvSpPr/>
            <p:nvPr/>
          </p:nvSpPr>
          <p:spPr>
            <a:xfrm>
              <a:off x="84960" y="402552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Edge NPU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Shape 139"/>
            <p:cNvSpPr/>
            <p:nvPr/>
          </p:nvSpPr>
          <p:spPr>
            <a:xfrm>
              <a:off x="1593720" y="39888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Text 140"/>
            <p:cNvSpPr/>
            <p:nvPr/>
          </p:nvSpPr>
          <p:spPr>
            <a:xfrm>
              <a:off x="1593720" y="40255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Shape 141"/>
            <p:cNvSpPr/>
            <p:nvPr/>
          </p:nvSpPr>
          <p:spPr>
            <a:xfrm>
              <a:off x="2828160" y="39888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Text 142"/>
            <p:cNvSpPr/>
            <p:nvPr/>
          </p:nvSpPr>
          <p:spPr>
            <a:xfrm>
              <a:off x="2828160" y="40255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Shape 143"/>
            <p:cNvSpPr/>
            <p:nvPr/>
          </p:nvSpPr>
          <p:spPr>
            <a:xfrm>
              <a:off x="4062600" y="39888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Text 144"/>
            <p:cNvSpPr/>
            <p:nvPr/>
          </p:nvSpPr>
          <p:spPr>
            <a:xfrm>
              <a:off x="4062600" y="40255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Shape 145"/>
            <p:cNvSpPr/>
            <p:nvPr/>
          </p:nvSpPr>
          <p:spPr>
            <a:xfrm>
              <a:off x="5297040" y="39888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Text 146"/>
            <p:cNvSpPr/>
            <p:nvPr/>
          </p:nvSpPr>
          <p:spPr>
            <a:xfrm>
              <a:off x="5297040" y="40255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Shape 147"/>
            <p:cNvSpPr/>
            <p:nvPr/>
          </p:nvSpPr>
          <p:spPr>
            <a:xfrm>
              <a:off x="6531480" y="398880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Text 148"/>
            <p:cNvSpPr/>
            <p:nvPr/>
          </p:nvSpPr>
          <p:spPr>
            <a:xfrm>
              <a:off x="6531480" y="40255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Shape 149"/>
            <p:cNvSpPr/>
            <p:nvPr/>
          </p:nvSpPr>
          <p:spPr>
            <a:xfrm>
              <a:off x="7765920" y="398880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Text 150"/>
            <p:cNvSpPr/>
            <p:nvPr/>
          </p:nvSpPr>
          <p:spPr>
            <a:xfrm>
              <a:off x="7765920" y="402552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Shape 151"/>
            <p:cNvSpPr/>
            <p:nvPr/>
          </p:nvSpPr>
          <p:spPr>
            <a:xfrm>
              <a:off x="39240" y="4313520"/>
              <a:ext cx="1508400" cy="32436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0" name="Text 152"/>
            <p:cNvSpPr/>
            <p:nvPr/>
          </p:nvSpPr>
          <p:spPr>
            <a:xfrm>
              <a:off x="84960" y="4349880"/>
              <a:ext cx="144432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FPGA RT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Shape 153"/>
            <p:cNvSpPr/>
            <p:nvPr/>
          </p:nvSpPr>
          <p:spPr>
            <a:xfrm>
              <a:off x="1593720" y="43135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2" name="Text 154"/>
            <p:cNvSpPr/>
            <p:nvPr/>
          </p:nvSpPr>
          <p:spPr>
            <a:xfrm>
              <a:off x="1593720" y="43498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3" name="Shape 155"/>
            <p:cNvSpPr/>
            <p:nvPr/>
          </p:nvSpPr>
          <p:spPr>
            <a:xfrm>
              <a:off x="2828160" y="431352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Text 156"/>
            <p:cNvSpPr/>
            <p:nvPr/>
          </p:nvSpPr>
          <p:spPr>
            <a:xfrm>
              <a:off x="2828160" y="43498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Shape 157"/>
            <p:cNvSpPr/>
            <p:nvPr/>
          </p:nvSpPr>
          <p:spPr>
            <a:xfrm>
              <a:off x="4062600" y="43135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Text 158"/>
            <p:cNvSpPr/>
            <p:nvPr/>
          </p:nvSpPr>
          <p:spPr>
            <a:xfrm>
              <a:off x="4062600" y="43498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Shape 159"/>
            <p:cNvSpPr/>
            <p:nvPr/>
          </p:nvSpPr>
          <p:spPr>
            <a:xfrm>
              <a:off x="5297040" y="43135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Text 160"/>
            <p:cNvSpPr/>
            <p:nvPr/>
          </p:nvSpPr>
          <p:spPr>
            <a:xfrm>
              <a:off x="5297040" y="43498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Shape 161"/>
            <p:cNvSpPr/>
            <p:nvPr/>
          </p:nvSpPr>
          <p:spPr>
            <a:xfrm>
              <a:off x="6531480" y="4313520"/>
              <a:ext cx="1234080" cy="324360"/>
            </a:xfrm>
            <a:prstGeom prst="rect">
              <a:avLst/>
            </a:prstGeom>
            <a:solidFill>
              <a:srgbClr val="FADBD8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Text 162"/>
            <p:cNvSpPr/>
            <p:nvPr/>
          </p:nvSpPr>
          <p:spPr>
            <a:xfrm>
              <a:off x="6531480" y="43498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✗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Shape 163"/>
            <p:cNvSpPr/>
            <p:nvPr/>
          </p:nvSpPr>
          <p:spPr>
            <a:xfrm>
              <a:off x="7765920" y="4313520"/>
              <a:ext cx="1234080" cy="324360"/>
            </a:xfrm>
            <a:prstGeom prst="rect">
              <a:avLst/>
            </a:prstGeom>
            <a:solidFill>
              <a:srgbClr val="D4EFD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Text 164"/>
            <p:cNvSpPr/>
            <p:nvPr/>
          </p:nvSpPr>
          <p:spPr>
            <a:xfrm>
              <a:off x="7765920" y="4349880"/>
              <a:ext cx="1234080" cy="269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✓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Shape 165"/>
            <p:cNvSpPr/>
            <p:nvPr/>
          </p:nvSpPr>
          <p:spPr>
            <a:xfrm>
              <a:off x="39240" y="4695288"/>
              <a:ext cx="164160" cy="164160"/>
            </a:xfrm>
            <a:prstGeom prst="rect">
              <a:avLst/>
            </a:prstGeom>
            <a:solidFill>
              <a:srgbClr val="D4EFDF"/>
            </a:solidFill>
            <a:ln w="508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Text 166"/>
            <p:cNvSpPr/>
            <p:nvPr/>
          </p:nvSpPr>
          <p:spPr>
            <a:xfrm>
              <a:off x="240480" y="4695288"/>
              <a:ext cx="91404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0" u="none" strike="noStrike" dirty="0" err="1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Obecny</a:t>
              </a:r>
              <a:endParaRPr lang="pl-PL" sz="9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Shape 167"/>
            <p:cNvSpPr/>
            <p:nvPr/>
          </p:nvSpPr>
          <p:spPr>
            <a:xfrm>
              <a:off x="1319400" y="4695288"/>
              <a:ext cx="164160" cy="164160"/>
            </a:xfrm>
            <a:prstGeom prst="rect">
              <a:avLst/>
            </a:prstGeom>
            <a:solidFill>
              <a:srgbClr val="FADBD8"/>
            </a:solidFill>
            <a:ln w="508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Text 168"/>
            <p:cNvSpPr/>
            <p:nvPr/>
          </p:nvSpPr>
          <p:spPr>
            <a:xfrm>
              <a:off x="1520640" y="4695288"/>
              <a:ext cx="63972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0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Brak</a:t>
              </a:r>
              <a:endParaRPr lang="pl-PL" sz="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Text 169"/>
            <p:cNvSpPr/>
            <p:nvPr/>
          </p:nvSpPr>
          <p:spPr>
            <a:xfrm>
              <a:off x="2416680" y="4648570"/>
              <a:ext cx="6217560" cy="18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Kluczowa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obserwacja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: ŻADNA </a:t>
              </a: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platforma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nie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posiada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radaru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ani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sensorów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 THz. E-skin </a:t>
              </a: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i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 event cameras to </a:t>
              </a: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wciąż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950" b="1" i="1" u="none" strike="noStrike" dirty="0" err="1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rzadkość</a:t>
              </a:r>
              <a:r>
                <a:rPr lang="en-US" sz="950" b="1" i="1" u="none" strike="noStrike" dirty="0">
                  <a:solidFill>
                    <a:srgbClr val="E63946"/>
                  </a:solidFill>
                  <a:effectLst/>
                  <a:uFillTx/>
                  <a:latin typeface="Calibri"/>
                  <a:ea typeface="Calibri"/>
                </a:rPr>
                <a:t>.</a:t>
              </a:r>
              <a:endParaRPr lang="pl-PL" sz="9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Shape 1"/>
          <p:cNvSpPr/>
          <p:nvPr/>
        </p:nvSpPr>
        <p:spPr>
          <a:xfrm>
            <a:off x="502920" y="1005840"/>
            <a:ext cx="72720" cy="320004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2"/>
          <p:cNvSpPr/>
          <p:nvPr/>
        </p:nvSpPr>
        <p:spPr>
          <a:xfrm>
            <a:off x="685800" y="10058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400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SEKCJA III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3"/>
          <p:cNvSpPr/>
          <p:nvPr/>
        </p:nvSpPr>
        <p:spPr>
          <a:xfrm>
            <a:off x="685800" y="150876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Analiza luk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technologicznych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4"/>
          <p:cNvSpPr/>
          <p:nvPr/>
        </p:nvSpPr>
        <p:spPr>
          <a:xfrm>
            <a:off x="685800" y="260604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 dirty="0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Co </a:t>
            </a:r>
            <a:r>
              <a:rPr lang="en-US" sz="1700" b="0" u="none" strike="noStrike" dirty="0" err="1" smtClean="0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brakuje</a:t>
            </a:r>
            <a:r>
              <a:rPr lang="pl-PL" sz="1700" dirty="0" smtClean="0">
                <a:solidFill>
                  <a:srgbClr val="8BAFC8"/>
                </a:solidFill>
                <a:latin typeface="Calibri"/>
                <a:ea typeface="Calibri"/>
              </a:rPr>
              <a:t>, czyli</a:t>
            </a:r>
            <a:r>
              <a:rPr lang="en-US" sz="1700" b="0" u="none" strike="noStrike" dirty="0" smtClean="0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 dirty="0" err="1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bariery</a:t>
            </a:r>
            <a:r>
              <a:rPr lang="en-US" sz="1700" b="0" u="none" strike="noStrike" dirty="0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 dirty="0" err="1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wdrożenia</a:t>
            </a:r>
            <a:r>
              <a:rPr lang="en-US" sz="1700" b="0" u="none" strike="noStrike" dirty="0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700" b="0" u="none" strike="noStrike" dirty="0" err="1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masowego</a:t>
            </a:r>
            <a:endParaRPr lang="pl-PL" sz="1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Shape 5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6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7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— / 30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Krytyczne luki sensoryczne — systematyczna analiza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14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upa 1"/>
          <p:cNvGrpSpPr/>
          <p:nvPr/>
        </p:nvGrpSpPr>
        <p:grpSpPr>
          <a:xfrm>
            <a:off x="274320" y="777240"/>
            <a:ext cx="8595000" cy="712800"/>
            <a:chOff x="274320" y="777240"/>
            <a:chExt cx="8595000" cy="712800"/>
          </a:xfrm>
        </p:grpSpPr>
        <p:sp>
          <p:nvSpPr>
            <p:cNvPr id="461" name="Shape 5"/>
            <p:cNvSpPr/>
            <p:nvPr/>
          </p:nvSpPr>
          <p:spPr>
            <a:xfrm>
              <a:off x="274320" y="777240"/>
              <a:ext cx="8595000" cy="7128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E63946"/>
              </a:solidFill>
              <a:round/>
            </a:ln>
            <a:effectLst>
              <a:outerShdw blurRad="63360" dist="12218" dir="8100000" algn="bl" rotWithShape="0">
                <a:srgbClr val="000000">
                  <a:alpha val="6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Shape 6"/>
            <p:cNvSpPr/>
            <p:nvPr/>
          </p:nvSpPr>
          <p:spPr>
            <a:xfrm>
              <a:off x="274320" y="777240"/>
              <a:ext cx="63720" cy="712800"/>
            </a:xfrm>
            <a:prstGeom prst="rect">
              <a:avLst/>
            </a:prstGeom>
            <a:solidFill>
              <a:srgbClr val="E63946"/>
            </a:solidFill>
            <a:ln w="12700">
              <a:solidFill>
                <a:srgbClr val="E6394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Text 7"/>
            <p:cNvSpPr/>
            <p:nvPr/>
          </p:nvSpPr>
          <p:spPr>
            <a:xfrm>
              <a:off x="411480" y="831960"/>
              <a:ext cx="822924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Wykrywanie człowieka w złych warunkach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Text 8"/>
            <p:cNvSpPr/>
            <p:nvPr/>
          </p:nvSpPr>
          <p:spPr>
            <a:xfrm>
              <a:off x="411480" y="1106280"/>
              <a:ext cx="8229240" cy="34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Kamery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zawodzą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przy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słabym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oświetleniu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,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zadymieniu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,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silnym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słońcu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(HDR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ograniczony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). LiDAR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nie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odróżnia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człowieka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od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manekina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. </a:t>
              </a:r>
              <a:r>
                <a:rPr lang="pl-PL" sz="1150" b="0" u="none" strike="noStrike" dirty="0" smtClean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/>
              </a:r>
              <a:br>
                <a:rPr lang="pl-PL" sz="1150" b="0" u="none" strike="noStrike" dirty="0" smtClean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</a:br>
              <a:r>
                <a:rPr lang="en-US" sz="1150" b="0" u="none" strike="noStrike" dirty="0" err="1" smtClean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Brak</a:t>
              </a:r>
              <a:r>
                <a:rPr lang="en-US" sz="1150" b="0" u="none" strike="noStrike" dirty="0" smtClean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aktywnego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sensora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przez-materiałowego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.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Skutek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: robot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zatrzymuje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się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lub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kolizja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.</a:t>
              </a:r>
              <a:endParaRPr lang="pl-PL" sz="11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" name="Grupa 2"/>
          <p:cNvGrpSpPr/>
          <p:nvPr/>
        </p:nvGrpSpPr>
        <p:grpSpPr>
          <a:xfrm>
            <a:off x="274320" y="1576828"/>
            <a:ext cx="8595000" cy="712800"/>
            <a:chOff x="274320" y="1563480"/>
            <a:chExt cx="8595000" cy="712800"/>
          </a:xfrm>
        </p:grpSpPr>
        <p:sp>
          <p:nvSpPr>
            <p:cNvPr id="465" name="Shape 9"/>
            <p:cNvSpPr/>
            <p:nvPr/>
          </p:nvSpPr>
          <p:spPr>
            <a:xfrm>
              <a:off x="274320" y="1563480"/>
              <a:ext cx="8595000" cy="7128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E63946"/>
              </a:solidFill>
              <a:round/>
            </a:ln>
            <a:effectLst>
              <a:outerShdw blurRad="63360" dist="12218" dir="8100000" algn="bl" rotWithShape="0">
                <a:srgbClr val="000000">
                  <a:alpha val="6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Shape 10"/>
            <p:cNvSpPr/>
            <p:nvPr/>
          </p:nvSpPr>
          <p:spPr>
            <a:xfrm>
              <a:off x="274320" y="1563480"/>
              <a:ext cx="63720" cy="712800"/>
            </a:xfrm>
            <a:prstGeom prst="rect">
              <a:avLst/>
            </a:prstGeom>
            <a:solidFill>
              <a:srgbClr val="E63946"/>
            </a:solidFill>
            <a:ln w="12700">
              <a:solidFill>
                <a:srgbClr val="E6394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7" name="Text 11"/>
            <p:cNvSpPr/>
            <p:nvPr/>
          </p:nvSpPr>
          <p:spPr>
            <a:xfrm>
              <a:off x="411480" y="1618560"/>
              <a:ext cx="822924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Close-range sensing (&lt;0.5 m)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Text 12"/>
            <p:cNvSpPr/>
            <p:nvPr/>
          </p:nvSpPr>
          <p:spPr>
            <a:xfrm>
              <a:off x="411480" y="1892880"/>
              <a:ext cx="8229240" cy="34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Strefa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martwa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kamer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RGB-D (min. 10–20 cm); LiDAR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nie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działa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blisko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; radar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mmWave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tradycyjny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ma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zasięg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min. 0.3–0.5 m. </a:t>
              </a:r>
              <a:r>
                <a:rPr lang="pl-PL" sz="1150" b="0" u="none" strike="noStrike" dirty="0" smtClean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/>
              </a:r>
              <a:br>
                <a:rPr lang="pl-PL" sz="1150" b="0" u="none" strike="noStrike" dirty="0" smtClean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</a:br>
              <a:r>
                <a:rPr lang="en-US" sz="1150" b="0" u="none" strike="noStrike" dirty="0" err="1" smtClean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Przy</a:t>
              </a:r>
              <a:r>
                <a:rPr lang="en-US" sz="1150" b="0" u="none" strike="noStrike" dirty="0" smtClean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manipulacji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i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HRI robot jest '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ślepy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'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na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bezpośrednie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otoczenie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 </a:t>
              </a:r>
              <a:r>
                <a:rPr lang="en-US" sz="1150" b="0" u="none" strike="noStrike" dirty="0" err="1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dłoni</a:t>
              </a:r>
              <a:r>
                <a:rPr lang="en-US" sz="1150" b="0" u="none" strike="noStrike" dirty="0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.</a:t>
              </a:r>
              <a:endParaRPr lang="pl-PL" sz="11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" name="Grupa 3"/>
          <p:cNvGrpSpPr/>
          <p:nvPr/>
        </p:nvGrpSpPr>
        <p:grpSpPr>
          <a:xfrm>
            <a:off x="274320" y="2376776"/>
            <a:ext cx="8595000" cy="712800"/>
            <a:chOff x="274320" y="2350080"/>
            <a:chExt cx="8595000" cy="712800"/>
          </a:xfrm>
        </p:grpSpPr>
        <p:sp>
          <p:nvSpPr>
            <p:cNvPr id="469" name="Shape 13"/>
            <p:cNvSpPr/>
            <p:nvPr/>
          </p:nvSpPr>
          <p:spPr>
            <a:xfrm>
              <a:off x="274320" y="2350080"/>
              <a:ext cx="8595000" cy="7128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4A261"/>
              </a:solidFill>
              <a:round/>
            </a:ln>
            <a:effectLst>
              <a:outerShdw blurRad="63360" dist="12218" dir="8100000" algn="bl" rotWithShape="0">
                <a:srgbClr val="000000">
                  <a:alpha val="6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Shape 14"/>
            <p:cNvSpPr/>
            <p:nvPr/>
          </p:nvSpPr>
          <p:spPr>
            <a:xfrm>
              <a:off x="274320" y="2350080"/>
              <a:ext cx="63720" cy="712800"/>
            </a:xfrm>
            <a:prstGeom prst="rect">
              <a:avLst/>
            </a:prstGeom>
            <a:solidFill>
              <a:srgbClr val="F4A261"/>
            </a:solidFill>
            <a:ln w="12700">
              <a:solidFill>
                <a:srgbClr val="F4A26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1" name="Text 15"/>
            <p:cNvSpPr/>
            <p:nvPr/>
          </p:nvSpPr>
          <p:spPr>
            <a:xfrm>
              <a:off x="411480" y="2404800"/>
              <a:ext cx="822924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Detekcja prędkości i trajektorii człowieka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2" name="Text 16"/>
            <p:cNvSpPr/>
            <p:nvPr/>
          </p:nvSpPr>
          <p:spPr>
            <a:xfrm>
              <a:off x="411480" y="2679120"/>
              <a:ext cx="8229240" cy="34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50" b="0" u="none" strike="noStrike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Kamery mierzą pozycję klatkowo (frame-by-frame); brak bezpośredniego pomiaru prędkości radialnej. Radar Doppler daje v natychmiast. Przewidywanie kolizji z 0.5 s wyprzedzeniem — dziś niemożliwe w real-time.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" name="Grupa 4"/>
          <p:cNvGrpSpPr/>
          <p:nvPr/>
        </p:nvGrpSpPr>
        <p:grpSpPr>
          <a:xfrm>
            <a:off x="274320" y="3176364"/>
            <a:ext cx="8595000" cy="712800"/>
            <a:chOff x="274320" y="3136320"/>
            <a:chExt cx="8595000" cy="712800"/>
          </a:xfrm>
        </p:grpSpPr>
        <p:sp>
          <p:nvSpPr>
            <p:cNvPr id="473" name="Shape 17"/>
            <p:cNvSpPr/>
            <p:nvPr/>
          </p:nvSpPr>
          <p:spPr>
            <a:xfrm>
              <a:off x="274320" y="3136320"/>
              <a:ext cx="8595000" cy="7128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F4A261"/>
              </a:solidFill>
              <a:round/>
            </a:ln>
            <a:effectLst>
              <a:outerShdw blurRad="63360" dist="12218" dir="8100000" algn="bl" rotWithShape="0">
                <a:srgbClr val="000000">
                  <a:alpha val="6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Shape 18"/>
            <p:cNvSpPr/>
            <p:nvPr/>
          </p:nvSpPr>
          <p:spPr>
            <a:xfrm>
              <a:off x="274320" y="3136320"/>
              <a:ext cx="63720" cy="712800"/>
            </a:xfrm>
            <a:prstGeom prst="rect">
              <a:avLst/>
            </a:prstGeom>
            <a:solidFill>
              <a:srgbClr val="F4A261"/>
            </a:solidFill>
            <a:ln w="12700">
              <a:solidFill>
                <a:srgbClr val="F4A261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5" name="Text 19"/>
            <p:cNvSpPr/>
            <p:nvPr/>
          </p:nvSpPr>
          <p:spPr>
            <a:xfrm>
              <a:off x="411480" y="3191400"/>
              <a:ext cx="822924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Sensing przez przeszkody i w warunkach NLoS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Text 20"/>
            <p:cNvSpPr/>
            <p:nvPr/>
          </p:nvSpPr>
          <p:spPr>
            <a:xfrm>
              <a:off x="411480" y="3465720"/>
              <a:ext cx="8229240" cy="34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50" b="0" u="none" strike="noStrike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Wszystkie sensory optyczne działają wyłącznie w Line-of-Sight. Radar i THz penetrują materiały. W zastosowaniach ratowniczych i medycznych (np. monitoring przez ścianę) — obecne sensory są bezużyteczne.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" name="Grupa 5"/>
          <p:cNvGrpSpPr/>
          <p:nvPr/>
        </p:nvGrpSpPr>
        <p:grpSpPr>
          <a:xfrm>
            <a:off x="274320" y="3976312"/>
            <a:ext cx="8595000" cy="712800"/>
            <a:chOff x="274320" y="3922920"/>
            <a:chExt cx="8595000" cy="712800"/>
          </a:xfrm>
        </p:grpSpPr>
        <p:sp>
          <p:nvSpPr>
            <p:cNvPr id="477" name="Shape 21"/>
            <p:cNvSpPr/>
            <p:nvPr/>
          </p:nvSpPr>
          <p:spPr>
            <a:xfrm>
              <a:off x="274320" y="3922920"/>
              <a:ext cx="8595000" cy="7128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0E6BA8"/>
              </a:solidFill>
              <a:round/>
            </a:ln>
            <a:effectLst>
              <a:outerShdw blurRad="63360" dist="12218" dir="8100000" algn="bl" rotWithShape="0">
                <a:srgbClr val="000000">
                  <a:alpha val="6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Shape 22"/>
            <p:cNvSpPr/>
            <p:nvPr/>
          </p:nvSpPr>
          <p:spPr>
            <a:xfrm>
              <a:off x="274320" y="3922920"/>
              <a:ext cx="63720" cy="712800"/>
            </a:xfrm>
            <a:prstGeom prst="rect">
              <a:avLst/>
            </a:prstGeom>
            <a:solidFill>
              <a:srgbClr val="0E6BA8"/>
            </a:solidFill>
            <a:ln w="12700">
              <a:solidFill>
                <a:srgbClr val="0E6BA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Text 23"/>
            <p:cNvSpPr/>
            <p:nvPr/>
          </p:nvSpPr>
          <p:spPr>
            <a:xfrm>
              <a:off x="411480" y="3977640"/>
              <a:ext cx="8229240" cy="255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300" b="1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Budżet mocy vs. wydajność (power-accuracy tradeoff)</a:t>
              </a:r>
              <a:endParaRPr lang="pl-PL" sz="1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Text 24"/>
            <p:cNvSpPr/>
            <p:nvPr/>
          </p:nvSpPr>
          <p:spPr>
            <a:xfrm>
              <a:off x="411480" y="4251960"/>
              <a:ext cx="8229240" cy="347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50" b="0" u="none" strike="noStrike">
                  <a:solidFill>
                    <a:srgbClr val="2D3748"/>
                  </a:solidFill>
                  <a:effectLst/>
                  <a:uFillTx/>
                  <a:latin typeface="Calibri"/>
                  <a:ea typeface="Calibri"/>
                </a:rPr>
                <a:t>Jetson AGX Orin przy 60 W daje 275 TOPS — wystarczające. Ale całkowity edge stack (LiDAR 8W + kamera 5W + compute 60W + comm 10W) = ~83W tylko dla percepcji. Przy 1500 W całkowitych → 6% na sensing to mało.</a:t>
              </a:r>
              <a:endParaRPr lang="pl-PL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Luki obliczeniowe i problemy latencyjne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3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15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Text 5"/>
          <p:cNvSpPr/>
          <p:nvPr/>
        </p:nvSpPr>
        <p:spPr>
          <a:xfrm>
            <a:off x="274320" y="749880"/>
            <a:ext cx="41601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Luki sprzętowe i obliczeniowe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6"/>
          <p:cNvSpPr/>
          <p:nvPr/>
        </p:nvSpPr>
        <p:spPr>
          <a:xfrm>
            <a:off x="4663440" y="74988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Luki ekosystemowe i software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Shape 7"/>
          <p:cNvSpPr/>
          <p:nvPr/>
        </p:nvSpPr>
        <p:spPr>
          <a:xfrm>
            <a:off x="4526280" y="1097280"/>
            <a:ext cx="360" cy="3584160"/>
          </a:xfrm>
          <a:prstGeom prst="line">
            <a:avLst/>
          </a:prstGeom>
          <a:ln w="1016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8"/>
          <p:cNvSpPr/>
          <p:nvPr/>
        </p:nvSpPr>
        <p:spPr>
          <a:xfrm>
            <a:off x="86768" y="1097280"/>
            <a:ext cx="4301992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Brak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dedykowanego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Radaru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NPU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obecne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NPU (Jetson, Myriad X)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zoptymalizowane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pod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kamery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(CNN 2D)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przetwarzanie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FMCW radar point cloud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wymaga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CFAR, beamforming, Doppler FFT;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nieefektywne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GPU;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opóźnienie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2–5× vs. ASIC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Problem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heterogenicznych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sensorów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fuzja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kamera+LiDAR+radar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wymaga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transformacji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danych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(tensor 2D → point cloud 3D →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doppler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spectrum);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brak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zunifikowanego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frameworku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TRL 3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Deterministyczność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vs. AI: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sieci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neuronowe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mają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zmienny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czas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wnioskowania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(jitter do ±30%);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safety-critical reactive control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nieakceptowalne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wymóg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WCET (Worst-Case Execution Time) =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blokada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deep learning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reflexach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Memory bandwidth bottleneck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LiDAR 1.5M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pkt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/s +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kamera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4K@60fps + radar = ~12 GB/s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strumień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danych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Jetson Orin ma 204 GB/s LPDDR5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granicy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data starvation w full-stack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  <a:ea typeface="Noto Sans CJK SC"/>
            </a:endParaRPr>
          </a:p>
        </p:txBody>
      </p:sp>
      <p:sp>
        <p:nvSpPr>
          <p:cNvPr id="490" name="Text 9"/>
          <p:cNvSpPr/>
          <p:nvPr/>
        </p:nvSpPr>
        <p:spPr>
          <a:xfrm>
            <a:off x="4663440" y="1097280"/>
            <a:ext cx="4205880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Brak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standardu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Sensor Abstraction Layer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każdy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producent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platformy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(Boston Dynamics, Agility)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implementuje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własny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HAL;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brak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open API;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niemożliwa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wymiana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sensorów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plug-and-play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Synchronizacja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hardware trigger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radar +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kamera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muszą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być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hardware-synchronized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sprzężony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trigger)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cross-modal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kalibacji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brak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standardowych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złączy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protokołów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każda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instalacja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custom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Thermal throttling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NPU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GPU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długotrwałej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pracy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intensywnej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skalują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zegarki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o 30–50%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degradacja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latencji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trakcie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misji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projektowanie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chłodzenia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pod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scenariusz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worst-case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kluczowe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Software maturity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biblioteki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do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przetwarzania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radaru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mmWave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kontekście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robotycznym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automotive)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są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wciąż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we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wczesnej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fazie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Texas Instruments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mmWave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SDK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zoptymalizowany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pod ADAS,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HRI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Analiza porównawcza sensorów — Human Detection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16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5"/>
          <p:cNvSpPr/>
          <p:nvPr/>
        </p:nvSpPr>
        <p:spPr>
          <a:xfrm>
            <a:off x="2000328" y="698814"/>
            <a:ext cx="1279800" cy="4111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6"/>
          <p:cNvSpPr/>
          <p:nvPr/>
        </p:nvSpPr>
        <p:spPr>
          <a:xfrm>
            <a:off x="2000328" y="698814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RGB-D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Kamera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7"/>
          <p:cNvSpPr/>
          <p:nvPr/>
        </p:nvSpPr>
        <p:spPr>
          <a:xfrm>
            <a:off x="3280488" y="698814"/>
            <a:ext cx="1279800" cy="41112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8"/>
          <p:cNvSpPr/>
          <p:nvPr/>
        </p:nvSpPr>
        <p:spPr>
          <a:xfrm>
            <a:off x="3280488" y="698814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LiDAR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SS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Shape 9"/>
          <p:cNvSpPr/>
          <p:nvPr/>
        </p:nvSpPr>
        <p:spPr>
          <a:xfrm>
            <a:off x="4560648" y="698814"/>
            <a:ext cx="1279800" cy="41112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0"/>
          <p:cNvSpPr/>
          <p:nvPr/>
        </p:nvSpPr>
        <p:spPr>
          <a:xfrm>
            <a:off x="4560648" y="698814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Radar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mmWave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11"/>
          <p:cNvSpPr/>
          <p:nvPr/>
        </p:nvSpPr>
        <p:spPr>
          <a:xfrm>
            <a:off x="5840808" y="698814"/>
            <a:ext cx="1279800" cy="41112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12"/>
          <p:cNvSpPr/>
          <p:nvPr/>
        </p:nvSpPr>
        <p:spPr>
          <a:xfrm>
            <a:off x="5840808" y="698814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Radar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THz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13"/>
          <p:cNvSpPr/>
          <p:nvPr/>
        </p:nvSpPr>
        <p:spPr>
          <a:xfrm>
            <a:off x="7120968" y="698814"/>
            <a:ext cx="1279800" cy="411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14"/>
          <p:cNvSpPr/>
          <p:nvPr/>
        </p:nvSpPr>
        <p:spPr>
          <a:xfrm>
            <a:off x="7120968" y="698814"/>
            <a:ext cx="12798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Event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Camera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Shape 15"/>
          <p:cNvSpPr/>
          <p:nvPr/>
        </p:nvSpPr>
        <p:spPr>
          <a:xfrm>
            <a:off x="354408" y="1137654"/>
            <a:ext cx="16182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16"/>
          <p:cNvSpPr/>
          <p:nvPr/>
        </p:nvSpPr>
        <p:spPr>
          <a:xfrm>
            <a:off x="400128" y="1174374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Zasięg detekcji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17"/>
          <p:cNvSpPr/>
          <p:nvPr/>
        </p:nvSpPr>
        <p:spPr>
          <a:xfrm>
            <a:off x="2000328" y="113765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8"/>
          <p:cNvSpPr/>
          <p:nvPr/>
        </p:nvSpPr>
        <p:spPr>
          <a:xfrm>
            <a:off x="2000328" y="117437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0.1–10m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Shape 19"/>
          <p:cNvSpPr/>
          <p:nvPr/>
        </p:nvSpPr>
        <p:spPr>
          <a:xfrm>
            <a:off x="3280488" y="113765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20"/>
          <p:cNvSpPr/>
          <p:nvPr/>
        </p:nvSpPr>
        <p:spPr>
          <a:xfrm>
            <a:off x="3280488" y="117437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1–200m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21"/>
          <p:cNvSpPr/>
          <p:nvPr/>
        </p:nvSpPr>
        <p:spPr>
          <a:xfrm>
            <a:off x="4560648" y="113765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Text 22"/>
          <p:cNvSpPr/>
          <p:nvPr/>
        </p:nvSpPr>
        <p:spPr>
          <a:xfrm>
            <a:off x="4560648" y="117437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0.1–100m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Shape 23"/>
          <p:cNvSpPr/>
          <p:nvPr/>
        </p:nvSpPr>
        <p:spPr>
          <a:xfrm>
            <a:off x="5840808" y="113765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24"/>
          <p:cNvSpPr/>
          <p:nvPr/>
        </p:nvSpPr>
        <p:spPr>
          <a:xfrm>
            <a:off x="5840808" y="117437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0.01–10m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25"/>
          <p:cNvSpPr/>
          <p:nvPr/>
        </p:nvSpPr>
        <p:spPr>
          <a:xfrm>
            <a:off x="7120968" y="113765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Text 26"/>
          <p:cNvSpPr/>
          <p:nvPr/>
        </p:nvSpPr>
        <p:spPr>
          <a:xfrm>
            <a:off x="7120968" y="117437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0.1–5m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Shape 27"/>
          <p:cNvSpPr/>
          <p:nvPr/>
        </p:nvSpPr>
        <p:spPr>
          <a:xfrm>
            <a:off x="354408" y="1503414"/>
            <a:ext cx="1618200" cy="347040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8"/>
          <p:cNvSpPr/>
          <p:nvPr/>
        </p:nvSpPr>
        <p:spPr>
          <a:xfrm>
            <a:off x="400128" y="1540134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Warunki słabego oświetlenia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Shape 29"/>
          <p:cNvSpPr/>
          <p:nvPr/>
        </p:nvSpPr>
        <p:spPr>
          <a:xfrm>
            <a:off x="2000328" y="150341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 30"/>
          <p:cNvSpPr/>
          <p:nvPr/>
        </p:nvSpPr>
        <p:spPr>
          <a:xfrm>
            <a:off x="2000328" y="154013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Shape 31"/>
          <p:cNvSpPr/>
          <p:nvPr/>
        </p:nvSpPr>
        <p:spPr>
          <a:xfrm>
            <a:off x="3280488" y="150341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Text 32"/>
          <p:cNvSpPr/>
          <p:nvPr/>
        </p:nvSpPr>
        <p:spPr>
          <a:xfrm>
            <a:off x="3280488" y="154013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33"/>
          <p:cNvSpPr/>
          <p:nvPr/>
        </p:nvSpPr>
        <p:spPr>
          <a:xfrm>
            <a:off x="4560648" y="1503414"/>
            <a:ext cx="1279800" cy="347040"/>
          </a:xfrm>
          <a:prstGeom prst="rect">
            <a:avLst/>
          </a:prstGeom>
          <a:solidFill>
            <a:srgbClr val="D5F5E3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5" name="Text 34"/>
          <p:cNvSpPr/>
          <p:nvPr/>
        </p:nvSpPr>
        <p:spPr>
          <a:xfrm>
            <a:off x="4560648" y="154013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Shape 35"/>
          <p:cNvSpPr/>
          <p:nvPr/>
        </p:nvSpPr>
        <p:spPr>
          <a:xfrm>
            <a:off x="5840808" y="1503414"/>
            <a:ext cx="1279800" cy="347040"/>
          </a:xfrm>
          <a:prstGeom prst="rect">
            <a:avLst/>
          </a:prstGeom>
          <a:solidFill>
            <a:srgbClr val="D5F5E3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36"/>
          <p:cNvSpPr/>
          <p:nvPr/>
        </p:nvSpPr>
        <p:spPr>
          <a:xfrm>
            <a:off x="5840808" y="154013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8" name="Shape 37"/>
          <p:cNvSpPr/>
          <p:nvPr/>
        </p:nvSpPr>
        <p:spPr>
          <a:xfrm>
            <a:off x="7120968" y="1503414"/>
            <a:ext cx="1279800" cy="347040"/>
          </a:xfrm>
          <a:prstGeom prst="rect">
            <a:avLst/>
          </a:prstGeom>
          <a:solidFill>
            <a:srgbClr val="D5F5E3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38"/>
          <p:cNvSpPr/>
          <p:nvPr/>
        </p:nvSpPr>
        <p:spPr>
          <a:xfrm>
            <a:off x="7120968" y="154013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0" name="Shape 39"/>
          <p:cNvSpPr/>
          <p:nvPr/>
        </p:nvSpPr>
        <p:spPr>
          <a:xfrm>
            <a:off x="354408" y="1869174"/>
            <a:ext cx="16182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40"/>
          <p:cNvSpPr/>
          <p:nvPr/>
        </p:nvSpPr>
        <p:spPr>
          <a:xfrm>
            <a:off x="400128" y="1905894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Dym / Mgła / Kurz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Shape 41"/>
          <p:cNvSpPr/>
          <p:nvPr/>
        </p:nvSpPr>
        <p:spPr>
          <a:xfrm>
            <a:off x="2000328" y="186917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3" name="Text 42"/>
          <p:cNvSpPr/>
          <p:nvPr/>
        </p:nvSpPr>
        <p:spPr>
          <a:xfrm>
            <a:off x="2000328" y="190589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Shape 43"/>
          <p:cNvSpPr/>
          <p:nvPr/>
        </p:nvSpPr>
        <p:spPr>
          <a:xfrm>
            <a:off x="3280488" y="186917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Text 44"/>
          <p:cNvSpPr/>
          <p:nvPr/>
        </p:nvSpPr>
        <p:spPr>
          <a:xfrm>
            <a:off x="3280488" y="190589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6" name="Shape 45"/>
          <p:cNvSpPr/>
          <p:nvPr/>
        </p:nvSpPr>
        <p:spPr>
          <a:xfrm>
            <a:off x="4560648" y="1869174"/>
            <a:ext cx="1279800" cy="347040"/>
          </a:xfrm>
          <a:prstGeom prst="rect">
            <a:avLst/>
          </a:prstGeom>
          <a:solidFill>
            <a:srgbClr val="D5F5E3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7" name="Text 46"/>
          <p:cNvSpPr/>
          <p:nvPr/>
        </p:nvSpPr>
        <p:spPr>
          <a:xfrm>
            <a:off x="4560648" y="190589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Shape 47"/>
          <p:cNvSpPr/>
          <p:nvPr/>
        </p:nvSpPr>
        <p:spPr>
          <a:xfrm>
            <a:off x="5840808" y="1869174"/>
            <a:ext cx="1279800" cy="347040"/>
          </a:xfrm>
          <a:prstGeom prst="rect">
            <a:avLst/>
          </a:prstGeom>
          <a:solidFill>
            <a:srgbClr val="D5F5E3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48"/>
          <p:cNvSpPr/>
          <p:nvPr/>
        </p:nvSpPr>
        <p:spPr>
          <a:xfrm>
            <a:off x="5840808" y="190589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0" name="Shape 49"/>
          <p:cNvSpPr/>
          <p:nvPr/>
        </p:nvSpPr>
        <p:spPr>
          <a:xfrm>
            <a:off x="7120968" y="186917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Text 50"/>
          <p:cNvSpPr/>
          <p:nvPr/>
        </p:nvSpPr>
        <p:spPr>
          <a:xfrm>
            <a:off x="7120968" y="190589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51"/>
          <p:cNvSpPr/>
          <p:nvPr/>
        </p:nvSpPr>
        <p:spPr>
          <a:xfrm>
            <a:off x="354408" y="2234934"/>
            <a:ext cx="1618200" cy="347040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Text 52"/>
          <p:cNvSpPr/>
          <p:nvPr/>
        </p:nvSpPr>
        <p:spPr>
          <a:xfrm>
            <a:off x="400128" y="2271654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Przenikanie przez materiały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53"/>
          <p:cNvSpPr/>
          <p:nvPr/>
        </p:nvSpPr>
        <p:spPr>
          <a:xfrm>
            <a:off x="2000328" y="223493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Text 54"/>
          <p:cNvSpPr/>
          <p:nvPr/>
        </p:nvSpPr>
        <p:spPr>
          <a:xfrm>
            <a:off x="2000328" y="227165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Shape 55"/>
          <p:cNvSpPr/>
          <p:nvPr/>
        </p:nvSpPr>
        <p:spPr>
          <a:xfrm>
            <a:off x="3280488" y="223493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Text 56"/>
          <p:cNvSpPr/>
          <p:nvPr/>
        </p:nvSpPr>
        <p:spPr>
          <a:xfrm>
            <a:off x="3280488" y="227165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8" name="Shape 57"/>
          <p:cNvSpPr/>
          <p:nvPr/>
        </p:nvSpPr>
        <p:spPr>
          <a:xfrm>
            <a:off x="4560648" y="2234934"/>
            <a:ext cx="1279800" cy="347040"/>
          </a:xfrm>
          <a:prstGeom prst="rect">
            <a:avLst/>
          </a:prstGeom>
          <a:solidFill>
            <a:srgbClr val="FEF9E7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9" name="Text 58"/>
          <p:cNvSpPr/>
          <p:nvPr/>
        </p:nvSpPr>
        <p:spPr>
          <a:xfrm>
            <a:off x="4560648" y="227165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7D0A"/>
                </a:solidFill>
                <a:effectLst/>
                <a:uFillTx/>
                <a:latin typeface="Calibri"/>
                <a:ea typeface="Calibri"/>
              </a:rPr>
              <a:t>~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Shape 59"/>
          <p:cNvSpPr/>
          <p:nvPr/>
        </p:nvSpPr>
        <p:spPr>
          <a:xfrm>
            <a:off x="5840808" y="2234934"/>
            <a:ext cx="1279800" cy="347040"/>
          </a:xfrm>
          <a:prstGeom prst="rect">
            <a:avLst/>
          </a:prstGeom>
          <a:solidFill>
            <a:srgbClr val="D5F5E3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1" name="Text 60"/>
          <p:cNvSpPr/>
          <p:nvPr/>
        </p:nvSpPr>
        <p:spPr>
          <a:xfrm>
            <a:off x="5840808" y="227165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2" name="Shape 61"/>
          <p:cNvSpPr/>
          <p:nvPr/>
        </p:nvSpPr>
        <p:spPr>
          <a:xfrm>
            <a:off x="7120968" y="223493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Text 62"/>
          <p:cNvSpPr/>
          <p:nvPr/>
        </p:nvSpPr>
        <p:spPr>
          <a:xfrm>
            <a:off x="7120968" y="227165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63"/>
          <p:cNvSpPr/>
          <p:nvPr/>
        </p:nvSpPr>
        <p:spPr>
          <a:xfrm>
            <a:off x="354408" y="2600694"/>
            <a:ext cx="16182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Text 64"/>
          <p:cNvSpPr/>
          <p:nvPr/>
        </p:nvSpPr>
        <p:spPr>
          <a:xfrm>
            <a:off x="400128" y="2637414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Pomiar prędkości (Doppler)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65"/>
          <p:cNvSpPr/>
          <p:nvPr/>
        </p:nvSpPr>
        <p:spPr>
          <a:xfrm>
            <a:off x="2000328" y="260069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66"/>
          <p:cNvSpPr/>
          <p:nvPr/>
        </p:nvSpPr>
        <p:spPr>
          <a:xfrm>
            <a:off x="2000328" y="263741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67"/>
          <p:cNvSpPr/>
          <p:nvPr/>
        </p:nvSpPr>
        <p:spPr>
          <a:xfrm>
            <a:off x="3280488" y="260069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Text 68"/>
          <p:cNvSpPr/>
          <p:nvPr/>
        </p:nvSpPr>
        <p:spPr>
          <a:xfrm>
            <a:off x="3280488" y="263741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0" name="Shape 69"/>
          <p:cNvSpPr/>
          <p:nvPr/>
        </p:nvSpPr>
        <p:spPr>
          <a:xfrm>
            <a:off x="4560648" y="2600694"/>
            <a:ext cx="1279800" cy="347040"/>
          </a:xfrm>
          <a:prstGeom prst="rect">
            <a:avLst/>
          </a:prstGeom>
          <a:solidFill>
            <a:srgbClr val="D5F5E3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70"/>
          <p:cNvSpPr/>
          <p:nvPr/>
        </p:nvSpPr>
        <p:spPr>
          <a:xfrm>
            <a:off x="4560648" y="263741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Shape 71"/>
          <p:cNvSpPr/>
          <p:nvPr/>
        </p:nvSpPr>
        <p:spPr>
          <a:xfrm>
            <a:off x="5840808" y="2600694"/>
            <a:ext cx="1279800" cy="347040"/>
          </a:xfrm>
          <a:prstGeom prst="rect">
            <a:avLst/>
          </a:prstGeom>
          <a:solidFill>
            <a:srgbClr val="D5F5E3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72"/>
          <p:cNvSpPr/>
          <p:nvPr/>
        </p:nvSpPr>
        <p:spPr>
          <a:xfrm>
            <a:off x="5840808" y="263741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4" name="Shape 73"/>
          <p:cNvSpPr/>
          <p:nvPr/>
        </p:nvSpPr>
        <p:spPr>
          <a:xfrm>
            <a:off x="7120968" y="260069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Text 74"/>
          <p:cNvSpPr/>
          <p:nvPr/>
        </p:nvSpPr>
        <p:spPr>
          <a:xfrm>
            <a:off x="7120968" y="263741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75"/>
          <p:cNvSpPr/>
          <p:nvPr/>
        </p:nvSpPr>
        <p:spPr>
          <a:xfrm>
            <a:off x="354408" y="2966454"/>
            <a:ext cx="1618200" cy="347040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7" name="Text 76"/>
          <p:cNvSpPr/>
          <p:nvPr/>
        </p:nvSpPr>
        <p:spPr>
          <a:xfrm>
            <a:off x="400128" y="3003174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Bliski zasięg (&lt;0.5 m)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77"/>
          <p:cNvSpPr/>
          <p:nvPr/>
        </p:nvSpPr>
        <p:spPr>
          <a:xfrm>
            <a:off x="2000328" y="2966454"/>
            <a:ext cx="1279800" cy="347040"/>
          </a:xfrm>
          <a:prstGeom prst="rect">
            <a:avLst/>
          </a:prstGeom>
          <a:solidFill>
            <a:srgbClr val="FEF9E7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Text 78"/>
          <p:cNvSpPr/>
          <p:nvPr/>
        </p:nvSpPr>
        <p:spPr>
          <a:xfrm>
            <a:off x="2000328" y="300317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7D0A"/>
                </a:solidFill>
                <a:effectLst/>
                <a:uFillTx/>
                <a:latin typeface="Calibri"/>
                <a:ea typeface="Calibri"/>
              </a:rPr>
              <a:t>~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Shape 79"/>
          <p:cNvSpPr/>
          <p:nvPr/>
        </p:nvSpPr>
        <p:spPr>
          <a:xfrm>
            <a:off x="3280488" y="2966454"/>
            <a:ext cx="1279800" cy="347040"/>
          </a:xfrm>
          <a:prstGeom prst="rect">
            <a:avLst/>
          </a:prstGeom>
          <a:solidFill>
            <a:srgbClr val="FADBD8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80"/>
          <p:cNvSpPr/>
          <p:nvPr/>
        </p:nvSpPr>
        <p:spPr>
          <a:xfrm>
            <a:off x="3280488" y="300317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A93226"/>
                </a:solidFill>
                <a:effectLst/>
                <a:uFillTx/>
                <a:latin typeface="Calibri"/>
                <a:ea typeface="Calibri"/>
              </a:rPr>
              <a:t>✗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81"/>
          <p:cNvSpPr/>
          <p:nvPr/>
        </p:nvSpPr>
        <p:spPr>
          <a:xfrm>
            <a:off x="4560648" y="2966454"/>
            <a:ext cx="1279800" cy="347040"/>
          </a:xfrm>
          <a:prstGeom prst="rect">
            <a:avLst/>
          </a:prstGeom>
          <a:solidFill>
            <a:srgbClr val="FEF9E7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Text 82"/>
          <p:cNvSpPr/>
          <p:nvPr/>
        </p:nvSpPr>
        <p:spPr>
          <a:xfrm>
            <a:off x="4560648" y="300317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A7D0A"/>
                </a:solidFill>
                <a:effectLst/>
                <a:uFillTx/>
                <a:latin typeface="Calibri"/>
                <a:ea typeface="Calibri"/>
              </a:rPr>
              <a:t>~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Shape 83"/>
          <p:cNvSpPr/>
          <p:nvPr/>
        </p:nvSpPr>
        <p:spPr>
          <a:xfrm>
            <a:off x="5840808" y="2966454"/>
            <a:ext cx="1279800" cy="347040"/>
          </a:xfrm>
          <a:prstGeom prst="rect">
            <a:avLst/>
          </a:prstGeom>
          <a:solidFill>
            <a:srgbClr val="D5F5E3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84"/>
          <p:cNvSpPr/>
          <p:nvPr/>
        </p:nvSpPr>
        <p:spPr>
          <a:xfrm>
            <a:off x="5840808" y="300317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Shape 85"/>
          <p:cNvSpPr/>
          <p:nvPr/>
        </p:nvSpPr>
        <p:spPr>
          <a:xfrm>
            <a:off x="7120968" y="2966454"/>
            <a:ext cx="1279800" cy="347040"/>
          </a:xfrm>
          <a:prstGeom prst="rect">
            <a:avLst/>
          </a:prstGeom>
          <a:solidFill>
            <a:srgbClr val="D5F5E3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86"/>
          <p:cNvSpPr/>
          <p:nvPr/>
        </p:nvSpPr>
        <p:spPr>
          <a:xfrm>
            <a:off x="7120968" y="300317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E8449"/>
                </a:solidFill>
                <a:effectLst/>
                <a:uFillTx/>
                <a:latin typeface="Calibri"/>
                <a:ea typeface="Calibri"/>
              </a:rPr>
              <a:t>✓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Shape 87"/>
          <p:cNvSpPr/>
          <p:nvPr/>
        </p:nvSpPr>
        <p:spPr>
          <a:xfrm>
            <a:off x="354408" y="3332214"/>
            <a:ext cx="16182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88"/>
          <p:cNvSpPr/>
          <p:nvPr/>
        </p:nvSpPr>
        <p:spPr>
          <a:xfrm>
            <a:off x="400128" y="3368934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Rozdzielczość kątowa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Shape 89"/>
          <p:cNvSpPr/>
          <p:nvPr/>
        </p:nvSpPr>
        <p:spPr>
          <a:xfrm>
            <a:off x="2000328" y="333221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Text 90"/>
          <p:cNvSpPr/>
          <p:nvPr/>
        </p:nvSpPr>
        <p:spPr>
          <a:xfrm>
            <a:off x="2000328" y="336893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&lt;0.01°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91"/>
          <p:cNvSpPr/>
          <p:nvPr/>
        </p:nvSpPr>
        <p:spPr>
          <a:xfrm>
            <a:off x="3280488" y="333221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92"/>
          <p:cNvSpPr/>
          <p:nvPr/>
        </p:nvSpPr>
        <p:spPr>
          <a:xfrm>
            <a:off x="3280488" y="336893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0.1°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Shape 93"/>
          <p:cNvSpPr/>
          <p:nvPr/>
        </p:nvSpPr>
        <p:spPr>
          <a:xfrm>
            <a:off x="4560648" y="333221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Text 94"/>
          <p:cNvSpPr/>
          <p:nvPr/>
        </p:nvSpPr>
        <p:spPr>
          <a:xfrm>
            <a:off x="4560648" y="336893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1–5°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95"/>
          <p:cNvSpPr/>
          <p:nvPr/>
        </p:nvSpPr>
        <p:spPr>
          <a:xfrm>
            <a:off x="5840808" y="333221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96"/>
          <p:cNvSpPr/>
          <p:nvPr/>
        </p:nvSpPr>
        <p:spPr>
          <a:xfrm>
            <a:off x="5840808" y="336893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0.5–2°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Shape 97"/>
          <p:cNvSpPr/>
          <p:nvPr/>
        </p:nvSpPr>
        <p:spPr>
          <a:xfrm>
            <a:off x="7120968" y="333221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Text 98"/>
          <p:cNvSpPr/>
          <p:nvPr/>
        </p:nvSpPr>
        <p:spPr>
          <a:xfrm>
            <a:off x="7120968" y="336893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N/A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99"/>
          <p:cNvSpPr/>
          <p:nvPr/>
        </p:nvSpPr>
        <p:spPr>
          <a:xfrm>
            <a:off x="354408" y="3697974"/>
            <a:ext cx="1618200" cy="347040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00"/>
          <p:cNvSpPr/>
          <p:nvPr/>
        </p:nvSpPr>
        <p:spPr>
          <a:xfrm>
            <a:off x="400128" y="3734694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Zużycie energii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Shape 101"/>
          <p:cNvSpPr/>
          <p:nvPr/>
        </p:nvSpPr>
        <p:spPr>
          <a:xfrm>
            <a:off x="2000328" y="3697974"/>
            <a:ext cx="1279800" cy="347040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Text 102"/>
          <p:cNvSpPr/>
          <p:nvPr/>
        </p:nvSpPr>
        <p:spPr>
          <a:xfrm>
            <a:off x="2000328" y="373469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&lt;5W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03"/>
          <p:cNvSpPr/>
          <p:nvPr/>
        </p:nvSpPr>
        <p:spPr>
          <a:xfrm>
            <a:off x="3280488" y="3697974"/>
            <a:ext cx="1279800" cy="347040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04"/>
          <p:cNvSpPr/>
          <p:nvPr/>
        </p:nvSpPr>
        <p:spPr>
          <a:xfrm>
            <a:off x="3280488" y="373469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8–15W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Shape 105"/>
          <p:cNvSpPr/>
          <p:nvPr/>
        </p:nvSpPr>
        <p:spPr>
          <a:xfrm>
            <a:off x="4560648" y="3697974"/>
            <a:ext cx="1279800" cy="347040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7" name="Text 106"/>
          <p:cNvSpPr/>
          <p:nvPr/>
        </p:nvSpPr>
        <p:spPr>
          <a:xfrm>
            <a:off x="4560648" y="373469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&lt;5W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8" name="Shape 107"/>
          <p:cNvSpPr/>
          <p:nvPr/>
        </p:nvSpPr>
        <p:spPr>
          <a:xfrm>
            <a:off x="5840808" y="3697974"/>
            <a:ext cx="1279800" cy="347040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108"/>
          <p:cNvSpPr/>
          <p:nvPr/>
        </p:nvSpPr>
        <p:spPr>
          <a:xfrm>
            <a:off x="5840808" y="373469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&lt;2W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0" name="Shape 109"/>
          <p:cNvSpPr/>
          <p:nvPr/>
        </p:nvSpPr>
        <p:spPr>
          <a:xfrm>
            <a:off x="7120968" y="3697974"/>
            <a:ext cx="1279800" cy="347040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1" name="Text 110"/>
          <p:cNvSpPr/>
          <p:nvPr/>
        </p:nvSpPr>
        <p:spPr>
          <a:xfrm>
            <a:off x="7120968" y="373469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&lt;3W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2" name="Shape 111"/>
          <p:cNvSpPr/>
          <p:nvPr/>
        </p:nvSpPr>
        <p:spPr>
          <a:xfrm>
            <a:off x="354408" y="4063734"/>
            <a:ext cx="16182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3" name="Text 112"/>
          <p:cNvSpPr/>
          <p:nvPr/>
        </p:nvSpPr>
        <p:spPr>
          <a:xfrm>
            <a:off x="400128" y="4100454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Koszt</a:t>
            </a:r>
            <a:endParaRPr lang="pl-PL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4" name="Shape 113"/>
          <p:cNvSpPr/>
          <p:nvPr/>
        </p:nvSpPr>
        <p:spPr>
          <a:xfrm>
            <a:off x="2000328" y="406373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114"/>
          <p:cNvSpPr/>
          <p:nvPr/>
        </p:nvSpPr>
        <p:spPr>
          <a:xfrm>
            <a:off x="2000328" y="410045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$$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6" name="Shape 115"/>
          <p:cNvSpPr/>
          <p:nvPr/>
        </p:nvSpPr>
        <p:spPr>
          <a:xfrm>
            <a:off x="3280488" y="406373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7" name="Text 116"/>
          <p:cNvSpPr/>
          <p:nvPr/>
        </p:nvSpPr>
        <p:spPr>
          <a:xfrm>
            <a:off x="3280488" y="410045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$$$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Shape 117"/>
          <p:cNvSpPr/>
          <p:nvPr/>
        </p:nvSpPr>
        <p:spPr>
          <a:xfrm>
            <a:off x="4560648" y="406373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9" name="Text 118"/>
          <p:cNvSpPr/>
          <p:nvPr/>
        </p:nvSpPr>
        <p:spPr>
          <a:xfrm>
            <a:off x="4560648" y="410045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$$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0" name="Shape 119"/>
          <p:cNvSpPr/>
          <p:nvPr/>
        </p:nvSpPr>
        <p:spPr>
          <a:xfrm>
            <a:off x="5840808" y="406373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120"/>
          <p:cNvSpPr/>
          <p:nvPr/>
        </p:nvSpPr>
        <p:spPr>
          <a:xfrm>
            <a:off x="5840808" y="410045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$$$$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121"/>
          <p:cNvSpPr/>
          <p:nvPr/>
        </p:nvSpPr>
        <p:spPr>
          <a:xfrm>
            <a:off x="7120968" y="4063734"/>
            <a:ext cx="1279800" cy="34704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Text 122"/>
          <p:cNvSpPr/>
          <p:nvPr/>
        </p:nvSpPr>
        <p:spPr>
          <a:xfrm>
            <a:off x="7120968" y="4100454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$$$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Shape 123"/>
          <p:cNvSpPr/>
          <p:nvPr/>
        </p:nvSpPr>
        <p:spPr>
          <a:xfrm>
            <a:off x="354408" y="4429494"/>
            <a:ext cx="1618200" cy="305698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5" name="Text 124"/>
          <p:cNvSpPr/>
          <p:nvPr/>
        </p:nvSpPr>
        <p:spPr>
          <a:xfrm>
            <a:off x="400128" y="4446192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Dojrzałość</a:t>
            </a:r>
            <a:r>
              <a:rPr lang="en-US" sz="105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(TRL)</a:t>
            </a:r>
            <a:endParaRPr lang="pl-PL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Shape 125"/>
          <p:cNvSpPr/>
          <p:nvPr/>
        </p:nvSpPr>
        <p:spPr>
          <a:xfrm>
            <a:off x="2000328" y="4429494"/>
            <a:ext cx="1279800" cy="305698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Text 126"/>
          <p:cNvSpPr/>
          <p:nvPr/>
        </p:nvSpPr>
        <p:spPr>
          <a:xfrm>
            <a:off x="2000328" y="4446192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TRL9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8" name="Shape 127"/>
          <p:cNvSpPr/>
          <p:nvPr/>
        </p:nvSpPr>
        <p:spPr>
          <a:xfrm>
            <a:off x="3280488" y="4429494"/>
            <a:ext cx="1279800" cy="305698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Text 128"/>
          <p:cNvSpPr/>
          <p:nvPr/>
        </p:nvSpPr>
        <p:spPr>
          <a:xfrm>
            <a:off x="3280488" y="4446192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TRL8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129"/>
          <p:cNvSpPr/>
          <p:nvPr/>
        </p:nvSpPr>
        <p:spPr>
          <a:xfrm>
            <a:off x="4560648" y="4429494"/>
            <a:ext cx="1279800" cy="305698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1" name="Text 130"/>
          <p:cNvSpPr/>
          <p:nvPr/>
        </p:nvSpPr>
        <p:spPr>
          <a:xfrm>
            <a:off x="4560648" y="4446192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TRL6*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131"/>
          <p:cNvSpPr/>
          <p:nvPr/>
        </p:nvSpPr>
        <p:spPr>
          <a:xfrm>
            <a:off x="5840808" y="4429494"/>
            <a:ext cx="1279800" cy="305698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132"/>
          <p:cNvSpPr/>
          <p:nvPr/>
        </p:nvSpPr>
        <p:spPr>
          <a:xfrm>
            <a:off x="5840808" y="4446192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TRL4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4" name="Shape 133"/>
          <p:cNvSpPr/>
          <p:nvPr/>
        </p:nvSpPr>
        <p:spPr>
          <a:xfrm>
            <a:off x="7120968" y="4429494"/>
            <a:ext cx="1279800" cy="305698"/>
          </a:xfrm>
          <a:prstGeom prst="rect">
            <a:avLst/>
          </a:prstGeom>
          <a:solidFill>
            <a:srgbClr val="F7FAFC"/>
          </a:solidFill>
          <a:ln w="381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5" name="Text 134"/>
          <p:cNvSpPr/>
          <p:nvPr/>
        </p:nvSpPr>
        <p:spPr>
          <a:xfrm>
            <a:off x="7120968" y="4446192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TRL5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6" name="Text 135"/>
          <p:cNvSpPr/>
          <p:nvPr/>
        </p:nvSpPr>
        <p:spPr>
          <a:xfrm>
            <a:off x="334386" y="4715170"/>
            <a:ext cx="85950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* Radar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mmWave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TRL 6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robotyki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humanoidalnej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(TRL 9 w automotive). Radar THz: TRL 4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robotyki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, TRL 6 </a:t>
            </a:r>
            <a:r>
              <a:rPr lang="en-US" sz="950" b="0" i="1" u="none" strike="noStrike" dirty="0" err="1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950" b="0" i="1" u="none" strike="noStrike" dirty="0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 security screening.</a:t>
            </a:r>
            <a:endParaRPr lang="pl-PL" sz="9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Luki normalizacyjne i certyfikacyjne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9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0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1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17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2" name="Text 5"/>
          <p:cNvSpPr/>
          <p:nvPr/>
        </p:nvSpPr>
        <p:spPr>
          <a:xfrm>
            <a:off x="79885" y="749880"/>
            <a:ext cx="8883905" cy="402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216000" indent="-216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Brak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normy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sensoryki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robotów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humanoidalnych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ISO/TC 299 (Robotics)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definiuje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minimalnego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zestawu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sensorów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percepcji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pracujących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ludźmi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—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to jest </a:t>
            </a:r>
            <a:r>
              <a:rPr lang="en-US" sz="13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luka</a:t>
            </a: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prawna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bezpieczeństwa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Radar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mmWave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robotyce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normy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radiowe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(ETSI EN 302 288 — 77 GHz automotive)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obejmują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zastosowań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robotycznych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wymóg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uzyskania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indywidualnego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zezwolenia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UKE;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bariera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wdrożeń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komercyjnych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Polsce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THz emission standards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brak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europejskich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norm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urządzeń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emitujących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promieniowanie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THz (0.1–10 THz) </a:t>
            </a:r>
            <a:r>
              <a:rPr sz="1300" dirty="0"/>
              <a:t/>
            </a:r>
            <a:br>
              <a:rPr sz="1300" dirty="0"/>
            </a:b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środowiskach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ludźmi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FCC (USA) ma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wytyczne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95–300 GHz (exp.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licences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); ETSI ERM TG34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wciąż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fazie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roboczej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Certyfikacja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sensorów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jako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Safety Component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. AI Act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Dyrektywy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Maszynowej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2023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systemy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percepcji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HRI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kategoria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wysokiego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ryzyka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brak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procedur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certyfikacji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specyficznie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sensor fusion AI stack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Brak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profilu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interoperacyjności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OPC UA for Robotics (DI + Robotics)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obejmuje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standardów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danych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sensorycznych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każdy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vendor ma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własny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format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fuzja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między-markowa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wymaga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custom middleware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Dane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treningowe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radaru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modele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ML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człowieka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radarowego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trenowane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zbiorach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automotive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(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CARRADA,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RADDet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niezgodne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geometrią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HRI;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brak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publicznych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datasetów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radarowego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humanoidów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216000" indent="-216000" defTabSz="914400">
              <a:lnSpc>
                <a:spcPct val="100000"/>
              </a:lnSpc>
              <a:spcAft>
                <a:spcPts val="12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Rekomendacja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pilna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powołanie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grupy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roboczej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PKN/CEN/CENELEC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standardów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sensoryki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edge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robotyce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humanoidalnej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— Poland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może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być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inicjatorem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ramach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polskiej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prezydencji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UE 2025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4" name="Shape 1"/>
          <p:cNvSpPr/>
          <p:nvPr/>
        </p:nvSpPr>
        <p:spPr>
          <a:xfrm>
            <a:off x="502920" y="1005840"/>
            <a:ext cx="72720" cy="320004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 2"/>
          <p:cNvSpPr/>
          <p:nvPr/>
        </p:nvSpPr>
        <p:spPr>
          <a:xfrm>
            <a:off x="685800" y="10058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400">
                <a:solidFill>
                  <a:srgbClr val="6C3483"/>
                </a:solidFill>
                <a:effectLst/>
                <a:uFillTx/>
                <a:latin typeface="Calibri"/>
                <a:ea typeface="Calibri"/>
              </a:rPr>
              <a:t>SEKCJA IV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6" name="Text 3"/>
          <p:cNvSpPr/>
          <p:nvPr/>
        </p:nvSpPr>
        <p:spPr>
          <a:xfrm>
            <a:off x="685800" y="150876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Radar i detekcja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człowieka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7" name="Text 4"/>
          <p:cNvSpPr/>
          <p:nvPr/>
        </p:nvSpPr>
        <p:spPr>
          <a:xfrm>
            <a:off x="685800" y="260604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Technologia mmWave · Aptiv SRR8+ · PULSE Radar</a:t>
            </a:r>
            <a:endParaRPr lang="pl-PL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8" name="Shape 5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9" name="Text 6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7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— / 30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Zasady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fizyczne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radaru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FMCW </a:t>
            </a:r>
            <a:r>
              <a:rPr lang="en-US" sz="1900" b="1" u="none" strike="noStrike" dirty="0" err="1" smtClean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mmWave</a:t>
            </a:r>
            <a:endParaRPr lang="pl-PL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5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19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Text 5"/>
          <p:cNvSpPr/>
          <p:nvPr/>
        </p:nvSpPr>
        <p:spPr>
          <a:xfrm>
            <a:off x="274320" y="749880"/>
            <a:ext cx="41601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Podstawy sygnału FMCW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6"/>
          <p:cNvSpPr/>
          <p:nvPr/>
        </p:nvSpPr>
        <p:spPr>
          <a:xfrm>
            <a:off x="4663440" y="74988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Zastosowania dla HRI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7"/>
          <p:cNvSpPr/>
          <p:nvPr/>
        </p:nvSpPr>
        <p:spPr>
          <a:xfrm>
            <a:off x="4492910" y="1097280"/>
            <a:ext cx="360" cy="3584160"/>
          </a:xfrm>
          <a:prstGeom prst="line">
            <a:avLst/>
          </a:prstGeom>
          <a:ln w="1016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Text 8"/>
          <p:cNvSpPr/>
          <p:nvPr/>
        </p:nvSpPr>
        <p:spPr>
          <a:xfrm>
            <a:off x="166861" y="1097280"/>
            <a:ext cx="4221899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FMCW (Frequency Modulated Continuous Wave):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sygnał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chirp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liniowo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modulowany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zakresie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77–81 GHz (auto)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lub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60–64 GHz; beat frequency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proporcjonalna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do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odległości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celu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R =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c·fbeat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/ (2·S),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gdzie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S = slope chirp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Pomiar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prędkości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(Doppler):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faza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kolejnych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chirpów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zmienia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się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proporcjonalnie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do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prędkości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radialnej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v 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=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λ·fd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/2; radar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daje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prędkość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BEZ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klatki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referencyjnej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unikalna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zaleta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vs.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kamera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Kąt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detekcji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AoA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anteny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MIMO (np. 3Tx × 4Rx = 12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wirtualnych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anten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tworzą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wirtualną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aperturę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beamforming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cyfrowy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→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kąt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horyzontalny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wertykalny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rozdzielczością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~1–5°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Point Cloud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radarowy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wynik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to sparse 4D point cloud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x,y,z,v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gęstość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~50–500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pkt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/frame (100 ms) vs. LiDAR 300k–1.5M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pkt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/frame;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wyzwanie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detekcja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ciała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człowieka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kilkudziesięciu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punktów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50" name="Text 9"/>
          <p:cNvSpPr/>
          <p:nvPr/>
        </p:nvSpPr>
        <p:spPr>
          <a:xfrm>
            <a:off x="4663440" y="1097280"/>
            <a:ext cx="4205880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Micro-Doppler Signature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kończyny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człowieka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generują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unikalne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mikro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-Doppler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amplitudy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machanie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rąk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±0.3 m/s,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kroki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±1.5 m/s);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sieci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CNN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spektrogramie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Doppler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klasyfikują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gest/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czynność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bez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kamery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Przenikanie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materiałów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sygnał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77 GHz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przenika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przez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tkaniny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ubrania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cienką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sklejkę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karton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tłumienie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wody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ciało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ludzkie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~80%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wody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 =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silny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odbłysk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beton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tłumi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&gt;40 dB (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nieprzezroczysty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vs.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bandwidth B = 4 GHz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→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odległości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c/(2B) = 3.75 cm;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max </a:t>
            </a:r>
            <a: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3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~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c·T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/(2·S)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danego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slope; trade-off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projektowy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8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Kluczowy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parametr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HRI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CFAR (Constant False Alarm Rate) threshold —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balans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czułość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vs.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fałszywe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alarmy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środowisku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wieloma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obiektami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wymaga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tuningu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robota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magazynie</a:t>
            </a:r>
            <a:r>
              <a:rPr lang="en-US" sz="13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vs. </a:t>
            </a:r>
            <a:r>
              <a:rPr lang="en-US" sz="13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domu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2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Aptiv SRR8+ — specyfikacja i potencjał dla robotyki humanoidalnej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3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20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Shape 5"/>
          <p:cNvSpPr/>
          <p:nvPr/>
        </p:nvSpPr>
        <p:spPr>
          <a:xfrm>
            <a:off x="274320" y="749880"/>
            <a:ext cx="2057040" cy="1096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6"/>
          <p:cNvSpPr/>
          <p:nvPr/>
        </p:nvSpPr>
        <p:spPr>
          <a:xfrm>
            <a:off x="274320" y="749880"/>
            <a:ext cx="63720" cy="1096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 7"/>
          <p:cNvSpPr/>
          <p:nvPr/>
        </p:nvSpPr>
        <p:spPr>
          <a:xfrm>
            <a:off x="411480" y="841320"/>
            <a:ext cx="1855800" cy="52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6C3483"/>
                </a:solidFill>
                <a:effectLst/>
                <a:uFillTx/>
                <a:latin typeface="Calibri"/>
                <a:ea typeface="Calibri"/>
              </a:rPr>
              <a:t>76–77 GHz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8"/>
          <p:cNvSpPr/>
          <p:nvPr/>
        </p:nvSpPr>
        <p:spPr>
          <a:xfrm>
            <a:off x="411480" y="1298520"/>
            <a:ext cx="18558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Zakres częstotliwości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9"/>
          <p:cNvSpPr/>
          <p:nvPr/>
        </p:nvSpPr>
        <p:spPr>
          <a:xfrm>
            <a:off x="411480" y="1605600"/>
            <a:ext cx="185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ISM band, bez licencji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10"/>
          <p:cNvSpPr/>
          <p:nvPr/>
        </p:nvSpPr>
        <p:spPr>
          <a:xfrm>
            <a:off x="2468880" y="749880"/>
            <a:ext cx="2057040" cy="1096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11"/>
          <p:cNvSpPr/>
          <p:nvPr/>
        </p:nvSpPr>
        <p:spPr>
          <a:xfrm>
            <a:off x="2468880" y="749880"/>
            <a:ext cx="63720" cy="1096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2"/>
          <p:cNvSpPr/>
          <p:nvPr/>
        </p:nvSpPr>
        <p:spPr>
          <a:xfrm>
            <a:off x="2606040" y="841320"/>
            <a:ext cx="1855800" cy="52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6C3483"/>
                </a:solidFill>
                <a:effectLst/>
                <a:uFillTx/>
                <a:latin typeface="Calibri"/>
                <a:ea typeface="Calibri"/>
              </a:rPr>
              <a:t>±75°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3"/>
          <p:cNvSpPr/>
          <p:nvPr/>
        </p:nvSpPr>
        <p:spPr>
          <a:xfrm>
            <a:off x="2606040" y="1298520"/>
            <a:ext cx="18558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FOV horyzontalny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Text 14"/>
          <p:cNvSpPr/>
          <p:nvPr/>
        </p:nvSpPr>
        <p:spPr>
          <a:xfrm>
            <a:off x="2606040" y="1605600"/>
            <a:ext cx="185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±20° wertykalny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15"/>
          <p:cNvSpPr/>
          <p:nvPr/>
        </p:nvSpPr>
        <p:spPr>
          <a:xfrm>
            <a:off x="4663440" y="749880"/>
            <a:ext cx="2057040" cy="1096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Shape 16"/>
          <p:cNvSpPr/>
          <p:nvPr/>
        </p:nvSpPr>
        <p:spPr>
          <a:xfrm>
            <a:off x="4663440" y="749880"/>
            <a:ext cx="63720" cy="1096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7"/>
          <p:cNvSpPr/>
          <p:nvPr/>
        </p:nvSpPr>
        <p:spPr>
          <a:xfrm>
            <a:off x="4800600" y="841320"/>
            <a:ext cx="1855800" cy="52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6C3483"/>
                </a:solidFill>
                <a:effectLst/>
                <a:uFillTx/>
                <a:latin typeface="Calibri"/>
                <a:ea typeface="Calibri"/>
              </a:rPr>
              <a:t>0.15 m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9" name="Text 18"/>
          <p:cNvSpPr/>
          <p:nvPr/>
        </p:nvSpPr>
        <p:spPr>
          <a:xfrm>
            <a:off x="4800600" y="1298520"/>
            <a:ext cx="18558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Rozdzielczość odległości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0" name="Text 19"/>
          <p:cNvSpPr/>
          <p:nvPr/>
        </p:nvSpPr>
        <p:spPr>
          <a:xfrm>
            <a:off x="4800600" y="1605600"/>
            <a:ext cx="185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BW=1 GHz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Shape 20"/>
          <p:cNvSpPr/>
          <p:nvPr/>
        </p:nvSpPr>
        <p:spPr>
          <a:xfrm>
            <a:off x="6858000" y="749880"/>
            <a:ext cx="2057040" cy="109692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2" name="Shape 21"/>
          <p:cNvSpPr/>
          <p:nvPr/>
        </p:nvSpPr>
        <p:spPr>
          <a:xfrm>
            <a:off x="6858000" y="749880"/>
            <a:ext cx="63720" cy="109692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Text 22"/>
          <p:cNvSpPr/>
          <p:nvPr/>
        </p:nvSpPr>
        <p:spPr>
          <a:xfrm>
            <a:off x="6995160" y="841320"/>
            <a:ext cx="1855800" cy="526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6C3483"/>
                </a:solidFill>
                <a:effectLst/>
                <a:uFillTx/>
                <a:latin typeface="Calibri"/>
                <a:ea typeface="Calibri"/>
              </a:rPr>
              <a:t>0.5–60 m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4" name="Text 23"/>
          <p:cNvSpPr/>
          <p:nvPr/>
        </p:nvSpPr>
        <p:spPr>
          <a:xfrm>
            <a:off x="6995160" y="1298520"/>
            <a:ext cx="1855800" cy="306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Zakres detekcji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5" name="Text 24"/>
          <p:cNvSpPr/>
          <p:nvPr/>
        </p:nvSpPr>
        <p:spPr>
          <a:xfrm>
            <a:off x="6995160" y="1605600"/>
            <a:ext cx="1855800" cy="21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optymalne 0.5–20 m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25"/>
          <p:cNvSpPr/>
          <p:nvPr/>
        </p:nvSpPr>
        <p:spPr>
          <a:xfrm>
            <a:off x="274320" y="1993320"/>
            <a:ext cx="41601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Charakterystyka techniczna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26"/>
          <p:cNvSpPr/>
          <p:nvPr/>
        </p:nvSpPr>
        <p:spPr>
          <a:xfrm>
            <a:off x="4663440" y="199332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Zastosowania</a:t>
            </a:r>
            <a:r>
              <a:rPr lang="en-US" sz="1300" b="1" u="none" strike="noStrike" dirty="0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 w HRI </a:t>
            </a:r>
            <a:r>
              <a:rPr lang="en-US" sz="13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300" b="1" u="none" strike="noStrike" dirty="0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robotyce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8" name="Shape 27"/>
          <p:cNvSpPr/>
          <p:nvPr/>
        </p:nvSpPr>
        <p:spPr>
          <a:xfrm>
            <a:off x="4526280" y="2340720"/>
            <a:ext cx="360" cy="2240280"/>
          </a:xfrm>
          <a:prstGeom prst="line">
            <a:avLst/>
          </a:prstGeom>
          <a:ln w="1016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Text 28"/>
          <p:cNvSpPr/>
          <p:nvPr/>
        </p:nvSpPr>
        <p:spPr>
          <a:xfrm>
            <a:off x="274320" y="2340720"/>
            <a:ext cx="411444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Architektura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4 TX / 4 RX MIMO FMCW;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SoC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Texas Instr. AWR2944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zintegrowany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oryginalne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przeznaczenie</a:t>
            </a:r>
            <a:r>
              <a:rPr lang="pl-PL" sz="1200" dirty="0">
                <a:solidFill>
                  <a:srgbClr val="1A202C"/>
                </a:solidFill>
                <a:ea typeface="Calibri"/>
              </a:rPr>
              <a:t>: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automotive AV (SRR 4.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generacji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adaptacja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robotyki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Interfejsy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CAN-FD + Ethernet SOME/IP;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wyjście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surowe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ADC / point cloud /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lista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obiektów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most ROS 2 open-source (github.com/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aptiv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-radar)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Micro-Doppler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rozróżnia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chodzącego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/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stojącego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/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biegnącego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człowieka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2–5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klatkach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fałszywy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alarm &lt;3%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pomieszczeniach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Budżet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5–8 W; masa 205 g; IP67; -40°C do +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85°C</a:t>
            </a:r>
            <a:r>
              <a:rPr lang="pl-PL" sz="12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;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integracja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klatce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piersiowej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lub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barku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robota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80" name="Text 29"/>
          <p:cNvSpPr/>
          <p:nvPr/>
        </p:nvSpPr>
        <p:spPr>
          <a:xfrm>
            <a:off x="4525920" y="2340720"/>
            <a:ext cx="4389120" cy="228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Fall detection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prędkość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pionowa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&gt;1.5 m/s +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nagłe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zatrzymanie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→ alert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upadku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2–8 m; bez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pełna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prywatność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użytkownika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Vital signs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oddech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0.1–0.5 Hz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tętno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0.8–2 Hz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nieruchomym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celu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do 3 m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zastosowania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opieki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domowej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monitoringu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medycznego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Integracja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HW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GPIO hardware trigger +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synchronizacja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PPS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multi-radar array;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latencja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wyzwolenia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&lt;1 ms;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montaż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barkowy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pokrywa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strefę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HRI ±75°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Ograniczenia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kątowa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0.5–1.5°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niewystarczająca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do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lokalizacji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kończyn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&lt;30 cm;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wymaga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fuzji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kamerą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lub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LiDAR; ~$200–350/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szt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.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2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Technologia PULSE — Pulsed Ultra-wideband Long-range Sensing Engine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4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21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Shape 5"/>
          <p:cNvSpPr/>
          <p:nvPr/>
        </p:nvSpPr>
        <p:spPr>
          <a:xfrm>
            <a:off x="274320" y="749880"/>
            <a:ext cx="8595000" cy="804240"/>
          </a:xfrm>
          <a:prstGeom prst="rect">
            <a:avLst/>
          </a:prstGeom>
          <a:solidFill>
            <a:srgbClr val="EDE0F5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7" name="Text 6"/>
          <p:cNvSpPr/>
          <p:nvPr/>
        </p:nvSpPr>
        <p:spPr>
          <a:xfrm>
            <a:off x="411480" y="777240"/>
            <a:ext cx="8320680" cy="74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4A235A"/>
                </a:solidFill>
                <a:effectLst/>
                <a:uFillTx/>
                <a:latin typeface="Calibri"/>
                <a:ea typeface="Calibri"/>
              </a:rPr>
              <a:t>PULSE (UWB Pulsed Radar): </a:t>
            </a:r>
            <a:r>
              <a:rPr lang="en-US" sz="1300" b="0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technologia impulsowego radaru ultraszerokopasmowego (UWB) generującego bardzo krótkie impulsy (&lt;1 ns) o szerokości pasma &gt;500 MHz (typowo 3.1–10.6 GHz). Zapewnia wyjątkową rozdzielczość odległości (&lt;15 cm przy BW=1GHz), niski poziom zakłóceń elektromagnetycznych oraz zdolność penetracji materiałów. Stosowany w lokalizacji UWB (IEEE 802.15.4a/z) oraz SAR (Synthetic Aperture Radar) on-chip.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7"/>
          <p:cNvSpPr/>
          <p:nvPr/>
        </p:nvSpPr>
        <p:spPr>
          <a:xfrm>
            <a:off x="274320" y="1567493"/>
            <a:ext cx="41601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Zasada</a:t>
            </a:r>
            <a:r>
              <a:rPr lang="en-US" sz="1300" b="1" u="none" strike="noStrike" dirty="0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300" b="1" u="none" strike="noStrike" dirty="0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parametry</a:t>
            </a:r>
            <a:r>
              <a:rPr lang="en-US" sz="1300" b="1" u="none" strike="noStrike" dirty="0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techniczne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 8"/>
          <p:cNvSpPr/>
          <p:nvPr/>
        </p:nvSpPr>
        <p:spPr>
          <a:xfrm>
            <a:off x="4663440" y="1567493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Zastosowania i wyzwania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Shape 9"/>
          <p:cNvSpPr/>
          <p:nvPr/>
        </p:nvSpPr>
        <p:spPr>
          <a:xfrm>
            <a:off x="4526280" y="1974960"/>
            <a:ext cx="360" cy="2624400"/>
          </a:xfrm>
          <a:prstGeom prst="line">
            <a:avLst/>
          </a:prstGeom>
          <a:ln w="1016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Text 10"/>
          <p:cNvSpPr/>
          <p:nvPr/>
        </p:nvSpPr>
        <p:spPr>
          <a:xfrm rot="13200">
            <a:off x="46151" y="1821899"/>
            <a:ext cx="4531893" cy="29770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Zasada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działania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generator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impulsów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GaN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/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SiGe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produkuje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pojedynczy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impuls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ps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-ns;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korelator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dopasowany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wyznacza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TOA (Time of Arrival) 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dokładnością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&lt;1 cm;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brak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potrzeby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sygnału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referencyjnego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oscylatora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Kluczowe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parametry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robotyki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0.05–20 m;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2–15 cm;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odporność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NLOS (Non-Line-of-Sight);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penetracja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przez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drywall 15 dB,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odzież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&lt;3 dB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widzi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ciało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przez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ubranie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Implementacje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chipowe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Novelda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X4 (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Xethru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 — 7.25 GHz center, 1.5 GHz BW, SPI;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Acconeer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XM125 — 60.5 GHz pulsed radar;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Qorvo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DW3120 — UWB + ranging; Infineon BGT60TR24B — 60 GHz FMCW hybrid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Zastosowanie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Xethru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X4M200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moduł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rejestrowania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oddechu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obecności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człowieka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0.3–5 m;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detekcja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bezdechu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wymiary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17×17 mm; &lt;200 mW;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stosowany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już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robotach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społecznych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Pepper (mod.)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692" name="Text 11"/>
          <p:cNvSpPr/>
          <p:nvPr/>
        </p:nvSpPr>
        <p:spPr>
          <a:xfrm>
            <a:off x="4526640" y="1830240"/>
            <a:ext cx="4473360" cy="266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Synthetic Aperture Radar (SAR) on-chip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ruch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tworzy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aperturę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syntetyczną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poprawa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rozdzielczości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kątowej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do &lt;1°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aperturze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0.5 m;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wymaga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precyzyjnej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odometrii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TRL 3–4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robotyki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Detekcja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ściany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impulsy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UWB 3–10 GHz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penetrują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beton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(&lt;20 cm),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cegłę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drewno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zastosowania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ratownicze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wykrywanie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ludzi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gruzy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);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Atlas-class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jako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platforma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SAR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Vital signs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ubranie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PULSE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wykrywa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ruch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klatki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piersiowej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oddech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0.15–0.5 Hz),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tętno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(1–2 Hz) 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odległości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0.5–3 m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standardowe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ubranie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bez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kontaktu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zastosowanie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opiece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domowej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4000" indent="-144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Wyzwanie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RFI (Radio Frequency Interference) — UWB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impulsowy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musi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respektować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maski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emisji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ETSI EN 302 065;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moc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max -41.3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dBm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/MHz;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ograniczenie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środowiskach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gęstą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elektroniką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4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Proponowana architektura fuzji — Radar + Kamera + LiDAR dla HRI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6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7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22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8" name="Shape 5"/>
          <p:cNvSpPr/>
          <p:nvPr/>
        </p:nvSpPr>
        <p:spPr>
          <a:xfrm>
            <a:off x="274320" y="758880"/>
            <a:ext cx="2742840" cy="100548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6"/>
          <p:cNvSpPr/>
          <p:nvPr/>
        </p:nvSpPr>
        <p:spPr>
          <a:xfrm>
            <a:off x="365760" y="77724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Radar FMCW</a:t>
            </a:r>
            <a:endParaRPr lang="pl-PL" b="1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Aptiv</a:t>
            </a:r>
            <a:r>
              <a:rPr lang="en-US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SRR8+)</a:t>
            </a:r>
            <a:endParaRPr lang="pl-PL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0" name="Text 7"/>
          <p:cNvSpPr/>
          <p:nvPr/>
        </p:nvSpPr>
        <p:spPr>
          <a:xfrm>
            <a:off x="365760" y="134424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4D point cloud</a:t>
            </a:r>
            <a:endParaRPr lang="pl-PL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+ Doppler</a:t>
            </a:r>
            <a:endParaRPr lang="pl-PL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1" name="Shape 8"/>
          <p:cNvSpPr/>
          <p:nvPr/>
        </p:nvSpPr>
        <p:spPr>
          <a:xfrm>
            <a:off x="3246120" y="758880"/>
            <a:ext cx="2742840" cy="100548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2" name="Text 9"/>
          <p:cNvSpPr/>
          <p:nvPr/>
        </p:nvSpPr>
        <p:spPr>
          <a:xfrm>
            <a:off x="3337560" y="77724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RGB-D </a:t>
            </a:r>
            <a:r>
              <a:rPr lang="en-US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Kamera</a:t>
            </a:r>
            <a:endParaRPr lang="pl-PL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(Event + RGB)</a:t>
            </a:r>
            <a:endParaRPr lang="pl-PL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3" name="Text 10"/>
          <p:cNvSpPr/>
          <p:nvPr/>
        </p:nvSpPr>
        <p:spPr>
          <a:xfrm>
            <a:off x="3337560" y="134424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Obraz + głębia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+ skeleton 2D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11"/>
          <p:cNvSpPr/>
          <p:nvPr/>
        </p:nvSpPr>
        <p:spPr>
          <a:xfrm>
            <a:off x="6217920" y="758880"/>
            <a:ext cx="2742840" cy="10054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5" name="Text 12"/>
          <p:cNvSpPr/>
          <p:nvPr/>
        </p:nvSpPr>
        <p:spPr>
          <a:xfrm>
            <a:off x="6309360" y="777240"/>
            <a:ext cx="25599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Solid-State LiDAR</a:t>
            </a:r>
            <a:endParaRPr lang="pl-PL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Hesai</a:t>
            </a:r>
            <a:r>
              <a:rPr lang="en-US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AT128)</a:t>
            </a:r>
            <a:endParaRPr lang="pl-PL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13"/>
          <p:cNvSpPr/>
          <p:nvPr/>
        </p:nvSpPr>
        <p:spPr>
          <a:xfrm>
            <a:off x="6309360" y="1344240"/>
            <a:ext cx="255996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3D point cloud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+ intensity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14"/>
          <p:cNvSpPr/>
          <p:nvPr/>
        </p:nvSpPr>
        <p:spPr>
          <a:xfrm>
            <a:off x="4572000" y="1783080"/>
            <a:ext cx="360" cy="320040"/>
          </a:xfrm>
          <a:prstGeom prst="line">
            <a:avLst/>
          </a:prstGeom>
          <a:ln w="19050">
            <a:solidFill>
              <a:srgbClr val="718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8" name="Shape 15"/>
          <p:cNvSpPr/>
          <p:nvPr/>
        </p:nvSpPr>
        <p:spPr>
          <a:xfrm>
            <a:off x="1371600" y="2121480"/>
            <a:ext cx="6400440" cy="749520"/>
          </a:xfrm>
          <a:prstGeom prst="rect">
            <a:avLst/>
          </a:prstGeom>
          <a:solidFill>
            <a:srgbClr val="1A4F8A"/>
          </a:solidFill>
          <a:ln w="12700">
            <a:solidFill>
              <a:srgbClr val="1A4F8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9" name="Text 16"/>
          <p:cNvSpPr/>
          <p:nvPr/>
        </p:nvSpPr>
        <p:spPr>
          <a:xfrm>
            <a:off x="1417320" y="2139840"/>
            <a:ext cx="6309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SENSOR FUSION ENGINE (Edge NPU — Jetson AGX Orin)</a:t>
            </a:r>
            <a:endParaRPr lang="pl-PL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0" name="Text 17"/>
          <p:cNvSpPr/>
          <p:nvPr/>
        </p:nvSpPr>
        <p:spPr>
          <a:xfrm>
            <a:off x="1417320" y="2468880"/>
            <a:ext cx="630900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A0C4FF"/>
                </a:solidFill>
                <a:effectLst/>
                <a:uFillTx/>
                <a:latin typeface="Calibri"/>
                <a:ea typeface="Calibri"/>
              </a:rPr>
              <a:t>Temporal alignment (IEEE 1588 PTP) · Spatial calibration · Early/Late fusion · </a:t>
            </a:r>
            <a:r>
              <a:rPr lang="en-US" sz="1200" b="0" u="none" strike="noStrike" dirty="0" err="1">
                <a:solidFill>
                  <a:srgbClr val="A0C4FF"/>
                </a:solidFill>
                <a:effectLst/>
                <a:uFillTx/>
                <a:latin typeface="Calibri"/>
                <a:ea typeface="Calibri"/>
              </a:rPr>
              <a:t>Kalman</a:t>
            </a:r>
            <a:r>
              <a:rPr lang="en-US" sz="1200" b="0" u="none" strike="noStrike" dirty="0">
                <a:solidFill>
                  <a:srgbClr val="A0C4FF"/>
                </a:solidFill>
                <a:effectLst/>
                <a:uFillTx/>
                <a:latin typeface="Calibri"/>
                <a:ea typeface="Calibri"/>
              </a:rPr>
              <a:t> Filter Track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Shape 18"/>
          <p:cNvSpPr/>
          <p:nvPr/>
        </p:nvSpPr>
        <p:spPr>
          <a:xfrm>
            <a:off x="4572000" y="2889360"/>
            <a:ext cx="360" cy="274320"/>
          </a:xfrm>
          <a:prstGeom prst="line">
            <a:avLst/>
          </a:prstGeom>
          <a:ln w="19050">
            <a:solidFill>
              <a:srgbClr val="718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2" name="Shape 19"/>
          <p:cNvSpPr/>
          <p:nvPr/>
        </p:nvSpPr>
        <p:spPr>
          <a:xfrm>
            <a:off x="274320" y="3182040"/>
            <a:ext cx="2742840" cy="8683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3" name="Text 20"/>
          <p:cNvSpPr/>
          <p:nvPr/>
        </p:nvSpPr>
        <p:spPr>
          <a:xfrm>
            <a:off x="365760" y="32004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Human Track</a:t>
            </a:r>
            <a:endParaRPr lang="pl-PL" sz="2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Text 21"/>
          <p:cNvSpPr/>
          <p:nvPr/>
        </p:nvSpPr>
        <p:spPr>
          <a:xfrm>
            <a:off x="365760" y="354780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Pozycja + prędkość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+ skeleton 3D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22"/>
          <p:cNvSpPr/>
          <p:nvPr/>
        </p:nvSpPr>
        <p:spPr>
          <a:xfrm>
            <a:off x="3246120" y="3182040"/>
            <a:ext cx="2742840" cy="8683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 23"/>
          <p:cNvSpPr/>
          <p:nvPr/>
        </p:nvSpPr>
        <p:spPr>
          <a:xfrm>
            <a:off x="3337560" y="32004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Intent Predict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 24"/>
          <p:cNvSpPr/>
          <p:nvPr/>
        </p:nvSpPr>
        <p:spPr>
          <a:xfrm>
            <a:off x="3337560" y="354780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Trajektoria 0.5 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+ gesture class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Shape 25"/>
          <p:cNvSpPr/>
          <p:nvPr/>
        </p:nvSpPr>
        <p:spPr>
          <a:xfrm>
            <a:off x="6217920" y="3182040"/>
            <a:ext cx="2742840" cy="868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9" name="Text 26"/>
          <p:cNvSpPr/>
          <p:nvPr/>
        </p:nvSpPr>
        <p:spPr>
          <a:xfrm>
            <a:off x="6309360" y="3200400"/>
            <a:ext cx="25599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Safety Reflex</a:t>
            </a:r>
            <a:endParaRPr lang="pl-PL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0" name="Text 27"/>
          <p:cNvSpPr/>
          <p:nvPr/>
        </p:nvSpPr>
        <p:spPr>
          <a:xfrm>
            <a:off x="6309360" y="354780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Stop zone / speed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DDEEFF"/>
                </a:solidFill>
                <a:effectLst/>
                <a:uFillTx/>
                <a:latin typeface="Calibri"/>
                <a:ea typeface="Calibri"/>
              </a:rPr>
              <a:t>limit / alert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1" name="Shape 28"/>
          <p:cNvSpPr/>
          <p:nvPr/>
        </p:nvSpPr>
        <p:spPr>
          <a:xfrm>
            <a:off x="4572000" y="4069080"/>
            <a:ext cx="360" cy="274320"/>
          </a:xfrm>
          <a:prstGeom prst="line">
            <a:avLst/>
          </a:prstGeom>
          <a:ln w="19050">
            <a:solidFill>
              <a:srgbClr val="71809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Shape 29"/>
          <p:cNvSpPr/>
          <p:nvPr/>
        </p:nvSpPr>
        <p:spPr>
          <a:xfrm>
            <a:off x="1742030" y="4352400"/>
            <a:ext cx="5646227" cy="383760"/>
          </a:xfrm>
          <a:prstGeom prst="rect">
            <a:avLst/>
          </a:prstGeom>
          <a:solidFill>
            <a:srgbClr val="162230"/>
          </a:solidFill>
          <a:ln w="12700">
            <a:solidFill>
              <a:srgbClr val="16223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3" name="Text 30"/>
          <p:cNvSpPr/>
          <p:nvPr/>
        </p:nvSpPr>
        <p:spPr>
          <a:xfrm>
            <a:off x="1795426" y="4361760"/>
            <a:ext cx="5547111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A0C4FF"/>
                </a:solidFill>
                <a:effectLst/>
                <a:uFillTx/>
                <a:latin typeface="Calibri"/>
                <a:ea typeface="Calibri"/>
              </a:rPr>
              <a:t>Robot Controller (</a:t>
            </a:r>
            <a:r>
              <a:rPr lang="en-US" sz="1200" b="0" u="none" strike="noStrike" dirty="0" err="1">
                <a:solidFill>
                  <a:srgbClr val="A0C4FF"/>
                </a:solidFill>
                <a:effectLst/>
                <a:uFillTx/>
                <a:latin typeface="Calibri"/>
                <a:ea typeface="Calibri"/>
              </a:rPr>
              <a:t>EtherCAT</a:t>
            </a:r>
            <a:r>
              <a:rPr lang="en-US" sz="1200" b="0" u="none" strike="noStrike" dirty="0">
                <a:solidFill>
                  <a:srgbClr val="A0C4FF"/>
                </a:solidFill>
                <a:effectLst/>
                <a:uFillTx/>
                <a:latin typeface="Calibri"/>
                <a:ea typeface="Calibri"/>
              </a:rPr>
              <a:t> 1kHz)  →  Actuator Commands  ←  ISO TS 15066 Speed Limit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5" name="Shape 1"/>
          <p:cNvSpPr/>
          <p:nvPr/>
        </p:nvSpPr>
        <p:spPr>
          <a:xfrm>
            <a:off x="502920" y="1005840"/>
            <a:ext cx="72720" cy="32000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6" name="Text 2"/>
          <p:cNvSpPr/>
          <p:nvPr/>
        </p:nvSpPr>
        <p:spPr>
          <a:xfrm>
            <a:off x="685800" y="10058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400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SEKCJA V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7" name="Text 3"/>
          <p:cNvSpPr/>
          <p:nvPr/>
        </p:nvSpPr>
        <p:spPr>
          <a:xfrm>
            <a:off x="685800" y="150876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Sensing w zakresie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terahercowym (THz)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8" name="Text 4"/>
          <p:cNvSpPr/>
          <p:nvPr/>
        </p:nvSpPr>
        <p:spPr>
          <a:xfrm>
            <a:off x="685800" y="260604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0.1–10 THz · Zasady fizyczne · Zastosowania · TRL</a:t>
            </a:r>
            <a:endParaRPr lang="pl-PL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9" name="Shape 5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6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1" name="Text 7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— / 30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Spektroskopia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radar </a:t>
            </a:r>
            <a:r>
              <a:rPr lang="en-US" sz="1900" b="1" u="none" strike="noStrike" dirty="0" smtClean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THz</a:t>
            </a:r>
            <a:r>
              <a:rPr lang="pl-PL" sz="1900" b="1" u="none" strike="noStrike" dirty="0" smtClean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,</a:t>
            </a:r>
            <a:r>
              <a:rPr lang="en-US" sz="1900" b="1" u="none" strike="noStrike" dirty="0" smtClean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zasady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fizyczne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technologie</a:t>
            </a:r>
            <a:r>
              <a:rPr lang="en-US" sz="190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90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emiterów</a:t>
            </a:r>
            <a:endParaRPr lang="pl-PL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24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5"/>
          <p:cNvSpPr/>
          <p:nvPr/>
        </p:nvSpPr>
        <p:spPr>
          <a:xfrm>
            <a:off x="481226" y="729858"/>
            <a:ext cx="1965600" cy="1078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Shape 6"/>
          <p:cNvSpPr/>
          <p:nvPr/>
        </p:nvSpPr>
        <p:spPr>
          <a:xfrm>
            <a:off x="481226" y="729858"/>
            <a:ext cx="63720" cy="1078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7"/>
          <p:cNvSpPr/>
          <p:nvPr/>
        </p:nvSpPr>
        <p:spPr>
          <a:xfrm>
            <a:off x="618386" y="821298"/>
            <a:ext cx="1764360" cy="51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0.1–10 THz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Text 8"/>
          <p:cNvSpPr/>
          <p:nvPr/>
        </p:nvSpPr>
        <p:spPr>
          <a:xfrm>
            <a:off x="618386" y="1269138"/>
            <a:ext cx="1764360" cy="30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zakres częstotliwości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Text 9"/>
          <p:cNvSpPr/>
          <p:nvPr/>
        </p:nvSpPr>
        <p:spPr>
          <a:xfrm>
            <a:off x="618386" y="1571538"/>
            <a:ext cx="1764360" cy="2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1 THz = λ = 300 μm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Shape 10"/>
          <p:cNvSpPr/>
          <p:nvPr/>
        </p:nvSpPr>
        <p:spPr>
          <a:xfrm>
            <a:off x="2584346" y="729858"/>
            <a:ext cx="1965600" cy="1078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Shape 11"/>
          <p:cNvSpPr/>
          <p:nvPr/>
        </p:nvSpPr>
        <p:spPr>
          <a:xfrm>
            <a:off x="2584346" y="729858"/>
            <a:ext cx="63720" cy="1078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 12"/>
          <p:cNvSpPr/>
          <p:nvPr/>
        </p:nvSpPr>
        <p:spPr>
          <a:xfrm>
            <a:off x="2721506" y="821298"/>
            <a:ext cx="1764360" cy="51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4A261"/>
                </a:solidFill>
                <a:effectLst/>
                <a:uFillTx/>
                <a:latin typeface="Calibri"/>
                <a:ea typeface="Calibri"/>
              </a:rPr>
              <a:t>&lt;1 mm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Text 13"/>
          <p:cNvSpPr/>
          <p:nvPr/>
        </p:nvSpPr>
        <p:spPr>
          <a:xfrm>
            <a:off x="2721506" y="1269138"/>
            <a:ext cx="1764360" cy="30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rozdzielczość przestrz.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14"/>
          <p:cNvSpPr/>
          <p:nvPr/>
        </p:nvSpPr>
        <p:spPr>
          <a:xfrm>
            <a:off x="2721506" y="1571538"/>
            <a:ext cx="1764360" cy="2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przy λ/2 dla 600 GHz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Shape 15"/>
          <p:cNvSpPr/>
          <p:nvPr/>
        </p:nvSpPr>
        <p:spPr>
          <a:xfrm>
            <a:off x="4687466" y="729858"/>
            <a:ext cx="1965600" cy="1078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8" name="Shape 16"/>
          <p:cNvSpPr/>
          <p:nvPr/>
        </p:nvSpPr>
        <p:spPr>
          <a:xfrm>
            <a:off x="4687466" y="729858"/>
            <a:ext cx="63720" cy="107856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9" name="Text 17"/>
          <p:cNvSpPr/>
          <p:nvPr/>
        </p:nvSpPr>
        <p:spPr>
          <a:xfrm>
            <a:off x="4824626" y="821298"/>
            <a:ext cx="1764360" cy="51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20 dB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8"/>
          <p:cNvSpPr/>
          <p:nvPr/>
        </p:nvSpPr>
        <p:spPr>
          <a:xfrm>
            <a:off x="4824626" y="1269138"/>
            <a:ext cx="1764360" cy="30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przenikanie przez odzież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1" name="Text 19"/>
          <p:cNvSpPr/>
          <p:nvPr/>
        </p:nvSpPr>
        <p:spPr>
          <a:xfrm>
            <a:off x="4824626" y="1571538"/>
            <a:ext cx="1764360" cy="2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tłumienie @ 300 GHz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20"/>
          <p:cNvSpPr/>
          <p:nvPr/>
        </p:nvSpPr>
        <p:spPr>
          <a:xfrm>
            <a:off x="6790586" y="729858"/>
            <a:ext cx="1965600" cy="1078560"/>
          </a:xfrm>
          <a:prstGeom prst="rect">
            <a:avLst/>
          </a:prstGeom>
          <a:solidFill>
            <a:srgbClr val="FFFFFF"/>
          </a:solidFill>
          <a:ln w="10160">
            <a:solidFill>
              <a:srgbClr val="CBD5E0"/>
            </a:solidFill>
            <a:round/>
          </a:ln>
          <a:effectLst>
            <a:outerShdw blurRad="88920" dist="25455" dir="8100000" algn="bl" rotWithShape="0">
              <a:srgbClr val="000000">
                <a:alpha val="9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3" name="Shape 21"/>
          <p:cNvSpPr/>
          <p:nvPr/>
        </p:nvSpPr>
        <p:spPr>
          <a:xfrm>
            <a:off x="6790586" y="729858"/>
            <a:ext cx="63720" cy="107856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4" name="Text 22"/>
          <p:cNvSpPr/>
          <p:nvPr/>
        </p:nvSpPr>
        <p:spPr>
          <a:xfrm>
            <a:off x="6927746" y="821298"/>
            <a:ext cx="1764360" cy="517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TRL 4–6</a:t>
            </a:r>
            <a:endParaRPr lang="pl-PL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23"/>
          <p:cNvSpPr/>
          <p:nvPr/>
        </p:nvSpPr>
        <p:spPr>
          <a:xfrm>
            <a:off x="6927746" y="1269138"/>
            <a:ext cx="1764360" cy="30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dojrzałość technologiczna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24"/>
          <p:cNvSpPr/>
          <p:nvPr/>
        </p:nvSpPr>
        <p:spPr>
          <a:xfrm>
            <a:off x="6927746" y="1571538"/>
            <a:ext cx="1764360" cy="21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robotyka HRI: TRL 3–4</a:t>
            </a:r>
            <a:endParaRPr lang="pl-PL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25"/>
          <p:cNvSpPr/>
          <p:nvPr/>
        </p:nvSpPr>
        <p:spPr>
          <a:xfrm>
            <a:off x="274320" y="1946936"/>
            <a:ext cx="41601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Technologie emiterów i detektorów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8" name="Text 26"/>
          <p:cNvSpPr/>
          <p:nvPr/>
        </p:nvSpPr>
        <p:spPr>
          <a:xfrm>
            <a:off x="4663440" y="192024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Metody</a:t>
            </a:r>
            <a:r>
              <a:rPr lang="en-US" sz="1300" b="1" u="none" strike="noStrike" dirty="0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300" b="1" u="none" strike="noStrike" dirty="0" err="1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pomiaru</a:t>
            </a:r>
            <a:endParaRPr lang="pl-PL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Shape 27"/>
          <p:cNvSpPr/>
          <p:nvPr/>
        </p:nvSpPr>
        <p:spPr>
          <a:xfrm>
            <a:off x="4446189" y="2267640"/>
            <a:ext cx="360" cy="2441520"/>
          </a:xfrm>
          <a:prstGeom prst="line">
            <a:avLst/>
          </a:prstGeom>
          <a:ln w="1016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 28"/>
          <p:cNvSpPr/>
          <p:nvPr/>
        </p:nvSpPr>
        <p:spPr>
          <a:xfrm>
            <a:off x="73419" y="2274314"/>
            <a:ext cx="4338759" cy="248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Zakres</a:t>
            </a: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THz (0.1–10 THz):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pomiędzy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mikrofalami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a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podczerwienią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fale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elektromagnetyczne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przenikają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materiały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nieprzewodzące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tekstylia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plastik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ceramika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 —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niewidoczne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fal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mm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IR</a:t>
            </a:r>
            <a:endParaRPr lang="pl-PL" sz="115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Emiter</a:t>
            </a: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QCL (Quantum Cascade Laser)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1–10 THz;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temperatury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kriogeniczne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(77 K);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moc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&gt;100 mW;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spektralna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&lt;1 GHz;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zastosowanie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spectroscopy, security screening; TRL 7</a:t>
            </a:r>
            <a:endParaRPr lang="pl-PL" sz="115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Emiter</a:t>
            </a: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Gunn/IMPATT </a:t>
            </a: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diody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100–300 GHz (sub-THz);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temperatura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pokojowa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moc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1–50 mW;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koherentny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firmy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Virginia Diodes (VDI), Radiometer Physics;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miniaturyzacja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możliwa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TRL 7–8</a:t>
            </a:r>
            <a:endParaRPr lang="pl-PL" sz="115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CMOS/</a:t>
            </a: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SiGe</a:t>
            </a: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zintegrowane</a:t>
            </a: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transceivery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200–300 GHz;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moc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&lt;1 mW; chip 5×5 mm;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producenci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Infineon (BGT60), IHP, MIT LL;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pełna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integracja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z DSP; TRL 5–6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robotyki</a:t>
            </a:r>
            <a:endParaRPr lang="pl-PL" sz="115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  <p:sp>
        <p:nvSpPr>
          <p:cNvPr id="761" name="Text 29"/>
          <p:cNvSpPr/>
          <p:nvPr/>
        </p:nvSpPr>
        <p:spPr>
          <a:xfrm>
            <a:off x="4412178" y="2167560"/>
            <a:ext cx="4684079" cy="248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Time-Domain Spectroscopy (THz-TDS):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impuls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fs-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laserowy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wzbudza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emiter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fotoprzewodzący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→ sweep 0.1–4 THz w &lt;1 ns;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identyfikacja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chemiczna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materiałów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spektrum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absorpcji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stacjonarny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duży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system</a:t>
            </a:r>
            <a:endParaRPr lang="pl-PL" sz="115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CW THz radar (Continuous Wave):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fotomikser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lub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fotodioda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UTC;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zasięg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1–10 m;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możliwy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doppler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pomiar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prędkości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kątowa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&gt;1° bez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beamformingu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latencja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pomiaru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1–10 ms</a:t>
            </a:r>
            <a:endParaRPr lang="pl-PL" sz="115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THz imager (focal plane array):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bolometryczne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detektory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NbN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32×32 do 256×256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pikseli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framerate 25–50 fps;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pasywny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ciało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ludzkie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emituje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THz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termicznie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lub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aktywny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pl-PL" sz="115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15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15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z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emiterem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TRL 6 (security)</a:t>
            </a:r>
            <a:endParaRPr lang="pl-PL" sz="115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6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Kluczowa</a:t>
            </a: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właściwość</a:t>
            </a: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15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THz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widzi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kontury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ciała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przez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 smtClean="0">
                <a:solidFill>
                  <a:srgbClr val="1A202C"/>
                </a:solidFill>
                <a:effectLst/>
                <a:uFillTx/>
                <a:ea typeface="Calibri"/>
              </a:rPr>
              <a:t>odzież</a:t>
            </a:r>
            <a:r>
              <a:rPr lang="pl-PL" sz="1150" dirty="0">
                <a:solidFill>
                  <a:srgbClr val="1A202C"/>
                </a:solidFill>
                <a:ea typeface="Calibri"/>
              </a:rPr>
              <a:t>;</a:t>
            </a:r>
            <a:r>
              <a:rPr lang="en-US" sz="115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umożliwia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detekcję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kończyn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,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ocenę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postawy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gesty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MIMO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i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NLOS;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narusza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prywatności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brak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rozpoznania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15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twarzy</a:t>
            </a:r>
            <a:r>
              <a:rPr lang="en-US" sz="115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</a:t>
            </a:r>
            <a:endParaRPr lang="pl-PL" sz="115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3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Zastosowania sensoryki THz w robotach humanoidalnych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5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25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7" name="Shape 5"/>
          <p:cNvSpPr/>
          <p:nvPr/>
        </p:nvSpPr>
        <p:spPr>
          <a:xfrm>
            <a:off x="173536" y="749880"/>
            <a:ext cx="2689804" cy="3977280"/>
          </a:xfrm>
          <a:prstGeom prst="rect">
            <a:avLst/>
          </a:prstGeom>
          <a:solidFill>
            <a:srgbClr val="F7FAFC"/>
          </a:solidFill>
          <a:ln w="8890">
            <a:solidFill>
              <a:srgbClr val="CBD5E0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8" name="Shape 6"/>
          <p:cNvSpPr/>
          <p:nvPr/>
        </p:nvSpPr>
        <p:spPr>
          <a:xfrm>
            <a:off x="173536" y="749880"/>
            <a:ext cx="2689804" cy="475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9" name="Text 7"/>
          <p:cNvSpPr/>
          <p:nvPr/>
        </p:nvSpPr>
        <p:spPr>
          <a:xfrm>
            <a:off x="258975" y="795600"/>
            <a:ext cx="26056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Detekcja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 tracking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człowieka</a:t>
            </a:r>
            <a:endParaRPr lang="pl-PL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0" name="Text 8"/>
          <p:cNvSpPr/>
          <p:nvPr/>
        </p:nvSpPr>
        <p:spPr>
          <a:xfrm>
            <a:off x="173536" y="1280160"/>
            <a:ext cx="2689804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Kontur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ciała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ubranie</a:t>
            </a:r>
            <a:r>
              <a:rPr lang="pl-PL" sz="1200" b="1" dirty="0" smtClean="0">
                <a:solidFill>
                  <a:srgbClr val="1A202C"/>
                </a:solidFill>
                <a:latin typeface="Calibri"/>
                <a:ea typeface="Calibri"/>
              </a:rPr>
              <a:t>: 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pose 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estimation bez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kamery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prywatność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zachowana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brak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ID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twarzy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)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Gesty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dłoni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wykryte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odzież</a:t>
            </a:r>
            <a:r>
              <a:rPr lang="pl-PL" sz="1200" b="1" dirty="0" smtClean="0">
                <a:solidFill>
                  <a:srgbClr val="1A202C"/>
                </a:solidFill>
                <a:latin typeface="Calibri"/>
                <a:ea typeface="Calibri"/>
              </a:rPr>
              <a:t>: 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gesture 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UI bez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touchscreena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dystans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0.3–2 m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Oddech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+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tętno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bariery</a:t>
            </a:r>
            <a:r>
              <a:rPr lang="pl-PL" sz="1200" b="1" dirty="0">
                <a:solidFill>
                  <a:srgbClr val="1A202C"/>
                </a:solidFill>
                <a:latin typeface="Calibri"/>
                <a:ea typeface="Calibri"/>
              </a:rPr>
              <a:t>: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monitoring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pacjenta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poduszki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koc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bez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kontaktu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Fall detection 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dokładnością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&gt;95% (Lit.: Ahmad et al., 2021, IEEE T-MTT)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trybie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pasywnym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Wykrywanie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przez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drzwi</a:t>
            </a:r>
            <a:r>
              <a:rPr lang="en-US" sz="1200" b="1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en-US" sz="1200" b="1" u="none" strike="noStrike" dirty="0" err="1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ścianę</a:t>
            </a:r>
            <a:r>
              <a:rPr lang="pl-PL" sz="1200" b="1" dirty="0">
                <a:solidFill>
                  <a:srgbClr val="1A202C"/>
                </a:solidFill>
                <a:latin typeface="Calibri"/>
                <a:ea typeface="Calibri"/>
              </a:rPr>
              <a:t>: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alert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bezpieczeństwa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robotów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autonomicznych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nocnych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9"/>
          <p:cNvSpPr/>
          <p:nvPr/>
        </p:nvSpPr>
        <p:spPr>
          <a:xfrm>
            <a:off x="2948779" y="749880"/>
            <a:ext cx="2857301" cy="3977280"/>
          </a:xfrm>
          <a:prstGeom prst="rect">
            <a:avLst/>
          </a:prstGeom>
          <a:solidFill>
            <a:srgbClr val="F7FAFC"/>
          </a:solidFill>
          <a:ln w="8890">
            <a:solidFill>
              <a:srgbClr val="CBD5E0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10"/>
          <p:cNvSpPr/>
          <p:nvPr/>
        </p:nvSpPr>
        <p:spPr>
          <a:xfrm>
            <a:off x="2948779" y="749880"/>
            <a:ext cx="2857301" cy="4752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3" name="Text 11"/>
          <p:cNvSpPr/>
          <p:nvPr/>
        </p:nvSpPr>
        <p:spPr>
          <a:xfrm>
            <a:off x="3154680" y="795600"/>
            <a:ext cx="26056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Diagnostyka i opieka medyczna</a:t>
            </a:r>
            <a:endParaRPr lang="pl-P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12"/>
          <p:cNvSpPr/>
          <p:nvPr/>
        </p:nvSpPr>
        <p:spPr>
          <a:xfrm>
            <a:off x="2947464" y="1280160"/>
            <a:ext cx="2812896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Wound imaging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THz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wrażliwy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zawartość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wody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obrazowanie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ran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skóry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bez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kontaktu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(Hernandez-Cardoso et al., 2017, Science Advances)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Skin burn depth assessment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ocena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głębokości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oparzenia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wsparcie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robota-asystenta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medycznego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Drug/tablet inspection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identyfikacja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narkotyków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ukrytych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opakowaniu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(THz spectroscopy)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Inhalation monitoring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robot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opiekuńczy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monitoruje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oddech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osoby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starszej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zasięgu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1 m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Vein mapping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sub-mm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rozdzielczość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THz —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potencjał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dla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robotycznej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asysty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iniekcji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IV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Shape 13"/>
          <p:cNvSpPr/>
          <p:nvPr/>
        </p:nvSpPr>
        <p:spPr>
          <a:xfrm>
            <a:off x="5852159" y="749880"/>
            <a:ext cx="3124979" cy="3977280"/>
          </a:xfrm>
          <a:prstGeom prst="rect">
            <a:avLst/>
          </a:prstGeom>
          <a:solidFill>
            <a:srgbClr val="F7FAFC"/>
          </a:solidFill>
          <a:ln w="8890">
            <a:solidFill>
              <a:srgbClr val="CBD5E0"/>
            </a:solidFill>
            <a:round/>
          </a:ln>
          <a:effectLst>
            <a:outerShdw blurRad="76320" dist="12218" dir="8100000" algn="bl" rotWithShape="0">
              <a:srgbClr val="000000">
                <a:alpha val="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6" name="Shape 14"/>
          <p:cNvSpPr/>
          <p:nvPr/>
        </p:nvSpPr>
        <p:spPr>
          <a:xfrm>
            <a:off x="5852159" y="749880"/>
            <a:ext cx="3124979" cy="47520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15"/>
          <p:cNvSpPr/>
          <p:nvPr/>
        </p:nvSpPr>
        <p:spPr>
          <a:xfrm>
            <a:off x="5943600" y="795600"/>
            <a:ext cx="2605680" cy="40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Inspekcja i środowiska ekstremalne</a:t>
            </a:r>
            <a:endParaRPr lang="pl-P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16"/>
          <p:cNvSpPr/>
          <p:nvPr/>
        </p:nvSpPr>
        <p:spPr>
          <a:xfrm>
            <a:off x="5897880" y="1280160"/>
            <a:ext cx="3079258" cy="3382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Inspekcja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kompozytów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CFRP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THz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wykrywa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delaminacje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,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pęknięcia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wewnętrzne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&lt;50 μm — robot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inspekcyjny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przemyśle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lotniczym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Kontrola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opakowań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żywności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wilgotność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pl-PL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/>
            </a:r>
            <a:br>
              <a:rPr lang="pl-PL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</a:br>
            <a:r>
              <a:rPr lang="en-US" sz="1200" b="0" u="none" strike="noStrike" dirty="0" err="1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jednorodność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— robot </a:t>
            </a:r>
            <a:r>
              <a:rPr lang="en-US" sz="1200" b="0" u="none" strike="noStrike" dirty="0" smtClean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linii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spożywczej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(TRL 8)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Wykrywanie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niebezpiecznych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substancji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spektroskopia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THz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identyfikuje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materiały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wybuchowe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RDX, PETN w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zasięgu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1 m; robot EOD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Środowiska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dymne</a:t>
            </a: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(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pożar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/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katastrofa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): THz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penetruje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dym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wodny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; robot SAR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wykrywa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ocalałych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200" b="1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Niska </a:t>
            </a:r>
            <a:r>
              <a:rPr lang="en-US" sz="1200" b="1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temperatura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: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układy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SiGe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THz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działają</a:t>
            </a:r>
            <a:r>
              <a:rPr lang="en-US" sz="1200" b="0" u="none" strike="noStrike" dirty="0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 w -55°C (space qualified) — robot </a:t>
            </a:r>
            <a:r>
              <a:rPr lang="en-US" sz="1200" b="0" u="none" strike="noStrike" dirty="0" err="1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kosmiczny</a:t>
            </a:r>
            <a:endParaRPr lang="pl-PL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Dojrzałość technologiczna THz i wyzwania integracji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2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26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5"/>
          <p:cNvSpPr/>
          <p:nvPr/>
        </p:nvSpPr>
        <p:spPr>
          <a:xfrm>
            <a:off x="274320" y="749880"/>
            <a:ext cx="416016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Bariery techniczne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Text 6"/>
          <p:cNvSpPr/>
          <p:nvPr/>
        </p:nvSpPr>
        <p:spPr>
          <a:xfrm>
            <a:off x="4663440" y="749880"/>
            <a:ext cx="4205880" cy="30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E6BA8"/>
                </a:solidFill>
                <a:effectLst/>
                <a:uFillTx/>
                <a:latin typeface="Calibri"/>
                <a:ea typeface="Calibri"/>
              </a:rPr>
              <a:t>Bezpieczeństwo i regulacje</a:t>
            </a:r>
            <a:endParaRPr lang="pl-PL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7"/>
          <p:cNvSpPr/>
          <p:nvPr/>
        </p:nvSpPr>
        <p:spPr>
          <a:xfrm>
            <a:off x="4526280" y="1097280"/>
            <a:ext cx="360" cy="3584160"/>
          </a:xfrm>
          <a:prstGeom prst="line">
            <a:avLst/>
          </a:prstGeom>
          <a:ln w="10160">
            <a:solidFill>
              <a:srgbClr val="CBD5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 anchorCtr="1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8"/>
          <p:cNvSpPr/>
          <p:nvPr/>
        </p:nvSpPr>
        <p:spPr>
          <a:xfrm>
            <a:off x="86768" y="1097280"/>
            <a:ext cx="4439512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4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Tłumienie</a:t>
            </a:r>
            <a:r>
              <a:rPr lang="en-US" sz="1400" b="1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atmosferyczne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: para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wodna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silnie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absorbuje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THz —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okna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transmisyjne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: 0.35, 0.41, 0.67, 0.85, 1.4 THz; w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wilgotnych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środowiskach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zasięg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spada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do &lt;1 m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powyżej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1 THz;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optymum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: 300 GHz sub-THz</a:t>
            </a:r>
            <a:endParaRPr lang="pl-PL" sz="1400" b="0" u="none" strike="noStrike" dirty="0">
              <a:solidFill>
                <a:srgbClr val="000000"/>
              </a:solidFill>
              <a:effectLst/>
              <a:uFillTx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Rozmiar</a:t>
            </a:r>
            <a:r>
              <a:rPr lang="en-US" sz="1400" b="1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i</a:t>
            </a:r>
            <a:r>
              <a:rPr lang="en-US" sz="1400" b="1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masa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: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kriogeniczne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QCL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wymaga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Dewar </a:t>
            </a:r>
            <a:r>
              <a:rPr lang="pl-PL" sz="1400" b="0" u="none" strike="noStrike" dirty="0" smtClean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/>
            </a:r>
            <a:br>
              <a:rPr lang="pl-PL" sz="1400" b="0" u="none" strike="noStrike" dirty="0" smtClean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1400" b="0" u="none" strike="noStrike" dirty="0" smtClean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z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ciekłym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azotem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(77 K) —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niemożliwe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na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robocie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;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systemy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półprzewodnikowe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(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SiGe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300 GHz)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mieszczą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się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w module 3×3 cm;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gotowe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do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integracji</a:t>
            </a:r>
            <a:endParaRPr lang="pl-PL" sz="1400" b="0" u="none" strike="noStrike" dirty="0">
              <a:solidFill>
                <a:srgbClr val="000000"/>
              </a:solidFill>
              <a:effectLst/>
              <a:uFillTx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Moc</a:t>
            </a:r>
            <a:r>
              <a:rPr lang="en-US" sz="1400" b="1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obliczeniowa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: THz-TDS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generuje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broadband spectrum → FFT +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kalibacja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→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duże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wolumeny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danych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; CW radar jest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prostszy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;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obróbka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spectral image 64×64 = ~4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kFLOP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/frame;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możliwa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na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NPU</a:t>
            </a:r>
            <a:endParaRPr lang="pl-PL" sz="1400" b="0" u="none" strike="noStrike" dirty="0">
              <a:solidFill>
                <a:srgbClr val="000000"/>
              </a:solidFill>
              <a:effectLst/>
              <a:uFillTx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Cena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: QCL system: &gt;$50k;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fotomikser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: ~$10–30k;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SiGe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transceiver chip: &lt;$50 w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wolumenie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; trend: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SiGe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/CMOS THz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dojdzie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do &lt;$20/chip do 2028 (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Yole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Développement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 Light" panose="020F0302020204030204" pitchFamily="34" charset="0"/>
                <a:cs typeface="Calibri Light" panose="020F0302020204030204" pitchFamily="34" charset="0"/>
              </a:rPr>
              <a:t> 2024)</a:t>
            </a:r>
            <a:endParaRPr lang="pl-PL" sz="1400" b="0" u="none" strike="noStrike" dirty="0">
              <a:solidFill>
                <a:srgbClr val="000000"/>
              </a:solidFill>
              <a:effectLst/>
              <a:uFillTx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788" name="Text 9"/>
          <p:cNvSpPr/>
          <p:nvPr/>
        </p:nvSpPr>
        <p:spPr>
          <a:xfrm>
            <a:off x="4526280" y="1097280"/>
            <a:ext cx="4617360" cy="3629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4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Bezpieczeństwo</a:t>
            </a:r>
            <a:r>
              <a:rPr lang="en-US" sz="14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biologiczne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ICNIRP (2020)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wytyczne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nietermicznego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promieniowania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THz —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gęstość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mocy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&lt;1 mW/cm²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narażenia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długotrwałego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;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pasywne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systemy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THz (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detektory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termiczne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 —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całkowicie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bezpieczne</a:t>
            </a:r>
            <a:endParaRPr lang="pl-PL" sz="14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Normalizacja</a:t>
            </a:r>
            <a:r>
              <a:rPr lang="en-US" sz="14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emisji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FCC Part 15 (USA)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zezwala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urządzenia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do 300 GHz bez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licencji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przy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&lt;0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dBm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EIRP; ETSI EN 303 686 (sub-THz 116–246 GHz) —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nowa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norma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2023;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robotyka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wchodzi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zakres</a:t>
            </a:r>
            <a:endParaRPr lang="pl-PL" sz="14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Rozdzielczość</a:t>
            </a:r>
            <a:r>
              <a:rPr lang="en-US" sz="14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kątowa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antena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array 32×32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elementów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pl-PL" sz="14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4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4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@ 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300 GHz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przy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aperturze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3 cm → HPBW ~3°;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dla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precyzyjnego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trackingu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kończyn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(&lt;10 cm @ 1 m)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wymagana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apertura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&gt;10 cm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lub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algorytmy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MUSIC/ESPRIT</a:t>
            </a:r>
            <a:endParaRPr lang="pl-PL" sz="1400" b="0" u="none" strike="noStrike" dirty="0">
              <a:solidFill>
                <a:srgbClr val="000000"/>
              </a:solidFill>
              <a:effectLst/>
              <a:uFillTx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99"/>
              </a:spcAft>
              <a:buClr>
                <a:srgbClr val="1A202C"/>
              </a:buClr>
              <a:buFont typeface="Symbol" charset="2"/>
              <a:buChar char=""/>
            </a:pPr>
            <a:r>
              <a:rPr lang="en-US" sz="1400" b="1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Roadmap </a:t>
            </a:r>
            <a:r>
              <a:rPr lang="en-US" sz="1400" b="1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miniaturyzacji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: IMEC (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Belgia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)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demonstrował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pl-PL" sz="14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/>
            </a:r>
            <a:br>
              <a:rPr lang="pl-PL" sz="14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</a:br>
            <a:r>
              <a:rPr lang="en-US" sz="1400" b="0" u="none" strike="noStrike" dirty="0" smtClean="0">
                <a:solidFill>
                  <a:srgbClr val="1A202C"/>
                </a:solidFill>
                <a:effectLst/>
                <a:uFillTx/>
                <a:ea typeface="Calibri"/>
              </a:rPr>
              <a:t>w 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2023 r.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SiGe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chip 240–300 GHz z 4×4 array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antenowym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w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obudowie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QFN; integration z Jetson Orin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przez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PCIe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— </a:t>
            </a:r>
            <a:r>
              <a:rPr lang="en-US" sz="1400" b="0" u="none" strike="noStrike" dirty="0" err="1">
                <a:solidFill>
                  <a:srgbClr val="1A202C"/>
                </a:solidFill>
                <a:effectLst/>
                <a:uFillTx/>
                <a:ea typeface="Calibri"/>
              </a:rPr>
              <a:t>prototyp</a:t>
            </a:r>
            <a:r>
              <a:rPr lang="en-US" sz="1400" b="0" u="none" strike="noStrike" dirty="0">
                <a:solidFill>
                  <a:srgbClr val="1A202C"/>
                </a:solidFill>
                <a:effectLst/>
                <a:uFillTx/>
                <a:ea typeface="Calibri"/>
              </a:rPr>
              <a:t> 2025</a:t>
            </a:r>
            <a:endParaRPr lang="pl-PL" sz="1400" b="0" u="none" strike="noStrike" dirty="0">
              <a:solidFill>
                <a:srgbClr val="000000"/>
              </a:solidFill>
              <a:effectLst/>
              <a:uFillTx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1"/>
          <p:cNvSpPr/>
          <p:nvPr/>
        </p:nvSpPr>
        <p:spPr>
          <a:xfrm>
            <a:off x="502920" y="1005840"/>
            <a:ext cx="72720" cy="320004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2"/>
          <p:cNvSpPr/>
          <p:nvPr/>
        </p:nvSpPr>
        <p:spPr>
          <a:xfrm>
            <a:off x="685800" y="1005840"/>
            <a:ext cx="80463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 spc="400">
                <a:solidFill>
                  <a:srgbClr val="2EC4B6"/>
                </a:solidFill>
                <a:effectLst/>
                <a:uFillTx/>
                <a:latin typeface="Calibri"/>
                <a:ea typeface="Calibri"/>
              </a:rPr>
              <a:t>SEKCJA VI</a:t>
            </a:r>
            <a:endParaRPr lang="pl-PL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3"/>
          <p:cNvSpPr/>
          <p:nvPr/>
        </p:nvSpPr>
        <p:spPr>
          <a:xfrm>
            <a:off x="685800" y="1508760"/>
            <a:ext cx="8046360" cy="1096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Mapa drogowa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 rekomendacje</a:t>
            </a:r>
            <a:endParaRPr lang="pl-PL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Text 4"/>
          <p:cNvSpPr/>
          <p:nvPr/>
        </p:nvSpPr>
        <p:spPr>
          <a:xfrm>
            <a:off x="685800" y="2606040"/>
            <a:ext cx="777204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TRL · Prognozy · Kierunki R&amp;D · Rekomendacje dla Rady</a:t>
            </a:r>
            <a:endParaRPr lang="pl-PL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4" name="Shape 5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6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6" name="Text 7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— / 30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Mapa drogowa dojrzałości technologicznej (TRL) — sensory edge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4"/>
          <p:cNvSpPr/>
          <p:nvPr/>
        </p:nvSpPr>
        <p:spPr>
          <a:xfrm>
            <a:off x="8046720" y="4894366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28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" name="Grupa 1"/>
          <p:cNvGrpSpPr/>
          <p:nvPr/>
        </p:nvGrpSpPr>
        <p:grpSpPr>
          <a:xfrm>
            <a:off x="274320" y="698812"/>
            <a:ext cx="8595000" cy="4156508"/>
            <a:chOff x="274320" y="698812"/>
            <a:chExt cx="8595000" cy="4425480"/>
          </a:xfrm>
        </p:grpSpPr>
        <p:sp>
          <p:nvSpPr>
            <p:cNvPr id="800" name="Text 3"/>
            <p:cNvSpPr/>
            <p:nvPr/>
          </p:nvSpPr>
          <p:spPr>
            <a:xfrm>
              <a:off x="274320" y="4840972"/>
              <a:ext cx="6857640" cy="228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900" b="0" u="none" strike="noStrike">
                  <a:solidFill>
                    <a:srgbClr val="4A6070"/>
                  </a:solidFill>
                  <a:effectLst/>
                  <a:uFillTx/>
                  <a:latin typeface="Calibri"/>
                  <a:ea typeface="Calibri"/>
                </a:rPr>
                <a:t>Urządzenia brzegowe (Edge) — Roboty humanoidalne</a:t>
              </a:r>
              <a:endParaRPr lang="pl-PL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2" name="Shape 5"/>
            <p:cNvSpPr/>
            <p:nvPr/>
          </p:nvSpPr>
          <p:spPr>
            <a:xfrm>
              <a:off x="274320" y="698812"/>
              <a:ext cx="2468520" cy="301320"/>
            </a:xfrm>
            <a:prstGeom prst="rect">
              <a:avLst/>
            </a:prstGeom>
            <a:solidFill>
              <a:srgbClr val="162230"/>
            </a:solidFill>
            <a:ln w="12700">
              <a:solidFill>
                <a:srgbClr val="1622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3" name="Text 6"/>
            <p:cNvSpPr/>
            <p:nvPr/>
          </p:nvSpPr>
          <p:spPr>
            <a:xfrm>
              <a:off x="329040" y="698812"/>
              <a:ext cx="239544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 dirty="0" err="1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Technologia</a:t>
              </a:r>
              <a:endParaRPr lang="pl-PL" sz="11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4" name="Shape 7"/>
            <p:cNvSpPr/>
            <p:nvPr/>
          </p:nvSpPr>
          <p:spPr>
            <a:xfrm>
              <a:off x="2834640" y="698812"/>
              <a:ext cx="639720" cy="301320"/>
            </a:xfrm>
            <a:prstGeom prst="rect">
              <a:avLst/>
            </a:prstGeom>
            <a:solidFill>
              <a:srgbClr val="162230"/>
            </a:solidFill>
            <a:ln w="12700">
              <a:solidFill>
                <a:srgbClr val="1622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5" name="Text 8"/>
            <p:cNvSpPr/>
            <p:nvPr/>
          </p:nvSpPr>
          <p:spPr>
            <a:xfrm>
              <a:off x="2889360" y="698812"/>
              <a:ext cx="56664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TRL 2024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6" name="Shape 9"/>
            <p:cNvSpPr/>
            <p:nvPr/>
          </p:nvSpPr>
          <p:spPr>
            <a:xfrm>
              <a:off x="3520440" y="698812"/>
              <a:ext cx="639720" cy="301320"/>
            </a:xfrm>
            <a:prstGeom prst="rect">
              <a:avLst/>
            </a:prstGeom>
            <a:solidFill>
              <a:srgbClr val="162230"/>
            </a:solidFill>
            <a:ln w="12700">
              <a:solidFill>
                <a:srgbClr val="1622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7" name="Text 10"/>
            <p:cNvSpPr/>
            <p:nvPr/>
          </p:nvSpPr>
          <p:spPr>
            <a:xfrm>
              <a:off x="3575160" y="698812"/>
              <a:ext cx="56664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TRL 2026P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8" name="Shape 11"/>
            <p:cNvSpPr/>
            <p:nvPr/>
          </p:nvSpPr>
          <p:spPr>
            <a:xfrm>
              <a:off x="4206240" y="698812"/>
              <a:ext cx="731160" cy="301320"/>
            </a:xfrm>
            <a:prstGeom prst="rect">
              <a:avLst/>
            </a:prstGeom>
            <a:solidFill>
              <a:srgbClr val="162230"/>
            </a:solidFill>
            <a:ln w="12700">
              <a:solidFill>
                <a:srgbClr val="1622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9" name="Text 12"/>
            <p:cNvSpPr/>
            <p:nvPr/>
          </p:nvSpPr>
          <p:spPr>
            <a:xfrm>
              <a:off x="4260960" y="698812"/>
              <a:ext cx="65808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TRL 2030P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0" name="Shape 13"/>
            <p:cNvSpPr/>
            <p:nvPr/>
          </p:nvSpPr>
          <p:spPr>
            <a:xfrm>
              <a:off x="4983480" y="698812"/>
              <a:ext cx="3840120" cy="301320"/>
            </a:xfrm>
            <a:prstGeom prst="rect">
              <a:avLst/>
            </a:prstGeom>
            <a:solidFill>
              <a:srgbClr val="162230"/>
            </a:solidFill>
            <a:ln w="12700">
              <a:solidFill>
                <a:srgbClr val="16223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1" name="Text 14"/>
            <p:cNvSpPr/>
            <p:nvPr/>
          </p:nvSpPr>
          <p:spPr>
            <a:xfrm>
              <a:off x="5038200" y="698812"/>
              <a:ext cx="3767040" cy="30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FFFFFF"/>
                  </a:solidFill>
                  <a:effectLst/>
                  <a:uFillTx/>
                  <a:latin typeface="Calibri"/>
                  <a:ea typeface="Calibri"/>
                </a:rPr>
                <a:t>Uwagi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2" name="Shape 15"/>
            <p:cNvSpPr/>
            <p:nvPr/>
          </p:nvSpPr>
          <p:spPr>
            <a:xfrm>
              <a:off x="274320" y="1028212"/>
              <a:ext cx="8595000" cy="34704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3" name="Text 16"/>
            <p:cNvSpPr/>
            <p:nvPr/>
          </p:nvSpPr>
          <p:spPr>
            <a:xfrm>
              <a:off x="320040" y="108293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RGB-D Kamera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4" name="Text 17"/>
            <p:cNvSpPr/>
            <p:nvPr/>
          </p:nvSpPr>
          <p:spPr>
            <a:xfrm>
              <a:off x="2834640" y="108293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5" name="Text 18"/>
            <p:cNvSpPr/>
            <p:nvPr/>
          </p:nvSpPr>
          <p:spPr>
            <a:xfrm>
              <a:off x="3520440" y="108293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6" name="Text 19"/>
            <p:cNvSpPr/>
            <p:nvPr/>
          </p:nvSpPr>
          <p:spPr>
            <a:xfrm>
              <a:off x="4206240" y="108293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7" name="Text 20"/>
            <p:cNvSpPr/>
            <p:nvPr/>
          </p:nvSpPr>
          <p:spPr>
            <a:xfrm>
              <a:off x="4983480" y="108293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Dojrzała — dalszy rozwój: event hybrydowa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8" name="Shape 21"/>
            <p:cNvSpPr/>
            <p:nvPr/>
          </p:nvSpPr>
          <p:spPr>
            <a:xfrm>
              <a:off x="274320" y="1402972"/>
              <a:ext cx="8595000" cy="347040"/>
            </a:xfrm>
            <a:prstGeom prst="rect">
              <a:avLst/>
            </a:prstGeom>
            <a:solidFill>
              <a:srgbClr val="F7FAFC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19" name="Text 22"/>
            <p:cNvSpPr/>
            <p:nvPr/>
          </p:nvSpPr>
          <p:spPr>
            <a:xfrm>
              <a:off x="320040" y="145769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Solid-State LiDAR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0" name="Text 23"/>
            <p:cNvSpPr/>
            <p:nvPr/>
          </p:nvSpPr>
          <p:spPr>
            <a:xfrm>
              <a:off x="2834640" y="145769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TRL8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1" name="Text 24"/>
            <p:cNvSpPr/>
            <p:nvPr/>
          </p:nvSpPr>
          <p:spPr>
            <a:xfrm>
              <a:off x="3520440" y="145769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2" name="Text 25"/>
            <p:cNvSpPr/>
            <p:nvPr/>
          </p:nvSpPr>
          <p:spPr>
            <a:xfrm>
              <a:off x="4206240" y="145769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3" name="Text 26"/>
            <p:cNvSpPr/>
            <p:nvPr/>
          </p:nvSpPr>
          <p:spPr>
            <a:xfrm>
              <a:off x="4983480" y="145769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Automotive TRL9; humanoid: kalibracja/integracja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4" name="Shape 27"/>
            <p:cNvSpPr/>
            <p:nvPr/>
          </p:nvSpPr>
          <p:spPr>
            <a:xfrm>
              <a:off x="274320" y="1777732"/>
              <a:ext cx="8595000" cy="34704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5" name="Text 28"/>
            <p:cNvSpPr/>
            <p:nvPr/>
          </p:nvSpPr>
          <p:spPr>
            <a:xfrm>
              <a:off x="320040" y="183281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IMU + Enkodery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6" name="Text 29"/>
            <p:cNvSpPr/>
            <p:nvPr/>
          </p:nvSpPr>
          <p:spPr>
            <a:xfrm>
              <a:off x="2834640" y="183281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7" name="Text 30"/>
            <p:cNvSpPr/>
            <p:nvPr/>
          </p:nvSpPr>
          <p:spPr>
            <a:xfrm>
              <a:off x="3520440" y="183281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8" name="Text 31"/>
            <p:cNvSpPr/>
            <p:nvPr/>
          </p:nvSpPr>
          <p:spPr>
            <a:xfrm>
              <a:off x="4206240" y="183281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29" name="Text 32"/>
            <p:cNvSpPr/>
            <p:nvPr/>
          </p:nvSpPr>
          <p:spPr>
            <a:xfrm>
              <a:off x="4983480" y="183281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Dojrzałe — MEMS dalej miniaturyzowane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0" name="Shape 33"/>
            <p:cNvSpPr/>
            <p:nvPr/>
          </p:nvSpPr>
          <p:spPr>
            <a:xfrm>
              <a:off x="274320" y="2152852"/>
              <a:ext cx="8595000" cy="347040"/>
            </a:xfrm>
            <a:prstGeom prst="rect">
              <a:avLst/>
            </a:prstGeom>
            <a:solidFill>
              <a:srgbClr val="F7FAFC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1" name="Text 34"/>
            <p:cNvSpPr/>
            <p:nvPr/>
          </p:nvSpPr>
          <p:spPr>
            <a:xfrm>
              <a:off x="320040" y="220757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F/T Sensors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2" name="Text 35"/>
            <p:cNvSpPr/>
            <p:nvPr/>
          </p:nvSpPr>
          <p:spPr>
            <a:xfrm>
              <a:off x="2834640" y="220757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TRL8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3" name="Text 36"/>
            <p:cNvSpPr/>
            <p:nvPr/>
          </p:nvSpPr>
          <p:spPr>
            <a:xfrm>
              <a:off x="3520440" y="220757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TRL8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4" name="Text 37"/>
            <p:cNvSpPr/>
            <p:nvPr/>
          </p:nvSpPr>
          <p:spPr>
            <a:xfrm>
              <a:off x="4206240" y="220757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5" name="Text 38"/>
            <p:cNvSpPr/>
            <p:nvPr/>
          </p:nvSpPr>
          <p:spPr>
            <a:xfrm>
              <a:off x="4983480" y="220757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Miniaturyzacja dla palców; cena barierą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6" name="Shape 39"/>
            <p:cNvSpPr/>
            <p:nvPr/>
          </p:nvSpPr>
          <p:spPr>
            <a:xfrm>
              <a:off x="274320" y="2527612"/>
              <a:ext cx="8595000" cy="34704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7" name="Text 40"/>
            <p:cNvSpPr/>
            <p:nvPr/>
          </p:nvSpPr>
          <p:spPr>
            <a:xfrm>
              <a:off x="320040" y="258269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Event Camera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8" name="Text 41"/>
            <p:cNvSpPr/>
            <p:nvPr/>
          </p:nvSpPr>
          <p:spPr>
            <a:xfrm>
              <a:off x="2834640" y="258269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9A7D0A"/>
                  </a:solidFill>
                  <a:effectLst/>
                  <a:uFillTx/>
                  <a:latin typeface="Calibri"/>
                  <a:ea typeface="Calibri"/>
                </a:rPr>
                <a:t>TRL5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9" name="Text 42"/>
            <p:cNvSpPr/>
            <p:nvPr/>
          </p:nvSpPr>
          <p:spPr>
            <a:xfrm>
              <a:off x="3520440" y="258269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0E6BA8"/>
                  </a:solidFill>
                  <a:effectLst/>
                  <a:uFillTx/>
                  <a:latin typeface="Calibri"/>
                  <a:ea typeface="Calibri"/>
                </a:rPr>
                <a:t>TRL6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0" name="Text 43"/>
            <p:cNvSpPr/>
            <p:nvPr/>
          </p:nvSpPr>
          <p:spPr>
            <a:xfrm>
              <a:off x="4206240" y="258269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TRL8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1" name="Text 44"/>
            <p:cNvSpPr/>
            <p:nvPr/>
          </p:nvSpPr>
          <p:spPr>
            <a:xfrm>
              <a:off x="4983480" y="258269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Brak standardowych driverów i bibliotek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2" name="Shape 45"/>
            <p:cNvSpPr/>
            <p:nvPr/>
          </p:nvSpPr>
          <p:spPr>
            <a:xfrm>
              <a:off x="274320" y="2902732"/>
              <a:ext cx="8595000" cy="347040"/>
            </a:xfrm>
            <a:prstGeom prst="rect">
              <a:avLst/>
            </a:prstGeom>
            <a:solidFill>
              <a:srgbClr val="F7FAFC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3" name="Text 46"/>
            <p:cNvSpPr/>
            <p:nvPr/>
          </p:nvSpPr>
          <p:spPr>
            <a:xfrm>
              <a:off x="320040" y="295745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E-Skin (taktylna)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4" name="Text 47"/>
            <p:cNvSpPr/>
            <p:nvPr/>
          </p:nvSpPr>
          <p:spPr>
            <a:xfrm>
              <a:off x="2834640" y="295745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9A7D0A"/>
                  </a:solidFill>
                  <a:effectLst/>
                  <a:uFillTx/>
                  <a:latin typeface="Calibri"/>
                  <a:ea typeface="Calibri"/>
                </a:rPr>
                <a:t>TRL5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5" name="Text 48"/>
            <p:cNvSpPr/>
            <p:nvPr/>
          </p:nvSpPr>
          <p:spPr>
            <a:xfrm>
              <a:off x="3520440" y="295745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0E6BA8"/>
                  </a:solidFill>
                  <a:effectLst/>
                  <a:uFillTx/>
                  <a:latin typeface="Calibri"/>
                  <a:ea typeface="Calibri"/>
                </a:rPr>
                <a:t>TRL6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6" name="Text 49"/>
            <p:cNvSpPr/>
            <p:nvPr/>
          </p:nvSpPr>
          <p:spPr>
            <a:xfrm>
              <a:off x="4206240" y="295745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0E6BA8"/>
                  </a:solidFill>
                  <a:effectLst/>
                  <a:uFillTx/>
                  <a:latin typeface="Calibri"/>
                  <a:ea typeface="Calibri"/>
                </a:rPr>
                <a:t>TRL7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7" name="Text 50"/>
            <p:cNvSpPr/>
            <p:nvPr/>
          </p:nvSpPr>
          <p:spPr>
            <a:xfrm>
              <a:off x="4983480" y="295745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IIT, MIT: demonstratory; skalowanie trudne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8" name="Shape 51"/>
            <p:cNvSpPr/>
            <p:nvPr/>
          </p:nvSpPr>
          <p:spPr>
            <a:xfrm>
              <a:off x="274320" y="3277492"/>
              <a:ext cx="8595000" cy="34704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9" name="Text 52"/>
            <p:cNvSpPr/>
            <p:nvPr/>
          </p:nvSpPr>
          <p:spPr>
            <a:xfrm>
              <a:off x="320040" y="333221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Radar mmWave (SRR)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0" name="Text 53"/>
            <p:cNvSpPr/>
            <p:nvPr/>
          </p:nvSpPr>
          <p:spPr>
            <a:xfrm>
              <a:off x="2834640" y="333221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0E6BA8"/>
                  </a:solidFill>
                  <a:effectLst/>
                  <a:uFillTx/>
                  <a:latin typeface="Calibri"/>
                  <a:ea typeface="Calibri"/>
                </a:rPr>
                <a:t>TRL6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1" name="Text 54"/>
            <p:cNvSpPr/>
            <p:nvPr/>
          </p:nvSpPr>
          <p:spPr>
            <a:xfrm>
              <a:off x="3520440" y="333221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0E6BA8"/>
                  </a:solidFill>
                  <a:effectLst/>
                  <a:uFillTx/>
                  <a:latin typeface="Calibri"/>
                  <a:ea typeface="Calibri"/>
                </a:rPr>
                <a:t>TRL7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2" name="Text 55"/>
            <p:cNvSpPr/>
            <p:nvPr/>
          </p:nvSpPr>
          <p:spPr>
            <a:xfrm>
              <a:off x="4206240" y="333221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TRL9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3" name="Text 56"/>
            <p:cNvSpPr/>
            <p:nvPr/>
          </p:nvSpPr>
          <p:spPr>
            <a:xfrm>
              <a:off x="4983480" y="333221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Automotive dojrzały; robotyka: SW/integracja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4" name="Shape 57"/>
            <p:cNvSpPr/>
            <p:nvPr/>
          </p:nvSpPr>
          <p:spPr>
            <a:xfrm>
              <a:off x="274320" y="3652252"/>
              <a:ext cx="8595000" cy="347040"/>
            </a:xfrm>
            <a:prstGeom prst="rect">
              <a:avLst/>
            </a:prstGeom>
            <a:solidFill>
              <a:srgbClr val="F7FAFC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5" name="Text 58"/>
            <p:cNvSpPr/>
            <p:nvPr/>
          </p:nvSpPr>
          <p:spPr>
            <a:xfrm>
              <a:off x="320040" y="370733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PULSE UWB Radar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Text 59"/>
            <p:cNvSpPr/>
            <p:nvPr/>
          </p:nvSpPr>
          <p:spPr>
            <a:xfrm>
              <a:off x="2834640" y="370733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9A7D0A"/>
                  </a:solidFill>
                  <a:effectLst/>
                  <a:uFillTx/>
                  <a:latin typeface="Calibri"/>
                  <a:ea typeface="Calibri"/>
                </a:rPr>
                <a:t>TRL5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7" name="Text 60"/>
            <p:cNvSpPr/>
            <p:nvPr/>
          </p:nvSpPr>
          <p:spPr>
            <a:xfrm>
              <a:off x="3520440" y="370733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0E6BA8"/>
                  </a:solidFill>
                  <a:effectLst/>
                  <a:uFillTx/>
                  <a:latin typeface="Calibri"/>
                  <a:ea typeface="Calibri"/>
                </a:rPr>
                <a:t>TRL6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8" name="Text 61"/>
            <p:cNvSpPr/>
            <p:nvPr/>
          </p:nvSpPr>
          <p:spPr>
            <a:xfrm>
              <a:off x="4206240" y="370733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0E6BA8"/>
                  </a:solidFill>
                  <a:effectLst/>
                  <a:uFillTx/>
                  <a:latin typeface="Calibri"/>
                  <a:ea typeface="Calibri"/>
                </a:rPr>
                <a:t>TRL7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9" name="Text 62"/>
            <p:cNvSpPr/>
            <p:nvPr/>
          </p:nvSpPr>
          <p:spPr>
            <a:xfrm>
              <a:off x="4983480" y="370733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Xethru/Acconeer chipset gotowy; stack robotyczny TRL3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0" name="Shape 63"/>
            <p:cNvSpPr/>
            <p:nvPr/>
          </p:nvSpPr>
          <p:spPr>
            <a:xfrm>
              <a:off x="274320" y="4027372"/>
              <a:ext cx="8595000" cy="34704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1" name="Text 64"/>
            <p:cNvSpPr/>
            <p:nvPr/>
          </p:nvSpPr>
          <p:spPr>
            <a:xfrm>
              <a:off x="320040" y="408209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THz CW (sub-THz 300G)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2" name="Text 65"/>
            <p:cNvSpPr/>
            <p:nvPr/>
          </p:nvSpPr>
          <p:spPr>
            <a:xfrm>
              <a:off x="2834640" y="408209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9A7D0A"/>
                  </a:solidFill>
                  <a:effectLst/>
                  <a:uFillTx/>
                  <a:latin typeface="Calibri"/>
                  <a:ea typeface="Calibri"/>
                </a:rPr>
                <a:t>TRL4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3" name="Text 66"/>
            <p:cNvSpPr/>
            <p:nvPr/>
          </p:nvSpPr>
          <p:spPr>
            <a:xfrm>
              <a:off x="3520440" y="408209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9A7D0A"/>
                  </a:solidFill>
                  <a:effectLst/>
                  <a:uFillTx/>
                  <a:latin typeface="Calibri"/>
                  <a:ea typeface="Calibri"/>
                </a:rPr>
                <a:t>TRL5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4" name="Text 67"/>
            <p:cNvSpPr/>
            <p:nvPr/>
          </p:nvSpPr>
          <p:spPr>
            <a:xfrm>
              <a:off x="4206240" y="408209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0E6BA8"/>
                  </a:solidFill>
                  <a:effectLst/>
                  <a:uFillTx/>
                  <a:latin typeface="Calibri"/>
                  <a:ea typeface="Calibri"/>
                </a:rPr>
                <a:t>TRL7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5" name="Text 68"/>
            <p:cNvSpPr/>
            <p:nvPr/>
          </p:nvSpPr>
          <p:spPr>
            <a:xfrm>
              <a:off x="4983480" y="408209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SiGe chip dojrzewa; software i integracja problem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6" name="Shape 69"/>
            <p:cNvSpPr/>
            <p:nvPr/>
          </p:nvSpPr>
          <p:spPr>
            <a:xfrm>
              <a:off x="274320" y="4402132"/>
              <a:ext cx="8595000" cy="347040"/>
            </a:xfrm>
            <a:prstGeom prst="rect">
              <a:avLst/>
            </a:prstGeom>
            <a:solidFill>
              <a:srgbClr val="F7FAFC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7" name="Text 70"/>
            <p:cNvSpPr/>
            <p:nvPr/>
          </p:nvSpPr>
          <p:spPr>
            <a:xfrm>
              <a:off x="320040" y="445721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THz QCL/Spectroscopy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8" name="Text 71"/>
            <p:cNvSpPr/>
            <p:nvPr/>
          </p:nvSpPr>
          <p:spPr>
            <a:xfrm>
              <a:off x="2834640" y="445721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A93226"/>
                  </a:solidFill>
                  <a:effectLst/>
                  <a:uFillTx/>
                  <a:latin typeface="Calibri"/>
                  <a:ea typeface="Calibri"/>
                </a:rPr>
                <a:t>TRL3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9" name="Text 72"/>
            <p:cNvSpPr/>
            <p:nvPr/>
          </p:nvSpPr>
          <p:spPr>
            <a:xfrm>
              <a:off x="3520440" y="445721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9A7D0A"/>
                  </a:solidFill>
                  <a:effectLst/>
                  <a:uFillTx/>
                  <a:latin typeface="Calibri"/>
                  <a:ea typeface="Calibri"/>
                </a:rPr>
                <a:t>TRL4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0" name="Text 73"/>
            <p:cNvSpPr/>
            <p:nvPr/>
          </p:nvSpPr>
          <p:spPr>
            <a:xfrm>
              <a:off x="4206240" y="445721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9A7D0A"/>
                  </a:solidFill>
                  <a:effectLst/>
                  <a:uFillTx/>
                  <a:latin typeface="Calibri"/>
                  <a:ea typeface="Calibri"/>
                </a:rPr>
                <a:t>TRL5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1" name="Text 74"/>
            <p:cNvSpPr/>
            <p:nvPr/>
          </p:nvSpPr>
          <p:spPr>
            <a:xfrm>
              <a:off x="4983480" y="445721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Wymaga miniaturyzacji kriogenicznej lub RT-QCL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2" name="Shape 75"/>
            <p:cNvSpPr/>
            <p:nvPr/>
          </p:nvSpPr>
          <p:spPr>
            <a:xfrm>
              <a:off x="274320" y="4777252"/>
              <a:ext cx="8595000" cy="347040"/>
            </a:xfrm>
            <a:prstGeom prst="rect">
              <a:avLst/>
            </a:prstGeom>
            <a:solidFill>
              <a:srgbClr val="FFFFFF"/>
            </a:solidFill>
            <a:ln w="3810">
              <a:solidFill>
                <a:srgbClr val="CBD5E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pl-PL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3" name="Text 76"/>
            <p:cNvSpPr/>
            <p:nvPr/>
          </p:nvSpPr>
          <p:spPr>
            <a:xfrm>
              <a:off x="320040" y="4831972"/>
              <a:ext cx="24228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0" u="none" strike="noStrike">
                  <a:solidFill>
                    <a:srgbClr val="1A202C"/>
                  </a:solidFill>
                  <a:effectLst/>
                  <a:uFillTx/>
                  <a:latin typeface="Calibri"/>
                  <a:ea typeface="Calibri"/>
                </a:rPr>
                <a:t>On-device Radar NPU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4" name="Text 77"/>
            <p:cNvSpPr/>
            <p:nvPr/>
          </p:nvSpPr>
          <p:spPr>
            <a:xfrm>
              <a:off x="2834640" y="483197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9A7D0A"/>
                  </a:solidFill>
                  <a:effectLst/>
                  <a:uFillTx/>
                  <a:latin typeface="Calibri"/>
                  <a:ea typeface="Calibri"/>
                </a:rPr>
                <a:t>TRL4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5" name="Text 78"/>
            <p:cNvSpPr/>
            <p:nvPr/>
          </p:nvSpPr>
          <p:spPr>
            <a:xfrm>
              <a:off x="3520440" y="483197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0E6BA8"/>
                  </a:solidFill>
                  <a:effectLst/>
                  <a:uFillTx/>
                  <a:latin typeface="Calibri"/>
                  <a:ea typeface="Calibri"/>
                </a:rPr>
                <a:t>TRL6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6" name="Text 79"/>
            <p:cNvSpPr/>
            <p:nvPr/>
          </p:nvSpPr>
          <p:spPr>
            <a:xfrm>
              <a:off x="4206240" y="4831972"/>
              <a:ext cx="63972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100" b="1" u="none" strike="noStrike">
                  <a:solidFill>
                    <a:srgbClr val="1E8449"/>
                  </a:solidFill>
                  <a:effectLst/>
                  <a:uFillTx/>
                  <a:latin typeface="Calibri"/>
                  <a:ea typeface="Calibri"/>
                </a:rPr>
                <a:t>TRL8</a:t>
              </a:r>
              <a:endParaRPr lang="pl-PL" sz="11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7" name="Text 80"/>
            <p:cNvSpPr/>
            <p:nvPr/>
          </p:nvSpPr>
          <p:spPr>
            <a:xfrm>
              <a:off x="4983480" y="4831972"/>
              <a:ext cx="379440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000" b="0" i="1" u="none" strike="noStrike">
                  <a:solidFill>
                    <a:srgbClr val="718096"/>
                  </a:solidFill>
                  <a:effectLst/>
                  <a:uFillTx/>
                  <a:latin typeface="Calibri"/>
                  <a:ea typeface="Calibri"/>
                </a:rPr>
                <a:t>TI AWR + DNN accelerator; brak HRI datasetu</a:t>
              </a:r>
              <a:endParaRPr lang="pl-PL" sz="1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Shape 0"/>
          <p:cNvSpPr/>
          <p:nvPr/>
        </p:nvSpPr>
        <p:spPr>
          <a:xfrm>
            <a:off x="0" y="0"/>
            <a:ext cx="9143640" cy="65808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1"/>
          <p:cNvSpPr/>
          <p:nvPr/>
        </p:nvSpPr>
        <p:spPr>
          <a:xfrm>
            <a:off x="320040" y="45720"/>
            <a:ext cx="850356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Kierunki badań i rekomendacje R&amp;D</a:t>
            </a:r>
            <a:endParaRPr lang="pl-PL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Shape 2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1" name="Text 3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Text 4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29 / 30</a:t>
            </a:r>
            <a:endParaRPr lang="pl-PL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Shape 5"/>
          <p:cNvSpPr/>
          <p:nvPr/>
        </p:nvSpPr>
        <p:spPr>
          <a:xfrm>
            <a:off x="274320" y="768240"/>
            <a:ext cx="85950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3946"/>
            </a:solidFill>
            <a:round/>
          </a:ln>
          <a:effectLst>
            <a:outerShdw blurRad="50760" dist="12218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Shape 6"/>
          <p:cNvSpPr/>
          <p:nvPr/>
        </p:nvSpPr>
        <p:spPr>
          <a:xfrm>
            <a:off x="274320" y="768240"/>
            <a:ext cx="63720" cy="594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7"/>
          <p:cNvSpPr/>
          <p:nvPr/>
        </p:nvSpPr>
        <p:spPr>
          <a:xfrm>
            <a:off x="384120" y="859680"/>
            <a:ext cx="319680" cy="31968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6" name="Text 8"/>
          <p:cNvSpPr/>
          <p:nvPr/>
        </p:nvSpPr>
        <p:spPr>
          <a:xfrm>
            <a:off x="384120" y="85968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9"/>
          <p:cNvSpPr/>
          <p:nvPr/>
        </p:nvSpPr>
        <p:spPr>
          <a:xfrm>
            <a:off x="777240" y="81396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Radar mmWave dla HRI — priorytet krótkoterminowy (2025–2026)</a:t>
            </a:r>
            <a:endParaRPr lang="pl-P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10"/>
          <p:cNvSpPr/>
          <p:nvPr/>
        </p:nvSpPr>
        <p:spPr>
          <a:xfrm>
            <a:off x="777240" y="106992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Integracja Aptiv SRR8+ lub Texas Instr. IWR6843AOP z platformą Jetson Orin; opracowanie datasetu radarowego human-in-the-loop; benchmark detekcji vs. kamera w warunkach zadymienia/ciemności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1"/>
          <p:cNvSpPr/>
          <p:nvPr/>
        </p:nvSpPr>
        <p:spPr>
          <a:xfrm>
            <a:off x="274320" y="1435680"/>
            <a:ext cx="85950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6C7"/>
            </a:solidFill>
            <a:round/>
          </a:ln>
          <a:effectLst>
            <a:outerShdw blurRad="50760" dist="12218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12"/>
          <p:cNvSpPr/>
          <p:nvPr/>
        </p:nvSpPr>
        <p:spPr>
          <a:xfrm>
            <a:off x="274320" y="1435680"/>
            <a:ext cx="63720" cy="5940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1" name="Shape 13"/>
          <p:cNvSpPr/>
          <p:nvPr/>
        </p:nvSpPr>
        <p:spPr>
          <a:xfrm>
            <a:off x="384120" y="1527120"/>
            <a:ext cx="319680" cy="319680"/>
          </a:xfrm>
          <a:prstGeom prst="ellipse">
            <a:avLst/>
          </a:prstGeom>
          <a:solidFill>
            <a:srgbClr val="0096C7"/>
          </a:solidFill>
          <a:ln w="1270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14"/>
          <p:cNvSpPr/>
          <p:nvPr/>
        </p:nvSpPr>
        <p:spPr>
          <a:xfrm>
            <a:off x="384120" y="152712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3" name="Text 15"/>
          <p:cNvSpPr/>
          <p:nvPr/>
        </p:nvSpPr>
        <p:spPr>
          <a:xfrm>
            <a:off x="777240" y="148140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PULSE UWB dla close-range sensing (&lt;0.5 m) (2025–2027)</a:t>
            </a:r>
            <a:endParaRPr lang="pl-P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4" name="Text 16"/>
          <p:cNvSpPr/>
          <p:nvPr/>
        </p:nvSpPr>
        <p:spPr>
          <a:xfrm>
            <a:off x="777240" y="173736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Wdrożenie Acconeer XM125 (60.5 GHz) lub Xethru X4 w dłoniach i stopach robota; eliminacja strefy martwej; vital signs detection w zastosowaniach opiekuńczych; open-source ROS 2 driver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Shape 17"/>
          <p:cNvSpPr/>
          <p:nvPr/>
        </p:nvSpPr>
        <p:spPr>
          <a:xfrm>
            <a:off x="274320" y="2103120"/>
            <a:ext cx="85950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round/>
          </a:ln>
          <a:effectLst>
            <a:outerShdw blurRad="50760" dist="12218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6" name="Shape 18"/>
          <p:cNvSpPr/>
          <p:nvPr/>
        </p:nvSpPr>
        <p:spPr>
          <a:xfrm>
            <a:off x="274320" y="2103120"/>
            <a:ext cx="63720" cy="594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19"/>
          <p:cNvSpPr/>
          <p:nvPr/>
        </p:nvSpPr>
        <p:spPr>
          <a:xfrm>
            <a:off x="384120" y="2194560"/>
            <a:ext cx="319680" cy="3196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8" name="Text 20"/>
          <p:cNvSpPr/>
          <p:nvPr/>
        </p:nvSpPr>
        <p:spPr>
          <a:xfrm>
            <a:off x="384120" y="219456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9" name="Text 21"/>
          <p:cNvSpPr/>
          <p:nvPr/>
        </p:nvSpPr>
        <p:spPr>
          <a:xfrm>
            <a:off x="777240" y="214884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Sub-THz (240–300 GHz) SiGe — program B+R (2026–2028)</a:t>
            </a:r>
            <a:endParaRPr lang="pl-P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22"/>
          <p:cNvSpPr/>
          <p:nvPr/>
        </p:nvSpPr>
        <p:spPr>
          <a:xfrm>
            <a:off x="777240" y="240480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Partnerstwo z IMEC, IHP lub Fraunhofer HHI; chip SiGe 300 GHz z 8×8 antenna array; integracja z body pose estimation; walidacja kliniczna dla monitorowania oddechu przez ubranie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1" name="Shape 23"/>
          <p:cNvSpPr/>
          <p:nvPr/>
        </p:nvSpPr>
        <p:spPr>
          <a:xfrm>
            <a:off x="274320" y="2770560"/>
            <a:ext cx="85950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6C3483"/>
            </a:solidFill>
            <a:round/>
          </a:ln>
          <a:effectLst>
            <a:outerShdw blurRad="50760" dist="12218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2" name="Shape 24"/>
          <p:cNvSpPr/>
          <p:nvPr/>
        </p:nvSpPr>
        <p:spPr>
          <a:xfrm>
            <a:off x="274320" y="2770560"/>
            <a:ext cx="63720" cy="5940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3" name="Shape 25"/>
          <p:cNvSpPr/>
          <p:nvPr/>
        </p:nvSpPr>
        <p:spPr>
          <a:xfrm>
            <a:off x="384120" y="2862000"/>
            <a:ext cx="319680" cy="319680"/>
          </a:xfrm>
          <a:prstGeom prst="ellipse">
            <a:avLst/>
          </a:prstGeom>
          <a:solidFill>
            <a:srgbClr val="6C3483"/>
          </a:solidFill>
          <a:ln w="12700">
            <a:solidFill>
              <a:srgbClr val="6C3483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26"/>
          <p:cNvSpPr/>
          <p:nvPr/>
        </p:nvSpPr>
        <p:spPr>
          <a:xfrm>
            <a:off x="384120" y="286200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5" name="Text 27"/>
          <p:cNvSpPr/>
          <p:nvPr/>
        </p:nvSpPr>
        <p:spPr>
          <a:xfrm>
            <a:off x="777240" y="281628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Zunifikowany Sensor Abstraction Layer (2025–2026)</a:t>
            </a:r>
            <a:endParaRPr lang="pl-P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6" name="Text 28"/>
          <p:cNvSpPr/>
          <p:nvPr/>
        </p:nvSpPr>
        <p:spPr>
          <a:xfrm>
            <a:off x="777240" y="307224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Open-source middleware (ROS 2 pakiet) łączący kamery, LiDAR, radar, UWB z jednym API; standard timestampingu IEEE 1588 PTP; format wymiany danych kompatybilny z OPC UA Robotics Companion Spec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29"/>
          <p:cNvSpPr/>
          <p:nvPr/>
        </p:nvSpPr>
        <p:spPr>
          <a:xfrm>
            <a:off x="274320" y="3438000"/>
            <a:ext cx="85950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C4B6"/>
            </a:solidFill>
            <a:round/>
          </a:ln>
          <a:effectLst>
            <a:outerShdw blurRad="50760" dist="12218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30"/>
          <p:cNvSpPr/>
          <p:nvPr/>
        </p:nvSpPr>
        <p:spPr>
          <a:xfrm>
            <a:off x="274320" y="3438000"/>
            <a:ext cx="63720" cy="5940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9" name="Shape 31"/>
          <p:cNvSpPr/>
          <p:nvPr/>
        </p:nvSpPr>
        <p:spPr>
          <a:xfrm>
            <a:off x="384120" y="3529440"/>
            <a:ext cx="319680" cy="3196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32"/>
          <p:cNvSpPr/>
          <p:nvPr/>
        </p:nvSpPr>
        <p:spPr>
          <a:xfrm>
            <a:off x="384120" y="35294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33"/>
          <p:cNvSpPr/>
          <p:nvPr/>
        </p:nvSpPr>
        <p:spPr>
          <a:xfrm>
            <a:off x="777240" y="348372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Publiczny dataset HRI dla radaru i THz (2026–2027)</a:t>
            </a:r>
            <a:endParaRPr lang="pl-P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34"/>
          <p:cNvSpPr/>
          <p:nvPr/>
        </p:nvSpPr>
        <p:spPr>
          <a:xfrm>
            <a:off x="777240" y="374004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Zbieranie danych w środowiskach: magazyn, szpital, dom; modalności: kamera + LiDAR + mmWave radar + sub-THz; etykiety: skeleton, gesty, vital signs; licencja CC-BY 4.0; hosting na Hugging Face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3" name="Shape 35"/>
          <p:cNvSpPr/>
          <p:nvPr/>
        </p:nvSpPr>
        <p:spPr>
          <a:xfrm>
            <a:off x="274320" y="4105800"/>
            <a:ext cx="8595000" cy="594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E6BA8"/>
            </a:solidFill>
            <a:round/>
          </a:ln>
          <a:effectLst>
            <a:outerShdw blurRad="50760" dist="12218" dir="8100000" algn="bl" rotWithShape="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Shape 36"/>
          <p:cNvSpPr/>
          <p:nvPr/>
        </p:nvSpPr>
        <p:spPr>
          <a:xfrm>
            <a:off x="274320" y="4105800"/>
            <a:ext cx="63720" cy="594000"/>
          </a:xfrm>
          <a:prstGeom prst="rect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5" name="Shape 37"/>
          <p:cNvSpPr/>
          <p:nvPr/>
        </p:nvSpPr>
        <p:spPr>
          <a:xfrm>
            <a:off x="384120" y="4197240"/>
            <a:ext cx="319680" cy="319680"/>
          </a:xfrm>
          <a:prstGeom prst="ellipse">
            <a:avLst/>
          </a:prstGeom>
          <a:solidFill>
            <a:srgbClr val="0E6BA8"/>
          </a:solidFill>
          <a:ln w="12700">
            <a:solidFill>
              <a:srgbClr val="0E6BA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6" name="Text 38"/>
          <p:cNvSpPr/>
          <p:nvPr/>
        </p:nvSpPr>
        <p:spPr>
          <a:xfrm>
            <a:off x="384120" y="4197240"/>
            <a:ext cx="3196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l-PL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Text 39"/>
          <p:cNvSpPr/>
          <p:nvPr/>
        </p:nvSpPr>
        <p:spPr>
          <a:xfrm>
            <a:off x="777240" y="415152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1A202C"/>
                </a:solidFill>
                <a:effectLst/>
                <a:uFillTx/>
                <a:latin typeface="Calibri"/>
                <a:ea typeface="Calibri"/>
              </a:rPr>
              <a:t>Normalizacja i regulacje — inicjatywa polska (2025)</a:t>
            </a:r>
            <a:endParaRPr lang="pl-PL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8" name="Text 40"/>
          <p:cNvSpPr/>
          <p:nvPr/>
        </p:nvSpPr>
        <p:spPr>
          <a:xfrm>
            <a:off x="777240" y="4407480"/>
            <a:ext cx="80006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718096"/>
                </a:solidFill>
                <a:effectLst/>
                <a:uFillTx/>
                <a:latin typeface="Calibri"/>
                <a:ea typeface="Calibri"/>
              </a:rPr>
              <a:t>Wniosek do PKN o powołanie KT ds. sensoryki robotycznej; propozycja pre-standardu do ISO/TC 299 WG8; współpraca z ETSI ERM dla norm emisji sub-THz i UWB w środowiskach przemysłowych</a:t>
            </a:r>
            <a:endParaRPr lang="pl-PL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Shape 0"/>
          <p:cNvSpPr/>
          <p:nvPr/>
        </p:nvSpPr>
        <p:spPr>
          <a:xfrm>
            <a:off x="0" y="0"/>
            <a:ext cx="9143640" cy="910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1"/>
          <p:cNvSpPr/>
          <p:nvPr/>
        </p:nvSpPr>
        <p:spPr>
          <a:xfrm>
            <a:off x="502920" y="1371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Podsumowanie i Literatura</a:t>
            </a:r>
            <a:endParaRPr lang="pl-PL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1" name="Shape 2"/>
          <p:cNvSpPr/>
          <p:nvPr/>
        </p:nvSpPr>
        <p:spPr>
          <a:xfrm>
            <a:off x="274320" y="713160"/>
            <a:ext cx="4205880" cy="2559960"/>
          </a:xfrm>
          <a:prstGeom prst="rect">
            <a:avLst/>
          </a:prstGeom>
          <a:solidFill>
            <a:srgbClr val="1C2B3A"/>
          </a:solidFill>
          <a:ln w="10160">
            <a:solidFill>
              <a:srgbClr val="00B4D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3"/>
          <p:cNvSpPr/>
          <p:nvPr/>
        </p:nvSpPr>
        <p:spPr>
          <a:xfrm>
            <a:off x="365760" y="74988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Kluczowe wnioski</a:t>
            </a:r>
            <a:endParaRPr lang="pl-PL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 4"/>
          <p:cNvSpPr/>
          <p:nvPr/>
        </p:nvSpPr>
        <p:spPr>
          <a:xfrm>
            <a:off x="365760" y="1097280"/>
            <a:ext cx="402300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D0E8FF"/>
              </a:buClr>
              <a:buFont typeface="Symbol" charset="2"/>
              <a:buChar char=""/>
            </a:pP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Żadna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platforma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humanoidalna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nie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posiada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jeszcze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radaru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ani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THz</a:t>
            </a:r>
            <a:endParaRPr lang="pl-PL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D0E8FF"/>
              </a:buClr>
              <a:buFont typeface="Symbol" charset="2"/>
              <a:buChar char=""/>
            </a:pP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Radar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mmWave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(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Aptiv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SRR8+) jest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gotowy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do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integracji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— TRL 6→7</a:t>
            </a:r>
            <a:endParaRPr lang="pl-PL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D0E8FF"/>
              </a:buClr>
              <a:buFont typeface="Symbol" charset="2"/>
              <a:buChar char=""/>
            </a:pP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PULSE UWB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rozwiązuje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problem close-range &lt;0.5 m</a:t>
            </a:r>
            <a:endParaRPr lang="pl-PL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D0E8FF"/>
              </a:buClr>
              <a:buFont typeface="Symbol" charset="2"/>
              <a:buChar char=""/>
            </a:pP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Sub-THz 300 GHz: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miniaturyzacja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SiGe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osiągalna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do 2027–2028</a:t>
            </a:r>
            <a:endParaRPr lang="pl-PL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D0E8FF"/>
              </a:buClr>
              <a:buFont typeface="Symbol" charset="2"/>
              <a:buChar char=""/>
            </a:pP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Fuzja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kamera+radar+LiDAR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=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bezpieczniejszy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HRI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niż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kamera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alone</a:t>
            </a:r>
            <a:endParaRPr lang="pl-PL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80000" indent="-180000" defTabSz="914400">
              <a:lnSpc>
                <a:spcPct val="100000"/>
              </a:lnSpc>
              <a:spcAft>
                <a:spcPts val="400"/>
              </a:spcAft>
              <a:buClr>
                <a:srgbClr val="D0E8FF"/>
              </a:buClr>
              <a:buFont typeface="Symbol" charset="2"/>
              <a:buChar char=""/>
            </a:pP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Normalizacja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datasety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to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największe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pozatechniczne</a:t>
            </a:r>
            <a:r>
              <a:rPr lang="en-US" sz="1100" b="0" u="none" strike="noStrike" dirty="0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1100" b="0" u="none" strike="noStrike" dirty="0" err="1">
                <a:solidFill>
                  <a:srgbClr val="D0E8FF"/>
                </a:solidFill>
                <a:effectLst/>
                <a:uFillTx/>
                <a:latin typeface="Calibri"/>
                <a:ea typeface="Calibri"/>
              </a:rPr>
              <a:t>luki</a:t>
            </a:r>
            <a:endParaRPr lang="pl-PL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4" name="Shape 5"/>
          <p:cNvSpPr/>
          <p:nvPr/>
        </p:nvSpPr>
        <p:spPr>
          <a:xfrm>
            <a:off x="4663440" y="713160"/>
            <a:ext cx="4205880" cy="4041360"/>
          </a:xfrm>
          <a:prstGeom prst="rect">
            <a:avLst/>
          </a:prstGeom>
          <a:solidFill>
            <a:srgbClr val="1C2B3A"/>
          </a:solidFill>
          <a:ln w="10160">
            <a:solidFill>
              <a:srgbClr val="0096C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5" name="Text 6"/>
          <p:cNvSpPr/>
          <p:nvPr/>
        </p:nvSpPr>
        <p:spPr>
          <a:xfrm>
            <a:off x="4754880" y="749880"/>
            <a:ext cx="40230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96C7"/>
                </a:solidFill>
                <a:effectLst/>
                <a:uFillTx/>
                <a:latin typeface="Calibri"/>
                <a:ea typeface="Calibri"/>
              </a:rPr>
              <a:t>Literatura</a:t>
            </a:r>
            <a:endParaRPr lang="pl-PL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6" name="Text 7"/>
          <p:cNvSpPr/>
          <p:nvPr/>
        </p:nvSpPr>
        <p:spPr>
          <a:xfrm>
            <a:off x="4754880" y="1097280"/>
            <a:ext cx="4023000" cy="356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[1] Aptiv (2024). SRR8+ Product Datasheet v3.2. Aptiv PLC Technical Library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[2] Acconeer (2024). XM125 Pulsed Coherent Radar — Module Datasheet Rev.1.4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[3] Ahmad S. et al. (2021). RadHAR: Human Activity Recognition from Point Clouds Generated through a Radar. IEEE Trans. MTT 69(3), 1727–1739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[4] Hernandez-Cardoso G. et al. (2017). Terahertz imaging for early screening of diabetic foot syndrome. Sci. Advances 3(e1701423)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[5] ETSI EN 303 686 V1.1.1 (2023). Short Range Devices; UWB; Harmonised Standard for SRDs using UWB in band 116–246 GHz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[6] Sun S. et al. (2020). Millimeter Wave Radar-Based Human Body Tracking. IEEE Sensors J. 20(20), 12116–12126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[7] Yole Développement (2024). THz Technology Market Report 2024. Market &amp; Technology Report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[8] Cheng Y. et al. (2023). 300 GHz SiGe BiCMOS Radar Transceiver Chip. IEEE JSSC 58(4), 944–957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[9] ISO/TS 15066:2016. Robots and robotic devices — Collaborative robots. ISO Geneva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99"/>
              </a:spcAft>
              <a:tabLst>
                <a:tab pos="0" algn="l"/>
              </a:tabLst>
            </a:pPr>
            <a:r>
              <a:rPr lang="en-US" sz="900" b="0" u="none" strike="noStrike">
                <a:solidFill>
                  <a:srgbClr val="8BAFC8"/>
                </a:solidFill>
                <a:effectLst/>
                <a:uFillTx/>
                <a:latin typeface="Calibri"/>
                <a:ea typeface="Calibri"/>
              </a:rPr>
              <a:t>[10] FCC Report and Order (2019). Spectrum Horizons — Unlicensed operations above 95 GHz. FCC-19-19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8"/>
          <p:cNvSpPr/>
          <p:nvPr/>
        </p:nvSpPr>
        <p:spPr>
          <a:xfrm>
            <a:off x="0" y="4892040"/>
            <a:ext cx="9143640" cy="251280"/>
          </a:xfrm>
          <a:prstGeom prst="rect">
            <a:avLst/>
          </a:prstGeom>
          <a:solidFill>
            <a:srgbClr val="080E14"/>
          </a:solidFill>
          <a:ln w="12700">
            <a:solidFill>
              <a:srgbClr val="080E1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pl-PL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Text 9"/>
          <p:cNvSpPr/>
          <p:nvPr/>
        </p:nvSpPr>
        <p:spPr>
          <a:xfrm>
            <a:off x="274320" y="4901040"/>
            <a:ext cx="6857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Urządzenia brzegowe (Edge) — Roboty humanoidalne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10"/>
          <p:cNvSpPr/>
          <p:nvPr/>
        </p:nvSpPr>
        <p:spPr>
          <a:xfrm>
            <a:off x="8046720" y="4901040"/>
            <a:ext cx="822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A6070"/>
                </a:solidFill>
                <a:effectLst/>
                <a:uFillTx/>
                <a:latin typeface="Calibri"/>
                <a:ea typeface="Calibri"/>
              </a:rPr>
              <a:t>30 / 30</a:t>
            </a:r>
            <a:endParaRPr lang="pl-PL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 xmlns:p15="http://schemas.microsoft.com/office/powerpoint/2012/main"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5788</Words>
  <Application>Microsoft Office PowerPoint</Application>
  <PresentationFormat>Pokaz na ekranie (16:9)</PresentationFormat>
  <Paragraphs>710</Paragraphs>
  <Slides>30</Slides>
  <Notes>30</Notes>
  <HiddenSlides>0</HiddenSlides>
  <MMClips>0</MMClips>
  <ScaleCrop>false</ScaleCrop>
  <HeadingPairs>
    <vt:vector size="6" baseType="variant">
      <vt:variant>
        <vt:lpstr>Używane czcionki</vt:lpstr>
      </vt:variant>
      <vt:variant>
        <vt:i4>8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30</vt:i4>
      </vt:variant>
    </vt:vector>
  </HeadingPairs>
  <TitlesOfParts>
    <vt:vector size="39" baseType="lpstr">
      <vt:lpstr>Arial</vt:lpstr>
      <vt:lpstr>Calibri</vt:lpstr>
      <vt:lpstr>Calibri Light</vt:lpstr>
      <vt:lpstr>DejaVu Sans</vt:lpstr>
      <vt:lpstr>Noto Sans CJK SC</vt:lpstr>
      <vt:lpstr>Symbol</vt:lpstr>
      <vt:lpstr>Times New Roman</vt:lpstr>
      <vt:lpstr>Wingdings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Urządzenia brzegowe (Edge) dla robotów humanoidalnych</dc:title>
  <dc:subject>PptxGenJS Presentation</dc:subject>
  <dc:creator>Analiza techniczna — Rada Gospodarcza</dc:creator>
  <dc:description/>
  <cp:lastModifiedBy>Mateusz Pomianek</cp:lastModifiedBy>
  <cp:revision>16</cp:revision>
  <dcterms:created xsi:type="dcterms:W3CDTF">2026-02-20T08:39:42Z</dcterms:created>
  <dcterms:modified xsi:type="dcterms:W3CDTF">2026-03-03T14:41:35Z</dcterms:modified>
  <dc:language>pl-PL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30</vt:i4>
  </property>
  <property fmtid="{D5CDD505-2E9C-101B-9397-08002B2CF9AE}" pid="3" name="PresentationFormat">
    <vt:lpwstr>On-screen Show (16:9)</vt:lpwstr>
  </property>
  <property fmtid="{D5CDD505-2E9C-101B-9397-08002B2CF9AE}" pid="4" name="Slides">
    <vt:i4>30</vt:i4>
  </property>
</Properties>
</file>