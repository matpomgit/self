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rts/chart1.xml" ContentType="application/vnd.openxmlformats-officedocument.drawingml.chart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4" r:id="rId39"/>
  </p:sldIdLst>
  <p:sldSz cx="9144000" cy="5143500" type="screen16x9"/>
  <p:notesSz cx="5143500" cy="91440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a" initials="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78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91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Arkusz_programu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D6D7E"/>
                </a:solidFill>
                <a:latin typeface="Arial"/>
              </a:defRPr>
            </a:pPr>
            <a:r>
              <a:rPr lang="pl-PL" sz="1100" b="0" i="0" u="none" strike="noStrike">
                <a:solidFill>
                  <a:srgbClr val="5D6D7E"/>
                </a:solidFill>
                <a:latin typeface="Arial"/>
              </a:rPr>
              <a:t>Prognoza rynku 2022–2035 (mld USD) | Źródło: Goldman Sachs, MarketsandMarkets, 2024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Wartość rynku (mld USD)</c:v>
                </c:pt>
              </c:strCache>
            </c:strRef>
          </c:tx>
          <c:spPr>
            <a:solidFill>
              <a:srgbClr val="1A4F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02C"/>
                    </a:solidFill>
                    <a:latin typeface="Arial"/>
                  </a:defRPr>
                </a:pPr>
                <a:endParaRPr lang="pl-P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2026P</c:v>
                </c:pt>
                <c:pt idx="4">
                  <c:v>2028P</c:v>
                </c:pt>
                <c:pt idx="5">
                  <c:v>2030P</c:v>
                </c:pt>
                <c:pt idx="6">
                  <c:v>2035P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</c:v>
                </c:pt>
                <c:pt idx="1">
                  <c:v>1.5</c:v>
                </c:pt>
                <c:pt idx="2">
                  <c:v>2.4</c:v>
                </c:pt>
                <c:pt idx="3">
                  <c:v>5.5</c:v>
                </c:pt>
                <c:pt idx="4">
                  <c:v>12</c:v>
                </c:pt>
                <c:pt idx="5">
                  <c:v>22</c:v>
                </c:pt>
                <c:pt idx="6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F3-4E2E-8CA0-52EA2AECD9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pl-PL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E0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pl-PL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2-20T10:40:38.280" idx="1">
    <p:pos x="6000" y="0"/>
    <p:text>2025 Unitree G1, 2026 to przyszłość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11/1/2026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"/>
          <p:cNvSpPr/>
          <p:nvPr/>
        </p:nvSpPr>
        <p:spPr>
          <a:xfrm>
            <a:off x="0" y="0"/>
            <a:ext cx="9144000" cy="109800"/>
          </a:xfrm>
          <a:prstGeom prst="rect">
            <a:avLst/>
          </a:prstGeom>
          <a:solidFill>
            <a:srgbClr val="1ABC9C"/>
          </a:solidFill>
          <a:ln w="12700" cap="flat" cmpd="sng">
            <a:solidFill>
              <a:srgbClr val="1ABC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1"/>
          <p:cNvCxnSpPr/>
          <p:nvPr/>
        </p:nvCxnSpPr>
        <p:spPr>
          <a:xfrm>
            <a:off x="0" y="109728"/>
            <a:ext cx="0" cy="50292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12160"/>
              </a:srgbClr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15" name="Google Shape;215;p1"/>
          <p:cNvCxnSpPr/>
          <p:nvPr/>
        </p:nvCxnSpPr>
        <p:spPr>
          <a:xfrm>
            <a:off x="1188720" y="109728"/>
            <a:ext cx="0" cy="50292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12160"/>
              </a:srgbClr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16" name="Google Shape;216;p1"/>
          <p:cNvCxnSpPr/>
          <p:nvPr/>
        </p:nvCxnSpPr>
        <p:spPr>
          <a:xfrm>
            <a:off x="2377440" y="109728"/>
            <a:ext cx="0" cy="50292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12160"/>
              </a:srgbClr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17" name="Google Shape;217;p1"/>
          <p:cNvCxnSpPr/>
          <p:nvPr/>
        </p:nvCxnSpPr>
        <p:spPr>
          <a:xfrm>
            <a:off x="3566160" y="109728"/>
            <a:ext cx="0" cy="50292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12160"/>
              </a:srgbClr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18" name="Google Shape;218;p1"/>
          <p:cNvCxnSpPr/>
          <p:nvPr/>
        </p:nvCxnSpPr>
        <p:spPr>
          <a:xfrm>
            <a:off x="4754880" y="109728"/>
            <a:ext cx="0" cy="50292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12160"/>
              </a:srgbClr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19" name="Google Shape;219;p1"/>
          <p:cNvCxnSpPr/>
          <p:nvPr/>
        </p:nvCxnSpPr>
        <p:spPr>
          <a:xfrm>
            <a:off x="5943600" y="109728"/>
            <a:ext cx="0" cy="50292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12160"/>
              </a:srgbClr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20" name="Google Shape;220;p1"/>
          <p:cNvCxnSpPr/>
          <p:nvPr/>
        </p:nvCxnSpPr>
        <p:spPr>
          <a:xfrm>
            <a:off x="7132320" y="109728"/>
            <a:ext cx="0" cy="50292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12160"/>
              </a:srgbClr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21" name="Google Shape;221;p1"/>
          <p:cNvCxnSpPr/>
          <p:nvPr/>
        </p:nvCxnSpPr>
        <p:spPr>
          <a:xfrm>
            <a:off x="8321040" y="109728"/>
            <a:ext cx="0" cy="5029200"/>
          </a:xfrm>
          <a:prstGeom prst="straightConnector1">
            <a:avLst/>
          </a:prstGeom>
          <a:noFill/>
          <a:ln w="9525" cap="flat" cmpd="sng">
            <a:solidFill>
              <a:srgbClr val="FFFFFF">
                <a:alpha val="12160"/>
              </a:srgbClr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22" name="Google Shape;222;p1"/>
          <p:cNvSpPr/>
          <p:nvPr/>
        </p:nvSpPr>
        <p:spPr>
          <a:xfrm>
            <a:off x="548640" y="640080"/>
            <a:ext cx="80466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Trendy i wyzwania naukowe</a:t>
            </a:r>
            <a:endParaRPr sz="36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1"/>
          <p:cNvSpPr/>
          <p:nvPr/>
        </p:nvSpPr>
        <p:spPr>
          <a:xfrm>
            <a:off x="548640" y="1554480"/>
            <a:ext cx="8046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FFF"/>
              </a:buClr>
              <a:buSzPts val="3000"/>
              <a:buFont typeface="Calibri"/>
              <a:buNone/>
            </a:pPr>
            <a:r>
              <a:rPr lang="en-US" sz="3000" i="0" u="none" strike="noStrike" cap="none">
                <a:solidFill>
                  <a:srgbClr val="7FBFFF"/>
                </a:solidFill>
                <a:latin typeface="Roboto"/>
                <a:ea typeface="Roboto"/>
                <a:cs typeface="Roboto"/>
                <a:sym typeface="Roboto"/>
              </a:rPr>
              <a:t>związane z robotami humanoidalnymi</a:t>
            </a:r>
            <a:endParaRPr sz="30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1"/>
          <p:cNvSpPr/>
          <p:nvPr/>
        </p:nvSpPr>
        <p:spPr>
          <a:xfrm>
            <a:off x="548640" y="2606040"/>
            <a:ext cx="3200400" cy="45600"/>
          </a:xfrm>
          <a:prstGeom prst="rect">
            <a:avLst/>
          </a:prstGeom>
          <a:solidFill>
            <a:srgbClr val="1ABC9C"/>
          </a:solidFill>
          <a:ln w="12700" cap="flat" cmpd="sng">
            <a:solidFill>
              <a:srgbClr val="1ABC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"/>
          <p:cNvSpPr/>
          <p:nvPr/>
        </p:nvSpPr>
        <p:spPr>
          <a:xfrm>
            <a:off x="548640" y="3749040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A8FAA"/>
              </a:buClr>
              <a:buSzPts val="1200"/>
              <a:buFont typeface="Calibri"/>
              <a:buNone/>
            </a:pPr>
            <a:r>
              <a:rPr lang="en-US" sz="1200" b="0" i="1" u="none" strike="noStrike" cap="none" dirty="0" err="1" smtClean="0">
                <a:solidFill>
                  <a:srgbClr val="6A8FAA"/>
                </a:solidFill>
                <a:latin typeface="Calibri"/>
                <a:ea typeface="Calibri"/>
                <a:cs typeface="Calibri"/>
                <a:sym typeface="Calibri"/>
              </a:rPr>
              <a:t>dr</a:t>
            </a:r>
            <a:r>
              <a:rPr lang="en-US" sz="1200" b="0" i="1" u="none" strike="noStrike" cap="none" dirty="0" smtClean="0">
                <a:solidFill>
                  <a:srgbClr val="6A8FA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1" u="none" strike="noStrike" cap="none" dirty="0" err="1">
                <a:solidFill>
                  <a:srgbClr val="6A8FAA"/>
                </a:solidFill>
                <a:latin typeface="Calibri"/>
                <a:ea typeface="Calibri"/>
                <a:cs typeface="Calibri"/>
                <a:sym typeface="Calibri"/>
              </a:rPr>
              <a:t>inż</a:t>
            </a:r>
            <a:r>
              <a:rPr lang="en-US" sz="1200" b="0" i="1" u="none" strike="noStrike" cap="none" dirty="0">
                <a:solidFill>
                  <a:srgbClr val="6A8FAA"/>
                </a:solidFill>
                <a:latin typeface="Calibri"/>
                <a:ea typeface="Calibri"/>
                <a:cs typeface="Calibri"/>
                <a:sym typeface="Calibri"/>
              </a:rPr>
              <a:t>. Mateusz Pomianek </a:t>
            </a:r>
            <a:endParaRPr sz="1200" b="0" i="1" u="none" strike="noStrike" cap="none" dirty="0">
              <a:solidFill>
                <a:srgbClr val="6A8F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060D14"/>
          </a:solidFill>
          <a:ln w="12700" cap="flat" cmpd="sng">
            <a:solidFill>
              <a:srgbClr val="060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"/>
          <p:cNvSpPr/>
          <p:nvPr/>
        </p:nvSpPr>
        <p:spPr>
          <a:xfrm>
            <a:off x="8046720" y="4901184"/>
            <a:ext cx="822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709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A7090"/>
                </a:solidFill>
                <a:latin typeface="Calibri"/>
                <a:ea typeface="Calibri"/>
                <a:cs typeface="Calibri"/>
                <a:sym typeface="Calibri"/>
              </a:rPr>
              <a:t>1 / 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prezentacji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Trendy i </a:t>
            </a:r>
            <a:r>
              <a:rPr lang="en-US" sz="9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wyzwania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naukowe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Roboty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humanoidalne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11480" cy="4114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400" b="1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Wprowadzenie i kontekst</a:t>
            </a:r>
            <a:endParaRPr lang="pl-PL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120754"/>
            <a:ext cx="3770046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Definicje, historia, aktualny stan rynku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581912"/>
            <a:ext cx="411480" cy="4114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81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5361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Architektura </a:t>
            </a:r>
            <a:r>
              <a:rPr lang="en-US" sz="1400" b="1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inżynieria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1788266"/>
            <a:ext cx="3770046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Mechanika, AI, percepcja, lokomocja, manipulacja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249424"/>
            <a:ext cx="411480" cy="4114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249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220370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</a:t>
            </a:r>
            <a:r>
              <a:rPr lang="en-US" sz="1400" b="1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Wyzwania</a:t>
            </a: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badawcze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2455778"/>
            <a:ext cx="3770046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Interakcja HRI, bezpieczeństwo, energia, materiały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16936"/>
            <a:ext cx="411480" cy="4114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916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287121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</a:t>
            </a:r>
            <a:r>
              <a:rPr lang="en-US" sz="1400" b="1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Zastosowania</a:t>
            </a: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przemysłowe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3123290"/>
            <a:ext cx="3770046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Przemysł, medycyna, przestrzeń kosmiczna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584448"/>
            <a:ext cx="411480" cy="4114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584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35387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Wymiar ekonomiczny </a:t>
            </a:r>
            <a:r>
              <a:rPr lang="en-US" sz="1400" b="1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regulacyjny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3790802"/>
            <a:ext cx="3770046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Rynek globalny, inwestycje, regulacje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251960"/>
            <a:ext cx="411480" cy="4114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7240" y="4206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VI. Perspektywy </a:t>
            </a:r>
            <a:r>
              <a:rPr lang="en-US" sz="1400" b="1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rekomendacje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" y="4458314"/>
            <a:ext cx="3770046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Prognozy, rekomendacje, podsumowanie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86C1"/>
          </a:solidFill>
          <a:ln w="12700" cap="flat" cmpd="sng">
            <a:solidFill>
              <a:srgbClr val="2E86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"/>
          <p:cNvSpPr/>
          <p:nvPr/>
        </p:nvSpPr>
        <p:spPr>
          <a:xfrm>
            <a:off x="320040" y="45720"/>
            <a:ext cx="8503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Definicja i klasyfikacja robotów humanoidalnych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Trendy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wyzwania</a:t>
            </a: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naukowe</a:t>
            </a:r>
            <a:r>
              <a:rPr lang="en-US" sz="900" b="0" i="0" u="none" strike="noStrike" cap="none" dirty="0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900" b="0" i="0" u="none" strike="noStrike" cap="none" dirty="0" err="1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Roboty</a:t>
            </a:r>
            <a:r>
              <a:rPr lang="en-US" sz="900" b="0" i="0" u="none" strike="noStrike" cap="none" dirty="0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humanoidalne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"/>
          <p:cNvSpPr/>
          <p:nvPr/>
        </p:nvSpPr>
        <p:spPr>
          <a:xfrm>
            <a:off x="8046720" y="4901184"/>
            <a:ext cx="822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3 / 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"/>
          <p:cNvSpPr/>
          <p:nvPr/>
        </p:nvSpPr>
        <p:spPr>
          <a:xfrm>
            <a:off x="274320" y="777240"/>
            <a:ext cx="8595300" cy="914400"/>
          </a:xfrm>
          <a:prstGeom prst="rect">
            <a:avLst/>
          </a:prstGeom>
          <a:solidFill>
            <a:srgbClr val="DDE8F5"/>
          </a:solidFill>
          <a:ln w="12700" cap="flat" cmpd="sng">
            <a:solidFill>
              <a:srgbClr val="2E86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"/>
          <p:cNvSpPr/>
          <p:nvPr/>
        </p:nvSpPr>
        <p:spPr>
          <a:xfrm>
            <a:off x="324988" y="822960"/>
            <a:ext cx="8498852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300"/>
              <a:buFont typeface="Calibri"/>
              <a:buNone/>
            </a:pPr>
            <a:r>
              <a:rPr lang="en-US" sz="1500" b="1" i="0" u="none" strike="noStrike" cap="none" spc="-20" dirty="0" err="1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Definicja</a:t>
            </a:r>
            <a:r>
              <a:rPr lang="en-US" sz="1500" b="1" i="0" u="none" strike="noStrike" cap="none" spc="-20" dirty="0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500" b="0" i="0" u="none" strike="noStrike" cap="none" spc="-2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Robot </a:t>
            </a:r>
            <a:r>
              <a:rPr lang="en-US" sz="1500" b="0" i="0" u="none" strike="noStrike" cap="none" spc="-20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humanoidalny</a:t>
            </a:r>
            <a:r>
              <a:rPr lang="en-US" sz="1500" b="0" i="0" u="none" strike="noStrike" cap="none" spc="-2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lang="en-US" sz="1500" b="0" i="0" u="none" strike="noStrike" cap="none" spc="-20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autonomiczny</a:t>
            </a:r>
            <a:r>
              <a:rPr lang="en-US" sz="1500" b="0" i="0" u="none" strike="noStrike" cap="none" spc="-2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spc="-20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lub</a:t>
            </a:r>
            <a:r>
              <a:rPr lang="en-US" sz="1500" b="0" i="0" u="none" strike="noStrike" cap="none" spc="-2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spc="-20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semiautonomiczny</a:t>
            </a:r>
            <a:r>
              <a:rPr lang="en-US" sz="1500" b="0" i="0" u="none" strike="noStrike" cap="none" spc="-2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system </a:t>
            </a:r>
            <a:r>
              <a:rPr lang="en-US" sz="1500" b="0" i="0" u="none" strike="noStrike" cap="none" spc="-20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mechaniczny</a:t>
            </a:r>
            <a:r>
              <a:rPr lang="en-US" sz="1500" b="0" i="0" u="none" strike="noStrike" cap="none" spc="-2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spc="-20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zaprojektowany</a:t>
            </a:r>
            <a:r>
              <a:rPr lang="en-US" sz="1500" b="0" i="0" u="none" strike="noStrike" cap="none" spc="-2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spc="-20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tak</a:t>
            </a:r>
            <a:r>
              <a:rPr lang="en-US" sz="1500" b="0" i="0" u="none" strike="noStrike" cap="none" spc="-2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, aby </a:t>
            </a:r>
            <a:r>
              <a:rPr lang="en-US" sz="1500" b="0" i="0" u="none" strike="noStrike" cap="none" spc="-20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morfologicznie</a:t>
            </a:r>
            <a:r>
              <a:rPr lang="en-US" sz="1500" b="0" i="0" u="none" strike="noStrike" cap="none" spc="-2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spc="-20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500" b="0" i="0" u="none" strike="noStrike" cap="none" spc="-2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spc="-20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funkcjonalnie</a:t>
            </a:r>
            <a:r>
              <a:rPr lang="en-US" sz="1500" b="0" i="0" u="none" strike="noStrike" cap="none" spc="-2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spc="-20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naśladować</a:t>
            </a:r>
            <a:r>
              <a:rPr lang="en-US" sz="1500" b="0" i="0" u="none" strike="noStrike" cap="none" spc="-2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spc="-20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strukturę</a:t>
            </a:r>
            <a:r>
              <a:rPr lang="en-US" sz="1500" b="0" i="0" u="none" strike="noStrike" cap="none" spc="-2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spc="-20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500" b="0" i="0" u="none" strike="noStrike" cap="none" spc="-2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spc="-20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zachowanie</a:t>
            </a:r>
            <a:r>
              <a:rPr lang="en-US" sz="1500" b="0" i="0" u="none" strike="noStrike" cap="none" spc="-2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spc="-20" dirty="0" err="1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człowieka</a:t>
            </a:r>
            <a:r>
              <a:rPr lang="en-US" sz="1500" b="0" i="0" u="none" strike="noStrike" cap="none" spc="-20" dirty="0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500" b="0" i="0" u="none" strike="noStrike" cap="none" spc="-20" dirty="0" err="1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posiadający</a:t>
            </a:r>
            <a:r>
              <a:rPr lang="en-US" sz="1500" b="0" i="0" u="none" strike="noStrike" cap="none" spc="-20" dirty="0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spc="-20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dwunożny</a:t>
            </a:r>
            <a:r>
              <a:rPr lang="en-US" sz="1500" b="0" i="0" u="none" strike="noStrike" cap="none" spc="-2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spc="-20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układ</a:t>
            </a:r>
            <a:r>
              <a:rPr lang="en-US" sz="1500" b="0" i="0" u="none" strike="noStrike" cap="none" spc="-2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spc="-20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lokomocyjny</a:t>
            </a:r>
            <a:r>
              <a:rPr lang="en-US" sz="1500" b="0" i="0" u="none" strike="noStrike" cap="none" spc="-2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500" b="0" i="0" u="none" strike="noStrike" cap="none" spc="-20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manipulatory</a:t>
            </a:r>
            <a:r>
              <a:rPr lang="en-US" sz="1500" b="0" i="0" u="none" strike="noStrike" cap="none" spc="-2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spc="-20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kończyn</a:t>
            </a:r>
            <a:r>
              <a:rPr lang="en-US" sz="1500" b="0" i="0" u="none" strike="noStrike" cap="none" spc="-2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spc="-20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górnych</a:t>
            </a:r>
            <a:r>
              <a:rPr lang="en-US" sz="1500" b="0" i="0" u="none" strike="noStrike" cap="none" spc="-2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spc="-20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oraz</a:t>
            </a:r>
            <a:r>
              <a:rPr lang="en-US" sz="1500" b="0" i="0" u="none" strike="noStrike" cap="none" spc="-2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spc="-20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systemy</a:t>
            </a:r>
            <a:r>
              <a:rPr lang="en-US" sz="1500" b="0" i="0" u="none" strike="noStrike" cap="none" spc="-2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spc="-20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percepcji</a:t>
            </a:r>
            <a:r>
              <a:rPr lang="en-US" sz="1500" b="0" i="0" u="none" strike="noStrike" cap="none" spc="-2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spc="-20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analogiczne</a:t>
            </a:r>
            <a:r>
              <a:rPr lang="en-US" sz="1500" b="0" i="0" u="none" strike="noStrike" cap="none" spc="-2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n-US" sz="1500" b="0" i="0" u="none" strike="noStrike" cap="none" spc="-20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zmysłów</a:t>
            </a:r>
            <a:r>
              <a:rPr lang="en-US" sz="1500" b="0" i="0" u="none" strike="noStrike" cap="none" spc="-2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 b="0" i="0" u="none" strike="noStrike" cap="none" spc="-20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ludzkich</a:t>
            </a:r>
            <a:r>
              <a:rPr lang="en-US" sz="1500" b="0" i="0" u="none" strike="noStrike" cap="none" spc="-2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500" b="0" i="0" u="none" strike="noStrike" cap="none" spc="-2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"/>
          <p:cNvSpPr/>
          <p:nvPr/>
        </p:nvSpPr>
        <p:spPr>
          <a:xfrm>
            <a:off x="274320" y="1783080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Typy robotów humanoidalnych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"/>
          <p:cNvSpPr/>
          <p:nvPr/>
        </p:nvSpPr>
        <p:spPr>
          <a:xfrm>
            <a:off x="4754880" y="1783080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Kryteria klasyfikacji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p2"/>
          <p:cNvCxnSpPr/>
          <p:nvPr/>
        </p:nvCxnSpPr>
        <p:spPr>
          <a:xfrm>
            <a:off x="4526280" y="2148840"/>
            <a:ext cx="0" cy="3474600"/>
          </a:xfrm>
          <a:prstGeom prst="straightConnector1">
            <a:avLst/>
          </a:prstGeom>
          <a:noFill/>
          <a:ln w="12700" cap="flat" cmpd="sng">
            <a:solidFill>
              <a:srgbClr val="D5E0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0" name="Google Shape;240;p2"/>
          <p:cNvSpPr/>
          <p:nvPr/>
        </p:nvSpPr>
        <p:spPr>
          <a:xfrm>
            <a:off x="274325" y="2148847"/>
            <a:ext cx="4160400" cy="26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Roboty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w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pełni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humanoidalne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(np. Honda ASIMO, Boston Dynamics Atlas)</a:t>
            </a:r>
            <a:endParaRPr sz="140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92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i="0" u="none" strike="noStrike" cap="none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Androidy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maksymalna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mimikra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wyglądu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człowieka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(Sophia,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Ameca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140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92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Roboty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humanopodobne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częściowe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podobieństwo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morfologiczne</a:t>
            </a:r>
            <a:endParaRPr sz="140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92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Koboty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humanoidalne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współpraca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z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człowiekiem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w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linii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produkcyjnej</a:t>
            </a:r>
            <a:endParaRPr sz="140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2"/>
          <p:cNvSpPr/>
          <p:nvPr/>
        </p:nvSpPr>
        <p:spPr>
          <a:xfrm>
            <a:off x="4709150" y="2148847"/>
            <a:ext cx="4160400" cy="26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Lokomocja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dwunożna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kołowo-nożna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hybrydowa</a:t>
            </a:r>
            <a:endParaRPr sz="140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92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Autonomia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teleoperated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semiautonomiczne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/ w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pełni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autonomiczne</a:t>
            </a:r>
            <a:endParaRPr sz="140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92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Środowisko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przemysłowe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medyczne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domowe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badawcze</a:t>
            </a:r>
            <a:endParaRPr sz="140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92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Źródło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zasilania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elektryczne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bateryjne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przewodowe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),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hydrauliczne</a:t>
            </a:r>
            <a:endParaRPr sz="140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Rys historyczny i kamienie milowe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Trendy i </a:t>
            </a:r>
            <a:r>
              <a:rPr lang="en-US" sz="9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wyzwania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naukowe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Roboty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humanoidalne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0" y="841248"/>
            <a:ext cx="0" cy="393192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0432" y="822960"/>
            <a:ext cx="402336" cy="402336"/>
          </a:xfrm>
          <a:prstGeom prst="ellipse">
            <a:avLst/>
          </a:prstGeom>
          <a:solidFill>
            <a:srgbClr val="2E86C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" y="85039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91640" y="85039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WABOT-1 (Waseda Univ</a:t>
            </a:r>
            <a:r>
              <a:rPr lang="en-US" sz="16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.): </a:t>
            </a:r>
            <a:r>
              <a:rPr lang="en-US" sz="16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pierwszy</a:t>
            </a:r>
            <a:r>
              <a:rPr lang="en-US" sz="16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pełni zintegrowany robot humanoidalny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70432" y="1312164"/>
            <a:ext cx="402336" cy="402336"/>
          </a:xfrm>
          <a:prstGeom prst="ellipse">
            <a:avLst/>
          </a:prstGeom>
          <a:solidFill>
            <a:srgbClr val="1ABC9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" y="133959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91640" y="1339596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Honda rozpoczyna program P-Series (prototypy bipedalne)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70432" y="1801368"/>
            <a:ext cx="402336" cy="402336"/>
          </a:xfrm>
          <a:prstGeom prst="ellipse">
            <a:avLst/>
          </a:prstGeom>
          <a:solidFill>
            <a:srgbClr val="2E86C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" y="1828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91640" y="18288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Honda </a:t>
            </a:r>
            <a:r>
              <a:rPr lang="en-US" sz="16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ASIMO: </a:t>
            </a:r>
            <a:r>
              <a:rPr lang="en-US" sz="16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przełom</a:t>
            </a:r>
            <a:r>
              <a:rPr lang="en-US" sz="16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dynamicznej lokomocji dwunożnej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70432" y="2290572"/>
            <a:ext cx="402336" cy="402336"/>
          </a:xfrm>
          <a:prstGeom prst="ellipse">
            <a:avLst/>
          </a:prstGeom>
          <a:solidFill>
            <a:srgbClr val="1ABC9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" y="231800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91640" y="231800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Dynamics BigDog; Aldebaran </a:t>
            </a:r>
            <a:r>
              <a:rPr lang="en-US" sz="16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NAO: </a:t>
            </a:r>
            <a:r>
              <a:rPr lang="en-US" sz="16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</a:t>
            </a:r>
            <a:r>
              <a:rPr lang="en-US" sz="16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badawcza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70432" y="2779776"/>
            <a:ext cx="402336" cy="402336"/>
          </a:xfrm>
          <a:prstGeom prst="ellipse">
            <a:avLst/>
          </a:prstGeom>
          <a:solidFill>
            <a:srgbClr val="2E86C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" y="28072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91640" y="280720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DARPA Robotics </a:t>
            </a:r>
            <a:r>
              <a:rPr lang="en-US" sz="16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</a:t>
            </a:r>
            <a:r>
              <a:rPr lang="en-US" sz="16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ocena</a:t>
            </a:r>
            <a:r>
              <a:rPr lang="en-US" sz="16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robotów w środowisku awaryjnym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70432" y="3268980"/>
            <a:ext cx="402336" cy="402336"/>
          </a:xfrm>
          <a:prstGeom prst="ellipse">
            <a:avLst/>
          </a:prstGeom>
          <a:solidFill>
            <a:srgbClr val="1ABC9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" y="32964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91640" y="329641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Dynamics </a:t>
            </a:r>
            <a:r>
              <a:rPr lang="en-US" sz="16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Atlas: backflip</a:t>
            </a: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Han jako android publiczny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70432" y="3758184"/>
            <a:ext cx="402336" cy="402336"/>
          </a:xfrm>
          <a:prstGeom prst="ellipse">
            <a:avLst/>
          </a:prstGeom>
          <a:solidFill>
            <a:srgbClr val="2E86C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" y="378561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91640" y="3785616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Optimus, Agility Robotics </a:t>
            </a:r>
            <a:r>
              <a:rPr lang="en-US" sz="16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Digit: </a:t>
            </a:r>
            <a:r>
              <a:rPr lang="en-US" sz="16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komercjalizacja</a:t>
            </a:r>
            <a:r>
              <a:rPr lang="en-US" sz="16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robotów pracy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170432" y="4247388"/>
            <a:ext cx="402336" cy="402336"/>
          </a:xfrm>
          <a:prstGeom prst="ellipse">
            <a:avLst/>
          </a:prstGeom>
          <a:solidFill>
            <a:srgbClr val="1ABC9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" y="42748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91640" y="42748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01, 1X Neo, </a:t>
            </a:r>
            <a:r>
              <a:rPr lang="en-US" sz="16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Unitree</a:t>
            </a: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</a:t>
            </a:r>
            <a:r>
              <a:rPr lang="en-US" sz="16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masowa</a:t>
            </a:r>
            <a:r>
              <a:rPr lang="en-US" sz="16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globalna ekspansja rynkowa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Aktualny stan globalnego rynku robotów humanoidalnych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Trendy i </a:t>
            </a:r>
            <a:r>
              <a:rPr lang="en-US" sz="9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wyzwania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naukowe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Roboty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humanoidalne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12344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01140"/>
            <a:ext cx="18288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 mld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11480" y="1405889"/>
            <a:ext cx="18288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wartość rynku (2024)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726843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szacunki: Goldman Sachs Research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23160" y="841248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841248"/>
            <a:ext cx="64008" cy="12344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901140"/>
            <a:ext cx="18288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560320" y="1405889"/>
            <a:ext cx="18288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2024–2030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1726843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prognoza: MarketsandMarkets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841248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841248"/>
            <a:ext cx="64008" cy="12344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901140"/>
            <a:ext cx="18288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&gt;50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709160" y="1405889"/>
            <a:ext cx="18288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aktywnych projektów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09160" y="1726843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start-upy + korporacje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20840" y="841248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20840" y="841248"/>
            <a:ext cx="64008" cy="12344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901140"/>
            <a:ext cx="18288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 mld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858000" y="1405889"/>
            <a:ext cx="18288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prognoza 2035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0" y="1726843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Goldman Sachs, 2024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22402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Wiodące podmioty rynkowe (2024–2025)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74320" y="2651760"/>
            <a:ext cx="8595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C"/>
            </a:solidFill>
            <a:prstDash val="solid"/>
          </a:ln>
          <a:effectLst>
            <a:outerShdw blurRad="12700" dist="25400" dir="2700000" algn="tl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" y="26883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Dynamics (Hyundai)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651760" y="2688336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</a:t>
            </a:r>
            <a:r>
              <a:rPr lang="en-US" sz="1200" dirty="0" smtClean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 smtClean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zaawansowana</a:t>
            </a:r>
            <a:r>
              <a:rPr lang="en-US" sz="1200" dirty="0" smtClean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lokomocja i manipulacja; platforma badawczo-przemysłowa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3008376"/>
            <a:ext cx="8595360" cy="329184"/>
          </a:xfrm>
          <a:prstGeom prst="rect">
            <a:avLst/>
          </a:prstGeom>
          <a:solidFill>
            <a:srgbClr val="EAF1FA"/>
          </a:solidFill>
          <a:ln w="6350">
            <a:solidFill>
              <a:srgbClr val="D5E0EC"/>
            </a:solidFill>
            <a:prstDash val="solid"/>
          </a:ln>
          <a:effectLst>
            <a:outerShdw blurRad="12700" dist="25400" dir="2700000" algn="tl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0449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Inc.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651760" y="304495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Optimus Gen </a:t>
            </a:r>
            <a:r>
              <a:rPr lang="en-US" sz="1200" dirty="0" smtClean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 </a:t>
            </a:r>
            <a:r>
              <a:rPr lang="en-US" sz="1200" dirty="0" err="1" smtClean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</a:t>
            </a: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produkcja masowa (&lt;20k USD); integracja z FSD AI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3364992"/>
            <a:ext cx="8595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C"/>
            </a:solidFill>
            <a:prstDash val="solid"/>
          </a:ln>
          <a:effectLst>
            <a:outerShdw blurRad="12700" dist="25400" dir="2700000" algn="tl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65760" y="3401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AI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651760" y="340156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</a:t>
            </a:r>
            <a:r>
              <a:rPr lang="en-US" sz="1200" b="1" dirty="0" smtClean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01/02</a:t>
            </a:r>
            <a:r>
              <a:rPr lang="en-US" sz="1200" dirty="0" smtClean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 smtClean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partnerstwo</a:t>
            </a:r>
            <a:r>
              <a:rPr lang="en-US" sz="1200" dirty="0" smtClean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BMW; OpenAI LLM jako moduł kognitywny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74320" y="3721608"/>
            <a:ext cx="8595360" cy="329184"/>
          </a:xfrm>
          <a:prstGeom prst="rect">
            <a:avLst/>
          </a:prstGeom>
          <a:solidFill>
            <a:srgbClr val="EAF1FA"/>
          </a:solidFill>
          <a:ln w="6350">
            <a:solidFill>
              <a:srgbClr val="D5E0EC"/>
            </a:solidFill>
            <a:prstDash val="solid"/>
          </a:ln>
          <a:effectLst>
            <a:outerShdw blurRad="12700" dist="25400" dir="2700000" algn="tl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65760" y="37581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 Robotics (Amazon)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651760" y="375818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</a:t>
            </a:r>
            <a:r>
              <a:rPr lang="en-US" sz="1200" dirty="0" smtClean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 smtClean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wdrożony</a:t>
            </a:r>
            <a:r>
              <a:rPr lang="en-US" sz="1200" dirty="0" smtClean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centrach logistycznych Amazona (2024)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74320" y="4078224"/>
            <a:ext cx="8595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C"/>
            </a:solidFill>
            <a:prstDash val="solid"/>
          </a:ln>
          <a:effectLst>
            <a:outerShdw blurRad="12700" dist="25400" dir="2700000" algn="tl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65760" y="4114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Unitree Robotics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2651760" y="411480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H1/G1</a:t>
            </a:r>
            <a:r>
              <a:rPr lang="en-US" sz="1200" dirty="0" smtClean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robot </a:t>
            </a: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badawczy wyceniony poniżej 90 tys. USD; otwarta platforma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74320" y="4434840"/>
            <a:ext cx="8595360" cy="329184"/>
          </a:xfrm>
          <a:prstGeom prst="rect">
            <a:avLst/>
          </a:prstGeom>
          <a:solidFill>
            <a:srgbClr val="EAF1FA"/>
          </a:solidFill>
          <a:ln w="6350">
            <a:solidFill>
              <a:srgbClr val="D5E0EC"/>
            </a:solidFill>
            <a:prstDash val="solid"/>
          </a:ln>
          <a:effectLst>
            <a:outerShdw blurRad="12700" dist="25400" dir="2700000" algn="tl" rotWithShape="0">
              <a:schemeClr val="tx1">
                <a:lumMod val="85000"/>
                <a:lumOff val="15000"/>
                <a:alpha val="20000"/>
              </a:scheme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65760" y="44714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 Technologies (OpenAI)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2651760" y="4471416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</a:t>
            </a:r>
            <a:r>
              <a:rPr lang="en-US" sz="1200" dirty="0" smtClean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 smtClean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koncentracja</a:t>
            </a:r>
            <a:r>
              <a:rPr lang="en-US" sz="1200" dirty="0" smtClean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bezpiecznej AI dla środowisk domowych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86C1"/>
          </a:solidFill>
          <a:ln w="12700" cap="flat" cmpd="sng">
            <a:solidFill>
              <a:srgbClr val="2E86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"/>
          <p:cNvSpPr/>
          <p:nvPr/>
        </p:nvSpPr>
        <p:spPr>
          <a:xfrm>
            <a:off x="320040" y="45720"/>
            <a:ext cx="8503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4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Wiodące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ośrodki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badawcze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akademickie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Trendy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wyzwania</a:t>
            </a: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naukowe</a:t>
            </a:r>
            <a:r>
              <a:rPr lang="en-US" sz="900" b="0" i="0" u="none" strike="noStrike" cap="none" dirty="0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900" b="0" i="0" u="none" strike="noStrike" cap="none" dirty="0" err="1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Roboty</a:t>
            </a:r>
            <a:r>
              <a:rPr lang="en-US" sz="900" b="0" i="0" u="none" strike="noStrike" cap="none" dirty="0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humanoidalne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"/>
          <p:cNvSpPr/>
          <p:nvPr/>
        </p:nvSpPr>
        <p:spPr>
          <a:xfrm>
            <a:off x="8046720" y="4901184"/>
            <a:ext cx="822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6 / 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"/>
          <p:cNvSpPr/>
          <p:nvPr/>
        </p:nvSpPr>
        <p:spPr>
          <a:xfrm>
            <a:off x="274320" y="75387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4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Europa </a:t>
            </a:r>
            <a:r>
              <a:rPr lang="en-US" sz="1600" b="1" i="0" u="none" strike="noStrike" cap="none" dirty="0" err="1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600" b="1" i="0" u="none" strike="noStrike" cap="none" dirty="0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1" i="0" u="none" strike="noStrike" cap="none" dirty="0" err="1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Ameryka</a:t>
            </a:r>
            <a:r>
              <a:rPr lang="en-US" sz="1600" b="1" i="0" u="none" strike="noStrike" cap="none" dirty="0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1" i="0" u="none" strike="noStrike" cap="none" dirty="0" err="1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Północna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"/>
          <p:cNvSpPr/>
          <p:nvPr/>
        </p:nvSpPr>
        <p:spPr>
          <a:xfrm>
            <a:off x="4754880" y="75387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400"/>
              <a:buFont typeface="Calibri"/>
              <a:buNone/>
            </a:pPr>
            <a:r>
              <a:rPr lang="en-US" sz="1600" b="1" i="0" u="none" strike="noStrike" cap="non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Azja i Polska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" name="Google Shape;250;p3"/>
          <p:cNvCxnSpPr/>
          <p:nvPr/>
        </p:nvCxnSpPr>
        <p:spPr>
          <a:xfrm>
            <a:off x="4526280" y="824444"/>
            <a:ext cx="0" cy="3474600"/>
          </a:xfrm>
          <a:prstGeom prst="straightConnector1">
            <a:avLst/>
          </a:prstGeom>
          <a:noFill/>
          <a:ln w="12700" cap="flat" cmpd="sng">
            <a:solidFill>
              <a:srgbClr val="D5E0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1" name="Google Shape;251;p3"/>
          <p:cNvSpPr/>
          <p:nvPr/>
        </p:nvSpPr>
        <p:spPr>
          <a:xfrm>
            <a:off x="95250" y="1170425"/>
            <a:ext cx="4379477" cy="3182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08000" marR="0" lvl="0" indent="-108000" algn="l" rtl="0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MIT </a:t>
            </a:r>
            <a:r>
              <a:rPr lang="en-US" sz="1400" b="1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CSAIL</a:t>
            </a:r>
            <a:r>
              <a:rPr lang="en-US" sz="1400" b="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b="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algorytmy</a:t>
            </a:r>
            <a:r>
              <a:rPr lang="en-US" sz="1400" b="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planowania</a:t>
            </a:r>
            <a:r>
              <a:rPr lang="en-US" sz="1400" b="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ruchu</a:t>
            </a:r>
            <a:r>
              <a:rPr lang="pl-PL" sz="1400" b="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400" b="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percepcji</a:t>
            </a:r>
            <a:endParaRPr sz="1400" b="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08000" marR="0" lvl="0" indent="-108000" algn="l" rtl="0">
              <a:lnSpc>
                <a:spcPts val="1500"/>
              </a:lnSpc>
              <a:spcBef>
                <a:spcPts val="500"/>
              </a:spcBef>
              <a:spcAft>
                <a:spcPts val="6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Carnegie Mellon </a:t>
            </a:r>
            <a:r>
              <a:rPr lang="en-US" sz="1400" b="1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University</a:t>
            </a:r>
            <a:r>
              <a:rPr lang="en-US" sz="1400" b="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robotics </a:t>
            </a:r>
            <a:r>
              <a:rPr lang="en-US" sz="1400" b="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institute, </a:t>
            </a:r>
            <a:r>
              <a:rPr lang="pl-PL" sz="1400" b="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-US" sz="1400" b="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okomocja</a:t>
            </a:r>
            <a:endParaRPr sz="1400" b="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08000" marR="0" lvl="0" indent="-108000" algn="l" rtl="0">
              <a:lnSpc>
                <a:spcPts val="1500"/>
              </a:lnSpc>
              <a:spcBef>
                <a:spcPts val="500"/>
              </a:spcBef>
              <a:spcAft>
                <a:spcPts val="6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ETH </a:t>
            </a:r>
            <a:r>
              <a:rPr lang="en-US" sz="1400" b="1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Zürich</a:t>
            </a:r>
            <a:r>
              <a:rPr lang="en-US" sz="1400" b="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b="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ANYmal</a:t>
            </a:r>
            <a:r>
              <a:rPr lang="en-US" sz="1400" b="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legged robotics, reinforcement learning</a:t>
            </a:r>
            <a:endParaRPr sz="1400" b="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08000" marR="0" lvl="0" indent="-108000" algn="l" rtl="0">
              <a:lnSpc>
                <a:spcPts val="1500"/>
              </a:lnSpc>
              <a:spcBef>
                <a:spcPts val="500"/>
              </a:spcBef>
              <a:spcAft>
                <a:spcPts val="6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Stanford Human-Centered AI </a:t>
            </a:r>
            <a:r>
              <a:rPr lang="en-US" sz="1400" b="1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Institute</a:t>
            </a:r>
            <a:r>
              <a:rPr lang="en-US" sz="1400" b="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b="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etyka</a:t>
            </a:r>
            <a:r>
              <a:rPr lang="en-US" sz="1400" b="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400" b="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HRI</a:t>
            </a:r>
            <a:endParaRPr sz="1400" b="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08000" marR="0" lvl="0" indent="-108000" algn="l" rtl="0">
              <a:lnSpc>
                <a:spcPts val="1500"/>
              </a:lnSpc>
              <a:spcBef>
                <a:spcPts val="500"/>
              </a:spcBef>
              <a:spcAft>
                <a:spcPts val="6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Georgia </a:t>
            </a:r>
            <a:r>
              <a:rPr lang="en-US" sz="1400" b="1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Tech</a:t>
            </a:r>
            <a:r>
              <a:rPr lang="en-US" sz="1400" b="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b="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robotyka</a:t>
            </a:r>
            <a:r>
              <a:rPr lang="en-US" sz="1400" b="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kognitywna</a:t>
            </a:r>
            <a:r>
              <a:rPr lang="en-US" sz="1400" b="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400" b="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interakcja</a:t>
            </a:r>
            <a:r>
              <a:rPr lang="en-US" sz="1400" b="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społeczna</a:t>
            </a:r>
            <a:endParaRPr sz="1400" b="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08000" marR="0" lvl="0" indent="-108000" algn="l" rtl="0">
              <a:lnSpc>
                <a:spcPts val="1500"/>
              </a:lnSpc>
              <a:spcBef>
                <a:spcPts val="500"/>
              </a:spcBef>
              <a:spcAft>
                <a:spcPts val="6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DLR (</a:t>
            </a: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Niemcy</a:t>
            </a:r>
            <a:r>
              <a:rPr lang="en-US" sz="1400" b="1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): </a:t>
            </a:r>
            <a:r>
              <a:rPr lang="en-US" sz="1400" b="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TORO</a:t>
            </a:r>
            <a:r>
              <a:rPr lang="en-US" sz="1400" b="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400" b="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manipulatory</a:t>
            </a:r>
            <a:r>
              <a:rPr lang="en-US" sz="1400" b="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kosmiczne</a:t>
            </a:r>
            <a:endParaRPr sz="1400" b="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08000" marR="0" lvl="0" indent="-108000" algn="l" rtl="0">
              <a:lnSpc>
                <a:spcPts val="1500"/>
              </a:lnSpc>
              <a:spcBef>
                <a:spcPts val="500"/>
              </a:spcBef>
              <a:spcAft>
                <a:spcPts val="6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CNRS / LAAS (</a:t>
            </a: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Francja</a:t>
            </a:r>
            <a:r>
              <a:rPr lang="en-US" sz="1400" b="1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): </a:t>
            </a:r>
            <a:r>
              <a:rPr lang="en-US" sz="1400" b="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planowanie</a:t>
            </a:r>
            <a:r>
              <a:rPr lang="en-US" sz="1400" b="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ruchu</a:t>
            </a:r>
            <a:r>
              <a:rPr lang="en-US" sz="1400" b="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pl-PL" sz="1400" b="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1400" b="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ptymalizacja</a:t>
            </a:r>
            <a:endParaRPr sz="1400" b="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3"/>
          <p:cNvSpPr/>
          <p:nvPr/>
        </p:nvSpPr>
        <p:spPr>
          <a:xfrm>
            <a:off x="4546084" y="1170425"/>
            <a:ext cx="4426466" cy="3041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08000" marR="0" lvl="0" indent="-108000" algn="l" rtl="0">
              <a:lnSpc>
                <a:spcPts val="1600"/>
              </a:lnSpc>
              <a:spcBef>
                <a:spcPts val="0"/>
              </a:spcBef>
              <a:spcAft>
                <a:spcPts val="8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Waseda</a:t>
            </a: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Univ. (</a:t>
            </a: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Japonia</a:t>
            </a:r>
            <a:r>
              <a:rPr lang="en-US" sz="1400" b="1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): </a:t>
            </a:r>
            <a:r>
              <a:rPr lang="en-US" sz="1400" b="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tradycja</a:t>
            </a:r>
            <a:r>
              <a:rPr lang="en-US" sz="1400" b="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WABOT, </a:t>
            </a:r>
            <a:r>
              <a:rPr lang="en-US" sz="1400" b="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roboty</a:t>
            </a:r>
            <a:r>
              <a:rPr lang="en-US" sz="1400" b="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muzyczne</a:t>
            </a:r>
            <a:endParaRPr sz="1400" b="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08000" marR="0" lvl="0" indent="-108000" algn="l" rtl="0">
              <a:lnSpc>
                <a:spcPts val="1600"/>
              </a:lnSpc>
              <a:spcBef>
                <a:spcPts val="500"/>
              </a:spcBef>
              <a:spcAft>
                <a:spcPts val="8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KAIST (Korea</a:t>
            </a:r>
            <a:r>
              <a:rPr lang="en-US" sz="1400" b="1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): </a:t>
            </a:r>
            <a:r>
              <a:rPr lang="en-US" sz="1400" b="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HUBO</a:t>
            </a:r>
            <a:r>
              <a:rPr lang="en-US" sz="1400" b="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400" b="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zwycięzca</a:t>
            </a:r>
            <a:r>
              <a:rPr lang="en-US" sz="1400" b="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DARPA Robotics Challenge</a:t>
            </a:r>
            <a:endParaRPr sz="1400" b="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08000" marR="0" lvl="0" indent="-108000" algn="l" rtl="0">
              <a:lnSpc>
                <a:spcPts val="1600"/>
              </a:lnSpc>
              <a:spcBef>
                <a:spcPts val="500"/>
              </a:spcBef>
              <a:spcAft>
                <a:spcPts val="8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IIT </a:t>
            </a:r>
            <a:r>
              <a:rPr lang="en-US" sz="1400" b="1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Genova: </a:t>
            </a:r>
            <a:r>
              <a:rPr lang="en-US" sz="1400" b="1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iCub</a:t>
            </a:r>
            <a:r>
              <a:rPr lang="en-US" sz="1400" b="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b="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platforma</a:t>
            </a:r>
            <a:r>
              <a:rPr lang="en-US" sz="1400" b="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open-source do </a:t>
            </a:r>
            <a:r>
              <a:rPr lang="en-US" sz="1400" b="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nauki</a:t>
            </a:r>
            <a:endParaRPr sz="1400" b="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08000" marR="0" lvl="0" indent="-108000" algn="l" rtl="0">
              <a:lnSpc>
                <a:spcPts val="1600"/>
              </a:lnSpc>
              <a:spcBef>
                <a:spcPts val="500"/>
              </a:spcBef>
              <a:spcAft>
                <a:spcPts val="8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Politechnika</a:t>
            </a: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Warszawska</a:t>
            </a:r>
            <a:r>
              <a:rPr lang="en-US" sz="1400" b="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b="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lokomocja</a:t>
            </a:r>
            <a:r>
              <a:rPr lang="en-US" sz="1400" b="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400" b="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haptyka</a:t>
            </a:r>
            <a:r>
              <a:rPr lang="en-US" sz="1400" b="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(PL)</a:t>
            </a:r>
            <a:endParaRPr sz="1400" b="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08000" marR="0" lvl="0" indent="-108000" algn="l" rtl="0">
              <a:lnSpc>
                <a:spcPts val="1600"/>
              </a:lnSpc>
              <a:spcBef>
                <a:spcPts val="500"/>
              </a:spcBef>
              <a:spcAft>
                <a:spcPts val="8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AGH </a:t>
            </a:r>
            <a:r>
              <a:rPr lang="en-US" sz="1400" b="1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Kraków</a:t>
            </a:r>
            <a:r>
              <a:rPr lang="en-US" sz="1400" b="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b="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systemy</a:t>
            </a:r>
            <a:r>
              <a:rPr lang="en-US" sz="1400" b="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sterowania</a:t>
            </a:r>
            <a:r>
              <a:rPr lang="en-US" sz="1400" b="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400" b="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sensoryki</a:t>
            </a:r>
            <a:r>
              <a:rPr lang="en-US" sz="1400" b="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(PL)</a:t>
            </a:r>
            <a:endParaRPr sz="1400" b="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08000" marR="0" lvl="0" indent="-108000" algn="l" rtl="0">
              <a:lnSpc>
                <a:spcPts val="1600"/>
              </a:lnSpc>
              <a:spcBef>
                <a:spcPts val="500"/>
              </a:spcBef>
              <a:spcAft>
                <a:spcPts val="8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AIST (</a:t>
            </a: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Japonia</a:t>
            </a:r>
            <a:r>
              <a:rPr lang="en-US" sz="1400" b="1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): </a:t>
            </a:r>
            <a:r>
              <a:rPr lang="en-US" sz="1400" b="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HRP-series</a:t>
            </a:r>
            <a:r>
              <a:rPr lang="en-US" sz="1400" b="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400" b="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interakcja</a:t>
            </a:r>
            <a:r>
              <a:rPr lang="en-US" sz="1400" b="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z </a:t>
            </a:r>
            <a:r>
              <a:rPr lang="en-US" sz="1400" b="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człowiekiem</a:t>
            </a:r>
            <a:endParaRPr sz="1400" b="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08000" marR="0" lvl="0" indent="-108000" algn="l" rtl="0">
              <a:lnSpc>
                <a:spcPts val="1600"/>
              </a:lnSpc>
              <a:spcBef>
                <a:spcPts val="500"/>
              </a:spcBef>
              <a:spcAft>
                <a:spcPts val="8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Beijing Institute of </a:t>
            </a:r>
            <a:r>
              <a:rPr lang="en-US" sz="1400" b="1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Technology</a:t>
            </a:r>
            <a:r>
              <a:rPr lang="en-US" sz="1400" b="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BHR </a:t>
            </a:r>
            <a:r>
              <a:rPr lang="en-US" sz="1400" b="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series (CN)</a:t>
            </a:r>
            <a:endParaRPr sz="1400" b="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3"/>
          <p:cNvSpPr/>
          <p:nvPr/>
        </p:nvSpPr>
        <p:spPr>
          <a:xfrm>
            <a:off x="274320" y="4426338"/>
            <a:ext cx="8595300" cy="375084"/>
          </a:xfrm>
          <a:prstGeom prst="rect">
            <a:avLst/>
          </a:prstGeom>
          <a:solidFill>
            <a:srgbClr val="D5E8D4"/>
          </a:solidFill>
          <a:ln w="9525" cap="flat" cmpd="sng">
            <a:solidFill>
              <a:srgbClr val="82B3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"/>
          <p:cNvSpPr/>
          <p:nvPr/>
        </p:nvSpPr>
        <p:spPr>
          <a:xfrm>
            <a:off x="411480" y="4480560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100"/>
              <a:buFont typeface="Calibri"/>
              <a:buNone/>
            </a:pPr>
            <a:r>
              <a:rPr lang="en-US" sz="1200" b="0" i="0" u="none" strike="noStrike" cap="none" dirty="0" err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Polska</a:t>
            </a:r>
            <a:r>
              <a:rPr lang="en-US" sz="1200" b="0" i="0" u="none" strike="noStrike" cap="none" dirty="0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dysponuje</a:t>
            </a:r>
            <a:r>
              <a:rPr lang="en-US" sz="1200" b="0" i="0" u="none" strike="noStrike" cap="none" dirty="0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kompetentnym</a:t>
            </a:r>
            <a:r>
              <a:rPr lang="en-US" sz="1200" b="0" i="0" u="none" strike="noStrike" cap="none" dirty="0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potencjałem</a:t>
            </a:r>
            <a:r>
              <a:rPr lang="en-US" sz="1200" b="0" i="0" u="none" strike="noStrike" cap="none" dirty="0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 smtClean="0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badawczym</a:t>
            </a:r>
            <a:r>
              <a:rPr lang="en-US" sz="1200" b="0" i="0" u="none" strike="noStrike" cap="none" dirty="0" smtClean="0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200" b="0" i="0" u="none" strike="noStrike" cap="none" dirty="0" err="1" smtClean="0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priorytetem</a:t>
            </a:r>
            <a:r>
              <a:rPr lang="en-US" sz="1200" b="0" i="0" u="none" strike="noStrike" cap="none" dirty="0" smtClean="0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jest </a:t>
            </a:r>
            <a:r>
              <a:rPr lang="en-US" sz="1200" b="0" i="0" u="none" strike="noStrike" cap="none" dirty="0" err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budowa</a:t>
            </a:r>
            <a:r>
              <a:rPr lang="en-US" sz="1200" b="0" i="0" u="none" strike="noStrike" cap="none" dirty="0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konsorcjów</a:t>
            </a:r>
            <a:r>
              <a:rPr lang="en-US" sz="1200" b="0" i="0" u="none" strike="noStrike" cap="none" dirty="0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 z </a:t>
            </a:r>
            <a:r>
              <a:rPr lang="en-US" sz="1200" b="0" i="0" u="none" strike="noStrike" cap="none" dirty="0" err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wiodącymi</a:t>
            </a:r>
            <a:r>
              <a:rPr lang="en-US" sz="1200" b="0" i="0" u="none" strike="noStrike" cap="none" dirty="0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ośrodkami</a:t>
            </a:r>
            <a:r>
              <a:rPr lang="en-US" sz="1200" b="0" i="0" u="none" strike="noStrike" cap="none" dirty="0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europejskimi</a:t>
            </a:r>
            <a:r>
              <a:rPr lang="en-US" sz="1200" b="0" i="0" u="none" strike="noStrike" cap="none" dirty="0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200" b="0" i="0" u="none" strike="noStrike" cap="none" dirty="0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pozyskanie</a:t>
            </a:r>
            <a:r>
              <a:rPr lang="en-US" sz="1200" b="0" i="0" u="none" strike="noStrike" cap="none" dirty="0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err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finansowania</a:t>
            </a:r>
            <a:r>
              <a:rPr lang="en-US" sz="1200" b="0" i="0" u="none" strike="noStrike" cap="none" dirty="0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 w </a:t>
            </a:r>
            <a:r>
              <a:rPr lang="en-US" sz="1200" b="0" i="0" u="none" strike="noStrike" cap="none" dirty="0" err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ramach</a:t>
            </a:r>
            <a:r>
              <a:rPr lang="en-US" sz="1200" b="0" i="0" u="none" strike="noStrike" cap="none" dirty="0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 Horizon Europe.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/>
          <p:nvPr/>
        </p:nvSpPr>
        <p:spPr>
          <a:xfrm>
            <a:off x="0" y="0"/>
            <a:ext cx="9144000" cy="109800"/>
          </a:xfrm>
          <a:prstGeom prst="rect">
            <a:avLst/>
          </a:prstGeom>
          <a:solidFill>
            <a:srgbClr val="1ABC9C"/>
          </a:solidFill>
          <a:ln w="12700" cap="flat" cmpd="sng">
            <a:solidFill>
              <a:srgbClr val="1ABC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548640" y="1371600"/>
            <a:ext cx="8046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II. Architektura i inżynieria</a:t>
            </a:r>
            <a:endParaRPr sz="36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48640" y="2240280"/>
            <a:ext cx="8046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FFF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7FBFFF"/>
                </a:solidFill>
                <a:latin typeface="Calibri"/>
                <a:ea typeface="Calibri"/>
                <a:cs typeface="Calibri"/>
                <a:sym typeface="Calibri"/>
              </a:rPr>
              <a:t>Kluczowe podsystemy robota humanoidalnego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48640" y="2834640"/>
            <a:ext cx="2286000" cy="45600"/>
          </a:xfrm>
          <a:prstGeom prst="rect">
            <a:avLst/>
          </a:prstGeom>
          <a:solidFill>
            <a:srgbClr val="1ABC9C"/>
          </a:solidFill>
          <a:ln w="12700" cap="flat" cmpd="sng">
            <a:solidFill>
              <a:srgbClr val="1ABC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060D14"/>
          </a:solidFill>
          <a:ln w="12700" cap="flat" cmpd="sng">
            <a:solidFill>
              <a:srgbClr val="060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8046720" y="4901184"/>
            <a:ext cx="822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709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A7090"/>
                </a:solidFill>
                <a:latin typeface="Calibri"/>
                <a:ea typeface="Calibri"/>
                <a:cs typeface="Calibri"/>
                <a:sym typeface="Calibri"/>
              </a:rPr>
              <a:t>7 / 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86C1"/>
          </a:solidFill>
          <a:ln w="12700" cap="flat" cmpd="sng">
            <a:solidFill>
              <a:srgbClr val="2E86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4"/>
          <p:cNvSpPr/>
          <p:nvPr/>
        </p:nvSpPr>
        <p:spPr>
          <a:xfrm>
            <a:off x="320040" y="45720"/>
            <a:ext cx="8503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Mechanika i systemy napędowe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4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Trendy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wyzwania</a:t>
            </a: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naukowe</a:t>
            </a:r>
            <a:r>
              <a:rPr lang="en-US" sz="900" b="0" i="0" u="none" strike="noStrike" cap="none" dirty="0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900" b="0" i="0" u="none" strike="noStrike" cap="none" dirty="0" err="1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Roboty</a:t>
            </a:r>
            <a:r>
              <a:rPr lang="en-US" sz="900" b="0" i="0" u="none" strike="noStrike" cap="none" dirty="0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humanoidalne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4"/>
          <p:cNvSpPr/>
          <p:nvPr/>
        </p:nvSpPr>
        <p:spPr>
          <a:xfrm>
            <a:off x="8046720" y="4901184"/>
            <a:ext cx="822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8 / 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4"/>
          <p:cNvSpPr/>
          <p:nvPr/>
        </p:nvSpPr>
        <p:spPr>
          <a:xfrm>
            <a:off x="274320" y="80467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Technologie napędowe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4"/>
          <p:cNvSpPr/>
          <p:nvPr/>
        </p:nvSpPr>
        <p:spPr>
          <a:xfrm>
            <a:off x="4754880" y="80467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Kinematyka i konstrukcja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3" name="Google Shape;263;p4"/>
          <p:cNvCxnSpPr/>
          <p:nvPr/>
        </p:nvCxnSpPr>
        <p:spPr>
          <a:xfrm>
            <a:off x="4526280" y="1170432"/>
            <a:ext cx="0" cy="3474600"/>
          </a:xfrm>
          <a:prstGeom prst="straightConnector1">
            <a:avLst/>
          </a:prstGeom>
          <a:noFill/>
          <a:ln w="12700" cap="flat" cmpd="sng">
            <a:solidFill>
              <a:srgbClr val="D5E0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4" name="Google Shape;264;p4"/>
          <p:cNvSpPr/>
          <p:nvPr/>
        </p:nvSpPr>
        <p:spPr>
          <a:xfrm>
            <a:off x="274320" y="1170432"/>
            <a:ext cx="41604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Aktuatory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elektryczne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silniki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BLDC +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przekładnie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harmoniczne</a:t>
            </a:r>
            <a:r>
              <a:rPr lang="en-US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): </a:t>
            </a:r>
            <a:r>
              <a:rPr lang="en-US" i="0" u="none" strike="noStrike" cap="none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precyzja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cicha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praca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integracja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z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enkoderem</a:t>
            </a:r>
            <a:endParaRPr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92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Aktuatory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 strike="noStrike" cap="none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hydrauliczne</a:t>
            </a:r>
            <a:r>
              <a:rPr lang="en-US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i="0" u="none" strike="noStrike" cap="none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wysoka</a:t>
            </a:r>
            <a:r>
              <a:rPr lang="en-US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gęstość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mocy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sterowanie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siłowe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(SEA);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stosowane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w Atlas (BD)</a:t>
            </a:r>
            <a:endParaRPr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92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Elastic Actuators (SEA/VSA</a:t>
            </a:r>
            <a:r>
              <a:rPr lang="en-US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): </a:t>
            </a:r>
            <a:r>
              <a:rPr lang="en-US" i="0" u="none" strike="noStrike" cap="none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kompliancja</a:t>
            </a:r>
            <a:r>
              <a:rPr lang="en-US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mechaniczna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kluczowa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dla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bezpiecznej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interakcji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z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ludźmi</a:t>
            </a:r>
            <a:endParaRPr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92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Sztuczne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mięśnie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(SMA,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pneumatyczne</a:t>
            </a:r>
            <a:r>
              <a:rPr lang="en-US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): </a:t>
            </a:r>
            <a:r>
              <a:rPr lang="en-US" i="0" u="none" strike="noStrike" cap="none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naśladownictwo</a:t>
            </a:r>
            <a:r>
              <a:rPr lang="en-US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biologii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wciąż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na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etapie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TRL 4–5</a:t>
            </a:r>
            <a:endParaRPr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92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Wyzwanie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stosunek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mocy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do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masy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&lt; 1 kW/kg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przy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masie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całkowitej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&lt; 80 kg</a:t>
            </a:r>
            <a:endParaRPr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4"/>
          <p:cNvSpPr/>
          <p:nvPr/>
        </p:nvSpPr>
        <p:spPr>
          <a:xfrm>
            <a:off x="4709160" y="1170432"/>
            <a:ext cx="41604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i="0" u="none" strike="noStrike" cap="none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Kinematyka</a:t>
            </a:r>
            <a:r>
              <a:rPr lang="en-US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32–60 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DOF (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stopni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swobody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) w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pełnych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platformach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humanoidalnych</a:t>
            </a:r>
            <a:endParaRPr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92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Projektowanie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 strike="noStrike" cap="none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szkieletu</a:t>
            </a:r>
            <a:r>
              <a:rPr lang="en-US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i="0" u="none" strike="noStrike" cap="none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aluminium</a:t>
            </a:r>
            <a:r>
              <a:rPr lang="en-US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lotnicze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tytan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polimery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wysokowytrzymałościowe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(PEEK)</a:t>
            </a:r>
            <a:endParaRPr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92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Tolerancja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obciążeń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moment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statyczny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&gt; 200 Nm w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stawach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biodrowych</a:t>
            </a:r>
            <a:endParaRPr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92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Dłonie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wielopalcowe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20+ DOF,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pomiar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sił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z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rozdzielczością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&lt; 0,1 N</a:t>
            </a:r>
            <a:endParaRPr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29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Calibri"/>
              <a:buChar char="•"/>
            </a:pP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Kluczowe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publikacje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Tsagarakis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et al. (2017 IJRR); </a:t>
            </a:r>
            <a:r>
              <a:rPr lang="en-US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Haddadin</a:t>
            </a:r>
            <a:r>
              <a:rPr lang="en-US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et al. (2022 Science Robotics</a:t>
            </a:r>
            <a:r>
              <a:rPr lang="en-US" sz="13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Sztuczna inteligencja w robotach humanoidalnych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Trendy i </a:t>
            </a:r>
            <a:r>
              <a:rPr lang="en-US" sz="9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wyzwania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naukowe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Roboty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humanoidalne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80440"/>
            <a:ext cx="2799080" cy="313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80440"/>
            <a:ext cx="27990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987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Percepcja i rozumienie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9560" y="1574800"/>
            <a:ext cx="2702560" cy="25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Sieci konwolucyjne </a:t>
            </a:r>
            <a:r>
              <a:rPr lang="en-US" sz="1400" spc="-40" dirty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(CNN) do klasyfikacji obiektów</a:t>
            </a:r>
            <a:endParaRPr lang="en-US" sz="1400" spc="-40" dirty="0">
              <a:latin typeface="Arial Nova Light" panose="020B0304020202020204" pitchFamily="34" charset="0"/>
            </a:endParaRPr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Visual Language Models </a:t>
            </a:r>
            <a:r>
              <a:rPr lang="en-US" sz="1400" spc="-40" dirty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(VLM</a:t>
            </a:r>
            <a:r>
              <a:rPr lang="en-US" sz="1400" spc="-40" dirty="0" smtClean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en-US" sz="1400" spc="-40" dirty="0" err="1" smtClean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opis</a:t>
            </a:r>
            <a:r>
              <a:rPr lang="en-US" sz="1400" spc="-40" dirty="0" smtClean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40" dirty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sceny 3D</a:t>
            </a:r>
            <a:endParaRPr lang="en-US" sz="1400" spc="-40" dirty="0">
              <a:latin typeface="Arial Nova Light" panose="020B0304020202020204" pitchFamily="34" charset="0"/>
            </a:endParaRPr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Fuzja danych</a:t>
            </a:r>
            <a:r>
              <a:rPr lang="en-US" sz="1400" spc="-40" dirty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: LiDAR + kamera głębokości + IMU</a:t>
            </a:r>
            <a:endParaRPr lang="en-US" sz="1400" spc="-40" dirty="0">
              <a:latin typeface="Arial Nova Light" panose="020B0304020202020204" pitchFamily="34" charset="0"/>
            </a:endParaRPr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Wykrywanie intencji ludzkich </a:t>
            </a:r>
            <a:r>
              <a:rPr lang="en-US" sz="1400" spc="-40" dirty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(Action Recognition)</a:t>
            </a:r>
            <a:endParaRPr lang="en-US" sz="1400" spc="-40" dirty="0">
              <a:latin typeface="Arial Nova Light" panose="020B03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46120" y="980440"/>
            <a:ext cx="2799080" cy="313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980440"/>
            <a:ext cx="27990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9987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Planowanie i podejmowanie decyzji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61360" y="1574800"/>
            <a:ext cx="2702560" cy="25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Hierarchiczne planowanie zadań </a:t>
            </a:r>
            <a:r>
              <a:rPr lang="en-US" sz="1400" spc="-40" dirty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(HTN)</a:t>
            </a:r>
            <a:endParaRPr lang="en-US" sz="1400" spc="-40" dirty="0">
              <a:latin typeface="Arial Nova Light" panose="020B0304020202020204" pitchFamily="34" charset="0"/>
            </a:endParaRPr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Reinforcement Learning </a:t>
            </a:r>
            <a:r>
              <a:rPr lang="en-US" sz="1400" spc="-40" dirty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(PPO, SAC) w środowiskach sim-to-real</a:t>
            </a:r>
            <a:endParaRPr lang="en-US" sz="1400" spc="-40" dirty="0">
              <a:latin typeface="Arial Nova Light" panose="020B0304020202020204" pitchFamily="34" charset="0"/>
            </a:endParaRPr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Duże Modele Językowe </a:t>
            </a:r>
            <a:r>
              <a:rPr lang="en-US" sz="1400" spc="-40" dirty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(LLM) jako moduł dialogowy</a:t>
            </a:r>
            <a:endParaRPr lang="en-US" sz="1400" spc="-40" dirty="0">
              <a:latin typeface="Arial Nova Light" panose="020B0304020202020204" pitchFamily="34" charset="0"/>
            </a:endParaRPr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Model Predictive Control </a:t>
            </a:r>
            <a:r>
              <a:rPr lang="en-US" sz="1400" spc="-40" dirty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(MPC) dla lokomocji</a:t>
            </a:r>
            <a:endParaRPr lang="en-US" sz="1400" spc="-40" dirty="0">
              <a:latin typeface="Arial Nova Light" panose="020B03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17920" y="980440"/>
            <a:ext cx="2799080" cy="313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980440"/>
            <a:ext cx="27990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9987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Uczenie i adaptacja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33160" y="1574800"/>
            <a:ext cx="2702560" cy="25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Imitation </a:t>
            </a:r>
            <a:r>
              <a:rPr lang="en-US" sz="1400" b="1" spc="-40" dirty="0" smtClean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Learning</a:t>
            </a:r>
            <a:r>
              <a:rPr lang="en-US" sz="1400" spc="-40" dirty="0" smtClean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spc="-40" dirty="0" err="1" smtClean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uczenie</a:t>
            </a:r>
            <a:r>
              <a:rPr lang="en-US" sz="1400" spc="-40" dirty="0" smtClean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40" dirty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z demonstracji człowieka</a:t>
            </a:r>
            <a:endParaRPr lang="en-US" sz="1400" spc="-40" dirty="0">
              <a:latin typeface="Arial Nova Light" panose="020B0304020202020204" pitchFamily="34" charset="0"/>
            </a:endParaRPr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40" dirty="0" smtClean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Meta-learning</a:t>
            </a:r>
            <a:r>
              <a:rPr lang="en-US" sz="1400" spc="-40" dirty="0" smtClean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spc="-40" dirty="0" err="1" smtClean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szybkie</a:t>
            </a:r>
            <a:r>
              <a:rPr lang="en-US" sz="1400" spc="-40" dirty="0" smtClean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40" dirty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dostosowanie do nowych zadań</a:t>
            </a:r>
            <a:endParaRPr lang="en-US" sz="1400" spc="-40" dirty="0">
              <a:latin typeface="Arial Nova Light" panose="020B0304020202020204" pitchFamily="34" charset="0"/>
            </a:endParaRPr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Continual </a:t>
            </a:r>
            <a:r>
              <a:rPr lang="en-US" sz="1400" b="1" spc="-40" dirty="0" smtClean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Learning</a:t>
            </a:r>
            <a:r>
              <a:rPr lang="en-US" sz="1400" spc="-40" dirty="0" smtClean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spc="-40" dirty="0" err="1" smtClean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brak</a:t>
            </a:r>
            <a:r>
              <a:rPr lang="en-US" sz="1400" spc="-40" dirty="0" smtClean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40" dirty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zapominania katastroficznego</a:t>
            </a:r>
            <a:endParaRPr lang="en-US" sz="1400" spc="-40" dirty="0">
              <a:latin typeface="Arial Nova Light" panose="020B0304020202020204" pitchFamily="34" charset="0"/>
            </a:endParaRPr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Foundation Models </a:t>
            </a:r>
            <a:r>
              <a:rPr lang="en-US" sz="1400" spc="-40" dirty="0">
                <a:solidFill>
                  <a:srgbClr val="1A202C"/>
                </a:solidFill>
                <a:latin typeface="Arial Nova Light" panose="020B0304020202020204" pitchFamily="34" charset="0"/>
                <a:ea typeface="Calibri" pitchFamily="34" charset="-122"/>
                <a:cs typeface="Calibri" pitchFamily="34" charset="-120"/>
              </a:rPr>
              <a:t>dla robotyki (RT-2, π0, GR-1)</a:t>
            </a:r>
            <a:endParaRPr lang="en-US" sz="1400" spc="-40" dirty="0">
              <a:latin typeface="Arial Nova Light" panose="020B03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/>
          <p:nvPr/>
        </p:nvSpPr>
        <p:spPr>
          <a:xfrm>
            <a:off x="0" y="0"/>
            <a:ext cx="9144000" cy="109800"/>
          </a:xfrm>
          <a:prstGeom prst="rect">
            <a:avLst/>
          </a:prstGeom>
          <a:solidFill>
            <a:srgbClr val="9B59B6"/>
          </a:solidFill>
          <a:ln w="12700" cap="flat" cmpd="sng">
            <a:solidFill>
              <a:srgbClr val="9B59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548640" y="1280160"/>
            <a:ext cx="8046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libri"/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II-B. Wbudowana AI i autonomiczn</a:t>
            </a:r>
            <a:r>
              <a:rPr lang="en-US" sz="3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lang="en-US" sz="3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</a:t>
            </a:r>
            <a:r>
              <a:rPr lang="en-US" sz="3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48640" y="224028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39BD3"/>
              </a:buClr>
              <a:buSzPts val="1900"/>
              <a:buFont typeface="Calibri"/>
              <a:buNone/>
            </a:pPr>
            <a:r>
              <a:rPr lang="en-US" sz="1900" b="0" i="0" u="none" strike="noStrike" cap="none">
                <a:solidFill>
                  <a:srgbClr val="C39BD3"/>
                </a:solidFill>
                <a:latin typeface="Calibri"/>
                <a:ea typeface="Calibri"/>
                <a:cs typeface="Calibri"/>
                <a:sym typeface="Calibri"/>
              </a:rPr>
              <a:t>Edge AI · LLM w robotyce · Multi-agent Systems · Foundation Models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548640" y="2880360"/>
            <a:ext cx="2286000" cy="45600"/>
          </a:xfrm>
          <a:prstGeom prst="rect">
            <a:avLst/>
          </a:prstGeom>
          <a:solidFill>
            <a:srgbClr val="9B59B6"/>
          </a:solidFill>
          <a:ln w="12700" cap="flat" cmpd="sng">
            <a:solidFill>
              <a:srgbClr val="9B59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Trendy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wyzwania</a:t>
            </a: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naukowe</a:t>
            </a:r>
            <a:r>
              <a:rPr lang="en-US" sz="900" b="0" i="0" u="none" strike="noStrike" cap="none" dirty="0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900" b="0" i="0" u="none" strike="noStrike" cap="none" dirty="0" err="1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Roboty</a:t>
            </a:r>
            <a:r>
              <a:rPr lang="en-US" sz="900" b="0" i="0" u="none" strike="noStrike" cap="none" dirty="0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humanoidalne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8046720" y="4901184"/>
            <a:ext cx="822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A / –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Wbudowana sztuczna inteligencja (Edge AI) w robotach humanoidalnych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Trendy i </a:t>
            </a:r>
            <a:r>
              <a:rPr lang="en-US" sz="9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wyzwania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naukowe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Roboty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humanoidalne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 / 35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8595360" cy="777240"/>
          </a:xfrm>
          <a:prstGeom prst="rect">
            <a:avLst/>
          </a:prstGeom>
          <a:solidFill>
            <a:srgbClr val="EDE0F5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04672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AI: 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wykonywanie wnioskowania (inference) modeli AI bezpośrednio na </a:t>
            </a:r>
            <a:r>
              <a:rPr lang="en-US" sz="13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procesorze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robota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bez 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konieczności przesyłania danych do chmury. Kluczowe dla autonomii operacyjnej, latencji &lt;5 ms i prywatności danych przetwarzanych w środowisku człowieka.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6276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Sprzęt i architektury obliczeniowe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6276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Algorytmy i implementacje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26280" y="1993392"/>
            <a:ext cx="0" cy="3474720"/>
          </a:xfrm>
          <a:prstGeom prst="line">
            <a:avLst/>
          </a:prstGeom>
          <a:noFill/>
          <a:ln w="12700">
            <a:solidFill>
              <a:srgbClr val="D5E0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993392"/>
            <a:ext cx="4160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Processing Units (NPU): NVIDIA Jetson Orin (275 TOPS), Qualcomm RB3, Google Edge </a:t>
            </a:r>
            <a:r>
              <a:rPr lang="en-US" sz="12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TPU: </a:t>
            </a:r>
            <a:r>
              <a:rPr lang="en-US" sz="12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wnioskowanie</a:t>
            </a:r>
            <a:r>
              <a:rPr lang="en-US" sz="12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bez chmury, bezpośrednio w jednostce sterującej robota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Neuromorphic computing: Intel Loihi 2, IBM </a:t>
            </a:r>
            <a:r>
              <a:rPr lang="en-US" sz="12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NorthPole</a:t>
            </a:r>
            <a:r>
              <a:rPr lang="en-US" sz="12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</a:t>
            </a:r>
            <a:r>
              <a:rPr lang="en-US" sz="12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inspirowana korą mózgową; zużycie energii 100× niższe niż GPU przy porównywalnej przepustowości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Kwantyzacja (INT8/INT4): redukcja rozmiaru modelu o 75% przy spadku dokładności &lt;2%; </a:t>
            </a:r>
            <a:r>
              <a:rPr lang="en-US" sz="12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</a:t>
            </a:r>
            <a:r>
              <a:rPr lang="en-US" sz="12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</a:t>
            </a:r>
            <a:r>
              <a:rPr lang="en-US" sz="12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MB na mikrokontrolerach ARM Cortex dla reflexów ochronnych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Federacyjne uczenie (Federated Learning): synchronizacja wiedzy między flotą robotów bez </a:t>
            </a:r>
            <a:r>
              <a:rPr lang="en-US" sz="12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centralizacji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danych</a:t>
            </a:r>
            <a:r>
              <a:rPr lang="en-US" sz="12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zgodność</a:t>
            </a:r>
            <a:r>
              <a:rPr lang="en-US" sz="12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RODO/GDPR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993392"/>
            <a:ext cx="4160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on-device: lokalizacja i mapowanie 3D w </a:t>
            </a:r>
            <a:r>
              <a:rPr lang="en-US" sz="12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czasie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rzeczywistym</a:t>
            </a:r>
            <a:r>
              <a:rPr lang="en-US" sz="12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ORB-SLAM3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LIO-SAM; latencja &lt;20 ms na Jetson AGX Orin; brak zależności od GPS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control layer: sieci neuronowe reagujące na kolizje w &lt;1 </a:t>
            </a:r>
            <a:r>
              <a:rPr lang="en-US" sz="12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ms: </a:t>
            </a:r>
            <a:r>
              <a:rPr lang="en-US" sz="12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warstwa</a:t>
            </a:r>
            <a:r>
              <a:rPr lang="en-US" sz="12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niezależna od planera wyższego rzędu; kluczowa dla bezpieczeństwa kontaktu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Wyzwanie termiczne: GPU/NPU generują 15–65 W; zarządzanie temperaturą jako ograniczenie projektowe w kompaktowych torsach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AI: lokalny model </a:t>
            </a:r>
            <a:r>
              <a:rPr lang="en-US" sz="12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cyfrowy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środowiska</a:t>
            </a:r>
            <a:r>
              <a:rPr lang="en-US" sz="12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predykcja</a:t>
            </a:r>
            <a:r>
              <a:rPr lang="en-US" sz="12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następnego stanu bez opóźnienia sieciowego; NVIDIA Omniverse Isaac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Duże Modele Językowe (LLM) jako moduł kognitywny robota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Trendy i </a:t>
            </a:r>
            <a:r>
              <a:rPr lang="en-US" sz="9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wyzwania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naukowe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Roboty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humanoidalne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 / 35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286000" cy="109728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961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Wejście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3716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 · Mikrofon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5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Doyk · LiDAR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0" y="804672"/>
            <a:ext cx="2743200" cy="10972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8961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VLM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13716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· Gemini · LLaMA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5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(on-device lub cloud)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63640" y="804672"/>
            <a:ext cx="2606040" cy="10972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8961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Wyjście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Efektorowe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137160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Planowanie ruchu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5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Sterowanie aktuatorami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78608" y="1353312"/>
            <a:ext cx="347472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87568" y="1353312"/>
            <a:ext cx="576072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VLA i architektura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Wyzwania implementacyjne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26280" y="2377440"/>
            <a:ext cx="0" cy="3474720"/>
          </a:xfrm>
          <a:prstGeom prst="line">
            <a:avLst/>
          </a:prstGeom>
          <a:noFill/>
          <a:ln w="12700">
            <a:solidFill>
              <a:srgbClr val="D5E0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377440"/>
            <a:ext cx="4160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SayCan (Google, 2022): LLM wyznacza cele wysokopoziomowe; model wartości (affordance) określa wykonalność czynności przez </a:t>
            </a:r>
            <a:r>
              <a:rPr lang="en-US" sz="12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konkretnego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robota</a:t>
            </a:r>
            <a:r>
              <a:rPr lang="en-US" sz="12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pionierskie</a:t>
            </a:r>
            <a:r>
              <a:rPr lang="en-US" sz="12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połączenie LLM z kontrolerem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RT-2 (Robotics Transformer 2, Google DeepMind 2023): end-to-end </a:t>
            </a:r>
            <a:r>
              <a:rPr lang="en-US" sz="12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VLA: model 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wizyjno-językowy przetwarza obraz + polecenie i generuje tokeny sterowania silnikami bez pośrednich warstw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π0 (Physical Intelligence, 2024): flow matching + VLA; wytrenowany na 10 000+ godzinach danych teleoperacji; transfer zero-shot na nowe zadania bez dotrenowania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OpenVLA (Berkeley, 2024): open-source VLA; 7B parametrów; wnioskowanie na GPU klasy konsumenckiej (RTX 4090)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2377440"/>
            <a:ext cx="4160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dla robotyki: dekompozycja </a:t>
            </a:r>
            <a:r>
              <a:rPr lang="en-US" sz="12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zadań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złożonych</a:t>
            </a:r>
            <a:r>
              <a:rPr lang="en-US" sz="12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LLM 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jako planer, specjalistyczne modele jako executory; hierarchia TASK→SUBTASK→PRIMITIVE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generation: model musi 'widzieć' scenę przez kamerę i potwierdzać </a:t>
            </a:r>
            <a:r>
              <a:rPr lang="en-US" sz="12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fizykalne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ograniczenia</a:t>
            </a:r>
            <a:r>
              <a:rPr lang="en-US" sz="12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</a:t>
            </a:r>
            <a:r>
              <a:rPr lang="en-US" sz="12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 bezpieczeństwa (brak halucynacji motorycznych)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Latencja vs. jakość: GPT-4o (~300 ms round-trip) nie nadaje się do sterowania reaktywnego; lokalne modele 3B–7B (&lt;50 ms</a:t>
            </a:r>
            <a:r>
              <a:rPr lang="en-US" sz="12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en-US" sz="12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kompromis</a:t>
            </a:r>
            <a:r>
              <a:rPr lang="en-US" sz="12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konieczny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Wyzwanie: halucynacje LLM w kontekście robotycznym mogą prowadzić do </a:t>
            </a:r>
            <a:r>
              <a:rPr lang="en-US" sz="12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kolizji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fizycznych</a:t>
            </a:r>
            <a:r>
              <a:rPr lang="en-US" sz="12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wymóg</a:t>
            </a:r>
            <a:r>
              <a:rPr lang="en-US" sz="12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warstwy weryfikacyjnej (safety monitor)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86C1"/>
          </a:solidFill>
          <a:ln w="12700" cap="flat" cmpd="sng">
            <a:solidFill>
              <a:srgbClr val="2E86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320040" y="45720"/>
            <a:ext cx="8503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Autonomiczn</a:t>
            </a: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 a</a:t>
            </a: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</a:t>
            </a: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</a:t>
            </a: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AI w systemach robotycznych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Trendy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wyzwania</a:t>
            </a: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naukowe</a:t>
            </a:r>
            <a:r>
              <a:rPr lang="en-US" sz="900" b="0" i="0" u="none" strike="noStrike" cap="none" dirty="0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900" b="0" i="0" u="none" strike="noStrike" cap="none" dirty="0" err="1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Roboty</a:t>
            </a:r>
            <a:r>
              <a:rPr lang="en-US" sz="900" b="0" i="0" u="none" strike="noStrike" cap="none" dirty="0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humanoidalne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8046720" y="4901184"/>
            <a:ext cx="822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10c / 35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274320" y="777240"/>
            <a:ext cx="8595300" cy="685800"/>
          </a:xfrm>
          <a:prstGeom prst="rect">
            <a:avLst/>
          </a:prstGeom>
          <a:solidFill>
            <a:srgbClr val="D6EAF8"/>
          </a:solidFill>
          <a:ln w="12700" cap="flat" cmpd="sng">
            <a:solidFill>
              <a:srgbClr val="2E86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411480" y="795528"/>
            <a:ext cx="8321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Agent AI: </a:t>
            </a:r>
            <a:r>
              <a:rPr lang="en-US" sz="13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system </a:t>
            </a:r>
            <a:r>
              <a:rPr lang="en-US" sz="13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zdolny</a:t>
            </a:r>
            <a:r>
              <a:rPr lang="en-US" sz="13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n-US" sz="13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autonomicznego</a:t>
            </a:r>
            <a:r>
              <a:rPr lang="en-US" sz="13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postrzegania</a:t>
            </a:r>
            <a:r>
              <a:rPr lang="en-US" sz="13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środowiska</a:t>
            </a:r>
            <a:r>
              <a:rPr lang="en-US" sz="13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3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formułowania</a:t>
            </a:r>
            <a:r>
              <a:rPr lang="en-US" sz="13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celów</a:t>
            </a:r>
            <a:r>
              <a:rPr lang="en-US" sz="13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3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planowania</a:t>
            </a:r>
            <a:r>
              <a:rPr lang="en-US" sz="13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sekwencji</a:t>
            </a:r>
            <a:r>
              <a:rPr lang="en-US" sz="13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działań</a:t>
            </a:r>
            <a:r>
              <a:rPr lang="en-US" sz="13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3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wykonywania</a:t>
            </a:r>
            <a:r>
              <a:rPr lang="en-US" sz="13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ich</a:t>
            </a:r>
            <a:r>
              <a:rPr lang="en-US" sz="13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z </a:t>
            </a:r>
            <a:r>
              <a:rPr lang="en-US" sz="13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pętlą</a:t>
            </a:r>
            <a:r>
              <a:rPr lang="en-US" sz="13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sprzężenia</a:t>
            </a:r>
            <a:r>
              <a:rPr lang="en-US" sz="13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zwrotnego</a:t>
            </a:r>
            <a:r>
              <a:rPr lang="en-US" sz="1300" b="0" i="0" u="none" strike="noStrike" cap="none" dirty="0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: bez </a:t>
            </a:r>
            <a:r>
              <a:rPr lang="en-US" sz="13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ciągłej</a:t>
            </a:r>
            <a:r>
              <a:rPr lang="en-US" sz="13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ingerencji</a:t>
            </a:r>
            <a:r>
              <a:rPr lang="en-US" sz="13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człowieka</a:t>
            </a:r>
            <a:r>
              <a:rPr lang="en-US" sz="13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. W </a:t>
            </a:r>
            <a:r>
              <a:rPr lang="en-US" sz="13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robotyce</a:t>
            </a:r>
            <a:r>
              <a:rPr lang="en-US" sz="13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humanoidalnej</a:t>
            </a:r>
            <a:r>
              <a:rPr lang="en-US" sz="13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agenty</a:t>
            </a:r>
            <a:r>
              <a:rPr lang="en-US" sz="13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działają</a:t>
            </a:r>
            <a:r>
              <a:rPr lang="en-US" sz="13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zarówno</a:t>
            </a:r>
            <a:r>
              <a:rPr lang="en-US" sz="13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na</a:t>
            </a:r>
            <a:r>
              <a:rPr lang="en-US" sz="13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poziomie</a:t>
            </a:r>
            <a:r>
              <a:rPr lang="en-US" sz="13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jednostkowym</a:t>
            </a:r>
            <a:r>
              <a:rPr lang="en-US" sz="13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3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jak</a:t>
            </a:r>
            <a:r>
              <a:rPr lang="en-US" sz="13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3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w </a:t>
            </a:r>
            <a:r>
              <a:rPr lang="en-US" sz="13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kooperujących</a:t>
            </a:r>
            <a:r>
              <a:rPr lang="en-US" sz="13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sieciach</a:t>
            </a:r>
            <a:r>
              <a:rPr lang="en-US" sz="13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robotów</a:t>
            </a:r>
            <a:r>
              <a:rPr lang="en-US" sz="13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274320" y="1536192"/>
            <a:ext cx="2743200" cy="3246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E0EC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274320" y="1536192"/>
            <a:ext cx="2743200" cy="457200"/>
          </a:xfrm>
          <a:prstGeom prst="rect">
            <a:avLst/>
          </a:prstGeom>
          <a:solidFill>
            <a:srgbClr val="2E86C1"/>
          </a:solidFill>
          <a:ln w="12700" cap="flat" cmpd="sng">
            <a:solidFill>
              <a:srgbClr val="2E86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365760" y="1554480"/>
            <a:ext cx="25602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Cykl percepcja–decyzja–działanie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365760" y="2057400"/>
            <a:ext cx="2560200" cy="26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Observe–Orient–Decide–Act (OODA Loop)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jako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formalizm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agentowy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Ciągła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aktualizacja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mapy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środowiska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(world model)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na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podstawie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nowych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obserwacji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sensorycznych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Planowanie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probabilistyczne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: POMDP (Partially Observable MDP)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dla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środowisk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z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niepewnością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Temporal abstraction: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hierarchia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opcji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(options framework</a:t>
            </a:r>
            <a:r>
              <a:rPr lang="en-US" sz="1050" b="0" i="0" u="none" strike="noStrike" cap="none" dirty="0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): </a:t>
            </a:r>
            <a:r>
              <a:rPr lang="en-US" sz="1050" b="0" i="0" u="none" strike="noStrike" cap="none" dirty="0" err="1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plany</a:t>
            </a:r>
            <a:r>
              <a:rPr lang="en-US" sz="1050" b="0" i="0" u="none" strike="noStrike" cap="none" dirty="0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wielokrokowe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3246120" y="1536192"/>
            <a:ext cx="2743200" cy="3246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E0EC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3246120" y="1536192"/>
            <a:ext cx="2743200" cy="457200"/>
          </a:xfrm>
          <a:prstGeom prst="rect">
            <a:avLst/>
          </a:prstGeom>
          <a:solidFill>
            <a:srgbClr val="6C3483"/>
          </a:solidFill>
          <a:ln w="12700" cap="flat" cmpd="sng">
            <a:solidFill>
              <a:srgbClr val="6C348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3337560" y="1554480"/>
            <a:ext cx="25602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LLM-based Agentic Frameworks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3337560" y="2057400"/>
            <a:ext cx="2560200" cy="26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ReAct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Reason+Act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): LLM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generuje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łańcuchy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myślowe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CoT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wywołuje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narzędzia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API;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zastosowanie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w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robotyce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manipulacyjnej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AutoGen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orkiestracja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wielu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agentów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LLM w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potoku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; Agent-A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planuje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, Agent-B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weryfikuje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bezpieczeństwo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Voyager (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Nvidia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, 2023):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samouczący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się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agent (Minecraft</a:t>
            </a:r>
            <a:r>
              <a:rPr lang="en-US" sz="1050" b="0" i="0" u="none" strike="noStrike" cap="none" dirty="0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): </a:t>
            </a:r>
            <a:r>
              <a:rPr lang="en-US" sz="1050" b="0" i="0" u="none" strike="noStrike" cap="none" dirty="0" err="1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iteracyjne</a:t>
            </a:r>
            <a:r>
              <a:rPr lang="en-US" sz="1050" b="0" i="0" u="none" strike="noStrike" cap="none" dirty="0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generowanie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kodu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jako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umiejętności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RoboAgent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(CMU, 2023): 12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umiejętności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bazowych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→ 38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zadań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przez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semantyczne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generalizowanie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6217920" y="1536192"/>
            <a:ext cx="2743200" cy="3246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5E0EC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6217920" y="1536192"/>
            <a:ext cx="2743200" cy="457200"/>
          </a:xfrm>
          <a:prstGeom prst="rect">
            <a:avLst/>
          </a:prstGeom>
          <a:solidFill>
            <a:srgbClr val="1A7A4A"/>
          </a:solidFill>
          <a:ln w="12700" cap="flat" cmpd="sng">
            <a:solidFill>
              <a:srgbClr val="1A7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6309360" y="1554480"/>
            <a:ext cx="25602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Multi-Agent Robot Systems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6309360" y="2057400"/>
            <a:ext cx="2560200" cy="26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Swarm Intelligence: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koordynacja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floty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robotów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przez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protokoły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negocjacji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zadań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(Contract Net Protocol)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Collaborative manipulation: 2+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roboty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humanoidalne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wspólnie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przenoszące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obiekty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&gt; 100 </a:t>
            </a:r>
            <a:r>
              <a:rPr lang="en-US" sz="1050" b="0" i="0" u="none" strike="noStrike" cap="none" dirty="0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kg: </a:t>
            </a:r>
            <a:r>
              <a:rPr lang="en-US" sz="1050" b="0" i="0" u="none" strike="noStrike" cap="none" dirty="0" err="1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synchronizacja</a:t>
            </a:r>
            <a:r>
              <a:rPr lang="en-US" sz="1050" b="0" i="0" u="none" strike="noStrike" cap="none" dirty="0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impedancji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Komunikacja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agentów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: ROS 2 DDS, Agent Communication Language (ACL);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latencja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&lt;10 ms w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sieci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lokalnej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Emergent behavior: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zachowania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zbiorowe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wyłaniające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się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bez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centralnego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koordynatora</a:t>
            </a:r>
            <a:r>
              <a:rPr lang="en-US" sz="1050" b="0" i="0" u="none" strike="noStrike" cap="none" dirty="0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050" b="0" i="0" u="none" strike="noStrike" cap="none" dirty="0" err="1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temat</a:t>
            </a:r>
            <a:r>
              <a:rPr lang="en-US" sz="1050" b="0" i="0" u="none" strike="noStrike" cap="none" dirty="0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aktywnych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badań</a:t>
            </a:r>
            <a:r>
              <a:rPr lang="en-US" sz="105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(ETH, MIT)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robotyki</a:t>
            </a:r>
            <a:r>
              <a:rPr lang="en-US" sz="2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0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</a:t>
            </a:r>
            <a:r>
              <a:rPr lang="en-US" sz="2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perspektywy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Trendy i </a:t>
            </a:r>
            <a:r>
              <a:rPr lang="en-US" sz="9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wyzwania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naukowe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Roboty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humanoidalne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10d / 35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64008" cy="12344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778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1704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 (2023) | 55B parametrów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3990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Pierwszy end-to-end Visual Language Action model; tokenizacja akcji robota jak tokeny językowe; generalizacja zero-shot na nowe obiekty i polecenia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804672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804672"/>
            <a:ext cx="64008" cy="12344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8778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π0 (pi-zero)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11704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Intelligence (2024) | 3B+ parametrów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0600" y="13990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matching dla ciągłej kontroli; wytrenowany na danych z wielu typów robotów; benchmark: 70%+ success rate na zadaniach z tkaninami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130552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130552"/>
            <a:ext cx="64008" cy="12344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2037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GR-1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" y="249631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Shanghai AI Lab (2024) | 130M parametrów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272491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GPT-like architektura dla robotyki humanoidalnej; uczenie z wideo YouTube + dane robotyczne; przelanie wiedzy o ruchu ludzkim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2130552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130552"/>
            <a:ext cx="64008" cy="12344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2037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OpenVLA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00600" y="249631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Berkeley (2024) | 7B parametrów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272491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Pierwszy open-source VLA; fine-tuning na własnych danych w &lt;1h na pojedynczym GPU; wdrożony na Franka, WidowX, robot1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456432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456432"/>
            <a:ext cx="64008" cy="12344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5295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GROOT (Nvidia, 2024)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11480" y="382219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Isaac Lab | nd. parametrów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" y="405079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Humanoidalny model fundacyjny; uczenie z wideo demonstracji człowieka bez etykiet; sim-to-real przez Isaac Gym + OSMO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3456432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3456432"/>
            <a:ext cx="64008" cy="12344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5295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RoboFlamingo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00600" y="382219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 / PKU (2023) | 9B parametrów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405079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Flamingo (VLM) fine-tuned na danych robotycznych; poprawia baseline o 20% na benchmarku CALVIN bez dodatkowych danych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 i weryfikacja autonomicznych agentów AI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Trendy i </a:t>
            </a:r>
            <a:r>
              <a:rPr lang="en-US" sz="9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wyzwania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naukowe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Roboty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humanoidalne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10e / 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Ryzyko i alignment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Narzędzia weryfikacji i audytu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26280" y="1170432"/>
            <a:ext cx="0" cy="3474720"/>
          </a:xfrm>
          <a:prstGeom prst="line">
            <a:avLst/>
          </a:prstGeom>
          <a:noFill/>
          <a:ln w="12700">
            <a:solidFill>
              <a:srgbClr val="D5E0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70432"/>
            <a:ext cx="4160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problem w robotyce: agent optymalizuje zdefiniowaną funkcję nagrody, nie </a:t>
            </a:r>
            <a:r>
              <a:rPr lang="en-US" sz="13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intencję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człowieka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Goodhart's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w systemach fizycznych; przykład: robot przechytrzający sensor zamiast wykonać zadanie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Corrigibility (poprawialność): zdolność agenta do akceptowania korekty i zatrzymania </a:t>
            </a:r>
            <a:r>
              <a:rPr lang="en-US" sz="13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przez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człowieka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kluczowy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wymóg bezpieczeństwa wg. MIRI, Anthropic; implementacja przez Constitutional AI w robotyce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behawioralny: systemy </a:t>
            </a:r>
            <a:r>
              <a:rPr lang="en-US" sz="13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wykrywania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anomalii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HMM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autoenkoderowe modele normalnych trajektorii; alarm przy odchyleniu &gt;2σ od rozkładu treningowego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verification: TLA+, 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SPIN: </a:t>
            </a:r>
            <a:r>
              <a:rPr lang="en-US" sz="13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formalna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weryfikacja właściwości systemu wieloagentowego; ograniczona skalowalnością do ~10⁶ stanów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170432"/>
            <a:ext cx="4160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AI (XAI) dla agentów: SHAP, LIME, attention 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visualization: </a:t>
            </a:r>
            <a:r>
              <a:rPr lang="en-US" sz="13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wymaganie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art. 13; robot musi 'wyjaśnić' podjętą decyzję audytorowi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(HITL): tryby operacyjne: pełna autonomia / nadzorowana autonomia / teleoperacja; dynamiczne przełączanie wg. poziomu niepewności agenta (entropy threshold)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Red-teaming agentów robotycznych: systematyczne testowanie </a:t>
            </a:r>
            <a:r>
              <a:rPr lang="en-US" sz="13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scenariuszy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edge-case: adversarial 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środowiska OOD; obowiązek producenta wg. AI Act Annex III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i Digital Twin: Nvidia Omniverse, Isaac 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Sim: </a:t>
            </a:r>
            <a:r>
              <a:rPr lang="en-US" sz="13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testowanie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miliarda scenariuszy agenta przed wdrożeniem fizycznym; standard branżowy od 2024 r.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Percepcja i przetwarzanie sensoryczne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Trendy i </a:t>
            </a:r>
            <a:r>
              <a:rPr lang="en-US" sz="9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wyzwania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naukowe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Roboty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humanoidalne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3139321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Wizja maszynowa</a:t>
            </a: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kamery RGB-D (Intel RealSense, Azure Kinect), kamery stereo, event </a:t>
            </a:r>
            <a:r>
              <a:rPr lang="en-US" sz="14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cameras: </a:t>
            </a:r>
            <a:r>
              <a:rPr lang="en-US" sz="14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rejestracja</a:t>
            </a:r>
            <a:r>
              <a:rPr lang="en-US" sz="14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ruchu z latencją &lt;1 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i radar</a:t>
            </a: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mapowanie 3D środowiska (</a:t>
            </a:r>
            <a:r>
              <a:rPr lang="en-US" sz="14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SLAM: Simultaneous </a:t>
            </a: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and Mapping), kluczowe dla nawigacji w budynkach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Propriocepcja</a:t>
            </a: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enkodery, żyroskopy, </a:t>
            </a:r>
            <a:r>
              <a:rPr lang="en-US" sz="14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akcelerometry</a:t>
            </a: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IMU: </a:t>
            </a:r>
            <a:r>
              <a:rPr lang="en-US" sz="14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pomiar</a:t>
            </a:r>
            <a:r>
              <a:rPr lang="en-US" sz="14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postawy ciała z częstotliwością 1 kHz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Sensoryka dotykowa</a:t>
            </a: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skóra elektroniczna (e-skin</a:t>
            </a:r>
            <a:r>
              <a:rPr lang="en-US" sz="14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en-US" sz="14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siatki</a:t>
            </a:r>
            <a:r>
              <a:rPr lang="en-US" sz="14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czujników ciśnienia / temperatury do 10 000 punktów/dm²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Słuch i mowa</a:t>
            </a: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mikrofony beamforming + ASR + TTS; lokalizacja źródła dźwięku w hałasie przemysłowym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Wyzwanie</a:t>
            </a: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fuzja heterogenicznych danych sensorycznych w czasie rzeczywistym przy ograniczonym budżecie energetycznym (~100 W)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Otwarte problemy</a:t>
            </a: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robustność percepcji w warunkach złego oświetlenia, dymu, ekstremalnych temperatur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Lokomocja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dwunożna</a:t>
            </a:r>
            <a:r>
              <a:rPr lang="en-US" sz="2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0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wyzwania</a:t>
            </a:r>
            <a:r>
              <a:rPr lang="en-US" sz="2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biomechaniczne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Trendy i </a:t>
            </a:r>
            <a:r>
              <a:rPr lang="en-US" sz="9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wyzwania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naukowe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Roboty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humanoidalne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Metody sterowania lokomocją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Otwarte problemy badawcze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26280" y="1170432"/>
            <a:ext cx="0" cy="3474720"/>
          </a:xfrm>
          <a:prstGeom prst="line">
            <a:avLst/>
          </a:prstGeom>
          <a:noFill/>
          <a:ln w="12700">
            <a:solidFill>
              <a:srgbClr val="D5E0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70432"/>
            <a:ext cx="4160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ZMP (Zero Moment Point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en-US" sz="13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klasyczna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miara stabilności (Vukobratović, 1972); stosowany w ASIMO/HRP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Whole-Body Control (WBC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en-US" sz="13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jednoczesna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optymalizacja całego ciała z uwzględnieniem ograniczeń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SLIP (Spring-Loaded Inverted Pendulum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en-US" sz="13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dynamiczna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lokomocja energooszczędna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do lokomocji: ETH Zürich (ANYmal), UC Berkeley (Cassie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sim-to-real 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Sprawność energetyczna: Cost of Transport (CoT) robotów = 1–3; człowieka ≈ 0.2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170432"/>
            <a:ext cx="4160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Chód po nierównościach, schodach, zboczach (nachylenie do 30°)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Odtwarzanie po zaburzeniach zewnętrznych (push recovery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en-US" sz="13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 bezpieczeństwa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Bieganie: Atlas (BD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2,5 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m/s; człowiek ~3,5 m/s dla chodu, &gt;10 m/s dla biegu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Praca w </a:t>
            </a:r>
            <a:r>
              <a:rPr lang="en-US" sz="13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środowiskach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nieustrukturyzowanych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główna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bariera wdrożeń przemysłowych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Certyfikacja bezpieczeństwa ISO 10218 / TS 15066 dla kobotów bipedal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Manipulacja obiektami i zręczność manualna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Trendy i </a:t>
            </a:r>
            <a:r>
              <a:rPr lang="en-US" sz="9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wyzwania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naukowe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Roboty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humanoidalne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planning: analityczne (form/force closure) vs. data-driven (GraspNet, Contact-</a:t>
            </a:r>
            <a:r>
              <a:rPr lang="en-US" sz="13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GraspNet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en-US" sz="13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dokladność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&gt;90% na obiektach widzianych po raz pierwszy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In-hand manipulation: przesuwanie, obrót obiektu bez </a:t>
            </a:r>
            <a:r>
              <a:rPr lang="en-US" sz="13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przerywania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kontaktu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aktywny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obszar badań (OpenAI Dactyl, Shadow Hand)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Uczenie z teleoperacji: zapis trajektorii dłoni człowieka jako dane treningowe (imitation learning w projektach Figure, 1X)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Bimanual manipulation: skoordynowane działanie </a:t>
            </a:r>
            <a:r>
              <a:rPr lang="en-US" sz="13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obu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rąk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pakowanie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montaż, pranie; wymaga globalnej koordynacji kinematycznej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Sensoryczne sprzężenie zwrotne: czujniki siły/momentu (F/T sensors) w </a:t>
            </a:r>
            <a:r>
              <a:rPr lang="en-US" sz="13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nadgarstku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rozdzielczość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 N / 0.001 Nm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Wyzwania: deformowalne obiekty (tkaniny, żywność), materiały śliskie, precyzja sub-milimetrowa w montażu elektronicznym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YCB Object Dataset, NIST Assembly Task 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Board: </a:t>
            </a:r>
            <a:r>
              <a:rPr lang="en-US" sz="13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standaryzowane</a:t>
            </a:r>
            <a:r>
              <a:rPr lang="en-US" sz="13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oceny wydajności manipulacji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>
            <a:off x="0" y="0"/>
            <a:ext cx="9144000" cy="109800"/>
          </a:xfrm>
          <a:prstGeom prst="rect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548640" y="1371600"/>
            <a:ext cx="8046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III. Wyzwania badawcze</a:t>
            </a:r>
            <a:endParaRPr sz="36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548640" y="2240280"/>
            <a:ext cx="8046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FFF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7FBFFF"/>
                </a:solidFill>
                <a:latin typeface="Calibri"/>
                <a:ea typeface="Calibri"/>
                <a:cs typeface="Calibri"/>
                <a:sym typeface="Calibri"/>
              </a:rPr>
              <a:t>Kluczowe bariery na drodze do masowego wdrożenia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548640" y="2834640"/>
            <a:ext cx="2286000" cy="45600"/>
          </a:xfrm>
          <a:prstGeom prst="rect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060D14"/>
          </a:solidFill>
          <a:ln w="12700" cap="flat" cmpd="sng">
            <a:solidFill>
              <a:srgbClr val="060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8046720" y="4901184"/>
            <a:ext cx="822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709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A7090"/>
                </a:solidFill>
                <a:latin typeface="Calibri"/>
                <a:ea typeface="Calibri"/>
                <a:cs typeface="Calibri"/>
                <a:sym typeface="Calibri"/>
              </a:rPr>
              <a:t>13 / 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86C1"/>
          </a:solidFill>
          <a:ln w="12700" cap="flat" cmpd="sng">
            <a:solidFill>
              <a:srgbClr val="2E86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320040" y="45720"/>
            <a:ext cx="8503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4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Interakcja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człowiek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–robot </a:t>
            </a:r>
            <a:r>
              <a:rPr lang="en-US" sz="240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(Human–Robot </a:t>
            </a:r>
            <a:r>
              <a:rPr lang="en-US" sz="2400" i="0" u="none" strike="noStrike" cap="none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Interaction</a:t>
            </a:r>
            <a:r>
              <a:rPr lang="pl-PL" sz="2400" i="0" u="none" strike="noStrike" cap="none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HRI</a:t>
            </a:r>
            <a:r>
              <a:rPr lang="en-US" sz="2400" i="0" u="none" strike="noStrike" cap="none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Trendy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wyzwania</a:t>
            </a: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naukowe</a:t>
            </a:r>
            <a:r>
              <a:rPr lang="en-US" sz="900" b="0" i="0" u="none" strike="noStrike" cap="none" dirty="0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900" b="0" i="0" u="none" strike="noStrike" cap="none" dirty="0" err="1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Roboty</a:t>
            </a:r>
            <a:r>
              <a:rPr lang="en-US" sz="900" b="0" i="0" u="none" strike="noStrike" cap="none" dirty="0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humanoidalne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8046720" y="4901184"/>
            <a:ext cx="822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14 / 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274320" y="80467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400"/>
              <a:buFont typeface="Calibri"/>
              <a:buNone/>
            </a:pPr>
            <a:r>
              <a:rPr lang="en-US" sz="1600" b="1" i="0" u="none" strike="noStrike" cap="none" dirty="0" err="1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Komunikacja</a:t>
            </a:r>
            <a:r>
              <a:rPr lang="en-US" sz="1600" b="1" i="0" u="none" strike="noStrike" cap="none" dirty="0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1" i="0" u="none" strike="noStrike" cap="none" dirty="0" err="1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600" b="1" i="0" u="none" strike="noStrike" cap="none" dirty="0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1" i="0" u="none" strike="noStrike" cap="none" dirty="0" err="1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kooperacja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4754880" y="80467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400"/>
              <a:buFont typeface="Calibri"/>
              <a:buNone/>
            </a:pPr>
            <a:r>
              <a:rPr lang="en-US" sz="1600" b="1" i="0" u="none" strike="noStrike" cap="non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Aspekty psychologiczne i bezpieczeństwo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4526280" y="1170432"/>
            <a:ext cx="0" cy="3474600"/>
          </a:xfrm>
          <a:prstGeom prst="straightConnector1">
            <a:avLst/>
          </a:prstGeom>
          <a:noFill/>
          <a:ln w="12700" cap="flat" cmpd="sng">
            <a:solidFill>
              <a:srgbClr val="D5E0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2" name="Google Shape;132;p4"/>
          <p:cNvSpPr/>
          <p:nvPr/>
        </p:nvSpPr>
        <p:spPr>
          <a:xfrm>
            <a:off x="223520" y="1240282"/>
            <a:ext cx="4160400" cy="30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44000" marR="0" lvl="0" indent="-1440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Komunikacja</a:t>
            </a: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werbalna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modele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LLM (GPT-4o, Gemini)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jako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interfejs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dialogowy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;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rozumienie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poleceń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w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języku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naturalnym</a:t>
            </a:r>
            <a:endParaRPr sz="140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44000" marR="0" lvl="0" indent="-144000" algn="l" rtl="0">
              <a:lnSpc>
                <a:spcPct val="115000"/>
              </a:lnSpc>
              <a:spcBef>
                <a:spcPts val="500"/>
              </a:spcBef>
              <a:spcAft>
                <a:spcPts val="6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Komunikacja</a:t>
            </a: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niewerbalna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rozpoznawanie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gestów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mimiki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emocji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; robot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jako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agent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społeczny</a:t>
            </a:r>
            <a:endParaRPr sz="140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44000" marR="0" lvl="0" indent="-144000" algn="l" rtl="0">
              <a:lnSpc>
                <a:spcPct val="115000"/>
              </a:lnSpc>
              <a:spcBef>
                <a:spcPts val="500"/>
              </a:spcBef>
              <a:spcAft>
                <a:spcPts val="6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Przewidywanie</a:t>
            </a: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intencji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modele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proaktywnej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pomocy</a:t>
            </a:r>
            <a:r>
              <a:rPr lang="en-US" sz="140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robot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nie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czeka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na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polecenie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lecz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antycypuje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potrzeby</a:t>
            </a:r>
            <a:endParaRPr sz="140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44000" marR="0" lvl="0" indent="-144000" algn="l" rtl="0">
              <a:lnSpc>
                <a:spcPct val="115000"/>
              </a:lnSpc>
              <a:spcBef>
                <a:spcPts val="500"/>
              </a:spcBef>
              <a:spcAft>
                <a:spcPts val="6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Wspólna</a:t>
            </a: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uwaga</a:t>
            </a: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(joint attention):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synchronizacja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spojrzenia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robota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z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gestem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człowieka</a:t>
            </a:r>
            <a:endParaRPr sz="140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658360" y="1240282"/>
            <a:ext cx="4160400" cy="282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44000" marR="0" lvl="0" indent="-1440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Uncanny Valley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efekt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dyskomfortu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przy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zbyt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realistycznym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wyglądzie</a:t>
            </a:r>
            <a:r>
              <a:rPr lang="en-US" sz="140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implikacje</a:t>
            </a:r>
            <a:r>
              <a:rPr lang="en-US" sz="140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dla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projektowania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androidów</a:t>
            </a:r>
            <a:endParaRPr sz="140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44000" marR="0" lvl="0" indent="-144000" algn="l" rtl="0">
              <a:lnSpc>
                <a:spcPct val="115000"/>
              </a:lnSpc>
              <a:spcBef>
                <a:spcPts val="500"/>
              </a:spcBef>
              <a:spcAft>
                <a:spcPts val="6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Przystosowanie</a:t>
            </a: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prędkości</a:t>
            </a: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siły</a:t>
            </a: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do </a:t>
            </a: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obecności</a:t>
            </a: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człowieka</a:t>
            </a:r>
            <a:r>
              <a:rPr lang="en-US" sz="140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integracja</a:t>
            </a:r>
            <a:r>
              <a:rPr lang="en-US" sz="140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norm ISO TS 15066</a:t>
            </a:r>
            <a:endParaRPr sz="140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44000" marR="0" lvl="0" indent="-144000" algn="l" rtl="0">
              <a:lnSpc>
                <a:spcPct val="115000"/>
              </a:lnSpc>
              <a:spcBef>
                <a:spcPts val="500"/>
              </a:spcBef>
              <a:spcAft>
                <a:spcPts val="6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Budowanie</a:t>
            </a: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zaufania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transparentność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działań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robota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wyjaśnialne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AI (XAI)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jako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wymóg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regulacyjny</a:t>
            </a:r>
            <a:endParaRPr sz="140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44000" marR="0" lvl="0" indent="-144000" algn="l" rtl="0">
              <a:lnSpc>
                <a:spcPct val="115000"/>
              </a:lnSpc>
              <a:spcBef>
                <a:spcPts val="500"/>
              </a:spcBef>
              <a:spcAft>
                <a:spcPts val="6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Badania</a:t>
            </a: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HRI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metodologia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mieszana</a:t>
            </a:r>
            <a:r>
              <a:rPr lang="en-US" sz="140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eksperymenty</a:t>
            </a:r>
            <a:r>
              <a:rPr lang="en-US" sz="140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laboratoryjne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badania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terenowe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symulacja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VR</a:t>
            </a:r>
            <a:endParaRPr sz="140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 systemów autonomicznych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Trendy i </a:t>
            </a:r>
            <a:r>
              <a:rPr lang="en-US" sz="9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wyzwania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naukowe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Roboty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humanoidalne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9549" y="783590"/>
            <a:ext cx="8412481" cy="3816429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Bezpieczeństwo funkcjonalne </a:t>
            </a:r>
            <a:r>
              <a:rPr lang="en-US" sz="1400" spc="-40" dirty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(Functional Safety): normy IEC 62061, ISO </a:t>
            </a:r>
            <a:r>
              <a:rPr lang="en-US" sz="1400" spc="-40" dirty="0" smtClean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13849: </a:t>
            </a:r>
            <a:r>
              <a:rPr lang="en-US" sz="1400" spc="-40" dirty="0" err="1" smtClean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poziomy</a:t>
            </a:r>
            <a:r>
              <a:rPr lang="en-US" sz="1400" spc="-40" dirty="0" smtClean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40" dirty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PL a–e; integracja z robotami mobilnymi</a:t>
            </a:r>
            <a:endParaRPr lang="en-US" sz="1400" spc="-40" dirty="0">
              <a:latin typeface="Roboto"/>
            </a:endParaRPr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Cyfrowa odporność</a:t>
            </a:r>
            <a:r>
              <a:rPr lang="en-US" sz="1400" spc="-40" dirty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: ataki adversarialne na modele percepcji (adversarial patches</a:t>
            </a:r>
            <a:r>
              <a:rPr lang="en-US" sz="1400" spc="-40" dirty="0" smtClean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): </a:t>
            </a:r>
            <a:r>
              <a:rPr lang="en-US" sz="1400" spc="-40" dirty="0" err="1" smtClean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podatność</a:t>
            </a:r>
            <a:r>
              <a:rPr lang="en-US" sz="1400" spc="-40" dirty="0" smtClean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40" dirty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systemów opartych na DNN</a:t>
            </a:r>
            <a:endParaRPr lang="en-US" sz="1400" spc="-40" dirty="0">
              <a:latin typeface="Roboto"/>
            </a:endParaRPr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Fail-safe mechanisms</a:t>
            </a:r>
            <a:r>
              <a:rPr lang="en-US" sz="1400" spc="-40" dirty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: wielopoziomowe systemy zatrzymania awaryjnego, monitored stop (IEC 60204-1)</a:t>
            </a:r>
            <a:endParaRPr lang="en-US" sz="1400" spc="-40" dirty="0">
              <a:latin typeface="Roboto"/>
            </a:endParaRPr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Certyfikacja AI Act (UE): </a:t>
            </a:r>
            <a:r>
              <a:rPr lang="en-US" sz="1400" spc="-40" dirty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roboty humanoidalne jako systemy wysokiego ryzyka (Annex III</a:t>
            </a:r>
            <a:r>
              <a:rPr lang="en-US" sz="1400" spc="-40" dirty="0" smtClean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): </a:t>
            </a:r>
            <a:r>
              <a:rPr lang="en-US" sz="1400" spc="-40" dirty="0" err="1" smtClean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wymóg</a:t>
            </a:r>
            <a:r>
              <a:rPr lang="en-US" sz="1400" spc="-40" dirty="0" smtClean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40" dirty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audytu, transparentności danych i logowania decyzji</a:t>
            </a:r>
            <a:endParaRPr lang="en-US" sz="1400" spc="-40" dirty="0">
              <a:latin typeface="Roboto"/>
            </a:endParaRPr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Testowanie i walidacja</a:t>
            </a:r>
            <a:r>
              <a:rPr lang="en-US" sz="1400" spc="-40" dirty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: symulacje Monte Carlo, formal verification, Hardware-in-the-Loop (</a:t>
            </a:r>
            <a:r>
              <a:rPr lang="en-US" sz="1400" spc="-40" dirty="0" err="1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HiL</a:t>
            </a:r>
            <a:r>
              <a:rPr lang="en-US" sz="1400" spc="-40" dirty="0" smtClean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): </a:t>
            </a:r>
            <a:r>
              <a:rPr lang="en-US" sz="1400" spc="-40" dirty="0" err="1" smtClean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weryfikacja</a:t>
            </a:r>
            <a:r>
              <a:rPr lang="en-US" sz="1400" spc="-40" dirty="0" smtClean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40" dirty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zachowania w 10⁶+ scenariuszy</a:t>
            </a:r>
            <a:endParaRPr lang="en-US" sz="1400" spc="-40" dirty="0">
              <a:latin typeface="Roboto"/>
            </a:endParaRPr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Problem dystrybucji</a:t>
            </a:r>
            <a:r>
              <a:rPr lang="en-US" sz="1400" spc="-40" dirty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: robot trenowany na danych z magazynu może nie radzić sobie w </a:t>
            </a:r>
            <a:r>
              <a:rPr lang="en-US" sz="1400" spc="-40" dirty="0" err="1" smtClean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szpitalu</a:t>
            </a:r>
            <a:r>
              <a:rPr lang="en-US" sz="1400" spc="-40" dirty="0" smtClean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spc="-40" dirty="0" err="1" smtClean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generalizacja</a:t>
            </a:r>
            <a:r>
              <a:rPr lang="en-US" sz="1400" spc="-40" dirty="0" smtClean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40" dirty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jako otwarty problem</a:t>
            </a:r>
            <a:endParaRPr lang="en-US" sz="1400" spc="-40" dirty="0">
              <a:latin typeface="Roboto"/>
            </a:endParaRPr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Rekomendacja</a:t>
            </a:r>
            <a:r>
              <a:rPr lang="en-US" sz="1400" spc="-40" dirty="0">
                <a:solidFill>
                  <a:srgbClr val="1A202C"/>
                </a:solidFill>
                <a:latin typeface="Roboto"/>
                <a:ea typeface="Calibri" pitchFamily="34" charset="-122"/>
                <a:cs typeface="Calibri" pitchFamily="34" charset="-120"/>
              </a:rPr>
              <a:t>: budowa narodowych standardów bezpieczeństwa dla robotów autonomicznych we współpracy z PKN i EUROCAE</a:t>
            </a:r>
            <a:endParaRPr lang="en-US" sz="1400" spc="-40" dirty="0">
              <a:latin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86C1"/>
          </a:solidFill>
          <a:ln w="12700" cap="flat" cmpd="sng">
            <a:solidFill>
              <a:srgbClr val="2E86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320040" y="45720"/>
            <a:ext cx="8503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4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Energetyka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autonomia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operacyjna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Trendy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wyzwania</a:t>
            </a: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naukowe</a:t>
            </a:r>
            <a:r>
              <a:rPr lang="en-US" sz="900" b="0" i="0" u="none" strike="noStrike" cap="none" dirty="0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900" b="0" i="0" u="none" strike="noStrike" cap="none" dirty="0" err="1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Roboty</a:t>
            </a:r>
            <a:r>
              <a:rPr lang="en-US" sz="900" b="0" i="0" u="none" strike="noStrike" cap="none" dirty="0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humanoidalne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8046720" y="4901184"/>
            <a:ext cx="822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16 / 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274320" y="80467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400"/>
              <a:buFont typeface="Calibri"/>
              <a:buNone/>
            </a:pPr>
            <a:r>
              <a:rPr lang="en-US" sz="1600" b="1" i="0" u="none" strike="noStrike" cap="none" dirty="0" err="1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Technologie</a:t>
            </a:r>
            <a:r>
              <a:rPr lang="en-US" sz="1600" b="1" i="0" u="none" strike="noStrike" cap="none" dirty="0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1" i="0" u="none" strike="noStrike" cap="none" dirty="0" err="1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zasilania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754880" y="80467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400"/>
              <a:buFont typeface="Calibri"/>
              <a:buNone/>
            </a:pPr>
            <a:r>
              <a:rPr lang="en-US" sz="1600" b="1" i="0" u="none" strike="noStrike" cap="non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Zarządzanie energią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5"/>
          <p:cNvCxnSpPr/>
          <p:nvPr/>
        </p:nvCxnSpPr>
        <p:spPr>
          <a:xfrm>
            <a:off x="4526280" y="1170432"/>
            <a:ext cx="0" cy="3474600"/>
          </a:xfrm>
          <a:prstGeom prst="straightConnector1">
            <a:avLst/>
          </a:prstGeom>
          <a:noFill/>
          <a:ln w="12700" cap="flat" cmpd="sng">
            <a:solidFill>
              <a:srgbClr val="D5E0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3" name="Google Shape;143;p5"/>
          <p:cNvSpPr/>
          <p:nvPr/>
        </p:nvSpPr>
        <p:spPr>
          <a:xfrm>
            <a:off x="160020" y="1170432"/>
            <a:ext cx="4366260" cy="2862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144000" marR="0" lvl="0" indent="-1440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Baterie</a:t>
            </a: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litowo-jonowe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gęstość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energii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250–300 </a:t>
            </a:r>
            <a:r>
              <a:rPr lang="en-US" sz="140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Wh</a:t>
            </a:r>
            <a:r>
              <a:rPr lang="en-US" sz="140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/kg: </a:t>
            </a:r>
            <a:r>
              <a:rPr lang="en-US" sz="140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czas</a:t>
            </a:r>
            <a:r>
              <a:rPr lang="en-US" sz="140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pracy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robota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1,5–3 h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przy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pełnej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aktywności</a:t>
            </a:r>
            <a:endParaRPr sz="140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44000" marR="0" lvl="0" indent="-144000" algn="l" rtl="0">
              <a:lnSpc>
                <a:spcPct val="115000"/>
              </a:lnSpc>
              <a:spcBef>
                <a:spcPts val="500"/>
              </a:spcBef>
              <a:spcAft>
                <a:spcPts val="12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Baterie</a:t>
            </a: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stałostanowe</a:t>
            </a: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(solid-state):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prognozowana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gęstość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&gt;400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Wh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/kg; mass.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wdrożenie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~2027–2028</a:t>
            </a:r>
            <a:endParaRPr sz="140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44000" marR="0" lvl="0" indent="-144000" algn="l" rtl="0">
              <a:lnSpc>
                <a:spcPct val="115000"/>
              </a:lnSpc>
              <a:spcBef>
                <a:spcPts val="500"/>
              </a:spcBef>
              <a:spcAft>
                <a:spcPts val="12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Ogniwa</a:t>
            </a: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paliwowe</a:t>
            </a: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wodorowe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dłuższa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autonomia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pl-PL" sz="140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pl-PL" sz="140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40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(&gt;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8 h), ale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infrastruktura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tankowania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ograniczona</a:t>
            </a:r>
            <a:endParaRPr sz="140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44000" marR="0" lvl="0" indent="-144000" algn="l" rtl="0">
              <a:lnSpc>
                <a:spcPct val="115000"/>
              </a:lnSpc>
              <a:spcBef>
                <a:spcPts val="500"/>
              </a:spcBef>
              <a:spcAft>
                <a:spcPts val="12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Zarządzanie</a:t>
            </a: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energią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algorytmy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predykcyjnego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planowania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energii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;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rekuperacja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energii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przy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hamowaniu</a:t>
            </a:r>
            <a:endParaRPr sz="140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4588510" y="1170432"/>
            <a:ext cx="4434840" cy="2862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144000" marR="0" lvl="0" indent="-1440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4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Zużycie</a:t>
            </a:r>
            <a:r>
              <a:rPr lang="en-US" sz="1400" b="1" i="0" u="none" strike="noStrike" cap="none" spc="-4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i="0" u="none" strike="noStrike" cap="none" spc="-4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mocy</a:t>
            </a:r>
            <a:r>
              <a:rPr lang="en-US" sz="1400" i="0" u="none" strike="noStrike" cap="none" spc="-4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~300–1500 W </a:t>
            </a:r>
            <a:r>
              <a:rPr lang="en-US" sz="1400" i="0" u="none" strike="noStrike" cap="none" spc="-4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-US" sz="1400" i="0" u="none" strike="noStrike" cap="none" spc="-4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4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zależności</a:t>
            </a:r>
            <a:r>
              <a:rPr lang="en-US" sz="1400" i="0" u="none" strike="noStrike" cap="none" spc="-4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pl-PL" sz="1400" i="0" u="none" strike="noStrike" cap="none" spc="-4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pl-PL" sz="1400" i="0" u="none" strike="noStrike" cap="none" spc="-4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400" i="0" u="none" strike="noStrike" cap="none" spc="-4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od </a:t>
            </a:r>
            <a:r>
              <a:rPr lang="en-US" sz="1400" i="0" u="none" strike="noStrike" cap="none" spc="-4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zadania</a:t>
            </a:r>
            <a:r>
              <a:rPr lang="en-US" sz="1400" i="0" u="none" strike="noStrike" cap="none" spc="-4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n-US" sz="1400" i="0" u="none" strike="noStrike" cap="none" spc="-4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chód</a:t>
            </a:r>
            <a:r>
              <a:rPr lang="en-US" sz="1400" i="0" u="none" strike="noStrike" cap="none" spc="-4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vs. </a:t>
            </a:r>
            <a:r>
              <a:rPr lang="en-US" sz="1400" i="0" u="none" strike="noStrike" cap="none" spc="-4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manipulacja</a:t>
            </a:r>
            <a:r>
              <a:rPr lang="en-US" sz="1400" i="0" u="none" strike="noStrike" cap="none" spc="-4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4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precyzyjna</a:t>
            </a:r>
            <a:r>
              <a:rPr lang="en-US" sz="1400" i="0" u="none" strike="noStrike" cap="none" spc="-4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1400" i="0" u="none" strike="noStrike" cap="none" spc="-4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44000" marR="0" lvl="0" indent="-144000" algn="l" rtl="0">
              <a:lnSpc>
                <a:spcPct val="115000"/>
              </a:lnSpc>
              <a:spcBef>
                <a:spcPts val="500"/>
              </a:spcBef>
              <a:spcAft>
                <a:spcPts val="12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4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Cooling systems</a:t>
            </a:r>
            <a:r>
              <a:rPr lang="en-US" sz="1400" i="0" u="none" strike="noStrike" cap="none" spc="-4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chłodzenie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cieczy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dla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aktuatorów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hydraulicznych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;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chłodzenie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powietrzem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dla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elektrycznych</a:t>
            </a:r>
            <a:endParaRPr sz="140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44000" marR="0" lvl="0" indent="-144000" algn="l" rtl="0">
              <a:lnSpc>
                <a:spcPct val="115000"/>
              </a:lnSpc>
              <a:spcBef>
                <a:spcPts val="500"/>
              </a:spcBef>
              <a:spcAft>
                <a:spcPts val="12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4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Wireless charging</a:t>
            </a:r>
            <a:r>
              <a:rPr lang="en-US" sz="1400" i="0" u="none" strike="noStrike" cap="none" spc="-4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spc="-4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ładowanie</a:t>
            </a:r>
            <a:r>
              <a:rPr lang="en-US" sz="1400" i="0" u="none" strike="noStrike" cap="none" spc="-4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4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indukcyjne</a:t>
            </a:r>
            <a:r>
              <a:rPr lang="en-US" sz="1400" i="0" u="none" strike="noStrike" cap="none" spc="-4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4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podczas</a:t>
            </a:r>
            <a:r>
              <a:rPr lang="en-US" sz="1400" i="0" u="none" strike="noStrike" cap="none" spc="-4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4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postoju</a:t>
            </a:r>
            <a:r>
              <a:rPr lang="en-US" sz="1400" i="0" u="none" strike="noStrike" cap="none" spc="-4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spc="-4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integracja</a:t>
            </a:r>
            <a:r>
              <a:rPr lang="en-US" sz="1400" i="0" u="none" strike="noStrike" cap="none" spc="-4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4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z </a:t>
            </a:r>
            <a:r>
              <a:rPr lang="en-US" sz="1400" i="0" u="none" strike="noStrike" cap="none" spc="-4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infrastrukturą</a:t>
            </a:r>
            <a:r>
              <a:rPr lang="en-US" sz="1400" i="0" u="none" strike="noStrike" cap="none" spc="-4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4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zakładu</a:t>
            </a:r>
            <a:endParaRPr sz="1400" i="0" u="none" strike="noStrike" cap="none" spc="-4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44000" marR="0" lvl="0" indent="-144000" algn="l" rtl="0">
              <a:lnSpc>
                <a:spcPct val="115000"/>
              </a:lnSpc>
              <a:spcBef>
                <a:spcPts val="500"/>
              </a:spcBef>
              <a:spcAft>
                <a:spcPts val="12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4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Wyzwanie</a:t>
            </a:r>
            <a:r>
              <a:rPr lang="en-US" sz="1400" i="0" u="none" strike="noStrike" cap="none" spc="-4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spc="-4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czas</a:t>
            </a:r>
            <a:r>
              <a:rPr lang="en-US" sz="1400" i="0" u="none" strike="noStrike" cap="none" spc="-4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4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ładowania</a:t>
            </a:r>
            <a:r>
              <a:rPr lang="en-US" sz="1400" i="0" u="none" strike="noStrike" cap="none" spc="-4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vs. </a:t>
            </a:r>
            <a:r>
              <a:rPr lang="en-US" sz="1400" i="0" u="none" strike="noStrike" cap="none" spc="-4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czas</a:t>
            </a:r>
            <a:r>
              <a:rPr lang="en-US" sz="1400" i="0" u="none" strike="noStrike" cap="none" spc="-4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4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pracy</a:t>
            </a:r>
            <a:r>
              <a:rPr lang="en-US" sz="1400" i="0" u="none" strike="noStrike" cap="none" spc="-4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pl-PL" sz="1400" i="0" u="none" strike="noStrike" cap="none" spc="-4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pl-PL" sz="1400" i="0" u="none" strike="noStrike" cap="none" spc="-4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400" i="0" u="none" strike="noStrike" cap="none" spc="-4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n-US" sz="1400" i="0" u="none" strike="noStrike" cap="none" spc="-4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ratio &gt;3:1 </a:t>
            </a:r>
            <a:r>
              <a:rPr lang="en-US" sz="1400" i="0" u="none" strike="noStrike" cap="none" spc="-4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nieakceptowalny</a:t>
            </a:r>
            <a:r>
              <a:rPr lang="en-US" sz="1400" i="0" u="none" strike="noStrike" cap="none" spc="-4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4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dla</a:t>
            </a:r>
            <a:r>
              <a:rPr lang="en-US" sz="1400" i="0" u="none" strike="noStrike" cap="none" spc="-4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4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zastosowań</a:t>
            </a:r>
            <a:r>
              <a:rPr lang="en-US" sz="1400" i="0" u="none" strike="noStrike" cap="none" spc="-4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24/7)</a:t>
            </a:r>
            <a:endParaRPr sz="1400" i="0" u="none" strike="noStrike" cap="none" spc="-4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Zaawansowane materiały i metody wytwarzania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Trendy i </a:t>
            </a:r>
            <a:r>
              <a:rPr lang="en-US" sz="9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wyzwania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naukowe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Roboty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humanoidalne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0020" y="935990"/>
            <a:ext cx="8914130" cy="2935025"/>
          </a:xfrm>
          <a:prstGeom prst="rect">
            <a:avLst/>
          </a:prstGeom>
          <a:noFill/>
          <a:ln/>
        </p:spPr>
        <p:txBody>
          <a:bodyPr wrap="square" lIns="72000" tIns="36000" rIns="72000" bIns="36000" rtlCol="0" anchor="t">
            <a:spAutoFit/>
          </a:bodyPr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Stopy aluminium lotniczego </a:t>
            </a:r>
            <a:r>
              <a:rPr lang="en-US" sz="1400" spc="-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(7075-T6, 6061</a:t>
            </a:r>
            <a:r>
              <a:rPr lang="en-US" sz="1400" spc="-5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en-US" sz="1400" spc="-5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wytrzymałość</a:t>
            </a:r>
            <a:r>
              <a:rPr lang="en-US" sz="1400" spc="-5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masy ~500 MPa przy gęstości 2,7 g/cm³; standard przemysłowy</a:t>
            </a:r>
            <a:endParaRPr lang="en-US" sz="1400" spc="-5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Kompozyty węglowe </a:t>
            </a:r>
            <a:r>
              <a:rPr lang="en-US" sz="1400" spc="-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(CFRP): wytrzymałość na rozciąganie &gt;1000 MPa, gęstość &lt;1,6 </a:t>
            </a:r>
            <a:r>
              <a:rPr lang="en-US" sz="1400" spc="-5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g/cm³: </a:t>
            </a:r>
            <a:r>
              <a:rPr lang="en-US" sz="1400" spc="-5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elementy</a:t>
            </a:r>
            <a:r>
              <a:rPr lang="en-US" sz="1400" spc="-5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rami</a:t>
            </a:r>
            <a:r>
              <a:rPr lang="pl-PL" sz="1400" spc="-5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r>
              <a:rPr lang="en-US" sz="1400" spc="-5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goleni</a:t>
            </a:r>
            <a:endParaRPr lang="en-US" sz="1400" spc="-5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Tytan</a:t>
            </a:r>
            <a:r>
              <a:rPr lang="en-US" sz="1400" spc="-4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(Ti-6Al-4V): </a:t>
            </a:r>
            <a:r>
              <a:rPr lang="en-US" sz="1400" spc="-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stawy o wysokich obciążeniach dynamicznych; druk 3D (LPBF) umożliwia geometrie topologicznie zoptymalizowane</a:t>
            </a:r>
            <a:endParaRPr lang="en-US" sz="1400" spc="-5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Polimery techniczne </a:t>
            </a:r>
            <a:r>
              <a:rPr lang="en-US" sz="1400" spc="-6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(PEEK, PA12-CF): elementy niekrytyczne, redukcja masy, </a:t>
            </a:r>
            <a:r>
              <a:rPr lang="en-US" sz="1400" spc="-6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odporność</a:t>
            </a:r>
            <a:r>
              <a:rPr lang="en-US" sz="1400" spc="-6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6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chemiczna</a:t>
            </a:r>
            <a:r>
              <a:rPr lang="en-US" sz="1400" spc="-6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spc="-6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produkcja</a:t>
            </a:r>
            <a:r>
              <a:rPr lang="en-US" sz="1400" spc="-6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6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addytywna</a:t>
            </a:r>
            <a:endParaRPr lang="en-US" sz="14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Skóra miękka </a:t>
            </a:r>
            <a:r>
              <a:rPr lang="en-US" sz="1400" spc="-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(soft robotics): silikony, </a:t>
            </a:r>
            <a:r>
              <a:rPr lang="en-US" sz="1400" spc="-5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poliuretany</a:t>
            </a:r>
            <a:r>
              <a:rPr lang="en-US" sz="1400" spc="-5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spc="-5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ochrona</a:t>
            </a:r>
            <a:r>
              <a:rPr lang="en-US" sz="1400" spc="-5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człowieka podczas kontaktu; moduł Younga &lt; 1 MPa</a:t>
            </a:r>
            <a:endParaRPr lang="en-US" sz="1400" spc="-5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Druk 3D metalu </a:t>
            </a:r>
            <a:r>
              <a:rPr lang="en-US" sz="1400" spc="-6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(SLM/EBM): czas wytwarzania elementów strukturalnych skrócony o 60–80% vs. obróbka CNC; kluczowe dla prototypowania</a:t>
            </a:r>
            <a:endParaRPr lang="en-US" sz="1400" spc="-6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400" b="1" spc="-4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r>
              <a:rPr lang="en-US" sz="1400" spc="-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digital twin </a:t>
            </a:r>
            <a:r>
              <a:rPr lang="en-US" sz="1400" spc="-5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materiałów</a:t>
            </a:r>
            <a:r>
              <a:rPr lang="en-US" sz="1400" spc="-5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spc="-5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symulacja</a:t>
            </a:r>
            <a:r>
              <a:rPr lang="en-US" sz="1400" spc="-5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 + ML do przewidywania zmęczenia i żywotności komponentów</a:t>
            </a:r>
            <a:endParaRPr lang="en-US" sz="1400" spc="-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86C1"/>
          </a:solidFill>
          <a:ln w="12700" cap="flat" cmpd="sng">
            <a:solidFill>
              <a:srgbClr val="2E86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320040" y="45720"/>
            <a:ext cx="8503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4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Wyzwania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kognitywne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architektura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systemów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inteligentnych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Trendy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wyzwania</a:t>
            </a: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naukowe</a:t>
            </a:r>
            <a:r>
              <a:rPr lang="en-US" sz="900" b="0" i="0" u="none" strike="noStrike" cap="none" dirty="0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900" b="0" i="0" u="none" strike="noStrike" cap="none" dirty="0" err="1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Roboty</a:t>
            </a:r>
            <a:r>
              <a:rPr lang="en-US" sz="900" b="0" i="0" u="none" strike="noStrike" cap="none" dirty="0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humanoidalne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8046720" y="4901184"/>
            <a:ext cx="822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18 / 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274320" y="80467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400"/>
              <a:buFont typeface="Calibri"/>
              <a:buNone/>
            </a:pPr>
            <a:r>
              <a:rPr lang="en-US" sz="1600" b="1" i="0" u="none" strike="noStrike" cap="none" dirty="0" err="1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Otwarte</a:t>
            </a:r>
            <a:r>
              <a:rPr lang="en-US" sz="1600" b="1" i="0" u="none" strike="noStrike" cap="none" dirty="0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1" i="0" u="none" strike="noStrike" cap="none" dirty="0" err="1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problemy</a:t>
            </a:r>
            <a:r>
              <a:rPr lang="en-US" sz="1600" b="1" i="0" u="none" strike="noStrike" cap="none" dirty="0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 AI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754880" y="80467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400"/>
              <a:buFont typeface="Calibri"/>
              <a:buNone/>
            </a:pPr>
            <a:r>
              <a:rPr lang="en-US" sz="1600" b="1" i="0" u="none" strike="noStrike" cap="non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Podejścia architektoniczne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6"/>
          <p:cNvCxnSpPr/>
          <p:nvPr/>
        </p:nvCxnSpPr>
        <p:spPr>
          <a:xfrm>
            <a:off x="4526280" y="1170432"/>
            <a:ext cx="0" cy="3474600"/>
          </a:xfrm>
          <a:prstGeom prst="straightConnector1">
            <a:avLst/>
          </a:prstGeom>
          <a:noFill/>
          <a:ln w="12700" cap="flat" cmpd="sng">
            <a:solidFill>
              <a:srgbClr val="D5E0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4" name="Google Shape;154;p6"/>
          <p:cNvSpPr/>
          <p:nvPr/>
        </p:nvSpPr>
        <p:spPr>
          <a:xfrm>
            <a:off x="115569" y="1170432"/>
            <a:ext cx="4500881" cy="282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44000" marR="0" lvl="0" indent="-1440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Common sense reasoning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rozumowanie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sytuacjach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bez </a:t>
            </a:r>
            <a:r>
              <a:rPr lang="en-US" sz="140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precedensu</a:t>
            </a:r>
            <a:r>
              <a:rPr lang="en-US" sz="140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wciąż</a:t>
            </a:r>
            <a:r>
              <a:rPr lang="en-US" sz="140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poza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zasięgiem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obecnych</a:t>
            </a:r>
            <a:r>
              <a:rPr lang="en-US" sz="140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AI</a:t>
            </a:r>
            <a:endParaRPr sz="140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44000" marR="0" lvl="0" indent="-144000" algn="l" rtl="0">
              <a:lnSpc>
                <a:spcPct val="115000"/>
              </a:lnSpc>
              <a:spcBef>
                <a:spcPts val="500"/>
              </a:spcBef>
              <a:spcAft>
                <a:spcPts val="6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Grounding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spc="-6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powiązanie</a:t>
            </a:r>
            <a:r>
              <a:rPr lang="en-US" sz="1400" i="0" u="none" strike="noStrike" cap="none" spc="-6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6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symboli</a:t>
            </a:r>
            <a:r>
              <a:rPr lang="en-US" sz="1400" i="0" u="none" strike="noStrike" cap="none" spc="-6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6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językowych</a:t>
            </a:r>
            <a:r>
              <a:rPr lang="en-US" sz="1400" i="0" u="none" strike="noStrike" cap="none" spc="-6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pl-PL" sz="1400" i="0" u="none" strike="noStrike" cap="none" spc="-6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pl-PL" sz="1400" i="0" u="none" strike="noStrike" cap="none" spc="-6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400" i="0" u="none" strike="noStrike" cap="none" spc="-6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z </a:t>
            </a:r>
            <a:r>
              <a:rPr lang="en-US" sz="1400" i="0" u="none" strike="noStrike" cap="none" spc="-6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reprezentacjami</a:t>
            </a:r>
            <a:r>
              <a:rPr lang="en-US" sz="1400" i="0" u="none" strike="noStrike" cap="none" spc="-6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6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sensoryczno-motorycznymi</a:t>
            </a:r>
            <a:r>
              <a:rPr lang="en-US" sz="1400" i="0" u="none" strike="noStrike" cap="none" spc="-6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1" u="none" strike="noStrike" cap="none" spc="-6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(symbol grounding problem)</a:t>
            </a:r>
            <a:endParaRPr sz="1400" i="1" u="none" strike="noStrike" cap="none" spc="-6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44000" marR="0" lvl="0" indent="-144000" algn="l" rtl="0">
              <a:lnSpc>
                <a:spcPct val="115000"/>
              </a:lnSpc>
              <a:spcBef>
                <a:spcPts val="500"/>
              </a:spcBef>
              <a:spcAft>
                <a:spcPts val="6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Kauzalność</a:t>
            </a: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v</a:t>
            </a:r>
            <a:r>
              <a:rPr lang="pl-PL" sz="1400" b="1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sz="1400" b="1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korelacja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modele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ML </a:t>
            </a:r>
            <a:r>
              <a:rPr lang="en-US" sz="140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uczą</a:t>
            </a:r>
            <a:r>
              <a:rPr lang="en-US" sz="140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się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korelacji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nie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przyczyn</a:t>
            </a:r>
            <a:r>
              <a:rPr lang="en-US" sz="140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konsekwencje</a:t>
            </a:r>
            <a:r>
              <a:rPr lang="en-US" sz="140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dla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bezpieczeństwa</a:t>
            </a:r>
            <a:endParaRPr sz="140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44000" marR="0" lvl="0" indent="-144000" algn="l" rtl="0">
              <a:lnSpc>
                <a:spcPct val="115000"/>
              </a:lnSpc>
              <a:spcBef>
                <a:spcPts val="500"/>
              </a:spcBef>
              <a:spcAft>
                <a:spcPts val="6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Teoria</a:t>
            </a: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umysłu</a:t>
            </a:r>
            <a:r>
              <a:rPr lang="pl-PL" sz="1400" b="1" spc="-6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spc="-6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rozumienie</a:t>
            </a:r>
            <a:r>
              <a:rPr lang="en-US" sz="1400" i="0" u="none" strike="noStrike" cap="none" spc="-6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6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przekonań</a:t>
            </a:r>
            <a:r>
              <a:rPr lang="en-US" sz="1400" i="0" u="none" strike="noStrike" cap="none" spc="-6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400" i="0" u="none" strike="noStrike" cap="none" spc="-6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celów</a:t>
            </a:r>
            <a:r>
              <a:rPr lang="en-US" sz="1400" i="0" u="none" strike="noStrike" cap="none" spc="-6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6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400" i="0" u="none" strike="noStrike" cap="none" spc="-6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6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emocji</a:t>
            </a:r>
            <a:r>
              <a:rPr lang="en-US" sz="1400" i="0" u="none" strike="noStrike" cap="none" spc="-6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6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innych</a:t>
            </a:r>
            <a:r>
              <a:rPr lang="en-US" sz="1400" i="0" u="none" strike="noStrike" cap="none" spc="-6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6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agentów</a:t>
            </a:r>
            <a:r>
              <a:rPr lang="en-US" sz="1400" i="0" u="none" strike="noStrike" cap="none" spc="-6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spc="-6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poziom</a:t>
            </a:r>
            <a:r>
              <a:rPr lang="en-US" sz="1400" i="0" u="none" strike="noStrike" cap="none" spc="-6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6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2-letnie </a:t>
            </a:r>
            <a:r>
              <a:rPr lang="en-US" sz="1400" i="0" u="none" strike="noStrike" cap="none" spc="-6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dziecko</a:t>
            </a:r>
            <a:r>
              <a:rPr lang="en-US" sz="1400" i="0" u="none" strike="noStrike" cap="none" spc="-6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vs. GPT-4</a:t>
            </a:r>
            <a:endParaRPr sz="1400" i="0" u="none" strike="noStrike" cap="none" spc="-6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588510" y="1170432"/>
            <a:ext cx="4281110" cy="30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44000" marR="0" lvl="0" indent="-1440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Architektura</a:t>
            </a: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kognitywna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SOAR, ACT-R, </a:t>
            </a:r>
            <a:r>
              <a:rPr lang="en-US" sz="140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sigma: </a:t>
            </a:r>
            <a:r>
              <a:rPr lang="en-US" sz="140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modele</a:t>
            </a:r>
            <a:r>
              <a:rPr lang="en-US" sz="140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inspirowane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neurobiologią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;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integracja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z DNN</a:t>
            </a:r>
            <a:endParaRPr sz="140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44000" marR="0" lvl="0" indent="-144000" algn="l" rtl="0">
              <a:lnSpc>
                <a:spcPct val="115000"/>
              </a:lnSpc>
              <a:spcBef>
                <a:spcPts val="500"/>
              </a:spcBef>
              <a:spcAft>
                <a:spcPts val="6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Neuro-</a:t>
            </a: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symboliczne</a:t>
            </a: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AI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łączenie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sieci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neuronowych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pl-PL" sz="140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pl-PL" sz="140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40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z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logiką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formalną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1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pl-PL" sz="1400" i="1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1400" i="1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nswer</a:t>
            </a:r>
            <a:r>
              <a:rPr lang="en-US" sz="1400" i="1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pl-PL" sz="1400" i="1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sz="1400" i="1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et </a:t>
            </a:r>
            <a:r>
              <a:rPr lang="pl-PL" sz="1400" i="1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-US" sz="1400" i="1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rogramming</a:t>
            </a:r>
            <a:r>
              <a:rPr lang="en-US" sz="1400" i="1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pl-PL" sz="1400" i="1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-US" sz="1400" i="1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rolog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140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44000" marR="0" lvl="0" indent="-144000" algn="l" rtl="0">
              <a:lnSpc>
                <a:spcPct val="115000"/>
              </a:lnSpc>
              <a:spcBef>
                <a:spcPts val="500"/>
              </a:spcBef>
              <a:spcAft>
                <a:spcPts val="6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Embodied AI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teza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że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inteligencja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wymaga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ciała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pl-PL" sz="140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pl-PL" sz="140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40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40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środowiska</a:t>
            </a:r>
            <a:r>
              <a:rPr lang="en-US" sz="140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symulatory</a:t>
            </a:r>
            <a:r>
              <a:rPr lang="en-US" sz="140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1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n-US" sz="1400" i="1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MuJoCo</a:t>
            </a:r>
            <a:r>
              <a:rPr lang="en-US" sz="1400" i="1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400" i="1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IsaacGym</a:t>
            </a:r>
            <a:r>
              <a:rPr lang="en-US" sz="1400" i="1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)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jako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substytut</a:t>
            </a:r>
            <a:endParaRPr sz="140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44000" marR="0" lvl="0" indent="-144000" algn="l" rtl="0">
              <a:lnSpc>
                <a:spcPct val="115000"/>
              </a:lnSpc>
              <a:spcBef>
                <a:spcPts val="500"/>
              </a:spcBef>
              <a:spcAft>
                <a:spcPts val="6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Skalowalność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model GPT-4 </a:t>
            </a:r>
            <a:r>
              <a:rPr lang="en-US" sz="1400" i="1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(&gt;1 </a:t>
            </a:r>
            <a:r>
              <a:rPr lang="en-US" sz="1400" i="1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bln</a:t>
            </a:r>
            <a:r>
              <a:rPr lang="en-US" sz="1400" i="1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1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parametrów</a:t>
            </a:r>
            <a:r>
              <a:rPr lang="en-US" sz="1400" i="1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) </a:t>
            </a:r>
            <a:r>
              <a:rPr lang="pl-PL" sz="140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pl-PL" sz="140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40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vs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mózg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ludzki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1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(~86 </a:t>
            </a:r>
            <a:r>
              <a:rPr lang="en-US" sz="1400" i="1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mld</a:t>
            </a:r>
            <a:r>
              <a:rPr lang="en-US" sz="1400" i="1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1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neuronów</a:t>
            </a:r>
            <a:r>
              <a:rPr lang="en-US" sz="1400" i="1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n-US" sz="140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metafora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nie</a:t>
            </a:r>
            <a:r>
              <a:rPr lang="en-US" sz="140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porównanie</a:t>
            </a:r>
            <a:endParaRPr sz="140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86C1"/>
          </a:solidFill>
          <a:ln w="12700" cap="flat" cmpd="sng">
            <a:solidFill>
              <a:srgbClr val="2E86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320040" y="45720"/>
            <a:ext cx="8503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4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Aspekty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etyczne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społeczne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Trendy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wyzwania</a:t>
            </a: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naukowe</a:t>
            </a:r>
            <a:r>
              <a:rPr lang="en-US" sz="900" b="0" i="0" u="none" strike="noStrike" cap="none" dirty="0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900" b="0" i="0" u="none" strike="noStrike" cap="none" dirty="0" err="1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Roboty</a:t>
            </a:r>
            <a:r>
              <a:rPr lang="en-US" sz="900" b="0" i="0" u="none" strike="noStrike" cap="none" dirty="0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humanoidalne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8046720" y="4901184"/>
            <a:ext cx="822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19 / 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158750" y="815340"/>
            <a:ext cx="8665090" cy="3570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44000" marR="0" lvl="0" indent="-1440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35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Rynek</a:t>
            </a:r>
            <a:r>
              <a:rPr lang="en-US" sz="135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pracy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wg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. McKinsey Global Institute (2023)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automatyzacja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może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dotknąć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40–800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mln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miejsc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pracy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globalnie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do 2030 r</a:t>
            </a:r>
            <a:r>
              <a:rPr lang="en-US" sz="135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.: </a:t>
            </a:r>
            <a:r>
              <a:rPr lang="en-US" sz="135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roboty</a:t>
            </a:r>
            <a:r>
              <a:rPr lang="en-US" sz="135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humanoidalne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przyspieszają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ten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proces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w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przemyśle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fizycznym</a:t>
            </a:r>
            <a:endParaRPr sz="135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44000" marR="0" lvl="0" indent="-144000" algn="l" rtl="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35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Bias </a:t>
            </a:r>
            <a:r>
              <a:rPr lang="en-US" sz="135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algorytmiczny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modele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trenowane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na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danych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ze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środowisk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zachodnich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mogą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nie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działać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optymalnie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pl-PL" sz="135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pl-PL" sz="135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35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innych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kulturach</a:t>
            </a:r>
            <a:r>
              <a:rPr lang="en-US" sz="135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problem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globalnego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wdrożenia</a:t>
            </a:r>
            <a:endParaRPr sz="135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44000" marR="0" lvl="0" indent="-144000" algn="l" rtl="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35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Prywatność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roboty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wyposażone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w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kamery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HD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mikrofony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w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środowiskach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domowych</a:t>
            </a:r>
            <a:r>
              <a:rPr lang="en-US" sz="135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35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wymogi</a:t>
            </a:r>
            <a:r>
              <a:rPr lang="en-US" sz="135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RODO/GDPR,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minimalizacja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danych</a:t>
            </a:r>
            <a:endParaRPr sz="135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44000" marR="0" lvl="0" indent="-144000" algn="l" rtl="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35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Odpowiedzialność</a:t>
            </a:r>
            <a:r>
              <a:rPr lang="en-US" sz="135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prawna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kto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odpowiada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za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szkody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wyrządzone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przez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autonomiczny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robot?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Producent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właściciel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operator</a:t>
            </a:r>
            <a:r>
              <a:rPr lang="en-US" sz="135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?: </a:t>
            </a:r>
            <a:r>
              <a:rPr lang="en-US" sz="135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luka</a:t>
            </a:r>
            <a:r>
              <a:rPr lang="en-US" sz="135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prawie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UE</a:t>
            </a:r>
            <a:endParaRPr sz="135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44000" marR="0" lvl="0" indent="-144000" algn="l" rtl="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35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Użycie</a:t>
            </a:r>
            <a:r>
              <a:rPr lang="en-US" sz="135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wojskowe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ICRC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apeluje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o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zakaz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w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pełni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autonomicznych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systemów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śmiercionośnych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(LAWS</a:t>
            </a:r>
            <a:r>
              <a:rPr lang="en-US" sz="135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): </a:t>
            </a:r>
            <a:r>
              <a:rPr lang="pl-PL" sz="135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pl-PL" sz="135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35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debata</a:t>
            </a:r>
            <a:r>
              <a:rPr lang="en-US" sz="135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ramach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ONZ od 2014 r.</a:t>
            </a:r>
            <a:endParaRPr sz="135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44000" marR="0" lvl="0" indent="-144000" algn="l" rtl="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35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Tożsamość</a:t>
            </a:r>
            <a:r>
              <a:rPr lang="en-US" sz="135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35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godność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interakcja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z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androidem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jako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potencjalny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substytut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relacji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społecznych</a:t>
            </a:r>
            <a:r>
              <a:rPr lang="en-US" sz="135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35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ryzyko</a:t>
            </a:r>
            <a:r>
              <a:rPr lang="en-US" sz="135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izolacji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pl-PL" sz="135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pl-PL" sz="135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35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35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uzależnienia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szczególnie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wśród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osób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starszych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135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44000" marR="0" lvl="0" indent="-144000" algn="l" rtl="0">
              <a:lnSpc>
                <a:spcPct val="100000"/>
              </a:lnSpc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35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Zasada</a:t>
            </a:r>
            <a:r>
              <a:rPr lang="en-US" sz="1350" b="1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b="1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ostrożności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tempo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wdrożeń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powinno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być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dopasowane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do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tempa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budowania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ram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regulacyjnych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pl-PL" sz="135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pl-PL" sz="135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350" i="0" u="none" strike="noStrike" cap="none" spc="-50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350" i="0" u="none" strike="noStrike" cap="none" spc="-50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kompetencji</a:t>
            </a:r>
            <a:r>
              <a:rPr lang="en-US" sz="1350" i="0" u="none" strike="noStrike" cap="none" spc="-50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50" i="0" u="none" strike="noStrike" cap="none" spc="-50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społecznych</a:t>
            </a:r>
            <a:endParaRPr sz="1350" i="0" u="none" strike="noStrike" cap="none" spc="-5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Regulacje prawne i standardy techniczne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Trendy i </a:t>
            </a:r>
            <a:r>
              <a:rPr lang="en-US" sz="9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wyzwania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naukowe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Roboty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humanoidalne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8595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144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(UE 2024)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71800" y="914400"/>
            <a:ext cx="580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Roboty autonomiczne = systemy wysokiego ryzyka; obowiązek rejestracji, audytu i wyjaśnialności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80744"/>
            <a:ext cx="8595360" cy="475488"/>
          </a:xfrm>
          <a:prstGeom prst="rect">
            <a:avLst/>
          </a:prstGeom>
          <a:solidFill>
            <a:srgbClr val="EAF1FA"/>
          </a:solidFill>
          <a:ln w="6350">
            <a:solidFill>
              <a:srgbClr val="D5E0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45389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10218-1/2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71800" y="1453896"/>
            <a:ext cx="580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 </a:t>
            </a:r>
            <a:r>
              <a:rPr lang="en-US" sz="12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robotów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przemysłowych</a:t>
            </a:r>
            <a:r>
              <a:rPr lang="en-US" sz="12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wymagania</a:t>
            </a:r>
            <a:r>
              <a:rPr lang="en-US" sz="12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projektowe i instalacyjne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920240"/>
            <a:ext cx="8595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9933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ISO/TS 15066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71800" y="1993392"/>
            <a:ext cx="580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Roboty współpracujące (</a:t>
            </a:r>
            <a:r>
              <a:rPr lang="en-US" sz="12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koboty</a:t>
            </a:r>
            <a:r>
              <a:rPr lang="en-US" sz="12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en-US" sz="12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limity</a:t>
            </a:r>
            <a:r>
              <a:rPr lang="en-US" sz="12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sił kontaktowych z człowiekiem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459736"/>
            <a:ext cx="8595360" cy="475488"/>
          </a:xfrm>
          <a:prstGeom prst="rect">
            <a:avLst/>
          </a:prstGeom>
          <a:solidFill>
            <a:srgbClr val="EAF1FA"/>
          </a:solidFill>
          <a:ln w="6350">
            <a:solidFill>
              <a:srgbClr val="D5E0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53288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62443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71800" y="2532888"/>
            <a:ext cx="580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Cyberbezpieczeństwo systemów </a:t>
            </a:r>
            <a:r>
              <a:rPr lang="en-US" sz="12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automatyki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przemysłowej</a:t>
            </a:r>
            <a:r>
              <a:rPr lang="en-US" sz="12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aplikacja</a:t>
            </a:r>
            <a:r>
              <a:rPr lang="en-US" sz="12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robotów sieciowych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2999232"/>
            <a:ext cx="8595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0723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P7001–7014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971800" y="3072384"/>
            <a:ext cx="580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Standardy transparentności, prywatności i bezpieczeństwa systemów autonomicznych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538728"/>
            <a:ext cx="8595360" cy="475488"/>
          </a:xfrm>
          <a:prstGeom prst="rect">
            <a:avLst/>
          </a:prstGeom>
          <a:solidFill>
            <a:srgbClr val="EAF1FA"/>
          </a:solidFill>
          <a:ln w="6350">
            <a:solidFill>
              <a:srgbClr val="D5E0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6118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Dyrektywa Maszynowa 2006/42/WE (nowelizacja 2023)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971800" y="3611880"/>
            <a:ext cx="580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Rozszerzenie zakresu na systemy z elementami AI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078224"/>
            <a:ext cx="8595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0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15137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971800" y="4151376"/>
            <a:ext cx="580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Przetwarzanie danych osobowych przez roboty w środowiskach domowych i publicznych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Zastosowania przemysłowe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 err="1" smtClean="0">
                <a:solidFill>
                  <a:srgbClr val="7F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Przemysł</a:t>
            </a:r>
            <a:r>
              <a:rPr lang="pl-PL" sz="2200" dirty="0">
                <a:solidFill>
                  <a:srgbClr val="7F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2200" dirty="0" smtClean="0">
                <a:solidFill>
                  <a:srgbClr val="7F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 err="1" smtClean="0">
                <a:solidFill>
                  <a:srgbClr val="7F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Medycyna</a:t>
            </a:r>
            <a:r>
              <a:rPr lang="pl-PL" sz="2200" dirty="0">
                <a:solidFill>
                  <a:srgbClr val="7F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2200" dirty="0" smtClean="0">
                <a:solidFill>
                  <a:srgbClr val="7F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 err="1" smtClean="0">
                <a:solidFill>
                  <a:srgbClr val="7F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Przestrzeń</a:t>
            </a:r>
            <a:r>
              <a:rPr lang="en-US" sz="2200" dirty="0" smtClean="0">
                <a:solidFill>
                  <a:srgbClr val="7F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>
                <a:solidFill>
                  <a:srgbClr val="7F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kosmiczna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286000" cy="45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4"/>
          </a:solidFill>
          <a:ln w="12700">
            <a:solidFill>
              <a:srgbClr val="060D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86C1"/>
          </a:solidFill>
          <a:ln w="12700" cap="flat" cmpd="sng">
            <a:solidFill>
              <a:srgbClr val="2E86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320040" y="45720"/>
            <a:ext cx="8503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Zastosowania w przemyśle i logistyce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Trendy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wyzwania</a:t>
            </a: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naukowe</a:t>
            </a:r>
            <a:r>
              <a:rPr lang="en-US" sz="900" b="0" i="0" u="none" strike="noStrike" cap="none" dirty="0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900" b="0" i="0" u="none" strike="noStrike" cap="none" dirty="0" err="1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Roboty</a:t>
            </a:r>
            <a:r>
              <a:rPr lang="en-US" sz="900" b="0" i="0" u="none" strike="noStrike" cap="none" dirty="0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humanoidalne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8046720" y="4901184"/>
            <a:ext cx="822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22 / 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274320" y="80467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Zastosowania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4754880" y="80467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Studia przypadków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8"/>
          <p:cNvCxnSpPr/>
          <p:nvPr/>
        </p:nvCxnSpPr>
        <p:spPr>
          <a:xfrm>
            <a:off x="4526280" y="1170432"/>
            <a:ext cx="0" cy="3474600"/>
          </a:xfrm>
          <a:prstGeom prst="straightConnector1">
            <a:avLst/>
          </a:prstGeom>
          <a:noFill/>
          <a:ln w="12700" cap="flat" cmpd="sng">
            <a:solidFill>
              <a:srgbClr val="D5E0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" name="Google Shape;172;p8"/>
          <p:cNvSpPr/>
          <p:nvPr/>
        </p:nvSpPr>
        <p:spPr>
          <a:xfrm>
            <a:off x="274320" y="1170432"/>
            <a:ext cx="41604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925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Montaż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precyzyjny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(automotive,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elektronika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): Toyota, BMW, 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Foxconn: </a:t>
            </a:r>
            <a:r>
              <a:rPr lang="en-US" sz="1400" i="0" u="none" strike="noStrike" cap="none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próby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wdrożeń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Figure 01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Digit</a:t>
            </a:r>
            <a:endParaRPr sz="140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9250" algn="l" rtl="0"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Logistyka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magazynowa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kompletacja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zamówień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załadunek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rozładunek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palet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Agility 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Robotics (Amazon)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jako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case study</a:t>
            </a:r>
            <a:endParaRPr sz="140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9250" algn="l" rtl="0"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Inspekcja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infrastruktury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rurociągi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elektrownie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jądrowe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środowiska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niedostępne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dla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człowieka</a:t>
            </a:r>
            <a:endParaRPr sz="140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9250" algn="l" rtl="0"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Spawanie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lakierowanie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praca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w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środowiskach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toksycznych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korzyść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eliminacja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narażenia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pracownika</a:t>
            </a:r>
            <a:endParaRPr sz="140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4709160" y="1170432"/>
            <a:ext cx="41604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925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Case 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study: BMW 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Spartanburg (2024): 1000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robotów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Figure 01 w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linii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produkcyjnej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; KPI: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czas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takt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±2%, zero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wypadków</a:t>
            </a:r>
            <a:endParaRPr sz="140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9250" algn="l" rtl="0"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Case 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study: Amazon 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(Digit, 2023):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automatyzacja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25%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operacji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w centrum w Spokane, WA</a:t>
            </a:r>
            <a:endParaRPr sz="140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9250" algn="l" rtl="0"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Case 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study: Foxconn 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(2024):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Nvidia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+ Hon 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Hai: digital 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twin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zakładu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z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integracją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NVIDIA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Omniverse</a:t>
            </a:r>
            <a:endParaRPr sz="140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9250" algn="l" rtl="0"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ROI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typowy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18–36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miesięcy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przy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wolumenie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&gt;10 000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jednostek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;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bariera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cena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zakupu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~200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tys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. USD (2024)</a:t>
            </a:r>
            <a:endParaRPr sz="140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86C1"/>
          </a:solidFill>
          <a:ln w="12700" cap="flat" cmpd="sng">
            <a:solidFill>
              <a:srgbClr val="2E86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320040" y="45720"/>
            <a:ext cx="8503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Zastosowania w medycynie i opiece społecznej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Trendy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wyzwania</a:t>
            </a: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naukowe</a:t>
            </a:r>
            <a:r>
              <a:rPr lang="en-US" sz="900" b="0" i="0" u="none" strike="noStrike" cap="none" dirty="0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900" b="0" i="0" u="none" strike="noStrike" cap="none" dirty="0" err="1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Roboty</a:t>
            </a:r>
            <a:r>
              <a:rPr lang="en-US" sz="900" b="0" i="0" u="none" strike="noStrike" cap="none" dirty="0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humanoidalne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8046720" y="4901184"/>
            <a:ext cx="822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23 / 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457200" y="777240"/>
            <a:ext cx="8229600" cy="39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Rehabilitacja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ruchowa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egzoszkielety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humanoidalne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Ekso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, ReWalk</a:t>
            </a:r>
            <a:r>
              <a:rPr lang="en-US" sz="1400" b="0" i="0" u="none" strike="noStrike" cap="none" dirty="0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): </a:t>
            </a:r>
            <a:r>
              <a:rPr lang="en-US" sz="1400" b="0" i="0" u="none" strike="noStrike" cap="none" dirty="0" err="1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przywracanie</a:t>
            </a:r>
            <a:r>
              <a:rPr lang="en-US" sz="1400" b="0" i="0" u="none" strike="noStrike" cap="none" dirty="0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funkcji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motorycznych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po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udarze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randomizowane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badania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kliniczne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potwierdzają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skuteczność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Mehrholz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et al., 2017, Cochrane Review)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92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Chirurgia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robotyczna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systemy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takie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jak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Da Vinci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są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proto-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humanoidalne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kierunek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manipulatory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wielostopniowe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z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haptycznym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sprzężeniem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zwrotnym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92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Asystent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pielęgnacyjny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: transfer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pacjenta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podawanie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leków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, monitoring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parametrów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życiowych</a:t>
            </a:r>
            <a:r>
              <a:rPr lang="en-US" sz="1400" b="0" i="0" u="none" strike="noStrike" cap="none" dirty="0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400" b="0" i="0" u="none" strike="noStrike" cap="none" dirty="0" err="1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adresowanie</a:t>
            </a:r>
            <a:r>
              <a:rPr lang="en-US" sz="1400" b="0" i="0" u="none" strike="noStrike" cap="none" dirty="0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kryzysu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demograficznego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starzejące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się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populacje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Japonii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Niemiec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Polski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92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Terapia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wspomagana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robotem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roboty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społeczne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(NAO, Pepper) w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terapii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autyzmu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demencji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poprawa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zaangażowania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o 40–60%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wg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badań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pilotażowych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92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Dezynfekcja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asepsy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zastosowania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rozwinięte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w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trakcie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pandemii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COVID-19: </a:t>
            </a:r>
            <a:r>
              <a:rPr lang="en-US" sz="1400" b="0" i="0" u="none" strike="noStrike" cap="none" dirty="0" err="1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logistyka</a:t>
            </a:r>
            <a:r>
              <a:rPr lang="en-US" sz="1400" b="0" i="0" u="none" strike="noStrike" cap="none" dirty="0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w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szpitalach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redukcja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ekspozycji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personelu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92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Telemedycyna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teleopresence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: robot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jako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avatar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lekarza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w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odległych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lokalizacjach</a:t>
            </a:r>
            <a:r>
              <a:rPr lang="en-US" sz="1400" b="0" i="0" u="none" strike="noStrike" cap="none" dirty="0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400" b="0" i="0" u="none" strike="noStrike" cap="none" dirty="0" err="1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istotne</a:t>
            </a:r>
            <a:r>
              <a:rPr lang="en-US" sz="1400" b="0" i="0" u="none" strike="noStrike" cap="none" dirty="0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dla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Polski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B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92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Regulacje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medyczne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: Medical Device Regulation (MDR 2017/745 UE</a:t>
            </a:r>
            <a:r>
              <a:rPr lang="en-US" sz="1400" b="0" i="0" u="none" strike="noStrike" cap="none" dirty="0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): </a:t>
            </a:r>
            <a:r>
              <a:rPr lang="en-US" sz="1400" b="0" i="0" u="none" strike="noStrike" cap="none" dirty="0" err="1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roboty</a:t>
            </a:r>
            <a:r>
              <a:rPr lang="en-US" sz="1400" b="0" i="0" u="none" strike="noStrike" cap="none" dirty="0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medyczne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klasy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IIb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/III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wymagają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certyfikacji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notified body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86C1"/>
          </a:solidFill>
          <a:ln w="12700" cap="flat" cmpd="sng">
            <a:solidFill>
              <a:srgbClr val="2E86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320040" y="45720"/>
            <a:ext cx="8503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Zastosowania w eksploracji kosmicznej i środowiskach ekstremalnych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Trendy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wyzwania</a:t>
            </a: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naukowe</a:t>
            </a:r>
            <a:r>
              <a:rPr lang="en-US" sz="900" b="0" i="0" u="none" strike="noStrike" cap="none" dirty="0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900" b="0" i="0" u="none" strike="noStrike" cap="none" dirty="0" err="1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Roboty</a:t>
            </a:r>
            <a:r>
              <a:rPr lang="en-US" sz="900" b="0" i="0" u="none" strike="noStrike" cap="none" dirty="0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humanoidalne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8046720" y="4901184"/>
            <a:ext cx="822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24 / 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274320" y="80467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Kosmos i orbita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4754880" y="80467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Środowiska ekstremalne ziemskie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p10"/>
          <p:cNvCxnSpPr/>
          <p:nvPr/>
        </p:nvCxnSpPr>
        <p:spPr>
          <a:xfrm>
            <a:off x="4526280" y="1170432"/>
            <a:ext cx="0" cy="3474600"/>
          </a:xfrm>
          <a:prstGeom prst="straightConnector1">
            <a:avLst/>
          </a:prstGeom>
          <a:noFill/>
          <a:ln w="12700" cap="flat" cmpd="sng">
            <a:solidFill>
              <a:srgbClr val="D5E0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0" name="Google Shape;190;p10"/>
          <p:cNvSpPr/>
          <p:nvPr/>
        </p:nvSpPr>
        <p:spPr>
          <a:xfrm>
            <a:off x="274320" y="1170432"/>
            <a:ext cx="41604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NASA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Robonaut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2 (ISS):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pierwsza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humanoidalna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kończyna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górna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na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pokładzie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stacji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kosmicznej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zadania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konserwacyjne</a:t>
            </a:r>
            <a:endParaRPr sz="140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92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ESA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Meteron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Project: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teleopercja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robotów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z </a:t>
            </a:r>
            <a:r>
              <a:rPr lang="en-US" sz="1400" i="0" u="none" strike="noStrike" cap="none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orbity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latencja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&lt;0.8 s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jako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wymóg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operacyjny</a:t>
            </a:r>
            <a:endParaRPr sz="140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92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JAXA HRP-3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Promet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robot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dla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przyszłych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baz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księżycowych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prace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zewnętrzne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(EVA proxy)</a:t>
            </a:r>
            <a:endParaRPr sz="140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92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Valkyrie (NASA JSC): robot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dla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habitatów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na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Księżycu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Marsie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prace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preparacyjne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przed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przybyciem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ludzi</a:t>
            </a:r>
            <a:endParaRPr sz="140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4709160" y="1170432"/>
            <a:ext cx="41604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Środowiska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ekstremalne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na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Ziemi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elektrownie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jądrowe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Fukushima: TEPCO/Toshiba 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deployment),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górnictwo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głębinowe</a:t>
            </a:r>
            <a:endParaRPr sz="140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92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Poszukiwania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ratownictwo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(SAR):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roboty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w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gruzowiskach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400" i="0" u="none" strike="noStrike" cap="none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pożarach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DARPA 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Robotics Challenge 2015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jako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proof-of-concept</a:t>
            </a:r>
            <a:endParaRPr sz="140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92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Przestrzeń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podwodna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hybrydy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humanoidalnych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ramion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na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platformach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podwodnych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(Ocean 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One: Stanford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140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92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Wymagania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szczególne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rad-hardening,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termiczne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zarządzanie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(-150°C do +120°C),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brak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GPS: </a:t>
            </a:r>
            <a:r>
              <a:rPr lang="en-US" sz="1400" i="0" u="none" strike="noStrike" cap="none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własna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lokalizacja</a:t>
            </a:r>
            <a:endParaRPr sz="140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"/>
          <p:cNvSpPr/>
          <p:nvPr/>
        </p:nvSpPr>
        <p:spPr>
          <a:xfrm>
            <a:off x="0" y="0"/>
            <a:ext cx="9144000" cy="109800"/>
          </a:xfrm>
          <a:prstGeom prst="rect">
            <a:avLst/>
          </a:pr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1"/>
          <p:cNvSpPr/>
          <p:nvPr/>
        </p:nvSpPr>
        <p:spPr>
          <a:xfrm>
            <a:off x="548640" y="1371600"/>
            <a:ext cx="8046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V. Wymiar ekonomiczny i regulacyjny</a:t>
            </a:r>
            <a:endParaRPr sz="320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548640" y="2240280"/>
            <a:ext cx="8046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FFF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7FBFFF"/>
                </a:solidFill>
                <a:latin typeface="Calibri"/>
                <a:ea typeface="Calibri"/>
                <a:cs typeface="Calibri"/>
                <a:sym typeface="Calibri"/>
              </a:rPr>
              <a:t>Rynek globalny, inwestycje, regulacje prawne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548640" y="2834640"/>
            <a:ext cx="2286000" cy="45600"/>
          </a:xfrm>
          <a:prstGeom prst="rect">
            <a:avLst/>
          </a:prstGeom>
          <a:solidFill>
            <a:srgbClr val="F39C12"/>
          </a:solidFill>
          <a:ln w="127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060D14"/>
          </a:solidFill>
          <a:ln w="12700" cap="flat" cmpd="sng">
            <a:solidFill>
              <a:srgbClr val="060D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1"/>
          <p:cNvSpPr/>
          <p:nvPr/>
        </p:nvSpPr>
        <p:spPr>
          <a:xfrm>
            <a:off x="8046720" y="4901184"/>
            <a:ext cx="822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A709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A7090"/>
                </a:solidFill>
                <a:latin typeface="Calibri"/>
                <a:ea typeface="Calibri"/>
                <a:cs typeface="Calibri"/>
                <a:sym typeface="Calibri"/>
              </a:rPr>
              <a:t>25 / 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Globalny rynek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robotów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humanoidalnych</a:t>
            </a:r>
            <a:r>
              <a:rPr lang="en-US" sz="2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0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</a:t>
            </a:r>
            <a:r>
              <a:rPr lang="en-US" sz="2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prognozy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Trendy i </a:t>
            </a:r>
            <a:r>
              <a:rPr lang="en-US" sz="9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wyzwania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naukowe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Roboty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humanoidalne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11430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60120"/>
            <a:ext cx="17830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 mld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11480" y="1417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wartość rynku 2024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7145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Goldman Sachs Research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82296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77440" y="822960"/>
            <a:ext cx="64008" cy="11430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960120"/>
            <a:ext cx="17830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 mld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514600" y="1417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prognoza 2035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14600" y="17145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skumulowany CAGR ~38%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82296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80560" y="822960"/>
            <a:ext cx="64008" cy="11430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960120"/>
            <a:ext cx="17830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~$200k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617720" y="1417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 jednostki 2024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17720" y="17145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 &lt;$30k do 2030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0" y="82296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0" y="822960"/>
            <a:ext cx="64008" cy="11430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960120"/>
            <a:ext cx="17830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&gt;$10 mld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720840" y="1417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inwestycje VC 2020–24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20840" y="17145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PitchBook 2024</a:t>
            </a:r>
            <a:endParaRPr lang="en-US" sz="10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274320" y="2103120"/>
          <a:ext cx="859536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86C1"/>
          </a:solidFill>
          <a:ln w="12700" cap="flat" cmpd="sng">
            <a:solidFill>
              <a:srgbClr val="2E86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2"/>
          <p:cNvSpPr/>
          <p:nvPr/>
        </p:nvSpPr>
        <p:spPr>
          <a:xfrm>
            <a:off x="320040" y="45720"/>
            <a:ext cx="8503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Inwestycje i finansowanie badań i rozwoju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2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Trendy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wyzwania</a:t>
            </a:r>
            <a:r>
              <a:rPr lang="en-US" sz="900" b="0" i="0" u="none" strike="noStrike" cap="none" dirty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naukowe</a:t>
            </a:r>
            <a:r>
              <a:rPr lang="en-US" sz="900" b="0" i="0" u="none" strike="noStrike" cap="none" dirty="0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900" b="0" i="0" u="none" strike="noStrike" cap="none" dirty="0" err="1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Roboty</a:t>
            </a:r>
            <a:r>
              <a:rPr lang="en-US" sz="900" b="0" i="0" u="none" strike="noStrike" cap="none" dirty="0" smtClean="0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humanoidalne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8046720" y="4901184"/>
            <a:ext cx="822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27 / 30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274320" y="80467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Inwestycje prywatne (VC/PE)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4754880" y="80467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Finansowanie publiczne (B+R)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12"/>
          <p:cNvCxnSpPr/>
          <p:nvPr/>
        </p:nvCxnSpPr>
        <p:spPr>
          <a:xfrm>
            <a:off x="4526280" y="1170432"/>
            <a:ext cx="0" cy="3474600"/>
          </a:xfrm>
          <a:prstGeom prst="straightConnector1">
            <a:avLst/>
          </a:prstGeom>
          <a:noFill/>
          <a:ln w="12700" cap="flat" cmpd="sng">
            <a:solidFill>
              <a:srgbClr val="D5E0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9" name="Google Shape;209;p12"/>
          <p:cNvSpPr/>
          <p:nvPr/>
        </p:nvSpPr>
        <p:spPr>
          <a:xfrm>
            <a:off x="274320" y="1170432"/>
            <a:ext cx="41604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Figure AI: $675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mln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runda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B, 2024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): </a:t>
            </a:r>
            <a:r>
              <a:rPr lang="en-US" sz="1400" i="0" u="none" strike="noStrike" cap="none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wycena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$2,6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mld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;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inwestorzy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OpenAI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, NVIDIA, Microsoft</a:t>
            </a:r>
            <a:endParaRPr sz="140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92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1X Technologies: $100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mln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(2024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): </a:t>
            </a:r>
            <a:r>
              <a:rPr lang="en-US" sz="1400" i="0" u="none" strike="noStrike" cap="none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OpenAI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jako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wiodący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inwestor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strategiczny</a:t>
            </a:r>
            <a:endParaRPr sz="140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92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Physical Intelligence (π): $400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mln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(2024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): </a:t>
            </a:r>
            <a:r>
              <a:rPr lang="en-US" sz="1400" i="0" u="none" strike="noStrike" cap="none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modele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foundation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dla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robotyki</a:t>
            </a:r>
            <a:endParaRPr sz="140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92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Apptronik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: $350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mln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(Samsung Ventures, 2024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): robot 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Apollo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dla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zastosowań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przemysłowych</a:t>
            </a:r>
            <a:endParaRPr sz="140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marR="0" lvl="0" indent="-3492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Roboto"/>
              <a:buChar char="•"/>
            </a:pP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Agility Robotics: ~$200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mln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(Amazon, 2023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): </a:t>
            </a:r>
            <a:r>
              <a:rPr lang="en-US" sz="1400" i="0" u="none" strike="noStrike" cap="none" dirty="0" err="1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kontrolowana</a:t>
            </a:r>
            <a:r>
              <a:rPr lang="en-US" sz="1400" i="0" u="none" strike="noStrike" cap="none" dirty="0" smtClean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integracja</a:t>
            </a:r>
            <a:r>
              <a:rPr lang="en-US" sz="1400" i="0" u="none" strike="noStrike" cap="none" dirty="0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00" i="0" u="none" strike="noStrike" cap="none" dirty="0" err="1">
                <a:solidFill>
                  <a:srgbClr val="1A202C"/>
                </a:solidFill>
                <a:latin typeface="Roboto"/>
                <a:ea typeface="Roboto"/>
                <a:cs typeface="Roboto"/>
                <a:sym typeface="Roboto"/>
              </a:rPr>
              <a:t>pionowa</a:t>
            </a:r>
            <a:endParaRPr sz="140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4709160" y="1170432"/>
            <a:ext cx="41604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NSF Robotics Initiative (USA): $70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mln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rok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na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B+R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akademickie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; AI Institutes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92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Horizon Europe (UE):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robotyka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jako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priorytet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Klastra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4 (Digital, Industry, Space</a:t>
            </a:r>
            <a:r>
              <a:rPr lang="en-US" sz="1400" b="0" i="0" u="none" strike="noStrike" cap="none" dirty="0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): ~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€500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mln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2021–27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92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DARPA: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podtrzymanie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finansowania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DARPA Robotics Challenge successor programs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92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Chiny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: Made in China 2025 + 14. Plan </a:t>
            </a:r>
            <a:r>
              <a:rPr lang="en-US" sz="1400" b="0" i="0" u="none" strike="noStrike" cap="none" dirty="0" err="1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Pięcioletni</a:t>
            </a:r>
            <a:r>
              <a:rPr lang="en-US" sz="1400" b="0" i="0" u="none" strike="noStrike" cap="none" dirty="0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400" b="0" i="0" u="none" strike="noStrike" cap="none" dirty="0" err="1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docelowo</a:t>
            </a:r>
            <a:r>
              <a:rPr lang="en-US" sz="1400" b="0" i="0" u="none" strike="noStrike" cap="none" dirty="0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lider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w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robotach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przemysłowych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92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Polska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NCBiR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400" b="0" i="0" u="none" strike="noStrike" cap="none" dirty="0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NCRD: </a:t>
            </a:r>
            <a:r>
              <a:rPr lang="en-US" sz="1400" b="0" i="0" u="none" strike="noStrike" cap="none" dirty="0" err="1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wciąż</a:t>
            </a:r>
            <a:r>
              <a:rPr lang="en-US" sz="1400" b="0" i="0" u="none" strike="noStrike" cap="none" dirty="0" smtClean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niski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poziom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projektów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robotycznych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konieczne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pilne</a:t>
            </a:r>
            <a:r>
              <a:rPr lang="en-US" sz="1400" b="0" i="0" u="none" strike="noStrike" cap="none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zwiększenie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VI. Perspektywy i rekomendacje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F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Prognozy technologiczne, polityka naukowa, podsumowanie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286000" cy="45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4"/>
          </a:solidFill>
          <a:ln w="12700">
            <a:solidFill>
              <a:srgbClr val="060D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Prognozy technologiczne i rynkowe 2025–2035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Trendy i </a:t>
            </a:r>
            <a:r>
              <a:rPr lang="en-US" sz="9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wyzwania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naukowe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Roboty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humanoidalne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90778"/>
            <a:ext cx="8595360" cy="1101067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90778"/>
            <a:ext cx="64008" cy="1101067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68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2025–2027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130808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Masowe wdrożenia pilotażowe w automotive i logistyce (&gt;10 000 jednostek globalnie)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Redukcja kosztów do ~$80–100k; baterie stałostanowe w pierwszych modelach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Normy bezpieczeństwa dla robotów autonomicznych (ISO/TC299</a:t>
            </a:r>
            <a:r>
              <a:rPr lang="en-US" sz="12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en-US" sz="12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wydanie</a:t>
            </a:r>
            <a:r>
              <a:rPr lang="en-US" sz="12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131060"/>
            <a:ext cx="8595360" cy="111104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131060"/>
            <a:ext cx="64008" cy="111104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1280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2028–2031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3901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 &lt;$30–50k; dostępność dla MŚP; pierwsze wdrożenia w ochronie zdrowia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Foundation </a:t>
            </a:r>
            <a:r>
              <a:rPr lang="en-US" sz="12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robotyki</a:t>
            </a:r>
            <a:r>
              <a:rPr lang="en-US" sz="12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transfer 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wiedzy między domenami w czasie &lt;1 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Regulacje AI Act w pełni operacyjne; systemy certyfikacji zautomatyzowane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419094"/>
            <a:ext cx="8595360" cy="1006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419094"/>
            <a:ext cx="64008" cy="100685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39369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2032–2035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655822"/>
            <a:ext cx="8229600" cy="748923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Rynek &gt;$38 mld; roboty humanoidalne jako standardowy element infrastruktury przemysłowej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Lokomocja i manipulacja dorównująca człowiekowi w środowiskach nieustrukturyzowanych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 wielozmianowa (&gt;16 h/dobę); integracja z Industrial Internet of Things (</a:t>
            </a:r>
            <a:r>
              <a:rPr lang="en-US" sz="12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IIoT</a:t>
            </a:r>
            <a:r>
              <a:rPr lang="en-US" sz="12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pl-PL" sz="1200" dirty="0" smtClean="0">
              <a:solidFill>
                <a:srgbClr val="1A20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Rekomendacje dla polityki naukowej i przemysłowej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Trendy i </a:t>
            </a:r>
            <a:r>
              <a:rPr lang="en-US" sz="9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wyzwania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naukowe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Roboty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humanoidalne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844804"/>
            <a:ext cx="365760" cy="36576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448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3232" y="76022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Stworzenie Krajowego Centrum Robotyki Humanoidalnej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1009142"/>
            <a:ext cx="813816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spc="-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Konsorcjum uczelni technicznych + PAN + przemysł; dedykowane finansowanie NCBiR min. 50 mln PLN/rok</a:t>
            </a:r>
            <a:endParaRPr lang="en-US" sz="1400" spc="-50" dirty="0"/>
          </a:p>
        </p:txBody>
      </p:sp>
      <p:sp>
        <p:nvSpPr>
          <p:cNvPr id="11" name="Shape 9"/>
          <p:cNvSpPr/>
          <p:nvPr/>
        </p:nvSpPr>
        <p:spPr>
          <a:xfrm>
            <a:off x="228600" y="1512316"/>
            <a:ext cx="365760" cy="36576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5123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3232" y="1421384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Strategiczne partnerstwa z liderami europejskimi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" y="1676654"/>
            <a:ext cx="7135368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spc="-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Wejście w konsorcja Horizon Europe; wspólne projekty z ETH Zürich, DLR, </a:t>
            </a:r>
            <a:r>
              <a:rPr lang="en-US" sz="1400" spc="-50" dirty="0" smtClean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IIT: </a:t>
            </a:r>
            <a:r>
              <a:rPr lang="en-US" sz="1400" spc="-50" dirty="0" err="1" smtClean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budowa</a:t>
            </a:r>
            <a:r>
              <a:rPr lang="en-US" sz="1400" spc="-50" dirty="0" smtClean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kompetencji</a:t>
            </a:r>
            <a:endParaRPr lang="en-US" sz="1400" spc="-50" dirty="0"/>
          </a:p>
        </p:txBody>
      </p:sp>
      <p:sp>
        <p:nvSpPr>
          <p:cNvPr id="15" name="Shape 13"/>
          <p:cNvSpPr/>
          <p:nvPr/>
        </p:nvSpPr>
        <p:spPr>
          <a:xfrm>
            <a:off x="228600" y="2179828"/>
            <a:ext cx="365760" cy="36576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1798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13232" y="208889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Modernizacja systemu edukacji inżynierskiej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" y="2344166"/>
            <a:ext cx="7135368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spc="-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Interdyscyplinarne programy mechatroniki + AI na poziomie magisterskim i doktoranckim</a:t>
            </a:r>
            <a:endParaRPr lang="en-US" sz="1400" spc="-50" dirty="0"/>
          </a:p>
        </p:txBody>
      </p:sp>
      <p:sp>
        <p:nvSpPr>
          <p:cNvPr id="19" name="Shape 17"/>
          <p:cNvSpPr/>
          <p:nvPr/>
        </p:nvSpPr>
        <p:spPr>
          <a:xfrm>
            <a:off x="228600" y="2847340"/>
            <a:ext cx="365760" cy="36576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28473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13232" y="275640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Sandboxing regulacyjny dla wdrożeń pilotażowych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" y="3011678"/>
            <a:ext cx="7948168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spc="-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Specjalne strefy testowania w wyznaczonych </a:t>
            </a:r>
            <a:r>
              <a:rPr lang="en-US" sz="1400" spc="-50" dirty="0" err="1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zakładach</a:t>
            </a:r>
            <a:r>
              <a:rPr lang="en-US" sz="1400" spc="-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50" dirty="0" err="1" smtClean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przemysłowych</a:t>
            </a:r>
            <a:r>
              <a:rPr lang="en-US" sz="1400" spc="-50" dirty="0" smtClean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 </a:t>
            </a:r>
            <a:r>
              <a:rPr lang="en-US" sz="1400" spc="-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ograniczonymi wymogami certyfikacyjnymi</a:t>
            </a:r>
            <a:endParaRPr lang="en-US" sz="1400" spc="-50" dirty="0"/>
          </a:p>
        </p:txBody>
      </p:sp>
      <p:sp>
        <p:nvSpPr>
          <p:cNvPr id="23" name="Shape 21"/>
          <p:cNvSpPr/>
          <p:nvPr/>
        </p:nvSpPr>
        <p:spPr>
          <a:xfrm>
            <a:off x="228600" y="3514852"/>
            <a:ext cx="365760" cy="36576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5148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13232" y="342392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Krajowa mapa drogowa bezpieczeństwa AI w robotyce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3232" y="3679190"/>
            <a:ext cx="7135368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spc="-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Opracowanie wytycznych kompatybilnych z AI Act; powołanie krajowego organu nadzoru</a:t>
            </a:r>
            <a:endParaRPr lang="en-US" sz="1400" spc="-50" dirty="0"/>
          </a:p>
        </p:txBody>
      </p:sp>
      <p:sp>
        <p:nvSpPr>
          <p:cNvPr id="27" name="Shape 25"/>
          <p:cNvSpPr/>
          <p:nvPr/>
        </p:nvSpPr>
        <p:spPr>
          <a:xfrm>
            <a:off x="228600" y="4182364"/>
            <a:ext cx="365760" cy="36576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41823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13232" y="409143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Wsparcie dla polskich start-upów robotycznych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3232" y="4346702"/>
            <a:ext cx="7135368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spc="-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Dedykowany fundusz VC z udziałem PFR; program akceleracyjny przy strefach ekonomicznych</a:t>
            </a:r>
            <a:endParaRPr lang="en-US" sz="1400" spc="-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Literatura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naukow</a:t>
            </a:r>
            <a:r>
              <a:rPr lang="pl-PL" sz="2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Trendy i </a:t>
            </a:r>
            <a:r>
              <a:rPr lang="en-US" sz="9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wyzwania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naukowe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Roboty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humanoidalne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Bib-1 / 35</a:t>
            </a:r>
            <a:endParaRPr lang="en-US" sz="900" dirty="0"/>
          </a:p>
        </p:txBody>
      </p:sp>
      <p:grpSp>
        <p:nvGrpSpPr>
          <p:cNvPr id="69" name="Grupa 68"/>
          <p:cNvGrpSpPr/>
          <p:nvPr/>
        </p:nvGrpSpPr>
        <p:grpSpPr>
          <a:xfrm>
            <a:off x="274320" y="732790"/>
            <a:ext cx="8595360" cy="4061237"/>
            <a:chOff x="274320" y="777240"/>
            <a:chExt cx="8595360" cy="4061237"/>
          </a:xfrm>
        </p:grpSpPr>
        <p:sp>
          <p:nvSpPr>
            <p:cNvPr id="7" name="Shape 5"/>
            <p:cNvSpPr/>
            <p:nvPr/>
          </p:nvSpPr>
          <p:spPr>
            <a:xfrm>
              <a:off x="274320" y="777240"/>
              <a:ext cx="8595360" cy="186152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D5E0EC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20040" y="805163"/>
              <a:ext cx="548640" cy="1303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E86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[1]</a:t>
              </a:r>
              <a:endParaRPr lang="en-US" sz="105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11200" y="805162"/>
              <a:ext cx="8112760" cy="1303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spc="-50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Vukobratović M., Borovac B. (2004). Zero-moment </a:t>
              </a:r>
              <a:r>
                <a:rPr lang="en-US" sz="1000" spc="-50" dirty="0" smtClean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point: thirty </a:t>
              </a:r>
              <a:r>
                <a:rPr lang="en-US" sz="1000" spc="-50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five years of its life. International Journal of Humanoid Robotics, 1(1), 157–173. DOI: 10.1142/S0219843604000083</a:t>
              </a:r>
              <a:endParaRPr lang="en-US" sz="1000" spc="-5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274320" y="984334"/>
              <a:ext cx="8595360" cy="186152"/>
            </a:xfrm>
            <a:prstGeom prst="rect">
              <a:avLst/>
            </a:prstGeom>
            <a:solidFill>
              <a:srgbClr val="EAF1FA"/>
            </a:solidFill>
            <a:ln w="3810">
              <a:solidFill>
                <a:srgbClr val="D5E0EC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320040" y="1012257"/>
              <a:ext cx="548640" cy="1303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E86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[2]</a:t>
              </a:r>
              <a:endParaRPr lang="en-US" sz="105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711200" y="1012258"/>
              <a:ext cx="8112760" cy="1303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900"/>
                </a:lnSpc>
                <a:buNone/>
              </a:pPr>
              <a:r>
                <a:rPr lang="en-US" sz="1000" spc="-60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Haddadin S. et al. (2022). The Franka Emika robot: A reference platform for robotics research and education. IEEE Robotics &amp; </a:t>
              </a:r>
              <a:r>
                <a:rPr lang="en-US" sz="1000" spc="-60" dirty="0" smtClean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Automation, </a:t>
              </a:r>
              <a:r>
                <a:rPr lang="en-US" sz="1000" spc="-60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29(2), </a:t>
              </a:r>
              <a:r>
                <a:rPr lang="en-US" sz="1000" spc="-60" dirty="0" smtClean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DOI</a:t>
              </a:r>
              <a:r>
                <a:rPr lang="en-US" sz="1000" spc="-60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 10.1109/MRA.2021.3138382</a:t>
              </a:r>
              <a:endParaRPr lang="en-US" sz="1000" spc="-6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274320" y="1191429"/>
              <a:ext cx="8595360" cy="186152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D5E0EC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320040" y="1219352"/>
              <a:ext cx="548640" cy="1303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E86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[3]</a:t>
              </a:r>
              <a:endParaRPr lang="en-US" sz="10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711200" y="1219352"/>
              <a:ext cx="8112760" cy="1303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spc="-50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Brohan A. et al. / Google DeepMind (2023). RT-2: Vision-Language-Action Models Transfer Web Knowledge to Robotic Control. arXiv:2307.15818</a:t>
              </a:r>
              <a:endParaRPr lang="en-US" sz="1000" spc="-5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274320" y="1398523"/>
              <a:ext cx="8595360" cy="186152"/>
            </a:xfrm>
            <a:prstGeom prst="rect">
              <a:avLst/>
            </a:prstGeom>
            <a:solidFill>
              <a:srgbClr val="EAF1FA"/>
            </a:solidFill>
            <a:ln w="3810">
              <a:solidFill>
                <a:srgbClr val="D5E0EC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320040" y="1426446"/>
              <a:ext cx="548640" cy="1303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E86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[4]</a:t>
              </a:r>
              <a:endParaRPr lang="en-US" sz="105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711200" y="1426446"/>
              <a:ext cx="8112760" cy="1303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spc="-50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Black K. et al. / Physical Intelligence (2024). π0: A Vision-Language-Action Flow Model for General Robot Control. arXiv:2410.24164</a:t>
              </a:r>
              <a:endParaRPr lang="en-US" sz="1000" spc="-5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274320" y="1605618"/>
              <a:ext cx="8595360" cy="186152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D5E0EC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320040" y="1633540"/>
              <a:ext cx="548640" cy="1303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E86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[5]</a:t>
              </a:r>
              <a:endParaRPr lang="en-US" sz="105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711200" y="1633540"/>
              <a:ext cx="8112760" cy="1303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spc="-50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Mehrholz J. et al. (2017). Electromechanical-assisted training for walking after stroke. Cochrane Database of Systematic Reviews, Issue 5. DOI: 10.1002/14651858.CD006185.pub4</a:t>
              </a:r>
              <a:endParaRPr lang="en-US" sz="1000" spc="-5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274320" y="1812712"/>
              <a:ext cx="8595360" cy="186152"/>
            </a:xfrm>
            <a:prstGeom prst="rect">
              <a:avLst/>
            </a:prstGeom>
            <a:solidFill>
              <a:srgbClr val="EAF1FA"/>
            </a:solidFill>
            <a:ln w="3810">
              <a:solidFill>
                <a:srgbClr val="D5E0EC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320040" y="1840635"/>
              <a:ext cx="548640" cy="1303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E86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[6]</a:t>
              </a:r>
              <a:endParaRPr lang="en-US" sz="105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711200" y="1840635"/>
              <a:ext cx="8112760" cy="1303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spc="-50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Ahn M. et al. / Google (2022). Do As I Can, Not As I Say: Grounding Language in Robotic Affordances (SayCan). arXiv:2204.01691</a:t>
              </a:r>
              <a:endParaRPr lang="en-US" sz="1000" spc="-5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274320" y="2019806"/>
              <a:ext cx="8595360" cy="186152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D5E0EC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320040" y="2047729"/>
              <a:ext cx="548640" cy="1303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E86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[7]</a:t>
              </a:r>
              <a:endParaRPr lang="en-US" sz="105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711200" y="2047729"/>
              <a:ext cx="8112760" cy="1303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spc="-50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Kumar A. et al. (2021). RMA: Rapid Motor Adaptation for Legged Robots. Robotics: Science and Systems XVII. DOI: 10.15607/RSS.2021.XVII.011</a:t>
              </a:r>
              <a:endParaRPr lang="en-US" sz="1000" spc="-5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274320" y="2226901"/>
              <a:ext cx="8595360" cy="186152"/>
            </a:xfrm>
            <a:prstGeom prst="rect">
              <a:avLst/>
            </a:prstGeom>
            <a:solidFill>
              <a:srgbClr val="EAF1FA"/>
            </a:solidFill>
            <a:ln w="3810">
              <a:solidFill>
                <a:srgbClr val="D5E0EC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320040" y="2254824"/>
              <a:ext cx="548640" cy="1303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E86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[8]</a:t>
              </a:r>
              <a:endParaRPr lang="en-US" sz="105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711200" y="2254824"/>
              <a:ext cx="8112760" cy="1303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spc="-50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Tsagarakis N. et al. (2017). WALK-MAN: A High-Performance Humanoid Platform for Realistic Environments. Journal of Field Robotics, 34(7), 1225–1259. DOI: 10.1002/rob.21702</a:t>
              </a:r>
              <a:endParaRPr lang="en-US" sz="1000" spc="-5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274320" y="2433995"/>
              <a:ext cx="8595360" cy="186152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D5E0EC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320040" y="2461918"/>
              <a:ext cx="548640" cy="1303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E86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[9]</a:t>
              </a:r>
              <a:endParaRPr lang="en-US" sz="105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711200" y="2461918"/>
              <a:ext cx="8112760" cy="1303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spc="-50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He T. et al. / Carnegie Mellon University (2024). Learning Human-to-Humanoid Real-Time Whole-Body Teleoperation. arXiv:2403.04436</a:t>
              </a:r>
              <a:endParaRPr lang="en-US" sz="1000" spc="-5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274320" y="2641090"/>
              <a:ext cx="8595360" cy="186152"/>
            </a:xfrm>
            <a:prstGeom prst="rect">
              <a:avLst/>
            </a:prstGeom>
            <a:solidFill>
              <a:srgbClr val="EAF1FA"/>
            </a:solidFill>
            <a:ln w="3810">
              <a:solidFill>
                <a:srgbClr val="D5E0EC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320040" y="2669013"/>
              <a:ext cx="548640" cy="1303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E86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[10]</a:t>
              </a:r>
              <a:endParaRPr lang="en-US" sz="105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711200" y="2669012"/>
              <a:ext cx="8112760" cy="1303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spc="-50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Minsky M. (1986). The Society of Mind. Simon &amp; Schuster. ISBN: 978-0-671-60740-1</a:t>
              </a:r>
              <a:endParaRPr lang="en-US" sz="1000" spc="-50" dirty="0"/>
            </a:p>
          </p:txBody>
        </p:sp>
        <p:sp>
          <p:nvSpPr>
            <p:cNvPr id="39" name="Shape 5"/>
            <p:cNvSpPr/>
            <p:nvPr/>
          </p:nvSpPr>
          <p:spPr>
            <a:xfrm>
              <a:off x="274320" y="2847562"/>
              <a:ext cx="8595360" cy="180787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D5E0EC"/>
              </a:solidFill>
              <a:prstDash val="solid"/>
            </a:ln>
          </p:spPr>
        </p:sp>
        <p:sp>
          <p:nvSpPr>
            <p:cNvPr id="40" name="Text 6"/>
            <p:cNvSpPr/>
            <p:nvPr/>
          </p:nvSpPr>
          <p:spPr>
            <a:xfrm>
              <a:off x="320040" y="2874680"/>
              <a:ext cx="548640" cy="1265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E86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[11]</a:t>
              </a:r>
              <a:endParaRPr lang="en-US" sz="1050" dirty="0"/>
            </a:p>
          </p:txBody>
        </p:sp>
        <p:sp>
          <p:nvSpPr>
            <p:cNvPr id="41" name="Text 7"/>
            <p:cNvSpPr/>
            <p:nvPr/>
          </p:nvSpPr>
          <p:spPr>
            <a:xfrm>
              <a:off x="698500" y="2874680"/>
              <a:ext cx="8125460" cy="1458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spc="-60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Schaal S. (2006). Dynamic Movement </a:t>
              </a:r>
              <a:r>
                <a:rPr lang="en-US" sz="1000" spc="-60" dirty="0" smtClean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Primitives: A </a:t>
              </a:r>
              <a:r>
                <a:rPr lang="en-US" sz="1000" spc="-60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Framework for Motor Control in Humans and Humanoid Robotics. Adaptive Motion of Animals and Machines, </a:t>
              </a:r>
              <a:r>
                <a:rPr lang="en-US" sz="1000" spc="-60" dirty="0" smtClean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Springer </a:t>
              </a:r>
              <a:endParaRPr lang="en-US" sz="1000" spc="-60" dirty="0"/>
            </a:p>
          </p:txBody>
        </p:sp>
        <p:sp>
          <p:nvSpPr>
            <p:cNvPr id="42" name="Shape 8"/>
            <p:cNvSpPr/>
            <p:nvPr/>
          </p:nvSpPr>
          <p:spPr>
            <a:xfrm>
              <a:off x="274320" y="3048687"/>
              <a:ext cx="8595360" cy="180787"/>
            </a:xfrm>
            <a:prstGeom prst="rect">
              <a:avLst/>
            </a:prstGeom>
            <a:solidFill>
              <a:srgbClr val="EAF1FA"/>
            </a:solidFill>
            <a:ln w="3810">
              <a:solidFill>
                <a:srgbClr val="D5E0EC"/>
              </a:solidFill>
              <a:prstDash val="solid"/>
            </a:ln>
          </p:spPr>
        </p:sp>
        <p:sp>
          <p:nvSpPr>
            <p:cNvPr id="43" name="Text 9"/>
            <p:cNvSpPr/>
            <p:nvPr/>
          </p:nvSpPr>
          <p:spPr>
            <a:xfrm>
              <a:off x="320040" y="3075805"/>
              <a:ext cx="548640" cy="1265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E86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[12]</a:t>
              </a:r>
              <a:endParaRPr lang="en-US" sz="1050" dirty="0"/>
            </a:p>
          </p:txBody>
        </p:sp>
        <p:sp>
          <p:nvSpPr>
            <p:cNvPr id="44" name="Text 10"/>
            <p:cNvSpPr/>
            <p:nvPr/>
          </p:nvSpPr>
          <p:spPr>
            <a:xfrm>
              <a:off x="698500" y="3075805"/>
              <a:ext cx="8125460" cy="1458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spc="-50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Levine S. et al. (2016). End-to-End Training of Deep Visuomotor Policies. Journal of Machine Learning Research, 17(39), 1–40. arXiv:1504.00702</a:t>
              </a:r>
              <a:endParaRPr lang="en-US" sz="1000" spc="-50" dirty="0"/>
            </a:p>
          </p:txBody>
        </p:sp>
        <p:sp>
          <p:nvSpPr>
            <p:cNvPr id="45" name="Shape 11"/>
            <p:cNvSpPr/>
            <p:nvPr/>
          </p:nvSpPr>
          <p:spPr>
            <a:xfrm>
              <a:off x="274320" y="3249813"/>
              <a:ext cx="8595360" cy="180787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D5E0EC"/>
              </a:solidFill>
              <a:prstDash val="solid"/>
            </a:ln>
          </p:spPr>
        </p:sp>
        <p:sp>
          <p:nvSpPr>
            <p:cNvPr id="46" name="Text 12"/>
            <p:cNvSpPr/>
            <p:nvPr/>
          </p:nvSpPr>
          <p:spPr>
            <a:xfrm>
              <a:off x="320040" y="3276931"/>
              <a:ext cx="548640" cy="1265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E86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[13]</a:t>
              </a:r>
              <a:endParaRPr lang="en-US" sz="1050" dirty="0"/>
            </a:p>
          </p:txBody>
        </p:sp>
        <p:sp>
          <p:nvSpPr>
            <p:cNvPr id="47" name="Text 13"/>
            <p:cNvSpPr/>
            <p:nvPr/>
          </p:nvSpPr>
          <p:spPr>
            <a:xfrm>
              <a:off x="698500" y="3276931"/>
              <a:ext cx="8125460" cy="1458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spc="-50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Wang L. et al. / BAAI (2023). RoboFlamingo: Vision-Language Models as Pre-Trained Backbone for Robotic Learning. arXiv:2311.01378</a:t>
              </a:r>
              <a:endParaRPr lang="en-US" sz="1000" spc="-50" dirty="0"/>
            </a:p>
          </p:txBody>
        </p:sp>
        <p:sp>
          <p:nvSpPr>
            <p:cNvPr id="48" name="Shape 14"/>
            <p:cNvSpPr/>
            <p:nvPr/>
          </p:nvSpPr>
          <p:spPr>
            <a:xfrm>
              <a:off x="274320" y="3450938"/>
              <a:ext cx="8595360" cy="180787"/>
            </a:xfrm>
            <a:prstGeom prst="rect">
              <a:avLst/>
            </a:prstGeom>
            <a:solidFill>
              <a:srgbClr val="EAF1FA"/>
            </a:solidFill>
            <a:ln w="3810">
              <a:solidFill>
                <a:srgbClr val="D5E0EC"/>
              </a:solidFill>
              <a:prstDash val="solid"/>
            </a:ln>
          </p:spPr>
        </p:sp>
        <p:sp>
          <p:nvSpPr>
            <p:cNvPr id="49" name="Text 15"/>
            <p:cNvSpPr/>
            <p:nvPr/>
          </p:nvSpPr>
          <p:spPr>
            <a:xfrm>
              <a:off x="320040" y="3478056"/>
              <a:ext cx="548640" cy="1265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E86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[14]</a:t>
              </a:r>
              <a:endParaRPr lang="en-US" sz="1050" dirty="0"/>
            </a:p>
          </p:txBody>
        </p:sp>
        <p:sp>
          <p:nvSpPr>
            <p:cNvPr id="50" name="Text 16"/>
            <p:cNvSpPr/>
            <p:nvPr/>
          </p:nvSpPr>
          <p:spPr>
            <a:xfrm>
              <a:off x="698500" y="3478056"/>
              <a:ext cx="8125460" cy="1458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spc="-50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Radosavovic I. et al. / UC Berkeley (2024). Humanoid Locomotion as Next Token Prediction. arXiv:2402.19469</a:t>
              </a:r>
              <a:endParaRPr lang="en-US" sz="1000" spc="-50" dirty="0"/>
            </a:p>
          </p:txBody>
        </p:sp>
        <p:sp>
          <p:nvSpPr>
            <p:cNvPr id="51" name="Shape 17"/>
            <p:cNvSpPr/>
            <p:nvPr/>
          </p:nvSpPr>
          <p:spPr>
            <a:xfrm>
              <a:off x="274320" y="3652063"/>
              <a:ext cx="8595360" cy="180787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D5E0EC"/>
              </a:solidFill>
              <a:prstDash val="solid"/>
            </a:ln>
          </p:spPr>
        </p:sp>
        <p:sp>
          <p:nvSpPr>
            <p:cNvPr id="52" name="Text 18"/>
            <p:cNvSpPr/>
            <p:nvPr/>
          </p:nvSpPr>
          <p:spPr>
            <a:xfrm>
              <a:off x="320040" y="3679181"/>
              <a:ext cx="548640" cy="1265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E86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[15]</a:t>
              </a:r>
              <a:endParaRPr lang="en-US" sz="1050" dirty="0"/>
            </a:p>
          </p:txBody>
        </p:sp>
        <p:sp>
          <p:nvSpPr>
            <p:cNvPr id="53" name="Text 19"/>
            <p:cNvSpPr/>
            <p:nvPr/>
          </p:nvSpPr>
          <p:spPr>
            <a:xfrm>
              <a:off x="698500" y="3679181"/>
              <a:ext cx="8125460" cy="1458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spc="-50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Goldman Sachs Research (2024). Humanoid Robots: The Next Major Technology Platform. GS Equity Research Report, March 2024</a:t>
              </a:r>
              <a:endParaRPr lang="en-US" sz="1000" spc="-50" dirty="0"/>
            </a:p>
          </p:txBody>
        </p:sp>
        <p:sp>
          <p:nvSpPr>
            <p:cNvPr id="54" name="Shape 20"/>
            <p:cNvSpPr/>
            <p:nvPr/>
          </p:nvSpPr>
          <p:spPr>
            <a:xfrm>
              <a:off x="274320" y="3853189"/>
              <a:ext cx="8595360" cy="180787"/>
            </a:xfrm>
            <a:prstGeom prst="rect">
              <a:avLst/>
            </a:prstGeom>
            <a:solidFill>
              <a:srgbClr val="EAF1FA"/>
            </a:solidFill>
            <a:ln w="3810">
              <a:solidFill>
                <a:srgbClr val="D5E0EC"/>
              </a:solidFill>
              <a:prstDash val="solid"/>
            </a:ln>
          </p:spPr>
        </p:sp>
        <p:sp>
          <p:nvSpPr>
            <p:cNvPr id="55" name="Text 21"/>
            <p:cNvSpPr/>
            <p:nvPr/>
          </p:nvSpPr>
          <p:spPr>
            <a:xfrm>
              <a:off x="320040" y="3880307"/>
              <a:ext cx="548640" cy="1265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E86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[16]</a:t>
              </a:r>
              <a:endParaRPr lang="en-US" sz="1050" dirty="0"/>
            </a:p>
          </p:txBody>
        </p:sp>
        <p:sp>
          <p:nvSpPr>
            <p:cNvPr id="56" name="Text 22"/>
            <p:cNvSpPr/>
            <p:nvPr/>
          </p:nvSpPr>
          <p:spPr>
            <a:xfrm>
              <a:off x="698500" y="3880307"/>
              <a:ext cx="8125460" cy="1458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spc="-50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MarketsandMarkets (2024). Humanoid Robot Market by Component, Application and </a:t>
              </a:r>
              <a:r>
                <a:rPr lang="en-US" sz="1000" spc="-50" dirty="0" smtClean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Region: Global </a:t>
              </a:r>
              <a:r>
                <a:rPr lang="en-US" sz="1000" spc="-50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Forecast to 2030. Report Code: SE 9017</a:t>
              </a:r>
              <a:endParaRPr lang="en-US" sz="1000" spc="-50" dirty="0"/>
            </a:p>
          </p:txBody>
        </p:sp>
        <p:sp>
          <p:nvSpPr>
            <p:cNvPr id="57" name="Shape 23"/>
            <p:cNvSpPr/>
            <p:nvPr/>
          </p:nvSpPr>
          <p:spPr>
            <a:xfrm>
              <a:off x="274320" y="4054314"/>
              <a:ext cx="8595360" cy="180787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D5E0EC"/>
              </a:solidFill>
              <a:prstDash val="solid"/>
            </a:ln>
          </p:spPr>
        </p:sp>
        <p:sp>
          <p:nvSpPr>
            <p:cNvPr id="58" name="Text 24"/>
            <p:cNvSpPr/>
            <p:nvPr/>
          </p:nvSpPr>
          <p:spPr>
            <a:xfrm>
              <a:off x="320040" y="4081432"/>
              <a:ext cx="548640" cy="1265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E86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[17]</a:t>
              </a:r>
              <a:endParaRPr lang="en-US" sz="1050" dirty="0"/>
            </a:p>
          </p:txBody>
        </p:sp>
        <p:sp>
          <p:nvSpPr>
            <p:cNvPr id="59" name="Text 25"/>
            <p:cNvSpPr/>
            <p:nvPr/>
          </p:nvSpPr>
          <p:spPr>
            <a:xfrm>
              <a:off x="698500" y="4081432"/>
              <a:ext cx="8125460" cy="1458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spc="-50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European Commission (2024). AI </a:t>
              </a:r>
              <a:r>
                <a:rPr lang="en-US" sz="1000" spc="-50" dirty="0" smtClean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Act: Regulation </a:t>
              </a:r>
              <a:r>
                <a:rPr lang="en-US" sz="1000" spc="-50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(EU) 2024/1689 of the European Parliament and of the Council. Official Journal of the European Union, L 2024/1689</a:t>
              </a:r>
              <a:endParaRPr lang="en-US" sz="1000" spc="-50" dirty="0"/>
            </a:p>
          </p:txBody>
        </p:sp>
        <p:sp>
          <p:nvSpPr>
            <p:cNvPr id="60" name="Shape 26"/>
            <p:cNvSpPr/>
            <p:nvPr/>
          </p:nvSpPr>
          <p:spPr>
            <a:xfrm>
              <a:off x="274320" y="4255439"/>
              <a:ext cx="8595360" cy="180787"/>
            </a:xfrm>
            <a:prstGeom prst="rect">
              <a:avLst/>
            </a:prstGeom>
            <a:solidFill>
              <a:srgbClr val="EAF1FA"/>
            </a:solidFill>
            <a:ln w="3810">
              <a:solidFill>
                <a:srgbClr val="D5E0EC"/>
              </a:solidFill>
              <a:prstDash val="solid"/>
            </a:ln>
          </p:spPr>
        </p:sp>
        <p:sp>
          <p:nvSpPr>
            <p:cNvPr id="61" name="Text 27"/>
            <p:cNvSpPr/>
            <p:nvPr/>
          </p:nvSpPr>
          <p:spPr>
            <a:xfrm>
              <a:off x="320040" y="4282557"/>
              <a:ext cx="548640" cy="1265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E86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[18]</a:t>
              </a:r>
              <a:endParaRPr lang="en-US" sz="1050" dirty="0"/>
            </a:p>
          </p:txBody>
        </p:sp>
        <p:sp>
          <p:nvSpPr>
            <p:cNvPr id="62" name="Text 28"/>
            <p:cNvSpPr/>
            <p:nvPr/>
          </p:nvSpPr>
          <p:spPr>
            <a:xfrm>
              <a:off x="698500" y="4282557"/>
              <a:ext cx="8125460" cy="1458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spc="-50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ISO/TC 299 (2021). ISO 10218-1:2011 (rev. 2021): Robots and robotic </a:t>
              </a:r>
              <a:r>
                <a:rPr lang="en-US" sz="1000" spc="-50" dirty="0" smtClean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devices: Safety </a:t>
              </a:r>
              <a:r>
                <a:rPr lang="en-US" sz="1000" spc="-50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requirements for industrial </a:t>
              </a:r>
              <a:r>
                <a:rPr lang="en-US" sz="1000" spc="-50" dirty="0" smtClean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robots: Part </a:t>
              </a:r>
              <a:r>
                <a:rPr lang="en-US" sz="1000" spc="-50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1: Robots. ISO Geneva</a:t>
              </a:r>
              <a:endParaRPr lang="en-US" sz="1000" spc="-50" dirty="0"/>
            </a:p>
          </p:txBody>
        </p:sp>
        <p:sp>
          <p:nvSpPr>
            <p:cNvPr id="63" name="Shape 29"/>
            <p:cNvSpPr/>
            <p:nvPr/>
          </p:nvSpPr>
          <p:spPr>
            <a:xfrm>
              <a:off x="274320" y="4456565"/>
              <a:ext cx="8595360" cy="180787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D5E0EC"/>
              </a:solidFill>
              <a:prstDash val="solid"/>
            </a:ln>
          </p:spPr>
        </p:sp>
        <p:sp>
          <p:nvSpPr>
            <p:cNvPr id="64" name="Text 30"/>
            <p:cNvSpPr/>
            <p:nvPr/>
          </p:nvSpPr>
          <p:spPr>
            <a:xfrm>
              <a:off x="320040" y="4483683"/>
              <a:ext cx="548640" cy="1265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E86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[19]</a:t>
              </a:r>
              <a:endParaRPr lang="en-US" sz="1050" dirty="0"/>
            </a:p>
          </p:txBody>
        </p:sp>
        <p:sp>
          <p:nvSpPr>
            <p:cNvPr id="65" name="Text 31"/>
            <p:cNvSpPr/>
            <p:nvPr/>
          </p:nvSpPr>
          <p:spPr>
            <a:xfrm>
              <a:off x="698500" y="4483683"/>
              <a:ext cx="8125460" cy="1458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spc="-50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Dafoe A. et al. (2020). Open Problems in Cooperative AI. arXiv:2012.08630. DeepMind, Oxford, UC Berkeley</a:t>
              </a:r>
              <a:endParaRPr lang="en-US" sz="1000" spc="-50" dirty="0"/>
            </a:p>
          </p:txBody>
        </p:sp>
        <p:sp>
          <p:nvSpPr>
            <p:cNvPr id="66" name="Shape 32"/>
            <p:cNvSpPr/>
            <p:nvPr/>
          </p:nvSpPr>
          <p:spPr>
            <a:xfrm>
              <a:off x="274320" y="4657690"/>
              <a:ext cx="8595360" cy="180787"/>
            </a:xfrm>
            <a:prstGeom prst="rect">
              <a:avLst/>
            </a:prstGeom>
            <a:solidFill>
              <a:srgbClr val="EAF1FA"/>
            </a:solidFill>
            <a:ln w="3810">
              <a:solidFill>
                <a:srgbClr val="D5E0EC"/>
              </a:solidFill>
              <a:prstDash val="solid"/>
            </a:ln>
          </p:spPr>
        </p:sp>
        <p:sp>
          <p:nvSpPr>
            <p:cNvPr id="67" name="Text 33"/>
            <p:cNvSpPr/>
            <p:nvPr/>
          </p:nvSpPr>
          <p:spPr>
            <a:xfrm>
              <a:off x="320040" y="4684808"/>
              <a:ext cx="548640" cy="1265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E86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[20]</a:t>
              </a:r>
              <a:endParaRPr lang="en-US" sz="1050" dirty="0"/>
            </a:p>
          </p:txBody>
        </p:sp>
        <p:sp>
          <p:nvSpPr>
            <p:cNvPr id="68" name="Text 34"/>
            <p:cNvSpPr/>
            <p:nvPr/>
          </p:nvSpPr>
          <p:spPr>
            <a:xfrm>
              <a:off x="698500" y="4684808"/>
              <a:ext cx="8125460" cy="1458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spc="-60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Chalvatzaki G. et al. (2023). Learning Robot Manipulation from Human Demonstrations using Reward Machines. IEEE Robotics and </a:t>
              </a:r>
              <a:r>
                <a:rPr lang="en-US" sz="1000" spc="-60" dirty="0" smtClean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Automation </a:t>
              </a:r>
              <a:r>
                <a:rPr lang="en-US" sz="1000" spc="-60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8(6), </a:t>
              </a:r>
              <a:r>
                <a:rPr lang="en-US" sz="1000" spc="-60" dirty="0" smtClean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DOI</a:t>
              </a:r>
              <a:r>
                <a:rPr lang="en-US" sz="1000" spc="-60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 10.1109/LRA.2023.3266750</a:t>
              </a:r>
              <a:endParaRPr lang="en-US" sz="1000" spc="-60" dirty="0"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Źródła branżowe, raporty i bazy danych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Trendy i </a:t>
            </a:r>
            <a:r>
              <a:rPr lang="en-US" sz="900" dirty="0" err="1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wyzwania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naukowe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Roboty</a:t>
            </a:r>
            <a:r>
              <a:rPr lang="en-US" sz="9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humanoidalne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9011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Bib-3 / 35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1822"/>
            <a:ext cx="45720" cy="110032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046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Raporty rynkowe i branżowe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038606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Goldman Sachs Global Investment Research (2024): Humanoid </a:t>
            </a:r>
            <a:r>
              <a:rPr lang="en-US" sz="11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Robots: Global </a:t>
            </a: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Projections 2024–2035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PitchBook Data (2024): Robotics Venture Capital </a:t>
            </a:r>
            <a:r>
              <a:rPr lang="en-US" sz="11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Report: Q4 </a:t>
            </a: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IFR: International </a:t>
            </a: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 of Robotics (2024): World Robotics Report 2024. Frankfurt: IFR Press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 / Boston Consulting Group (2023): The Coming Wave of Factory Automation. BCG Henderson Institute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233422"/>
            <a:ext cx="45720" cy="110032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762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Bazy danych i benchmarki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410206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Xplore Digital </a:t>
            </a:r>
            <a:r>
              <a:rPr lang="en-US" sz="11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Library: </a:t>
            </a:r>
            <a:r>
              <a:rPr lang="en-US" sz="11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główne</a:t>
            </a:r>
            <a:r>
              <a:rPr lang="en-US" sz="11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repozytorium publikacji z robotyki i systemów sterowania (ieeexplore.ieee.org)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 / </a:t>
            </a:r>
            <a:r>
              <a:rPr lang="en-US" sz="11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cs.RO: </a:t>
            </a:r>
            <a:r>
              <a:rPr lang="en-US" sz="11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sekcja</a:t>
            </a:r>
            <a:r>
              <a:rPr lang="en-US" sz="11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Robotics; serwis preprint dla najnowszych wyników badawczych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OpenReview.net: </a:t>
            </a:r>
            <a:r>
              <a:rPr lang="en-US" sz="11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recenzowane</a:t>
            </a:r>
            <a:r>
              <a:rPr lang="en-US" sz="11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preprinty konferencji NeurIPS, ICLR, ICML (modele AI dla robotyki)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Robotics Test </a:t>
            </a:r>
            <a:r>
              <a:rPr lang="en-US" sz="11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Facility: </a:t>
            </a:r>
            <a:r>
              <a:rPr lang="en-US" sz="11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standardyzowane</a:t>
            </a:r>
            <a:r>
              <a:rPr lang="en-US" sz="11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testy wydajności manipulatorów i platform mobilnych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605022"/>
            <a:ext cx="45720" cy="110032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478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Zasoby regulacyjne i normatywne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781806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EUR-Lex: </a:t>
            </a:r>
            <a:r>
              <a:rPr lang="en-US" sz="11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pełny</a:t>
            </a:r>
            <a:r>
              <a:rPr lang="en-US" sz="11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 AI Act: eur-lex.europa.eu/legal-content/EN/TXT/?uri=CELEX:32024R1689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Online Browsing </a:t>
            </a:r>
            <a:r>
              <a:rPr lang="en-US" sz="11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</a:t>
            </a:r>
            <a:r>
              <a:rPr lang="en-US" sz="11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normy</a:t>
            </a:r>
            <a:r>
              <a:rPr lang="en-US" sz="11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ISO/TC 299 Robotics: iso.org/committee/5915511.html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EUROCAE (2024): Guidance on Autonomous </a:t>
            </a:r>
            <a:r>
              <a:rPr lang="en-US" sz="11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Systems: WG-114</a:t>
            </a: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material do adaptacji na roboty naziemne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PKN (2024): Polski </a:t>
            </a:r>
            <a:r>
              <a:rPr lang="en-US" sz="11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Komitet</a:t>
            </a: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Normalizacyjny</a:t>
            </a:r>
            <a:r>
              <a:rPr lang="en-US" sz="110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program </a:t>
            </a: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harmonizacji norm EN ISO dla robotyki w Polsce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5552</Words>
  <Application>Microsoft Office PowerPoint</Application>
  <PresentationFormat>Pokaz na ekranie (16:9)</PresentationFormat>
  <Paragraphs>565</Paragraphs>
  <Slides>38</Slides>
  <Notes>38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38</vt:i4>
      </vt:variant>
    </vt:vector>
  </HeadingPairs>
  <TitlesOfParts>
    <vt:vector size="43" baseType="lpstr">
      <vt:lpstr>Arial</vt:lpstr>
      <vt:lpstr>Arial Nova Light</vt:lpstr>
      <vt:lpstr>Calibri</vt:lpstr>
      <vt:lpstr>Roboto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Andromeda</dc:creator>
  <cp:lastModifiedBy>Mateusz Pomianek</cp:lastModifiedBy>
  <cp:revision>35</cp:revision>
  <dcterms:modified xsi:type="dcterms:W3CDTF">2026-11-01T13:46:50Z</dcterms:modified>
</cp:coreProperties>
</file>