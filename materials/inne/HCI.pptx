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4618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Interakcja człowiek–komputer (HCI</a:t>
            </a:r>
            <a:r>
              <a:rPr lang="en-US" sz="3600" b="1" dirty="0" smtClean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498080" cy="5321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Wzajemny</a:t>
            </a: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wpływ</a:t>
            </a: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człowieka</a:t>
            </a: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 err="1" smtClean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systemów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wykładzie student wyjaśnia, oblicza, porównuje i ocenia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wyjaśnia użyteczność wg ISO 9241-11 [1] i przepaści wykonania oraz oceny [2],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oblicza wskaźnik trudności zadania wskazywania (prawo Fittsa) [3],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ocenia interfejs heurystykami [4] i skalą SUS [5],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porównuje wpływ systemów na poznanie i zachowanie człowieka z wpływem człowieka na uczenie się maszyn,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opisuje potok informatyki afektywnej i jej ograniczenia,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dobiera technologię XR i ocenia ryzyko choroby symulatorowej.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408736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 otwierające: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który kierunek wpływu – człowiek → komputer czy komputer → człowiek – łatwiej zmierzyć i dlaczego?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Użyteczność to skuteczność, wydajność i satysfakcja w określonym kontekście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173736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37160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Skuteczność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 użytkownik osiąga cel? Miara: odsetek ukończonych zadań.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280160"/>
            <a:ext cx="2651760" cy="173736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55848" y="137160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Wydajność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Jakim kosztem? Miary: czas zadania, liczba błędów, liczba kliknięć.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280160"/>
            <a:ext cx="2651760" cy="173736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44768" y="1371600"/>
            <a:ext cx="24323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Satysfakcja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użytkownik ocenia interakcję? Miary: kwestionariusze, np. SUS.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32004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Użyteczność dotyczy konkretnych użytkowników, celów i kontekstu, a nie produktu „w ogóle” [1].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 projektowania zorientowanego na człowieka opisuje ISO 9241-210 [6].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Źródła: [1], [6]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Błędy interakcji powstają w przepaściach wykonania i oceny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32588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3F6F9"/>
          </a:solidFill>
          <a:ln w="19050">
            <a:solidFill>
              <a:srgbClr val="0B4F8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Użytkownik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cel, intencja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75120" y="1325880"/>
            <a:ext cx="1920240" cy="1280160"/>
          </a:xfrm>
          <a:prstGeom prst="roundRect">
            <a:avLst>
              <a:gd name="adj" fmla="val 5714"/>
            </a:avLst>
          </a:prstGeom>
          <a:solidFill>
            <a:srgbClr val="F3F6F9"/>
          </a:solidFill>
          <a:ln w="19050">
            <a:solidFill>
              <a:srgbClr val="0B4F8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stan, reakcja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14600" y="1645920"/>
            <a:ext cx="411480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251460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Przepaść wykonania: jak to zrobić?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 flipH="1">
            <a:off x="2514600" y="2286000"/>
            <a:ext cx="411480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2514600" y="23774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Przepaść oceny: co się stało?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26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Przepaść wykonania zmniejszają czytelne afordancje i ograniczenia [2].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Przepaść oceny zmniejsza natychmiastowe, zrozumiałe sprzężenie zwrotne [2].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408736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siebie: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której przepaści zaliczysz przycisk „Zapisz”, po którego naciśnięciu nic się nie zmienia na ekranie?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Źródła: [2]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Czas wskazywania i czas wyboru można przewidzieć ilościowo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265176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325880"/>
            <a:ext cx="38039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Prawo Fittsa [3], [7]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 = a + b · log</a:t>
            </a:r>
            <a:r>
              <a:rPr lang="en-US" sz="16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(D/W + 1)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– odległość, W – szerokość celu, a, b – stałe empiryczne (zależą od urządzenia i użytkownika).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= 200 mm, W = 20 mm: ID = log₂(11) ≈ 3,46 bita; dla W = 40 mm: ID = log₂(6) ≈ 2,58 bita.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4023360" cy="265176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73168" y="1325880"/>
            <a:ext cx="3803904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Prawo Hicka–Hymana [8]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 = a + b · log</a:t>
            </a:r>
            <a:r>
              <a:rPr lang="en-US" sz="1600" baseline="-40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 + 1)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– liczba równie prawdopodobnych opcji.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7: log₂(8) = 3 bity; n = 15: log₂(16) = 4 bity. Podwojenie liczby opcji dodaje stały przyrost czasu, nie podwaja go.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408736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zmieni się ID Fittsa, gdy podwoisz zarówno D, jak i W? Uzasadnij.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Źródła: [3], [7], [8]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Heurystyki i SUS wykrywają problemy, lecz nie zastępują badań z użytkownikami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26974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325880"/>
            <a:ext cx="243230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Heurystyki Nielsena (1–5) [4]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widoczność stanu systemu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zgodność z rzeczywistością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kontrola i swoboda użytkownika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spójność i standardy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zapobieganie błędom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234440"/>
            <a:ext cx="2651760" cy="26974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55848" y="1325880"/>
            <a:ext cx="243230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Heurystyki Nielsena (6–10) [4]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rozpoznawanie zamiast przypominania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elastyczność i wydajność użycia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estetyczny, minimalistyczny projekt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pomoc w rozpoznaniu i naprawie błędów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pomoc i dokumentacja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234440"/>
            <a:ext cx="2651760" cy="26974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44768" y="1325880"/>
            <a:ext cx="243230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 SUS [5]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pytań, skala 1–5, wynik przeliczany na 0–100. Wynik pojedynczego interfejsu ma sens głównie w porównaniu (wersje, konkurenci). Ocena heurystyczna zależy od kompetencji oceniających.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Źródła: [4], [5]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Systemy zmieniają sposób, w jaki człowiek zapamiętuje, decyduje i ufa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26974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325880"/>
            <a:ext cx="243230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Pamięć i odciążenie poznawcze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badaniach Sparrow i wsp. osoby spodziewające się dostępu do informacji gorzej pamiętały jej treść, lepiej – gdzie jej szukać [9].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234440"/>
            <a:ext cx="2651760" cy="26974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55848" y="1325880"/>
            <a:ext cx="243230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Automatyzacja i zaufanie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Przegląd badań wskazuje, że nadmierne poleganie na automacie prowadzi do przeoczeń, gdy automat zawodzi [10].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234440"/>
            <a:ext cx="2651760" cy="26974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44768" y="1325880"/>
            <a:ext cx="243230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Wniosek projektowy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powinien wspierać rozumowanie, a nie je zastępować: pokazywać niepewność i uzasadnienie rekomendacji (interpretacja prowadzącego).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408736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siebie: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podaj sytuację, w której poleganie na systemie jest racjonalne, i taką, w której staje się błędem.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Źródła: [9], [10]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Człowiek kształtuje system: dane, korekty i preferencje stają się sygnałem uczącym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Interaktywne uczenie maszynowe: użytkownik na bieżąco dostarcza przykłady i korekty, a model się aktualizuje [11].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Uczenie ze wzmocnieniem z preferencji człowieka: model nagrody uczony z ocen porównawczych zachowań [12].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Współadaptacja: system dopasowuje się do użytkownika, a użytkownik do systemu.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06324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19050">
            <a:solidFill>
              <a:srgbClr val="0B4F8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Człowiek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83680" y="3063240"/>
            <a:ext cx="2103120" cy="731520"/>
          </a:xfrm>
          <a:prstGeom prst="roundRect">
            <a:avLst>
              <a:gd name="adj" fmla="val 10000"/>
            </a:avLst>
          </a:prstGeom>
          <a:solidFill>
            <a:srgbClr val="F3F6F9"/>
          </a:solidFill>
          <a:ln w="19050">
            <a:solidFill>
              <a:srgbClr val="0B4F8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3291840"/>
            <a:ext cx="393192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606040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działanie, ocena, korekta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 flipH="1">
            <a:off x="2606040" y="3657600"/>
            <a:ext cx="393192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2606040" y="3703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reakcja, rekomendacja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408736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jakie ryzyko powstaje, gdy sygnałem uczącym są preferencje niereprezentatywnej grupy użytkowników?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Źródła: [11], [12]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Interakcja człowiek–robot łączy wymagania HCI z fizyczną obecnością i autonomią maszyny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26974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325880"/>
            <a:ext cx="243230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Zakres HRI [13]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Interakcja zależy m.in. od poziomu autonomii robota i roli człowieka (operator, nadzorca, współpracownik, osoba postronna). Cel projektowy dla humanoidów: czytelność zamiarów robota (mowa, gest, kierunek wzroku).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234440"/>
            <a:ext cx="2651760" cy="26974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55848" y="1325880"/>
            <a:ext cx="243230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Postrzeganie robota [15]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Kwestionariusz Godspeed mierzy pięć wymiarów: antropomorfizm, ożywienie, sympatię, postrzeganą inteligencję i postrzegane bezpieczeństwo.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234440"/>
            <a:ext cx="2651760" cy="26974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44768" y="1325880"/>
            <a:ext cx="243230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Dolina niesamowitości [14]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Hipoteza Moriego: sympatia rośnie z podobieństwem do człowieka, po czym gwałtownie spada. To hipoteza, a dane empiryczne są niejednoznaczne.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408736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siebie: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czym różni się bezpieczeństwo rzeczywiste robota od postrzeganego i jak każde z nich zmierzysz?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Źródła: [13], [14], [15]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Zaufanie do robota powinno być skalibrowane, a bezpieczeństwo fizyczne zapewnione technicznie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023360" cy="26974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325880"/>
            <a:ext cx="380390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Kalibracja zaufania [16]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Zaufanie zbyt duże prowadzi do nadużywania automatu, zbyt małe – do jego niewykorzystywania. Cel: poziom zaufania zgodny z rzeczywistą niezawodnością robota. Interfejs powinien jawnie komunikować ograniczenia i niepewność robota.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234440"/>
            <a:ext cx="4023360" cy="26974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773168" y="1325880"/>
            <a:ext cx="380390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Współpraca fizyczna [17]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ISO/TS 15066 opisuje wymagania dla robotów współpracujących i wyróżnia cztery formy współpracy: zatrzymanie z monitorowaniem, prowadzenie ręczne, monitorowanie prędkości i odległości oraz ograniczanie mocy i siły.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408736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Przypadek: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humanoidalny podaje narzędzia operatorowi. Który tryb współpracy wybierzesz i dlaczego?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Źródła: [16], [17]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Informatyka afektywna buduje potok: pomiar sygnałów, rozpoznanie, model i reakcja systemu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3F6F9"/>
          </a:solidFill>
          <a:ln w="19050">
            <a:solidFill>
              <a:srgbClr val="0B4F8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Sygnały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twarz, głos, tekst, EDA, tętno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587752" y="12801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3F6F9"/>
          </a:solidFill>
          <a:ln w="19050">
            <a:solidFill>
              <a:srgbClr val="0B4F8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Rozpoznanie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klasyfikacja lub regresja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18304" y="12801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3F6F9"/>
          </a:solidFill>
          <a:ln w="19050">
            <a:solidFill>
              <a:srgbClr val="0B4F8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emocji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kategorialny lub wymiarowy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48856" y="1280160"/>
            <a:ext cx="1828800" cy="1188720"/>
          </a:xfrm>
          <a:prstGeom prst="roundRect">
            <a:avLst>
              <a:gd name="adj" fmla="val 6154"/>
            </a:avLst>
          </a:prstGeom>
          <a:solidFill>
            <a:srgbClr val="F3F6F9"/>
          </a:solidFill>
          <a:ln w="19050">
            <a:solidFill>
              <a:srgbClr val="0B4F8A"/>
            </a:solidFill>
          </a:ln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Reakcja</a:t>
            </a:r>
            <a:endParaRPr lang="en-US" sz="13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adaptacja interfejsu lub robota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04288" y="1874520"/>
            <a:ext cx="265176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434840" y="1874520"/>
            <a:ext cx="265176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565392" y="1874520"/>
            <a:ext cx="265176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1" name="Text 9"/>
          <p:cNvSpPr txBox="1"/>
          <p:nvPr/>
        </p:nvSpPr>
        <p:spPr>
          <a:xfrm>
            <a:off x="45720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Dziedzinę zdefiniowała Picard w 1997 r. [18].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wymiarowy Russella opisuje stan przez walencję i pobudzenie [19]; model kategorialny opiera się na emocjach podstawowych Ekmana [20].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Wybór modelu determinuje typ zadania: klasyfikacja etykiet lub regresja wartości ciągłych.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408736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dobierz sygnały dla asystenta w samochodzie i wskaż ich ograniczenia.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Źródła: [18], [19], [20]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Rozpoznawanie emocji ma ograniczenia naukowe i prawne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Przegląd Barrett i wsp.: konfiguracje mimiczne nie mapują się jednoznacznie na stany emocjonalne; zależą od kontekstu, kultury i osoby [21].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Etykiety „emocji” w zbiorach danych opisują zazwyczaj ekspresję lub ocenę adnotatora, a nie stan wewnętrzny.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Rozporządzenie UE 2024/1689 (AI Act) ogranicza systemy wnioskujące o emocjach w miejscu pracy i edukacji, z wyjątkami medycznymi i bezpieczeństwa [22]. Zweryfikuj aktualny zakres przepisów.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Wniosek: raportuj wynik jako estymatę z niepewnością, testuj na różnych grupach, zapewnij zgodę i możliwość wyłączenia.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408736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Pytanie: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jakie dane pozwoliłyby uznać, że model rozpoznaje emocję, a nie tylko ekspresję?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Źródła: [21], [22]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obejmuje kontinuum od rzeczywistości do wirtualności, a kluczową cechą jest poczucie obecności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011680" y="1280160"/>
            <a:ext cx="5120640" cy="411480"/>
          </a:xfrm>
          <a:prstGeom prst="roundRect">
            <a:avLst>
              <a:gd name="adj" fmla="val 17778"/>
            </a:avLst>
          </a:prstGeom>
          <a:solidFill>
            <a:srgbClr val="F3F6F9"/>
          </a:solidFill>
          <a:ln w="19050">
            <a:solidFill>
              <a:srgbClr val="0B4F8A"/>
            </a:solidFill>
          </a:ln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Rzeczywistość mieszana (MR)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786384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2020824"/>
            <a:ext cx="164592" cy="164592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026664" y="2020824"/>
            <a:ext cx="164592" cy="164592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52744" y="2020824"/>
            <a:ext cx="164592" cy="164592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21624" y="2020824"/>
            <a:ext cx="164592" cy="164592"/>
          </a:xfrm>
          <a:prstGeom prst="ellipse">
            <a:avLst/>
          </a:prstGeom>
          <a:solidFill>
            <a:srgbClr val="0B4F8A"/>
          </a:solidFill>
          <a:ln w="12700">
            <a:solidFill>
              <a:srgbClr val="0B4F8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57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Środowisko rzeczywiste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Rzeczywistość rozszerzona (AR)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Wirtualność rozszerzona (AV)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286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Środowisko wirtualne (VR)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8803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Kontinuum rzeczywistość–wirtualność porządkuje wyświetlacze według udziału elementów rzeczywistych i wirtualnych [23].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Obecność wg Slatera składa się z iluzji miejsca i iluzji wiarygodności zdarzeń [24].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408736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siebie: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którym miejscu kontinuum umieścisz aplikację nakładającą instrukcję montażu na obraz z kamery smartfona?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Źródła: [23], [24]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Interakcja w XR wymaga dopasowania modalności do zadania i kontroli choroby symulatorowej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26974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928" y="1325880"/>
            <a:ext cx="243230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Modalności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Kontrolery 6DoF, śledzenie dłoni, śledzenie wzroku, głos. Wybór zależy od zadania, dokładności i zmęczenia. Miary wydajności z klasycznego HCI (czas, błędy) stosuje się także w XR.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234440"/>
            <a:ext cx="2651760" cy="26974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355848" y="1325880"/>
            <a:ext cx="243230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Choroba symulatorowa [25]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Kwestionariusz SSQ ma 16 objawów w trzech grupach: nudności, objawy oculomotoryczne i dezorientacja. Zjawisko wiąże się często z konfliktem bodźców wzrokowych i przedsionkowych.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035040" y="1234440"/>
            <a:ext cx="2651760" cy="269748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144768" y="1325880"/>
            <a:ext cx="2432304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Wniosek projektowy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Minimalizuj opóźnienie i niezamierzony ruch kamery, daj użytkownikowi kontrolę nad lokomocją (interpretacja prowadzącego).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408736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zaprojektuj porównanie dwóch metod lokomocji w VR. Jakie miary zbierzesz?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Źródła: [25]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Podsumowanie: XR, robot i modele afektywne tworzą jedną pętlę interakcji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Użyteczność jest własnością interakcji w kontekście, mierzoną skutecznością, wydajnością i satysfakcją [1].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Wpływ jest dwukierunkowy: system zmienia poznanie i zaufanie człowieka [9], [10], a człowiek uczy system [11], [12].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HRI dodaje fizyczną obecność i autonomię, więc wymaga kalibracji zaufania i gwarancji bezpieczeństwa [16], [17].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Informatyka afektywna daje estymaty stanów, nie pewność; ma ograniczenia naukowe i prawne [21], [22].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 jest interfejsem o własnych ryzykach ergonomicznych, w tym chorobie symulatorowej [25].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solidFill>
            <a:srgbClr val="F3F6F9"/>
          </a:solidFill>
          <a:ln w="12700">
            <a:solidFill>
              <a:srgbClr val="F3F6F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4087368"/>
            <a:ext cx="7955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końcowe: 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zaprojektuj teleoperację robota humanoidalnego w XR ze sprzężeniem afektywnym. Wskaż trzy ryzyka i miary ich oceny.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Bibliografia (IEEE), cz. 1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4023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ISO 9241-11:2018, Ergonomics of human-system interaction – Part 11: Usability: Definitions and concepts, ISO, Geneva, 2018.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D. A. Norman, The Design of Everyday Things, rev. ed. New York, NY, USA: Basic Books, 2013.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P. M. Fitts, “The information capacity of the human motor system in controlling the amplitude of movement,” J. Exp. Psychol., vol. 47, no. 6, pp. 381–391, 1954.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J. Nielsen, “Enhancing the explanatory power of usability heuristics,” in Proc. ACM CHI ’94, Boston, MA, USA, 1994, pp. 152–158.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J. Brooke, “SUS: A ‘quick and dirty’ usability scale,” in Usability Evaluation in Industry, London, U.K.: Taylor &amp; Francis, 1996, pp. 189–194.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ISO 9241-210:2019, Ergonomics of human-system interaction – Part 210: Human-centred design for interactive systems, ISO, Geneva, 2019.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I. S. MacKenzie, “Fitts’ law as a research and design tool in human-computer interaction,” Human–Computer Interaction, vol. 7, no. 1, pp. 91–139, 1992.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914400"/>
            <a:ext cx="4023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W. E. Hick, “On the rate of gain of information,” Quart. J. Exp. Psychol., vol. 4, no. 1, pp. 11–26, 1952.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B. Sparrow, J. Liu, and D. M. Wegner, “Google effects on memory: Cognitive consequences of having information at our fingertips,” Science, vol. 333, no. 6043, pp. 776–778, 2011.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R. Parasuraman and D. H. Manzey, “Complacency and bias in human use of automation: An attentional integration,” Human Factors, vol. 52, no. 3, pp. 381–410, 2010.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S. Amershi, M. Cakmak, W. B. Knox, and T. Kulesza, “Power to the people: The role of humans in interactive machine learning,” AI Mag., vol. 35, no. 4, pp. 105–120, 2014.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P. F. Christiano et al., “Deep reinforcement learning from human preferences,” in Adv. Neural Inf. Process. Syst. 30 (NeurIPS), 2017.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M. A. Goodrich and A. C. Schultz, “Human–robot interaction: A survey,” Found. Trends Hum.–Comput. Interact., vol. 1, no. 3, pp. 203–275, 2007.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Bibliografia (IEEE), cz. 2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914400"/>
            <a:ext cx="4023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M. Mori, K. F. MacDorman, and N. Kageki, “The uncanny valley [From the field],” IEEE Robot. Autom. Mag., vol. 19, no. 2, pp. 98–100, 2012.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C. Bartneck, D. Kulić, E. Croft, and S. Zoghbi, “Measurement instruments for the anthropomorphism, animacy, likeability, perceived intelligence, and perceived safety of robots,” Int. J. Soc. Robot., vol. 1, no. 1, pp. 71–81, 2009.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J. D. Lee and K. A. See, “Trust in automation: Designing for appropriate reliance,” Human Factors, vol. 46, no. 1, pp. 50–80, 2004.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[17] ISO/TS 15066:2016, Robots and robotic devices – Collaborative robots, ISO, Geneva, 2016.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[18] R. W. Picard, Affective Computing. Cambridge, MA, USA: MIT Press, 1997.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[19] J. A. Russell, “A circumplex model of affect,” J. Pers. Soc. Psychol., vol. 39, no. 6, pp. 1161–1178, 1980.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663440" y="914400"/>
            <a:ext cx="4023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[20] P. Ekman, “An argument for basic emotions,” Cogn. Emot., vol. 6, no. 3–4, pp. 169–200, 1992.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[21] L. F. Barrett, R. Adolphs, S. Marsella, A. M. Martinez, and S. D. Pollak, “Emotional expressions reconsidered: Challenges to inferring emotion from human facial movements,” Psychol. Sci. Public Interest, vol. 20, no. 1, pp. 1–68, 2019.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[22] Regulation (EU) 2024/1689 of the European Parliament and of the Council (Artificial Intelligence Act), Off. J. Eur. Union, 2024.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[23] P. Milgram and F. Kishino, “A taxonomy of mixed reality visual displays,” IEICE Trans. Inf. Syst., vol. E77-D, no. 12, pp. 1321–1329, 1994.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[24] M. Slater, “Place illusion and plausibility illusion in virtual environments,” Philos. Trans. R. Soc. B, vol. 364, no. 1535, pp. 3549–3557, 2009.</a:t>
            </a:r>
            <a:endParaRPr lang="en-US" sz="900" dirty="0"/>
          </a:p>
          <a:p>
            <a:pPr marL="0" indent="0">
              <a:spcAft>
                <a:spcPts val="5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[25] R. S. Kennedy, N. E. Lane, K. S. Berbaum, and M. G. Lilienthal, “Simulator sickness questionnaire: An enhanced method for quantifying simulator sickness,” Int. J. Aviat. Psychol., vol. 3, no. 3, pp. 203–220, 1993.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2651</Words>
  <Application>Microsoft Office PowerPoint</Application>
  <PresentationFormat>Pokaz na ekranie (16:9)</PresentationFormat>
  <Paragraphs>201</Paragraphs>
  <Slides>17</Slides>
  <Notes>17</Notes>
  <HiddenSlides>0</HiddenSlides>
  <MMClips>0</MMClips>
  <ScaleCrop>false</ScaleCrop>
  <HeadingPairs>
    <vt:vector size="6" baseType="variant">
      <vt:variant>
        <vt:lpstr>Używane czcionki</vt:lpstr>
      </vt:variant>
      <vt:variant>
        <vt:i4>2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Interakcja człowiek–komputer (HCI)</dc:title>
  <dc:subject>HCI</dc:subject>
  <dc:creator>Mateusz Pomianek</dc:creator>
  <cp:lastModifiedBy>Mateusz Pomianek</cp:lastModifiedBy>
  <cp:revision>2</cp:revision>
  <dcterms:created xsi:type="dcterms:W3CDTF">2026-09-29T12:05:15Z</dcterms:created>
  <dcterms:modified xsi:type="dcterms:W3CDTF">2026-09-29T12:04:04Z</dcterms:modified>
</cp:coreProperties>
</file>