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BF46C73F-8527-1A7B-9FD1-2AD0C173C0F3}">
          <p14:sldIdLst>
            <p14:sldId id="256"/>
            <p14:sldId id="257"/>
            <p14:sldId id="258"/>
          </p14:sldIdLst>
        </p14:section>
        <p14:section name="Przygotowanie" id="{5053BCFC-A05B-7B85-D22B-4324E525B71E}">
          <p14:sldIdLst>
            <p14:sldId id="259"/>
            <p14:sldId id="260"/>
            <p14:sldId id="261"/>
            <p14:sldId id="262"/>
          </p14:sldIdLst>
        </p14:section>
        <p14:section name="Pisanie" id="{93B8F7D7-3499-31BD-8EAF-AFAC608C2548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Finał" id="{40E0F48E-B612-24EC-1F1F-B26340EEF8B2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tx>
        <c:rich>
          <a:bodyPr/>
          <a:lstStyle/>
          <a:p>
            <a:pPr>
              <a:defRPr sz="2200" b="0" i="0" u="none" strike="noStrike">
                <a:solidFill>
                  <a:srgbClr val="0A2A5E"/>
                </a:solidFill>
                <a:latin typeface="Arial"/>
              </a:defRPr>
            </a:pPr>
            <a:r>
              <a:rPr lang="pl-PL" sz="2000" b="0" i="0" u="none" strike="noStrike" dirty="0" smtClean="0">
                <a:solidFill>
                  <a:srgbClr val="0A2A5E"/>
                </a:solidFill>
                <a:latin typeface="Arial"/>
              </a:rPr>
              <a:t>Orientacyjny udział </a:t>
            </a:r>
            <a:r>
              <a:rPr lang="pl-PL" sz="2000" b="0" i="0" u="none" strike="noStrike" dirty="0">
                <a:solidFill>
                  <a:srgbClr val="0A2A5E"/>
                </a:solidFill>
                <a:latin typeface="Arial"/>
              </a:rPr>
              <a:t>czasu </a:t>
            </a:r>
            <a:r>
              <a:rPr lang="pl-PL" sz="2000" b="0" i="0" u="none" strike="noStrike" dirty="0" smtClean="0">
                <a:solidFill>
                  <a:srgbClr val="0A2A5E"/>
                </a:solidFill>
                <a:latin typeface="Arial"/>
              </a:rPr>
              <a:t>na każdy etap</a:t>
            </a:r>
            <a:endParaRPr lang="pl-PL" sz="2000" b="0" i="0" u="none" strike="noStrike" dirty="0">
              <a:solidFill>
                <a:srgbClr val="0A2A5E"/>
              </a:solidFill>
              <a:latin typeface="Arial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Udział czasu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2A-4D46-9189-3BE7D9F88567}"/>
              </c:ext>
            </c:extLst>
          </c:dPt>
          <c:dPt>
            <c:idx val="1"/>
            <c:invertIfNegative val="0"/>
            <c:bubble3D val="0"/>
            <c:spPr>
              <a:solidFill>
                <a:srgbClr val="0A2A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2A-4D46-9189-3BE7D9F88567}"/>
              </c:ext>
            </c:extLst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2A-4D46-9189-3BE7D9F88567}"/>
              </c:ext>
            </c:extLst>
          </c:dPt>
          <c:dPt>
            <c:idx val="3"/>
            <c:invertIfNegative val="0"/>
            <c:bubble3D val="0"/>
            <c:spPr>
              <a:solidFill>
                <a:srgbClr val="D948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2A-4D46-9189-3BE7D9F88567}"/>
              </c:ext>
            </c:extLst>
          </c:dPt>
          <c:dPt>
            <c:idx val="4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C2A-4D46-9189-3BE7D9F88567}"/>
              </c:ext>
            </c:extLst>
          </c:dPt>
          <c:dPt>
            <c:idx val="5"/>
            <c:invertIfNegative val="0"/>
            <c:bubble3D val="0"/>
            <c:spPr>
              <a:solidFill>
                <a:srgbClr val="9240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C2A-4D46-9189-3BE7D9F88567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0" i="0" u="none" strike="noStrike">
                    <a:solidFill>
                      <a:srgbClr val="111827"/>
                    </a:solidFill>
                    <a:latin typeface="+mn-lt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Temat</c:v>
                </c:pt>
                <c:pt idx="1">
                  <c:v>Literatura</c:v>
                </c:pt>
                <c:pt idx="2">
                  <c:v>Metodologia</c:v>
                </c:pt>
                <c:pt idx="3">
                  <c:v>Badania</c:v>
                </c:pt>
                <c:pt idx="4">
                  <c:v>Pisanie</c:v>
                </c:pt>
                <c:pt idx="5">
                  <c:v>Obrona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10</c:v>
                </c:pt>
                <c:pt idx="3">
                  <c:v>25</c:v>
                </c:pt>
                <c:pt idx="4">
                  <c:v>25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C2A-4D46-9189-3BE7D9F885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400" b="0" i="0" u="none" strike="noStrike">
                <a:solidFill>
                  <a:srgbClr val="111827"/>
                </a:solidFill>
                <a:latin typeface="+mn-lt"/>
              </a:defRPr>
            </a:pPr>
            <a:endParaRPr lang="pl-P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Udział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2A5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6-4231-9448-E1494239CF60}"/>
              </c:ext>
            </c:extLst>
          </c:dPt>
          <c:dPt>
            <c:idx val="1"/>
            <c:bubble3D val="0"/>
            <c:spPr>
              <a:solidFill>
                <a:srgbClr val="1D4ED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6-4231-9448-E1494239CF60}"/>
              </c:ext>
            </c:extLst>
          </c:dPt>
          <c:dPt>
            <c:idx val="2"/>
            <c:bubble3D val="0"/>
            <c:spPr>
              <a:solidFill>
                <a:srgbClr val="D9480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6-4231-9448-E1494239CF60}"/>
              </c:ext>
            </c:extLst>
          </c:dPt>
          <c:dPt>
            <c:idx val="3"/>
            <c:bubble3D val="0"/>
            <c:spPr>
              <a:solidFill>
                <a:srgbClr val="0F766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6-4231-9448-E1494239CF60}"/>
              </c:ext>
            </c:extLst>
          </c:dPt>
          <c:dPt>
            <c:idx val="4"/>
            <c:bubble3D val="0"/>
            <c:spPr>
              <a:solidFill>
                <a:srgbClr val="47556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0AC6-4231-9448-E1494239CF60}"/>
              </c:ext>
            </c:extLst>
          </c:dPt>
          <c:dPt>
            <c:idx val="5"/>
            <c:bubble3D val="0"/>
            <c:spPr>
              <a:solidFill>
                <a:srgbClr val="92400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0AC6-4231-9448-E1494239CF60}"/>
              </c:ext>
            </c:extLst>
          </c:dPt>
          <c:dPt>
            <c:idx val="6"/>
            <c:bubble3D val="0"/>
            <c:spPr>
              <a:solidFill>
                <a:srgbClr val="0369A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0AC6-4231-9448-E1494239CF60}"/>
              </c:ext>
            </c:extLst>
          </c:dPt>
          <c:dLbls>
            <c:dLbl>
              <c:idx val="0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AC6-4231-9448-E1494239CF60}"/>
                </c:ext>
              </c:extLst>
            </c:dLbl>
            <c:dLbl>
              <c:idx val="1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0AC6-4231-9448-E1494239CF60}"/>
                </c:ext>
              </c:extLst>
            </c:dLbl>
            <c:dLbl>
              <c:idx val="2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0AC6-4231-9448-E1494239CF60}"/>
                </c:ext>
              </c:extLst>
            </c:dLbl>
            <c:dLbl>
              <c:idx val="3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0AC6-4231-9448-E1494239CF60}"/>
                </c:ext>
              </c:extLst>
            </c:dLbl>
            <c:dLbl>
              <c:idx val="4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0AC6-4231-9448-E1494239CF60}"/>
                </c:ext>
              </c:extLst>
            </c:dLbl>
            <c:dLbl>
              <c:idx val="5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0AC6-4231-9448-E1494239CF60}"/>
                </c:ext>
              </c:extLst>
            </c:dLbl>
            <c:dLbl>
              <c:idx val="6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0AC6-4231-9448-E1494239CF60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Wstęp</c:v>
                </c:pt>
                <c:pt idx="1">
                  <c:v>Teoria</c:v>
                </c:pt>
                <c:pt idx="2">
                  <c:v>Metodologia</c:v>
                </c:pt>
                <c:pt idx="3">
                  <c:v>Wyniki</c:v>
                </c:pt>
                <c:pt idx="4">
                  <c:v>Dyskusja</c:v>
                </c:pt>
                <c:pt idx="5">
                  <c:v>Zakończenie</c:v>
                </c:pt>
                <c:pt idx="6">
                  <c:v>Bibliografia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30</c:v>
                </c:pt>
                <c:pt idx="2">
                  <c:v>10</c:v>
                </c:pt>
                <c:pt idx="3">
                  <c:v>25</c:v>
                </c:pt>
                <c:pt idx="4">
                  <c:v>15</c:v>
                </c:pt>
                <c:pt idx="5">
                  <c:v>5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AC6-4231-9448-E1494239CF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8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23048320882966"/>
          <c:y val="8.9349561393321383E-2"/>
          <c:w val="0.28605699127352668"/>
          <c:h val="0.85817403355554023"/>
        </c:manualLayout>
      </c:layout>
      <c:overlay val="0"/>
      <c:txPr>
        <a:bodyPr/>
        <a:lstStyle/>
        <a:p>
          <a:pPr>
            <a:defRPr sz="2400">
              <a:solidFill>
                <a:srgbClr val="111827"/>
              </a:solidFill>
              <a:latin typeface="+mn-lt"/>
              <a:cs typeface="+mn-lt"/>
            </a:defRPr>
          </a:pPr>
          <a:endParaRPr lang="pl-PL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tx>
        <c:rich>
          <a:bodyPr/>
          <a:lstStyle/>
          <a:p>
            <a:pPr>
              <a:defRPr sz="2200" b="0" i="0" u="none" strike="noStrike">
                <a:solidFill>
                  <a:srgbClr val="0A2A5E"/>
                </a:solidFill>
                <a:latin typeface="Arial"/>
              </a:defRPr>
            </a:pPr>
            <a:r>
              <a:rPr lang="pl-PL" sz="2200" b="1" i="0" u="none" strike="noStrike" dirty="0">
                <a:solidFill>
                  <a:srgbClr val="0A2A5E"/>
                </a:solidFill>
                <a:latin typeface="Arial"/>
              </a:rPr>
              <a:t>Skład </a:t>
            </a:r>
            <a:r>
              <a:rPr lang="pl-PL" sz="2200" b="1" i="0" u="none" strike="noStrike" dirty="0" smtClean="0">
                <a:solidFill>
                  <a:srgbClr val="0A2A5E"/>
                </a:solidFill>
                <a:latin typeface="Arial"/>
              </a:rPr>
              <a:t>bibliografii</a:t>
            </a:r>
            <a:endParaRPr lang="pl-PL" sz="2200" b="0" i="0" u="none" strike="noStrike" dirty="0">
              <a:solidFill>
                <a:srgbClr val="0A2A5E"/>
              </a:solidFill>
              <a:latin typeface="Arial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Udział</c:v>
                </c:pt>
              </c:strCache>
            </c:strRef>
          </c:tx>
          <c:spPr>
            <a:solidFill>
              <a:srgbClr val="0A2A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A2A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6A8-44DE-A3C5-6B66A716C88D}"/>
              </c:ext>
            </c:extLst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A8-44DE-A3C5-6B66A716C88D}"/>
              </c:ext>
            </c:extLst>
          </c:dPt>
          <c:dPt>
            <c:idx val="2"/>
            <c:invertIfNegative val="0"/>
            <c:bubble3D val="0"/>
            <c:spPr>
              <a:solidFill>
                <a:srgbClr val="D948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A8-44DE-A3C5-6B66A716C88D}"/>
              </c:ext>
            </c:extLst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6A8-44DE-A3C5-6B66A716C88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0" i="0" u="none" strike="noStrike">
                    <a:solidFill>
                      <a:srgbClr val="111827"/>
                    </a:solidFill>
                    <a:latin typeface="+mn-lt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Artykuły</c:v>
                </c:pt>
                <c:pt idx="1">
                  <c:v>Książki</c:v>
                </c:pt>
                <c:pt idx="2">
                  <c:v>Raporty</c:v>
                </c:pt>
                <c:pt idx="3">
                  <c:v>Inne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6A8-44DE-A3C5-6B66A716C8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400" b="0" i="0" u="none" strike="noStrike">
                <a:solidFill>
                  <a:srgbClr val="111827"/>
                </a:solidFill>
                <a:latin typeface="+mn-lt"/>
              </a:defRPr>
            </a:pPr>
            <a:endParaRPr lang="pl-P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Wynik (pkt)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E3-4FCC-B80B-3DC6C37F0E70}"/>
              </c:ext>
            </c:extLst>
          </c:dPt>
          <c:dPt>
            <c:idx val="1"/>
            <c:invertIfNegative val="0"/>
            <c:bubble3D val="0"/>
            <c:spPr>
              <a:solidFill>
                <a:srgbClr val="D948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E3-4FCC-B80B-3DC6C37F0E7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0" i="0" u="none" strike="noStrike">
                    <a:solidFill>
                      <a:srgbClr val="111827"/>
                    </a:solidFill>
                    <a:latin typeface="+mn-lt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Grupa A</c:v>
                </c:pt>
                <c:pt idx="1">
                  <c:v>Grupa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E3-4FCC-B80B-3DC6C37F0E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600" b="0" i="0" u="none" strike="noStrike">
                <a:solidFill>
                  <a:srgbClr val="111827"/>
                </a:solidFill>
                <a:latin typeface="+mn-lt"/>
              </a:defRPr>
            </a:pPr>
            <a:endParaRPr lang="pl-P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tx>
        <c:rich>
          <a:bodyPr/>
          <a:lstStyle/>
          <a:p>
            <a:pPr>
              <a:defRPr sz="2400" b="0" i="0" u="none" strike="noStrike">
                <a:solidFill>
                  <a:srgbClr val="0A2A5E"/>
                </a:solidFill>
                <a:latin typeface="Arial"/>
              </a:defRPr>
            </a:pPr>
            <a:r>
              <a:rPr lang="pl-PL" sz="2400" b="0" i="0" u="none" strike="noStrike">
                <a:solidFill>
                  <a:srgbClr val="0A2A5E"/>
                </a:solidFill>
                <a:latin typeface="Arial"/>
              </a:rPr>
              <a:t>10 minut prezentacji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Minuty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64-4AA6-8B28-90FFA355379F}"/>
              </c:ext>
            </c:extLst>
          </c:dPt>
          <c:dPt>
            <c:idx val="1"/>
            <c:bubble3D val="0"/>
            <c:spPr>
              <a:solidFill>
                <a:srgbClr val="D9480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64-4AA6-8B28-90FFA355379F}"/>
              </c:ext>
            </c:extLst>
          </c:dPt>
          <c:dPt>
            <c:idx val="2"/>
            <c:bubble3D val="0"/>
            <c:spPr>
              <a:solidFill>
                <a:srgbClr val="0A2A5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6264-4AA6-8B28-90FFA355379F}"/>
              </c:ext>
            </c:extLst>
          </c:dPt>
          <c:dPt>
            <c:idx val="3"/>
            <c:bubble3D val="0"/>
            <c:spPr>
              <a:solidFill>
                <a:srgbClr val="0F766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6264-4AA6-8B28-90FFA355379F}"/>
              </c:ext>
            </c:extLst>
          </c:dPt>
          <c:dLbls>
            <c:dLbl>
              <c:idx val="0"/>
              <c:layout/>
              <c:numFmt formatCode="0.0&quot; min&quot;" sourceLinked="0"/>
              <c:spPr/>
              <c:txPr>
                <a:bodyPr/>
                <a:lstStyle/>
                <a:p>
                  <a:pPr>
                    <a:defRPr sz="2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264-4AA6-8B28-90FFA355379F}"/>
                </c:ext>
              </c:extLst>
            </c:dLbl>
            <c:dLbl>
              <c:idx val="1"/>
              <c:layout/>
              <c:numFmt formatCode="0.0&quot; min&quot;" sourceLinked="0"/>
              <c:spPr/>
              <c:txPr>
                <a:bodyPr/>
                <a:lstStyle/>
                <a:p>
                  <a:pPr>
                    <a:defRPr sz="2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6264-4AA6-8B28-90FFA355379F}"/>
                </c:ext>
              </c:extLst>
            </c:dLbl>
            <c:dLbl>
              <c:idx val="2"/>
              <c:layout/>
              <c:numFmt formatCode="0.0&quot; min&quot;" sourceLinked="0"/>
              <c:spPr/>
              <c:txPr>
                <a:bodyPr/>
                <a:lstStyle/>
                <a:p>
                  <a:pPr>
                    <a:defRPr sz="2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6264-4AA6-8B28-90FFA355379F}"/>
                </c:ext>
              </c:extLst>
            </c:dLbl>
            <c:dLbl>
              <c:idx val="3"/>
              <c:layout/>
              <c:numFmt formatCode="0.0&quot; min&quot;" sourceLinked="0"/>
              <c:spPr/>
              <c:txPr>
                <a:bodyPr/>
                <a:lstStyle/>
                <a:p>
                  <a:pPr>
                    <a:defRPr sz="2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pl-P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6264-4AA6-8B28-90FFA355379F}"/>
                </c:ext>
              </c:extLst>
            </c:dLbl>
            <c:numFmt formatCode="0.0&quot; min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Wstęp</c:v>
                </c:pt>
                <c:pt idx="1">
                  <c:v>Cel i metoda</c:v>
                </c:pt>
                <c:pt idx="2">
                  <c:v>Wyniki</c:v>
                </c:pt>
                <c:pt idx="3">
                  <c:v>Wnioski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264-4AA6-8B28-90FFA35537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8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2200">
              <a:solidFill>
                <a:srgbClr val="111827"/>
              </a:solidFill>
              <a:latin typeface="+mn-lt"/>
              <a:cs typeface="+mn-lt"/>
            </a:defRPr>
          </a:pPr>
          <a:endParaRPr lang="pl-PL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20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57200"/>
            <a:ext cx="749808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8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5720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5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91050" y="365760"/>
            <a:ext cx="8383299" cy="24455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pl-PL" b="1" dirty="0" smtClean="0">
                <a:solidFill>
                  <a:schemeClr val="tx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Jak napisać dyplomową</a:t>
            </a:r>
            <a:endParaRPr lang="en-US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76655" y="3793788"/>
            <a:ext cx="5068110" cy="112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Praktyczny przewodnik dla </a:t>
            </a:r>
            <a:r>
              <a:rPr lang="pl-PL" dirty="0" err="1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niekumatych</a:t>
            </a:r>
            <a:endParaRPr lang="pl-P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Dekoracja"/>
          <p:cNvSpPr/>
          <p:nvPr/>
        </p:nvSpPr>
        <p:spPr>
          <a:xfrm>
            <a:off x="9875520" y="3566160"/>
            <a:ext cx="2011680" cy="2011680"/>
          </a:xfrm>
          <a:prstGeom prst="ellipse">
            <a:avLst/>
          </a:prstGeom>
          <a:solidFill>
            <a:schemeClr val="accent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Dekoracja"/>
          <p:cNvSpPr/>
          <p:nvPr/>
        </p:nvSpPr>
        <p:spPr>
          <a:xfrm>
            <a:off x="8229600" y="4206240"/>
            <a:ext cx="1280160" cy="1280160"/>
          </a:xfrm>
          <a:prstGeom prst="ellipse">
            <a:avLst/>
          </a:prstGeom>
          <a:solidFill>
            <a:schemeClr val="accent3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grpSp>
        <p:nvGrpSpPr>
          <p:cNvPr id="10" name="Grupa 9"/>
          <p:cNvGrpSpPr/>
          <p:nvPr/>
        </p:nvGrpSpPr>
        <p:grpSpPr>
          <a:xfrm>
            <a:off x="9006840" y="1143000"/>
            <a:ext cx="2880360" cy="2880360"/>
            <a:chOff x="8503920" y="640080"/>
            <a:chExt cx="3383280" cy="3383280"/>
          </a:xfrm>
        </p:grpSpPr>
        <p:sp>
          <p:nvSpPr>
            <p:cNvPr id="4" name="Dekoracja"/>
            <p:cNvSpPr/>
            <p:nvPr/>
          </p:nvSpPr>
          <p:spPr>
            <a:xfrm>
              <a:off x="8503920" y="640080"/>
              <a:ext cx="3383280" cy="3383280"/>
            </a:xfrm>
            <a:prstGeom prst="ellipse">
              <a:avLst/>
            </a:prstGeom>
            <a:solidFill>
              <a:schemeClr val="tx2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7" name="Ikona"/>
            <p:cNvSpPr/>
            <p:nvPr/>
          </p:nvSpPr>
          <p:spPr>
            <a:xfrm>
              <a:off x="9006840" y="1143000"/>
              <a:ext cx="2377440" cy="2377440"/>
            </a:xfrm>
            <a:prstGeom prst="ellipse">
              <a:avLst/>
            </a:prstGeom>
            <a:solidFill>
              <a:schemeClr val="accent2"/>
            </a:solidFill>
            <a:ln/>
          </p:spPr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1200" y="1737360"/>
              <a:ext cx="1188720" cy="1188720"/>
            </a:xfrm>
            <a:prstGeom prst="rect">
              <a:avLst/>
            </a:prstGeom>
          </p:spPr>
        </p:pic>
      </p:grpSp>
      <p:sp>
        <p:nvSpPr>
          <p:cNvPr id="9" name="Prostokąt 8"/>
          <p:cNvSpPr/>
          <p:nvPr/>
        </p:nvSpPr>
        <p:spPr>
          <a:xfrm>
            <a:off x="107003" y="6472787"/>
            <a:ext cx="31031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2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 inż. Mateusz Pomianek</a:t>
            </a:r>
            <a:endParaRPr lang="pl-PL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Prostokąt 10"/>
          <p:cNvSpPr/>
          <p:nvPr/>
        </p:nvSpPr>
        <p:spPr>
          <a:xfrm>
            <a:off x="5920303" y="481280"/>
            <a:ext cx="271099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8000" b="1" dirty="0">
                <a:solidFill>
                  <a:schemeClr val="tx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pracę</a:t>
            </a:r>
            <a:endParaRPr lang="pl-PL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tx2"/>
                </a:solidFill>
              </a:rPr>
              <a:t>Czym jest </a:t>
            </a:r>
            <a:r>
              <a:rPr lang="pl-PL" sz="5200" b="1" dirty="0" smtClean="0">
                <a:solidFill>
                  <a:schemeClr val="tx2"/>
                </a:solidFill>
              </a:rPr>
              <a:t>praca dyplomowa</a:t>
            </a:r>
            <a:r>
              <a:rPr lang="en-US" sz="5200" b="1" dirty="0" smtClean="0">
                <a:solidFill>
                  <a:schemeClr val="tx2"/>
                </a:solidFill>
              </a:rPr>
              <a:t>?</a:t>
            </a:r>
            <a:endParaRPr lang="en-US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280160"/>
            <a:ext cx="6766560" cy="1157591"/>
          </a:xfrm>
          <a:prstGeom prst="roundRect">
            <a:avLst>
              <a:gd name="adj" fmla="val 8824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" name="Ikona"/>
          <p:cNvSpPr/>
          <p:nvPr/>
        </p:nvSpPr>
        <p:spPr>
          <a:xfrm>
            <a:off x="685800" y="1422182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27922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3533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Samodzielne badanie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899687"/>
            <a:ext cx="54864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l-PL" sz="2400" dirty="0"/>
              <a:t>Sam stawiasz </a:t>
            </a:r>
            <a:r>
              <a:rPr lang="pl-PL" sz="2400" dirty="0" smtClean="0"/>
              <a:t>pytanie i </a:t>
            </a:r>
            <a:r>
              <a:rPr lang="pl-PL" sz="2400" dirty="0"/>
              <a:t>szukasz odpowiedzi</a:t>
            </a:r>
            <a:endParaRPr lang="pl-PL" sz="2400" dirty="0"/>
          </a:p>
        </p:txBody>
      </p:sp>
      <p:sp>
        <p:nvSpPr>
          <p:cNvPr id="8" name="Karta"/>
          <p:cNvSpPr/>
          <p:nvPr/>
        </p:nvSpPr>
        <p:spPr>
          <a:xfrm>
            <a:off x="548640" y="2547312"/>
            <a:ext cx="6766560" cy="1157591"/>
          </a:xfrm>
          <a:prstGeom prst="roundRect">
            <a:avLst>
              <a:gd name="adj" fmla="val 8824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9" name="Ikona"/>
          <p:cNvSpPr/>
          <p:nvPr/>
        </p:nvSpPr>
        <p:spPr>
          <a:xfrm>
            <a:off x="685800" y="2699062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90480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26204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Dowód kompetencji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3166839"/>
            <a:ext cx="54864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l-PL" sz="2400" dirty="0"/>
              <a:t>Pokazujesz, że </a:t>
            </a:r>
            <a:r>
              <a:rPr lang="pl-PL" sz="2400" dirty="0" smtClean="0"/>
              <a:t>umiesz pracować </a:t>
            </a:r>
            <a:r>
              <a:rPr lang="pl-PL" sz="2400" dirty="0"/>
              <a:t>naukowo</a:t>
            </a:r>
            <a:endParaRPr lang="pl-PL" sz="2400" dirty="0"/>
          </a:p>
        </p:txBody>
      </p:sp>
      <p:sp>
        <p:nvSpPr>
          <p:cNvPr id="13" name="Karta"/>
          <p:cNvSpPr/>
          <p:nvPr/>
        </p:nvSpPr>
        <p:spPr>
          <a:xfrm>
            <a:off x="548640" y="3818823"/>
            <a:ext cx="6766560" cy="1157591"/>
          </a:xfrm>
          <a:prstGeom prst="roundRect">
            <a:avLst>
              <a:gd name="adj" fmla="val 8824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4" name="Ikona"/>
          <p:cNvSpPr/>
          <p:nvPr/>
        </p:nvSpPr>
        <p:spPr>
          <a:xfrm>
            <a:off x="685800" y="3960846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16658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891975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Część egzaminu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4438350"/>
            <a:ext cx="54864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l-PL" sz="2400" dirty="0"/>
              <a:t>Ocena pracy i </a:t>
            </a:r>
            <a:r>
              <a:rPr lang="pl-PL" sz="2400" dirty="0" smtClean="0"/>
              <a:t>obrona decydują </a:t>
            </a:r>
            <a:r>
              <a:rPr lang="pl-PL" sz="2400" dirty="0"/>
              <a:t>o wyniku</a:t>
            </a:r>
            <a:endParaRPr lang="pl-PL" sz="2400" dirty="0"/>
          </a:p>
        </p:txBody>
      </p:sp>
      <p:grpSp>
        <p:nvGrpSpPr>
          <p:cNvPr id="28" name="Grupa 27"/>
          <p:cNvGrpSpPr/>
          <p:nvPr/>
        </p:nvGrpSpPr>
        <p:grpSpPr>
          <a:xfrm>
            <a:off x="8212821" y="1280161"/>
            <a:ext cx="3400059" cy="3696253"/>
            <a:chOff x="8212821" y="1280160"/>
            <a:chExt cx="3400059" cy="4851983"/>
          </a:xfrm>
        </p:grpSpPr>
        <p:sp>
          <p:nvSpPr>
            <p:cNvPr id="18" name="Blok"/>
            <p:cNvSpPr/>
            <p:nvPr/>
          </p:nvSpPr>
          <p:spPr>
            <a:xfrm>
              <a:off x="8212822" y="1280160"/>
              <a:ext cx="3400058" cy="1554480"/>
            </a:xfrm>
            <a:prstGeom prst="roundRect">
              <a:avLst>
                <a:gd name="adj" fmla="val 8824"/>
              </a:avLst>
            </a:prstGeom>
            <a:solidFill>
              <a:schemeClr val="tx2"/>
            </a:solidFill>
            <a:ln/>
          </p:spPr>
        </p:sp>
        <p:sp>
          <p:nvSpPr>
            <p:cNvPr id="19" name="Text 14"/>
            <p:cNvSpPr txBox="1"/>
            <p:nvPr/>
          </p:nvSpPr>
          <p:spPr>
            <a:xfrm>
              <a:off x="8212821" y="1280160"/>
              <a:ext cx="1913527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400" b="1" dirty="0" smtClean="0">
                  <a:solidFill>
                    <a:srgbClr val="FFFFFF"/>
                  </a:solidFill>
                </a:rPr>
                <a:t>40</a:t>
              </a:r>
              <a:r>
                <a:rPr lang="pl-PL" sz="5400" b="1" dirty="0" smtClean="0">
                  <a:solidFill>
                    <a:srgbClr val="FFFFFF"/>
                  </a:solidFill>
                </a:rPr>
                <a:t>-</a:t>
              </a:r>
              <a:r>
                <a:rPr lang="en-US" sz="5400" b="1" dirty="0" smtClean="0">
                  <a:solidFill>
                    <a:srgbClr val="FFFFFF"/>
                  </a:solidFill>
                </a:rPr>
                <a:t>80</a:t>
              </a:r>
              <a:endParaRPr lang="en-US" sz="5400" dirty="0"/>
            </a:p>
          </p:txBody>
        </p:sp>
        <p:sp>
          <p:nvSpPr>
            <p:cNvPr id="20" name="Text 15"/>
            <p:cNvSpPr txBox="1"/>
            <p:nvPr/>
          </p:nvSpPr>
          <p:spPr>
            <a:xfrm>
              <a:off x="10310070" y="1280160"/>
              <a:ext cx="1211369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</a:rPr>
                <a:t>stron</a:t>
              </a:r>
              <a:endParaRPr lang="en-US" sz="2800" dirty="0"/>
            </a:p>
          </p:txBody>
        </p:sp>
        <p:sp>
          <p:nvSpPr>
            <p:cNvPr id="21" name="Blok"/>
            <p:cNvSpPr/>
            <p:nvPr/>
          </p:nvSpPr>
          <p:spPr>
            <a:xfrm>
              <a:off x="8212822" y="2926080"/>
              <a:ext cx="3400058" cy="1554480"/>
            </a:xfrm>
            <a:prstGeom prst="roundRect">
              <a:avLst>
                <a:gd name="adj" fmla="val 8824"/>
              </a:avLst>
            </a:prstGeom>
            <a:solidFill>
              <a:schemeClr val="accent2"/>
            </a:solidFill>
            <a:ln/>
          </p:spPr>
        </p:sp>
        <p:sp>
          <p:nvSpPr>
            <p:cNvPr id="22" name="Text 17"/>
            <p:cNvSpPr txBox="1"/>
            <p:nvPr/>
          </p:nvSpPr>
          <p:spPr>
            <a:xfrm>
              <a:off x="8321040" y="2926080"/>
              <a:ext cx="1200465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0" b="1" dirty="0">
                  <a:solidFill>
                    <a:srgbClr val="FFFFFF"/>
                  </a:solidFill>
                </a:rPr>
                <a:t>2</a:t>
              </a:r>
              <a:endParaRPr lang="en-US" sz="6000" dirty="0"/>
            </a:p>
          </p:txBody>
        </p:sp>
        <p:sp>
          <p:nvSpPr>
            <p:cNvPr id="23" name="Text 18"/>
            <p:cNvSpPr txBox="1"/>
            <p:nvPr/>
          </p:nvSpPr>
          <p:spPr>
            <a:xfrm>
              <a:off x="10217790" y="2926080"/>
              <a:ext cx="1303649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</a:rPr>
                <a:t>oceny</a:t>
              </a:r>
              <a:endParaRPr lang="en-US" sz="2800" dirty="0"/>
            </a:p>
          </p:txBody>
        </p:sp>
        <p:sp>
          <p:nvSpPr>
            <p:cNvPr id="24" name="Blok"/>
            <p:cNvSpPr/>
            <p:nvPr/>
          </p:nvSpPr>
          <p:spPr>
            <a:xfrm>
              <a:off x="8212822" y="4572000"/>
              <a:ext cx="3400058" cy="1554480"/>
            </a:xfrm>
            <a:prstGeom prst="roundRect">
              <a:avLst>
                <a:gd name="adj" fmla="val 8824"/>
              </a:avLst>
            </a:prstGeom>
            <a:solidFill>
              <a:schemeClr val="accent1"/>
            </a:solidFill>
            <a:ln/>
          </p:spPr>
        </p:sp>
        <p:sp>
          <p:nvSpPr>
            <p:cNvPr id="25" name="Text 20"/>
            <p:cNvSpPr txBox="1"/>
            <p:nvPr/>
          </p:nvSpPr>
          <p:spPr>
            <a:xfrm>
              <a:off x="8474978" y="4577663"/>
              <a:ext cx="1606492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000" b="1" dirty="0" smtClean="0">
                  <a:solidFill>
                    <a:srgbClr val="FFFFFF"/>
                  </a:solidFill>
                </a:rPr>
                <a:t>6</a:t>
              </a:r>
              <a:r>
                <a:rPr lang="pl-PL" sz="6000" b="1" dirty="0" smtClean="0">
                  <a:solidFill>
                    <a:srgbClr val="FFFFFF"/>
                  </a:solidFill>
                </a:rPr>
                <a:t>-</a:t>
              </a:r>
              <a:r>
                <a:rPr lang="en-US" sz="6000" b="1" dirty="0" smtClean="0">
                  <a:solidFill>
                    <a:srgbClr val="FFFFFF"/>
                  </a:solidFill>
                </a:rPr>
                <a:t>12</a:t>
              </a:r>
              <a:endParaRPr lang="en-US" sz="60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10217790" y="4572000"/>
              <a:ext cx="1303649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</a:rPr>
                <a:t>miesięcy</a:t>
              </a:r>
              <a:endParaRPr lang="en-US" sz="2800" dirty="0"/>
            </a:p>
          </p:txBody>
        </p:sp>
      </p:grp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  <p:sp>
        <p:nvSpPr>
          <p:cNvPr id="29" name="Prostokąt 28"/>
          <p:cNvSpPr/>
          <p:nvPr/>
        </p:nvSpPr>
        <p:spPr>
          <a:xfrm>
            <a:off x="548640" y="5708749"/>
            <a:ext cx="110642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800" i="1" dirty="0" smtClean="0"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„każda </a:t>
            </a:r>
            <a:r>
              <a:rPr lang="pl-PL" sz="2800" i="1" dirty="0"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praca dyplomowa powinna być napisana na </a:t>
            </a:r>
            <a:r>
              <a:rPr lang="pl-PL" sz="2800" i="1" dirty="0" smtClean="0"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temat, </a:t>
            </a:r>
            <a:br>
              <a:rPr lang="pl-PL" sz="2800" i="1" dirty="0" smtClean="0"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</a:br>
            <a:r>
              <a:rPr lang="pl-PL" sz="2800" i="1" dirty="0" smtClean="0"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a na dodatek </a:t>
            </a:r>
            <a:r>
              <a:rPr lang="pl-PL" sz="2800" i="1" dirty="0"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z </a:t>
            </a:r>
            <a:r>
              <a:rPr lang="pl-PL" sz="2800" i="1" dirty="0" smtClean="0"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sensem”</a:t>
            </a:r>
            <a:endParaRPr lang="pl-PL" sz="2800" i="1" dirty="0">
              <a:latin typeface="CMU Serif Extra" panose="02000603000000000000" pitchFamily="2" charset="0"/>
              <a:ea typeface="CMU Serif Extra" panose="02000603000000000000" pitchFamily="2" charset="0"/>
              <a:cs typeface="CMU Serif Extra" panose="02000603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9062288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Droga</a:t>
            </a:r>
            <a:r>
              <a:rPr lang="en-US" sz="5200" b="1" dirty="0" smtClean="0">
                <a:solidFill>
                  <a:schemeClr val="tx2"/>
                </a:solidFill>
              </a:rPr>
              <a:t> </a:t>
            </a:r>
            <a:r>
              <a:rPr lang="pl-PL" sz="5200" b="1" dirty="0" smtClean="0">
                <a:solidFill>
                  <a:schemeClr val="tx2"/>
                </a:solidFill>
              </a:rPr>
              <a:t>do celu </a:t>
            </a:r>
            <a:r>
              <a:rPr lang="en-US" sz="5200" b="1" dirty="0" smtClean="0">
                <a:solidFill>
                  <a:schemeClr val="tx2"/>
                </a:solidFill>
              </a:rPr>
              <a:t>w </a:t>
            </a:r>
            <a:r>
              <a:rPr lang="en-US" sz="5200" b="1" dirty="0">
                <a:solidFill>
                  <a:schemeClr val="tx2"/>
                </a:solidFill>
              </a:rPr>
              <a:t>6 etapach</a:t>
            </a:r>
            <a:endParaRPr lang="en-US" sz="5200" dirty="0"/>
          </a:p>
        </p:txBody>
      </p:sp>
      <p:graphicFrame>
        <p:nvGraphicFramePr>
          <p:cNvPr id="3" name="Wykres etapów"/>
          <p:cNvGraphicFramePr/>
          <p:nvPr>
            <p:extLst>
              <p:ext uri="{D42A27DB-BD31-4B8C-83A1-F6EECF244321}">
                <p14:modId xmlns:p14="http://schemas.microsoft.com/office/powerpoint/2010/main" val="883542960"/>
              </p:ext>
            </p:extLst>
          </p:nvPr>
        </p:nvGraphicFramePr>
        <p:xfrm>
          <a:off x="548640" y="1234440"/>
          <a:ext cx="749808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lok"/>
          <p:cNvSpPr/>
          <p:nvPr/>
        </p:nvSpPr>
        <p:spPr>
          <a:xfrm>
            <a:off x="8321040" y="1371600"/>
            <a:ext cx="3291840" cy="22860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49640" y="13716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Etapy się zazębiają</a:t>
            </a:r>
            <a:endParaRPr lang="en-US" sz="4400" dirty="0"/>
          </a:p>
        </p:txBody>
      </p:sp>
      <p:sp>
        <p:nvSpPr>
          <p:cNvPr id="6" name="Blok"/>
          <p:cNvSpPr/>
          <p:nvPr/>
        </p:nvSpPr>
        <p:spPr>
          <a:xfrm>
            <a:off x="8321040" y="3931920"/>
            <a:ext cx="3291840" cy="228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49640" y="393192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Pisz </a:t>
            </a:r>
            <a:r>
              <a:rPr lang="en-US" sz="4400" b="1" dirty="0" err="1">
                <a:solidFill>
                  <a:srgbClr val="FFFFFF"/>
                </a:solidFill>
              </a:rPr>
              <a:t>już</a:t>
            </a:r>
            <a:r>
              <a:rPr lang="en-US" sz="4400" b="1" dirty="0">
                <a:solidFill>
                  <a:srgbClr val="FFFFFF"/>
                </a:solidFill>
              </a:rPr>
              <a:t> </a:t>
            </a:r>
            <a:r>
              <a:rPr lang="pl-PL" sz="4400" b="1" dirty="0" smtClean="0">
                <a:solidFill>
                  <a:srgbClr val="FFFFFF"/>
                </a:solidFill>
              </a:rPr>
              <a:t/>
            </a:r>
            <a:br>
              <a:rPr lang="pl-PL" sz="4400" b="1" dirty="0" smtClean="0">
                <a:solidFill>
                  <a:srgbClr val="FFFFFF"/>
                </a:solidFill>
              </a:rPr>
            </a:br>
            <a:r>
              <a:rPr lang="en-US" sz="4400" b="1" dirty="0" smtClean="0">
                <a:solidFill>
                  <a:srgbClr val="FFFFFF"/>
                </a:solidFill>
              </a:rPr>
              <a:t>w </a:t>
            </a:r>
            <a:r>
              <a:rPr lang="en-US" sz="4400" b="1" dirty="0">
                <a:solidFill>
                  <a:srgbClr val="FFFFFF"/>
                </a:solidFill>
              </a:rPr>
              <a:t>trakcie czytania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4578837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tx2"/>
                </a:solidFill>
              </a:rPr>
              <a:t>Wybór tematu</a:t>
            </a:r>
            <a:endParaRPr lang="en-US" sz="5200" dirty="0"/>
          </a:p>
        </p:txBody>
      </p:sp>
      <p:sp>
        <p:nvSpPr>
          <p:cNvPr id="3" name="Venn"/>
          <p:cNvSpPr/>
          <p:nvPr/>
        </p:nvSpPr>
        <p:spPr>
          <a:xfrm>
            <a:off x="777240" y="1325880"/>
            <a:ext cx="2834640" cy="2834640"/>
          </a:xfrm>
          <a:prstGeom prst="ellipse">
            <a:avLst/>
          </a:prstGeom>
          <a:solidFill>
            <a:schemeClr val="accent3">
              <a:alpha val="65000"/>
            </a:schemeClr>
          </a:solidFill>
          <a:ln/>
        </p:spPr>
      </p:sp>
      <p:sp>
        <p:nvSpPr>
          <p:cNvPr id="4" name="Venn"/>
          <p:cNvSpPr/>
          <p:nvPr/>
        </p:nvSpPr>
        <p:spPr>
          <a:xfrm>
            <a:off x="2697480" y="1325880"/>
            <a:ext cx="2834640" cy="2834640"/>
          </a:xfrm>
          <a:prstGeom prst="ellipse">
            <a:avLst/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5" name="Venn"/>
          <p:cNvSpPr/>
          <p:nvPr/>
        </p:nvSpPr>
        <p:spPr>
          <a:xfrm>
            <a:off x="1737360" y="3063240"/>
            <a:ext cx="2834640" cy="283464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Ciekawi</a:t>
            </a:r>
            <a:endParaRPr lang="pl-PL" sz="2800" dirty="0" smtClean="0"/>
          </a:p>
          <a:p>
            <a:pPr marL="0" indent="0" algn="ctr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Cię</a:t>
            </a:r>
            <a:endParaRPr lang="pl-PL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Da się</a:t>
            </a:r>
            <a:endParaRPr lang="pl-PL" sz="2800" dirty="0" smtClean="0"/>
          </a:p>
          <a:p>
            <a:pPr marL="0" indent="0" algn="ctr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zbadać</a:t>
            </a:r>
            <a:endParaRPr lang="pl-PL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5029200"/>
            <a:ext cx="1822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Potrzebny</a:t>
            </a:r>
            <a:endParaRPr lang="pl-PL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063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2800" b="1" dirty="0" smtClean="0">
                <a:solidFill>
                  <a:schemeClr val="tx2"/>
                </a:solidFill>
              </a:rPr>
              <a:t>Dobry</a:t>
            </a:r>
            <a:endParaRPr lang="pl-PL" sz="2800" b="1" dirty="0" smtClean="0"/>
          </a:p>
          <a:p>
            <a:pPr marL="0" indent="0" algn="ctr">
              <a:buNone/>
            </a:pPr>
            <a:r>
              <a:rPr lang="pl-PL" sz="2800" b="1" dirty="0" smtClean="0">
                <a:solidFill>
                  <a:schemeClr val="tx2"/>
                </a:solidFill>
              </a:rPr>
              <a:t>temat!</a:t>
            </a:r>
            <a:endParaRPr lang="pl-PL" sz="2800" b="1" dirty="0"/>
          </a:p>
        </p:txBody>
      </p:sp>
      <p:sp>
        <p:nvSpPr>
          <p:cNvPr id="10" name="Karta"/>
          <p:cNvSpPr/>
          <p:nvPr/>
        </p:nvSpPr>
        <p:spPr>
          <a:xfrm>
            <a:off x="5956418" y="1325880"/>
            <a:ext cx="5666290" cy="1097280"/>
          </a:xfrm>
          <a:prstGeom prst="roundRect">
            <a:avLst>
              <a:gd name="adj" fmla="val 125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1" name="Ikona"/>
          <p:cNvSpPr/>
          <p:nvPr/>
        </p:nvSpPr>
        <p:spPr>
          <a:xfrm>
            <a:off x="6093578" y="14630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18" y="166878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065234" y="1325880"/>
            <a:ext cx="45232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2800" b="1" dirty="0" smtClean="0"/>
              <a:t>Wystarczy </a:t>
            </a:r>
            <a:r>
              <a:rPr lang="pl-PL" sz="2800" b="1" dirty="0"/>
              <a:t>mi </a:t>
            </a:r>
            <a:r>
              <a:rPr lang="pl-PL" sz="2800" b="1" dirty="0" smtClean="0"/>
              <a:t>źródeł i </a:t>
            </a:r>
            <a:r>
              <a:rPr lang="pl-PL" sz="2800" b="1" dirty="0"/>
              <a:t>danych?</a:t>
            </a:r>
          </a:p>
        </p:txBody>
      </p:sp>
      <p:sp>
        <p:nvSpPr>
          <p:cNvPr id="14" name="Karta"/>
          <p:cNvSpPr/>
          <p:nvPr/>
        </p:nvSpPr>
        <p:spPr>
          <a:xfrm>
            <a:off x="5956418" y="2560320"/>
            <a:ext cx="5666290" cy="1097280"/>
          </a:xfrm>
          <a:prstGeom prst="roundRect">
            <a:avLst>
              <a:gd name="adj" fmla="val 125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5" name="Ikona"/>
          <p:cNvSpPr/>
          <p:nvPr/>
        </p:nvSpPr>
        <p:spPr>
          <a:xfrm>
            <a:off x="6093578" y="2697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18" y="290322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99418" y="2560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Zmieszczę się w czasie?</a:t>
            </a:r>
            <a:endParaRPr lang="pl-PL" sz="2800" dirty="0"/>
          </a:p>
        </p:txBody>
      </p:sp>
      <p:sp>
        <p:nvSpPr>
          <p:cNvPr id="18" name="Karta"/>
          <p:cNvSpPr/>
          <p:nvPr/>
        </p:nvSpPr>
        <p:spPr>
          <a:xfrm>
            <a:off x="5956418" y="3794760"/>
            <a:ext cx="5666290" cy="1097280"/>
          </a:xfrm>
          <a:prstGeom prst="roundRect">
            <a:avLst>
              <a:gd name="adj" fmla="val 125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9" name="Ikona"/>
          <p:cNvSpPr/>
          <p:nvPr/>
        </p:nvSpPr>
        <p:spPr>
          <a:xfrm>
            <a:off x="6093578" y="393192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18" y="41376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99418" y="37947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Ujmę to w 1 pytaniu?</a:t>
            </a:r>
            <a:endParaRPr lang="pl-PL" sz="2800" dirty="0"/>
          </a:p>
        </p:txBody>
      </p:sp>
      <p:sp>
        <p:nvSpPr>
          <p:cNvPr id="22" name="Karta"/>
          <p:cNvSpPr/>
          <p:nvPr/>
        </p:nvSpPr>
        <p:spPr>
          <a:xfrm>
            <a:off x="5956418" y="5029200"/>
            <a:ext cx="5666290" cy="1097280"/>
          </a:xfrm>
          <a:prstGeom prst="roundRect">
            <a:avLst>
              <a:gd name="adj" fmla="val 125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23" name="Ikona"/>
          <p:cNvSpPr/>
          <p:nvPr/>
        </p:nvSpPr>
        <p:spPr>
          <a:xfrm>
            <a:off x="6093578" y="51663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18" y="537210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99418" y="5029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Promotor zna ten obszar?</a:t>
            </a:r>
            <a:endParaRPr lang="pl-PL" sz="2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Promotor to sojusznik</a:t>
            </a:r>
            <a:endParaRPr lang="pl-PL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280160"/>
            <a:ext cx="5394960" cy="3591452"/>
          </a:xfrm>
          <a:prstGeom prst="roundRect">
            <a:avLst>
              <a:gd name="adj" fmla="val 3659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4" name="Ikona"/>
          <p:cNvSpPr/>
          <p:nvPr/>
        </p:nvSpPr>
        <p:spPr>
          <a:xfrm>
            <a:off x="822960" y="15087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508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4400" b="1" dirty="0" smtClean="0">
                <a:solidFill>
                  <a:schemeClr val="tx2"/>
                </a:solidFill>
              </a:rPr>
              <a:t>Promotor</a:t>
            </a:r>
            <a:endParaRPr lang="pl-PL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l-PL" sz="3200" dirty="0" smtClean="0">
                <a:solidFill>
                  <a:schemeClr val="tx1"/>
                </a:solidFill>
              </a:rPr>
              <a:t>Doprecyzuje temat</a:t>
            </a:r>
            <a:endParaRPr lang="pl-PL" sz="3200" dirty="0" smtClean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l-PL" sz="3200" dirty="0" smtClean="0">
                <a:solidFill>
                  <a:schemeClr val="tx1"/>
                </a:solidFill>
              </a:rPr>
              <a:t>Poleca literaturę</a:t>
            </a:r>
            <a:endParaRPr lang="pl-PL" sz="3200" dirty="0" smtClean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l-PL" sz="3200" dirty="0" smtClean="0">
                <a:solidFill>
                  <a:schemeClr val="tx1"/>
                </a:solidFill>
              </a:rPr>
              <a:t>Czyta fragmenty</a:t>
            </a:r>
            <a:endParaRPr lang="pl-PL" sz="3200" dirty="0"/>
          </a:p>
        </p:txBody>
      </p:sp>
      <p:sp>
        <p:nvSpPr>
          <p:cNvPr id="8" name="Karta"/>
          <p:cNvSpPr/>
          <p:nvPr/>
        </p:nvSpPr>
        <p:spPr>
          <a:xfrm>
            <a:off x="6217920" y="1280160"/>
            <a:ext cx="5394960" cy="3591452"/>
          </a:xfrm>
          <a:prstGeom prst="roundRect">
            <a:avLst>
              <a:gd name="adj" fmla="val 3659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9" name="Ikona"/>
          <p:cNvSpPr/>
          <p:nvPr/>
        </p:nvSpPr>
        <p:spPr>
          <a:xfrm>
            <a:off x="6492240" y="15087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37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508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4400" b="1" dirty="0" smtClean="0">
                <a:solidFill>
                  <a:schemeClr val="tx2"/>
                </a:solidFill>
              </a:rPr>
              <a:t>Ty</a:t>
            </a:r>
            <a:endParaRPr lang="pl-PL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l-PL" sz="3200" dirty="0" smtClean="0">
                <a:solidFill>
                  <a:schemeClr val="tx1"/>
                </a:solidFill>
              </a:rPr>
              <a:t>Przychodzisz z pytaniami</a:t>
            </a:r>
            <a:endParaRPr lang="pl-PL" sz="3200" dirty="0" smtClean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l-PL" sz="3200" dirty="0" smtClean="0">
                <a:solidFill>
                  <a:schemeClr val="tx1"/>
                </a:solidFill>
              </a:rPr>
              <a:t>Dotrzymujesz terminów</a:t>
            </a:r>
            <a:endParaRPr lang="pl-PL" sz="3200" dirty="0" smtClean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l-PL" sz="3200" dirty="0" smtClean="0">
                <a:solidFill>
                  <a:schemeClr val="tx1"/>
                </a:solidFill>
              </a:rPr>
              <a:t>Wprowadzasz uwagi</a:t>
            </a:r>
            <a:endParaRPr lang="pl-PL" sz="3200" dirty="0"/>
          </a:p>
        </p:txBody>
      </p:sp>
      <p:sp>
        <p:nvSpPr>
          <p:cNvPr id="13" name="Blok"/>
          <p:cNvSpPr/>
          <p:nvPr/>
        </p:nvSpPr>
        <p:spPr>
          <a:xfrm>
            <a:off x="548640" y="5100212"/>
            <a:ext cx="11064240" cy="1143000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100212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Ustalcie stałe terminy i spisujcie ustalenia. </a:t>
            </a:r>
          </a:p>
          <a:p>
            <a:pPr marL="0" indent="0" algn="ctr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Czerp z jego wiedzy, ale nie oczekuj gotowych rozwiązań.</a:t>
            </a:r>
            <a:endParaRPr lang="pl-PL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5</a:t>
            </a:fld>
            <a:endParaRPr lang="pl-P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tx2"/>
                </a:solidFill>
              </a:rPr>
              <a:t>Od tematu do pytań</a:t>
            </a:r>
            <a:endParaRPr lang="en-US" sz="5200" dirty="0"/>
          </a:p>
        </p:txBody>
      </p:sp>
      <p:sp>
        <p:nvSpPr>
          <p:cNvPr id="3" name="Lejek"/>
          <p:cNvSpPr/>
          <p:nvPr/>
        </p:nvSpPr>
        <p:spPr>
          <a:xfrm>
            <a:off x="457200" y="1325880"/>
            <a:ext cx="6217920" cy="868680"/>
          </a:xfrm>
          <a:prstGeom prst="roundRect">
            <a:avLst>
              <a:gd name="adj" fmla="val 15789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Temat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529209" y="1325880"/>
            <a:ext cx="408367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Obszar ogólny</a:t>
            </a:r>
            <a:endParaRPr lang="en-US" sz="2800" dirty="0"/>
          </a:p>
        </p:txBody>
      </p:sp>
      <p:sp>
        <p:nvSpPr>
          <p:cNvPr id="6" name="Lejek"/>
          <p:cNvSpPr/>
          <p:nvPr/>
        </p:nvSpPr>
        <p:spPr>
          <a:xfrm>
            <a:off x="914400" y="2286000"/>
            <a:ext cx="5303520" cy="868680"/>
          </a:xfrm>
          <a:prstGeom prst="roundRect">
            <a:avLst>
              <a:gd name="adj" fmla="val 15789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Problem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529209" y="2286000"/>
            <a:ext cx="408367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Czego jeszcze nie wiemy?</a:t>
            </a:r>
            <a:endParaRPr lang="en-US" sz="2800" dirty="0"/>
          </a:p>
        </p:txBody>
      </p:sp>
      <p:sp>
        <p:nvSpPr>
          <p:cNvPr id="9" name="Lejek"/>
          <p:cNvSpPr/>
          <p:nvPr/>
        </p:nvSpPr>
        <p:spPr>
          <a:xfrm>
            <a:off x="1371600" y="3246120"/>
            <a:ext cx="4389120" cy="868680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3246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Cel pracy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529209" y="3246120"/>
            <a:ext cx="408367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Co chcesz ustalić</a:t>
            </a:r>
            <a:endParaRPr lang="en-US" sz="2800" dirty="0"/>
          </a:p>
        </p:txBody>
      </p:sp>
      <p:sp>
        <p:nvSpPr>
          <p:cNvPr id="12" name="Lejek"/>
          <p:cNvSpPr/>
          <p:nvPr/>
        </p:nvSpPr>
        <p:spPr>
          <a:xfrm>
            <a:off x="1783080" y="4206240"/>
            <a:ext cx="3566160" cy="86868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783080" y="4206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Pytania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529209" y="4206240"/>
            <a:ext cx="408367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2–4 konkretne pytania</a:t>
            </a:r>
            <a:endParaRPr lang="en-US" sz="2800" dirty="0"/>
          </a:p>
        </p:txBody>
      </p:sp>
      <p:sp>
        <p:nvSpPr>
          <p:cNvPr id="15" name="Lejek"/>
          <p:cNvSpPr/>
          <p:nvPr/>
        </p:nvSpPr>
        <p:spPr>
          <a:xfrm>
            <a:off x="2148840" y="5166360"/>
            <a:ext cx="2834640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48840" y="5166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Hipotezy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529209" y="5166360"/>
            <a:ext cx="408367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Sprawdzalne przewidywania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Zły i dobry temat</a:t>
            </a:r>
            <a:endParaRPr lang="pl-PL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accent1"/>
                </a:solidFill>
              </a:rPr>
              <a:t>Zbyt ogólny</a:t>
            </a:r>
            <a:endParaRPr lang="pl-PL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1188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accent6"/>
                </a:solidFill>
              </a:rPr>
              <a:t>Konkretny</a:t>
            </a:r>
            <a:endParaRPr lang="pl-PL" sz="3200" dirty="0"/>
          </a:p>
        </p:txBody>
      </p:sp>
      <p:sp>
        <p:nvSpPr>
          <p:cNvPr id="5" name="Karta"/>
          <p:cNvSpPr/>
          <p:nvPr/>
        </p:nvSpPr>
        <p:spPr>
          <a:xfrm>
            <a:off x="548640" y="182880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i="1" dirty="0" smtClean="0">
                <a:solidFill>
                  <a:schemeClr val="tx1"/>
                </a:solidFill>
              </a:rPr>
              <a:t>Stres u studentów</a:t>
            </a:r>
            <a:endParaRPr lang="pl-PL" sz="2800" dirty="0"/>
          </a:p>
        </p:txBody>
      </p:sp>
      <p:sp>
        <p:nvSpPr>
          <p:cNvPr id="7" name="Shape 5"/>
          <p:cNvSpPr/>
          <p:nvPr/>
        </p:nvSpPr>
        <p:spPr>
          <a:xfrm>
            <a:off x="4892040" y="2240280"/>
            <a:ext cx="731520" cy="5029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Karta"/>
          <p:cNvSpPr/>
          <p:nvPr/>
        </p:nvSpPr>
        <p:spPr>
          <a:xfrm>
            <a:off x="5760720" y="1828800"/>
            <a:ext cx="5852160" cy="1325880"/>
          </a:xfrm>
          <a:prstGeom prst="roundRect">
            <a:avLst>
              <a:gd name="adj" fmla="val 10345"/>
            </a:avLst>
          </a:prstGeom>
          <a:solidFill>
            <a:schemeClr val="accent6">
              <a:alpha val="2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89320" y="18288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Stres egzaminacyjny, a wyniki sesji</a:t>
            </a:r>
            <a:endParaRPr lang="pl-PL" sz="2800" dirty="0"/>
          </a:p>
        </p:txBody>
      </p:sp>
      <p:sp>
        <p:nvSpPr>
          <p:cNvPr id="10" name="Karta"/>
          <p:cNvSpPr/>
          <p:nvPr/>
        </p:nvSpPr>
        <p:spPr>
          <a:xfrm>
            <a:off x="548640" y="324612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i="1" dirty="0" smtClean="0">
                <a:solidFill>
                  <a:schemeClr val="tx1"/>
                </a:solidFill>
              </a:rPr>
              <a:t>Sztuczna inteligencja</a:t>
            </a:r>
            <a:endParaRPr lang="pl-PL" sz="2800" dirty="0"/>
          </a:p>
        </p:txBody>
      </p:sp>
      <p:sp>
        <p:nvSpPr>
          <p:cNvPr id="12" name="Shape 10"/>
          <p:cNvSpPr/>
          <p:nvPr/>
        </p:nvSpPr>
        <p:spPr>
          <a:xfrm>
            <a:off x="4892040" y="3657600"/>
            <a:ext cx="731520" cy="5029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3" name="Karta"/>
          <p:cNvSpPr/>
          <p:nvPr/>
        </p:nvSpPr>
        <p:spPr>
          <a:xfrm>
            <a:off x="5760720" y="3246120"/>
            <a:ext cx="5852160" cy="1325880"/>
          </a:xfrm>
          <a:prstGeom prst="roundRect">
            <a:avLst>
              <a:gd name="adj" fmla="val 10345"/>
            </a:avLst>
          </a:prstGeom>
          <a:solidFill>
            <a:schemeClr val="accent6">
              <a:alpha val="20000"/>
            </a:scheme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89320" y="324612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Dokładność trzech modeli rozpoznawania obrazów</a:t>
            </a:r>
            <a:endParaRPr lang="pl-PL" sz="2800" dirty="0"/>
          </a:p>
        </p:txBody>
      </p:sp>
      <p:sp>
        <p:nvSpPr>
          <p:cNvPr id="15" name="Karta"/>
          <p:cNvSpPr/>
          <p:nvPr/>
        </p:nvSpPr>
        <p:spPr>
          <a:xfrm>
            <a:off x="548640" y="466344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66344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i="1" dirty="0" smtClean="0">
                <a:solidFill>
                  <a:schemeClr val="tx1"/>
                </a:solidFill>
              </a:rPr>
              <a:t>Historia Rzeszowa</a:t>
            </a:r>
            <a:endParaRPr lang="pl-PL" sz="2800" dirty="0"/>
          </a:p>
        </p:txBody>
      </p:sp>
      <p:sp>
        <p:nvSpPr>
          <p:cNvPr id="17" name="Shape 15"/>
          <p:cNvSpPr/>
          <p:nvPr/>
        </p:nvSpPr>
        <p:spPr>
          <a:xfrm>
            <a:off x="4892040" y="5074920"/>
            <a:ext cx="731520" cy="5029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8" name="Karta"/>
          <p:cNvSpPr/>
          <p:nvPr/>
        </p:nvSpPr>
        <p:spPr>
          <a:xfrm>
            <a:off x="5760720" y="4663440"/>
            <a:ext cx="5852160" cy="1325880"/>
          </a:xfrm>
          <a:prstGeom prst="roundRect">
            <a:avLst>
              <a:gd name="adj" fmla="val 10345"/>
            </a:avLst>
          </a:prstGeom>
          <a:solidFill>
            <a:schemeClr val="accent6">
              <a:alpha val="20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466344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Przemysł lotniczy, a rozwój Rzeszowa po 1945</a:t>
            </a:r>
            <a:endParaRPr lang="pl-PL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Struktura pracy</a:t>
            </a:r>
            <a:endParaRPr lang="pl-PL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3200" b="1" dirty="0" smtClean="0">
                <a:solidFill>
                  <a:schemeClr val="accent2"/>
                </a:solidFill>
              </a:rPr>
              <a:t>Część wstępna</a:t>
            </a:r>
            <a:endParaRPr lang="pl-PL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023360" y="1234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3600" b="1" dirty="0" smtClean="0">
                <a:solidFill>
                  <a:schemeClr val="accent1"/>
                </a:solidFill>
              </a:rPr>
              <a:t>Trzon pracy</a:t>
            </a:r>
            <a:endParaRPr lang="pl-PL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234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3200" b="1" dirty="0" smtClean="0">
                <a:solidFill>
                  <a:schemeClr val="accent6"/>
                </a:solidFill>
              </a:rPr>
              <a:t>Część końcowa</a:t>
            </a:r>
            <a:endParaRPr lang="pl-PL" sz="3200" dirty="0"/>
          </a:p>
        </p:txBody>
      </p:sp>
      <p:sp>
        <p:nvSpPr>
          <p:cNvPr id="6" name="Blok"/>
          <p:cNvSpPr/>
          <p:nvPr/>
        </p:nvSpPr>
        <p:spPr>
          <a:xfrm>
            <a:off x="548640" y="1920240"/>
            <a:ext cx="3291840" cy="13716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Strona tytułowa</a:t>
            </a:r>
            <a:endParaRPr lang="pl-PL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12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rgbClr val="FFFFFF"/>
                </a:solidFill>
              </a:rPr>
              <a:t>wg wzoru uczelni</a:t>
            </a:r>
            <a:endParaRPr lang="pl-PL" sz="2600" dirty="0"/>
          </a:p>
        </p:txBody>
      </p:sp>
      <p:sp>
        <p:nvSpPr>
          <p:cNvPr id="9" name="Blok"/>
          <p:cNvSpPr/>
          <p:nvPr/>
        </p:nvSpPr>
        <p:spPr>
          <a:xfrm>
            <a:off x="548640" y="3429000"/>
            <a:ext cx="3291840" cy="13716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Streszczenie</a:t>
            </a:r>
            <a:endParaRPr lang="pl-PL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21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rgbClr val="FFFFFF"/>
                </a:solidFill>
              </a:rPr>
              <a:t>pisz na końcu</a:t>
            </a:r>
            <a:endParaRPr lang="pl-PL" sz="2600" dirty="0"/>
          </a:p>
        </p:txBody>
      </p:sp>
      <p:sp>
        <p:nvSpPr>
          <p:cNvPr id="12" name="Blok"/>
          <p:cNvSpPr/>
          <p:nvPr/>
        </p:nvSpPr>
        <p:spPr>
          <a:xfrm>
            <a:off x="548640" y="4937760"/>
            <a:ext cx="3291840" cy="13716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5074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Spis treści</a:t>
            </a:r>
            <a:endParaRPr lang="pl-PL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630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rgbClr val="FFFFFF"/>
                </a:solidFill>
              </a:rPr>
              <a:t>z nagłówków</a:t>
            </a:r>
            <a:endParaRPr lang="pl-PL" sz="2600" dirty="0"/>
          </a:p>
        </p:txBody>
      </p:sp>
      <p:sp>
        <p:nvSpPr>
          <p:cNvPr id="15" name="Blok"/>
          <p:cNvSpPr/>
          <p:nvPr/>
        </p:nvSpPr>
        <p:spPr>
          <a:xfrm>
            <a:off x="8229600" y="1920240"/>
            <a:ext cx="3383280" cy="13716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57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Bibliografia</a:t>
            </a:r>
            <a:endParaRPr lang="pl-PL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128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rgbClr val="FFFFFF"/>
                </a:solidFill>
              </a:rPr>
              <a:t>Wszystkie źródła</a:t>
            </a:r>
            <a:endParaRPr lang="pl-PL" sz="2600" dirty="0"/>
          </a:p>
        </p:txBody>
      </p:sp>
      <p:sp>
        <p:nvSpPr>
          <p:cNvPr id="18" name="Blok"/>
          <p:cNvSpPr/>
          <p:nvPr/>
        </p:nvSpPr>
        <p:spPr>
          <a:xfrm>
            <a:off x="8229600" y="3429000"/>
            <a:ext cx="3383280" cy="13716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Spisy</a:t>
            </a:r>
            <a:endParaRPr lang="pl-PL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121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rgbClr val="FFFFFF"/>
                </a:solidFill>
              </a:rPr>
              <a:t>Tabel i rysunków</a:t>
            </a:r>
            <a:endParaRPr lang="pl-PL" sz="2600" dirty="0"/>
          </a:p>
        </p:txBody>
      </p:sp>
      <p:sp>
        <p:nvSpPr>
          <p:cNvPr id="21" name="Blok"/>
          <p:cNvSpPr/>
          <p:nvPr/>
        </p:nvSpPr>
        <p:spPr>
          <a:xfrm>
            <a:off x="8229600" y="4937760"/>
            <a:ext cx="3383280" cy="13716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0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Aneksy</a:t>
            </a:r>
            <a:endParaRPr lang="pl-PL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56303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rgbClr val="FFFFFF"/>
                </a:solidFill>
              </a:rPr>
              <a:t>Ankiety, kody</a:t>
            </a:r>
            <a:endParaRPr lang="pl-PL" sz="2600" dirty="0"/>
          </a:p>
        </p:txBody>
      </p:sp>
      <p:sp>
        <p:nvSpPr>
          <p:cNvPr id="24" name="Blok"/>
          <p:cNvSpPr/>
          <p:nvPr/>
        </p:nvSpPr>
        <p:spPr>
          <a:xfrm>
            <a:off x="4023360" y="1920240"/>
            <a:ext cx="4023360" cy="658368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51960" y="19202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dirty="0" smtClean="0">
                <a:solidFill>
                  <a:srgbClr val="FFFFFF"/>
                </a:solidFill>
              </a:rPr>
              <a:t>1. </a:t>
            </a:r>
            <a:r>
              <a:rPr lang="pl-PL" sz="3200" b="1" dirty="0" smtClean="0">
                <a:solidFill>
                  <a:srgbClr val="FFFFFF"/>
                </a:solidFill>
              </a:rPr>
              <a:t>Wstęp</a:t>
            </a:r>
            <a:endParaRPr lang="pl-PL" sz="3200" dirty="0"/>
          </a:p>
        </p:txBody>
      </p:sp>
      <p:sp>
        <p:nvSpPr>
          <p:cNvPr id="26" name="Blok"/>
          <p:cNvSpPr/>
          <p:nvPr/>
        </p:nvSpPr>
        <p:spPr>
          <a:xfrm>
            <a:off x="4023360" y="2660904"/>
            <a:ext cx="4023360" cy="658368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51960" y="26609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dirty="0" smtClean="0">
                <a:solidFill>
                  <a:srgbClr val="FFFFFF"/>
                </a:solidFill>
              </a:rPr>
              <a:t>2. </a:t>
            </a:r>
            <a:r>
              <a:rPr lang="pl-PL" sz="3200" b="1" dirty="0" smtClean="0">
                <a:solidFill>
                  <a:srgbClr val="FFFFFF"/>
                </a:solidFill>
              </a:rPr>
              <a:t>Teoria</a:t>
            </a:r>
            <a:endParaRPr lang="pl-PL" sz="3200" dirty="0"/>
          </a:p>
        </p:txBody>
      </p:sp>
      <p:sp>
        <p:nvSpPr>
          <p:cNvPr id="28" name="Blok"/>
          <p:cNvSpPr/>
          <p:nvPr/>
        </p:nvSpPr>
        <p:spPr>
          <a:xfrm>
            <a:off x="4023360" y="3401568"/>
            <a:ext cx="4023360" cy="658368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251960" y="34015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dirty="0" smtClean="0">
                <a:solidFill>
                  <a:srgbClr val="FFFFFF"/>
                </a:solidFill>
              </a:rPr>
              <a:t>3. </a:t>
            </a:r>
            <a:r>
              <a:rPr lang="pl-PL" sz="3200" b="1" dirty="0" smtClean="0">
                <a:solidFill>
                  <a:srgbClr val="FFFFFF"/>
                </a:solidFill>
              </a:rPr>
              <a:t>Metodologia</a:t>
            </a:r>
            <a:endParaRPr lang="pl-PL" sz="3200" dirty="0"/>
          </a:p>
        </p:txBody>
      </p:sp>
      <p:sp>
        <p:nvSpPr>
          <p:cNvPr id="30" name="Blok"/>
          <p:cNvSpPr/>
          <p:nvPr/>
        </p:nvSpPr>
        <p:spPr>
          <a:xfrm>
            <a:off x="4023360" y="4142232"/>
            <a:ext cx="4023360" cy="658368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51960" y="41422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dirty="0" smtClean="0">
                <a:solidFill>
                  <a:srgbClr val="FFFFFF"/>
                </a:solidFill>
              </a:rPr>
              <a:t>4. </a:t>
            </a:r>
            <a:r>
              <a:rPr lang="pl-PL" sz="3200" b="1" dirty="0" smtClean="0">
                <a:solidFill>
                  <a:srgbClr val="FFFFFF"/>
                </a:solidFill>
              </a:rPr>
              <a:t>Wyniki</a:t>
            </a:r>
            <a:endParaRPr lang="pl-PL" sz="3200" dirty="0"/>
          </a:p>
        </p:txBody>
      </p:sp>
      <p:sp>
        <p:nvSpPr>
          <p:cNvPr id="32" name="Blok"/>
          <p:cNvSpPr/>
          <p:nvPr/>
        </p:nvSpPr>
        <p:spPr>
          <a:xfrm>
            <a:off x="4023360" y="4882896"/>
            <a:ext cx="4023360" cy="658368"/>
          </a:xfrm>
          <a:prstGeom prst="roundRect">
            <a:avLst>
              <a:gd name="adj" fmla="val 20833"/>
            </a:avLst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51960" y="48828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dirty="0" smtClean="0">
                <a:solidFill>
                  <a:srgbClr val="FFFFFF"/>
                </a:solidFill>
              </a:rPr>
              <a:t>5. </a:t>
            </a:r>
            <a:r>
              <a:rPr lang="pl-PL" sz="3200" b="1" dirty="0" smtClean="0">
                <a:solidFill>
                  <a:srgbClr val="FFFFFF"/>
                </a:solidFill>
              </a:rPr>
              <a:t>Dyskusja</a:t>
            </a:r>
            <a:endParaRPr lang="pl-PL" sz="3200" dirty="0"/>
          </a:p>
        </p:txBody>
      </p:sp>
      <p:sp>
        <p:nvSpPr>
          <p:cNvPr id="34" name="Blok"/>
          <p:cNvSpPr/>
          <p:nvPr/>
        </p:nvSpPr>
        <p:spPr>
          <a:xfrm>
            <a:off x="4023360" y="5623560"/>
            <a:ext cx="4023360" cy="658368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251960" y="56235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dirty="0" smtClean="0">
                <a:solidFill>
                  <a:srgbClr val="FFFFFF"/>
                </a:solidFill>
              </a:rPr>
              <a:t>6. </a:t>
            </a:r>
            <a:r>
              <a:rPr lang="pl-PL" sz="3200" b="1" dirty="0" smtClean="0">
                <a:solidFill>
                  <a:srgbClr val="FFFFFF"/>
                </a:solidFill>
              </a:rPr>
              <a:t>Zakończenie</a:t>
            </a:r>
            <a:endParaRPr lang="pl-PL" sz="3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8</a:t>
            </a:fld>
            <a:endParaRPr lang="pl-P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Proporcje</a:t>
            </a:r>
            <a:endParaRPr lang="pl-PL" sz="5200" dirty="0"/>
          </a:p>
        </p:txBody>
      </p:sp>
      <p:graphicFrame>
        <p:nvGraphicFramePr>
          <p:cNvPr id="3" name="Wykres podziału pracy"/>
          <p:cNvGraphicFramePr/>
          <p:nvPr>
            <p:extLst>
              <p:ext uri="{D42A27DB-BD31-4B8C-83A1-F6EECF244321}">
                <p14:modId xmlns:p14="http://schemas.microsoft.com/office/powerpoint/2010/main" val="2130251263"/>
              </p:ext>
            </p:extLst>
          </p:nvPr>
        </p:nvGraphicFramePr>
        <p:xfrm>
          <a:off x="457200" y="1188720"/>
          <a:ext cx="71323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lok"/>
          <p:cNvSpPr/>
          <p:nvPr/>
        </p:nvSpPr>
        <p:spPr>
          <a:xfrm>
            <a:off x="7863840" y="1371600"/>
            <a:ext cx="3749040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11486" y="1508760"/>
            <a:ext cx="346423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600" b="1" dirty="0" smtClean="0">
                <a:solidFill>
                  <a:srgbClr val="FFFFFF"/>
                </a:solidFill>
              </a:rPr>
              <a:t>Wyniki + dyskusja ≈ 40%</a:t>
            </a:r>
            <a:endParaRPr lang="pl-PL" sz="3600" dirty="0"/>
          </a:p>
        </p:txBody>
      </p:sp>
      <p:sp>
        <p:nvSpPr>
          <p:cNvPr id="6" name="Blok"/>
          <p:cNvSpPr/>
          <p:nvPr/>
        </p:nvSpPr>
        <p:spPr>
          <a:xfrm>
            <a:off x="7863840" y="3931920"/>
            <a:ext cx="3749040" cy="2377440"/>
          </a:xfrm>
          <a:prstGeom prst="roundRect">
            <a:avLst>
              <a:gd name="adj" fmla="val 5769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44374" y="4069080"/>
            <a:ext cx="353134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2800" b="1" dirty="0" smtClean="0">
                <a:solidFill>
                  <a:srgbClr val="FFFFFF"/>
                </a:solidFill>
              </a:rPr>
              <a:t>Są to wartości orientacyjne, szczegóły sprawdzaj zawsze </a:t>
            </a:r>
            <a:br>
              <a:rPr lang="pl-PL" sz="2800" b="1" dirty="0" smtClean="0">
                <a:solidFill>
                  <a:srgbClr val="FFFFFF"/>
                </a:solidFill>
              </a:rPr>
            </a:br>
            <a:r>
              <a:rPr lang="pl-PL" sz="2800" b="1" dirty="0" smtClean="0">
                <a:solidFill>
                  <a:srgbClr val="FFFFFF"/>
                </a:solidFill>
              </a:rPr>
              <a:t>w regulaminie studiów</a:t>
            </a:r>
            <a:endParaRPr lang="pl-PL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9</a:t>
            </a:fld>
            <a:endParaRPr lang="pl-P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Gdzie szukać źródeł</a:t>
            </a:r>
            <a:endParaRPr lang="pl-PL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325880"/>
            <a:ext cx="5943600" cy="1143000"/>
          </a:xfrm>
          <a:prstGeom prst="roundRect">
            <a:avLst>
              <a:gd name="adj" fmla="val 120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" name="Ikona"/>
          <p:cNvSpPr/>
          <p:nvPr/>
        </p:nvSpPr>
        <p:spPr>
          <a:xfrm>
            <a:off x="685800" y="14859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3990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Google Scholar</a:t>
            </a:r>
            <a:endParaRPr lang="pl-PL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90346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szybki start</a:t>
            </a:r>
            <a:endParaRPr lang="pl-PL" sz="2600" dirty="0"/>
          </a:p>
        </p:txBody>
      </p:sp>
      <p:sp>
        <p:nvSpPr>
          <p:cNvPr id="8" name="Karta"/>
          <p:cNvSpPr/>
          <p:nvPr/>
        </p:nvSpPr>
        <p:spPr>
          <a:xfrm>
            <a:off x="548640" y="2560320"/>
            <a:ext cx="5943600" cy="1143000"/>
          </a:xfrm>
          <a:prstGeom prst="roundRect">
            <a:avLst>
              <a:gd name="adj" fmla="val 120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9" name="Ikona"/>
          <p:cNvSpPr/>
          <p:nvPr/>
        </p:nvSpPr>
        <p:spPr>
          <a:xfrm>
            <a:off x="685800" y="27203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926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26334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Biblioteka uczelni</a:t>
            </a:r>
            <a:endParaRPr lang="pl-PL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313790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płatne bazy za darmo</a:t>
            </a:r>
            <a:endParaRPr lang="pl-PL" sz="2600" dirty="0"/>
          </a:p>
        </p:txBody>
      </p:sp>
      <p:sp>
        <p:nvSpPr>
          <p:cNvPr id="13" name="Karta"/>
          <p:cNvSpPr/>
          <p:nvPr/>
        </p:nvSpPr>
        <p:spPr>
          <a:xfrm>
            <a:off x="548640" y="3794760"/>
            <a:ext cx="5943600" cy="1143000"/>
          </a:xfrm>
          <a:prstGeom prst="roundRect">
            <a:avLst>
              <a:gd name="adj" fmla="val 120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4" name="Ikona"/>
          <p:cNvSpPr/>
          <p:nvPr/>
        </p:nvSpPr>
        <p:spPr>
          <a:xfrm>
            <a:off x="685800" y="39547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1605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8679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err="1" smtClean="0">
                <a:solidFill>
                  <a:schemeClr val="tx1"/>
                </a:solidFill>
              </a:rPr>
              <a:t>Scopus</a:t>
            </a:r>
            <a:r>
              <a:rPr lang="pl-PL" sz="3200" b="1" dirty="0" smtClean="0">
                <a:solidFill>
                  <a:schemeClr val="tx1"/>
                </a:solidFill>
              </a:rPr>
              <a:t>, Web of Science</a:t>
            </a:r>
            <a:endParaRPr lang="pl-PL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437234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bazy naukowe</a:t>
            </a:r>
            <a:endParaRPr lang="pl-PL" sz="2600" dirty="0"/>
          </a:p>
        </p:txBody>
      </p:sp>
      <p:sp>
        <p:nvSpPr>
          <p:cNvPr id="18" name="Karta"/>
          <p:cNvSpPr/>
          <p:nvPr/>
        </p:nvSpPr>
        <p:spPr>
          <a:xfrm>
            <a:off x="548640" y="5029200"/>
            <a:ext cx="5943600" cy="1143000"/>
          </a:xfrm>
          <a:prstGeom prst="roundRect">
            <a:avLst>
              <a:gd name="adj" fmla="val 120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9" name="Ikona"/>
          <p:cNvSpPr/>
          <p:nvPr/>
        </p:nvSpPr>
        <p:spPr>
          <a:xfrm>
            <a:off x="685800" y="518922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3949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51023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err="1" smtClean="0">
                <a:solidFill>
                  <a:schemeClr val="tx1"/>
                </a:solidFill>
              </a:rPr>
              <a:t>arXiv</a:t>
            </a:r>
            <a:r>
              <a:rPr lang="pl-PL" sz="3200" b="1" dirty="0" smtClean="0">
                <a:solidFill>
                  <a:schemeClr val="tx1"/>
                </a:solidFill>
              </a:rPr>
              <a:t> i repozytoria</a:t>
            </a:r>
            <a:endParaRPr lang="pl-PL" sz="3200" dirty="0"/>
          </a:p>
        </p:txBody>
      </p:sp>
      <p:sp>
        <p:nvSpPr>
          <p:cNvPr id="22" name="Text 16"/>
          <p:cNvSpPr txBox="1"/>
          <p:nvPr/>
        </p:nvSpPr>
        <p:spPr>
          <a:xfrm>
            <a:off x="1691640" y="560678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prace i </a:t>
            </a:r>
            <a:r>
              <a:rPr lang="pl-PL" sz="2600" dirty="0" err="1" smtClean="0">
                <a:solidFill>
                  <a:schemeClr val="tx1"/>
                </a:solidFill>
              </a:rPr>
              <a:t>preprinty</a:t>
            </a:r>
            <a:endParaRPr lang="pl-PL" sz="2600" dirty="0"/>
          </a:p>
        </p:txBody>
      </p:sp>
      <p:graphicFrame>
        <p:nvGraphicFramePr>
          <p:cNvPr id="23" name="Wykres bibliografii"/>
          <p:cNvGraphicFramePr/>
          <p:nvPr>
            <p:extLst>
              <p:ext uri="{D42A27DB-BD31-4B8C-83A1-F6EECF244321}">
                <p14:modId xmlns:p14="http://schemas.microsoft.com/office/powerpoint/2010/main" val="3238419359"/>
              </p:ext>
            </p:extLst>
          </p:nvPr>
        </p:nvGraphicFramePr>
        <p:xfrm>
          <a:off x="7071918" y="1280160"/>
          <a:ext cx="4540961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10</a:t>
            </a:fld>
            <a:endParaRPr lang="pl-P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Synteza, nie streszczenie</a:t>
            </a:r>
            <a:endParaRPr lang="pl-PL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280160"/>
            <a:ext cx="5029200" cy="4023360"/>
          </a:xfrm>
          <a:prstGeom prst="roundRect">
            <a:avLst>
              <a:gd name="adj" fmla="val 3409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000" b="1" dirty="0" smtClean="0">
                <a:solidFill>
                  <a:schemeClr val="accent1"/>
                </a:solidFill>
              </a:rPr>
              <a:t>Lista streszczeń</a:t>
            </a:r>
            <a:endParaRPr lang="pl-PL" sz="3000" dirty="0"/>
          </a:p>
        </p:txBody>
      </p:sp>
      <p:sp>
        <p:nvSpPr>
          <p:cNvPr id="5" name="Streszczenie"/>
          <p:cNvSpPr/>
          <p:nvPr/>
        </p:nvSpPr>
        <p:spPr>
          <a:xfrm>
            <a:off x="777240" y="214884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dirty="0" smtClean="0">
                <a:solidFill>
                  <a:schemeClr val="tx1"/>
                </a:solidFill>
              </a:rPr>
              <a:t>Kowalski –&gt; stres</a:t>
            </a:r>
            <a:endParaRPr lang="pl-PL" sz="2800" dirty="0"/>
          </a:p>
        </p:txBody>
      </p:sp>
      <p:sp>
        <p:nvSpPr>
          <p:cNvPr id="7" name="Streszczenie"/>
          <p:cNvSpPr/>
          <p:nvPr/>
        </p:nvSpPr>
        <p:spPr>
          <a:xfrm>
            <a:off x="777240" y="3172968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1729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dirty="0" smtClean="0">
                <a:solidFill>
                  <a:schemeClr val="tx1"/>
                </a:solidFill>
              </a:rPr>
              <a:t>Nowak –&gt; sen</a:t>
            </a:r>
            <a:endParaRPr lang="pl-PL" sz="2800" dirty="0"/>
          </a:p>
        </p:txBody>
      </p:sp>
      <p:sp>
        <p:nvSpPr>
          <p:cNvPr id="9" name="Streszczenie"/>
          <p:cNvSpPr/>
          <p:nvPr/>
        </p:nvSpPr>
        <p:spPr>
          <a:xfrm>
            <a:off x="777240" y="4197096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19709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dirty="0" err="1" smtClean="0">
                <a:solidFill>
                  <a:schemeClr val="tx1"/>
                </a:solidFill>
              </a:rPr>
              <a:t>Smith</a:t>
            </a:r>
            <a:r>
              <a:rPr lang="pl-PL" sz="2800" dirty="0" smtClean="0">
                <a:solidFill>
                  <a:schemeClr val="tx1"/>
                </a:solidFill>
              </a:rPr>
              <a:t> –&gt; uwaga</a:t>
            </a:r>
            <a:endParaRPr lang="pl-PL" sz="2800" dirty="0"/>
          </a:p>
        </p:txBody>
      </p:sp>
      <p:sp>
        <p:nvSpPr>
          <p:cNvPr id="11" name="Shape 9"/>
          <p:cNvSpPr/>
          <p:nvPr/>
        </p:nvSpPr>
        <p:spPr>
          <a:xfrm>
            <a:off x="5715000" y="3017520"/>
            <a:ext cx="731520" cy="64008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2" name="Karta"/>
          <p:cNvSpPr/>
          <p:nvPr/>
        </p:nvSpPr>
        <p:spPr>
          <a:xfrm>
            <a:off x="6583680" y="1280160"/>
            <a:ext cx="5029200" cy="4023360"/>
          </a:xfrm>
          <a:prstGeom prst="roundRect">
            <a:avLst>
              <a:gd name="adj" fmla="val 3409"/>
            </a:avLst>
          </a:prstGeom>
          <a:solidFill>
            <a:schemeClr val="accent6">
              <a:alpha val="1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1417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000" b="1" dirty="0" smtClean="0">
                <a:solidFill>
                  <a:schemeClr val="accent6"/>
                </a:solidFill>
              </a:rPr>
              <a:t>Synteza tematyczna</a:t>
            </a:r>
            <a:endParaRPr lang="pl-PL" sz="3000" dirty="0"/>
          </a:p>
        </p:txBody>
      </p:sp>
      <p:sp>
        <p:nvSpPr>
          <p:cNvPr id="14" name="Blok"/>
          <p:cNvSpPr/>
          <p:nvPr/>
        </p:nvSpPr>
        <p:spPr>
          <a:xfrm>
            <a:off x="6812280" y="2148840"/>
            <a:ext cx="4572000" cy="868680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408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600" b="1" dirty="0" smtClean="0">
                <a:solidFill>
                  <a:srgbClr val="FFFFFF"/>
                </a:solidFill>
              </a:rPr>
              <a:t>Przyczyny: Kowalski, </a:t>
            </a:r>
            <a:r>
              <a:rPr lang="pl-PL" sz="2600" b="1" dirty="0" err="1" smtClean="0">
                <a:solidFill>
                  <a:srgbClr val="FFFFFF"/>
                </a:solidFill>
              </a:rPr>
              <a:t>Smith</a:t>
            </a:r>
            <a:endParaRPr lang="pl-PL" sz="2600" dirty="0"/>
          </a:p>
        </p:txBody>
      </p:sp>
      <p:sp>
        <p:nvSpPr>
          <p:cNvPr id="16" name="Blok"/>
          <p:cNvSpPr/>
          <p:nvPr/>
        </p:nvSpPr>
        <p:spPr>
          <a:xfrm>
            <a:off x="6812280" y="3172968"/>
            <a:ext cx="4572000" cy="86868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31729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600" b="1" dirty="0" smtClean="0">
                <a:solidFill>
                  <a:srgbClr val="FFFFFF"/>
                </a:solidFill>
              </a:rPr>
              <a:t>Metody: Nowak, Lee</a:t>
            </a:r>
            <a:endParaRPr lang="pl-PL" sz="2600" dirty="0"/>
          </a:p>
        </p:txBody>
      </p:sp>
      <p:sp>
        <p:nvSpPr>
          <p:cNvPr id="18" name="Blok"/>
          <p:cNvSpPr/>
          <p:nvPr/>
        </p:nvSpPr>
        <p:spPr>
          <a:xfrm>
            <a:off x="6812280" y="4197096"/>
            <a:ext cx="4572000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0" y="419709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600" b="1" dirty="0" smtClean="0">
                <a:solidFill>
                  <a:srgbClr val="FFFFFF"/>
                </a:solidFill>
              </a:rPr>
              <a:t>Luki: wszyscy autorzy</a:t>
            </a:r>
            <a:endParaRPr lang="pl-PL" sz="2600" dirty="0"/>
          </a:p>
        </p:txBody>
      </p:sp>
      <p:sp>
        <p:nvSpPr>
          <p:cNvPr id="20" name="Blok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000" b="1" dirty="0" smtClean="0">
                <a:solidFill>
                  <a:srgbClr val="FFFFFF"/>
                </a:solidFill>
              </a:rPr>
              <a:t>Pytaj 		-&gt;	   i co z tego wynika dla mojego badania?</a:t>
            </a:r>
            <a:endParaRPr lang="pl-PL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11</a:t>
            </a:fld>
            <a:endParaRPr lang="pl-PL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393192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Metodologia</a:t>
            </a:r>
            <a:endParaRPr lang="pl-PL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280160"/>
            <a:ext cx="3566160" cy="2103120"/>
          </a:xfrm>
          <a:prstGeom prst="roundRect">
            <a:avLst>
              <a:gd name="adj" fmla="val 6522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4" name="Ikona"/>
          <p:cNvSpPr/>
          <p:nvPr/>
        </p:nvSpPr>
        <p:spPr>
          <a:xfrm>
            <a:off x="731520" y="14630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6573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Rodzaj badań</a:t>
            </a:r>
            <a:endParaRPr lang="pl-PL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Ilościowe, jakościowe, mieszane</a:t>
            </a:r>
            <a:endParaRPr lang="pl-PL" sz="2600" dirty="0"/>
          </a:p>
        </p:txBody>
      </p:sp>
      <p:sp>
        <p:nvSpPr>
          <p:cNvPr id="8" name="Karta"/>
          <p:cNvSpPr/>
          <p:nvPr/>
        </p:nvSpPr>
        <p:spPr>
          <a:xfrm>
            <a:off x="4297680" y="1280160"/>
            <a:ext cx="3566160" cy="2103120"/>
          </a:xfrm>
          <a:prstGeom prst="roundRect">
            <a:avLst>
              <a:gd name="adj" fmla="val 6522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9" name="Ikona"/>
          <p:cNvSpPr/>
          <p:nvPr/>
        </p:nvSpPr>
        <p:spPr>
          <a:xfrm>
            <a:off x="4480560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165735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Próba</a:t>
            </a:r>
            <a:endParaRPr lang="pl-PL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Kto i ile osób</a:t>
            </a:r>
            <a:endParaRPr lang="pl-PL" sz="2600" dirty="0"/>
          </a:p>
        </p:txBody>
      </p:sp>
      <p:sp>
        <p:nvSpPr>
          <p:cNvPr id="13" name="Karta"/>
          <p:cNvSpPr/>
          <p:nvPr/>
        </p:nvSpPr>
        <p:spPr>
          <a:xfrm>
            <a:off x="8046720" y="1280160"/>
            <a:ext cx="3566160" cy="2103120"/>
          </a:xfrm>
          <a:prstGeom prst="roundRect">
            <a:avLst>
              <a:gd name="adj" fmla="val 6522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14" name="Ikona"/>
          <p:cNvSpPr/>
          <p:nvPr/>
        </p:nvSpPr>
        <p:spPr>
          <a:xfrm>
            <a:off x="8229600" y="146304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0" y="16573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Narzędzia</a:t>
            </a:r>
            <a:endParaRPr lang="pl-PL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Ankieta, wywiad, eksperyment</a:t>
            </a:r>
            <a:endParaRPr lang="pl-PL" sz="2600" dirty="0"/>
          </a:p>
        </p:txBody>
      </p:sp>
      <p:sp>
        <p:nvSpPr>
          <p:cNvPr id="18" name="Karta"/>
          <p:cNvSpPr/>
          <p:nvPr/>
        </p:nvSpPr>
        <p:spPr>
          <a:xfrm>
            <a:off x="548640" y="3520440"/>
            <a:ext cx="3566160" cy="2103120"/>
          </a:xfrm>
          <a:prstGeom prst="roundRect">
            <a:avLst>
              <a:gd name="adj" fmla="val 6522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19" name="Ikona"/>
          <p:cNvSpPr/>
          <p:nvPr/>
        </p:nvSpPr>
        <p:spPr>
          <a:xfrm>
            <a:off x="731520" y="370332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389763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Procedura</a:t>
            </a:r>
            <a:endParaRPr lang="pl-PL" sz="32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617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Co robiono, krok po kroku</a:t>
            </a:r>
            <a:endParaRPr lang="pl-PL" sz="2600" dirty="0"/>
          </a:p>
        </p:txBody>
      </p:sp>
      <p:sp>
        <p:nvSpPr>
          <p:cNvPr id="23" name="Karta"/>
          <p:cNvSpPr/>
          <p:nvPr/>
        </p:nvSpPr>
        <p:spPr>
          <a:xfrm>
            <a:off x="4297680" y="3520440"/>
            <a:ext cx="3566160" cy="2103120"/>
          </a:xfrm>
          <a:prstGeom prst="roundRect">
            <a:avLst>
              <a:gd name="adj" fmla="val 6522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24" name="Ikona"/>
          <p:cNvSpPr/>
          <p:nvPr/>
        </p:nvSpPr>
        <p:spPr>
          <a:xfrm>
            <a:off x="4480560" y="37033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870" y="3897630"/>
            <a:ext cx="388620" cy="3886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Analiza</a:t>
            </a:r>
            <a:endParaRPr lang="pl-PL" sz="3200" dirty="0"/>
          </a:p>
        </p:txBody>
      </p:sp>
      <p:sp>
        <p:nvSpPr>
          <p:cNvPr id="27" name="Text 20"/>
          <p:cNvSpPr txBox="1"/>
          <p:nvPr/>
        </p:nvSpPr>
        <p:spPr>
          <a:xfrm>
            <a:off x="4480560" y="4617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Statystyka lub kodowanie</a:t>
            </a:r>
            <a:endParaRPr lang="pl-PL" sz="2600" dirty="0"/>
          </a:p>
        </p:txBody>
      </p:sp>
      <p:sp>
        <p:nvSpPr>
          <p:cNvPr id="28" name="Karta"/>
          <p:cNvSpPr/>
          <p:nvPr/>
        </p:nvSpPr>
        <p:spPr>
          <a:xfrm>
            <a:off x="8046720" y="3520440"/>
            <a:ext cx="3566160" cy="2103120"/>
          </a:xfrm>
          <a:prstGeom prst="roundRect">
            <a:avLst>
              <a:gd name="adj" fmla="val 6522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29" name="Ikona"/>
          <p:cNvSpPr/>
          <p:nvPr/>
        </p:nvSpPr>
        <p:spPr>
          <a:xfrm>
            <a:off x="8229600" y="37033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910" y="3897630"/>
            <a:ext cx="388620" cy="3886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Etyka</a:t>
            </a:r>
            <a:endParaRPr lang="pl-PL" sz="3200" dirty="0"/>
          </a:p>
        </p:txBody>
      </p:sp>
      <p:sp>
        <p:nvSpPr>
          <p:cNvPr id="32" name="Text 24"/>
          <p:cNvSpPr txBox="1"/>
          <p:nvPr/>
        </p:nvSpPr>
        <p:spPr>
          <a:xfrm>
            <a:off x="8229600" y="4617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Zgoda, anonimowość, RODO</a:t>
            </a:r>
            <a:endParaRPr lang="pl-PL" sz="2600" dirty="0"/>
          </a:p>
        </p:txBody>
      </p:sp>
      <p:sp>
        <p:nvSpPr>
          <p:cNvPr id="33" name="Blok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2800" b="1" dirty="0" smtClean="0">
                <a:solidFill>
                  <a:srgbClr val="FFFFFF"/>
                </a:solidFill>
              </a:rPr>
              <a:t>Ktoś inny musi móc powtórzyć badanie</a:t>
            </a:r>
            <a:endParaRPr lang="pl-PL" sz="2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12</a:t>
            </a:fld>
            <a:endParaRPr lang="pl-PL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Wyniki, a dyskusja</a:t>
            </a:r>
            <a:endParaRPr lang="pl-PL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234440"/>
            <a:ext cx="5669280" cy="5074920"/>
          </a:xfrm>
          <a:prstGeom prst="roundRect">
            <a:avLst>
              <a:gd name="adj" fmla="val 2703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3200" b="1" dirty="0" smtClean="0">
                <a:solidFill>
                  <a:schemeClr val="accent2"/>
                </a:solidFill>
              </a:rPr>
              <a:t>Wyniki to fakty</a:t>
            </a:r>
            <a:endParaRPr lang="pl-PL" sz="3200" dirty="0"/>
          </a:p>
        </p:txBody>
      </p:sp>
      <p:graphicFrame>
        <p:nvGraphicFramePr>
          <p:cNvPr id="5" name="Wykres wyników"/>
          <p:cNvGraphicFramePr/>
          <p:nvPr>
            <p:extLst>
              <p:ext uri="{D42A27DB-BD31-4B8C-83A1-F6EECF244321}">
                <p14:modId xmlns:p14="http://schemas.microsoft.com/office/powerpoint/2010/main" val="768765978"/>
              </p:ext>
            </p:extLst>
          </p:nvPr>
        </p:nvGraphicFramePr>
        <p:xfrm>
          <a:off x="777240" y="1965960"/>
          <a:ext cx="52120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553512"/>
            <a:ext cx="5212080" cy="6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2600" i="1" dirty="0" smtClean="0">
                <a:solidFill>
                  <a:schemeClr val="tx1"/>
                </a:solidFill>
              </a:rPr>
              <a:t>Grupa A: 72 pkt, grupa B: 65 pkt</a:t>
            </a:r>
            <a:endParaRPr lang="pl-PL" sz="2600" dirty="0"/>
          </a:p>
        </p:txBody>
      </p:sp>
      <p:sp>
        <p:nvSpPr>
          <p:cNvPr id="7" name="Karta"/>
          <p:cNvSpPr/>
          <p:nvPr/>
        </p:nvSpPr>
        <p:spPr>
          <a:xfrm>
            <a:off x="6400800" y="1234440"/>
            <a:ext cx="5212080" cy="5074920"/>
          </a:xfrm>
          <a:prstGeom prst="roundRect">
            <a:avLst>
              <a:gd name="adj" fmla="val 2703"/>
            </a:avLst>
          </a:prstGeom>
          <a:solidFill>
            <a:schemeClr val="accent6">
              <a:alpha val="15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2940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3200" b="1" dirty="0" smtClean="0">
                <a:solidFill>
                  <a:schemeClr val="accent6"/>
                </a:solidFill>
              </a:rPr>
              <a:t>Dyskusja nadaje im sens</a:t>
            </a:r>
            <a:endParaRPr lang="pl-PL" sz="3200" dirty="0"/>
          </a:p>
        </p:txBody>
      </p:sp>
      <p:sp>
        <p:nvSpPr>
          <p:cNvPr id="9" name="Blok"/>
          <p:cNvSpPr/>
          <p:nvPr/>
        </p:nvSpPr>
        <p:spPr>
          <a:xfrm>
            <a:off x="6629400" y="2148840"/>
            <a:ext cx="475488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0" y="21488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Dlaczego tak wyszło?</a:t>
            </a:r>
            <a:endParaRPr lang="pl-PL" sz="3200" dirty="0"/>
          </a:p>
        </p:txBody>
      </p:sp>
      <p:sp>
        <p:nvSpPr>
          <p:cNvPr id="11" name="Blok"/>
          <p:cNvSpPr/>
          <p:nvPr/>
        </p:nvSpPr>
        <p:spPr>
          <a:xfrm>
            <a:off x="6629400" y="3520440"/>
            <a:ext cx="4754880" cy="1188720"/>
          </a:xfrm>
          <a:prstGeom prst="roundRect">
            <a:avLst>
              <a:gd name="adj" fmla="val 11538"/>
            </a:avLst>
          </a:prstGeom>
          <a:solidFill>
            <a:schemeClr val="accent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0" y="35204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Co mówi literatura?</a:t>
            </a:r>
            <a:endParaRPr lang="pl-PL" sz="3200" dirty="0"/>
          </a:p>
        </p:txBody>
      </p:sp>
      <p:sp>
        <p:nvSpPr>
          <p:cNvPr id="13" name="Blok"/>
          <p:cNvSpPr/>
          <p:nvPr/>
        </p:nvSpPr>
        <p:spPr>
          <a:xfrm>
            <a:off x="6629400" y="4892040"/>
            <a:ext cx="475488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0" y="48920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Jakie są ograniczenia?</a:t>
            </a:r>
            <a:endParaRPr lang="pl-PL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13</a:t>
            </a:fld>
            <a:endParaRPr lang="pl-P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tx2"/>
                </a:solidFill>
              </a:rPr>
              <a:t>Styl akademicki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222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4400" b="1" dirty="0" smtClean="0">
                <a:solidFill>
                  <a:schemeClr val="accent1"/>
                </a:solidFill>
              </a:rPr>
              <a:t>Unikaj</a:t>
            </a:r>
            <a:endParaRPr lang="pl-PL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2222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4400" b="1" dirty="0" smtClean="0">
                <a:solidFill>
                  <a:schemeClr val="accent6"/>
                </a:solidFill>
              </a:rPr>
              <a:t>Pisz</a:t>
            </a:r>
            <a:endParaRPr lang="pl-PL" sz="4400" dirty="0"/>
          </a:p>
        </p:txBody>
      </p:sp>
      <p:sp>
        <p:nvSpPr>
          <p:cNvPr id="5" name="Karta"/>
          <p:cNvSpPr/>
          <p:nvPr/>
        </p:nvSpPr>
        <p:spPr>
          <a:xfrm>
            <a:off x="548640" y="1828800"/>
            <a:ext cx="4937760" cy="960120"/>
          </a:xfrm>
          <a:prstGeom prst="roundRect">
            <a:avLst>
              <a:gd name="adj" fmla="val 14286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i="1" dirty="0" smtClean="0">
                <a:solidFill>
                  <a:schemeClr val="tx1"/>
                </a:solidFill>
              </a:rPr>
              <a:t>Moim zdaniem…</a:t>
            </a:r>
            <a:endParaRPr lang="pl-PL" sz="2800" dirty="0"/>
          </a:p>
        </p:txBody>
      </p:sp>
      <p:sp>
        <p:nvSpPr>
          <p:cNvPr id="7" name="Shape 5"/>
          <p:cNvSpPr/>
          <p:nvPr/>
        </p:nvSpPr>
        <p:spPr>
          <a:xfrm>
            <a:off x="5577840" y="2075688"/>
            <a:ext cx="548640" cy="4572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Blok"/>
          <p:cNvSpPr/>
          <p:nvPr/>
        </p:nvSpPr>
        <p:spPr>
          <a:xfrm>
            <a:off x="6217920" y="1828800"/>
            <a:ext cx="5394960" cy="96012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8288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rgbClr val="FFFFFF"/>
                </a:solidFill>
              </a:rPr>
              <a:t>Wyniki wskazują, że…</a:t>
            </a:r>
            <a:endParaRPr lang="pl-PL" sz="2800" dirty="0"/>
          </a:p>
        </p:txBody>
      </p:sp>
      <p:sp>
        <p:nvSpPr>
          <p:cNvPr id="10" name="Karta"/>
          <p:cNvSpPr/>
          <p:nvPr/>
        </p:nvSpPr>
        <p:spPr>
          <a:xfrm>
            <a:off x="548640" y="2926080"/>
            <a:ext cx="4937760" cy="960120"/>
          </a:xfrm>
          <a:prstGeom prst="roundRect">
            <a:avLst>
              <a:gd name="adj" fmla="val 14286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260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i="1" dirty="0" smtClean="0">
                <a:solidFill>
                  <a:schemeClr val="tx1"/>
                </a:solidFill>
              </a:rPr>
              <a:t>Bardzo dużo osób</a:t>
            </a:r>
            <a:endParaRPr lang="pl-PL" sz="2800" dirty="0"/>
          </a:p>
        </p:txBody>
      </p:sp>
      <p:sp>
        <p:nvSpPr>
          <p:cNvPr id="12" name="Shape 10"/>
          <p:cNvSpPr/>
          <p:nvPr/>
        </p:nvSpPr>
        <p:spPr>
          <a:xfrm>
            <a:off x="5577840" y="3172968"/>
            <a:ext cx="548640" cy="4572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3" name="Blok"/>
          <p:cNvSpPr/>
          <p:nvPr/>
        </p:nvSpPr>
        <p:spPr>
          <a:xfrm>
            <a:off x="6217920" y="2926080"/>
            <a:ext cx="5394960" cy="96012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926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rgbClr val="FFFFFF"/>
                </a:solidFill>
              </a:rPr>
              <a:t>68% badanych</a:t>
            </a:r>
            <a:endParaRPr lang="pl-PL" sz="2800" dirty="0"/>
          </a:p>
        </p:txBody>
      </p:sp>
      <p:sp>
        <p:nvSpPr>
          <p:cNvPr id="15" name="Karta"/>
          <p:cNvSpPr/>
          <p:nvPr/>
        </p:nvSpPr>
        <p:spPr>
          <a:xfrm>
            <a:off x="548640" y="4023360"/>
            <a:ext cx="4937760" cy="960120"/>
          </a:xfrm>
          <a:prstGeom prst="roundRect">
            <a:avLst>
              <a:gd name="adj" fmla="val 14286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233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i="1" dirty="0" smtClean="0">
                <a:solidFill>
                  <a:schemeClr val="tx1"/>
                </a:solidFill>
              </a:rPr>
              <a:t>Wszyscy wiedzą…</a:t>
            </a:r>
            <a:endParaRPr lang="pl-PL" sz="2800" dirty="0"/>
          </a:p>
        </p:txBody>
      </p:sp>
      <p:sp>
        <p:nvSpPr>
          <p:cNvPr id="17" name="Shape 15"/>
          <p:cNvSpPr/>
          <p:nvPr/>
        </p:nvSpPr>
        <p:spPr>
          <a:xfrm>
            <a:off x="5577840" y="4270248"/>
            <a:ext cx="548640" cy="4572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8" name="Blok"/>
          <p:cNvSpPr/>
          <p:nvPr/>
        </p:nvSpPr>
        <p:spPr>
          <a:xfrm>
            <a:off x="6217920" y="4023360"/>
            <a:ext cx="5394960" cy="96012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023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rgbClr val="FFFFFF"/>
                </a:solidFill>
              </a:rPr>
              <a:t>Według Kowalskiego (2019)</a:t>
            </a:r>
            <a:endParaRPr lang="pl-PL" sz="2800" dirty="0"/>
          </a:p>
        </p:txBody>
      </p:sp>
      <p:sp>
        <p:nvSpPr>
          <p:cNvPr id="20" name="Karta"/>
          <p:cNvSpPr/>
          <p:nvPr/>
        </p:nvSpPr>
        <p:spPr>
          <a:xfrm>
            <a:off x="548640" y="5120640"/>
            <a:ext cx="4937760" cy="960120"/>
          </a:xfrm>
          <a:prstGeom prst="roundRect">
            <a:avLst>
              <a:gd name="adj" fmla="val 14286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1206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i="1" dirty="0" smtClean="0">
                <a:solidFill>
                  <a:schemeClr val="tx1"/>
                </a:solidFill>
              </a:rPr>
              <a:t>Zrobiłem ankietę</a:t>
            </a:r>
            <a:endParaRPr lang="pl-PL" sz="2800" dirty="0"/>
          </a:p>
        </p:txBody>
      </p:sp>
      <p:sp>
        <p:nvSpPr>
          <p:cNvPr id="22" name="Shape 20"/>
          <p:cNvSpPr/>
          <p:nvPr/>
        </p:nvSpPr>
        <p:spPr>
          <a:xfrm>
            <a:off x="5577840" y="5367528"/>
            <a:ext cx="548640" cy="4572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3" name="Blok"/>
          <p:cNvSpPr/>
          <p:nvPr/>
        </p:nvSpPr>
        <p:spPr>
          <a:xfrm>
            <a:off x="6217920" y="5120640"/>
            <a:ext cx="5394960" cy="96012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51206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 smtClean="0">
                <a:solidFill>
                  <a:srgbClr val="FFFFFF"/>
                </a:solidFill>
              </a:rPr>
              <a:t>Przeprowadzono ankietę</a:t>
            </a:r>
            <a:endParaRPr lang="pl-PL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l-PL" sz="3600" b="1" dirty="0" smtClean="0">
                <a:solidFill>
                  <a:schemeClr val="tx2"/>
                </a:solidFill>
              </a:rPr>
              <a:t>Pisz zwięźle, bezosobowo i bez emocji</a:t>
            </a:r>
            <a:endParaRPr lang="pl-PL" sz="3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14</a:t>
            </a:fld>
            <a:endParaRPr lang="pl-PL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Cytowanie i plagiat</a:t>
            </a:r>
            <a:endParaRPr lang="pl-PL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280160"/>
            <a:ext cx="6492240" cy="1234440"/>
          </a:xfrm>
          <a:prstGeom prst="roundRect">
            <a:avLst>
              <a:gd name="adj" fmla="val 11111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" name="Ikona"/>
          <p:cNvSpPr/>
          <p:nvPr/>
        </p:nvSpPr>
        <p:spPr>
          <a:xfrm>
            <a:off x="685800" y="14859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353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Cytat</a:t>
            </a:r>
            <a:endParaRPr lang="pl-PL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8745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w cudzysłowie, z numerem strony</a:t>
            </a:r>
            <a:endParaRPr lang="pl-PL" sz="2600" dirty="0"/>
          </a:p>
        </p:txBody>
      </p:sp>
      <p:sp>
        <p:nvSpPr>
          <p:cNvPr id="8" name="Karta"/>
          <p:cNvSpPr/>
          <p:nvPr/>
        </p:nvSpPr>
        <p:spPr>
          <a:xfrm>
            <a:off x="548640" y="2651760"/>
            <a:ext cx="6492240" cy="1234440"/>
          </a:xfrm>
          <a:prstGeom prst="roundRect">
            <a:avLst>
              <a:gd name="adj" fmla="val 11111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9" name="Ikona"/>
          <p:cNvSpPr/>
          <p:nvPr/>
        </p:nvSpPr>
        <p:spPr>
          <a:xfrm>
            <a:off x="685800" y="28575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063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27249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Parafraza</a:t>
            </a:r>
            <a:endParaRPr lang="pl-PL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32461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własnymi słowami + autor, rok</a:t>
            </a:r>
            <a:endParaRPr lang="pl-PL" sz="2600" dirty="0"/>
          </a:p>
        </p:txBody>
      </p:sp>
      <p:sp>
        <p:nvSpPr>
          <p:cNvPr id="13" name="Karta"/>
          <p:cNvSpPr/>
          <p:nvPr/>
        </p:nvSpPr>
        <p:spPr>
          <a:xfrm>
            <a:off x="548640" y="4023360"/>
            <a:ext cx="6492240" cy="1234440"/>
          </a:xfrm>
          <a:prstGeom prst="roundRect">
            <a:avLst>
              <a:gd name="adj" fmla="val 11111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4" name="Ikona"/>
          <p:cNvSpPr/>
          <p:nvPr/>
        </p:nvSpPr>
        <p:spPr>
          <a:xfrm>
            <a:off x="685800" y="42291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4348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Dane i pomysły</a:t>
            </a:r>
            <a:endParaRPr lang="pl-PL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46177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zawsze ze źródłem</a:t>
            </a:r>
            <a:endParaRPr lang="pl-PL" sz="2600" dirty="0"/>
          </a:p>
        </p:txBody>
      </p:sp>
      <p:sp>
        <p:nvSpPr>
          <p:cNvPr id="18" name="Blok"/>
          <p:cNvSpPr/>
          <p:nvPr/>
        </p:nvSpPr>
        <p:spPr>
          <a:xfrm>
            <a:off x="7315200" y="1280160"/>
            <a:ext cx="429768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543800" y="1463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800" dirty="0" smtClean="0">
                <a:solidFill>
                  <a:srgbClr val="FFFFFF"/>
                </a:solidFill>
              </a:rPr>
              <a:t>autor–rok (APA)</a:t>
            </a:r>
            <a:endParaRPr lang="pl-PL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7543800" y="2103120"/>
            <a:ext cx="3931920" cy="82296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4000" b="1" dirty="0" smtClean="0">
                <a:solidFill>
                  <a:srgbClr val="FFFFFF"/>
                </a:solidFill>
              </a:rPr>
              <a:t>(Kowalski, 2020)</a:t>
            </a:r>
            <a:endParaRPr lang="pl-PL" sz="4000" dirty="0"/>
          </a:p>
        </p:txBody>
      </p:sp>
      <p:sp>
        <p:nvSpPr>
          <p:cNvPr id="21" name="Blok"/>
          <p:cNvSpPr/>
          <p:nvPr/>
        </p:nvSpPr>
        <p:spPr>
          <a:xfrm>
            <a:off x="7315200" y="3337560"/>
            <a:ext cx="4297680" cy="192024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54380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800" dirty="0" smtClean="0">
                <a:solidFill>
                  <a:srgbClr val="FFFFFF"/>
                </a:solidFill>
              </a:rPr>
              <a:t>numeryczny (IEEE)</a:t>
            </a:r>
            <a:endParaRPr lang="pl-PL" sz="2800" dirty="0"/>
          </a:p>
        </p:txBody>
      </p:sp>
      <p:sp>
        <p:nvSpPr>
          <p:cNvPr id="23" name="Text 18"/>
          <p:cNvSpPr txBox="1"/>
          <p:nvPr/>
        </p:nvSpPr>
        <p:spPr>
          <a:xfrm>
            <a:off x="7543800" y="4160520"/>
            <a:ext cx="3931920" cy="82296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4800" b="1" dirty="0" smtClean="0">
                <a:solidFill>
                  <a:srgbClr val="FFFFFF"/>
                </a:solidFill>
              </a:rPr>
              <a:t>[1]</a:t>
            </a:r>
            <a:endParaRPr lang="pl-PL" sz="4800" dirty="0"/>
          </a:p>
        </p:txBody>
      </p:sp>
      <p:sp>
        <p:nvSpPr>
          <p:cNvPr id="24" name="Karta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15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25" name="Ikona"/>
          <p:cNvSpPr/>
          <p:nvPr/>
        </p:nvSpPr>
        <p:spPr>
          <a:xfrm>
            <a:off x="731520" y="5486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569214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37360" y="54406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Plagiat to jakikolwiek tekst bez źródła</a:t>
            </a:r>
          </a:p>
          <a:p>
            <a:pPr marL="0" indent="0" algn="ctr">
              <a:buNone/>
            </a:pPr>
            <a:r>
              <a:rPr lang="pl-PL" sz="2800" b="1" dirty="0" smtClean="0">
                <a:solidFill>
                  <a:schemeClr val="tx1"/>
                </a:solidFill>
              </a:rPr>
              <a:t>Sprawdza go JSA </a:t>
            </a:r>
            <a:r>
              <a:rPr lang="pl-PL" sz="2800" dirty="0" smtClean="0">
                <a:solidFill>
                  <a:schemeClr val="tx1"/>
                </a:solidFill>
              </a:rPr>
              <a:t>(Jednolity System </a:t>
            </a:r>
            <a:r>
              <a:rPr lang="pl-PL" sz="2800" dirty="0" err="1"/>
              <a:t>A</a:t>
            </a:r>
            <a:r>
              <a:rPr lang="pl-PL" sz="2800" dirty="0" err="1" smtClean="0">
                <a:solidFill>
                  <a:schemeClr val="tx1"/>
                </a:solidFill>
              </a:rPr>
              <a:t>ntyplagiatowy</a:t>
            </a:r>
            <a:r>
              <a:rPr lang="pl-PL" sz="2800" dirty="0" smtClean="0">
                <a:solidFill>
                  <a:schemeClr val="tx1"/>
                </a:solidFill>
              </a:rPr>
              <a:t>)</a:t>
            </a:r>
            <a:endParaRPr lang="pl-PL" sz="2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15</a:t>
            </a:fld>
            <a:endParaRPr lang="pl-PL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Narzędzia</a:t>
            </a:r>
            <a:endParaRPr lang="pl-PL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280160"/>
            <a:ext cx="6309360" cy="1143000"/>
          </a:xfrm>
          <a:prstGeom prst="roundRect">
            <a:avLst>
              <a:gd name="adj" fmla="val 120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" name="Ikona"/>
          <p:cNvSpPr/>
          <p:nvPr/>
        </p:nvSpPr>
        <p:spPr>
          <a:xfrm>
            <a:off x="685800" y="14401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459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3533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err="1" smtClean="0">
                <a:solidFill>
                  <a:schemeClr val="tx1"/>
                </a:solidFill>
              </a:rPr>
              <a:t>Zotero</a:t>
            </a:r>
            <a:r>
              <a:rPr lang="pl-PL" sz="3200" b="1" dirty="0" smtClean="0">
                <a:solidFill>
                  <a:schemeClr val="tx1"/>
                </a:solidFill>
              </a:rPr>
              <a:t> / </a:t>
            </a:r>
            <a:r>
              <a:rPr lang="pl-PL" sz="3200" b="1" dirty="0" err="1" smtClean="0">
                <a:solidFill>
                  <a:schemeClr val="tx1"/>
                </a:solidFill>
              </a:rPr>
              <a:t>Mendeley</a:t>
            </a:r>
            <a:endParaRPr lang="pl-PL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źródła i przypisy</a:t>
            </a:r>
            <a:endParaRPr lang="pl-PL" sz="2600" dirty="0"/>
          </a:p>
        </p:txBody>
      </p:sp>
      <p:sp>
        <p:nvSpPr>
          <p:cNvPr id="8" name="Karta"/>
          <p:cNvSpPr/>
          <p:nvPr/>
        </p:nvSpPr>
        <p:spPr>
          <a:xfrm>
            <a:off x="548640" y="2560320"/>
            <a:ext cx="6309360" cy="1143000"/>
          </a:xfrm>
          <a:prstGeom prst="roundRect">
            <a:avLst>
              <a:gd name="adj" fmla="val 120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9" name="Ikona"/>
          <p:cNvSpPr/>
          <p:nvPr/>
        </p:nvSpPr>
        <p:spPr>
          <a:xfrm>
            <a:off x="685800" y="27203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926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26334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Word / </a:t>
            </a:r>
            <a:r>
              <a:rPr lang="pl-PL" sz="3200" b="1" dirty="0" err="1" smtClean="0">
                <a:solidFill>
                  <a:schemeClr val="tx1"/>
                </a:solidFill>
              </a:rPr>
              <a:t>LaTeX</a:t>
            </a:r>
            <a:endParaRPr lang="pl-PL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3154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skład i spis treści</a:t>
            </a:r>
            <a:endParaRPr lang="pl-PL" sz="2600" dirty="0"/>
          </a:p>
        </p:txBody>
      </p:sp>
      <p:sp>
        <p:nvSpPr>
          <p:cNvPr id="13" name="Karta"/>
          <p:cNvSpPr/>
          <p:nvPr/>
        </p:nvSpPr>
        <p:spPr>
          <a:xfrm>
            <a:off x="548640" y="3840480"/>
            <a:ext cx="6309360" cy="1143000"/>
          </a:xfrm>
          <a:prstGeom prst="roundRect">
            <a:avLst>
              <a:gd name="adj" fmla="val 120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4" name="Ikona"/>
          <p:cNvSpPr/>
          <p:nvPr/>
        </p:nvSpPr>
        <p:spPr>
          <a:xfrm>
            <a:off x="685800" y="40005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2062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913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Excel, R, </a:t>
            </a:r>
            <a:r>
              <a:rPr lang="pl-PL" sz="3200" b="1" dirty="0" err="1" smtClean="0">
                <a:solidFill>
                  <a:schemeClr val="tx1"/>
                </a:solidFill>
              </a:rPr>
              <a:t>Python</a:t>
            </a:r>
            <a:endParaRPr lang="pl-PL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4434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analiza i wykresy</a:t>
            </a:r>
            <a:endParaRPr lang="pl-PL" sz="2600" dirty="0"/>
          </a:p>
        </p:txBody>
      </p:sp>
      <p:sp>
        <p:nvSpPr>
          <p:cNvPr id="18" name="Karta"/>
          <p:cNvSpPr/>
          <p:nvPr/>
        </p:nvSpPr>
        <p:spPr>
          <a:xfrm>
            <a:off x="548640" y="5120640"/>
            <a:ext cx="6309360" cy="1143000"/>
          </a:xfrm>
          <a:prstGeom prst="roundRect">
            <a:avLst>
              <a:gd name="adj" fmla="val 1200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9" name="Ikona"/>
          <p:cNvSpPr/>
          <p:nvPr/>
        </p:nvSpPr>
        <p:spPr>
          <a:xfrm>
            <a:off x="685800" y="52806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4864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51937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Kopie zapasowe</a:t>
            </a:r>
            <a:endParaRPr lang="pl-PL" sz="3200" dirty="0"/>
          </a:p>
        </p:txBody>
      </p:sp>
      <p:sp>
        <p:nvSpPr>
          <p:cNvPr id="22" name="Text 16"/>
          <p:cNvSpPr txBox="1"/>
          <p:nvPr/>
        </p:nvSpPr>
        <p:spPr>
          <a:xfrm>
            <a:off x="1691640" y="5715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chmura + dysk</a:t>
            </a:r>
            <a:endParaRPr lang="pl-PL" sz="2600" dirty="0"/>
          </a:p>
        </p:txBody>
      </p:sp>
      <p:sp>
        <p:nvSpPr>
          <p:cNvPr id="23" name="Blok"/>
          <p:cNvSpPr/>
          <p:nvPr/>
        </p:nvSpPr>
        <p:spPr>
          <a:xfrm>
            <a:off x="7132320" y="1280160"/>
            <a:ext cx="4480560" cy="4937760"/>
          </a:xfrm>
          <a:prstGeom prst="roundRect">
            <a:avLst>
              <a:gd name="adj" fmla="val 3061"/>
            </a:avLst>
          </a:prstGeom>
          <a:solidFill>
            <a:schemeClr val="tx2"/>
          </a:solidFill>
          <a:ln/>
        </p:spPr>
      </p:sp>
      <p:sp>
        <p:nvSpPr>
          <p:cNvPr id="24" name="Ikona"/>
          <p:cNvSpPr/>
          <p:nvPr/>
        </p:nvSpPr>
        <p:spPr>
          <a:xfrm>
            <a:off x="736092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6660" y="16687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52460" y="1463040"/>
            <a:ext cx="3268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</a:t>
            </a:r>
            <a:r>
              <a:rPr lang="pl-PL" sz="3200" b="1" dirty="0" smtClean="0">
                <a:solidFill>
                  <a:srgbClr val="FFFFFF"/>
                </a:solidFill>
              </a:rPr>
              <a:t>trzeba</a:t>
            </a:r>
            <a:r>
              <a:rPr lang="en-US" sz="3200" b="1" dirty="0" smtClean="0">
                <a:solidFill>
                  <a:srgbClr val="FFFFFF"/>
                </a:solidFill>
              </a:rPr>
              <a:t> </a:t>
            </a:r>
            <a:r>
              <a:rPr lang="en-US" sz="3200" b="1" dirty="0">
                <a:solidFill>
                  <a:srgbClr val="FFFFFF"/>
                </a:solidFill>
              </a:rPr>
              <a:t>ostrożnie</a:t>
            </a:r>
            <a:endParaRPr lang="en-US" sz="3200" dirty="0"/>
          </a:p>
        </p:txBody>
      </p:sp>
      <p:sp>
        <p:nvSpPr>
          <p:cNvPr id="27" name="Text 20"/>
          <p:cNvSpPr txBox="1"/>
          <p:nvPr/>
        </p:nvSpPr>
        <p:spPr>
          <a:xfrm>
            <a:off x="7360920" y="2514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800" b="1" dirty="0" smtClean="0">
                <a:solidFill>
                  <a:srgbClr val="7DD3C0"/>
                </a:solidFill>
              </a:rPr>
              <a:t>Możesz:</a:t>
            </a:r>
            <a:endParaRPr lang="pl-PL" sz="2800" dirty="0"/>
          </a:p>
        </p:txBody>
      </p:sp>
      <p:sp>
        <p:nvSpPr>
          <p:cNvPr id="28" name="Text 21"/>
          <p:cNvSpPr txBox="1"/>
          <p:nvPr/>
        </p:nvSpPr>
        <p:spPr>
          <a:xfrm>
            <a:off x="7360920" y="30175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l-PL" sz="2600" dirty="0" smtClean="0">
                <a:solidFill>
                  <a:srgbClr val="FFFFFF"/>
                </a:solidFill>
              </a:rPr>
              <a:t>Wyjaśnić pojęcia</a:t>
            </a:r>
            <a:endParaRPr lang="pl-PL" sz="2600" dirty="0" smtClean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l-PL" sz="2600" dirty="0" smtClean="0">
                <a:solidFill>
                  <a:srgbClr val="FFFFFF"/>
                </a:solidFill>
              </a:rPr>
              <a:t>Poprawić styl</a:t>
            </a:r>
            <a:endParaRPr lang="pl-PL" sz="2600" dirty="0"/>
          </a:p>
        </p:txBody>
      </p:sp>
      <p:sp>
        <p:nvSpPr>
          <p:cNvPr id="29" name="Text 22"/>
          <p:cNvSpPr txBox="1"/>
          <p:nvPr/>
        </p:nvSpPr>
        <p:spPr>
          <a:xfrm>
            <a:off x="736092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800" b="1" dirty="0" smtClean="0">
                <a:solidFill>
                  <a:srgbClr val="FFB38A"/>
                </a:solidFill>
              </a:rPr>
              <a:t>Nie rób:</a:t>
            </a:r>
            <a:endParaRPr lang="pl-PL" sz="2800" dirty="0"/>
          </a:p>
        </p:txBody>
      </p:sp>
      <p:sp>
        <p:nvSpPr>
          <p:cNvPr id="30" name="Text 23"/>
          <p:cNvSpPr txBox="1"/>
          <p:nvPr/>
        </p:nvSpPr>
        <p:spPr>
          <a:xfrm>
            <a:off x="7360920" y="4709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l-PL" sz="2600" dirty="0" smtClean="0">
                <a:solidFill>
                  <a:srgbClr val="FFFFFF"/>
                </a:solidFill>
              </a:rPr>
              <a:t>Nie zlecaj pisania</a:t>
            </a:r>
            <a:endParaRPr lang="pl-PL" sz="2600" dirty="0" smtClean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l-PL" sz="2600" dirty="0" smtClean="0">
                <a:solidFill>
                  <a:srgbClr val="FFFFFF"/>
                </a:solidFill>
              </a:rPr>
              <a:t>AI zmyśla źródła</a:t>
            </a:r>
            <a:endParaRPr lang="pl-PL" sz="2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Harmonogram </a:t>
            </a:r>
            <a:r>
              <a:rPr lang="pl-PL" dirty="0" smtClean="0"/>
              <a:t>na</a:t>
            </a:r>
            <a:r>
              <a:rPr lang="en-US" dirty="0" smtClean="0"/>
              <a:t> </a:t>
            </a:r>
            <a:r>
              <a:rPr lang="en-US" dirty="0"/>
              <a:t>12 </a:t>
            </a:r>
            <a:r>
              <a:rPr lang="pl-PL" dirty="0" smtClean="0"/>
              <a:t>miesięcy</a:t>
            </a:r>
            <a:endParaRPr lang="pl-PL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48641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5"/>
                </a:solidFill>
              </a:rPr>
              <a:t>Miesiąc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4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6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7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8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9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10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11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</a:rPr>
              <a:t>12</a:t>
            </a:r>
            <a:endParaRPr lang="en-US" sz="2400" dirty="0"/>
          </a:p>
        </p:txBody>
      </p:sp>
      <p:sp>
        <p:nvSpPr>
          <p:cNvPr id="16" name="Karta"/>
          <p:cNvSpPr/>
          <p:nvPr/>
        </p:nvSpPr>
        <p:spPr>
          <a:xfrm>
            <a:off x="548640" y="1737360"/>
            <a:ext cx="11064240" cy="585216"/>
          </a:xfrm>
          <a:prstGeom prst="roundRect">
            <a:avLst>
              <a:gd name="adj" fmla="val 23438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173736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Temat</a:t>
            </a:r>
            <a:endParaRPr lang="en-US" sz="2600" dirty="0"/>
          </a:p>
        </p:txBody>
      </p:sp>
      <p:sp>
        <p:nvSpPr>
          <p:cNvPr id="18" name="Pasek Temat"/>
          <p:cNvSpPr/>
          <p:nvPr/>
        </p:nvSpPr>
        <p:spPr>
          <a:xfrm>
            <a:off x="3968496" y="1801368"/>
            <a:ext cx="1207008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9" name="Karta"/>
          <p:cNvSpPr/>
          <p:nvPr/>
        </p:nvSpPr>
        <p:spPr>
          <a:xfrm>
            <a:off x="548640" y="2395728"/>
            <a:ext cx="11064240" cy="585216"/>
          </a:xfrm>
          <a:prstGeom prst="roundRect">
            <a:avLst>
              <a:gd name="adj" fmla="val 23438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239572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Literatura</a:t>
            </a:r>
            <a:endParaRPr lang="en-US" sz="2600" dirty="0"/>
          </a:p>
        </p:txBody>
      </p:sp>
      <p:sp>
        <p:nvSpPr>
          <p:cNvPr id="21" name="Pasek Literatura"/>
          <p:cNvSpPr/>
          <p:nvPr/>
        </p:nvSpPr>
        <p:spPr>
          <a:xfrm>
            <a:off x="4608576" y="2459736"/>
            <a:ext cx="248716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2" name="Karta"/>
          <p:cNvSpPr/>
          <p:nvPr/>
        </p:nvSpPr>
        <p:spPr>
          <a:xfrm>
            <a:off x="548640" y="3054096"/>
            <a:ext cx="11064240" cy="585216"/>
          </a:xfrm>
          <a:prstGeom prst="roundRect">
            <a:avLst>
              <a:gd name="adj" fmla="val 23438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305409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Metodologia</a:t>
            </a:r>
            <a:endParaRPr lang="en-US" sz="2600" dirty="0"/>
          </a:p>
        </p:txBody>
      </p:sp>
      <p:sp>
        <p:nvSpPr>
          <p:cNvPr id="24" name="Pasek Metodologia"/>
          <p:cNvSpPr/>
          <p:nvPr/>
        </p:nvSpPr>
        <p:spPr>
          <a:xfrm>
            <a:off x="5888736" y="3118104"/>
            <a:ext cx="1207008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5" name="Karta"/>
          <p:cNvSpPr/>
          <p:nvPr/>
        </p:nvSpPr>
        <p:spPr>
          <a:xfrm>
            <a:off x="548640" y="3712464"/>
            <a:ext cx="11064240" cy="585216"/>
          </a:xfrm>
          <a:prstGeom prst="roundRect">
            <a:avLst>
              <a:gd name="adj" fmla="val 23438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371246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Badania</a:t>
            </a:r>
            <a:endParaRPr lang="en-US" sz="2600" dirty="0"/>
          </a:p>
        </p:txBody>
      </p:sp>
      <p:sp>
        <p:nvSpPr>
          <p:cNvPr id="27" name="Pasek Badania"/>
          <p:cNvSpPr/>
          <p:nvPr/>
        </p:nvSpPr>
        <p:spPr>
          <a:xfrm>
            <a:off x="6528816" y="3776472"/>
            <a:ext cx="2487168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28" name="Karta"/>
          <p:cNvSpPr/>
          <p:nvPr/>
        </p:nvSpPr>
        <p:spPr>
          <a:xfrm>
            <a:off x="548640" y="4370832"/>
            <a:ext cx="11064240" cy="585216"/>
          </a:xfrm>
          <a:prstGeom prst="roundRect">
            <a:avLst>
              <a:gd name="adj" fmla="val 23438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37083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Pisanie</a:t>
            </a:r>
            <a:endParaRPr lang="en-US" sz="2600" dirty="0"/>
          </a:p>
        </p:txBody>
      </p:sp>
      <p:sp>
        <p:nvSpPr>
          <p:cNvPr id="30" name="Pasek Pisanie"/>
          <p:cNvSpPr/>
          <p:nvPr/>
        </p:nvSpPr>
        <p:spPr>
          <a:xfrm>
            <a:off x="7168896" y="4434840"/>
            <a:ext cx="3767328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31" name="Karta"/>
          <p:cNvSpPr/>
          <p:nvPr/>
        </p:nvSpPr>
        <p:spPr>
          <a:xfrm>
            <a:off x="548640" y="5029200"/>
            <a:ext cx="11064240" cy="585216"/>
          </a:xfrm>
          <a:prstGeom prst="roundRect">
            <a:avLst>
              <a:gd name="adj" fmla="val 23438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02920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Poprawki</a:t>
            </a:r>
            <a:endParaRPr lang="en-US" sz="2600" dirty="0"/>
          </a:p>
        </p:txBody>
      </p:sp>
      <p:sp>
        <p:nvSpPr>
          <p:cNvPr id="33" name="Pasek Poprawki"/>
          <p:cNvSpPr/>
          <p:nvPr/>
        </p:nvSpPr>
        <p:spPr>
          <a:xfrm>
            <a:off x="9729216" y="5093208"/>
            <a:ext cx="120700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34" name="Karta"/>
          <p:cNvSpPr/>
          <p:nvPr/>
        </p:nvSpPr>
        <p:spPr>
          <a:xfrm>
            <a:off x="548640" y="5687568"/>
            <a:ext cx="11064240" cy="585216"/>
          </a:xfrm>
          <a:prstGeom prst="roundRect">
            <a:avLst>
              <a:gd name="adj" fmla="val 23438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68756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Obrona</a:t>
            </a:r>
            <a:endParaRPr lang="en-US" sz="2600" dirty="0"/>
          </a:p>
        </p:txBody>
      </p:sp>
      <p:sp>
        <p:nvSpPr>
          <p:cNvPr id="36" name="Pasek Obrona"/>
          <p:cNvSpPr/>
          <p:nvPr/>
        </p:nvSpPr>
        <p:spPr>
          <a:xfrm>
            <a:off x="11009376" y="5751576"/>
            <a:ext cx="566928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Najczęstsze błędy</a:t>
            </a:r>
            <a:endParaRPr lang="pl-PL" sz="5200" dirty="0"/>
          </a:p>
        </p:txBody>
      </p:sp>
      <p:sp>
        <p:nvSpPr>
          <p:cNvPr id="3" name="Karta"/>
          <p:cNvSpPr/>
          <p:nvPr/>
        </p:nvSpPr>
        <p:spPr>
          <a:xfrm>
            <a:off x="548640" y="1280160"/>
            <a:ext cx="5440680" cy="1508760"/>
          </a:xfrm>
          <a:prstGeom prst="roundRect">
            <a:avLst>
              <a:gd name="adj" fmla="val 9091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4" name="Numer"/>
          <p:cNvSpPr/>
          <p:nvPr/>
        </p:nvSpPr>
        <p:spPr>
          <a:xfrm>
            <a:off x="731520" y="16002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400" b="1" dirty="0" smtClean="0">
                <a:solidFill>
                  <a:srgbClr val="FFFFFF"/>
                </a:solidFill>
              </a:rPr>
              <a:t>1</a:t>
            </a:r>
            <a:endParaRPr lang="pl-PL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Zbyt późny start</a:t>
            </a:r>
            <a:endParaRPr lang="pl-PL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Pisz od 1. tygodnia</a:t>
            </a:r>
            <a:endParaRPr lang="pl-PL" sz="2600" dirty="0"/>
          </a:p>
        </p:txBody>
      </p:sp>
      <p:sp>
        <p:nvSpPr>
          <p:cNvPr id="8" name="Karta"/>
          <p:cNvSpPr/>
          <p:nvPr/>
        </p:nvSpPr>
        <p:spPr>
          <a:xfrm>
            <a:off x="6172200" y="1280160"/>
            <a:ext cx="5440680" cy="1508760"/>
          </a:xfrm>
          <a:prstGeom prst="roundRect">
            <a:avLst>
              <a:gd name="adj" fmla="val 9091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9" name="Numer"/>
          <p:cNvSpPr/>
          <p:nvPr/>
        </p:nvSpPr>
        <p:spPr>
          <a:xfrm>
            <a:off x="6355080" y="1600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400" b="1" dirty="0" smtClean="0">
                <a:solidFill>
                  <a:srgbClr val="FFFFFF"/>
                </a:solidFill>
              </a:rPr>
              <a:t>2</a:t>
            </a:r>
            <a:endParaRPr lang="pl-PL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Zbyt szeroki temat</a:t>
            </a:r>
            <a:endParaRPr lang="pl-PL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Zawęź do 1 pytania</a:t>
            </a:r>
            <a:endParaRPr lang="pl-PL" sz="2600" dirty="0"/>
          </a:p>
        </p:txBody>
      </p:sp>
      <p:sp>
        <p:nvSpPr>
          <p:cNvPr id="13" name="Karta"/>
          <p:cNvSpPr/>
          <p:nvPr/>
        </p:nvSpPr>
        <p:spPr>
          <a:xfrm>
            <a:off x="548640" y="2926080"/>
            <a:ext cx="5440680" cy="1508760"/>
          </a:xfrm>
          <a:prstGeom prst="roundRect">
            <a:avLst>
              <a:gd name="adj" fmla="val 9091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14" name="Numer"/>
          <p:cNvSpPr/>
          <p:nvPr/>
        </p:nvSpPr>
        <p:spPr>
          <a:xfrm>
            <a:off x="731520" y="32461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400" b="1" dirty="0" smtClean="0">
                <a:solidFill>
                  <a:srgbClr val="FFFFFF"/>
                </a:solidFill>
              </a:rPr>
              <a:t>3</a:t>
            </a:r>
            <a:endParaRPr lang="pl-PL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108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Cisza wobec promotora</a:t>
            </a:r>
            <a:endParaRPr lang="pl-PL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2600" dirty="0" smtClean="0"/>
              <a:t>Wysyłaj fragmenty, pytaj</a:t>
            </a:r>
            <a:endParaRPr lang="pl-PL" sz="2600" dirty="0"/>
          </a:p>
        </p:txBody>
      </p:sp>
      <p:sp>
        <p:nvSpPr>
          <p:cNvPr id="18" name="Karta"/>
          <p:cNvSpPr/>
          <p:nvPr/>
        </p:nvSpPr>
        <p:spPr>
          <a:xfrm>
            <a:off x="6172200" y="2926080"/>
            <a:ext cx="5440680" cy="1508760"/>
          </a:xfrm>
          <a:prstGeom prst="roundRect">
            <a:avLst>
              <a:gd name="adj" fmla="val 9091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19" name="Numer"/>
          <p:cNvSpPr/>
          <p:nvPr/>
        </p:nvSpPr>
        <p:spPr>
          <a:xfrm>
            <a:off x="6355080" y="324612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400" b="1" dirty="0" smtClean="0">
                <a:solidFill>
                  <a:srgbClr val="FFFFFF"/>
                </a:solidFill>
              </a:rPr>
              <a:t>4</a:t>
            </a:r>
            <a:endParaRPr lang="pl-PL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108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Lista zamiast syntezy</a:t>
            </a:r>
            <a:endParaRPr lang="pl-PL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Grupuj tematami</a:t>
            </a:r>
            <a:endParaRPr lang="pl-PL" sz="2600" dirty="0"/>
          </a:p>
        </p:txBody>
      </p:sp>
      <p:sp>
        <p:nvSpPr>
          <p:cNvPr id="23" name="Karta"/>
          <p:cNvSpPr/>
          <p:nvPr/>
        </p:nvSpPr>
        <p:spPr>
          <a:xfrm>
            <a:off x="548640" y="4572000"/>
            <a:ext cx="5440680" cy="1508760"/>
          </a:xfrm>
          <a:prstGeom prst="roundRect">
            <a:avLst>
              <a:gd name="adj" fmla="val 9091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24" name="Numer"/>
          <p:cNvSpPr/>
          <p:nvPr/>
        </p:nvSpPr>
        <p:spPr>
          <a:xfrm>
            <a:off x="731520" y="48920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892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400" b="1" dirty="0" smtClean="0">
                <a:solidFill>
                  <a:srgbClr val="FFFFFF"/>
                </a:solidFill>
              </a:rPr>
              <a:t>5</a:t>
            </a:r>
            <a:endParaRPr lang="pl-PL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4754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200" b="1" dirty="0" smtClean="0">
                <a:solidFill>
                  <a:schemeClr val="tx1"/>
                </a:solidFill>
              </a:rPr>
              <a:t>Cel ≠ wnioski</a:t>
            </a:r>
            <a:endParaRPr lang="pl-PL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5349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Wróć do celu</a:t>
            </a:r>
            <a:endParaRPr lang="pl-PL" sz="2600" dirty="0"/>
          </a:p>
        </p:txBody>
      </p:sp>
      <p:sp>
        <p:nvSpPr>
          <p:cNvPr id="28" name="Karta"/>
          <p:cNvSpPr/>
          <p:nvPr/>
        </p:nvSpPr>
        <p:spPr>
          <a:xfrm>
            <a:off x="6172200" y="4572000"/>
            <a:ext cx="5440680" cy="1508760"/>
          </a:xfrm>
          <a:prstGeom prst="roundRect">
            <a:avLst>
              <a:gd name="adj" fmla="val 9091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29" name="Numer"/>
          <p:cNvSpPr/>
          <p:nvPr/>
        </p:nvSpPr>
        <p:spPr>
          <a:xfrm>
            <a:off x="6355080" y="48920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55080" y="4892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6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4754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Chaos w przypisach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5349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Używaj</a:t>
            </a:r>
            <a:r>
              <a:rPr lang="en-US" sz="2600" dirty="0" smtClean="0">
                <a:solidFill>
                  <a:schemeClr val="tx1"/>
                </a:solidFill>
              </a:rPr>
              <a:t> </a:t>
            </a:r>
            <a:r>
              <a:rPr lang="pl-PL" sz="2600" dirty="0" err="1" smtClean="0">
                <a:solidFill>
                  <a:schemeClr val="tx1"/>
                </a:solidFill>
              </a:rPr>
              <a:t>Zotero</a:t>
            </a:r>
            <a:r>
              <a:rPr lang="pl-PL" sz="2600" dirty="0" smtClean="0">
                <a:solidFill>
                  <a:schemeClr val="tx1"/>
                </a:solidFill>
              </a:rPr>
              <a:t> albo </a:t>
            </a:r>
            <a:r>
              <a:rPr lang="pl-PL" sz="2600" dirty="0" err="1" smtClean="0">
                <a:solidFill>
                  <a:schemeClr val="tx1"/>
                </a:solidFill>
              </a:rPr>
              <a:t>Mendeley</a:t>
            </a:r>
            <a:endParaRPr lang="en-US" sz="2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1106424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5200" b="1" dirty="0" smtClean="0">
                <a:solidFill>
                  <a:schemeClr val="tx2"/>
                </a:solidFill>
              </a:rPr>
              <a:t>Obrona</a:t>
            </a:r>
            <a:endParaRPr lang="pl-PL" sz="5200" dirty="0"/>
          </a:p>
        </p:txBody>
      </p:sp>
      <p:graphicFrame>
        <p:nvGraphicFramePr>
          <p:cNvPr id="3" name="Wykres czasu obrony"/>
          <p:cNvGraphicFramePr/>
          <p:nvPr>
            <p:extLst>
              <p:ext uri="{D42A27DB-BD31-4B8C-83A1-F6EECF244321}">
                <p14:modId xmlns:p14="http://schemas.microsoft.com/office/powerpoint/2010/main" val="1642395523"/>
              </p:ext>
            </p:extLst>
          </p:nvPr>
        </p:nvGraphicFramePr>
        <p:xfrm>
          <a:off x="457200" y="1188720"/>
          <a:ext cx="62179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Karta"/>
          <p:cNvSpPr/>
          <p:nvPr/>
        </p:nvSpPr>
        <p:spPr>
          <a:xfrm>
            <a:off x="6858000" y="1280160"/>
            <a:ext cx="4754880" cy="1554480"/>
          </a:xfrm>
          <a:prstGeom prst="roundRect">
            <a:avLst>
              <a:gd name="adj" fmla="val 8824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5" name="Ikona"/>
          <p:cNvSpPr/>
          <p:nvPr/>
        </p:nvSpPr>
        <p:spPr>
          <a:xfrm>
            <a:off x="6995160" y="16459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18516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01000" y="1353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000" b="1" dirty="0" smtClean="0">
                <a:solidFill>
                  <a:schemeClr val="tx1"/>
                </a:solidFill>
              </a:rPr>
              <a:t>Ćwicz z zegarkiem</a:t>
            </a:r>
            <a:endParaRPr lang="pl-PL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8001000" y="1874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maks. 10-12 slajdów</a:t>
            </a:r>
            <a:endParaRPr lang="pl-PL" sz="2600" dirty="0"/>
          </a:p>
        </p:txBody>
      </p:sp>
      <p:sp>
        <p:nvSpPr>
          <p:cNvPr id="9" name="Karta"/>
          <p:cNvSpPr/>
          <p:nvPr/>
        </p:nvSpPr>
        <p:spPr>
          <a:xfrm>
            <a:off x="6858000" y="2971800"/>
            <a:ext cx="4754880" cy="1554480"/>
          </a:xfrm>
          <a:prstGeom prst="roundRect">
            <a:avLst>
              <a:gd name="adj" fmla="val 8824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0" name="Ikona"/>
          <p:cNvSpPr/>
          <p:nvPr/>
        </p:nvSpPr>
        <p:spPr>
          <a:xfrm>
            <a:off x="6995160" y="3337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35433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01000" y="3044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000" b="1" dirty="0" smtClean="0">
                <a:solidFill>
                  <a:schemeClr val="tx1"/>
                </a:solidFill>
              </a:rPr>
              <a:t>Przewiduj pytania</a:t>
            </a:r>
            <a:endParaRPr lang="pl-PL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800100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np. o ograniczenia, </a:t>
            </a:r>
            <a:br>
              <a:rPr lang="pl-PL" sz="2600" dirty="0" smtClean="0">
                <a:solidFill>
                  <a:schemeClr val="tx1"/>
                </a:solidFill>
              </a:rPr>
            </a:br>
            <a:r>
              <a:rPr lang="pl-PL" sz="2600" dirty="0" smtClean="0">
                <a:solidFill>
                  <a:schemeClr val="tx1"/>
                </a:solidFill>
              </a:rPr>
              <a:t>o metodę, o błędy</a:t>
            </a:r>
            <a:endParaRPr lang="pl-PL" sz="2600" dirty="0"/>
          </a:p>
        </p:txBody>
      </p:sp>
      <p:sp>
        <p:nvSpPr>
          <p:cNvPr id="14" name="Karta"/>
          <p:cNvSpPr/>
          <p:nvPr/>
        </p:nvSpPr>
        <p:spPr>
          <a:xfrm>
            <a:off x="6858000" y="4663440"/>
            <a:ext cx="4754880" cy="1554480"/>
          </a:xfrm>
          <a:prstGeom prst="roundRect">
            <a:avLst>
              <a:gd name="adj" fmla="val 8824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15" name="Ikona"/>
          <p:cNvSpPr/>
          <p:nvPr/>
        </p:nvSpPr>
        <p:spPr>
          <a:xfrm>
            <a:off x="6995160" y="50292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52349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736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3000" b="1" dirty="0" smtClean="0">
                <a:solidFill>
                  <a:schemeClr val="tx1"/>
                </a:solidFill>
              </a:rPr>
              <a:t>Mów wolno</a:t>
            </a:r>
            <a:endParaRPr lang="pl-PL" sz="30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5257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2600" dirty="0" smtClean="0">
                <a:solidFill>
                  <a:schemeClr val="tx1"/>
                </a:solidFill>
              </a:rPr>
              <a:t>nie czytaj ze slajdów!</a:t>
            </a:r>
            <a:endParaRPr lang="pl-PL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19</a:t>
            </a:fld>
            <a:endParaRPr lang="pl-PL" dirty="0"/>
          </a:p>
        </p:txBody>
      </p:sp>
      <p:sp>
        <p:nvSpPr>
          <p:cNvPr id="21" name="Strzałka zakrzywiona w dół 20"/>
          <p:cNvSpPr/>
          <p:nvPr/>
        </p:nvSpPr>
        <p:spPr>
          <a:xfrm rot="3935461">
            <a:off x="4625948" y="2635017"/>
            <a:ext cx="590359" cy="3343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22" name="Strzałka zakrzywiona w dół 21"/>
          <p:cNvSpPr/>
          <p:nvPr/>
        </p:nvSpPr>
        <p:spPr>
          <a:xfrm rot="8825769">
            <a:off x="4287299" y="4972776"/>
            <a:ext cx="590359" cy="3343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23" name="Strzałka zakrzywiona w dół 22"/>
          <p:cNvSpPr/>
          <p:nvPr/>
        </p:nvSpPr>
        <p:spPr>
          <a:xfrm rot="17389969">
            <a:off x="1671332" y="3029619"/>
            <a:ext cx="590359" cy="3343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"/>
            <a:ext cx="5675991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tx2"/>
                </a:solidFill>
              </a:rPr>
              <a:t>5 zasad na koniec</a:t>
            </a:r>
            <a:endParaRPr lang="en-US" sz="5200" dirty="0"/>
          </a:p>
        </p:txBody>
      </p:sp>
      <p:sp>
        <p:nvSpPr>
          <p:cNvPr id="3" name="Ikona"/>
          <p:cNvSpPr/>
          <p:nvPr/>
        </p:nvSpPr>
        <p:spPr>
          <a:xfrm>
            <a:off x="822960" y="1554480"/>
            <a:ext cx="3291840" cy="3291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3774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20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4000" b="1" dirty="0" smtClean="0">
                <a:solidFill>
                  <a:schemeClr val="tx2"/>
                </a:solidFill>
              </a:rPr>
              <a:t>Powodzenia!</a:t>
            </a:r>
            <a:endParaRPr lang="pl-PL" sz="4000" dirty="0"/>
          </a:p>
        </p:txBody>
      </p:sp>
      <p:sp>
        <p:nvSpPr>
          <p:cNvPr id="6" name="Blok"/>
          <p:cNvSpPr/>
          <p:nvPr/>
        </p:nvSpPr>
        <p:spPr>
          <a:xfrm>
            <a:off x="4937760" y="1371600"/>
            <a:ext cx="6675120" cy="91440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120640" y="13716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4000" b="1" dirty="0" smtClean="0">
                <a:solidFill>
                  <a:srgbClr val="FFFFFF"/>
                </a:solidFill>
              </a:rPr>
              <a:t>1</a:t>
            </a:r>
            <a:endParaRPr lang="pl-PL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Zacznij wcześnie</a:t>
            </a:r>
            <a:endParaRPr lang="pl-PL" sz="3200" dirty="0"/>
          </a:p>
        </p:txBody>
      </p:sp>
      <p:sp>
        <p:nvSpPr>
          <p:cNvPr id="9" name="Blok"/>
          <p:cNvSpPr/>
          <p:nvPr/>
        </p:nvSpPr>
        <p:spPr>
          <a:xfrm>
            <a:off x="4937760" y="2377440"/>
            <a:ext cx="6675120" cy="91440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120640" y="2377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4000" b="1" dirty="0" smtClean="0">
                <a:solidFill>
                  <a:srgbClr val="FFFFFF"/>
                </a:solidFill>
              </a:rPr>
              <a:t>2</a:t>
            </a:r>
            <a:endParaRPr lang="pl-PL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Zawęź temat</a:t>
            </a:r>
            <a:endParaRPr lang="pl-PL" sz="3200" dirty="0"/>
          </a:p>
        </p:txBody>
      </p:sp>
      <p:sp>
        <p:nvSpPr>
          <p:cNvPr id="12" name="Blok"/>
          <p:cNvSpPr/>
          <p:nvPr/>
        </p:nvSpPr>
        <p:spPr>
          <a:xfrm>
            <a:off x="4937760" y="3383280"/>
            <a:ext cx="6675120" cy="9144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20640" y="33832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4000" b="1" dirty="0" smtClean="0">
                <a:solidFill>
                  <a:srgbClr val="FFFFFF"/>
                </a:solidFill>
              </a:rPr>
              <a:t>3</a:t>
            </a:r>
            <a:endParaRPr lang="pl-PL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3383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Rozmawiaj z promotorem</a:t>
            </a:r>
            <a:endParaRPr lang="pl-PL" sz="3200" dirty="0"/>
          </a:p>
        </p:txBody>
      </p:sp>
      <p:sp>
        <p:nvSpPr>
          <p:cNvPr id="15" name="Blok"/>
          <p:cNvSpPr/>
          <p:nvPr/>
        </p:nvSpPr>
        <p:spPr>
          <a:xfrm>
            <a:off x="4937760" y="4389120"/>
            <a:ext cx="6675120" cy="91440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20640" y="43891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4000" b="1" dirty="0" smtClean="0">
                <a:solidFill>
                  <a:srgbClr val="FFFFFF"/>
                </a:solidFill>
              </a:rPr>
              <a:t>4</a:t>
            </a:r>
            <a:endParaRPr lang="pl-PL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4389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Cytuj uczciwie</a:t>
            </a:r>
            <a:endParaRPr lang="pl-PL" sz="3200" dirty="0"/>
          </a:p>
        </p:txBody>
      </p:sp>
      <p:sp>
        <p:nvSpPr>
          <p:cNvPr id="18" name="Blok"/>
          <p:cNvSpPr/>
          <p:nvPr/>
        </p:nvSpPr>
        <p:spPr>
          <a:xfrm>
            <a:off x="4937760" y="5394960"/>
            <a:ext cx="6675120" cy="91440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120640" y="5394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4000" b="1" dirty="0" smtClean="0">
                <a:solidFill>
                  <a:srgbClr val="FFFFFF"/>
                </a:solidFill>
              </a:rPr>
              <a:t>5</a:t>
            </a:r>
            <a:endParaRPr lang="pl-PL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5394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200" b="1" dirty="0" smtClean="0">
                <a:solidFill>
                  <a:srgbClr val="FFFFFF"/>
                </a:solidFill>
              </a:rPr>
              <a:t>Zostaw czas na korektę</a:t>
            </a:r>
            <a:endParaRPr lang="pl-PL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pl-PL" b="0" smtClean="0"/>
              <a:t>20</a:t>
            </a:fld>
            <a:endParaRPr lang="pl-PL" dirty="0"/>
          </a:p>
        </p:txBody>
      </p:sp>
      <p:sp>
        <p:nvSpPr>
          <p:cNvPr id="21" name="Prostokąt 20"/>
          <p:cNvSpPr/>
          <p:nvPr/>
        </p:nvSpPr>
        <p:spPr>
          <a:xfrm>
            <a:off x="10174309" y="157222"/>
            <a:ext cx="16642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1600" dirty="0" smtClean="0"/>
              <a:t>zadania </a:t>
            </a:r>
            <a:r>
              <a:rPr lang="pl-PL" sz="1600" dirty="0"/>
              <a:t>zawsze zajmują więcej </a:t>
            </a:r>
            <a:r>
              <a:rPr lang="pl-PL" sz="1600" dirty="0" smtClean="0"/>
              <a:t>czasu</a:t>
            </a:r>
            <a:r>
              <a:rPr lang="pl-PL" sz="1600" dirty="0"/>
              <a:t>, niż się </a:t>
            </a:r>
            <a:r>
              <a:rPr lang="pl-PL" sz="1600" dirty="0" smtClean="0"/>
              <a:t>zakłada</a:t>
            </a:r>
            <a:endParaRPr lang="pl-PL" sz="1600" dirty="0"/>
          </a:p>
        </p:txBody>
      </p:sp>
      <p:sp>
        <p:nvSpPr>
          <p:cNvPr id="22" name="Prostokąt 21"/>
          <p:cNvSpPr/>
          <p:nvPr/>
        </p:nvSpPr>
        <p:spPr>
          <a:xfrm>
            <a:off x="8547822" y="356384"/>
            <a:ext cx="1534207" cy="646331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l-PL" b="1" dirty="0" smtClean="0"/>
              <a:t>Prawo </a:t>
            </a:r>
            <a:r>
              <a:rPr lang="pl-PL" b="1" dirty="0" err="1" smtClean="0"/>
              <a:t>Hofstadtera</a:t>
            </a:r>
            <a:r>
              <a:rPr lang="pl-PL" b="1" dirty="0" smtClean="0"/>
              <a:t> </a:t>
            </a:r>
            <a:endParaRPr lang="pl-PL" b="1" dirty="0"/>
          </a:p>
        </p:txBody>
      </p:sp>
      <p:sp>
        <p:nvSpPr>
          <p:cNvPr id="24" name="Prostokąt 23"/>
          <p:cNvSpPr/>
          <p:nvPr/>
        </p:nvSpPr>
        <p:spPr>
          <a:xfrm>
            <a:off x="6855166" y="403443"/>
            <a:ext cx="1534207" cy="584775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l-PL" sz="1600" dirty="0"/>
              <a:t>Podstawowy Błąd Atrybucji</a:t>
            </a:r>
            <a:endParaRPr lang="pl-PL" sz="1600" b="1" dirty="0"/>
          </a:p>
        </p:txBody>
      </p:sp>
      <p:cxnSp>
        <p:nvCxnSpPr>
          <p:cNvPr id="26" name="Łącznik prosty ze strzałką 25"/>
          <p:cNvCxnSpPr/>
          <p:nvPr/>
        </p:nvCxnSpPr>
        <p:spPr>
          <a:xfrm>
            <a:off x="8281259" y="679550"/>
            <a:ext cx="3001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Łącznik prosty ze strzałką 26"/>
          <p:cNvCxnSpPr/>
          <p:nvPr/>
        </p:nvCxnSpPr>
        <p:spPr>
          <a:xfrm>
            <a:off x="9960455" y="679549"/>
            <a:ext cx="3001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Granat">
  <a:themeElements>
    <a:clrScheme name="Granat">
      <a:dk1>
        <a:srgbClr val="111827"/>
      </a:dk1>
      <a:lt1>
        <a:srgbClr val="FFFFFF"/>
      </a:lt1>
      <a:dk2>
        <a:srgbClr val="0A2A5E"/>
      </a:dk2>
      <a:lt2>
        <a:srgbClr val="EEF2F7"/>
      </a:lt2>
      <a:accent1>
        <a:srgbClr val="D9480F"/>
      </a:accent1>
      <a:accent2>
        <a:srgbClr val="1D4ED8"/>
      </a:accent2>
      <a:accent3>
        <a:srgbClr val="9FB3C8"/>
      </a:accent3>
      <a:accent4>
        <a:srgbClr val="F5B700"/>
      </a:accent4>
      <a:accent5>
        <a:srgbClr val="475569"/>
      </a:accent5>
      <a:accent6>
        <a:srgbClr val="0F766E"/>
      </a:accent6>
      <a:hlink>
        <a:srgbClr val="1D4ED8"/>
      </a:hlink>
      <a:folHlink>
        <a:srgbClr val="475569"/>
      </a:folHlink>
    </a:clrScheme>
    <a:fontScheme name="Gran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Panoramiczny</PresentationFormat>
  <Paragraphs>285</Paragraphs>
  <Slides>20</Slides>
  <Notes>20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</vt:lpstr>
      <vt:lpstr>CMU Sans Serif</vt:lpstr>
      <vt:lpstr>CMU Serif</vt:lpstr>
      <vt:lpstr>CMU Serif Extra</vt:lpstr>
      <vt:lpstr>Granat</vt:lpstr>
      <vt:lpstr>Jak napisać dyplomową</vt:lpstr>
      <vt:lpstr>Czym jest praca dyplomowa?</vt:lpstr>
      <vt:lpstr>Droga do celu w 6 etapach</vt:lpstr>
      <vt:lpstr>Wybór tematu</vt:lpstr>
      <vt:lpstr>Promotor to sojusznik</vt:lpstr>
      <vt:lpstr>Od tematu do pytań</vt:lpstr>
      <vt:lpstr>Zły i dobry temat</vt:lpstr>
      <vt:lpstr>Struktura pracy</vt:lpstr>
      <vt:lpstr>Proporcje</vt:lpstr>
      <vt:lpstr>Gdzie szukać źródeł</vt:lpstr>
      <vt:lpstr>Synteza, nie streszczenie</vt:lpstr>
      <vt:lpstr>Metodologia</vt:lpstr>
      <vt:lpstr>Wyniki, a dyskusja</vt:lpstr>
      <vt:lpstr>Styl akademicki</vt:lpstr>
      <vt:lpstr>Cytowanie i plagiat</vt:lpstr>
      <vt:lpstr>Narzędzia</vt:lpstr>
      <vt:lpstr>Harmonogram na 12 miesięcy</vt:lpstr>
      <vt:lpstr>Najczęstsze błędy</vt:lpstr>
      <vt:lpstr>Obrona</vt:lpstr>
      <vt:lpstr>5 zasad na 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Jak napisać pracę magisterską</dc:title>
  <dc:subject>Praca magisterska</dc:subject>
  <dc:creator>Mateusz Pomianek</dc:creator>
  <cp:keywords>studenci</cp:keywords>
  <cp:lastModifiedBy>Mateusz Pomianek</cp:lastModifiedBy>
  <cp:revision>78</cp:revision>
  <dcterms:created xsi:type="dcterms:W3CDTF">2026-10-22T20:50:17Z</dcterms:created>
  <dcterms:modified xsi:type="dcterms:W3CDTF">2026-10-23T12:46:03Z</dcterms:modified>
  <cp:category>dla studentów</cp:category>
  <cp:contentStatus>DONE</cp:contentStatus>
</cp:coreProperties>
</file>